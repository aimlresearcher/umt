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4"/>
  </p:sldMasterIdLst>
  <p:notesMasterIdLst>
    <p:notesMasterId r:id="rId77"/>
  </p:notesMasterIdLst>
  <p:sldIdLst>
    <p:sldId id="3894" r:id="rId5"/>
    <p:sldId id="3885" r:id="rId6"/>
    <p:sldId id="325" r:id="rId7"/>
    <p:sldId id="3895" r:id="rId8"/>
    <p:sldId id="273" r:id="rId9"/>
    <p:sldId id="290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301" r:id="rId19"/>
    <p:sldId id="302" r:id="rId20"/>
    <p:sldId id="307" r:id="rId21"/>
    <p:sldId id="308" r:id="rId22"/>
    <p:sldId id="309" r:id="rId23"/>
    <p:sldId id="311" r:id="rId24"/>
    <p:sldId id="312" r:id="rId25"/>
    <p:sldId id="314" r:id="rId26"/>
    <p:sldId id="318" r:id="rId27"/>
    <p:sldId id="319" r:id="rId28"/>
    <p:sldId id="320" r:id="rId29"/>
    <p:sldId id="322" r:id="rId30"/>
    <p:sldId id="323" r:id="rId31"/>
    <p:sldId id="3915" r:id="rId32"/>
    <p:sldId id="257" r:id="rId33"/>
    <p:sldId id="260" r:id="rId34"/>
    <p:sldId id="313" r:id="rId35"/>
    <p:sldId id="3899" r:id="rId36"/>
    <p:sldId id="262" r:id="rId37"/>
    <p:sldId id="3900" r:id="rId38"/>
    <p:sldId id="264" r:id="rId39"/>
    <p:sldId id="265" r:id="rId40"/>
    <p:sldId id="266" r:id="rId41"/>
    <p:sldId id="267" r:id="rId42"/>
    <p:sldId id="3901" r:id="rId43"/>
    <p:sldId id="277" r:id="rId44"/>
    <p:sldId id="278" r:id="rId45"/>
    <p:sldId id="3916" r:id="rId46"/>
    <p:sldId id="3917" r:id="rId47"/>
    <p:sldId id="3918" r:id="rId48"/>
    <p:sldId id="280" r:id="rId49"/>
    <p:sldId id="282" r:id="rId50"/>
    <p:sldId id="284" r:id="rId51"/>
    <p:sldId id="285" r:id="rId52"/>
    <p:sldId id="287" r:id="rId53"/>
    <p:sldId id="289" r:id="rId54"/>
    <p:sldId id="291" r:id="rId55"/>
    <p:sldId id="3904" r:id="rId56"/>
    <p:sldId id="3906" r:id="rId57"/>
    <p:sldId id="3925" r:id="rId58"/>
    <p:sldId id="3926" r:id="rId59"/>
    <p:sldId id="3927" r:id="rId60"/>
    <p:sldId id="3928" r:id="rId61"/>
    <p:sldId id="3929" r:id="rId62"/>
    <p:sldId id="3908" r:id="rId63"/>
    <p:sldId id="3909" r:id="rId64"/>
    <p:sldId id="3911" r:id="rId65"/>
    <p:sldId id="3913" r:id="rId66"/>
    <p:sldId id="304" r:id="rId67"/>
    <p:sldId id="306" r:id="rId68"/>
    <p:sldId id="3919" r:id="rId69"/>
    <p:sldId id="305" r:id="rId70"/>
    <p:sldId id="3920" r:id="rId71"/>
    <p:sldId id="3921" r:id="rId72"/>
    <p:sldId id="3922" r:id="rId73"/>
    <p:sldId id="3923" r:id="rId74"/>
    <p:sldId id="3924" r:id="rId75"/>
    <p:sldId id="3855" r:id="rId7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0" userDrawn="1">
          <p15:clr>
            <a:srgbClr val="A4A3A4"/>
          </p15:clr>
        </p15:guide>
        <p15:guide id="2" orient="horz" pos="3408" userDrawn="1">
          <p15:clr>
            <a:srgbClr val="A4A3A4"/>
          </p15:clr>
        </p15:guide>
        <p15:guide id="3" pos="6936" userDrawn="1">
          <p15:clr>
            <a:srgbClr val="A4A3A4"/>
          </p15:clr>
        </p15:guide>
        <p15:guide id="4" pos="74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65" autoAdjust="0"/>
    <p:restoredTop sz="94660"/>
  </p:normalViewPr>
  <p:slideViewPr>
    <p:cSldViewPr snapToGrid="0">
      <p:cViewPr>
        <p:scale>
          <a:sx n="50" d="100"/>
          <a:sy n="50" d="100"/>
        </p:scale>
        <p:origin x="1428" y="516"/>
      </p:cViewPr>
      <p:guideLst>
        <p:guide orient="horz" pos="1200"/>
        <p:guide orient="horz" pos="3408"/>
        <p:guide pos="6936"/>
        <p:guide pos="74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82" Type="http://schemas.microsoft.com/office/2018/10/relationships/authors" Target="author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5" Type="http://schemas.openxmlformats.org/officeDocument/2006/relationships/image" Target="../media/image12.wmf"/><Relationship Id="rId4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png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png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png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png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png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png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png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35.png"/><Relationship Id="rId4" Type="http://schemas.openxmlformats.org/officeDocument/2006/relationships/image" Target="../media/image38.png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png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image" Target="../media/image48.png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png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wmf"/><Relationship Id="rId1" Type="http://schemas.openxmlformats.org/officeDocument/2006/relationships/image" Target="../media/image51.png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55.wmf"/><Relationship Id="rId1" Type="http://schemas.openxmlformats.org/officeDocument/2006/relationships/image" Target="../media/image54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7BA811-8917-4F1D-B22F-E96045BFA4E0}" type="datetimeFigureOut">
              <a:rPr lang="en-US" smtClean="0"/>
              <a:t>5/12/2025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0C6A29-4676-420C-BBE3-ACC2B80F64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597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Google Shape;112;p2:notes">
            <a:extLst>
              <a:ext uri="{FF2B5EF4-FFF2-40B4-BE49-F238E27FC236}">
                <a16:creationId xmlns:a16="http://schemas.microsoft.com/office/drawing/2014/main" id="{FA1BC670-04A3-4769-A7C8-3D3156CEA9FF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400"/>
            </a:pPr>
            <a:endParaRPr lang="en-US" altLang="en-US" sz="12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3315" name="Google Shape;113;p2:notes">
            <a:extLst>
              <a:ext uri="{FF2B5EF4-FFF2-40B4-BE49-F238E27FC236}">
                <a16:creationId xmlns:a16="http://schemas.microsoft.com/office/drawing/2014/main" id="{CC3A3E2A-0CC3-419A-939D-FDF9576EB8BA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Google Shape;136;p5:notes">
            <a:extLst>
              <a:ext uri="{FF2B5EF4-FFF2-40B4-BE49-F238E27FC236}">
                <a16:creationId xmlns:a16="http://schemas.microsoft.com/office/drawing/2014/main" id="{E0D3CE44-FC0E-4B28-9CD8-96B29F2F56BA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400"/>
            </a:pPr>
            <a:endParaRPr lang="en-US" altLang="en-US" sz="12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1507" name="Google Shape;137;p5:notes">
            <a:extLst>
              <a:ext uri="{FF2B5EF4-FFF2-40B4-BE49-F238E27FC236}">
                <a16:creationId xmlns:a16="http://schemas.microsoft.com/office/drawing/2014/main" id="{F0804BB5-0E2A-4B81-9966-4EEEF1645939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Google Shape;136;p5:notes">
            <a:extLst>
              <a:ext uri="{FF2B5EF4-FFF2-40B4-BE49-F238E27FC236}">
                <a16:creationId xmlns:a16="http://schemas.microsoft.com/office/drawing/2014/main" id="{B37F2387-7660-4ADB-AA1E-E2A8F7B11DE8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400"/>
            </a:pPr>
            <a:endParaRPr lang="en-US" altLang="en-US" sz="12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3555" name="Google Shape;137;p5:notes">
            <a:extLst>
              <a:ext uri="{FF2B5EF4-FFF2-40B4-BE49-F238E27FC236}">
                <a16:creationId xmlns:a16="http://schemas.microsoft.com/office/drawing/2014/main" id="{F83615D8-59F8-4797-990E-6DDAAB67C341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Google Shape;153;p7:notes">
            <a:extLst>
              <a:ext uri="{FF2B5EF4-FFF2-40B4-BE49-F238E27FC236}">
                <a16:creationId xmlns:a16="http://schemas.microsoft.com/office/drawing/2014/main" id="{3BC7C49E-44EB-47D4-96DD-99547D447777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400"/>
            </a:pPr>
            <a:endParaRPr lang="en-US" altLang="en-US" sz="12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5603" name="Google Shape;154;p7:notes">
            <a:extLst>
              <a:ext uri="{FF2B5EF4-FFF2-40B4-BE49-F238E27FC236}">
                <a16:creationId xmlns:a16="http://schemas.microsoft.com/office/drawing/2014/main" id="{F8C39AFD-59B1-49AB-B6FE-40A7B91BBAED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Google Shape;153;p7:notes">
            <a:extLst>
              <a:ext uri="{FF2B5EF4-FFF2-40B4-BE49-F238E27FC236}">
                <a16:creationId xmlns:a16="http://schemas.microsoft.com/office/drawing/2014/main" id="{30A9A70D-DF98-40D4-AD83-5F5D4466CE2E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400"/>
            </a:pPr>
            <a:endParaRPr lang="en-US" altLang="en-US" sz="12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7651" name="Google Shape;154;p7:notes">
            <a:extLst>
              <a:ext uri="{FF2B5EF4-FFF2-40B4-BE49-F238E27FC236}">
                <a16:creationId xmlns:a16="http://schemas.microsoft.com/office/drawing/2014/main" id="{89B31434-724A-4ED2-9BA3-4F45D355689E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Google Shape;153;p7:notes">
            <a:extLst>
              <a:ext uri="{FF2B5EF4-FFF2-40B4-BE49-F238E27FC236}">
                <a16:creationId xmlns:a16="http://schemas.microsoft.com/office/drawing/2014/main" id="{C1A2227C-9ECD-4E52-A5AB-6B57459D72D7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400"/>
            </a:pPr>
            <a:endParaRPr lang="en-US" altLang="en-US" sz="12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9699" name="Google Shape;154;p7:notes">
            <a:extLst>
              <a:ext uri="{FF2B5EF4-FFF2-40B4-BE49-F238E27FC236}">
                <a16:creationId xmlns:a16="http://schemas.microsoft.com/office/drawing/2014/main" id="{7759B68B-93D6-4212-A28B-A554297CED01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Google Shape;169;p9:notes">
            <a:extLst>
              <a:ext uri="{FF2B5EF4-FFF2-40B4-BE49-F238E27FC236}">
                <a16:creationId xmlns:a16="http://schemas.microsoft.com/office/drawing/2014/main" id="{D7C4014E-E187-467E-A50A-0161C67FF7C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400"/>
            </a:pPr>
            <a:endParaRPr lang="en-US" altLang="en-US" sz="12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1747" name="Google Shape;170;p9:notes">
            <a:extLst>
              <a:ext uri="{FF2B5EF4-FFF2-40B4-BE49-F238E27FC236}">
                <a16:creationId xmlns:a16="http://schemas.microsoft.com/office/drawing/2014/main" id="{C7484610-21C2-4ADA-9D93-BE2012A55A71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Google Shape;176;p10:notes">
            <a:extLst>
              <a:ext uri="{FF2B5EF4-FFF2-40B4-BE49-F238E27FC236}">
                <a16:creationId xmlns:a16="http://schemas.microsoft.com/office/drawing/2014/main" id="{91BCE82B-5514-4986-B0DA-5584F52524C6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400"/>
            </a:pPr>
            <a:endParaRPr lang="en-US" altLang="en-US" sz="12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795" name="Google Shape;177;p10:notes">
            <a:extLst>
              <a:ext uri="{FF2B5EF4-FFF2-40B4-BE49-F238E27FC236}">
                <a16:creationId xmlns:a16="http://schemas.microsoft.com/office/drawing/2014/main" id="{4C6400A9-7856-4E32-A03A-EE7191B3F532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Google Shape;182;p11:notes">
            <a:extLst>
              <a:ext uri="{FF2B5EF4-FFF2-40B4-BE49-F238E27FC236}">
                <a16:creationId xmlns:a16="http://schemas.microsoft.com/office/drawing/2014/main" id="{5F596DB2-E481-4859-BC7D-FF847069C16B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400"/>
            </a:pPr>
            <a:endParaRPr lang="en-US" altLang="en-US" sz="12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5843" name="Google Shape;183;p11:notes">
            <a:extLst>
              <a:ext uri="{FF2B5EF4-FFF2-40B4-BE49-F238E27FC236}">
                <a16:creationId xmlns:a16="http://schemas.microsoft.com/office/drawing/2014/main" id="{9810A6DE-B2EC-47F8-B73B-F312B851274E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Google Shape;191;p12:notes">
            <a:extLst>
              <a:ext uri="{FF2B5EF4-FFF2-40B4-BE49-F238E27FC236}">
                <a16:creationId xmlns:a16="http://schemas.microsoft.com/office/drawing/2014/main" id="{60B2BB2B-DE0D-4800-9B13-0C7D11EC8147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400"/>
            </a:pPr>
            <a:endParaRPr lang="en-US" altLang="en-US" sz="12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7891" name="Google Shape;192;p12:notes">
            <a:extLst>
              <a:ext uri="{FF2B5EF4-FFF2-40B4-BE49-F238E27FC236}">
                <a16:creationId xmlns:a16="http://schemas.microsoft.com/office/drawing/2014/main" id="{180B8877-B8A0-4F17-958C-5CBB0B986970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Google Shape;204;p14:notes">
            <a:extLst>
              <a:ext uri="{FF2B5EF4-FFF2-40B4-BE49-F238E27FC236}">
                <a16:creationId xmlns:a16="http://schemas.microsoft.com/office/drawing/2014/main" id="{7E6869B9-F13F-49DA-8502-016F2DA85DA1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400"/>
            </a:pPr>
            <a:endParaRPr lang="en-US" altLang="en-US" sz="12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6083" name="Google Shape;205;p14:notes">
            <a:extLst>
              <a:ext uri="{FF2B5EF4-FFF2-40B4-BE49-F238E27FC236}">
                <a16:creationId xmlns:a16="http://schemas.microsoft.com/office/drawing/2014/main" id="{91A7E4DE-1E43-4705-A617-BA1FB95D51B1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Google Shape;264;p22:notes">
            <a:extLst>
              <a:ext uri="{FF2B5EF4-FFF2-40B4-BE49-F238E27FC236}">
                <a16:creationId xmlns:a16="http://schemas.microsoft.com/office/drawing/2014/main" id="{89F399EE-00AA-4A9E-8F89-75291D09A289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400"/>
            </a:pPr>
            <a:endParaRPr lang="en-US" altLang="en-US" sz="12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60419" name="Google Shape;265;p22:notes">
            <a:extLst>
              <a:ext uri="{FF2B5EF4-FFF2-40B4-BE49-F238E27FC236}">
                <a16:creationId xmlns:a16="http://schemas.microsoft.com/office/drawing/2014/main" id="{4AA8A4F8-51DB-4686-B2B2-18CC191123B1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Google Shape;275;p23:notes">
            <a:extLst>
              <a:ext uri="{FF2B5EF4-FFF2-40B4-BE49-F238E27FC236}">
                <a16:creationId xmlns:a16="http://schemas.microsoft.com/office/drawing/2014/main" id="{B32D05DB-F488-4C61-88A9-BE7CBEE79740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400"/>
            </a:pPr>
            <a:endParaRPr lang="en-US" altLang="en-US" sz="12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62467" name="Google Shape;276;p23:notes">
            <a:extLst>
              <a:ext uri="{FF2B5EF4-FFF2-40B4-BE49-F238E27FC236}">
                <a16:creationId xmlns:a16="http://schemas.microsoft.com/office/drawing/2014/main" id="{57B7CA78-E7AC-467F-A91D-16C4D23D57AD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Google Shape;293;p25:notes">
            <a:extLst>
              <a:ext uri="{FF2B5EF4-FFF2-40B4-BE49-F238E27FC236}">
                <a16:creationId xmlns:a16="http://schemas.microsoft.com/office/drawing/2014/main" id="{C1A734DC-F9D3-4BCE-AFA9-45E80109BB9E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66563" name="Google Shape;294;p25:notes">
            <a:extLst>
              <a:ext uri="{FF2B5EF4-FFF2-40B4-BE49-F238E27FC236}">
                <a16:creationId xmlns:a16="http://schemas.microsoft.com/office/drawing/2014/main" id="{4749DAD8-B4F5-4B73-A72C-BE4BCC3A840A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indent="0" eaLnBrk="1" hangingPunct="1">
              <a:buSzPts val="1400"/>
            </a:pPr>
            <a:endParaRPr lang="en-US" altLang="en-US" sz="12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66564" name="Google Shape;295;p25:notes">
            <a:extLst>
              <a:ext uri="{FF2B5EF4-FFF2-40B4-BE49-F238E27FC236}">
                <a16:creationId xmlns:a16="http://schemas.microsoft.com/office/drawing/2014/main" id="{860C88B9-30AD-4528-84CE-99AB5E47019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B81FECB2-52AD-4604-AD84-6F061706C881}" type="slidenum">
              <a:rPr lang="en-US" altLang="en-US" smtClean="0"/>
              <a:pPr/>
              <a:t>45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Google Shape;306;p27:notes">
            <a:extLst>
              <a:ext uri="{FF2B5EF4-FFF2-40B4-BE49-F238E27FC236}">
                <a16:creationId xmlns:a16="http://schemas.microsoft.com/office/drawing/2014/main" id="{BEBC38B7-0857-459D-9271-5142BDF113CE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400"/>
            </a:pPr>
            <a:endParaRPr lang="en-US" altLang="en-US" sz="12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70659" name="Google Shape;307;p27:notes">
            <a:extLst>
              <a:ext uri="{FF2B5EF4-FFF2-40B4-BE49-F238E27FC236}">
                <a16:creationId xmlns:a16="http://schemas.microsoft.com/office/drawing/2014/main" id="{47CC828B-3CDF-4659-8194-F2FA7C76CC42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Google Shape;318;p29:notes">
            <a:extLst>
              <a:ext uri="{FF2B5EF4-FFF2-40B4-BE49-F238E27FC236}">
                <a16:creationId xmlns:a16="http://schemas.microsoft.com/office/drawing/2014/main" id="{364054D3-C3E7-49C3-AE57-51FBF222959B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400"/>
            </a:pPr>
            <a:endParaRPr lang="en-US" altLang="en-US" sz="12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74755" name="Google Shape;319;p29:notes">
            <a:extLst>
              <a:ext uri="{FF2B5EF4-FFF2-40B4-BE49-F238E27FC236}">
                <a16:creationId xmlns:a16="http://schemas.microsoft.com/office/drawing/2014/main" id="{70E8ECA7-3DD1-45ED-AA81-94F903673BEE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Google Shape;324;p30:notes">
            <a:extLst>
              <a:ext uri="{FF2B5EF4-FFF2-40B4-BE49-F238E27FC236}">
                <a16:creationId xmlns:a16="http://schemas.microsoft.com/office/drawing/2014/main" id="{1832828A-1B73-4EA8-964D-9B63F55B5F90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400"/>
            </a:pPr>
            <a:endParaRPr lang="en-US" altLang="en-US" sz="12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76803" name="Google Shape;325;p30:notes">
            <a:extLst>
              <a:ext uri="{FF2B5EF4-FFF2-40B4-BE49-F238E27FC236}">
                <a16:creationId xmlns:a16="http://schemas.microsoft.com/office/drawing/2014/main" id="{B811D939-D80D-4B19-97F3-5334515EE30F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Google Shape;337;p32:notes">
            <a:extLst>
              <a:ext uri="{FF2B5EF4-FFF2-40B4-BE49-F238E27FC236}">
                <a16:creationId xmlns:a16="http://schemas.microsoft.com/office/drawing/2014/main" id="{734079BE-B464-4CC1-BFAA-1806A833FF08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400"/>
            </a:pPr>
            <a:endParaRPr lang="en-US" altLang="en-US" sz="12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0899" name="Google Shape;338;p32:notes">
            <a:extLst>
              <a:ext uri="{FF2B5EF4-FFF2-40B4-BE49-F238E27FC236}">
                <a16:creationId xmlns:a16="http://schemas.microsoft.com/office/drawing/2014/main" id="{BD7CC924-23A2-47FE-BFF7-F222F68C2EF0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Google Shape;349;p34:notes">
            <a:extLst>
              <a:ext uri="{FF2B5EF4-FFF2-40B4-BE49-F238E27FC236}">
                <a16:creationId xmlns:a16="http://schemas.microsoft.com/office/drawing/2014/main" id="{86F87865-C9BE-4985-A798-ACE0405FE55F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400"/>
            </a:pPr>
            <a:endParaRPr lang="en-US" altLang="en-US" sz="12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4995" name="Google Shape;350;p34:notes">
            <a:extLst>
              <a:ext uri="{FF2B5EF4-FFF2-40B4-BE49-F238E27FC236}">
                <a16:creationId xmlns:a16="http://schemas.microsoft.com/office/drawing/2014/main" id="{F199C1C0-7231-47FB-B5C4-AB99766BBE1D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Google Shape;363;p36:notes">
            <a:extLst>
              <a:ext uri="{FF2B5EF4-FFF2-40B4-BE49-F238E27FC236}">
                <a16:creationId xmlns:a16="http://schemas.microsoft.com/office/drawing/2014/main" id="{2CBFEB90-74D9-4C03-9C8A-0E81F1AFB8F0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400"/>
            </a:pPr>
            <a:endParaRPr lang="en-US" altLang="en-US" sz="12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9091" name="Google Shape;364;p36:notes">
            <a:extLst>
              <a:ext uri="{FF2B5EF4-FFF2-40B4-BE49-F238E27FC236}">
                <a16:creationId xmlns:a16="http://schemas.microsoft.com/office/drawing/2014/main" id="{F847A44E-3889-43D8-89E0-4B8E082EC496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Google Shape;375;p38:notes">
            <a:extLst>
              <a:ext uri="{FF2B5EF4-FFF2-40B4-BE49-F238E27FC236}">
                <a16:creationId xmlns:a16="http://schemas.microsoft.com/office/drawing/2014/main" id="{80C93537-4426-4F2E-A275-5BC3D37351A4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400"/>
            </a:pPr>
            <a:endParaRPr lang="en-US" altLang="en-US" sz="12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93187" name="Google Shape;376;p38:notes">
            <a:extLst>
              <a:ext uri="{FF2B5EF4-FFF2-40B4-BE49-F238E27FC236}">
                <a16:creationId xmlns:a16="http://schemas.microsoft.com/office/drawing/2014/main" id="{1AAD37BC-DD5E-4ECF-BE5F-2F23047E8591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Google Shape;388;p40:notes">
            <a:extLst>
              <a:ext uri="{FF2B5EF4-FFF2-40B4-BE49-F238E27FC236}">
                <a16:creationId xmlns:a16="http://schemas.microsoft.com/office/drawing/2014/main" id="{55694FC4-5890-4C96-88BB-35B8CA1A798B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400"/>
            </a:pPr>
            <a:endParaRPr lang="en-US" altLang="en-US" sz="12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97283" name="Google Shape;389;p40:notes">
            <a:extLst>
              <a:ext uri="{FF2B5EF4-FFF2-40B4-BE49-F238E27FC236}">
                <a16:creationId xmlns:a16="http://schemas.microsoft.com/office/drawing/2014/main" id="{1648CC5D-DAD7-4C72-8E50-6A05D776A528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077768-21C8-4125-A345-258E48D2EED0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88732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077768-21C8-4125-A345-258E48D2EED0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30614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Google Shape;403;p42:notes">
            <a:extLst>
              <a:ext uri="{FF2B5EF4-FFF2-40B4-BE49-F238E27FC236}">
                <a16:creationId xmlns:a16="http://schemas.microsoft.com/office/drawing/2014/main" id="{839EE311-A0C5-4DA2-80F0-41B363DBAAED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400"/>
            </a:pPr>
            <a:endParaRPr lang="en-US" altLang="en-US" sz="12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01379" name="Google Shape;404;p42:notes">
            <a:extLst>
              <a:ext uri="{FF2B5EF4-FFF2-40B4-BE49-F238E27FC236}">
                <a16:creationId xmlns:a16="http://schemas.microsoft.com/office/drawing/2014/main" id="{7490FEFE-166D-4526-A484-F6140F8A3C3F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Google Shape;409;p43:notes">
            <a:extLst>
              <a:ext uri="{FF2B5EF4-FFF2-40B4-BE49-F238E27FC236}">
                <a16:creationId xmlns:a16="http://schemas.microsoft.com/office/drawing/2014/main" id="{4B079A42-9419-42A5-8855-4E6DB9C56BA6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400"/>
            </a:pPr>
            <a:endParaRPr lang="en-US" altLang="en-US" sz="12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03427" name="Google Shape;410;p43:notes">
            <a:extLst>
              <a:ext uri="{FF2B5EF4-FFF2-40B4-BE49-F238E27FC236}">
                <a16:creationId xmlns:a16="http://schemas.microsoft.com/office/drawing/2014/main" id="{7C3671AE-521E-4566-B1C0-AA85DBD8146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Google Shape;421;p45:notes">
            <a:extLst>
              <a:ext uri="{FF2B5EF4-FFF2-40B4-BE49-F238E27FC236}">
                <a16:creationId xmlns:a16="http://schemas.microsoft.com/office/drawing/2014/main" id="{31A6D44A-22D5-4E05-BA23-3EF3AB1661C0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400"/>
            </a:pPr>
            <a:endParaRPr lang="en-US" altLang="en-US" sz="12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07523" name="Google Shape;422;p45:notes">
            <a:extLst>
              <a:ext uri="{FF2B5EF4-FFF2-40B4-BE49-F238E27FC236}">
                <a16:creationId xmlns:a16="http://schemas.microsoft.com/office/drawing/2014/main" id="{8F1EC5B9-5C1C-4834-91A8-63F36EEBD90A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Google Shape;433;p47:notes">
            <a:extLst>
              <a:ext uri="{FF2B5EF4-FFF2-40B4-BE49-F238E27FC236}">
                <a16:creationId xmlns:a16="http://schemas.microsoft.com/office/drawing/2014/main" id="{0D09A744-5D83-4E10-AB93-66367A859B31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400"/>
            </a:pPr>
            <a:endParaRPr lang="en-US" altLang="en-US" sz="12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11619" name="Google Shape;434;p47:notes">
            <a:extLst>
              <a:ext uri="{FF2B5EF4-FFF2-40B4-BE49-F238E27FC236}">
                <a16:creationId xmlns:a16="http://schemas.microsoft.com/office/drawing/2014/main" id="{5DB6C0D9-C710-4660-8996-E234CACB52D7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Google Shape;445;p49:notes">
            <a:extLst>
              <a:ext uri="{FF2B5EF4-FFF2-40B4-BE49-F238E27FC236}">
                <a16:creationId xmlns:a16="http://schemas.microsoft.com/office/drawing/2014/main" id="{B4D41EF0-B4EA-4187-BF26-2C204BE55C7B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400"/>
            </a:pPr>
            <a:endParaRPr lang="en-US" altLang="en-US" sz="12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15715" name="Google Shape;446;p49:notes">
            <a:extLst>
              <a:ext uri="{FF2B5EF4-FFF2-40B4-BE49-F238E27FC236}">
                <a16:creationId xmlns:a16="http://schemas.microsoft.com/office/drawing/2014/main" id="{F5222222-1482-47CF-9A5A-F73A76C82233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Google Shape;457;p51:notes">
            <a:extLst>
              <a:ext uri="{FF2B5EF4-FFF2-40B4-BE49-F238E27FC236}">
                <a16:creationId xmlns:a16="http://schemas.microsoft.com/office/drawing/2014/main" id="{6B335E23-B4F3-4D7C-8018-4DE85B7A6444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400"/>
            </a:pPr>
            <a:endParaRPr lang="en-US" altLang="en-US" sz="12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19811" name="Google Shape;458;p51:notes">
            <a:extLst>
              <a:ext uri="{FF2B5EF4-FFF2-40B4-BE49-F238E27FC236}">
                <a16:creationId xmlns:a16="http://schemas.microsoft.com/office/drawing/2014/main" id="{1E762810-FE8E-4C15-A988-C757AA931C94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3">
            <a:extLst>
              <a:ext uri="{FF2B5EF4-FFF2-40B4-BE49-F238E27FC236}">
                <a16:creationId xmlns:a16="http://schemas.microsoft.com/office/drawing/2014/main" id="{FCE00AC6-1AA1-42D9-83DD-4C308C3F9322}"/>
              </a:ext>
            </a:extLst>
          </p:cNvPr>
          <p:cNvSpPr/>
          <p:nvPr userDrawn="1"/>
        </p:nvSpPr>
        <p:spPr>
          <a:xfrm>
            <a:off x="4000500" y="1087403"/>
            <a:ext cx="8191500" cy="5770597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319A315-F756-49EC-8181-0EC3F0A37B09}"/>
              </a:ext>
            </a:extLst>
          </p:cNvPr>
          <p:cNvCxnSpPr>
            <a:cxnSpLocks/>
          </p:cNvCxnSpPr>
          <p:nvPr userDrawn="1"/>
        </p:nvCxnSpPr>
        <p:spPr>
          <a:xfrm>
            <a:off x="406241" y="18393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60F3E26-F530-48F5-983F-9DCFF41D4F39}"/>
              </a:ext>
            </a:extLst>
          </p:cNvPr>
          <p:cNvSpPr/>
          <p:nvPr userDrawn="1"/>
        </p:nvSpPr>
        <p:spPr>
          <a:xfrm>
            <a:off x="5292348" y="1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C97701E-DAF9-4174-AA91-DA203CD27D6A}"/>
              </a:ext>
            </a:extLst>
          </p:cNvPr>
          <p:cNvSpPr/>
          <p:nvPr userDrawn="1"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F765374-1A4B-41DC-9E75-A95A6C655328}"/>
              </a:ext>
            </a:extLst>
          </p:cNvPr>
          <p:cNvSpPr/>
          <p:nvPr userDrawn="1"/>
        </p:nvSpPr>
        <p:spPr>
          <a:xfrm>
            <a:off x="1569044" y="514898"/>
            <a:ext cx="2393351" cy="23284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618DB8E-B14E-42E2-B454-6F4F36A8A9D9}"/>
              </a:ext>
            </a:extLst>
          </p:cNvPr>
          <p:cNvSpPr/>
          <p:nvPr userDrawn="1"/>
        </p:nvSpPr>
        <p:spPr>
          <a:xfrm flipH="1">
            <a:off x="0" y="2949740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97666F55-03F1-4D18-9653-0F360E127A7E}"/>
              </a:ext>
            </a:extLst>
          </p:cNvPr>
          <p:cNvSpPr/>
          <p:nvPr userDrawn="1"/>
        </p:nvSpPr>
        <p:spPr>
          <a:xfrm rot="16200000">
            <a:off x="1539683" y="4203427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93208" y="2743200"/>
            <a:ext cx="6592824" cy="2386584"/>
          </a:xfrm>
        </p:spPr>
        <p:txBody>
          <a:bodyPr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93208" y="5221224"/>
            <a:ext cx="6592824" cy="996696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10415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AFA665D7-34D0-4262-B345-9B1A1BA8DA17}"/>
              </a:ext>
            </a:extLst>
          </p:cNvPr>
          <p:cNvSpPr/>
          <p:nvPr userDrawn="1"/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39ECC553-79E5-4B14-89C9-4DAD2B1021B1}"/>
              </a:ext>
            </a:extLst>
          </p:cNvPr>
          <p:cNvSpPr/>
          <p:nvPr userDrawn="1"/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797934-7E2B-4F94-89C4-0279413FF821}"/>
              </a:ext>
            </a:extLst>
          </p:cNvPr>
          <p:cNvSpPr/>
          <p:nvPr userDrawn="1"/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432" y="1399032"/>
            <a:ext cx="3236976" cy="406908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8152" y="1527048"/>
            <a:ext cx="5111496" cy="3931920"/>
          </a:xfrm>
        </p:spPr>
        <p:txBody>
          <a:bodyPr anchor="ctr"/>
          <a:lstStyle>
            <a:lvl1pPr marL="0" indent="0">
              <a:buNone/>
              <a:defRPr/>
            </a:lvl1pPr>
            <a:lvl2pPr marL="228600">
              <a:defRPr/>
            </a:lvl2pPr>
            <a:lvl3pPr marL="457200">
              <a:defRPr/>
            </a:lvl3pPr>
            <a:lvl4pPr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944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 small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5A614E3F-4FB2-4152-A59C-941C908D7B0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00479" y="1150210"/>
            <a:ext cx="2207046" cy="2204178"/>
          </a:xfrm>
          <a:custGeom>
            <a:avLst/>
            <a:gdLst>
              <a:gd name="connsiteX0" fmla="*/ 1098749 w 2207046"/>
              <a:gd name="connsiteY0" fmla="*/ 0 h 2204178"/>
              <a:gd name="connsiteX1" fmla="*/ 2201707 w 2207046"/>
              <a:gd name="connsiteY1" fmla="*/ 995326 h 2204178"/>
              <a:gd name="connsiteX2" fmla="*/ 2207046 w 2207046"/>
              <a:gd name="connsiteY2" fmla="*/ 1101058 h 2204178"/>
              <a:gd name="connsiteX3" fmla="*/ 2207046 w 2207046"/>
              <a:gd name="connsiteY3" fmla="*/ 1116306 h 2204178"/>
              <a:gd name="connsiteX4" fmla="*/ 2201707 w 2207046"/>
              <a:gd name="connsiteY4" fmla="*/ 1222039 h 2204178"/>
              <a:gd name="connsiteX5" fmla="*/ 1322187 w 2207046"/>
              <a:gd name="connsiteY5" fmla="*/ 2194840 h 2204178"/>
              <a:gd name="connsiteX6" fmla="*/ 1260999 w 2207046"/>
              <a:gd name="connsiteY6" fmla="*/ 2204178 h 2204178"/>
              <a:gd name="connsiteX7" fmla="*/ 936500 w 2207046"/>
              <a:gd name="connsiteY7" fmla="*/ 2204178 h 2204178"/>
              <a:gd name="connsiteX8" fmla="*/ 875311 w 2207046"/>
              <a:gd name="connsiteY8" fmla="*/ 2194840 h 2204178"/>
              <a:gd name="connsiteX9" fmla="*/ 12592 w 2207046"/>
              <a:gd name="connsiteY9" fmla="*/ 1332120 h 2204178"/>
              <a:gd name="connsiteX10" fmla="*/ 0 w 2207046"/>
              <a:gd name="connsiteY10" fmla="*/ 1249617 h 2204178"/>
              <a:gd name="connsiteX11" fmla="*/ 0 w 2207046"/>
              <a:gd name="connsiteY11" fmla="*/ 967747 h 2204178"/>
              <a:gd name="connsiteX12" fmla="*/ 12592 w 2207046"/>
              <a:gd name="connsiteY12" fmla="*/ 885244 h 2204178"/>
              <a:gd name="connsiteX13" fmla="*/ 1098749 w 2207046"/>
              <a:gd name="connsiteY13" fmla="*/ 0 h 220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07046" h="2204178">
                <a:moveTo>
                  <a:pt x="1098749" y="0"/>
                </a:moveTo>
                <a:cubicBezTo>
                  <a:pt x="1672788" y="0"/>
                  <a:pt x="2144931" y="436266"/>
                  <a:pt x="2201707" y="995326"/>
                </a:cubicBezTo>
                <a:lnTo>
                  <a:pt x="2207046" y="1101058"/>
                </a:lnTo>
                <a:lnTo>
                  <a:pt x="2207046" y="1116306"/>
                </a:lnTo>
                <a:lnTo>
                  <a:pt x="2201707" y="1222039"/>
                </a:lnTo>
                <a:cubicBezTo>
                  <a:pt x="2152501" y="1706557"/>
                  <a:pt x="1791308" y="2098844"/>
                  <a:pt x="1322187" y="2194840"/>
                </a:cubicBezTo>
                <a:lnTo>
                  <a:pt x="1260999" y="2204178"/>
                </a:lnTo>
                <a:lnTo>
                  <a:pt x="936500" y="2204178"/>
                </a:lnTo>
                <a:lnTo>
                  <a:pt x="875311" y="2194840"/>
                </a:lnTo>
                <a:cubicBezTo>
                  <a:pt x="442276" y="2106228"/>
                  <a:pt x="101204" y="1765156"/>
                  <a:pt x="12592" y="1332120"/>
                </a:cubicBezTo>
                <a:lnTo>
                  <a:pt x="0" y="1249617"/>
                </a:lnTo>
                <a:lnTo>
                  <a:pt x="0" y="967747"/>
                </a:lnTo>
                <a:lnTo>
                  <a:pt x="12592" y="885244"/>
                </a:lnTo>
                <a:cubicBezTo>
                  <a:pt x="115972" y="380036"/>
                  <a:pt x="562980" y="0"/>
                  <a:pt x="109874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A1F486A-F545-4642-B1CB-5356704413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44632" y="2579683"/>
            <a:ext cx="3096807" cy="3096807"/>
          </a:xfrm>
          <a:custGeom>
            <a:avLst/>
            <a:gdLst>
              <a:gd name="connsiteX0" fmla="*/ 1548404 w 3096807"/>
              <a:gd name="connsiteY0" fmla="*/ 0 h 3096807"/>
              <a:gd name="connsiteX1" fmla="*/ 3096807 w 3096807"/>
              <a:gd name="connsiteY1" fmla="*/ 1548404 h 3096807"/>
              <a:gd name="connsiteX2" fmla="*/ 1548404 w 3096807"/>
              <a:gd name="connsiteY2" fmla="*/ 3096807 h 3096807"/>
              <a:gd name="connsiteX3" fmla="*/ 0 w 3096807"/>
              <a:gd name="connsiteY3" fmla="*/ 1548404 h 3096807"/>
              <a:gd name="connsiteX4" fmla="*/ 1548404 w 3096807"/>
              <a:gd name="connsiteY4" fmla="*/ 0 h 3096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6807" h="3096807">
                <a:moveTo>
                  <a:pt x="1548404" y="0"/>
                </a:moveTo>
                <a:cubicBezTo>
                  <a:pt x="2403564" y="0"/>
                  <a:pt x="3096807" y="693243"/>
                  <a:pt x="3096807" y="1548404"/>
                </a:cubicBezTo>
                <a:cubicBezTo>
                  <a:pt x="3096807" y="2403564"/>
                  <a:pt x="2403564" y="3096807"/>
                  <a:pt x="1548404" y="3096807"/>
                </a:cubicBezTo>
                <a:cubicBezTo>
                  <a:pt x="693243" y="3096807"/>
                  <a:pt x="0" y="2403564"/>
                  <a:pt x="0" y="1548404"/>
                </a:cubicBezTo>
                <a:cubicBezTo>
                  <a:pt x="0" y="693243"/>
                  <a:pt x="693243" y="0"/>
                  <a:pt x="1548404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4"/>
            <a:ext cx="5806440" cy="13258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1825625"/>
            <a:ext cx="5806440" cy="4352544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2400"/>
            </a:lvl1pPr>
            <a:lvl2pPr marL="228600">
              <a:lnSpc>
                <a:spcPct val="110000"/>
              </a:lnSpc>
              <a:defRPr sz="2000"/>
            </a:lvl2pPr>
            <a:lvl3pPr marL="457200">
              <a:lnSpc>
                <a:spcPct val="110000"/>
              </a:lnSpc>
              <a:defRPr sz="1800"/>
            </a:lvl3pPr>
            <a:lvl4pPr marL="685800"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8E71C73-7BAD-4838-88C1-42E045A9D179}"/>
              </a:ext>
            </a:extLst>
          </p:cNvPr>
          <p:cNvSpPr/>
          <p:nvPr userDrawn="1"/>
        </p:nvSpPr>
        <p:spPr>
          <a:xfrm>
            <a:off x="10249620" y="1555068"/>
            <a:ext cx="819303" cy="7970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560922-5803-412D-880B-065E75DCBC0A}"/>
              </a:ext>
            </a:extLst>
          </p:cNvPr>
          <p:cNvSpPr/>
          <p:nvPr userDrawn="1"/>
        </p:nvSpPr>
        <p:spPr>
          <a:xfrm>
            <a:off x="7590089" y="4034393"/>
            <a:ext cx="876704" cy="876704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0839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200EACD1-D216-4037-8AFF-80CF273586DF}"/>
              </a:ext>
            </a:extLst>
          </p:cNvPr>
          <p:cNvSpPr/>
          <p:nvPr userDrawn="1"/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F941DE04-3FEA-4A57-B200-F9F6A765C792}"/>
              </a:ext>
            </a:extLst>
          </p:cNvPr>
          <p:cNvSpPr/>
          <p:nvPr userDrawn="1"/>
        </p:nvSpPr>
        <p:spPr>
          <a:xfrm rot="9222429" flipV="1">
            <a:off x="2494119" y="-28502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565C7B4-4152-4548-A771-EB148A028FDB}"/>
              </a:ext>
            </a:extLst>
          </p:cNvPr>
          <p:cNvSpPr/>
          <p:nvPr userDrawn="1"/>
        </p:nvSpPr>
        <p:spPr>
          <a:xfrm>
            <a:off x="8165417" y="5241988"/>
            <a:ext cx="759403" cy="73880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9272" y="1380744"/>
            <a:ext cx="5559552" cy="2514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19272" y="4078224"/>
            <a:ext cx="5559552" cy="153619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5573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576" y="1911096"/>
            <a:ext cx="9829800" cy="385974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DA7759-3209-4FE2-96D1-4EEDD81E9EA0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1460DAD-8769-4C9F-9C8C-BB0443909D76}"/>
              </a:ext>
            </a:extLst>
          </p:cNvPr>
          <p:cNvSpPr/>
          <p:nvPr/>
        </p:nvSpPr>
        <p:spPr>
          <a:xfrm flipH="1">
            <a:off x="12353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5081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1096"/>
            <a:ext cx="105156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8923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with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3E3FD7E-C80A-4707-A8E9-4134DF91F3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10EC23F5-CD2E-4207-A4E6-73BDFF74D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500" y="370600"/>
            <a:ext cx="5923842" cy="5923842"/>
          </a:xfrm>
          <a:custGeom>
            <a:avLst/>
            <a:gdLst>
              <a:gd name="connsiteX0" fmla="*/ 2961921 w 5923842"/>
              <a:gd name="connsiteY0" fmla="*/ 0 h 5923842"/>
              <a:gd name="connsiteX1" fmla="*/ 5923842 w 5923842"/>
              <a:gd name="connsiteY1" fmla="*/ 2961921 h 5923842"/>
              <a:gd name="connsiteX2" fmla="*/ 2961921 w 5923842"/>
              <a:gd name="connsiteY2" fmla="*/ 5923842 h 5923842"/>
              <a:gd name="connsiteX3" fmla="*/ 0 w 5923842"/>
              <a:gd name="connsiteY3" fmla="*/ 2961921 h 5923842"/>
              <a:gd name="connsiteX4" fmla="*/ 2961921 w 5923842"/>
              <a:gd name="connsiteY4" fmla="*/ 0 h 5923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23842" h="5923842">
                <a:moveTo>
                  <a:pt x="2961921" y="0"/>
                </a:moveTo>
                <a:cubicBezTo>
                  <a:pt x="4597745" y="0"/>
                  <a:pt x="5923842" y="1326097"/>
                  <a:pt x="5923842" y="2961921"/>
                </a:cubicBezTo>
                <a:cubicBezTo>
                  <a:pt x="5923842" y="4597745"/>
                  <a:pt x="4597745" y="5923842"/>
                  <a:pt x="2961921" y="5923842"/>
                </a:cubicBezTo>
                <a:cubicBezTo>
                  <a:pt x="1326097" y="5923842"/>
                  <a:pt x="0" y="4597745"/>
                  <a:pt x="0" y="2961921"/>
                </a:cubicBezTo>
                <a:cubicBezTo>
                  <a:pt x="0" y="1326097"/>
                  <a:pt x="1326097" y="0"/>
                  <a:pt x="2961921" y="0"/>
                </a:cubicBezTo>
                <a:close/>
              </a:path>
            </a:pathLst>
          </a:custGeom>
          <a:solidFill>
            <a:schemeClr val="bg1">
              <a:alpha val="95000"/>
            </a:schemeClr>
          </a:solidFill>
        </p:spPr>
        <p:txBody>
          <a:bodyPr wrap="square" lIns="457200" rIns="457200" bIns="2331720" anchor="b" anchorCtr="0">
            <a:no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75304" y="4379976"/>
            <a:ext cx="5038344" cy="71323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FE53-FB67-4871-8485-71BAAFD7D1B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9/3/20XX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D26FED4-1CE2-444B-A77E-EB3CB505AF1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fr-FR"/>
              <a:t>Discrete Structures : Lecture 1-2 by IQRA JAVED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8FD25AA-10CC-48D8-9577-257871107B9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28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4EC5136-99DA-40B5-8F79-5C3A56D38BA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F8FB775-26C4-41BA-837C-4478D48D215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6906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594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32918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32918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53128" y="1681163"/>
            <a:ext cx="32918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53128" y="2505075"/>
            <a:ext cx="32918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ACF5677B-E56F-4452-ADDC-DA0E20A955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65008" y="1681163"/>
            <a:ext cx="32918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865D9C09-AB3B-40EB-B1DA-9C6D7234345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65008" y="2505075"/>
            <a:ext cx="32918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273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2 medium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FAA9DFF3-1B49-48A9-BF8A-57DD7D07CFA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01259" y="2727729"/>
            <a:ext cx="4290740" cy="4130271"/>
          </a:xfrm>
          <a:custGeom>
            <a:avLst/>
            <a:gdLst>
              <a:gd name="connsiteX0" fmla="*/ 2503809 w 4290740"/>
              <a:gd name="connsiteY0" fmla="*/ 0 h 4130271"/>
              <a:gd name="connsiteX1" fmla="*/ 4198398 w 4290740"/>
              <a:gd name="connsiteY1" fmla="*/ 660580 h 4130271"/>
              <a:gd name="connsiteX2" fmla="*/ 4290740 w 4290740"/>
              <a:gd name="connsiteY2" fmla="*/ 751285 h 4130271"/>
              <a:gd name="connsiteX3" fmla="*/ 4290740 w 4290740"/>
              <a:gd name="connsiteY3" fmla="*/ 4130271 h 4130271"/>
              <a:gd name="connsiteX4" fmla="*/ 604508 w 4290740"/>
              <a:gd name="connsiteY4" fmla="*/ 4130271 h 4130271"/>
              <a:gd name="connsiteX5" fmla="*/ 461940 w 4290740"/>
              <a:gd name="connsiteY5" fmla="*/ 3953232 h 4130271"/>
              <a:gd name="connsiteX6" fmla="*/ 0 w 4290740"/>
              <a:gd name="connsiteY6" fmla="*/ 2503809 h 4130271"/>
              <a:gd name="connsiteX7" fmla="*/ 2503809 w 4290740"/>
              <a:gd name="connsiteY7" fmla="*/ 0 h 4130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90740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0" y="751285"/>
                </a:lnTo>
                <a:lnTo>
                  <a:pt x="4290740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5CFEFC13-B998-4A6F-A7ED-411E266D28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61609" y="0"/>
            <a:ext cx="3519311" cy="3007909"/>
          </a:xfrm>
          <a:custGeom>
            <a:avLst/>
            <a:gdLst>
              <a:gd name="connsiteX0" fmla="*/ 519779 w 3519311"/>
              <a:gd name="connsiteY0" fmla="*/ 0 h 3007909"/>
              <a:gd name="connsiteX1" fmla="*/ 2999531 w 3519311"/>
              <a:gd name="connsiteY1" fmla="*/ 0 h 3007909"/>
              <a:gd name="connsiteX2" fmla="*/ 3003920 w 3519311"/>
              <a:gd name="connsiteY2" fmla="*/ 3989 h 3007909"/>
              <a:gd name="connsiteX3" fmla="*/ 3519311 w 3519311"/>
              <a:gd name="connsiteY3" fmla="*/ 1248253 h 3007909"/>
              <a:gd name="connsiteX4" fmla="*/ 1759655 w 3519311"/>
              <a:gd name="connsiteY4" fmla="*/ 3007909 h 3007909"/>
              <a:gd name="connsiteX5" fmla="*/ 9084 w 3519311"/>
              <a:gd name="connsiteY5" fmla="*/ 1428168 h 3007909"/>
              <a:gd name="connsiteX6" fmla="*/ 0 w 3519311"/>
              <a:gd name="connsiteY6" fmla="*/ 1248273 h 3007909"/>
              <a:gd name="connsiteX7" fmla="*/ 0 w 3519311"/>
              <a:gd name="connsiteY7" fmla="*/ 1248233 h 3007909"/>
              <a:gd name="connsiteX8" fmla="*/ 9084 w 3519311"/>
              <a:gd name="connsiteY8" fmla="*/ 1068339 h 3007909"/>
              <a:gd name="connsiteX9" fmla="*/ 515391 w 3519311"/>
              <a:gd name="connsiteY9" fmla="*/ 3989 h 3007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19311" h="3007909">
                <a:moveTo>
                  <a:pt x="519779" y="0"/>
                </a:moveTo>
                <a:lnTo>
                  <a:pt x="2999531" y="0"/>
                </a:lnTo>
                <a:lnTo>
                  <a:pt x="3003920" y="3989"/>
                </a:lnTo>
                <a:cubicBezTo>
                  <a:pt x="3322355" y="322424"/>
                  <a:pt x="3519311" y="762338"/>
                  <a:pt x="3519311" y="1248253"/>
                </a:cubicBezTo>
                <a:cubicBezTo>
                  <a:pt x="3519311" y="2220084"/>
                  <a:pt x="2731486" y="3007909"/>
                  <a:pt x="1759655" y="3007909"/>
                </a:cubicBezTo>
                <a:cubicBezTo>
                  <a:pt x="848565" y="3007909"/>
                  <a:pt x="99196" y="2315485"/>
                  <a:pt x="9084" y="1428168"/>
                </a:cubicBezTo>
                <a:lnTo>
                  <a:pt x="0" y="1248273"/>
                </a:lnTo>
                <a:lnTo>
                  <a:pt x="0" y="1248233"/>
                </a:lnTo>
                <a:lnTo>
                  <a:pt x="9084" y="1068339"/>
                </a:lnTo>
                <a:cubicBezTo>
                  <a:pt x="51137" y="654258"/>
                  <a:pt x="236761" y="282620"/>
                  <a:pt x="515391" y="3989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7BFFB5A-A05C-4B0C-905C-5884361304B2}"/>
              </a:ext>
            </a:extLst>
          </p:cNvPr>
          <p:cNvSpPr/>
          <p:nvPr userDrawn="1"/>
        </p:nvSpPr>
        <p:spPr>
          <a:xfrm>
            <a:off x="10420569" y="1364732"/>
            <a:ext cx="947488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9F33AC6C-4807-4785-AE9F-84BFEEDA9F7E}"/>
              </a:ext>
            </a:extLst>
          </p:cNvPr>
          <p:cNvSpPr/>
          <p:nvPr userDrawn="1"/>
        </p:nvSpPr>
        <p:spPr>
          <a:xfrm rot="4759070" flipV="1">
            <a:off x="6034138" y="-673140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65760"/>
            <a:ext cx="5120640" cy="1325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828800"/>
            <a:ext cx="5093208" cy="4352544"/>
          </a:xfrm>
        </p:spPr>
        <p:txBody>
          <a:bodyPr/>
          <a:lstStyle>
            <a:lvl1pPr marL="0" indent="0">
              <a:buNone/>
              <a:defRPr sz="2400"/>
            </a:lvl1pPr>
            <a:lvl2pPr marL="228600">
              <a:defRPr/>
            </a:lvl2pPr>
            <a:lvl3pPr marL="457200">
              <a:defRPr/>
            </a:lvl3pPr>
            <a:lvl4pPr marL="685800"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413178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642EAF0-DE94-4F90-82E3-6F316AA8353A}"/>
              </a:ext>
            </a:extLst>
          </p:cNvPr>
          <p:cNvSpPr/>
          <p:nvPr userDrawn="1"/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22D7888-22FA-4AA1-9BA4-CC61D6643D47}"/>
              </a:ext>
            </a:extLst>
          </p:cNvPr>
          <p:cNvSpPr/>
          <p:nvPr userDrawn="1"/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BB6E464-8999-4773-A1F2-E6CAA990E572}"/>
              </a:ext>
            </a:extLst>
          </p:cNvPr>
          <p:cNvSpPr/>
          <p:nvPr userDrawn="1"/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E9CE183-B21E-41EB-A082-DF9C3AD659D5}"/>
              </a:ext>
            </a:extLst>
          </p:cNvPr>
          <p:cNvSpPr/>
          <p:nvPr userDrawn="1"/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EA14BE8-FDD0-4434-9C3E-BFF78C22D9E3}"/>
              </a:ext>
            </a:extLst>
          </p:cNvPr>
          <p:cNvSpPr/>
          <p:nvPr userDrawn="1"/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C76330B-4C5E-463F-921A-D91F1F1F6049}"/>
              </a:ext>
            </a:extLst>
          </p:cNvPr>
          <p:cNvSpPr/>
          <p:nvPr userDrawn="1"/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494E364-7EA8-4D92-915D-75D1A3A67C07}"/>
              </a:ext>
            </a:extLst>
          </p:cNvPr>
          <p:cNvSpPr/>
          <p:nvPr userDrawn="1"/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1234440"/>
            <a:ext cx="3236976" cy="406908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82496" y="6356350"/>
            <a:ext cx="1545336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9048" y="6356350"/>
            <a:ext cx="4114800" cy="365125"/>
          </a:xfrm>
        </p:spPr>
        <p:txBody>
          <a:bodyPr/>
          <a:lstStyle>
            <a:lvl1pPr algn="l">
              <a:defRPr>
                <a:latin typeface="+mn-lt"/>
              </a:defRPr>
            </a:lvl1pPr>
          </a:lstStyle>
          <a:p>
            <a:pPr algn="l"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06456" y="6356350"/>
            <a:ext cx="850392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5976" y="2551176"/>
            <a:ext cx="4709160" cy="1755648"/>
          </a:xfrm>
        </p:spPr>
        <p:txBody>
          <a:bodyPr/>
          <a:lstStyle>
            <a:lvl1pPr marL="0" indent="0">
              <a:buNone/>
              <a:defRPr sz="2400"/>
            </a:lvl1pPr>
            <a:lvl2pPr marL="228600">
              <a:defRPr sz="1800"/>
            </a:lvl2pPr>
            <a:lvl3pPr marL="457200"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826779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46489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9A1C714-6A0E-456D-A2E2-6288C0EA0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354056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C155C63-9F58-4422-B669-F9748628067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5DBA62-0EDB-47AA-86C7-90463BC9B308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86281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BA9707F-7BCE-464F-BF45-E216527084EE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C589723-2CC8-49D1-B4E1-36FECED6A2D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40125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609600" y="359465"/>
            <a:ext cx="10972800" cy="1143000"/>
          </a:xfrm>
          <a:prstGeom prst="rect">
            <a:avLst/>
          </a:prstGeom>
        </p:spPr>
        <p:txBody>
          <a:bodyPr anchor="b" anchorCtr="0">
            <a:normAutofit/>
          </a:bodyPr>
          <a:lstStyle/>
          <a:p>
            <a:pPr algn="l"/>
            <a:r>
              <a:rPr lang="en-US"/>
              <a:t>Click to edit Master title style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4FD69-4A85-4715-A222-ABB225B63BC6}" type="datetimeFigureOut">
              <a:rPr lang="en-US" smtClean="0"/>
              <a:pPr/>
              <a:t>5/12/2025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D4C49B74-5DB2-4B03-B1D2-7F6A3C51C318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802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7668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71" r:id="rId4"/>
    <p:sldLayoutId id="2147483770" r:id="rId5"/>
    <p:sldLayoutId id="2147483774" r:id="rId6"/>
    <p:sldLayoutId id="2147483783" r:id="rId7"/>
    <p:sldLayoutId id="2147483772" r:id="rId8"/>
    <p:sldLayoutId id="2147483773" r:id="rId9"/>
    <p:sldLayoutId id="2147483785" r:id="rId10"/>
    <p:sldLayoutId id="2147483786" r:id="rId11"/>
    <p:sldLayoutId id="2147483787" r:id="rId12"/>
    <p:sldLayoutId id="2147483775" r:id="rId13"/>
    <p:sldLayoutId id="2147483788" r:id="rId14"/>
    <p:sldLayoutId id="2147483776" r:id="rId15"/>
    <p:sldLayoutId id="2147483777" r:id="rId16"/>
    <p:sldLayoutId id="214748378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5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7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12" Type="http://schemas.openxmlformats.org/officeDocument/2006/relationships/image" Target="../media/image12.wmf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9.wmf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7.bin"/><Relationship Id="rId10" Type="http://schemas.openxmlformats.org/officeDocument/2006/relationships/image" Target="../media/image11.w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9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3.w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5.w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6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7.w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18.w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oleObject" Target="../embeddings/oleObject18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23.png"/><Relationship Id="rId4" Type="http://schemas.openxmlformats.org/officeDocument/2006/relationships/oleObject" Target="../embeddings/oleObject19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oleObject" Target="../embeddings/oleObject2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21.bin"/><Relationship Id="rId5" Type="http://schemas.openxmlformats.org/officeDocument/2006/relationships/image" Target="../media/image24.png"/><Relationship Id="rId4" Type="http://schemas.openxmlformats.org/officeDocument/2006/relationships/oleObject" Target="../embeddings/oleObject20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oleObject" Target="../embeddings/oleObject25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25.png"/><Relationship Id="rId4" Type="http://schemas.openxmlformats.org/officeDocument/2006/relationships/oleObject" Target="../embeddings/oleObject23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oleObject" Target="../embeddings/oleObject28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27.bin"/><Relationship Id="rId5" Type="http://schemas.openxmlformats.org/officeDocument/2006/relationships/image" Target="../media/image26.png"/><Relationship Id="rId4" Type="http://schemas.openxmlformats.org/officeDocument/2006/relationships/oleObject" Target="../embeddings/oleObject26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28.emf"/><Relationship Id="rId5" Type="http://schemas.openxmlformats.org/officeDocument/2006/relationships/image" Target="../media/image27.png"/><Relationship Id="rId4" Type="http://schemas.openxmlformats.org/officeDocument/2006/relationships/oleObject" Target="../embeddings/oleObject29.bin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oleObject" Target="../embeddings/oleObject30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notesSlide" Target="../notesSlides/notesSlide11.xml"/><Relationship Id="rId7" Type="http://schemas.openxmlformats.org/officeDocument/2006/relationships/oleObject" Target="../embeddings/oleObject3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34.png"/><Relationship Id="rId5" Type="http://schemas.openxmlformats.org/officeDocument/2006/relationships/image" Target="../media/image32.png"/><Relationship Id="rId4" Type="http://schemas.openxmlformats.org/officeDocument/2006/relationships/oleObject" Target="../embeddings/oleObject31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.bin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36.png"/><Relationship Id="rId12" Type="http://schemas.openxmlformats.org/officeDocument/2006/relationships/image" Target="../media/image39.png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34.bin"/><Relationship Id="rId11" Type="http://schemas.openxmlformats.org/officeDocument/2006/relationships/image" Target="../media/image38.png"/><Relationship Id="rId5" Type="http://schemas.openxmlformats.org/officeDocument/2006/relationships/image" Target="../media/image35.png"/><Relationship Id="rId10" Type="http://schemas.openxmlformats.org/officeDocument/2006/relationships/oleObject" Target="../embeddings/oleObject36.bin"/><Relationship Id="rId4" Type="http://schemas.openxmlformats.org/officeDocument/2006/relationships/oleObject" Target="../embeddings/oleObject33.bin"/><Relationship Id="rId9" Type="http://schemas.openxmlformats.org/officeDocument/2006/relationships/image" Target="../media/image37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emf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42.png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38.bin"/><Relationship Id="rId5" Type="http://schemas.openxmlformats.org/officeDocument/2006/relationships/image" Target="../media/image40.png"/><Relationship Id="rId10" Type="http://schemas.openxmlformats.org/officeDocument/2006/relationships/image" Target="../media/image41.png"/><Relationship Id="rId4" Type="http://schemas.openxmlformats.org/officeDocument/2006/relationships/oleObject" Target="../embeddings/oleObject37.bin"/><Relationship Id="rId9" Type="http://schemas.openxmlformats.org/officeDocument/2006/relationships/oleObject" Target="../embeddings/oleObject39.bin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1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1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0.vml"/><Relationship Id="rId5" Type="http://schemas.openxmlformats.org/officeDocument/2006/relationships/image" Target="../media/image47.png"/><Relationship Id="rId4" Type="http://schemas.openxmlformats.org/officeDocument/2006/relationships/oleObject" Target="../embeddings/oleObject40.bin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49.png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42.bin"/><Relationship Id="rId5" Type="http://schemas.openxmlformats.org/officeDocument/2006/relationships/image" Target="../media/image48.png"/><Relationship Id="rId4" Type="http://schemas.openxmlformats.org/officeDocument/2006/relationships/oleObject" Target="../embeddings/oleObject41.bin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2.vml"/><Relationship Id="rId5" Type="http://schemas.openxmlformats.org/officeDocument/2006/relationships/image" Target="../media/image50.png"/><Relationship Id="rId4" Type="http://schemas.openxmlformats.org/officeDocument/2006/relationships/oleObject" Target="../embeddings/oleObject43.bin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6.bin"/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52.wmf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45.bin"/><Relationship Id="rId5" Type="http://schemas.openxmlformats.org/officeDocument/2006/relationships/image" Target="../media/image51.png"/><Relationship Id="rId4" Type="http://schemas.openxmlformats.org/officeDocument/2006/relationships/oleObject" Target="../embeddings/oleObject44.bin"/><Relationship Id="rId9" Type="http://schemas.openxmlformats.org/officeDocument/2006/relationships/image" Target="../media/image5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7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55.wmf"/><Relationship Id="rId5" Type="http://schemas.openxmlformats.org/officeDocument/2006/relationships/oleObject" Target="../embeddings/oleObject48.bin"/><Relationship Id="rId4" Type="http://schemas.openxmlformats.org/officeDocument/2006/relationships/image" Target="../media/image54.w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9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25.vml"/><Relationship Id="rId4" Type="http://schemas.openxmlformats.org/officeDocument/2006/relationships/image" Target="../media/image56.wmf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7.xml"/><Relationship Id="rId4" Type="http://schemas.microsoft.com/office/2007/relationships/hdphoto" Target="../media/hdphoto1.wdp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60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emf"/><Relationship Id="rId1" Type="http://schemas.openxmlformats.org/officeDocument/2006/relationships/slideLayout" Target="../slideLayouts/slideLayout1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emf"/><Relationship Id="rId1" Type="http://schemas.openxmlformats.org/officeDocument/2006/relationships/slideLayout" Target="../slideLayouts/slideLayout1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sv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BB25E70-F951-4043-8895-D1EFDDA97DDE}"/>
              </a:ext>
            </a:extLst>
          </p:cNvPr>
          <p:cNvSpPr txBox="1">
            <a:spLocks/>
          </p:cNvSpPr>
          <p:nvPr/>
        </p:nvSpPr>
        <p:spPr>
          <a:xfrm>
            <a:off x="460375" y="1948069"/>
            <a:ext cx="11594776" cy="40737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CC 141 </a:t>
            </a:r>
            <a:br>
              <a:rPr lang="en-US" sz="48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sz="48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Discrete Structures</a:t>
            </a:r>
            <a:br>
              <a:rPr lang="en-US" sz="48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br>
              <a:rPr lang="en-US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sz="3200" dirty="0">
                <a:solidFill>
                  <a:schemeClr val="accent5">
                    <a:lumMod val="50000"/>
                  </a:schemeClr>
                </a:solidFill>
                <a:latin typeface="Century Gothic" panose="020B0502020202020204" pitchFamily="34" charset="0"/>
                <a:ea typeface="Cambria Math" panose="02040503050406030204" pitchFamily="18" charset="0"/>
              </a:rPr>
              <a:t>Department of Computer Science</a:t>
            </a:r>
            <a:br>
              <a:rPr lang="en-US" sz="3200" dirty="0">
                <a:solidFill>
                  <a:schemeClr val="accent5">
                    <a:lumMod val="50000"/>
                  </a:schemeClr>
                </a:solidFill>
                <a:latin typeface="Century Gothic" panose="020B0502020202020204" pitchFamily="34" charset="0"/>
                <a:ea typeface="Cambria Math" panose="02040503050406030204" pitchFamily="18" charset="0"/>
              </a:rPr>
            </a:br>
            <a:r>
              <a:rPr lang="en-US" sz="3200" dirty="0">
                <a:solidFill>
                  <a:schemeClr val="accent5">
                    <a:lumMod val="50000"/>
                  </a:schemeClr>
                </a:solidFill>
                <a:latin typeface="Century Gothic" panose="020B0502020202020204" pitchFamily="34" charset="0"/>
                <a:ea typeface="Cambria Math" panose="02040503050406030204" pitchFamily="18" charset="0"/>
              </a:rPr>
              <a:t>School of Systems and Technology</a:t>
            </a:r>
            <a:br>
              <a:rPr lang="en-US" sz="32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ea typeface="Cambria Math" panose="02040503050406030204" pitchFamily="18" charset="0"/>
              </a:rPr>
            </a:br>
            <a:br>
              <a:rPr lang="en-US" sz="32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ea typeface="Cambria Math" panose="02040503050406030204" pitchFamily="18" charset="0"/>
              </a:rPr>
            </a:b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ea typeface="Cambria Math" panose="02040503050406030204" pitchFamily="18" charset="0"/>
              </a:rPr>
              <a:t>University of Management and Technology</a:t>
            </a:r>
            <a:br>
              <a:rPr lang="en-US" sz="32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ea typeface="Cambria Math" panose="02040503050406030204" pitchFamily="18" charset="0"/>
              </a:rPr>
            </a:b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ea typeface="Cambria Math" panose="02040503050406030204" pitchFamily="18" charset="0"/>
              </a:rPr>
              <a:t>Lahore, Pakistan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1BB6BA-659C-4C58-A7BC-E779ADA85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75" y="223319"/>
            <a:ext cx="2220849" cy="2228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780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22F2B-2D78-EB56-E02E-F61CF209E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6224" y="2336768"/>
            <a:ext cx="5559552" cy="2533075"/>
          </a:xfrm>
        </p:spPr>
        <p:txBody>
          <a:bodyPr>
            <a:normAutofit fontScale="90000"/>
          </a:bodyPr>
          <a:lstStyle/>
          <a:p>
            <a:r>
              <a:rPr lang="en-US" sz="4800" dirty="0">
                <a:latin typeface="Cambria Math" panose="02040503050406030204" pitchFamily="18" charset="0"/>
                <a:ea typeface="Cambria Math" panose="02040503050406030204" pitchFamily="18" charset="0"/>
              </a:rPr>
              <a:t>Section No. 2.4</a:t>
            </a:r>
            <a:br>
              <a:rPr lang="en-US" sz="4800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b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Sequence &amp; Summations</a:t>
            </a:r>
            <a:endParaRPr lang="en-PK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7434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776" y="0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3200" b="1" u="sng" dirty="0">
                <a:solidFill>
                  <a:srgbClr val="0070C0"/>
                </a:solidFill>
              </a:rPr>
              <a:t>APPLICATION OF</a:t>
            </a:r>
            <a:br>
              <a:rPr lang="en-US" sz="3200" b="1" u="sng" dirty="0">
                <a:solidFill>
                  <a:srgbClr val="0070C0"/>
                </a:solidFill>
              </a:rPr>
            </a:br>
            <a:r>
              <a:rPr lang="en-US" sz="3200" b="1" u="sng" dirty="0">
                <a:solidFill>
                  <a:srgbClr val="0070C0"/>
                </a:solidFill>
              </a:rPr>
              <a:t>SEQUENCES AND SUMMATIONS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25860" y="1325563"/>
            <a:ext cx="9972364" cy="512292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Sequence and Summations has multiple applications in computer science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C00000"/>
                </a:solidFill>
              </a:rPr>
              <a:t>Algorithm Analysis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C00000"/>
                </a:solidFill>
              </a:rPr>
              <a:t>Recursion &amp; Dynamic Programming 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C00000"/>
                </a:solidFill>
              </a:rPr>
              <a:t>Data Structures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C00000"/>
                </a:solidFill>
              </a:rPr>
              <a:t>Graphics and Animation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C00000"/>
                </a:solidFill>
              </a:rPr>
              <a:t>Cryptography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C00000"/>
                </a:solidFill>
              </a:rPr>
              <a:t>Database Query Optimization</a:t>
            </a:r>
            <a:r>
              <a:rPr lang="en-US" sz="2400" dirty="0">
                <a:solidFill>
                  <a:srgbClr val="C00000"/>
                </a:solidFill>
              </a:rPr>
              <a:t>	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C00000"/>
                </a:solidFill>
              </a:rPr>
              <a:t>Machine Learning &amp; AI 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195AA-DBA1-4938-939A-ACDECC688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u="sng" dirty="0"/>
              <a:t>SEQUENCE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8B4F1D-68BC-4998-9481-10024923F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1316" y="1012294"/>
            <a:ext cx="6932766" cy="4833411"/>
          </a:xfrm>
        </p:spPr>
        <p:txBody>
          <a:bodyPr>
            <a:normAutofit lnSpcReduction="10000"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SEQUENCE:</a:t>
            </a:r>
            <a:endParaRPr lang="en-US" sz="2400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sz="2400" dirty="0"/>
              <a:t>	A sequence is just a list of elements usually written in a row.</a:t>
            </a:r>
          </a:p>
          <a:p>
            <a:pPr>
              <a:buNone/>
            </a:pPr>
            <a:endParaRPr lang="en-US" sz="2400" dirty="0"/>
          </a:p>
          <a:p>
            <a:r>
              <a:rPr lang="en-US" sz="2400" b="1" u="sng" dirty="0"/>
              <a:t>EXAMPLES:</a:t>
            </a:r>
            <a:endParaRPr lang="en-US" sz="2400" dirty="0"/>
          </a:p>
          <a:p>
            <a:pPr>
              <a:buNone/>
            </a:pPr>
            <a:r>
              <a:rPr lang="en-US" sz="2400" dirty="0"/>
              <a:t>	1).	</a:t>
            </a:r>
            <a:r>
              <a:rPr lang="en-US" sz="2400" dirty="0">
                <a:solidFill>
                  <a:srgbClr val="C00000"/>
                </a:solidFill>
              </a:rPr>
              <a:t>1, 2, 3, 4, 5, …</a:t>
            </a:r>
          </a:p>
          <a:p>
            <a:pPr>
              <a:buNone/>
            </a:pPr>
            <a:r>
              <a:rPr lang="en-US" sz="2400" dirty="0"/>
              <a:t>	2).	</a:t>
            </a:r>
            <a:r>
              <a:rPr lang="en-US" sz="2400" dirty="0">
                <a:solidFill>
                  <a:srgbClr val="C00000"/>
                </a:solidFill>
              </a:rPr>
              <a:t>4, 8, 12, 16, 20,…</a:t>
            </a:r>
          </a:p>
          <a:p>
            <a:pPr>
              <a:buNone/>
            </a:pPr>
            <a:r>
              <a:rPr lang="en-US" sz="2400" dirty="0"/>
              <a:t>	3).	</a:t>
            </a:r>
            <a:r>
              <a:rPr lang="en-US" sz="2400" dirty="0">
                <a:solidFill>
                  <a:srgbClr val="C00000"/>
                </a:solidFill>
              </a:rPr>
              <a:t>2, 4, 8, 16, 32, …</a:t>
            </a:r>
          </a:p>
          <a:p>
            <a:pPr>
              <a:buNone/>
            </a:pPr>
            <a:r>
              <a:rPr lang="en-US" sz="2400" dirty="0"/>
              <a:t>	4).	</a:t>
            </a:r>
            <a:r>
              <a:rPr lang="en-US" sz="2400" dirty="0">
                <a:solidFill>
                  <a:srgbClr val="C00000"/>
                </a:solidFill>
              </a:rPr>
              <a:t>1, 1/2, 1/3, 1/4, 1/5, …</a:t>
            </a:r>
          </a:p>
          <a:p>
            <a:pPr>
              <a:buNone/>
            </a:pPr>
            <a:r>
              <a:rPr lang="en-US" sz="2400" dirty="0"/>
              <a:t>	5).	</a:t>
            </a:r>
            <a:r>
              <a:rPr lang="en-US" sz="2400" dirty="0">
                <a:solidFill>
                  <a:srgbClr val="C00000"/>
                </a:solidFill>
              </a:rPr>
              <a:t>1, 4, 9, 16, 25, …</a:t>
            </a:r>
          </a:p>
          <a:p>
            <a:pPr>
              <a:buNone/>
            </a:pPr>
            <a:r>
              <a:rPr lang="en-US" sz="2400" dirty="0"/>
              <a:t>	6).	</a:t>
            </a:r>
            <a:r>
              <a:rPr lang="en-US" sz="2400" dirty="0">
                <a:solidFill>
                  <a:srgbClr val="C00000"/>
                </a:solidFill>
              </a:rPr>
              <a:t>1, -1, 1, -1, 1, -1, …</a:t>
            </a:r>
          </a:p>
          <a:p>
            <a:endParaRPr lang="en-US" sz="2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356D3A-79EA-4A3D-87F5-596D364292F6}"/>
              </a:ext>
            </a:extLst>
          </p:cNvPr>
          <p:cNvSpPr/>
          <p:nvPr/>
        </p:nvSpPr>
        <p:spPr>
          <a:xfrm>
            <a:off x="4713909" y="5715000"/>
            <a:ext cx="6361983" cy="1143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rgbClr val="C00000"/>
                </a:solidFill>
              </a:rPr>
              <a:t>Note: </a:t>
            </a:r>
          </a:p>
          <a:p>
            <a:r>
              <a:rPr lang="en-US" dirty="0">
                <a:solidFill>
                  <a:schemeClr val="tx1"/>
                </a:solidFill>
              </a:rPr>
              <a:t>The symbol </a:t>
            </a:r>
            <a:r>
              <a:rPr lang="en-US" dirty="0">
                <a:solidFill>
                  <a:srgbClr val="C00000"/>
                </a:solidFill>
              </a:rPr>
              <a:t>“</a:t>
            </a:r>
            <a:r>
              <a:rPr lang="en-US" b="1" dirty="0">
                <a:solidFill>
                  <a:srgbClr val="C00000"/>
                </a:solidFill>
              </a:rPr>
              <a:t>…</a:t>
            </a:r>
            <a:r>
              <a:rPr lang="en-US" dirty="0">
                <a:solidFill>
                  <a:srgbClr val="C00000"/>
                </a:solidFill>
              </a:rPr>
              <a:t>”</a:t>
            </a:r>
            <a:r>
              <a:rPr lang="en-US" dirty="0">
                <a:solidFill>
                  <a:schemeClr val="tx1"/>
                </a:solidFill>
              </a:rPr>
              <a:t> is called ellipsis, and reads “so forth”</a:t>
            </a:r>
          </a:p>
        </p:txBody>
      </p:sp>
    </p:spTree>
    <p:extLst>
      <p:ext uri="{BB962C8B-B14F-4D97-AF65-F5344CB8AC3E}">
        <p14:creationId xmlns:p14="http://schemas.microsoft.com/office/powerpoint/2010/main" val="737105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431112" y="880968"/>
            <a:ext cx="11329775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just">
              <a:spcBef>
                <a:spcPct val="50000"/>
              </a:spcBef>
            </a:pPr>
            <a:r>
              <a:rPr lang="en-US" sz="2400" dirty="0">
                <a:latin typeface="Cambria Math" pitchFamily="18" charset="0"/>
                <a:ea typeface="Cambria Math" pitchFamily="18" charset="0"/>
              </a:rPr>
              <a:t>A sequence is an </a:t>
            </a:r>
            <a:r>
              <a:rPr lang="en-US" sz="2400" b="1" dirty="0">
                <a:solidFill>
                  <a:srgbClr val="C00000"/>
                </a:solidFill>
              </a:rPr>
              <a:t>ordered list of items.</a:t>
            </a:r>
          </a:p>
          <a:p>
            <a:pPr marL="0" lvl="1" algn="just">
              <a:spcBef>
                <a:spcPct val="50000"/>
              </a:spcBef>
            </a:pPr>
            <a:r>
              <a:rPr lang="en-US" sz="2400" dirty="0">
                <a:latin typeface="Cambria Math" pitchFamily="18" charset="0"/>
                <a:ea typeface="Cambria Math" pitchFamily="18" charset="0"/>
              </a:rPr>
              <a:t>It may be imagined as a </a:t>
            </a:r>
            <a:r>
              <a:rPr lang="en-US" sz="2400" b="1" dirty="0">
                <a:solidFill>
                  <a:srgbClr val="C00000"/>
                </a:solidFill>
              </a:rPr>
              <a:t>function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 mapped from elements of set N to elements of set S.</a:t>
            </a:r>
          </a:p>
          <a:p>
            <a:r>
              <a:rPr lang="en-US" sz="2400" dirty="0"/>
              <a:t>We use the notation </a:t>
            </a:r>
            <a:r>
              <a:rPr lang="en-US" sz="2400" b="1" dirty="0">
                <a:solidFill>
                  <a:srgbClr val="C00000"/>
                </a:solidFill>
              </a:rPr>
              <a:t>a</a:t>
            </a:r>
            <a:r>
              <a:rPr lang="en-US" sz="2400" b="1" baseline="-25000" dirty="0">
                <a:solidFill>
                  <a:srgbClr val="C00000"/>
                </a:solidFill>
              </a:rPr>
              <a:t>n</a:t>
            </a:r>
            <a:r>
              <a:rPr lang="en-US" sz="2400" dirty="0"/>
              <a:t> to denote the </a:t>
            </a:r>
            <a:r>
              <a:rPr lang="en-US" sz="2400" b="1" dirty="0">
                <a:solidFill>
                  <a:srgbClr val="C00000"/>
                </a:solidFill>
              </a:rPr>
              <a:t>image</a:t>
            </a:r>
            <a:r>
              <a:rPr lang="en-US" sz="2400" dirty="0"/>
              <a:t> of the </a:t>
            </a:r>
            <a:r>
              <a:rPr lang="en-US" sz="2400" b="1" dirty="0">
                <a:solidFill>
                  <a:srgbClr val="C00000"/>
                </a:solidFill>
              </a:rPr>
              <a:t>integer n</a:t>
            </a:r>
            <a:r>
              <a:rPr lang="en-US" sz="2400" dirty="0"/>
              <a:t>, and call it a </a:t>
            </a:r>
            <a:r>
              <a:rPr lang="en-US" sz="2400" b="1" dirty="0">
                <a:solidFill>
                  <a:srgbClr val="C00000"/>
                </a:solidFill>
              </a:rPr>
              <a:t>term</a:t>
            </a:r>
            <a:r>
              <a:rPr lang="en-US" sz="2400" dirty="0"/>
              <a:t> of the </a:t>
            </a:r>
            <a:r>
              <a:rPr lang="en-US" sz="2400" b="1" dirty="0">
                <a:solidFill>
                  <a:srgbClr val="C00000"/>
                </a:solidFill>
              </a:rPr>
              <a:t>sequence</a:t>
            </a:r>
            <a:r>
              <a:rPr lang="en-US" sz="2400" dirty="0"/>
              <a:t>. Thus</a:t>
            </a:r>
          </a:p>
          <a:p>
            <a:pPr>
              <a:buNone/>
            </a:pPr>
            <a:r>
              <a:rPr lang="en-US" sz="2400" dirty="0"/>
              <a:t>			</a:t>
            </a:r>
            <a:r>
              <a:rPr lang="en-US" sz="2400" b="1" dirty="0">
                <a:solidFill>
                  <a:srgbClr val="C00000"/>
                </a:solidFill>
              </a:rPr>
              <a:t>a</a:t>
            </a:r>
            <a:r>
              <a:rPr lang="en-US" sz="2400" b="1" baseline="-25000" dirty="0">
                <a:solidFill>
                  <a:srgbClr val="C00000"/>
                </a:solidFill>
              </a:rPr>
              <a:t>1</a:t>
            </a:r>
            <a:r>
              <a:rPr lang="en-US" sz="2400" b="1" dirty="0">
                <a:solidFill>
                  <a:srgbClr val="C00000"/>
                </a:solidFill>
              </a:rPr>
              <a:t>, a</a:t>
            </a:r>
            <a:r>
              <a:rPr lang="en-US" sz="2400" b="1" baseline="-25000" dirty="0">
                <a:solidFill>
                  <a:srgbClr val="C00000"/>
                </a:solidFill>
              </a:rPr>
              <a:t>2</a:t>
            </a:r>
            <a:r>
              <a:rPr lang="en-US" sz="2400" b="1" dirty="0">
                <a:solidFill>
                  <a:srgbClr val="C00000"/>
                </a:solidFill>
              </a:rPr>
              <a:t>, a</a:t>
            </a:r>
            <a:r>
              <a:rPr lang="en-US" sz="2400" b="1" baseline="-25000" dirty="0">
                <a:solidFill>
                  <a:srgbClr val="C00000"/>
                </a:solidFill>
              </a:rPr>
              <a:t>3</a:t>
            </a:r>
            <a:r>
              <a:rPr lang="en-US" sz="2400" b="1" dirty="0">
                <a:solidFill>
                  <a:srgbClr val="C00000"/>
                </a:solidFill>
              </a:rPr>
              <a:t>, a</a:t>
            </a:r>
            <a:r>
              <a:rPr lang="en-US" sz="2400" b="1" baseline="-25000" dirty="0">
                <a:solidFill>
                  <a:srgbClr val="C00000"/>
                </a:solidFill>
              </a:rPr>
              <a:t>4</a:t>
            </a:r>
            <a:r>
              <a:rPr lang="en-US" sz="2400" b="1" dirty="0">
                <a:solidFill>
                  <a:srgbClr val="C00000"/>
                </a:solidFill>
              </a:rPr>
              <a:t> …, a</a:t>
            </a:r>
            <a:r>
              <a:rPr lang="en-US" sz="2400" b="1" baseline="-25000" dirty="0">
                <a:solidFill>
                  <a:srgbClr val="C00000"/>
                </a:solidFill>
              </a:rPr>
              <a:t>n</a:t>
            </a:r>
            <a:r>
              <a:rPr lang="en-US" sz="2400" b="1" dirty="0">
                <a:solidFill>
                  <a:srgbClr val="C00000"/>
                </a:solidFill>
              </a:rPr>
              <a:t>, …</a:t>
            </a:r>
          </a:p>
          <a:p>
            <a:pPr>
              <a:buNone/>
            </a:pPr>
            <a:r>
              <a:rPr lang="en-US" sz="2400" dirty="0"/>
              <a:t>represent  the </a:t>
            </a:r>
            <a:r>
              <a:rPr lang="en-US" sz="2400" b="1" dirty="0">
                <a:solidFill>
                  <a:srgbClr val="C00000"/>
                </a:solidFill>
              </a:rPr>
              <a:t>terms</a:t>
            </a:r>
            <a:r>
              <a:rPr lang="en-US" sz="2400" dirty="0"/>
              <a:t> of a </a:t>
            </a:r>
            <a:r>
              <a:rPr lang="en-US" sz="2400" b="1" dirty="0">
                <a:solidFill>
                  <a:srgbClr val="C00000"/>
                </a:solidFill>
              </a:rPr>
              <a:t>sequence</a:t>
            </a:r>
            <a:r>
              <a:rPr lang="en-US" sz="2400" dirty="0"/>
              <a:t> defined on the set of </a:t>
            </a:r>
            <a:r>
              <a:rPr lang="en-US" sz="2400" b="1" dirty="0">
                <a:solidFill>
                  <a:srgbClr val="C00000"/>
                </a:solidFill>
              </a:rPr>
              <a:t>natural numbers N</a:t>
            </a:r>
            <a:r>
              <a:rPr lang="en-US" sz="2400" dirty="0"/>
              <a:t>. </a:t>
            </a:r>
          </a:p>
          <a:p>
            <a:pPr marL="0" lvl="1" algn="just">
              <a:spcBef>
                <a:spcPct val="50000"/>
              </a:spcBef>
            </a:pPr>
            <a:r>
              <a:rPr lang="en-US" sz="2400" dirty="0">
                <a:latin typeface="Cambria Math" pitchFamily="18" charset="0"/>
                <a:ea typeface="Cambria Math" pitchFamily="18" charset="0"/>
              </a:rPr>
              <a:t>Example: </a:t>
            </a:r>
          </a:p>
          <a:p>
            <a:pPr marL="0" lvl="1" algn="just">
              <a:spcBef>
                <a:spcPct val="50000"/>
              </a:spcBef>
            </a:pPr>
            <a:r>
              <a:rPr lang="en-US" sz="2400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sz="2400" baseline="-25000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</a:rPr>
              <a:t>n</a:t>
            </a:r>
            <a:r>
              <a:rPr lang="en-US" sz="2400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</a:rPr>
              <a:t> = 2n 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shows a sequence as image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2753" y="3684493"/>
            <a:ext cx="3715786" cy="3026879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8F6055C8-446C-44E3-84CB-A8157FB3DB1A}"/>
              </a:ext>
            </a:extLst>
          </p:cNvPr>
          <p:cNvSpPr txBox="1">
            <a:spLocks/>
          </p:cNvSpPr>
          <p:nvPr/>
        </p:nvSpPr>
        <p:spPr>
          <a:xfrm>
            <a:off x="687413" y="30162"/>
            <a:ext cx="10515600" cy="85407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u="sng" dirty="0">
                <a:solidFill>
                  <a:srgbClr val="0070C0"/>
                </a:solidFill>
              </a:rPr>
              <a:t>Sequence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76F6EA-FE1C-443F-BA05-09CAB62EB493}"/>
              </a:ext>
            </a:extLst>
          </p:cNvPr>
          <p:cNvSpPr txBox="1"/>
          <p:nvPr/>
        </p:nvSpPr>
        <p:spPr>
          <a:xfrm>
            <a:off x="693612" y="4620443"/>
            <a:ext cx="656000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rgbClr val="C00000"/>
                </a:solidFill>
              </a:rPr>
              <a:t>image</a:t>
            </a:r>
            <a:r>
              <a:rPr lang="en-US" sz="2400" dirty="0"/>
              <a:t> of (1) = </a:t>
            </a:r>
            <a:r>
              <a:rPr lang="en-US" sz="2400" dirty="0">
                <a:solidFill>
                  <a:srgbClr val="C00000"/>
                </a:solidFill>
              </a:rPr>
              <a:t>2</a:t>
            </a:r>
          </a:p>
          <a:p>
            <a:pPr>
              <a:buNone/>
            </a:pPr>
            <a:r>
              <a:rPr lang="en-US" sz="2400" dirty="0">
                <a:solidFill>
                  <a:srgbClr val="C00000"/>
                </a:solidFill>
              </a:rPr>
              <a:t>image</a:t>
            </a:r>
            <a:r>
              <a:rPr lang="en-US" sz="2400" dirty="0"/>
              <a:t> of (2) = </a:t>
            </a:r>
            <a:r>
              <a:rPr lang="en-US" sz="2400" dirty="0">
                <a:solidFill>
                  <a:srgbClr val="C00000"/>
                </a:solidFill>
              </a:rPr>
              <a:t>4</a:t>
            </a:r>
          </a:p>
          <a:p>
            <a:pPr>
              <a:buNone/>
            </a:pPr>
            <a:r>
              <a:rPr lang="en-US" sz="2400" dirty="0">
                <a:solidFill>
                  <a:srgbClr val="C00000"/>
                </a:solidFill>
              </a:rPr>
              <a:t>image</a:t>
            </a:r>
            <a:r>
              <a:rPr lang="en-US" sz="2400" dirty="0"/>
              <a:t> of (3) = </a:t>
            </a:r>
            <a:r>
              <a:rPr lang="en-US" sz="2400" dirty="0">
                <a:solidFill>
                  <a:srgbClr val="C00000"/>
                </a:solidFill>
              </a:rPr>
              <a:t>6</a:t>
            </a:r>
          </a:p>
          <a:p>
            <a:pPr>
              <a:buNone/>
            </a:pPr>
            <a:r>
              <a:rPr lang="en-US" sz="2400" dirty="0">
                <a:solidFill>
                  <a:srgbClr val="C00000"/>
                </a:solidFill>
              </a:rPr>
              <a:t>image</a:t>
            </a:r>
            <a:r>
              <a:rPr lang="en-US" sz="2400" dirty="0"/>
              <a:t> of (4) = </a:t>
            </a:r>
            <a:r>
              <a:rPr lang="en-US" sz="2400" dirty="0">
                <a:solidFill>
                  <a:srgbClr val="C00000"/>
                </a:solidFill>
              </a:rPr>
              <a:t>8</a:t>
            </a:r>
          </a:p>
          <a:p>
            <a:pPr>
              <a:buNone/>
            </a:pPr>
            <a:r>
              <a:rPr lang="en-US" sz="2400" dirty="0">
                <a:solidFill>
                  <a:srgbClr val="C00000"/>
                </a:solidFill>
              </a:rPr>
              <a:t>image</a:t>
            </a:r>
            <a:r>
              <a:rPr lang="en-US" sz="2400" dirty="0"/>
              <a:t> of (5) = </a:t>
            </a:r>
            <a:r>
              <a:rPr lang="en-US" sz="2400" dirty="0">
                <a:solidFill>
                  <a:srgbClr val="C0000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913051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496" y="365126"/>
            <a:ext cx="10515600" cy="1046816"/>
          </a:xfrm>
        </p:spPr>
        <p:txBody>
          <a:bodyPr>
            <a:normAutofit/>
          </a:bodyPr>
          <a:lstStyle/>
          <a:p>
            <a:pPr algn="ctr"/>
            <a:r>
              <a:rPr lang="en-US" sz="3600" b="1" u="sng" dirty="0">
                <a:solidFill>
                  <a:srgbClr val="0070C0"/>
                </a:solidFill>
              </a:rPr>
              <a:t>FORMAL DEFINITION OF SEQUENCE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 </a:t>
            </a:r>
            <a:r>
              <a:rPr lang="en-US" sz="2400" dirty="0">
                <a:solidFill>
                  <a:srgbClr val="C00000"/>
                </a:solidFill>
              </a:rPr>
              <a:t>sequence</a:t>
            </a:r>
            <a:r>
              <a:rPr lang="en-US" sz="2400" dirty="0"/>
              <a:t> is a function whose </a:t>
            </a:r>
            <a:r>
              <a:rPr lang="en-US" sz="2400" dirty="0">
                <a:solidFill>
                  <a:srgbClr val="C00000"/>
                </a:solidFill>
              </a:rPr>
              <a:t>domain</a:t>
            </a:r>
            <a:r>
              <a:rPr lang="en-US" sz="2400" dirty="0"/>
              <a:t> is the set of </a:t>
            </a:r>
            <a:r>
              <a:rPr lang="en-US" sz="2400" dirty="0">
                <a:solidFill>
                  <a:srgbClr val="C00000"/>
                </a:solidFill>
              </a:rPr>
              <a:t>integers</a:t>
            </a:r>
            <a:r>
              <a:rPr lang="en-US" sz="2400" dirty="0"/>
              <a:t> greater than or equal to a particular </a:t>
            </a:r>
            <a:r>
              <a:rPr lang="en-US" sz="2400" dirty="0">
                <a:solidFill>
                  <a:srgbClr val="C00000"/>
                </a:solidFill>
              </a:rPr>
              <a:t>integer n</a:t>
            </a:r>
            <a:r>
              <a:rPr lang="en-US" sz="2400" baseline="-25000" dirty="0">
                <a:solidFill>
                  <a:srgbClr val="C00000"/>
                </a:solidFill>
              </a:rPr>
              <a:t>0</a:t>
            </a:r>
          </a:p>
          <a:p>
            <a:endParaRPr lang="en-US" sz="2400" dirty="0">
              <a:solidFill>
                <a:srgbClr val="C00000"/>
              </a:solidFill>
            </a:endParaRPr>
          </a:p>
          <a:p>
            <a:r>
              <a:rPr lang="en-US" sz="2400" dirty="0"/>
              <a:t>Usually this set is the set of </a:t>
            </a:r>
            <a:r>
              <a:rPr lang="en-US" sz="2400" dirty="0">
                <a:solidFill>
                  <a:srgbClr val="C00000"/>
                </a:solidFill>
              </a:rPr>
              <a:t>Natural numbers {1, 2, 3, …} </a:t>
            </a:r>
            <a:r>
              <a:rPr lang="en-US" sz="2400" dirty="0"/>
              <a:t>or the set of </a:t>
            </a:r>
            <a:r>
              <a:rPr lang="en-US" sz="2400" dirty="0">
                <a:solidFill>
                  <a:srgbClr val="C00000"/>
                </a:solidFill>
              </a:rPr>
              <a:t>whole numbers {0, 1, 2, 3, …}</a:t>
            </a:r>
            <a:r>
              <a:rPr lang="en-US" sz="2400" dirty="0"/>
              <a:t>.</a:t>
            </a:r>
          </a:p>
          <a:p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69634" name="Rectangle 2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776" y="0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3200" b="1" u="sng" dirty="0">
                <a:solidFill>
                  <a:srgbClr val="0070C0"/>
                </a:solidFill>
              </a:rPr>
              <a:t>FINDING TERMS OF A SEQUENCE GIVEN BY AN </a:t>
            </a:r>
            <a:r>
              <a:rPr lang="en-US" sz="3200" b="1" u="sng" dirty="0">
                <a:solidFill>
                  <a:srgbClr val="C00000"/>
                </a:solidFill>
              </a:rPr>
              <a:t>EXPLICIT 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722376" y="1325563"/>
            <a:ext cx="9829800" cy="9531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An </a:t>
            </a:r>
            <a:r>
              <a:rPr lang="en-US" sz="2400" b="1" dirty="0">
                <a:solidFill>
                  <a:srgbClr val="C00000"/>
                </a:solidFill>
              </a:rPr>
              <a:t>explicit formula </a:t>
            </a:r>
            <a:r>
              <a:rPr lang="en-US" sz="2400" dirty="0"/>
              <a:t>or general formula for a </a:t>
            </a:r>
            <a:r>
              <a:rPr lang="en-US" sz="2400" b="1" dirty="0">
                <a:solidFill>
                  <a:srgbClr val="C00000"/>
                </a:solidFill>
              </a:rPr>
              <a:t>sequence </a:t>
            </a:r>
            <a:r>
              <a:rPr lang="en-US" sz="2400" dirty="0"/>
              <a:t>is a </a:t>
            </a:r>
            <a:r>
              <a:rPr lang="en-US" sz="2400" b="1" dirty="0">
                <a:solidFill>
                  <a:srgbClr val="C00000"/>
                </a:solidFill>
              </a:rPr>
              <a:t>rule</a:t>
            </a:r>
            <a:r>
              <a:rPr lang="en-US" sz="2400" dirty="0"/>
              <a:t> that shows how the values of </a:t>
            </a:r>
            <a:r>
              <a:rPr lang="en-US" sz="2400" b="1" dirty="0" err="1">
                <a:solidFill>
                  <a:srgbClr val="C00000"/>
                </a:solidFill>
              </a:rPr>
              <a:t>a</a:t>
            </a:r>
            <a:r>
              <a:rPr lang="en-US" sz="2400" b="1" baseline="-25000" dirty="0" err="1">
                <a:solidFill>
                  <a:srgbClr val="C00000"/>
                </a:solidFill>
              </a:rPr>
              <a:t>k</a:t>
            </a:r>
            <a:r>
              <a:rPr lang="en-US" sz="2400" dirty="0"/>
              <a:t> depends on </a:t>
            </a:r>
            <a:r>
              <a:rPr lang="en-US" sz="2400" b="1" dirty="0">
                <a:solidFill>
                  <a:srgbClr val="C00000"/>
                </a:solidFill>
              </a:rPr>
              <a:t>k</a:t>
            </a:r>
            <a:r>
              <a:rPr lang="en-US" sz="2400" dirty="0"/>
              <a:t>.</a:t>
            </a:r>
          </a:p>
          <a:p>
            <a:endParaRPr lang="en-US" sz="2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1AE1B75-C648-46D9-A958-1F5C984C531D}"/>
              </a:ext>
            </a:extLst>
          </p:cNvPr>
          <p:cNvSpPr txBox="1">
            <a:spLocks/>
          </p:cNvSpPr>
          <p:nvPr/>
        </p:nvSpPr>
        <p:spPr>
          <a:xfrm>
            <a:off x="954741" y="2278691"/>
            <a:ext cx="10514883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Example</a:t>
            </a:r>
          </a:p>
          <a:p>
            <a:pPr marL="0" indent="0">
              <a:buNone/>
            </a:pPr>
            <a:r>
              <a:rPr lang="en-US" sz="2400" dirty="0"/>
              <a:t>Define a </a:t>
            </a:r>
            <a:r>
              <a:rPr lang="en-US" sz="2400" b="1" dirty="0">
                <a:solidFill>
                  <a:srgbClr val="C00000"/>
                </a:solidFill>
              </a:rPr>
              <a:t>sequence a</a:t>
            </a:r>
            <a:r>
              <a:rPr lang="en-US" sz="2400" b="1" baseline="-25000" dirty="0">
                <a:solidFill>
                  <a:srgbClr val="C00000"/>
                </a:solidFill>
              </a:rPr>
              <a:t>1</a:t>
            </a:r>
            <a:r>
              <a:rPr lang="en-US" sz="2400" b="1" dirty="0">
                <a:solidFill>
                  <a:srgbClr val="C00000"/>
                </a:solidFill>
              </a:rPr>
              <a:t>, a</a:t>
            </a:r>
            <a:r>
              <a:rPr lang="en-US" sz="2400" b="1" baseline="-25000" dirty="0">
                <a:solidFill>
                  <a:srgbClr val="C00000"/>
                </a:solidFill>
              </a:rPr>
              <a:t>2</a:t>
            </a:r>
            <a:r>
              <a:rPr lang="en-US" sz="2400" b="1" dirty="0">
                <a:solidFill>
                  <a:srgbClr val="C00000"/>
                </a:solidFill>
              </a:rPr>
              <a:t>, a</a:t>
            </a:r>
            <a:r>
              <a:rPr lang="en-US" sz="2400" b="1" baseline="-25000" dirty="0">
                <a:solidFill>
                  <a:srgbClr val="C00000"/>
                </a:solidFill>
              </a:rPr>
              <a:t>3</a:t>
            </a:r>
            <a:r>
              <a:rPr lang="en-US" sz="2400" b="1" dirty="0">
                <a:solidFill>
                  <a:srgbClr val="C00000"/>
                </a:solidFill>
              </a:rPr>
              <a:t>, … </a:t>
            </a:r>
            <a:r>
              <a:rPr lang="en-US" sz="2400" dirty="0"/>
              <a:t>by the explicit formula, find the </a:t>
            </a:r>
            <a:r>
              <a:rPr lang="en-US" sz="2400" b="1" dirty="0">
                <a:solidFill>
                  <a:srgbClr val="C00000"/>
                </a:solidFill>
              </a:rPr>
              <a:t>first 4</a:t>
            </a:r>
            <a:r>
              <a:rPr lang="en-US" sz="2400" b="1" baseline="30000" dirty="0">
                <a:solidFill>
                  <a:srgbClr val="C00000"/>
                </a:solidFill>
              </a:rPr>
              <a:t>th</a:t>
            </a:r>
            <a:r>
              <a:rPr lang="en-US" sz="2400" b="1" dirty="0">
                <a:solidFill>
                  <a:srgbClr val="C00000"/>
                </a:solidFill>
              </a:rPr>
              <a:t> term</a:t>
            </a:r>
            <a:r>
              <a:rPr lang="en-US" sz="2400" dirty="0"/>
              <a:t> of the sequence:</a:t>
            </a:r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To find the </a:t>
            </a:r>
            <a:r>
              <a:rPr lang="en-US" sz="2400" b="1" dirty="0">
                <a:solidFill>
                  <a:srgbClr val="C00000"/>
                </a:solidFill>
              </a:rPr>
              <a:t>1</a:t>
            </a:r>
            <a:r>
              <a:rPr lang="en-US" sz="2400" b="1" baseline="30000" dirty="0">
                <a:solidFill>
                  <a:srgbClr val="C00000"/>
                </a:solidFill>
              </a:rPr>
              <a:t>st</a:t>
            </a:r>
            <a:r>
              <a:rPr lang="en-US" sz="2400" b="1" dirty="0">
                <a:solidFill>
                  <a:srgbClr val="C00000"/>
                </a:solidFill>
              </a:rPr>
              <a:t> term </a:t>
            </a:r>
            <a:r>
              <a:rPr lang="en-US" sz="2400" dirty="0"/>
              <a:t>just replace </a:t>
            </a:r>
            <a:r>
              <a:rPr lang="en-US" sz="2400" b="1" dirty="0">
                <a:solidFill>
                  <a:srgbClr val="C00000"/>
                </a:solidFill>
              </a:rPr>
              <a:t>k</a:t>
            </a:r>
            <a:r>
              <a:rPr lang="en-US" sz="2400" dirty="0"/>
              <a:t> with </a:t>
            </a:r>
            <a:r>
              <a:rPr lang="en-US" sz="2400" b="1" dirty="0">
                <a:solidFill>
                  <a:srgbClr val="C00000"/>
                </a:solidFill>
              </a:rPr>
              <a:t>1</a:t>
            </a:r>
            <a:r>
              <a:rPr lang="en-US" sz="2400" dirty="0"/>
              <a:t> and so on…</a:t>
            </a:r>
          </a:p>
          <a:p>
            <a:endParaRPr lang="en-US" sz="2400" dirty="0"/>
          </a:p>
          <a:p>
            <a:endParaRPr lang="en-US" sz="2400" dirty="0"/>
          </a:p>
          <a:p>
            <a:pPr>
              <a:buFont typeface="Arial" panose="020B0604020202020204" pitchFamily="34" charset="0"/>
              <a:buNone/>
            </a:pPr>
            <a:endParaRPr lang="en-US" sz="2400" dirty="0"/>
          </a:p>
          <a:p>
            <a:pPr>
              <a:buFont typeface="Arial" panose="020B0604020202020204" pitchFamily="34" charset="0"/>
              <a:buNone/>
            </a:pPr>
            <a:endParaRPr lang="en-US" sz="2400" dirty="0"/>
          </a:p>
          <a:p>
            <a:endParaRPr lang="en-US" sz="2400" dirty="0"/>
          </a:p>
        </p:txBody>
      </p:sp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435891AB-37FE-4BD6-8C34-8258E2D00D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1454812"/>
              </p:ext>
            </p:extLst>
          </p:nvPr>
        </p:nvGraphicFramePr>
        <p:xfrm>
          <a:off x="3841515" y="3429000"/>
          <a:ext cx="4741333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90" r:id="rId3" imgW="2171520" imgH="393480" progId="">
                  <p:embed/>
                </p:oleObj>
              </mc:Choice>
              <mc:Fallback>
                <p:oleObj r:id="rId3" imgW="2171520" imgH="393480" progId="">
                  <p:embed/>
                  <p:pic>
                    <p:nvPicPr>
                      <p:cNvPr id="7168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1515" y="3429000"/>
                        <a:ext cx="4741333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>
            <a:extLst>
              <a:ext uri="{FF2B5EF4-FFF2-40B4-BE49-F238E27FC236}">
                <a16:creationId xmlns:a16="http://schemas.microsoft.com/office/drawing/2014/main" id="{2B49B1FE-3BE4-401B-8DD2-952BDF0B29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7654420"/>
              </p:ext>
            </p:extLst>
          </p:nvPr>
        </p:nvGraphicFramePr>
        <p:xfrm>
          <a:off x="3124199" y="5019007"/>
          <a:ext cx="5943601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91" r:id="rId5" imgW="2603160" imgH="812520" progId="">
                  <p:embed/>
                </p:oleObj>
              </mc:Choice>
              <mc:Fallback>
                <p:oleObj r:id="rId5" imgW="2603160" imgH="812520" progId="">
                  <p:embed/>
                  <p:pic>
                    <p:nvPicPr>
                      <p:cNvPr id="7168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199" y="5019007"/>
                        <a:ext cx="5943601" cy="152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026" y="1"/>
            <a:ext cx="10515600" cy="941294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645024" y="1125071"/>
            <a:ext cx="9072282" cy="518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Write the </a:t>
            </a:r>
            <a:r>
              <a:rPr lang="en-US" sz="2400" dirty="0">
                <a:solidFill>
                  <a:srgbClr val="C00000"/>
                </a:solidFill>
              </a:rPr>
              <a:t>first four terms </a:t>
            </a:r>
            <a:r>
              <a:rPr lang="en-US" sz="2400" dirty="0"/>
              <a:t>of the </a:t>
            </a:r>
            <a:r>
              <a:rPr lang="en-US" sz="2400" dirty="0">
                <a:solidFill>
                  <a:srgbClr val="C00000"/>
                </a:solidFill>
              </a:rPr>
              <a:t>sequence</a:t>
            </a:r>
            <a:r>
              <a:rPr lang="en-US" sz="2400" dirty="0"/>
              <a:t> defined by the formula </a:t>
            </a:r>
            <a:r>
              <a:rPr lang="en-US" sz="2400" dirty="0" err="1">
                <a:solidFill>
                  <a:srgbClr val="C00000"/>
                </a:solidFill>
              </a:rPr>
              <a:t>b</a:t>
            </a:r>
            <a:r>
              <a:rPr lang="en-US" sz="2400" baseline="-25000" dirty="0" err="1">
                <a:solidFill>
                  <a:srgbClr val="C00000"/>
                </a:solidFill>
              </a:rPr>
              <a:t>j</a:t>
            </a:r>
            <a:r>
              <a:rPr lang="en-US" sz="2400" dirty="0">
                <a:solidFill>
                  <a:srgbClr val="C00000"/>
                </a:solidFill>
              </a:rPr>
              <a:t> = 1 + 2</a:t>
            </a:r>
            <a:r>
              <a:rPr lang="en-US" sz="2400" baseline="30000" dirty="0">
                <a:solidFill>
                  <a:srgbClr val="C00000"/>
                </a:solidFill>
              </a:rPr>
              <a:t>j</a:t>
            </a:r>
            <a:r>
              <a:rPr lang="en-US" sz="2400" dirty="0"/>
              <a:t>, for all integers </a:t>
            </a:r>
            <a:r>
              <a:rPr lang="en-US" sz="2400" dirty="0">
                <a:solidFill>
                  <a:srgbClr val="C00000"/>
                </a:solidFill>
              </a:rPr>
              <a:t>j </a:t>
            </a:r>
            <a:r>
              <a:rPr lang="en-US" sz="2400" dirty="0">
                <a:solidFill>
                  <a:srgbClr val="C00000"/>
                </a:solidFill>
                <a:sym typeface="Symbol"/>
              </a:rPr>
              <a:t></a:t>
            </a:r>
            <a:r>
              <a:rPr lang="en-US" sz="2400" dirty="0">
                <a:solidFill>
                  <a:srgbClr val="C00000"/>
                </a:solidFill>
              </a:rPr>
              <a:t> 0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b="1" u="sng" dirty="0">
                <a:solidFill>
                  <a:srgbClr val="C00000"/>
                </a:solidFill>
              </a:rPr>
              <a:t>SOLUTION:</a:t>
            </a:r>
            <a:endParaRPr lang="en-US" sz="2400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sz="2400" dirty="0"/>
              <a:t>				b</a:t>
            </a:r>
            <a:r>
              <a:rPr lang="en-US" sz="2400" baseline="-25000" dirty="0"/>
              <a:t>0</a:t>
            </a:r>
            <a:r>
              <a:rPr lang="en-US" sz="2400" dirty="0"/>
              <a:t> = </a:t>
            </a:r>
            <a:r>
              <a:rPr lang="en-US" sz="2400" dirty="0">
                <a:solidFill>
                  <a:srgbClr val="C00000"/>
                </a:solidFill>
              </a:rPr>
              <a:t>1 + 2</a:t>
            </a:r>
            <a:r>
              <a:rPr lang="en-US" sz="2400" baseline="30000" dirty="0">
                <a:solidFill>
                  <a:srgbClr val="C00000"/>
                </a:solidFill>
              </a:rPr>
              <a:t>0</a:t>
            </a:r>
            <a:r>
              <a:rPr lang="en-US" sz="2400" dirty="0">
                <a:solidFill>
                  <a:srgbClr val="C00000"/>
                </a:solidFill>
              </a:rPr>
              <a:t> = 1 + 1 = 2</a:t>
            </a:r>
          </a:p>
          <a:p>
            <a:pPr>
              <a:buNone/>
            </a:pPr>
            <a:r>
              <a:rPr lang="en-US" sz="2400" dirty="0"/>
              <a:t>				b</a:t>
            </a:r>
            <a:r>
              <a:rPr lang="en-US" sz="2400" baseline="-25000" dirty="0"/>
              <a:t>1</a:t>
            </a:r>
            <a:r>
              <a:rPr lang="en-US" sz="2400" dirty="0"/>
              <a:t> = </a:t>
            </a:r>
            <a:r>
              <a:rPr lang="en-US" sz="2400" dirty="0">
                <a:solidFill>
                  <a:srgbClr val="C00000"/>
                </a:solidFill>
              </a:rPr>
              <a:t>1 + 2</a:t>
            </a:r>
            <a:r>
              <a:rPr lang="en-US" sz="2400" baseline="30000" dirty="0">
                <a:solidFill>
                  <a:srgbClr val="C00000"/>
                </a:solidFill>
              </a:rPr>
              <a:t>1</a:t>
            </a:r>
            <a:r>
              <a:rPr lang="en-US" sz="2400" dirty="0">
                <a:solidFill>
                  <a:srgbClr val="C00000"/>
                </a:solidFill>
              </a:rPr>
              <a:t> = 1 + 2 = 3</a:t>
            </a:r>
          </a:p>
          <a:p>
            <a:pPr>
              <a:buNone/>
            </a:pPr>
            <a:r>
              <a:rPr lang="en-US" sz="2400" dirty="0"/>
              <a:t>				b</a:t>
            </a:r>
            <a:r>
              <a:rPr lang="en-US" sz="2400" baseline="-25000" dirty="0"/>
              <a:t>2</a:t>
            </a:r>
            <a:r>
              <a:rPr lang="en-US" sz="2400" dirty="0"/>
              <a:t> = </a:t>
            </a:r>
            <a:r>
              <a:rPr lang="en-US" sz="2400" dirty="0">
                <a:solidFill>
                  <a:srgbClr val="C00000"/>
                </a:solidFill>
              </a:rPr>
              <a:t>1 + 2</a:t>
            </a:r>
            <a:r>
              <a:rPr lang="en-US" sz="2400" baseline="30000" dirty="0">
                <a:solidFill>
                  <a:srgbClr val="C00000"/>
                </a:solidFill>
              </a:rPr>
              <a:t>2</a:t>
            </a:r>
            <a:r>
              <a:rPr lang="en-US" sz="2400" dirty="0">
                <a:solidFill>
                  <a:srgbClr val="C00000"/>
                </a:solidFill>
              </a:rPr>
              <a:t> = 1 + 4 = 5</a:t>
            </a:r>
          </a:p>
          <a:p>
            <a:pPr>
              <a:buNone/>
            </a:pPr>
            <a:r>
              <a:rPr lang="en-US" sz="2400" dirty="0"/>
              <a:t>				b</a:t>
            </a:r>
            <a:r>
              <a:rPr lang="en-US" sz="2400" baseline="-25000" dirty="0"/>
              <a:t>3</a:t>
            </a:r>
            <a:r>
              <a:rPr lang="en-US" sz="2400" dirty="0"/>
              <a:t> = </a:t>
            </a:r>
            <a:r>
              <a:rPr lang="en-US" sz="2400" dirty="0">
                <a:solidFill>
                  <a:srgbClr val="C00000"/>
                </a:solidFill>
              </a:rPr>
              <a:t>1 + 2</a:t>
            </a:r>
            <a:r>
              <a:rPr lang="en-US" sz="2400" baseline="30000" dirty="0">
                <a:solidFill>
                  <a:srgbClr val="C00000"/>
                </a:solidFill>
              </a:rPr>
              <a:t>3</a:t>
            </a:r>
            <a:r>
              <a:rPr lang="en-US" sz="2400" dirty="0">
                <a:solidFill>
                  <a:srgbClr val="C00000"/>
                </a:solidFill>
              </a:rPr>
              <a:t> = 1 + 8 = 9</a:t>
            </a:r>
          </a:p>
          <a:p>
            <a:pPr marL="0" indent="0">
              <a:buNone/>
            </a:pPr>
            <a:r>
              <a:rPr lang="en-US" sz="2400" b="1" u="sng" dirty="0">
                <a:solidFill>
                  <a:srgbClr val="C00000"/>
                </a:solidFill>
              </a:rPr>
              <a:t>REMARK:</a:t>
            </a:r>
            <a:endParaRPr lang="en-US" sz="2400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sz="2400" dirty="0"/>
              <a:t>	The formula </a:t>
            </a:r>
            <a:r>
              <a:rPr lang="en-US" sz="2400" b="1" dirty="0" err="1">
                <a:solidFill>
                  <a:srgbClr val="C00000"/>
                </a:solidFill>
              </a:rPr>
              <a:t>b</a:t>
            </a:r>
            <a:r>
              <a:rPr lang="en-US" sz="2400" b="1" baseline="-25000" dirty="0" err="1">
                <a:solidFill>
                  <a:srgbClr val="C00000"/>
                </a:solidFill>
              </a:rPr>
              <a:t>j</a:t>
            </a:r>
            <a:r>
              <a:rPr lang="en-US" sz="2400" b="1" dirty="0">
                <a:solidFill>
                  <a:srgbClr val="C00000"/>
                </a:solidFill>
              </a:rPr>
              <a:t> = 1 + 2</a:t>
            </a:r>
            <a:r>
              <a:rPr lang="en-US" sz="2400" b="1" baseline="30000" dirty="0">
                <a:solidFill>
                  <a:srgbClr val="C00000"/>
                </a:solidFill>
              </a:rPr>
              <a:t>j</a:t>
            </a:r>
            <a:r>
              <a:rPr lang="en-US" sz="2400" dirty="0"/>
              <a:t>, for all integers j </a:t>
            </a:r>
            <a:r>
              <a:rPr lang="en-US" sz="2400" dirty="0">
                <a:sym typeface="Symbol"/>
              </a:rPr>
              <a:t></a:t>
            </a:r>
            <a:r>
              <a:rPr lang="en-US" sz="2400" dirty="0"/>
              <a:t> 0 defines an infinite sequence having infinite number of values.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496" y="365125"/>
            <a:ext cx="10515600" cy="722037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>
                <a:solidFill>
                  <a:srgbClr val="0070C0"/>
                </a:solidFill>
              </a:rPr>
              <a:t>EXAMPLE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407817" y="1116105"/>
            <a:ext cx="9376365" cy="462578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Compute the </a:t>
            </a:r>
            <a:r>
              <a:rPr lang="en-US" sz="2400" dirty="0">
                <a:solidFill>
                  <a:srgbClr val="C00000"/>
                </a:solidFill>
              </a:rPr>
              <a:t>first six terms </a:t>
            </a:r>
            <a:r>
              <a:rPr lang="en-US" sz="2400" dirty="0"/>
              <a:t>of the </a:t>
            </a:r>
            <a:r>
              <a:rPr lang="en-US" sz="2400" dirty="0">
                <a:solidFill>
                  <a:srgbClr val="C00000"/>
                </a:solidFill>
              </a:rPr>
              <a:t>sequence </a:t>
            </a:r>
            <a:r>
              <a:rPr lang="en-US" sz="2400" dirty="0"/>
              <a:t>defined by the formula </a:t>
            </a:r>
            <a:r>
              <a:rPr lang="en-US" sz="2400" dirty="0" err="1">
                <a:solidFill>
                  <a:srgbClr val="C00000"/>
                </a:solidFill>
              </a:rPr>
              <a:t>C</a:t>
            </a:r>
            <a:r>
              <a:rPr lang="en-US" sz="2400" baseline="-25000" dirty="0" err="1">
                <a:solidFill>
                  <a:srgbClr val="C00000"/>
                </a:solidFill>
              </a:rPr>
              <a:t>n</a:t>
            </a:r>
            <a:r>
              <a:rPr lang="en-US" sz="2400" dirty="0">
                <a:solidFill>
                  <a:srgbClr val="C00000"/>
                </a:solidFill>
              </a:rPr>
              <a:t> = 1+ (-1)</a:t>
            </a:r>
            <a:r>
              <a:rPr lang="en-US" sz="2400" baseline="30000" dirty="0">
                <a:solidFill>
                  <a:srgbClr val="C00000"/>
                </a:solidFill>
              </a:rPr>
              <a:t> n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for all integers </a:t>
            </a:r>
            <a:r>
              <a:rPr lang="en-US" sz="2400" dirty="0">
                <a:solidFill>
                  <a:srgbClr val="C00000"/>
                </a:solidFill>
              </a:rPr>
              <a:t>n </a:t>
            </a:r>
            <a:r>
              <a:rPr lang="en-US" sz="2400" dirty="0">
                <a:solidFill>
                  <a:srgbClr val="C00000"/>
                </a:solidFill>
                <a:sym typeface="Symbol"/>
              </a:rPr>
              <a:t></a:t>
            </a:r>
            <a:r>
              <a:rPr lang="en-US" sz="2400" dirty="0">
                <a:solidFill>
                  <a:srgbClr val="C00000"/>
                </a:solidFill>
              </a:rPr>
              <a:t> 0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fr-FR" sz="2400" b="1" u="sng" dirty="0">
                <a:solidFill>
                  <a:srgbClr val="C00000"/>
                </a:solidFill>
              </a:rPr>
              <a:t>SOLUTION:</a:t>
            </a:r>
          </a:p>
          <a:p>
            <a:pPr>
              <a:buNone/>
            </a:pPr>
            <a:r>
              <a:rPr lang="fr-FR" sz="2400" dirty="0"/>
              <a:t>				C</a:t>
            </a:r>
            <a:r>
              <a:rPr lang="fr-FR" sz="2400" baseline="-25000" dirty="0"/>
              <a:t>0</a:t>
            </a:r>
            <a:r>
              <a:rPr lang="fr-FR" sz="2400" dirty="0"/>
              <a:t> = </a:t>
            </a:r>
            <a:r>
              <a:rPr lang="fr-FR" sz="2400" dirty="0">
                <a:solidFill>
                  <a:srgbClr val="C00000"/>
                </a:solidFill>
              </a:rPr>
              <a:t>1 + (-1)</a:t>
            </a:r>
            <a:r>
              <a:rPr lang="fr-FR" sz="2400" baseline="30000" dirty="0">
                <a:solidFill>
                  <a:srgbClr val="C00000"/>
                </a:solidFill>
              </a:rPr>
              <a:t>0  </a:t>
            </a:r>
            <a:r>
              <a:rPr lang="fr-FR" sz="2400" dirty="0">
                <a:solidFill>
                  <a:srgbClr val="C00000"/>
                </a:solidFill>
              </a:rPr>
              <a:t>= 1 + 1 = 2	</a:t>
            </a:r>
          </a:p>
          <a:p>
            <a:pPr>
              <a:buNone/>
            </a:pPr>
            <a:r>
              <a:rPr lang="fr-FR" sz="2400" dirty="0"/>
              <a:t>				C</a:t>
            </a:r>
            <a:r>
              <a:rPr lang="fr-FR" sz="2400" baseline="-25000" dirty="0"/>
              <a:t>1</a:t>
            </a:r>
            <a:r>
              <a:rPr lang="fr-FR" sz="2400" dirty="0"/>
              <a:t> = </a:t>
            </a:r>
            <a:r>
              <a:rPr lang="fr-FR" sz="2400" dirty="0">
                <a:solidFill>
                  <a:srgbClr val="C00000"/>
                </a:solidFill>
              </a:rPr>
              <a:t>1 + (-1)</a:t>
            </a:r>
            <a:r>
              <a:rPr lang="en-US" sz="2400" baseline="30000" dirty="0">
                <a:solidFill>
                  <a:srgbClr val="C00000"/>
                </a:solidFill>
              </a:rPr>
              <a:t>1</a:t>
            </a:r>
            <a:r>
              <a:rPr lang="fr-FR" sz="2400" dirty="0">
                <a:solidFill>
                  <a:srgbClr val="C00000"/>
                </a:solidFill>
              </a:rPr>
              <a:t> = 1 + (-1) = 0</a:t>
            </a:r>
          </a:p>
          <a:p>
            <a:pPr>
              <a:buNone/>
            </a:pPr>
            <a:r>
              <a:rPr lang="fr-FR" sz="2400" dirty="0"/>
              <a:t>				C</a:t>
            </a:r>
            <a:r>
              <a:rPr lang="fr-FR" sz="2400" baseline="-25000" dirty="0"/>
              <a:t>2</a:t>
            </a:r>
            <a:r>
              <a:rPr lang="fr-FR" sz="2400" dirty="0"/>
              <a:t> = </a:t>
            </a:r>
            <a:r>
              <a:rPr lang="fr-FR" sz="2400" dirty="0">
                <a:solidFill>
                  <a:srgbClr val="C00000"/>
                </a:solidFill>
              </a:rPr>
              <a:t>1 + (-1)</a:t>
            </a:r>
            <a:r>
              <a:rPr lang="fr-FR" sz="2400" baseline="30000" dirty="0">
                <a:solidFill>
                  <a:srgbClr val="C00000"/>
                </a:solidFill>
              </a:rPr>
              <a:t>2</a:t>
            </a:r>
            <a:r>
              <a:rPr lang="fr-FR" sz="2400" dirty="0">
                <a:solidFill>
                  <a:srgbClr val="C00000"/>
                </a:solidFill>
              </a:rPr>
              <a:t> = 1 + 1 = 2</a:t>
            </a:r>
          </a:p>
          <a:p>
            <a:pPr>
              <a:buNone/>
            </a:pPr>
            <a:r>
              <a:rPr lang="fr-FR" sz="2400" dirty="0"/>
              <a:t>				C</a:t>
            </a:r>
            <a:r>
              <a:rPr lang="fr-FR" sz="2400" baseline="-25000" dirty="0"/>
              <a:t>3</a:t>
            </a:r>
            <a:r>
              <a:rPr lang="fr-FR" sz="2400" dirty="0"/>
              <a:t> = </a:t>
            </a:r>
            <a:r>
              <a:rPr lang="fr-FR" sz="2400" dirty="0">
                <a:solidFill>
                  <a:srgbClr val="C00000"/>
                </a:solidFill>
              </a:rPr>
              <a:t>1 + (-1)</a:t>
            </a:r>
            <a:r>
              <a:rPr lang="en-US" sz="2400" baseline="30000" dirty="0">
                <a:solidFill>
                  <a:srgbClr val="C00000"/>
                </a:solidFill>
              </a:rPr>
              <a:t>3</a:t>
            </a:r>
            <a:r>
              <a:rPr lang="fr-FR" sz="2400" dirty="0">
                <a:solidFill>
                  <a:srgbClr val="C00000"/>
                </a:solidFill>
              </a:rPr>
              <a:t> = 1 + (-1) = 0</a:t>
            </a:r>
          </a:p>
          <a:p>
            <a:pPr>
              <a:buNone/>
            </a:pPr>
            <a:r>
              <a:rPr lang="en-US" sz="2400" dirty="0"/>
              <a:t>				C</a:t>
            </a:r>
            <a:r>
              <a:rPr lang="en-US" sz="2400" baseline="-25000" dirty="0"/>
              <a:t>4</a:t>
            </a:r>
            <a:r>
              <a:rPr lang="en-US" sz="2400" dirty="0"/>
              <a:t> = </a:t>
            </a:r>
            <a:r>
              <a:rPr lang="en-US" sz="2400" dirty="0">
                <a:solidFill>
                  <a:srgbClr val="C00000"/>
                </a:solidFill>
              </a:rPr>
              <a:t>1 + (-1)</a:t>
            </a:r>
            <a:r>
              <a:rPr lang="en-US" sz="2400" baseline="30000" dirty="0">
                <a:solidFill>
                  <a:srgbClr val="C00000"/>
                </a:solidFill>
              </a:rPr>
              <a:t>4</a:t>
            </a:r>
            <a:r>
              <a:rPr lang="en-US" sz="2400" dirty="0">
                <a:solidFill>
                  <a:srgbClr val="C00000"/>
                </a:solidFill>
              </a:rPr>
              <a:t> = 1 + 1 = 2</a:t>
            </a:r>
          </a:p>
          <a:p>
            <a:pPr>
              <a:buNone/>
            </a:pPr>
            <a:r>
              <a:rPr lang="en-US" sz="2400" dirty="0"/>
              <a:t>				C</a:t>
            </a:r>
            <a:r>
              <a:rPr lang="en-US" sz="2400" baseline="-25000" dirty="0"/>
              <a:t>5</a:t>
            </a:r>
            <a:r>
              <a:rPr lang="en-US" sz="2400" dirty="0"/>
              <a:t> = </a:t>
            </a:r>
            <a:r>
              <a:rPr lang="en-US" sz="2400" dirty="0">
                <a:solidFill>
                  <a:srgbClr val="C00000"/>
                </a:solidFill>
              </a:rPr>
              <a:t>1 + (-1)</a:t>
            </a:r>
            <a:r>
              <a:rPr lang="en-US" sz="2400" baseline="30000" dirty="0">
                <a:solidFill>
                  <a:srgbClr val="C00000"/>
                </a:solidFill>
              </a:rPr>
              <a:t>5</a:t>
            </a:r>
            <a:r>
              <a:rPr lang="en-US" sz="2400" dirty="0">
                <a:solidFill>
                  <a:srgbClr val="C00000"/>
                </a:solidFill>
              </a:rPr>
              <a:t> = 1 + (-1) = 0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496" y="5972"/>
            <a:ext cx="10515600" cy="864529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233365" y="870501"/>
            <a:ext cx="10304212" cy="51771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Write the first four terms of the </a:t>
            </a:r>
            <a:r>
              <a:rPr lang="en-US" sz="2400" dirty="0">
                <a:solidFill>
                  <a:srgbClr val="C00000"/>
                </a:solidFill>
              </a:rPr>
              <a:t>sequence</a:t>
            </a:r>
            <a:r>
              <a:rPr lang="en-US" sz="2400" dirty="0"/>
              <a:t> defined by</a:t>
            </a:r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r>
              <a:rPr lang="en-US" sz="2400" b="1" u="sng" dirty="0">
                <a:solidFill>
                  <a:srgbClr val="C00000"/>
                </a:solidFill>
              </a:rPr>
              <a:t>SOLUTION:</a:t>
            </a:r>
          </a:p>
          <a:p>
            <a:endParaRPr lang="en-US" sz="2400" b="1" u="sng" dirty="0"/>
          </a:p>
          <a:p>
            <a:endParaRPr lang="en-US" sz="2400" b="1" u="sng" dirty="0"/>
          </a:p>
          <a:p>
            <a:endParaRPr lang="en-US" sz="2400" b="1" u="sng" dirty="0"/>
          </a:p>
          <a:p>
            <a:endParaRPr lang="en-US" sz="2400" b="1" u="sng" dirty="0"/>
          </a:p>
          <a:p>
            <a:endParaRPr lang="en-US" sz="2400" b="1" u="sng" dirty="0"/>
          </a:p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REMARK: </a:t>
            </a:r>
          </a:p>
          <a:p>
            <a:pPr marL="0" indent="0">
              <a:buNone/>
            </a:pPr>
            <a:r>
              <a:rPr lang="en-US" sz="2400" dirty="0"/>
              <a:t>A sequence whose terms alternate in sign is called an </a:t>
            </a:r>
            <a:r>
              <a:rPr lang="en-US" sz="2400" b="1" dirty="0">
                <a:solidFill>
                  <a:srgbClr val="C00000"/>
                </a:solidFill>
              </a:rPr>
              <a:t>alternating sequence</a:t>
            </a:r>
            <a:r>
              <a:rPr lang="en-US" sz="2400" dirty="0"/>
              <a:t>.</a:t>
            </a:r>
          </a:p>
          <a:p>
            <a:endParaRPr lang="en-US" sz="2400" b="1" u="sng" dirty="0"/>
          </a:p>
          <a:p>
            <a:endParaRPr lang="en-US" sz="2400" dirty="0"/>
          </a:p>
        </p:txBody>
      </p:sp>
      <p:graphicFrame>
        <p:nvGraphicFramePr>
          <p:cNvPr id="9216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8295121"/>
              </p:ext>
            </p:extLst>
          </p:nvPr>
        </p:nvGraphicFramePr>
        <p:xfrm>
          <a:off x="4038599" y="1453027"/>
          <a:ext cx="4343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78" r:id="rId3" imgW="2171520" imgH="419040" progId="">
                  <p:embed/>
                </p:oleObj>
              </mc:Choice>
              <mc:Fallback>
                <p:oleObj r:id="rId3" imgW="2171520" imgH="419040" progId="">
                  <p:embed/>
                  <p:pic>
                    <p:nvPicPr>
                      <p:cNvPr id="9216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599" y="1453027"/>
                        <a:ext cx="43434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3754855"/>
              </p:ext>
            </p:extLst>
          </p:nvPr>
        </p:nvGraphicFramePr>
        <p:xfrm>
          <a:off x="2738002" y="2966573"/>
          <a:ext cx="6715996" cy="16002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79" r:id="rId5" imgW="3517560" imgH="838080" progId="">
                  <p:embed/>
                </p:oleObj>
              </mc:Choice>
              <mc:Fallback>
                <p:oleObj r:id="rId5" imgW="3517560" imgH="838080" progId="">
                  <p:embed/>
                  <p:pic>
                    <p:nvPicPr>
                      <p:cNvPr id="9216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8002" y="2966573"/>
                        <a:ext cx="6715996" cy="16002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026962" y="1792002"/>
            <a:ext cx="9829800" cy="385974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Find explicit formulas for sequences with the initial terms given:</a:t>
            </a:r>
          </a:p>
          <a:p>
            <a:endParaRPr lang="en-US" dirty="0"/>
          </a:p>
          <a:p>
            <a:pPr>
              <a:buNone/>
            </a:pPr>
            <a:r>
              <a:rPr lang="en-US" dirty="0"/>
              <a:t>	1).	</a:t>
            </a:r>
            <a:r>
              <a:rPr lang="en-US" b="1" dirty="0">
                <a:solidFill>
                  <a:srgbClr val="C00000"/>
                </a:solidFill>
              </a:rPr>
              <a:t>0, 1, -2, 3, -4, 5, …</a:t>
            </a:r>
          </a:p>
          <a:p>
            <a:endParaRPr lang="en-US" dirty="0"/>
          </a:p>
          <a:p>
            <a:pPr>
              <a:buNone/>
            </a:pPr>
            <a:r>
              <a:rPr lang="en-US" dirty="0"/>
              <a:t>	2).	</a:t>
            </a:r>
          </a:p>
          <a:p>
            <a:endParaRPr lang="en-US" dirty="0"/>
          </a:p>
          <a:p>
            <a:pPr>
              <a:buNone/>
            </a:pPr>
            <a:r>
              <a:rPr lang="en-US" dirty="0"/>
              <a:t>	3).	</a:t>
            </a:r>
            <a:r>
              <a:rPr lang="en-US" b="1" dirty="0">
                <a:solidFill>
                  <a:srgbClr val="C00000"/>
                </a:solidFill>
              </a:rPr>
              <a:t>2, 6, 12, 20, 30, 42, 56, …</a:t>
            </a:r>
          </a:p>
          <a:p>
            <a:endParaRPr lang="en-US" dirty="0"/>
          </a:p>
          <a:p>
            <a:pPr>
              <a:buNone/>
            </a:pPr>
            <a:r>
              <a:rPr lang="en-US" dirty="0"/>
              <a:t>	4).	</a:t>
            </a:r>
            <a:r>
              <a:rPr lang="en-US" b="1" dirty="0">
                <a:solidFill>
                  <a:srgbClr val="C00000"/>
                </a:solidFill>
              </a:rPr>
              <a:t>1/4, 2/9, 3/16, 4/25, 5/36, 6/49, …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9318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9839176"/>
              </p:ext>
            </p:extLst>
          </p:nvPr>
        </p:nvGraphicFramePr>
        <p:xfrm>
          <a:off x="2063496" y="3154856"/>
          <a:ext cx="3733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60" r:id="rId3" imgW="1714320" imgH="393480" progId="">
                  <p:embed/>
                </p:oleObj>
              </mc:Choice>
              <mc:Fallback>
                <p:oleObj r:id="rId3" imgW="1714320" imgH="393480" progId="">
                  <p:embed/>
                  <p:pic>
                    <p:nvPicPr>
                      <p:cNvPr id="9318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496" y="3154856"/>
                        <a:ext cx="37338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708" y="122050"/>
            <a:ext cx="10515600" cy="819243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>
                <a:solidFill>
                  <a:srgbClr val="0070C0"/>
                </a:solidFill>
              </a:rP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848343" y="941292"/>
            <a:ext cx="9152965" cy="5661213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400" dirty="0"/>
              <a:t>	1).	</a:t>
            </a:r>
            <a:r>
              <a:rPr lang="en-US" sz="2400" b="1" dirty="0">
                <a:solidFill>
                  <a:srgbClr val="C00000"/>
                </a:solidFill>
              </a:rPr>
              <a:t>0, 1, -2, 3, -4, 5, …</a:t>
            </a:r>
          </a:p>
          <a:p>
            <a:pPr>
              <a:buNone/>
            </a:pPr>
            <a:endParaRPr lang="en-US" sz="2400" b="1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rgbClr val="C00000"/>
                </a:solidFill>
              </a:rPr>
              <a:t>	</a:t>
            </a:r>
            <a:r>
              <a:rPr lang="en-US" sz="2400" b="1" u="sng" dirty="0">
                <a:solidFill>
                  <a:srgbClr val="C00000"/>
                </a:solidFill>
              </a:rPr>
              <a:t>SOLUTION:</a:t>
            </a:r>
          </a:p>
          <a:p>
            <a:pPr>
              <a:buNone/>
            </a:pPr>
            <a:r>
              <a:rPr lang="en-US" sz="2400" dirty="0">
                <a:solidFill>
                  <a:srgbClr val="C00000"/>
                </a:solidFill>
              </a:rPr>
              <a:t>	Its an alternating sequence. In alternating sequence always take the power of (-1)</a:t>
            </a:r>
          </a:p>
          <a:p>
            <a:pPr>
              <a:buNone/>
            </a:pPr>
            <a:endParaRPr lang="en-US" sz="2400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rgbClr val="C00000"/>
                </a:solidFill>
              </a:rPr>
              <a:t>		a</a:t>
            </a:r>
            <a:r>
              <a:rPr lang="en-US" sz="2400" baseline="-25000" dirty="0">
                <a:solidFill>
                  <a:srgbClr val="C00000"/>
                </a:solidFill>
              </a:rPr>
              <a:t>n</a:t>
            </a:r>
            <a:r>
              <a:rPr lang="en-US" sz="2400" dirty="0">
                <a:solidFill>
                  <a:srgbClr val="C00000"/>
                </a:solidFill>
              </a:rPr>
              <a:t> = (-1)</a:t>
            </a:r>
            <a:r>
              <a:rPr lang="en-US" sz="2400" baseline="30000" dirty="0">
                <a:solidFill>
                  <a:srgbClr val="C00000"/>
                </a:solidFill>
              </a:rPr>
              <a:t> n+1</a:t>
            </a:r>
            <a:r>
              <a:rPr lang="en-US" sz="2400" dirty="0">
                <a:solidFill>
                  <a:srgbClr val="C00000"/>
                </a:solidFill>
              </a:rPr>
              <a:t>n </a:t>
            </a:r>
            <a:r>
              <a:rPr lang="en-US" sz="2400" dirty="0"/>
              <a:t>		for all integers n </a:t>
            </a:r>
            <a:r>
              <a:rPr lang="en-US" sz="2400" dirty="0">
                <a:sym typeface="Symbol"/>
              </a:rPr>
              <a:t></a:t>
            </a:r>
            <a:r>
              <a:rPr lang="en-US" sz="2400" dirty="0"/>
              <a:t> 0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		when </a:t>
            </a:r>
            <a:r>
              <a:rPr lang="en-US" sz="2400" dirty="0">
                <a:solidFill>
                  <a:srgbClr val="C00000"/>
                </a:solidFill>
              </a:rPr>
              <a:t>n</a:t>
            </a:r>
            <a:r>
              <a:rPr lang="en-US" sz="2400" dirty="0"/>
              <a:t> is odd the term will become positive.</a:t>
            </a:r>
          </a:p>
          <a:p>
            <a:pPr>
              <a:buNone/>
            </a:pPr>
            <a:r>
              <a:rPr lang="en-US" sz="2400" dirty="0"/>
              <a:t>	Check:</a:t>
            </a:r>
          </a:p>
          <a:p>
            <a:pPr>
              <a:buNone/>
            </a:pPr>
            <a:r>
              <a:rPr lang="en-US" sz="2400" dirty="0"/>
              <a:t>	</a:t>
            </a:r>
            <a:r>
              <a:rPr lang="en-US" sz="2400" dirty="0">
                <a:solidFill>
                  <a:srgbClr val="C00000"/>
                </a:solidFill>
              </a:rPr>
              <a:t> a</a:t>
            </a:r>
            <a:r>
              <a:rPr lang="en-US" sz="2400" baseline="-25000" dirty="0">
                <a:solidFill>
                  <a:srgbClr val="C00000"/>
                </a:solidFill>
              </a:rPr>
              <a:t>0</a:t>
            </a:r>
            <a:r>
              <a:rPr lang="en-US" sz="2400" dirty="0">
                <a:solidFill>
                  <a:srgbClr val="C00000"/>
                </a:solidFill>
              </a:rPr>
              <a:t> = (-1)</a:t>
            </a:r>
            <a:r>
              <a:rPr lang="en-US" sz="2400" baseline="30000" dirty="0">
                <a:solidFill>
                  <a:srgbClr val="C00000"/>
                </a:solidFill>
              </a:rPr>
              <a:t> 0+1.</a:t>
            </a:r>
            <a:r>
              <a:rPr lang="en-US" sz="2400" dirty="0">
                <a:solidFill>
                  <a:srgbClr val="C00000"/>
                </a:solidFill>
              </a:rPr>
              <a:t>0  = 0,	 a</a:t>
            </a:r>
            <a:r>
              <a:rPr lang="en-US" sz="2400" baseline="-25000" dirty="0">
                <a:solidFill>
                  <a:srgbClr val="C00000"/>
                </a:solidFill>
              </a:rPr>
              <a:t>1</a:t>
            </a:r>
            <a:r>
              <a:rPr lang="en-US" sz="2400" dirty="0">
                <a:solidFill>
                  <a:srgbClr val="C00000"/>
                </a:solidFill>
              </a:rPr>
              <a:t> = (-1)</a:t>
            </a:r>
            <a:r>
              <a:rPr lang="en-US" sz="2400" baseline="30000" dirty="0">
                <a:solidFill>
                  <a:srgbClr val="C00000"/>
                </a:solidFill>
              </a:rPr>
              <a:t> 1+1</a:t>
            </a:r>
            <a:r>
              <a:rPr lang="en-US" sz="2400" dirty="0">
                <a:solidFill>
                  <a:srgbClr val="C00000"/>
                </a:solidFill>
              </a:rPr>
              <a:t>1  = 1, 	</a:t>
            </a:r>
          </a:p>
          <a:p>
            <a:pPr>
              <a:buNone/>
            </a:pPr>
            <a:r>
              <a:rPr lang="en-US" sz="2400" dirty="0">
                <a:solidFill>
                  <a:srgbClr val="C00000"/>
                </a:solidFill>
              </a:rPr>
              <a:t>	 a</a:t>
            </a:r>
            <a:r>
              <a:rPr lang="en-US" sz="2400" baseline="-25000" dirty="0">
                <a:solidFill>
                  <a:srgbClr val="C00000"/>
                </a:solidFill>
              </a:rPr>
              <a:t>2</a:t>
            </a:r>
            <a:r>
              <a:rPr lang="en-US" sz="2400" dirty="0">
                <a:solidFill>
                  <a:srgbClr val="C00000"/>
                </a:solidFill>
              </a:rPr>
              <a:t> = (-1)</a:t>
            </a:r>
            <a:r>
              <a:rPr lang="en-US" sz="2400" baseline="30000" dirty="0">
                <a:solidFill>
                  <a:srgbClr val="C00000"/>
                </a:solidFill>
              </a:rPr>
              <a:t> 2+1.</a:t>
            </a:r>
            <a:r>
              <a:rPr lang="en-US" sz="2400" dirty="0">
                <a:solidFill>
                  <a:srgbClr val="C00000"/>
                </a:solidFill>
              </a:rPr>
              <a:t>2  = -2,	 a</a:t>
            </a:r>
            <a:r>
              <a:rPr lang="en-US" sz="2400" baseline="-25000" dirty="0">
                <a:solidFill>
                  <a:srgbClr val="C00000"/>
                </a:solidFill>
              </a:rPr>
              <a:t>3</a:t>
            </a:r>
            <a:r>
              <a:rPr lang="en-US" sz="2400" dirty="0">
                <a:solidFill>
                  <a:srgbClr val="C00000"/>
                </a:solidFill>
              </a:rPr>
              <a:t> = (-1)</a:t>
            </a:r>
            <a:r>
              <a:rPr lang="en-US" sz="2400" baseline="30000" dirty="0">
                <a:solidFill>
                  <a:srgbClr val="C00000"/>
                </a:solidFill>
              </a:rPr>
              <a:t> 3+1.</a:t>
            </a:r>
            <a:r>
              <a:rPr lang="en-US" sz="2400" dirty="0">
                <a:solidFill>
                  <a:srgbClr val="C00000"/>
                </a:solidFill>
              </a:rPr>
              <a:t>3  = 3,</a:t>
            </a:r>
            <a:endParaRPr lang="en-US" sz="2400" dirty="0"/>
          </a:p>
          <a:p>
            <a:pPr>
              <a:buNone/>
            </a:pPr>
            <a:r>
              <a:rPr lang="en-US" sz="2400" dirty="0"/>
              <a:t> 	</a:t>
            </a:r>
            <a:r>
              <a:rPr lang="en-US" sz="2400" dirty="0">
                <a:solidFill>
                  <a:srgbClr val="C00000"/>
                </a:solidFill>
              </a:rPr>
              <a:t> a</a:t>
            </a:r>
            <a:r>
              <a:rPr lang="en-US" sz="2400" baseline="-25000" dirty="0">
                <a:solidFill>
                  <a:srgbClr val="C00000"/>
                </a:solidFill>
              </a:rPr>
              <a:t>4</a:t>
            </a:r>
            <a:r>
              <a:rPr lang="en-US" sz="2400" dirty="0">
                <a:solidFill>
                  <a:srgbClr val="C00000"/>
                </a:solidFill>
              </a:rPr>
              <a:t> = (-1)</a:t>
            </a:r>
            <a:r>
              <a:rPr lang="en-US" sz="2400" baseline="30000" dirty="0">
                <a:solidFill>
                  <a:srgbClr val="C00000"/>
                </a:solidFill>
              </a:rPr>
              <a:t> 4+1.</a:t>
            </a:r>
            <a:r>
              <a:rPr lang="en-US" sz="2400" dirty="0">
                <a:solidFill>
                  <a:srgbClr val="C00000"/>
                </a:solidFill>
              </a:rPr>
              <a:t>4  = -4,	 a</a:t>
            </a:r>
            <a:r>
              <a:rPr lang="en-US" sz="2400" baseline="-25000" dirty="0">
                <a:solidFill>
                  <a:srgbClr val="C00000"/>
                </a:solidFill>
              </a:rPr>
              <a:t>5</a:t>
            </a:r>
            <a:r>
              <a:rPr lang="en-US" sz="2400" dirty="0">
                <a:solidFill>
                  <a:srgbClr val="C00000"/>
                </a:solidFill>
              </a:rPr>
              <a:t> = (-1)</a:t>
            </a:r>
            <a:r>
              <a:rPr lang="en-US" sz="2400" baseline="30000" dirty="0">
                <a:solidFill>
                  <a:srgbClr val="C00000"/>
                </a:solidFill>
              </a:rPr>
              <a:t> 5+1.</a:t>
            </a:r>
            <a:r>
              <a:rPr lang="en-US" sz="2400" dirty="0">
                <a:solidFill>
                  <a:srgbClr val="C00000"/>
                </a:solidFill>
              </a:rPr>
              <a:t>5  = 5,</a:t>
            </a:r>
            <a:endParaRPr lang="en-US" sz="2400" dirty="0"/>
          </a:p>
          <a:p>
            <a:pPr>
              <a:buNone/>
            </a:pPr>
            <a:endParaRPr lang="en-US" sz="2400" dirty="0">
              <a:solidFill>
                <a:srgbClr val="C00000"/>
              </a:solidFill>
            </a:endParaRPr>
          </a:p>
          <a:p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171508" y="1115675"/>
            <a:ext cx="9829800" cy="5440537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dirty="0"/>
              <a:t>	2).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>
                <a:solidFill>
                  <a:srgbClr val="C00000"/>
                </a:solidFill>
              </a:rPr>
              <a:t>	</a:t>
            </a:r>
            <a:r>
              <a:rPr lang="en-US" sz="2400" b="1" u="sng" dirty="0">
                <a:solidFill>
                  <a:srgbClr val="C00000"/>
                </a:solidFill>
              </a:rPr>
              <a:t>SOLUTION:</a:t>
            </a:r>
          </a:p>
          <a:p>
            <a:pPr>
              <a:buNone/>
            </a:pPr>
            <a:r>
              <a:rPr lang="en-US" sz="2400" dirty="0"/>
              <a:t>	Every term has two parts: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		</a:t>
            </a:r>
            <a:r>
              <a:rPr lang="en-US" sz="2400" dirty="0">
                <a:solidFill>
                  <a:srgbClr val="C00000"/>
                </a:solidFill>
              </a:rPr>
              <a:t> b</a:t>
            </a:r>
            <a:r>
              <a:rPr lang="en-US" sz="2400" baseline="-25000" dirty="0">
                <a:solidFill>
                  <a:srgbClr val="C00000"/>
                </a:solidFill>
              </a:rPr>
              <a:t>1</a:t>
            </a:r>
            <a:r>
              <a:rPr lang="en-US" sz="2400" dirty="0">
                <a:solidFill>
                  <a:srgbClr val="C00000"/>
                </a:solidFill>
              </a:rPr>
              <a:t> =               </a:t>
            </a:r>
            <a:r>
              <a:rPr lang="en-US" sz="2400" dirty="0"/>
              <a:t>		</a:t>
            </a:r>
            <a:r>
              <a:rPr lang="en-US" sz="2400" dirty="0">
                <a:solidFill>
                  <a:srgbClr val="C00000"/>
                </a:solidFill>
              </a:rPr>
              <a:t> b</a:t>
            </a:r>
            <a:r>
              <a:rPr lang="en-US" sz="2400" baseline="-25000" dirty="0">
                <a:solidFill>
                  <a:srgbClr val="C00000"/>
                </a:solidFill>
              </a:rPr>
              <a:t>2</a:t>
            </a:r>
            <a:r>
              <a:rPr lang="en-US" sz="2400" dirty="0">
                <a:solidFill>
                  <a:srgbClr val="C00000"/>
                </a:solidFill>
              </a:rPr>
              <a:t> =</a:t>
            </a:r>
          </a:p>
          <a:p>
            <a:pPr>
              <a:buNone/>
            </a:pPr>
            <a:r>
              <a:rPr lang="en-US" sz="2400" dirty="0">
                <a:solidFill>
                  <a:srgbClr val="C00000"/>
                </a:solidFill>
              </a:rPr>
              <a:t>   </a:t>
            </a:r>
          </a:p>
          <a:p>
            <a:pPr>
              <a:buNone/>
            </a:pPr>
            <a:r>
              <a:rPr lang="en-US" sz="2400" dirty="0">
                <a:solidFill>
                  <a:srgbClr val="C00000"/>
                </a:solidFill>
              </a:rPr>
              <a:t>		                    b</a:t>
            </a:r>
            <a:r>
              <a:rPr lang="en-US" sz="2400" baseline="-25000" dirty="0">
                <a:solidFill>
                  <a:srgbClr val="C00000"/>
                </a:solidFill>
              </a:rPr>
              <a:t>3</a:t>
            </a:r>
            <a:r>
              <a:rPr lang="en-US" sz="2400" dirty="0">
                <a:solidFill>
                  <a:srgbClr val="C00000"/>
                </a:solidFill>
              </a:rPr>
              <a:t> =</a:t>
            </a:r>
          </a:p>
          <a:p>
            <a:pPr>
              <a:buNone/>
            </a:pPr>
            <a:r>
              <a:rPr lang="en-US" sz="2400" dirty="0">
                <a:solidFill>
                  <a:srgbClr val="C00000"/>
                </a:solidFill>
              </a:rPr>
              <a:t>		</a:t>
            </a:r>
          </a:p>
          <a:p>
            <a:pPr>
              <a:buNone/>
            </a:pPr>
            <a:r>
              <a:rPr lang="en-US" sz="2400" dirty="0">
                <a:solidFill>
                  <a:srgbClr val="C00000"/>
                </a:solidFill>
              </a:rPr>
              <a:t>General term is:</a:t>
            </a:r>
          </a:p>
          <a:p>
            <a:pPr>
              <a:buNone/>
            </a:pPr>
            <a:r>
              <a:rPr lang="en-US" sz="2400" dirty="0"/>
              <a:t>				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endParaRPr lang="en-US" sz="2400" dirty="0"/>
          </a:p>
          <a:p>
            <a:pPr>
              <a:buNone/>
            </a:pPr>
            <a:r>
              <a:rPr lang="en-US" sz="2400" dirty="0"/>
              <a:t>	</a:t>
            </a:r>
          </a:p>
        </p:txBody>
      </p:sp>
      <p:graphicFrame>
        <p:nvGraphicFramePr>
          <p:cNvPr id="9421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0840656"/>
              </p:ext>
            </p:extLst>
          </p:nvPr>
        </p:nvGraphicFramePr>
        <p:xfrm>
          <a:off x="2103837" y="941293"/>
          <a:ext cx="3733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52" r:id="rId3" imgW="1714320" imgH="393480" progId="">
                  <p:embed/>
                </p:oleObj>
              </mc:Choice>
              <mc:Fallback>
                <p:oleObj r:id="rId3" imgW="1714320" imgH="393480" progId="">
                  <p:embed/>
                  <p:pic>
                    <p:nvPicPr>
                      <p:cNvPr id="9421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3837" y="941293"/>
                        <a:ext cx="37338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5356164"/>
              </p:ext>
            </p:extLst>
          </p:nvPr>
        </p:nvGraphicFramePr>
        <p:xfrm>
          <a:off x="2895529" y="3510507"/>
          <a:ext cx="838200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53" name="Equation" r:id="rId5" imgW="368280" imgH="393480" progId="Equation.3">
                  <p:embed/>
                </p:oleObj>
              </mc:Choice>
              <mc:Fallback>
                <p:oleObj name="Equation" r:id="rId5" imgW="368280" imgH="393480" progId="Equation.3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529" y="3510507"/>
                        <a:ext cx="838200" cy="650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8374108"/>
              </p:ext>
            </p:extLst>
          </p:nvPr>
        </p:nvGraphicFramePr>
        <p:xfrm>
          <a:off x="5651409" y="3510507"/>
          <a:ext cx="886133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54" name="Equation" r:id="rId7" imgW="380880" imgH="393480" progId="Equation.3">
                  <p:embed/>
                </p:oleObj>
              </mc:Choice>
              <mc:Fallback>
                <p:oleObj name="Equation" r:id="rId7" imgW="380880" imgH="393480" progId="Equation.3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409" y="3510507"/>
                        <a:ext cx="886133" cy="654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6639156"/>
              </p:ext>
            </p:extLst>
          </p:nvPr>
        </p:nvGraphicFramePr>
        <p:xfrm>
          <a:off x="4238817" y="4436111"/>
          <a:ext cx="876300" cy="669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55" name="Equation" r:id="rId9" imgW="380880" imgH="393480" progId="Equation.3">
                  <p:embed/>
                </p:oleObj>
              </mc:Choice>
              <mc:Fallback>
                <p:oleObj name="Equation" r:id="rId9" imgW="380880" imgH="393480" progId="Equation.3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8817" y="4436111"/>
                        <a:ext cx="876300" cy="6692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6604402"/>
              </p:ext>
            </p:extLst>
          </p:nvPr>
        </p:nvGraphicFramePr>
        <p:xfrm>
          <a:off x="3854822" y="5478846"/>
          <a:ext cx="6146791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56" r:id="rId11" imgW="2171520" imgH="393480" progId="">
                  <p:embed/>
                </p:oleObj>
              </mc:Choice>
              <mc:Fallback>
                <p:oleObj r:id="rId11" imgW="2171520" imgH="393480" progId="">
                  <p:embed/>
                  <p:pic>
                    <p:nvPicPr>
                      <p:cNvPr id="9421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4822" y="5478846"/>
                        <a:ext cx="6146791" cy="8382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5F946A1E-EFFC-4B9C-AF2F-05D82ACB3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08" y="122050"/>
            <a:ext cx="10515600" cy="819243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>
                <a:solidFill>
                  <a:srgbClr val="0070C0"/>
                </a:solidFill>
              </a:rPr>
              <a:t>Solution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181100" y="1398494"/>
            <a:ext cx="9829800" cy="469507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/>
              <a:t>	3).	</a:t>
            </a:r>
            <a:r>
              <a:rPr lang="en-US" sz="2400" b="1" dirty="0">
                <a:solidFill>
                  <a:srgbClr val="C00000"/>
                </a:solidFill>
              </a:rPr>
              <a:t>2, 6, 12, 20, 30, 42, 56, …</a:t>
            </a:r>
          </a:p>
          <a:p>
            <a:endParaRPr lang="en-US" sz="2400" b="1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sz="2400" b="1" dirty="0"/>
              <a:t>	</a:t>
            </a:r>
            <a:r>
              <a:rPr lang="en-US" sz="2400" b="1" u="sng" dirty="0">
                <a:solidFill>
                  <a:srgbClr val="C00000"/>
                </a:solidFill>
              </a:rPr>
              <a:t>SOLUTION:</a:t>
            </a:r>
          </a:p>
          <a:p>
            <a:pPr>
              <a:buNone/>
            </a:pPr>
            <a:r>
              <a:rPr lang="en-US" sz="2400" dirty="0"/>
              <a:t> 	Note that we can write</a:t>
            </a:r>
          </a:p>
          <a:p>
            <a:pPr>
              <a:buNone/>
            </a:pPr>
            <a:r>
              <a:rPr lang="en-US" sz="2400" dirty="0"/>
              <a:t>	</a:t>
            </a:r>
            <a:r>
              <a:rPr lang="en-US" sz="2400" dirty="0">
                <a:solidFill>
                  <a:srgbClr val="C00000"/>
                </a:solidFill>
              </a:rPr>
              <a:t> 	C</a:t>
            </a:r>
            <a:r>
              <a:rPr lang="en-US" sz="2400" baseline="-25000" dirty="0">
                <a:solidFill>
                  <a:srgbClr val="C00000"/>
                </a:solidFill>
              </a:rPr>
              <a:t>1</a:t>
            </a:r>
            <a:r>
              <a:rPr lang="en-US" sz="2400" dirty="0">
                <a:solidFill>
                  <a:srgbClr val="C00000"/>
                </a:solidFill>
              </a:rPr>
              <a:t> = 1.2 = 2		 C</a:t>
            </a:r>
            <a:r>
              <a:rPr lang="en-US" sz="2400" baseline="-25000" dirty="0">
                <a:solidFill>
                  <a:srgbClr val="C00000"/>
                </a:solidFill>
              </a:rPr>
              <a:t>2</a:t>
            </a:r>
            <a:r>
              <a:rPr lang="en-US" sz="2400" dirty="0">
                <a:solidFill>
                  <a:srgbClr val="C00000"/>
                </a:solidFill>
              </a:rPr>
              <a:t> = 2.3 = 6</a:t>
            </a:r>
          </a:p>
          <a:p>
            <a:pPr>
              <a:buNone/>
            </a:pPr>
            <a:r>
              <a:rPr lang="en-US" sz="2400" dirty="0">
                <a:solidFill>
                  <a:srgbClr val="C00000"/>
                </a:solidFill>
              </a:rPr>
              <a:t>		C</a:t>
            </a:r>
            <a:r>
              <a:rPr lang="en-US" sz="2400" baseline="-25000" dirty="0">
                <a:solidFill>
                  <a:srgbClr val="C00000"/>
                </a:solidFill>
              </a:rPr>
              <a:t>3</a:t>
            </a:r>
            <a:r>
              <a:rPr lang="en-US" sz="2400" dirty="0">
                <a:solidFill>
                  <a:srgbClr val="C00000"/>
                </a:solidFill>
              </a:rPr>
              <a:t> = 3.4 = 12	 C</a:t>
            </a:r>
            <a:r>
              <a:rPr lang="en-US" sz="2400" baseline="-25000" dirty="0">
                <a:solidFill>
                  <a:srgbClr val="C00000"/>
                </a:solidFill>
              </a:rPr>
              <a:t>4</a:t>
            </a:r>
            <a:r>
              <a:rPr lang="en-US" sz="2400" dirty="0">
                <a:solidFill>
                  <a:srgbClr val="C00000"/>
                </a:solidFill>
              </a:rPr>
              <a:t> = 4.5 = 20</a:t>
            </a:r>
          </a:p>
          <a:p>
            <a:pPr>
              <a:buNone/>
            </a:pPr>
            <a:endParaRPr lang="en-US" sz="2400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rgbClr val="C00000"/>
                </a:solidFill>
              </a:rPr>
              <a:t>	</a:t>
            </a:r>
            <a:r>
              <a:rPr lang="en-US" sz="2400" dirty="0"/>
              <a:t>In general </a:t>
            </a:r>
            <a:r>
              <a:rPr lang="en-US" sz="2400" dirty="0">
                <a:solidFill>
                  <a:srgbClr val="C00000"/>
                </a:solidFill>
              </a:rPr>
              <a:t>n</a:t>
            </a:r>
            <a:r>
              <a:rPr lang="en-US" sz="2400" baseline="30000" dirty="0">
                <a:solidFill>
                  <a:srgbClr val="C00000"/>
                </a:solidFill>
              </a:rPr>
              <a:t>th</a:t>
            </a:r>
            <a:r>
              <a:rPr lang="en-US" sz="2400" dirty="0">
                <a:solidFill>
                  <a:srgbClr val="C00000"/>
                </a:solidFill>
              </a:rPr>
              <a:t> term </a:t>
            </a:r>
            <a:r>
              <a:rPr lang="en-US" sz="2400" dirty="0"/>
              <a:t>is</a:t>
            </a:r>
          </a:p>
          <a:p>
            <a:pPr>
              <a:buNone/>
            </a:pPr>
            <a:r>
              <a:rPr lang="en-US" sz="2400" dirty="0">
                <a:solidFill>
                  <a:srgbClr val="C00000"/>
                </a:solidFill>
              </a:rPr>
              <a:t>	 			</a:t>
            </a:r>
            <a:r>
              <a:rPr lang="en-US" sz="2400" dirty="0" err="1">
                <a:solidFill>
                  <a:srgbClr val="C00000"/>
                </a:solidFill>
              </a:rPr>
              <a:t>C</a:t>
            </a:r>
            <a:r>
              <a:rPr lang="en-US" sz="2400" baseline="-25000" dirty="0" err="1">
                <a:solidFill>
                  <a:srgbClr val="C00000"/>
                </a:solidFill>
              </a:rPr>
              <a:t>n</a:t>
            </a:r>
            <a:r>
              <a:rPr lang="en-US" sz="2400" dirty="0">
                <a:solidFill>
                  <a:srgbClr val="C00000"/>
                </a:solidFill>
              </a:rPr>
              <a:t> = n.(n+1) </a:t>
            </a:r>
            <a:r>
              <a:rPr lang="en-US" sz="2400" dirty="0"/>
              <a:t>for all integers n </a:t>
            </a:r>
            <a:r>
              <a:rPr lang="en-US" sz="2400" dirty="0">
                <a:sym typeface="Symbol"/>
              </a:rPr>
              <a:t></a:t>
            </a:r>
            <a:r>
              <a:rPr lang="en-US" sz="2400" dirty="0"/>
              <a:t> 1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C593B8-4940-431E-92DC-8845D525F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08" y="122050"/>
            <a:ext cx="10515600" cy="819243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>
                <a:solidFill>
                  <a:srgbClr val="0070C0"/>
                </a:solidFill>
              </a:rPr>
              <a:t>Solution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416424" y="1264790"/>
            <a:ext cx="10210800" cy="547116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/>
              <a:t>	4).	</a:t>
            </a:r>
            <a:r>
              <a:rPr lang="en-US" sz="2400" b="1" dirty="0">
                <a:solidFill>
                  <a:srgbClr val="C00000"/>
                </a:solidFill>
              </a:rPr>
              <a:t>1/4, 2/9, 3/16, 4/25, 5/36, 6/49, …</a:t>
            </a:r>
          </a:p>
          <a:p>
            <a:endParaRPr lang="en-US" sz="2400" b="1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rgbClr val="C00000"/>
                </a:solidFill>
              </a:rPr>
              <a:t>	</a:t>
            </a:r>
            <a:r>
              <a:rPr lang="en-US" sz="2400" b="1" u="sng" dirty="0">
                <a:solidFill>
                  <a:srgbClr val="C00000"/>
                </a:solidFill>
              </a:rPr>
              <a:t>SOLUTION:</a:t>
            </a:r>
          </a:p>
          <a:p>
            <a:pPr>
              <a:buNone/>
            </a:pPr>
            <a:r>
              <a:rPr lang="en-US" sz="2400" dirty="0"/>
              <a:t>	Every term has two parts </a:t>
            </a:r>
            <a:r>
              <a:rPr lang="en-US" sz="2400" dirty="0">
                <a:solidFill>
                  <a:srgbClr val="C00000"/>
                </a:solidFill>
              </a:rPr>
              <a:t>numerator</a:t>
            </a:r>
            <a:r>
              <a:rPr lang="en-US" sz="2400" dirty="0"/>
              <a:t> and </a:t>
            </a:r>
            <a:r>
              <a:rPr lang="en-US" sz="2400" dirty="0">
                <a:solidFill>
                  <a:srgbClr val="C00000"/>
                </a:solidFill>
              </a:rPr>
              <a:t>denominator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endParaRPr lang="en-US" sz="2400" dirty="0"/>
          </a:p>
          <a:p>
            <a:pPr>
              <a:buNone/>
            </a:pPr>
            <a:r>
              <a:rPr lang="en-US" sz="2400" dirty="0"/>
              <a:t>					OR</a:t>
            </a:r>
          </a:p>
          <a:p>
            <a:pPr>
              <a:buNone/>
            </a:pPr>
            <a:r>
              <a:rPr lang="en-US" sz="2400" dirty="0"/>
              <a:t>	</a:t>
            </a:r>
          </a:p>
          <a:p>
            <a:pPr>
              <a:buNone/>
            </a:pPr>
            <a:endParaRPr lang="en-US" sz="2400" dirty="0"/>
          </a:p>
          <a:p>
            <a:pPr algn="ctr">
              <a:buNone/>
            </a:pPr>
            <a:endParaRPr lang="en-US" sz="2400" dirty="0"/>
          </a:p>
          <a:p>
            <a:pPr algn="ctr">
              <a:buNone/>
            </a:pPr>
            <a:r>
              <a:rPr lang="en-US" sz="2400" dirty="0"/>
              <a:t>Both defined the same </a:t>
            </a:r>
            <a:r>
              <a:rPr lang="en-US" sz="2400" dirty="0">
                <a:solidFill>
                  <a:srgbClr val="C00000"/>
                </a:solidFill>
              </a:rPr>
              <a:t>sequences</a:t>
            </a:r>
            <a:r>
              <a:rPr lang="en-US" sz="2400" dirty="0"/>
              <a:t>.	 </a:t>
            </a:r>
          </a:p>
        </p:txBody>
      </p:sp>
      <p:graphicFrame>
        <p:nvGraphicFramePr>
          <p:cNvPr id="95234" name="Object 2"/>
          <p:cNvGraphicFramePr>
            <a:graphicFrameLocks noChangeAspect="1"/>
          </p:cNvGraphicFramePr>
          <p:nvPr/>
        </p:nvGraphicFramePr>
        <p:xfrm>
          <a:off x="2895598" y="3200400"/>
          <a:ext cx="4724402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50" r:id="rId3" imgW="2209680" imgH="419040" progId="">
                  <p:embed/>
                </p:oleObj>
              </mc:Choice>
              <mc:Fallback>
                <p:oleObj r:id="rId3" imgW="2209680" imgH="419040" progId="">
                  <p:embed/>
                  <p:pic>
                    <p:nvPicPr>
                      <p:cNvPr id="9523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598" y="3200400"/>
                        <a:ext cx="4724402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35" name="Object 3"/>
          <p:cNvGraphicFramePr>
            <a:graphicFrameLocks noChangeAspect="1"/>
          </p:cNvGraphicFramePr>
          <p:nvPr/>
        </p:nvGraphicFramePr>
        <p:xfrm>
          <a:off x="2952132" y="4572000"/>
          <a:ext cx="4876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51" r:id="rId5" imgW="2234880" imgH="419040" progId="">
                  <p:embed/>
                </p:oleObj>
              </mc:Choice>
              <mc:Fallback>
                <p:oleObj r:id="rId5" imgW="2234880" imgH="419040" progId="">
                  <p:embed/>
                  <p:pic>
                    <p:nvPicPr>
                      <p:cNvPr id="9523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2132" y="4572000"/>
                        <a:ext cx="48768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188BE64E-A75F-4DC2-9395-1C29E017B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08" y="122050"/>
            <a:ext cx="10515600" cy="819243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>
                <a:solidFill>
                  <a:srgbClr val="0070C0"/>
                </a:solidFill>
              </a:rPr>
              <a:t>Solution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0216" y="0"/>
            <a:ext cx="10515600" cy="1019922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>
                <a:solidFill>
                  <a:srgbClr val="0070C0"/>
                </a:solidFill>
              </a:rPr>
              <a:t>ARITHMETIC SEQUENCE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36184" y="964079"/>
            <a:ext cx="10696508" cy="50333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A </a:t>
            </a:r>
            <a:r>
              <a:rPr lang="en-US" sz="2400" dirty="0">
                <a:solidFill>
                  <a:srgbClr val="C00000"/>
                </a:solidFill>
              </a:rPr>
              <a:t>sequence </a:t>
            </a:r>
            <a:r>
              <a:rPr lang="en-US" sz="2400" dirty="0"/>
              <a:t>in which </a:t>
            </a:r>
            <a:r>
              <a:rPr lang="en-US" sz="2400" dirty="0">
                <a:solidFill>
                  <a:srgbClr val="C00000"/>
                </a:solidFill>
              </a:rPr>
              <a:t>every term </a:t>
            </a:r>
            <a:r>
              <a:rPr lang="en-US" sz="2400" dirty="0"/>
              <a:t>after the first is obtained from the </a:t>
            </a:r>
            <a:r>
              <a:rPr lang="en-US" sz="2400" dirty="0">
                <a:solidFill>
                  <a:srgbClr val="C00000"/>
                </a:solidFill>
              </a:rPr>
              <a:t>preceding term </a:t>
            </a:r>
            <a:r>
              <a:rPr lang="en-US" sz="2400" dirty="0"/>
              <a:t>by </a:t>
            </a:r>
            <a:r>
              <a:rPr lang="en-US" sz="2400" dirty="0">
                <a:solidFill>
                  <a:srgbClr val="C00000"/>
                </a:solidFill>
              </a:rPr>
              <a:t>adding a constant number </a:t>
            </a:r>
            <a:r>
              <a:rPr lang="en-US" sz="2400" dirty="0"/>
              <a:t>is called an </a:t>
            </a:r>
            <a:r>
              <a:rPr lang="en-US" sz="2400" dirty="0">
                <a:solidFill>
                  <a:srgbClr val="C00000"/>
                </a:solidFill>
              </a:rPr>
              <a:t>arithmetic sequence </a:t>
            </a:r>
            <a:r>
              <a:rPr lang="en-US" sz="2400" dirty="0"/>
              <a:t>or </a:t>
            </a:r>
            <a:r>
              <a:rPr lang="en-US" sz="2400" dirty="0">
                <a:solidFill>
                  <a:srgbClr val="C00000"/>
                </a:solidFill>
              </a:rPr>
              <a:t>arithmetic progression (A.P.)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The </a:t>
            </a:r>
            <a:r>
              <a:rPr lang="en-US" sz="2400" dirty="0">
                <a:solidFill>
                  <a:srgbClr val="C00000"/>
                </a:solidFill>
              </a:rPr>
              <a:t>constant number</a:t>
            </a:r>
            <a:r>
              <a:rPr lang="en-US" sz="2400" dirty="0"/>
              <a:t>, being the difference of any two </a:t>
            </a:r>
            <a:r>
              <a:rPr lang="en-US" sz="2400" dirty="0">
                <a:solidFill>
                  <a:srgbClr val="C00000"/>
                </a:solidFill>
              </a:rPr>
              <a:t>consecutive terms </a:t>
            </a:r>
            <a:r>
              <a:rPr lang="en-US" sz="2400" dirty="0"/>
              <a:t>is called the </a:t>
            </a:r>
            <a:r>
              <a:rPr lang="en-US" sz="2400" dirty="0">
                <a:solidFill>
                  <a:srgbClr val="C00000"/>
                </a:solidFill>
              </a:rPr>
              <a:t>common difference </a:t>
            </a:r>
            <a:r>
              <a:rPr lang="en-US" sz="2400" dirty="0"/>
              <a:t>of </a:t>
            </a:r>
            <a:r>
              <a:rPr lang="en-US" sz="2400" dirty="0">
                <a:solidFill>
                  <a:srgbClr val="C00000"/>
                </a:solidFill>
              </a:rPr>
              <a:t>A.P</a:t>
            </a:r>
            <a:r>
              <a:rPr lang="en-US" sz="2400" dirty="0"/>
              <a:t>., commonly denoted by </a:t>
            </a:r>
            <a:r>
              <a:rPr lang="en-US" sz="2400" dirty="0">
                <a:solidFill>
                  <a:srgbClr val="C00000"/>
                </a:solidFill>
              </a:rPr>
              <a:t>“d”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pPr marL="0" indent="0">
              <a:spcBef>
                <a:spcPct val="50000"/>
              </a:spcBef>
              <a:buNone/>
            </a:pPr>
            <a:r>
              <a:rPr lang="en-US" sz="2400" b="1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EXAMPLES</a:t>
            </a:r>
          </a:p>
          <a:p>
            <a:pPr>
              <a:buNone/>
            </a:pPr>
            <a:r>
              <a:rPr lang="en-US" sz="2400" dirty="0">
                <a:latin typeface="Cambria Math" pitchFamily="18" charset="0"/>
                <a:ea typeface="Cambria Math" pitchFamily="18" charset="0"/>
              </a:rPr>
              <a:t>1.	5, 9, 13, 17, …			(</a:t>
            </a:r>
            <a:r>
              <a:rPr lang="en-US" sz="2400" dirty="0">
                <a:solidFill>
                  <a:srgbClr val="C00000"/>
                </a:solidFill>
              </a:rPr>
              <a:t>First Term </a:t>
            </a:r>
            <a:r>
              <a:rPr lang="en-US" sz="2400" dirty="0"/>
              <a:t>= 5, </a:t>
            </a:r>
            <a:r>
              <a:rPr lang="en-US" sz="2400" dirty="0">
                <a:solidFill>
                  <a:srgbClr val="C00000"/>
                </a:solidFill>
              </a:rPr>
              <a:t>Common Difference </a:t>
            </a:r>
            <a:r>
              <a:rPr lang="en-US" sz="2400" dirty="0"/>
              <a:t>= 4)</a:t>
            </a:r>
          </a:p>
          <a:p>
            <a:pPr marL="0" indent="0">
              <a:spcBef>
                <a:spcPct val="50000"/>
              </a:spcBef>
              <a:buNone/>
            </a:pPr>
            <a:r>
              <a:rPr lang="en-US" sz="2400" dirty="0">
                <a:latin typeface="Cambria Math" pitchFamily="18" charset="0"/>
                <a:ea typeface="Cambria Math" pitchFamily="18" charset="0"/>
              </a:rPr>
              <a:t>2.	0, -5, -10, -15, …		(</a:t>
            </a:r>
            <a:r>
              <a:rPr lang="en-US" sz="2400" dirty="0">
                <a:solidFill>
                  <a:srgbClr val="C00000"/>
                </a:solidFill>
              </a:rPr>
              <a:t>First Term </a:t>
            </a:r>
            <a:r>
              <a:rPr lang="en-US" sz="2400" dirty="0"/>
              <a:t>= 0, </a:t>
            </a:r>
            <a:r>
              <a:rPr lang="en-US" sz="2400" dirty="0">
                <a:solidFill>
                  <a:srgbClr val="C00000"/>
                </a:solidFill>
              </a:rPr>
              <a:t>Common Difference </a:t>
            </a:r>
            <a:r>
              <a:rPr lang="en-US" sz="2400" dirty="0"/>
              <a:t>= -5)</a:t>
            </a:r>
          </a:p>
          <a:p>
            <a:pPr marL="0" indent="0">
              <a:spcBef>
                <a:spcPct val="50000"/>
              </a:spcBef>
              <a:buNone/>
            </a:pPr>
            <a:r>
              <a:rPr lang="en-US" sz="2400" dirty="0">
                <a:latin typeface="Cambria Math" pitchFamily="18" charset="0"/>
                <a:ea typeface="Cambria Math" pitchFamily="18" charset="0"/>
              </a:rPr>
              <a:t>3.	x + a, x + 3a, x + 5a, …	(</a:t>
            </a:r>
            <a:r>
              <a:rPr lang="en-US" sz="2400" dirty="0">
                <a:solidFill>
                  <a:srgbClr val="C00000"/>
                </a:solidFill>
              </a:rPr>
              <a:t>First Term </a:t>
            </a:r>
            <a:r>
              <a:rPr lang="en-US" sz="2400" dirty="0"/>
              <a:t>= </a:t>
            </a:r>
            <a:r>
              <a:rPr lang="en-US" sz="2400" dirty="0" err="1"/>
              <a:t>x+a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C00000"/>
                </a:solidFill>
              </a:rPr>
              <a:t>Common Difference </a:t>
            </a:r>
            <a:r>
              <a:rPr lang="en-US" sz="2400" dirty="0"/>
              <a:t>= 2a)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0519" y="96184"/>
            <a:ext cx="10515600" cy="854075"/>
          </a:xfrm>
        </p:spPr>
        <p:txBody>
          <a:bodyPr>
            <a:noAutofit/>
          </a:bodyPr>
          <a:lstStyle/>
          <a:p>
            <a:pPr algn="ctr"/>
            <a:r>
              <a:rPr lang="en-US" sz="3600" b="1" u="sng" dirty="0">
                <a:solidFill>
                  <a:srgbClr val="0070C0"/>
                </a:solidFill>
              </a:rPr>
              <a:t>GENERAL TERM OF AN ARITHMETIC SEQUENCE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79493" y="950259"/>
            <a:ext cx="9194919" cy="5410200"/>
          </a:xfrm>
        </p:spPr>
        <p:txBody>
          <a:bodyPr>
            <a:normAutofit/>
          </a:bodyPr>
          <a:lstStyle/>
          <a:p>
            <a:r>
              <a:rPr lang="en-US" sz="2400" dirty="0"/>
              <a:t>Let </a:t>
            </a:r>
            <a:r>
              <a:rPr lang="en-US" sz="2400" b="1" dirty="0">
                <a:solidFill>
                  <a:srgbClr val="C00000"/>
                </a:solidFill>
              </a:rPr>
              <a:t>a</a:t>
            </a:r>
            <a:r>
              <a:rPr lang="en-US" sz="2400" dirty="0"/>
              <a:t> be the </a:t>
            </a:r>
            <a:r>
              <a:rPr lang="en-US" sz="2400" dirty="0">
                <a:solidFill>
                  <a:srgbClr val="C00000"/>
                </a:solidFill>
              </a:rPr>
              <a:t>first term </a:t>
            </a:r>
            <a:r>
              <a:rPr lang="en-US" sz="2400" dirty="0"/>
              <a:t>and </a:t>
            </a:r>
            <a:r>
              <a:rPr lang="en-US" sz="2400" b="1" dirty="0">
                <a:solidFill>
                  <a:srgbClr val="C00000"/>
                </a:solidFill>
              </a:rPr>
              <a:t>d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be the common difference of an </a:t>
            </a:r>
            <a:r>
              <a:rPr lang="en-US" sz="2400" dirty="0">
                <a:solidFill>
                  <a:srgbClr val="C00000"/>
                </a:solidFill>
              </a:rPr>
              <a:t>arithmetic sequence</a:t>
            </a:r>
            <a:r>
              <a:rPr lang="en-US" sz="2400" dirty="0"/>
              <a:t>. Then the </a:t>
            </a:r>
            <a:r>
              <a:rPr lang="en-US" sz="2400" dirty="0">
                <a:solidFill>
                  <a:srgbClr val="C00000"/>
                </a:solidFill>
              </a:rPr>
              <a:t>sequence</a:t>
            </a:r>
            <a:r>
              <a:rPr lang="en-US" sz="2400" dirty="0"/>
              <a:t> is</a:t>
            </a:r>
          </a:p>
          <a:p>
            <a:pPr>
              <a:buNone/>
            </a:pPr>
            <a:r>
              <a:rPr lang="en-US" sz="2400" dirty="0"/>
              <a:t>				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a</a:t>
            </a:r>
            <a:r>
              <a:rPr lang="en-US" sz="2400" baseline="-25000" dirty="0"/>
              <a:t>1</a:t>
            </a:r>
            <a:r>
              <a:rPr lang="en-US" sz="2400" dirty="0"/>
              <a:t> = a </a:t>
            </a:r>
          </a:p>
          <a:p>
            <a:pPr>
              <a:buNone/>
            </a:pPr>
            <a:r>
              <a:rPr lang="en-US" sz="2400" dirty="0"/>
              <a:t>				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a</a:t>
            </a:r>
            <a:r>
              <a:rPr lang="en-US" sz="2400" baseline="-25000" dirty="0"/>
              <a:t>2</a:t>
            </a:r>
            <a:r>
              <a:rPr lang="en-US" sz="2400" dirty="0"/>
              <a:t> = </a:t>
            </a:r>
            <a:r>
              <a:rPr lang="en-US" sz="2400" dirty="0" err="1"/>
              <a:t>a+d</a:t>
            </a:r>
            <a:endParaRPr lang="en-US" sz="2400" dirty="0"/>
          </a:p>
          <a:p>
            <a:pPr>
              <a:buNone/>
            </a:pPr>
            <a:r>
              <a:rPr lang="en-US" sz="2400" dirty="0"/>
              <a:t>				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a</a:t>
            </a:r>
            <a:r>
              <a:rPr lang="en-US" sz="2400" baseline="-25000" dirty="0"/>
              <a:t>3</a:t>
            </a:r>
            <a:r>
              <a:rPr lang="en-US" sz="2400" dirty="0"/>
              <a:t> = a+2d</a:t>
            </a:r>
          </a:p>
          <a:p>
            <a:pPr>
              <a:buNone/>
            </a:pPr>
            <a:r>
              <a:rPr lang="en-US" sz="2400" dirty="0"/>
              <a:t>				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a</a:t>
            </a:r>
            <a:r>
              <a:rPr lang="en-US" sz="2400" baseline="-25000" dirty="0"/>
              <a:t>4</a:t>
            </a:r>
            <a:r>
              <a:rPr lang="en-US" sz="2400" dirty="0"/>
              <a:t> = a+3d …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	</a:t>
            </a:r>
            <a:r>
              <a:rPr lang="en-US" sz="2400" dirty="0">
                <a:solidFill>
                  <a:srgbClr val="C00000"/>
                </a:solidFill>
              </a:rPr>
              <a:t>a</a:t>
            </a:r>
            <a:r>
              <a:rPr lang="en-US" sz="2400" baseline="-25000" dirty="0">
                <a:solidFill>
                  <a:srgbClr val="C00000"/>
                </a:solidFill>
              </a:rPr>
              <a:t>1</a:t>
            </a:r>
            <a:r>
              <a:rPr lang="en-US" sz="2400" dirty="0"/>
              <a:t> =  </a:t>
            </a:r>
            <a:r>
              <a:rPr lang="en-US" sz="2400" dirty="0">
                <a:solidFill>
                  <a:srgbClr val="C00000"/>
                </a:solidFill>
              </a:rPr>
              <a:t>a</a:t>
            </a:r>
            <a:r>
              <a:rPr lang="en-US" sz="2400" dirty="0"/>
              <a:t> = </a:t>
            </a:r>
            <a:r>
              <a:rPr lang="en-US" sz="2400" dirty="0">
                <a:solidFill>
                  <a:srgbClr val="C00000"/>
                </a:solidFill>
              </a:rPr>
              <a:t>a + (1-1) d</a:t>
            </a:r>
          </a:p>
          <a:p>
            <a:pPr>
              <a:buNone/>
            </a:pPr>
            <a:r>
              <a:rPr lang="en-US" sz="2400" dirty="0"/>
              <a:t>	</a:t>
            </a:r>
            <a:r>
              <a:rPr lang="en-US" sz="2400" dirty="0">
                <a:solidFill>
                  <a:srgbClr val="C00000"/>
                </a:solidFill>
              </a:rPr>
              <a:t>a</a:t>
            </a:r>
            <a:r>
              <a:rPr lang="en-US" sz="2400" baseline="-25000" dirty="0">
                <a:solidFill>
                  <a:srgbClr val="C00000"/>
                </a:solidFill>
              </a:rPr>
              <a:t>2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=  </a:t>
            </a:r>
            <a:r>
              <a:rPr lang="en-US" sz="2400" dirty="0">
                <a:solidFill>
                  <a:srgbClr val="C00000"/>
                </a:solidFill>
              </a:rPr>
              <a:t>a + d </a:t>
            </a:r>
            <a:r>
              <a:rPr lang="en-US" sz="2400" dirty="0"/>
              <a:t>= </a:t>
            </a:r>
            <a:r>
              <a:rPr lang="en-US" sz="2400" dirty="0">
                <a:solidFill>
                  <a:srgbClr val="C00000"/>
                </a:solidFill>
              </a:rPr>
              <a:t>a + (2-1) d</a:t>
            </a:r>
          </a:p>
          <a:p>
            <a:pPr>
              <a:buNone/>
            </a:pPr>
            <a:r>
              <a:rPr lang="en-US" sz="2400" dirty="0"/>
              <a:t>	</a:t>
            </a:r>
            <a:r>
              <a:rPr lang="en-US" sz="2400" dirty="0">
                <a:solidFill>
                  <a:srgbClr val="C00000"/>
                </a:solidFill>
              </a:rPr>
              <a:t>a</a:t>
            </a:r>
            <a:r>
              <a:rPr lang="en-US" sz="2400" baseline="-25000" dirty="0">
                <a:solidFill>
                  <a:srgbClr val="C00000"/>
                </a:solidFill>
              </a:rPr>
              <a:t>3</a:t>
            </a:r>
            <a:r>
              <a:rPr lang="en-US" sz="2400" dirty="0"/>
              <a:t> =  </a:t>
            </a:r>
            <a:r>
              <a:rPr lang="en-US" sz="2400" dirty="0">
                <a:solidFill>
                  <a:srgbClr val="C00000"/>
                </a:solidFill>
              </a:rPr>
              <a:t>a + 2d </a:t>
            </a:r>
            <a:r>
              <a:rPr lang="en-US" sz="2400" dirty="0"/>
              <a:t>= </a:t>
            </a:r>
            <a:r>
              <a:rPr lang="en-US" sz="2400" dirty="0">
                <a:solidFill>
                  <a:srgbClr val="C00000"/>
                </a:solidFill>
              </a:rPr>
              <a:t>a + (3 -1) d</a:t>
            </a:r>
          </a:p>
          <a:p>
            <a:pPr>
              <a:buNone/>
            </a:pPr>
            <a:r>
              <a:rPr lang="en-US" sz="2400" dirty="0"/>
              <a:t>	By symmetry</a:t>
            </a:r>
          </a:p>
          <a:p>
            <a:pPr>
              <a:buNone/>
            </a:pPr>
            <a:r>
              <a:rPr lang="en-US" sz="2400" dirty="0"/>
              <a:t>	 	</a:t>
            </a:r>
            <a:r>
              <a:rPr lang="en-US" sz="2400" b="1" dirty="0">
                <a:solidFill>
                  <a:srgbClr val="00B050"/>
                </a:solidFill>
              </a:rPr>
              <a:t>a</a:t>
            </a:r>
            <a:r>
              <a:rPr lang="en-US" sz="2400" b="1" baseline="-25000" dirty="0">
                <a:solidFill>
                  <a:srgbClr val="00B050"/>
                </a:solidFill>
              </a:rPr>
              <a:t>n</a:t>
            </a:r>
            <a:r>
              <a:rPr lang="en-US" sz="2400" b="1" dirty="0">
                <a:solidFill>
                  <a:srgbClr val="00B050"/>
                </a:solidFill>
              </a:rPr>
              <a:t> = n</a:t>
            </a:r>
            <a:r>
              <a:rPr lang="en-US" sz="2400" b="1" baseline="30000" dirty="0">
                <a:solidFill>
                  <a:srgbClr val="00B050"/>
                </a:solidFill>
              </a:rPr>
              <a:t>th</a:t>
            </a:r>
            <a:r>
              <a:rPr lang="en-US" sz="2400" b="1" dirty="0">
                <a:solidFill>
                  <a:srgbClr val="00B050"/>
                </a:solidFill>
              </a:rPr>
              <a:t> term = a + (n - 1)d</a:t>
            </a:r>
            <a:r>
              <a:rPr lang="en-US" sz="2400" b="1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for all integers </a:t>
            </a:r>
            <a:r>
              <a:rPr lang="en-US" sz="2400" dirty="0">
                <a:solidFill>
                  <a:srgbClr val="C00000"/>
                </a:solidFill>
              </a:rPr>
              <a:t>n  </a:t>
            </a:r>
            <a:r>
              <a:rPr lang="en-US" sz="2400" dirty="0">
                <a:solidFill>
                  <a:srgbClr val="C00000"/>
                </a:solidFill>
                <a:sym typeface="Symbol"/>
              </a:rPr>
              <a:t></a:t>
            </a:r>
            <a:r>
              <a:rPr lang="en-US" sz="2400" dirty="0">
                <a:solidFill>
                  <a:srgbClr val="C00000"/>
                </a:solidFill>
              </a:rPr>
              <a:t>1</a:t>
            </a:r>
            <a:r>
              <a:rPr lang="en-US" sz="2400" dirty="0"/>
              <a:t>.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776" y="0"/>
            <a:ext cx="10515600" cy="966134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179576" y="1237129"/>
            <a:ext cx="9829800" cy="51233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Find the 20th term of the arithmetic sequence</a:t>
            </a:r>
          </a:p>
          <a:p>
            <a:pPr algn="ctr">
              <a:buNone/>
            </a:pPr>
            <a:r>
              <a:rPr lang="en-US" sz="2400" dirty="0"/>
              <a:t>	3, 9, 15, 21, …</a:t>
            </a:r>
          </a:p>
          <a:p>
            <a:pPr algn="ctr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u="sng" dirty="0">
                <a:solidFill>
                  <a:srgbClr val="C00000"/>
                </a:solidFill>
              </a:rPr>
              <a:t>SOLUTION:</a:t>
            </a:r>
          </a:p>
          <a:p>
            <a:pPr>
              <a:buNone/>
            </a:pPr>
            <a:r>
              <a:rPr lang="en-US" sz="2400" dirty="0"/>
              <a:t>	Here 	</a:t>
            </a:r>
            <a:r>
              <a:rPr lang="en-US" sz="2400" dirty="0">
                <a:solidFill>
                  <a:srgbClr val="C00000"/>
                </a:solidFill>
              </a:rPr>
              <a:t>a</a:t>
            </a:r>
            <a:r>
              <a:rPr lang="en-US" sz="2400" dirty="0"/>
              <a:t> = first term = </a:t>
            </a:r>
            <a:r>
              <a:rPr lang="en-US" sz="2400" dirty="0">
                <a:solidFill>
                  <a:srgbClr val="C00000"/>
                </a:solidFill>
              </a:rPr>
              <a:t>3</a:t>
            </a:r>
          </a:p>
          <a:p>
            <a:pPr>
              <a:buNone/>
            </a:pPr>
            <a:r>
              <a:rPr lang="en-US" sz="2400" dirty="0"/>
              <a:t>			</a:t>
            </a:r>
            <a:r>
              <a:rPr lang="en-US" sz="2400" dirty="0">
                <a:solidFill>
                  <a:srgbClr val="C00000"/>
                </a:solidFill>
              </a:rPr>
              <a:t>d</a:t>
            </a:r>
            <a:r>
              <a:rPr lang="en-US" sz="2400" dirty="0"/>
              <a:t> = common difference = </a:t>
            </a:r>
            <a:r>
              <a:rPr lang="en-US" sz="2400" dirty="0">
                <a:solidFill>
                  <a:srgbClr val="C00000"/>
                </a:solidFill>
              </a:rPr>
              <a:t>9 - 3 = 6</a:t>
            </a:r>
          </a:p>
          <a:p>
            <a:pPr>
              <a:buNone/>
            </a:pPr>
            <a:r>
              <a:rPr lang="en-US" sz="2400" dirty="0"/>
              <a:t>			</a:t>
            </a:r>
            <a:r>
              <a:rPr lang="en-US" sz="2400" dirty="0">
                <a:solidFill>
                  <a:srgbClr val="C00000"/>
                </a:solidFill>
              </a:rPr>
              <a:t>n</a:t>
            </a:r>
            <a:r>
              <a:rPr lang="en-US" sz="2400" dirty="0"/>
              <a:t> = term number = </a:t>
            </a:r>
            <a:r>
              <a:rPr lang="en-US" sz="2400" dirty="0">
                <a:solidFill>
                  <a:srgbClr val="C00000"/>
                </a:solidFill>
              </a:rPr>
              <a:t>20</a:t>
            </a:r>
          </a:p>
          <a:p>
            <a:pPr>
              <a:buNone/>
            </a:pPr>
            <a:r>
              <a:rPr lang="en-US" sz="2400" dirty="0"/>
              <a:t>			</a:t>
            </a:r>
            <a:r>
              <a:rPr lang="en-US" sz="2400" b="1" dirty="0">
                <a:solidFill>
                  <a:srgbClr val="C00000"/>
                </a:solidFill>
              </a:rPr>
              <a:t>a</a:t>
            </a:r>
            <a:r>
              <a:rPr lang="en-US" sz="2400" b="1" baseline="-25000" dirty="0">
                <a:solidFill>
                  <a:srgbClr val="C00000"/>
                </a:solidFill>
              </a:rPr>
              <a:t>20</a:t>
            </a:r>
            <a:r>
              <a:rPr lang="en-US" sz="2400" b="1" dirty="0">
                <a:solidFill>
                  <a:srgbClr val="C00000"/>
                </a:solidFill>
              </a:rPr>
              <a:t> = value of 20th term = ?</a:t>
            </a:r>
          </a:p>
          <a:p>
            <a:r>
              <a:rPr lang="en-US" sz="2400" dirty="0"/>
              <a:t>Since	</a:t>
            </a:r>
            <a:r>
              <a:rPr lang="en-US" sz="2400" b="1" dirty="0">
                <a:solidFill>
                  <a:srgbClr val="C00000"/>
                </a:solidFill>
              </a:rPr>
              <a:t>a</a:t>
            </a:r>
            <a:r>
              <a:rPr lang="en-US" sz="2400" b="1" baseline="-25000" dirty="0">
                <a:solidFill>
                  <a:srgbClr val="C00000"/>
                </a:solidFill>
              </a:rPr>
              <a:t>n</a:t>
            </a:r>
            <a:r>
              <a:rPr lang="en-US" sz="2400" b="1" dirty="0">
                <a:solidFill>
                  <a:srgbClr val="C00000"/>
                </a:solidFill>
              </a:rPr>
              <a:t> = a + (n - 1) d</a:t>
            </a:r>
            <a:r>
              <a:rPr lang="en-US" sz="2400" dirty="0"/>
              <a:t>		n </a:t>
            </a:r>
            <a:r>
              <a:rPr lang="en-US" sz="2400" dirty="0">
                <a:sym typeface="Symbol"/>
              </a:rPr>
              <a:t></a:t>
            </a:r>
            <a:r>
              <a:rPr lang="en-US" sz="2400" dirty="0"/>
              <a:t>1</a:t>
            </a:r>
          </a:p>
          <a:p>
            <a:pPr>
              <a:buNone/>
            </a:pPr>
            <a:r>
              <a:rPr lang="en-US" sz="2400" dirty="0">
                <a:sym typeface="Symbol"/>
              </a:rPr>
              <a:t>		</a:t>
            </a:r>
            <a:r>
              <a:rPr lang="en-US" sz="2400" b="1" dirty="0">
                <a:sym typeface="Symbol"/>
              </a:rPr>
              <a:t></a:t>
            </a:r>
            <a:r>
              <a:rPr lang="en-US" sz="2400" dirty="0"/>
              <a:t>       </a:t>
            </a:r>
            <a:r>
              <a:rPr lang="en-US" sz="2400" dirty="0">
                <a:solidFill>
                  <a:srgbClr val="C00000"/>
                </a:solidFill>
              </a:rPr>
              <a:t>a</a:t>
            </a:r>
            <a:r>
              <a:rPr lang="en-US" sz="2400" baseline="-25000" dirty="0">
                <a:solidFill>
                  <a:srgbClr val="C00000"/>
                </a:solidFill>
              </a:rPr>
              <a:t>20</a:t>
            </a:r>
            <a:r>
              <a:rPr lang="en-US" sz="2400" dirty="0"/>
              <a:t> = 3 + (20 - 1) 6</a:t>
            </a:r>
          </a:p>
          <a:p>
            <a:pPr>
              <a:buNone/>
            </a:pPr>
            <a:r>
              <a:rPr lang="en-US" sz="2400" dirty="0"/>
              <a:t>			     = 3 + 114</a:t>
            </a:r>
          </a:p>
          <a:p>
            <a:pPr>
              <a:buNone/>
            </a:pPr>
            <a:r>
              <a:rPr lang="en-US" sz="2400" dirty="0"/>
              <a:t>			     = </a:t>
            </a:r>
            <a:r>
              <a:rPr lang="en-US" sz="2400" dirty="0">
                <a:solidFill>
                  <a:srgbClr val="C00000"/>
                </a:solidFill>
              </a:rPr>
              <a:t>117</a:t>
            </a:r>
            <a:r>
              <a:rPr lang="en-US" sz="2400" dirty="0"/>
              <a:t>	</a:t>
            </a:r>
          </a:p>
          <a:p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154" y="0"/>
            <a:ext cx="10515600" cy="993028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>
                <a:solidFill>
                  <a:srgbClr val="0070C0"/>
                </a:solidFill>
              </a:rPr>
              <a:t>EXAMPLE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73712" y="852054"/>
            <a:ext cx="9731597" cy="57565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Which term of the </a:t>
            </a:r>
            <a:r>
              <a:rPr lang="en-US" sz="2400" dirty="0">
                <a:solidFill>
                  <a:srgbClr val="C00000"/>
                </a:solidFill>
              </a:rPr>
              <a:t>arithmetic sequence</a:t>
            </a:r>
          </a:p>
          <a:p>
            <a:pPr algn="ctr">
              <a:buNone/>
            </a:pPr>
            <a:r>
              <a:rPr lang="en-US" sz="2400" dirty="0"/>
              <a:t>	</a:t>
            </a:r>
            <a:r>
              <a:rPr lang="en-US" sz="2400" dirty="0">
                <a:solidFill>
                  <a:srgbClr val="C00000"/>
                </a:solidFill>
              </a:rPr>
              <a:t>4, 1, -2</a:t>
            </a:r>
            <a:r>
              <a:rPr lang="en-US" sz="2400" dirty="0"/>
              <a:t>, …,	is </a:t>
            </a:r>
            <a:r>
              <a:rPr lang="en-US" sz="2400" dirty="0">
                <a:solidFill>
                  <a:srgbClr val="C00000"/>
                </a:solidFill>
              </a:rPr>
              <a:t>-77</a:t>
            </a:r>
          </a:p>
          <a:p>
            <a:pPr marL="0" indent="0">
              <a:buNone/>
            </a:pPr>
            <a:r>
              <a:rPr lang="en-US" sz="2000" b="1" u="sng" dirty="0">
                <a:solidFill>
                  <a:srgbClr val="C00000"/>
                </a:solidFill>
              </a:rPr>
              <a:t>SOLUTION:</a:t>
            </a:r>
          </a:p>
          <a:p>
            <a:pPr>
              <a:buNone/>
            </a:pPr>
            <a:r>
              <a:rPr lang="en-US" sz="2000" dirty="0"/>
              <a:t>	Here 	</a:t>
            </a:r>
            <a:r>
              <a:rPr lang="en-US" sz="2000" dirty="0">
                <a:solidFill>
                  <a:srgbClr val="C00000"/>
                </a:solidFill>
              </a:rPr>
              <a:t>a </a:t>
            </a:r>
            <a:r>
              <a:rPr lang="en-US" sz="2000" dirty="0"/>
              <a:t>= first term = </a:t>
            </a:r>
            <a:r>
              <a:rPr lang="en-US" sz="2000" dirty="0">
                <a:solidFill>
                  <a:srgbClr val="C00000"/>
                </a:solidFill>
              </a:rPr>
              <a:t>4; </a:t>
            </a:r>
            <a:r>
              <a:rPr lang="en-US" sz="2000" dirty="0"/>
              <a:t>		</a:t>
            </a:r>
            <a:r>
              <a:rPr lang="en-US" sz="2000" dirty="0">
                <a:solidFill>
                  <a:srgbClr val="C00000"/>
                </a:solidFill>
              </a:rPr>
              <a:t>d </a:t>
            </a:r>
            <a:r>
              <a:rPr lang="en-US" sz="2000" dirty="0"/>
              <a:t>= common difference = </a:t>
            </a:r>
            <a:r>
              <a:rPr lang="en-US" sz="2000" dirty="0">
                <a:solidFill>
                  <a:srgbClr val="C00000"/>
                </a:solidFill>
              </a:rPr>
              <a:t>1 - 4 = -3</a:t>
            </a:r>
          </a:p>
          <a:p>
            <a:pPr>
              <a:buNone/>
            </a:pPr>
            <a:r>
              <a:rPr lang="en-US" sz="2000" dirty="0"/>
              <a:t>		</a:t>
            </a:r>
            <a:r>
              <a:rPr lang="en-US" sz="2000" dirty="0">
                <a:solidFill>
                  <a:srgbClr val="C00000"/>
                </a:solidFill>
              </a:rPr>
              <a:t>a</a:t>
            </a:r>
            <a:r>
              <a:rPr lang="en-US" sz="2000" baseline="-25000" dirty="0">
                <a:solidFill>
                  <a:srgbClr val="C00000"/>
                </a:solidFill>
              </a:rPr>
              <a:t>n</a:t>
            </a:r>
            <a:r>
              <a:rPr lang="en-US" sz="2000" dirty="0"/>
              <a:t> = value of nth term = </a:t>
            </a:r>
            <a:r>
              <a:rPr lang="en-US" sz="2000" dirty="0">
                <a:solidFill>
                  <a:srgbClr val="C00000"/>
                </a:solidFill>
              </a:rPr>
              <a:t>-77	</a:t>
            </a:r>
            <a:r>
              <a:rPr lang="pt-BR" sz="2000" dirty="0">
                <a:solidFill>
                  <a:srgbClr val="C00000"/>
                </a:solidFill>
              </a:rPr>
              <a:t>n = term number = ?</a:t>
            </a:r>
          </a:p>
          <a:p>
            <a:pPr>
              <a:buNone/>
            </a:pPr>
            <a:endParaRPr lang="pt-BR" sz="2000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pt-BR" sz="2000" dirty="0"/>
              <a:t>	Since 	               </a:t>
            </a:r>
            <a:r>
              <a:rPr lang="en-US" sz="2000" b="1" dirty="0">
                <a:solidFill>
                  <a:srgbClr val="C00000"/>
                </a:solidFill>
              </a:rPr>
              <a:t> a</a:t>
            </a:r>
            <a:r>
              <a:rPr lang="en-US" sz="2000" b="1" baseline="-25000" dirty="0">
                <a:solidFill>
                  <a:srgbClr val="C00000"/>
                </a:solidFill>
              </a:rPr>
              <a:t>n</a:t>
            </a:r>
            <a:r>
              <a:rPr lang="en-US" sz="2000" b="1" dirty="0"/>
              <a:t> = </a:t>
            </a:r>
            <a:r>
              <a:rPr lang="en-US" sz="2000" b="1" dirty="0">
                <a:solidFill>
                  <a:srgbClr val="C00000"/>
                </a:solidFill>
              </a:rPr>
              <a:t>a + (n - 1) d		</a:t>
            </a:r>
            <a:r>
              <a:rPr lang="pt-BR" sz="2000" dirty="0"/>
              <a:t> n </a:t>
            </a:r>
            <a:r>
              <a:rPr lang="en-US" sz="2000" dirty="0">
                <a:sym typeface="Symbol"/>
              </a:rPr>
              <a:t></a:t>
            </a:r>
            <a:r>
              <a:rPr lang="pt-BR" sz="2000" dirty="0"/>
              <a:t>1</a:t>
            </a:r>
            <a:endParaRPr lang="en-US" sz="2000" dirty="0"/>
          </a:p>
          <a:p>
            <a:pPr>
              <a:buNone/>
            </a:pPr>
            <a:r>
              <a:rPr lang="en-US" sz="2000" dirty="0">
                <a:sym typeface="Symbol"/>
              </a:rPr>
              <a:t>		</a:t>
            </a:r>
            <a:r>
              <a:rPr lang="pt-BR" sz="2000" dirty="0"/>
              <a:t>         </a:t>
            </a:r>
            <a:r>
              <a:rPr lang="pt-BR" sz="2000" dirty="0">
                <a:solidFill>
                  <a:srgbClr val="C00000"/>
                </a:solidFill>
              </a:rPr>
              <a:t>-77 </a:t>
            </a:r>
            <a:r>
              <a:rPr lang="pt-BR" sz="2000" dirty="0"/>
              <a:t>= </a:t>
            </a:r>
            <a:r>
              <a:rPr lang="pt-BR" sz="2000" dirty="0">
                <a:solidFill>
                  <a:srgbClr val="C00000"/>
                </a:solidFill>
              </a:rPr>
              <a:t>4 + (n - 1) (-3)</a:t>
            </a:r>
          </a:p>
          <a:p>
            <a:pPr>
              <a:buNone/>
            </a:pPr>
            <a:r>
              <a:rPr lang="en-US" sz="2000" dirty="0">
                <a:sym typeface="Symbol"/>
              </a:rPr>
              <a:t>		   </a:t>
            </a:r>
            <a:r>
              <a:rPr lang="pt-BR" sz="2000" dirty="0">
                <a:solidFill>
                  <a:srgbClr val="C00000"/>
                </a:solidFill>
              </a:rPr>
              <a:t>-77 - 4 </a:t>
            </a:r>
            <a:r>
              <a:rPr lang="pt-BR" sz="2000" dirty="0"/>
              <a:t>= </a:t>
            </a:r>
            <a:r>
              <a:rPr lang="pt-BR" sz="2000" dirty="0">
                <a:solidFill>
                  <a:srgbClr val="C00000"/>
                </a:solidFill>
              </a:rPr>
              <a:t>(n - 1) (-3)</a:t>
            </a:r>
          </a:p>
          <a:p>
            <a:pPr>
              <a:buNone/>
            </a:pPr>
            <a:r>
              <a:rPr lang="en-US" sz="2000" dirty="0">
                <a:sym typeface="Symbol"/>
              </a:rPr>
              <a:t>		</a:t>
            </a:r>
          </a:p>
          <a:p>
            <a:pPr>
              <a:lnSpc>
                <a:spcPct val="160000"/>
              </a:lnSpc>
              <a:buNone/>
            </a:pPr>
            <a:r>
              <a:rPr lang="en-US" sz="2000" dirty="0">
                <a:sym typeface="Symbol"/>
              </a:rPr>
              <a:t>		 	</a:t>
            </a:r>
            <a:r>
              <a:rPr lang="en-US" sz="1800" dirty="0"/>
              <a:t>27 = n – 1</a:t>
            </a:r>
            <a:r>
              <a:rPr lang="en-US" sz="2000" dirty="0"/>
              <a:t>	</a:t>
            </a:r>
          </a:p>
          <a:p>
            <a:pPr>
              <a:buNone/>
            </a:pPr>
            <a:r>
              <a:rPr lang="en-US" sz="2000" dirty="0"/>
              <a:t>		 	</a:t>
            </a:r>
            <a:r>
              <a:rPr lang="en-US" sz="2000" b="1" dirty="0">
                <a:solidFill>
                  <a:srgbClr val="C00000"/>
                </a:solidFill>
              </a:rPr>
              <a:t>n = 28</a:t>
            </a:r>
            <a:endParaRPr lang="en-US" sz="2000" dirty="0"/>
          </a:p>
          <a:p>
            <a:pPr>
              <a:buNone/>
            </a:pPr>
            <a:r>
              <a:rPr lang="en-US" sz="2000" dirty="0"/>
              <a:t>			Hence </a:t>
            </a:r>
            <a:r>
              <a:rPr lang="en-US" sz="2000" b="1" dirty="0">
                <a:solidFill>
                  <a:srgbClr val="C00000"/>
                </a:solidFill>
              </a:rPr>
              <a:t>–77 </a:t>
            </a:r>
            <a:r>
              <a:rPr lang="en-US" sz="2000" dirty="0"/>
              <a:t>is the </a:t>
            </a:r>
            <a:r>
              <a:rPr lang="en-US" sz="2000" dirty="0">
                <a:solidFill>
                  <a:srgbClr val="C00000"/>
                </a:solidFill>
              </a:rPr>
              <a:t>28th term </a:t>
            </a:r>
            <a:r>
              <a:rPr lang="en-US" sz="2000" dirty="0"/>
              <a:t>of the given </a:t>
            </a:r>
            <a:r>
              <a:rPr lang="en-US" sz="2000" dirty="0">
                <a:solidFill>
                  <a:srgbClr val="C00000"/>
                </a:solidFill>
              </a:rPr>
              <a:t>sequence</a:t>
            </a:r>
            <a:r>
              <a:rPr lang="en-US" sz="2000" dirty="0"/>
              <a:t>.</a:t>
            </a:r>
            <a:endParaRPr lang="en-US" sz="2200" dirty="0">
              <a:solidFill>
                <a:srgbClr val="C00000"/>
              </a:solidFill>
            </a:endParaRPr>
          </a:p>
          <a:p>
            <a:pPr>
              <a:buNone/>
            </a:pPr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278B90EA-84BF-4849-9546-DC521E2401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5830213"/>
              </p:ext>
            </p:extLst>
          </p:nvPr>
        </p:nvGraphicFramePr>
        <p:xfrm>
          <a:off x="3061854" y="4538009"/>
          <a:ext cx="1838095" cy="5327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71" r:id="rId3" imgW="711000" imgH="393480" progId="">
                  <p:embed/>
                </p:oleObj>
              </mc:Choice>
              <mc:Fallback>
                <p:oleObj r:id="rId3" imgW="711000" imgH="393480" progId="">
                  <p:embed/>
                  <p:pic>
                    <p:nvPicPr>
                      <p:cNvPr id="9625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1854" y="4538009"/>
                        <a:ext cx="1838095" cy="53275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776" y="38291"/>
            <a:ext cx="10515600" cy="722037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179576" y="760327"/>
            <a:ext cx="10102506" cy="5963201"/>
          </a:xfrm>
        </p:spPr>
        <p:txBody>
          <a:bodyPr>
            <a:noAutofit/>
          </a:bodyPr>
          <a:lstStyle/>
          <a:p>
            <a:r>
              <a:rPr lang="en-US" sz="2400" dirty="0"/>
              <a:t>Find the </a:t>
            </a:r>
            <a:r>
              <a:rPr lang="en-US" sz="2400" b="1" dirty="0">
                <a:solidFill>
                  <a:srgbClr val="C00000"/>
                </a:solidFill>
              </a:rPr>
              <a:t>36th</a:t>
            </a:r>
            <a:r>
              <a:rPr lang="en-US" sz="2400" dirty="0"/>
              <a:t> term of the </a:t>
            </a:r>
            <a:r>
              <a:rPr lang="en-US" sz="2400" dirty="0">
                <a:solidFill>
                  <a:srgbClr val="C00000"/>
                </a:solidFill>
              </a:rPr>
              <a:t>arithmetic sequence </a:t>
            </a:r>
            <a:r>
              <a:rPr lang="en-US" sz="2400" dirty="0"/>
              <a:t>whose </a:t>
            </a:r>
            <a:r>
              <a:rPr lang="en-US" sz="2400" b="1" dirty="0">
                <a:solidFill>
                  <a:srgbClr val="C00000"/>
                </a:solidFill>
              </a:rPr>
              <a:t>3rd</a:t>
            </a:r>
            <a:r>
              <a:rPr lang="en-US" sz="2400" dirty="0"/>
              <a:t> term is </a:t>
            </a:r>
            <a:r>
              <a:rPr lang="en-US" sz="2400" b="1" dirty="0">
                <a:solidFill>
                  <a:srgbClr val="C00000"/>
                </a:solidFill>
              </a:rPr>
              <a:t>7</a:t>
            </a:r>
            <a:r>
              <a:rPr lang="en-US" sz="2400" dirty="0"/>
              <a:t> and </a:t>
            </a:r>
            <a:r>
              <a:rPr lang="en-US" sz="2400" b="1" dirty="0">
                <a:solidFill>
                  <a:srgbClr val="C00000"/>
                </a:solidFill>
              </a:rPr>
              <a:t>8th</a:t>
            </a:r>
            <a:r>
              <a:rPr lang="en-US" sz="2400" dirty="0"/>
              <a:t> term is </a:t>
            </a:r>
            <a:r>
              <a:rPr lang="en-US" sz="2400" b="1" dirty="0">
                <a:solidFill>
                  <a:srgbClr val="C00000"/>
                </a:solidFill>
              </a:rPr>
              <a:t>17</a:t>
            </a:r>
            <a:r>
              <a:rPr lang="en-US" sz="2400" dirty="0"/>
              <a:t>.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b="1" u="sng" dirty="0">
                <a:solidFill>
                  <a:srgbClr val="C00000"/>
                </a:solidFill>
              </a:rPr>
              <a:t>SOLUTION:</a:t>
            </a:r>
          </a:p>
          <a:p>
            <a:pPr>
              <a:buNone/>
            </a:pPr>
            <a:r>
              <a:rPr lang="en-US" sz="2000" dirty="0"/>
              <a:t>	Let </a:t>
            </a:r>
            <a:r>
              <a:rPr lang="en-US" sz="2000" b="1" dirty="0">
                <a:solidFill>
                  <a:srgbClr val="C00000"/>
                </a:solidFill>
              </a:rPr>
              <a:t>a</a:t>
            </a:r>
            <a:r>
              <a:rPr lang="en-US" sz="2000" dirty="0"/>
              <a:t> be the </a:t>
            </a:r>
            <a:r>
              <a:rPr lang="en-US" sz="2000" dirty="0">
                <a:solidFill>
                  <a:srgbClr val="C00000"/>
                </a:solidFill>
              </a:rPr>
              <a:t>first term </a:t>
            </a:r>
            <a:r>
              <a:rPr lang="en-US" sz="2000" dirty="0"/>
              <a:t>and </a:t>
            </a:r>
            <a:r>
              <a:rPr lang="en-US" sz="2000" b="1" dirty="0">
                <a:solidFill>
                  <a:srgbClr val="C00000"/>
                </a:solidFill>
              </a:rPr>
              <a:t>d</a:t>
            </a:r>
            <a:r>
              <a:rPr lang="en-US" sz="2000" dirty="0"/>
              <a:t> be the </a:t>
            </a:r>
            <a:r>
              <a:rPr lang="en-US" sz="2000" dirty="0">
                <a:solidFill>
                  <a:srgbClr val="C00000"/>
                </a:solidFill>
              </a:rPr>
              <a:t>common difference </a:t>
            </a:r>
            <a:r>
              <a:rPr lang="en-US" sz="2000" dirty="0"/>
              <a:t>of the </a:t>
            </a:r>
            <a:r>
              <a:rPr lang="en-US" sz="2000" dirty="0">
                <a:solidFill>
                  <a:srgbClr val="C00000"/>
                </a:solidFill>
              </a:rPr>
              <a:t>arithmetic sequence</a:t>
            </a:r>
            <a:r>
              <a:rPr lang="en-US" sz="2000" dirty="0"/>
              <a:t>.</a:t>
            </a:r>
          </a:p>
          <a:p>
            <a:pPr>
              <a:buNone/>
            </a:pPr>
            <a:r>
              <a:rPr lang="en-US" sz="2000" dirty="0"/>
              <a:t>	Then	</a:t>
            </a:r>
          </a:p>
          <a:p>
            <a:pPr>
              <a:buNone/>
            </a:pPr>
            <a:r>
              <a:rPr lang="en-US" sz="2000" dirty="0"/>
              <a:t>	            </a:t>
            </a:r>
            <a:r>
              <a:rPr lang="en-US" sz="2000" b="1" dirty="0">
                <a:solidFill>
                  <a:srgbClr val="C00000"/>
                </a:solidFill>
              </a:rPr>
              <a:t>a</a:t>
            </a:r>
            <a:r>
              <a:rPr lang="en-US" sz="2000" b="1" baseline="-25000" dirty="0">
                <a:solidFill>
                  <a:srgbClr val="C00000"/>
                </a:solidFill>
              </a:rPr>
              <a:t>n</a:t>
            </a:r>
            <a:r>
              <a:rPr lang="en-US" sz="2000" dirty="0"/>
              <a:t> = </a:t>
            </a:r>
            <a:r>
              <a:rPr lang="en-US" sz="2000" b="1" dirty="0">
                <a:solidFill>
                  <a:srgbClr val="C00000"/>
                </a:solidFill>
              </a:rPr>
              <a:t>a + (n - 1)d </a:t>
            </a:r>
            <a:r>
              <a:rPr lang="en-US" sz="2000" dirty="0"/>
              <a:t>		n </a:t>
            </a:r>
            <a:r>
              <a:rPr lang="en-US" sz="2000" dirty="0">
                <a:sym typeface="Symbol"/>
              </a:rPr>
              <a:t></a:t>
            </a:r>
            <a:r>
              <a:rPr lang="en-US" sz="2000" dirty="0"/>
              <a:t> 1</a:t>
            </a:r>
          </a:p>
          <a:p>
            <a:pPr>
              <a:buNone/>
            </a:pPr>
            <a:r>
              <a:rPr lang="en-US" sz="2000" dirty="0">
                <a:sym typeface="Symbol"/>
              </a:rPr>
              <a:t>	</a:t>
            </a:r>
            <a:r>
              <a:rPr lang="en-US" sz="2000" dirty="0"/>
              <a:t>	      a</a:t>
            </a:r>
            <a:r>
              <a:rPr lang="en-US" sz="2000" baseline="-25000" dirty="0"/>
              <a:t>3</a:t>
            </a:r>
            <a:r>
              <a:rPr lang="en-US" sz="2000" dirty="0"/>
              <a:t> = a + (3 - 1) d</a:t>
            </a:r>
          </a:p>
          <a:p>
            <a:pPr>
              <a:buNone/>
            </a:pPr>
            <a:r>
              <a:rPr lang="en-US" sz="2000" dirty="0"/>
              <a:t>	 and	      a</a:t>
            </a:r>
            <a:r>
              <a:rPr lang="en-US" sz="2000" baseline="-25000" dirty="0"/>
              <a:t>8</a:t>
            </a:r>
            <a:r>
              <a:rPr lang="en-US" sz="2000" dirty="0"/>
              <a:t> = a + (8 - 1) d</a:t>
            </a:r>
          </a:p>
          <a:p>
            <a:pPr>
              <a:buNone/>
            </a:pPr>
            <a:r>
              <a:rPr lang="en-US" sz="2000" dirty="0"/>
              <a:t>	Given that </a:t>
            </a:r>
            <a:r>
              <a:rPr lang="en-US" sz="2000" dirty="0">
                <a:solidFill>
                  <a:srgbClr val="C00000"/>
                </a:solidFill>
              </a:rPr>
              <a:t>a</a:t>
            </a:r>
            <a:r>
              <a:rPr lang="en-US" sz="2000" baseline="-25000" dirty="0">
                <a:solidFill>
                  <a:srgbClr val="C00000"/>
                </a:solidFill>
              </a:rPr>
              <a:t>3</a:t>
            </a:r>
            <a:r>
              <a:rPr lang="en-US" sz="2000" dirty="0">
                <a:solidFill>
                  <a:srgbClr val="C00000"/>
                </a:solidFill>
              </a:rPr>
              <a:t> = 7 </a:t>
            </a:r>
            <a:r>
              <a:rPr lang="en-US" sz="2000" dirty="0"/>
              <a:t>and </a:t>
            </a:r>
            <a:r>
              <a:rPr lang="en-US" sz="2000" dirty="0">
                <a:solidFill>
                  <a:srgbClr val="C00000"/>
                </a:solidFill>
              </a:rPr>
              <a:t>a</a:t>
            </a:r>
            <a:r>
              <a:rPr lang="en-US" sz="2000" baseline="-25000" dirty="0">
                <a:solidFill>
                  <a:srgbClr val="C00000"/>
                </a:solidFill>
              </a:rPr>
              <a:t>8</a:t>
            </a:r>
            <a:r>
              <a:rPr lang="en-US" sz="2000" dirty="0">
                <a:solidFill>
                  <a:srgbClr val="C00000"/>
                </a:solidFill>
              </a:rPr>
              <a:t> = 17</a:t>
            </a:r>
            <a:r>
              <a:rPr lang="en-US" sz="2000" dirty="0"/>
              <a:t>. </a:t>
            </a:r>
          </a:p>
          <a:p>
            <a:pPr>
              <a:buNone/>
            </a:pPr>
            <a:r>
              <a:rPr lang="en-US" sz="2000" dirty="0"/>
              <a:t>	Therefore,</a:t>
            </a:r>
          </a:p>
          <a:p>
            <a:pPr>
              <a:buNone/>
            </a:pPr>
            <a:r>
              <a:rPr lang="en-US" sz="2000" dirty="0"/>
              <a:t>			</a:t>
            </a:r>
            <a:r>
              <a:rPr lang="en-US" sz="2000" dirty="0">
                <a:solidFill>
                  <a:srgbClr val="C00000"/>
                </a:solidFill>
              </a:rPr>
              <a:t> 7 = a + 2d</a:t>
            </a:r>
            <a:r>
              <a:rPr lang="en-US" sz="2000" dirty="0"/>
              <a:t>……………………(1)</a:t>
            </a:r>
          </a:p>
          <a:p>
            <a:pPr>
              <a:buNone/>
            </a:pPr>
            <a:r>
              <a:rPr lang="en-US" sz="2000" dirty="0"/>
              <a:t>		and           </a:t>
            </a:r>
            <a:r>
              <a:rPr lang="en-US" sz="2000" dirty="0">
                <a:solidFill>
                  <a:srgbClr val="C00000"/>
                </a:solidFill>
              </a:rPr>
              <a:t>17 = a + 7d</a:t>
            </a:r>
            <a:r>
              <a:rPr lang="en-US" sz="2000" dirty="0"/>
              <a:t>………….………..(2)</a:t>
            </a:r>
          </a:p>
          <a:p>
            <a:pPr>
              <a:buNone/>
            </a:pPr>
            <a:endParaRPr lang="en-US" sz="2000" dirty="0"/>
          </a:p>
          <a:p>
            <a:pPr>
              <a:buNone/>
            </a:pPr>
            <a:endParaRPr lang="en-US" sz="2000" dirty="0"/>
          </a:p>
          <a:p>
            <a:pPr>
              <a:buNone/>
            </a:pPr>
            <a:endParaRPr lang="en-US" sz="2000" dirty="0"/>
          </a:p>
          <a:p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199029" y="237564"/>
            <a:ext cx="9793941" cy="638287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dirty="0"/>
              <a:t>	Subtracting (1) from (2), we get,</a:t>
            </a:r>
          </a:p>
          <a:p>
            <a:pPr>
              <a:buNone/>
            </a:pPr>
            <a:r>
              <a:rPr lang="en-US" sz="2000" dirty="0"/>
              <a:t>			</a:t>
            </a:r>
            <a:r>
              <a:rPr lang="en-US" sz="2000" dirty="0">
                <a:solidFill>
                  <a:srgbClr val="C00000"/>
                </a:solidFill>
              </a:rPr>
              <a:t>10 = 5d</a:t>
            </a:r>
            <a:r>
              <a:rPr lang="en-US" sz="2000" dirty="0"/>
              <a:t>		 </a:t>
            </a:r>
          </a:p>
          <a:p>
            <a:pPr>
              <a:buNone/>
            </a:pPr>
            <a:r>
              <a:rPr lang="en-US" sz="2000" dirty="0">
                <a:sym typeface="Symbol"/>
              </a:rPr>
              <a:t>		</a:t>
            </a:r>
            <a:r>
              <a:rPr lang="en-US" sz="2000" dirty="0"/>
              <a:t>	  </a:t>
            </a:r>
            <a:r>
              <a:rPr lang="en-US" sz="2000" dirty="0">
                <a:solidFill>
                  <a:srgbClr val="C00000"/>
                </a:solidFill>
              </a:rPr>
              <a:t>d = 2</a:t>
            </a:r>
          </a:p>
          <a:p>
            <a:pPr>
              <a:buNone/>
            </a:pPr>
            <a:r>
              <a:rPr lang="en-US" sz="2000" dirty="0">
                <a:solidFill>
                  <a:srgbClr val="C00000"/>
                </a:solidFill>
              </a:rPr>
              <a:t>	</a:t>
            </a:r>
            <a:r>
              <a:rPr lang="en-US" sz="2000" dirty="0"/>
              <a:t> Substituting </a:t>
            </a:r>
            <a:r>
              <a:rPr lang="en-US" sz="2000" dirty="0">
                <a:solidFill>
                  <a:srgbClr val="C00000"/>
                </a:solidFill>
              </a:rPr>
              <a:t>d = 2 </a:t>
            </a:r>
            <a:r>
              <a:rPr lang="en-US" sz="2000" dirty="0"/>
              <a:t>in (1) we have </a:t>
            </a:r>
          </a:p>
          <a:p>
            <a:pPr>
              <a:buNone/>
            </a:pPr>
            <a:r>
              <a:rPr lang="en-US" sz="2000" dirty="0">
                <a:solidFill>
                  <a:srgbClr val="C00000"/>
                </a:solidFill>
              </a:rPr>
              <a:t>			 7 = a + 2(2) </a:t>
            </a:r>
          </a:p>
          <a:p>
            <a:pPr>
              <a:buNone/>
            </a:pPr>
            <a:r>
              <a:rPr lang="en-US" sz="2000" dirty="0">
                <a:solidFill>
                  <a:srgbClr val="C00000"/>
                </a:solidFill>
              </a:rPr>
              <a:t>	</a:t>
            </a:r>
            <a:r>
              <a:rPr lang="en-US" sz="2000" dirty="0"/>
              <a:t> which gives </a:t>
            </a:r>
            <a:r>
              <a:rPr lang="en-US" sz="2000" dirty="0">
                <a:solidFill>
                  <a:srgbClr val="C00000"/>
                </a:solidFill>
              </a:rPr>
              <a:t>a = 3</a:t>
            </a:r>
          </a:p>
          <a:p>
            <a:pPr>
              <a:buNone/>
            </a:pPr>
            <a:endParaRPr lang="en-US" sz="2000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sz="2000" dirty="0"/>
              <a:t>Thus,		</a:t>
            </a:r>
            <a:r>
              <a:rPr lang="en-US" sz="2000" dirty="0">
                <a:solidFill>
                  <a:srgbClr val="C00000"/>
                </a:solidFill>
              </a:rPr>
              <a:t>a</a:t>
            </a:r>
            <a:r>
              <a:rPr lang="en-US" sz="2000" baseline="-25000" dirty="0">
                <a:solidFill>
                  <a:srgbClr val="C00000"/>
                </a:solidFill>
              </a:rPr>
              <a:t>n</a:t>
            </a:r>
            <a:r>
              <a:rPr lang="en-US" sz="2000" dirty="0">
                <a:solidFill>
                  <a:srgbClr val="C00000"/>
                </a:solidFill>
              </a:rPr>
              <a:t> = a + (n - 1) d</a:t>
            </a:r>
          </a:p>
          <a:p>
            <a:pPr>
              <a:buNone/>
            </a:pPr>
            <a:r>
              <a:rPr lang="en-US" sz="2000" dirty="0"/>
              <a:t>			</a:t>
            </a:r>
            <a:r>
              <a:rPr lang="en-US" sz="2000" dirty="0">
                <a:solidFill>
                  <a:srgbClr val="C00000"/>
                </a:solidFill>
              </a:rPr>
              <a:t>a</a:t>
            </a:r>
            <a:r>
              <a:rPr lang="en-US" sz="2000" baseline="-25000" dirty="0">
                <a:solidFill>
                  <a:srgbClr val="C00000"/>
                </a:solidFill>
              </a:rPr>
              <a:t>n</a:t>
            </a:r>
            <a:r>
              <a:rPr lang="en-US" sz="2000" dirty="0">
                <a:solidFill>
                  <a:srgbClr val="C00000"/>
                </a:solidFill>
              </a:rPr>
              <a:t> = 3 + (n - 1) 2</a:t>
            </a:r>
            <a:r>
              <a:rPr lang="en-US" sz="2000" dirty="0"/>
              <a:t>	(using values of a and d)</a:t>
            </a:r>
          </a:p>
          <a:p>
            <a:pPr>
              <a:buNone/>
            </a:pPr>
            <a:r>
              <a:rPr lang="en-US" sz="2000" dirty="0"/>
              <a:t>	</a:t>
            </a:r>
          </a:p>
          <a:p>
            <a:pPr>
              <a:buNone/>
            </a:pPr>
            <a:r>
              <a:rPr lang="en-US" sz="2000" dirty="0"/>
              <a:t>	Hence the value of </a:t>
            </a:r>
            <a:r>
              <a:rPr lang="en-US" sz="2000" dirty="0">
                <a:solidFill>
                  <a:srgbClr val="C00000"/>
                </a:solidFill>
              </a:rPr>
              <a:t>36th</a:t>
            </a:r>
            <a:r>
              <a:rPr lang="en-US" sz="2000" dirty="0"/>
              <a:t> term is</a:t>
            </a:r>
          </a:p>
          <a:p>
            <a:pPr>
              <a:buNone/>
            </a:pPr>
            <a:endParaRPr lang="en-US" sz="2000" dirty="0"/>
          </a:p>
          <a:p>
            <a:pPr>
              <a:buNone/>
            </a:pPr>
            <a:r>
              <a:rPr lang="en-US" sz="2000" dirty="0"/>
              <a:t>	 		</a:t>
            </a:r>
            <a:r>
              <a:rPr lang="en-US" sz="2000" dirty="0">
                <a:solidFill>
                  <a:srgbClr val="C00000"/>
                </a:solidFill>
              </a:rPr>
              <a:t>a</a:t>
            </a:r>
            <a:r>
              <a:rPr lang="en-US" sz="2000" baseline="-25000" dirty="0">
                <a:solidFill>
                  <a:srgbClr val="C00000"/>
                </a:solidFill>
              </a:rPr>
              <a:t>36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/>
              <a:t>=</a:t>
            </a:r>
            <a:r>
              <a:rPr lang="en-US" sz="2000" dirty="0">
                <a:solidFill>
                  <a:srgbClr val="C00000"/>
                </a:solidFill>
              </a:rPr>
              <a:t> 3 + (36 - 1) 2</a:t>
            </a:r>
          </a:p>
          <a:p>
            <a:pPr>
              <a:buNone/>
            </a:pPr>
            <a:r>
              <a:rPr lang="en-US" sz="2000" dirty="0"/>
              <a:t>			     = </a:t>
            </a:r>
            <a:r>
              <a:rPr lang="en-US" sz="2000" dirty="0">
                <a:solidFill>
                  <a:srgbClr val="C00000"/>
                </a:solidFill>
              </a:rPr>
              <a:t>3 + 70</a:t>
            </a:r>
          </a:p>
          <a:p>
            <a:pPr>
              <a:buNone/>
            </a:pPr>
            <a:r>
              <a:rPr lang="en-US" sz="2000" dirty="0"/>
              <a:t>			     = </a:t>
            </a:r>
            <a:r>
              <a:rPr lang="en-US" sz="2000" dirty="0">
                <a:solidFill>
                  <a:srgbClr val="C00000"/>
                </a:solidFill>
              </a:rPr>
              <a:t>73</a:t>
            </a:r>
          </a:p>
          <a:p>
            <a:pPr>
              <a:buNone/>
            </a:pPr>
            <a:endParaRPr lang="en-US" sz="2000" dirty="0"/>
          </a:p>
          <a:p>
            <a:pPr>
              <a:buNone/>
            </a:pPr>
            <a:endParaRPr lang="en-US" sz="2000" dirty="0"/>
          </a:p>
          <a:p>
            <a:pPr>
              <a:buNone/>
            </a:pPr>
            <a:endParaRPr lang="en-US" sz="2000" dirty="0"/>
          </a:p>
          <a:p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776" y="5"/>
            <a:ext cx="10515600" cy="1087157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>
                <a:solidFill>
                  <a:srgbClr val="0070C0"/>
                </a:solidFill>
              </a:rPr>
              <a:t>GEOMETRIC SEQUENCE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23229" y="948825"/>
            <a:ext cx="10996736" cy="49603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A </a:t>
            </a:r>
            <a:r>
              <a:rPr lang="en-US" sz="2400" dirty="0">
                <a:solidFill>
                  <a:srgbClr val="C00000"/>
                </a:solidFill>
              </a:rPr>
              <a:t>sequence</a:t>
            </a:r>
            <a:r>
              <a:rPr lang="en-US" sz="2400" dirty="0"/>
              <a:t> in which </a:t>
            </a:r>
            <a:r>
              <a:rPr lang="en-US" sz="2400" dirty="0">
                <a:solidFill>
                  <a:srgbClr val="C00000"/>
                </a:solidFill>
              </a:rPr>
              <a:t>every term </a:t>
            </a:r>
            <a:r>
              <a:rPr lang="en-US" sz="2400" dirty="0"/>
              <a:t>after the first is obtained from the </a:t>
            </a:r>
            <a:r>
              <a:rPr lang="en-US" sz="2400" dirty="0">
                <a:solidFill>
                  <a:srgbClr val="C00000"/>
                </a:solidFill>
              </a:rPr>
              <a:t>preceding</a:t>
            </a:r>
            <a:r>
              <a:rPr lang="en-US" sz="2400" dirty="0"/>
              <a:t> term by </a:t>
            </a:r>
            <a:r>
              <a:rPr lang="en-US" sz="2400" dirty="0">
                <a:solidFill>
                  <a:srgbClr val="C00000"/>
                </a:solidFill>
              </a:rPr>
              <a:t>multiplying</a:t>
            </a:r>
            <a:r>
              <a:rPr lang="en-US" sz="2400" dirty="0"/>
              <a:t> it with a </a:t>
            </a:r>
            <a:r>
              <a:rPr lang="en-US" sz="2400" dirty="0">
                <a:solidFill>
                  <a:srgbClr val="C00000"/>
                </a:solidFill>
              </a:rPr>
              <a:t>constant number</a:t>
            </a:r>
            <a:r>
              <a:rPr lang="en-US" sz="2400" dirty="0"/>
              <a:t> is called a </a:t>
            </a:r>
            <a:r>
              <a:rPr lang="en-US" sz="2400" dirty="0">
                <a:solidFill>
                  <a:srgbClr val="C00000"/>
                </a:solidFill>
              </a:rPr>
              <a:t>geometric sequence </a:t>
            </a:r>
            <a:r>
              <a:rPr lang="en-US" sz="2400" dirty="0"/>
              <a:t>or </a:t>
            </a:r>
            <a:r>
              <a:rPr lang="en-US" sz="2400" dirty="0">
                <a:solidFill>
                  <a:srgbClr val="C00000"/>
                </a:solidFill>
              </a:rPr>
              <a:t>geometric progression (G.P.)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The </a:t>
            </a:r>
            <a:r>
              <a:rPr lang="en-US" sz="2400" dirty="0">
                <a:solidFill>
                  <a:srgbClr val="C00000"/>
                </a:solidFill>
              </a:rPr>
              <a:t>constant number</a:t>
            </a:r>
            <a:r>
              <a:rPr lang="en-US" sz="2400" dirty="0"/>
              <a:t>, being the ratio of any two </a:t>
            </a:r>
            <a:r>
              <a:rPr lang="en-US" sz="2400" dirty="0">
                <a:solidFill>
                  <a:srgbClr val="C00000"/>
                </a:solidFill>
              </a:rPr>
              <a:t>consecutive terms </a:t>
            </a:r>
            <a:r>
              <a:rPr lang="en-US" sz="2400" dirty="0"/>
              <a:t>is called the </a:t>
            </a:r>
            <a:r>
              <a:rPr lang="en-US" sz="2400" dirty="0">
                <a:solidFill>
                  <a:srgbClr val="C00000"/>
                </a:solidFill>
              </a:rPr>
              <a:t>common ratio </a:t>
            </a:r>
            <a:r>
              <a:rPr lang="en-US" sz="2400" dirty="0"/>
              <a:t>of the </a:t>
            </a:r>
            <a:r>
              <a:rPr lang="en-US" sz="2400" dirty="0">
                <a:solidFill>
                  <a:srgbClr val="C00000"/>
                </a:solidFill>
              </a:rPr>
              <a:t>G.P.</a:t>
            </a:r>
            <a:r>
              <a:rPr lang="en-US" sz="2400" dirty="0"/>
              <a:t> commonly denoted by “</a:t>
            </a:r>
            <a:r>
              <a:rPr lang="en-US" sz="2400" dirty="0">
                <a:solidFill>
                  <a:srgbClr val="C00000"/>
                </a:solidFill>
              </a:rPr>
              <a:t>r</a:t>
            </a:r>
            <a:r>
              <a:rPr lang="en-US" sz="2400" dirty="0"/>
              <a:t>”.</a:t>
            </a:r>
          </a:p>
          <a:p>
            <a:endParaRPr lang="en-US" sz="2400" dirty="0"/>
          </a:p>
          <a:p>
            <a:pPr marL="0" indent="0">
              <a:spcBef>
                <a:spcPct val="50000"/>
              </a:spcBef>
              <a:buNone/>
            </a:pPr>
            <a:r>
              <a:rPr lang="en-US" sz="2400" b="1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EXAMPLES</a:t>
            </a:r>
          </a:p>
          <a:p>
            <a:pPr>
              <a:buNone/>
            </a:pPr>
            <a:r>
              <a:rPr lang="en-US" sz="2400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</a:rPr>
              <a:t>1, 2, 4, 8, 16, …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			(</a:t>
            </a:r>
            <a:r>
              <a:rPr lang="en-US" sz="2400" dirty="0"/>
              <a:t>First Term = </a:t>
            </a:r>
            <a:r>
              <a:rPr lang="en-US" sz="2400" b="1" dirty="0">
                <a:solidFill>
                  <a:srgbClr val="C00000"/>
                </a:solidFill>
              </a:rPr>
              <a:t>1; </a:t>
            </a:r>
            <a:r>
              <a:rPr lang="en-US" sz="2400" dirty="0"/>
              <a:t>Common Ration = </a:t>
            </a:r>
            <a:r>
              <a:rPr lang="en-US" sz="2400" b="1" dirty="0">
                <a:solidFill>
                  <a:srgbClr val="C00000"/>
                </a:solidFill>
              </a:rPr>
              <a:t>2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)</a:t>
            </a:r>
          </a:p>
          <a:p>
            <a:pPr marL="0" indent="0">
              <a:spcBef>
                <a:spcPct val="50000"/>
              </a:spcBef>
              <a:buNone/>
            </a:pPr>
            <a:r>
              <a:rPr lang="en-US" sz="2400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</a:rPr>
              <a:t>3, - 3/2, 3/4, - 3/8, …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			(</a:t>
            </a:r>
            <a:r>
              <a:rPr lang="en-US" sz="2400" dirty="0"/>
              <a:t>First Term = </a:t>
            </a:r>
            <a:r>
              <a:rPr lang="en-US" sz="2400" b="1" dirty="0">
                <a:solidFill>
                  <a:srgbClr val="C00000"/>
                </a:solidFill>
              </a:rPr>
              <a:t>3; </a:t>
            </a:r>
            <a:r>
              <a:rPr lang="en-US" sz="2400" dirty="0"/>
              <a:t>Common Ration = </a:t>
            </a:r>
            <a:r>
              <a:rPr lang="en-US" sz="2400" b="1" dirty="0">
                <a:solidFill>
                  <a:srgbClr val="C00000"/>
                </a:solidFill>
              </a:rPr>
              <a:t>-1/2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)</a:t>
            </a:r>
          </a:p>
          <a:p>
            <a:pPr marL="0" indent="0">
              <a:spcBef>
                <a:spcPct val="50000"/>
              </a:spcBef>
              <a:buNone/>
            </a:pPr>
            <a:r>
              <a:rPr lang="en-US" sz="2400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</a:rPr>
              <a:t>0.1, 0.01, 0.001, 0.0001, …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		(</a:t>
            </a:r>
            <a:r>
              <a:rPr lang="en-US" sz="2400" dirty="0"/>
              <a:t>First Term = </a:t>
            </a:r>
            <a:r>
              <a:rPr lang="en-US" sz="2400" b="1" dirty="0">
                <a:solidFill>
                  <a:srgbClr val="C00000"/>
                </a:solidFill>
              </a:rPr>
              <a:t>0.1; </a:t>
            </a:r>
            <a:r>
              <a:rPr lang="en-US" sz="2400" dirty="0"/>
              <a:t>Common Ration = </a:t>
            </a:r>
            <a:r>
              <a:rPr lang="en-US" sz="2400" b="1" dirty="0">
                <a:solidFill>
                  <a:srgbClr val="C00000"/>
                </a:solidFill>
              </a:rPr>
              <a:t>1/10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776" y="136525"/>
            <a:ext cx="10515600" cy="722037"/>
          </a:xfrm>
        </p:spPr>
        <p:txBody>
          <a:bodyPr>
            <a:noAutofit/>
          </a:bodyPr>
          <a:lstStyle/>
          <a:p>
            <a:pPr algn="ctr"/>
            <a:r>
              <a:rPr lang="en-US" sz="3600" b="1" u="sng" dirty="0">
                <a:solidFill>
                  <a:srgbClr val="0070C0"/>
                </a:solidFill>
              </a:rPr>
              <a:t>GENERAL TERM OF A GEOMETRIC SEQUENCE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179575" y="1250576"/>
            <a:ext cx="10515601" cy="51502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Let </a:t>
            </a:r>
            <a:r>
              <a:rPr lang="en-US" sz="2400" b="1" dirty="0">
                <a:solidFill>
                  <a:srgbClr val="C00000"/>
                </a:solidFill>
              </a:rPr>
              <a:t>a</a:t>
            </a:r>
            <a:r>
              <a:rPr lang="en-US" sz="2400" dirty="0"/>
              <a:t> be the </a:t>
            </a:r>
            <a:r>
              <a:rPr lang="en-US" sz="2400" dirty="0">
                <a:solidFill>
                  <a:srgbClr val="C00000"/>
                </a:solidFill>
              </a:rPr>
              <a:t>first tem </a:t>
            </a:r>
            <a:r>
              <a:rPr lang="en-US" sz="2400" dirty="0"/>
              <a:t>and </a:t>
            </a:r>
            <a:r>
              <a:rPr lang="en-US" sz="2400" b="1" dirty="0">
                <a:solidFill>
                  <a:srgbClr val="C00000"/>
                </a:solidFill>
              </a:rPr>
              <a:t>r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be the common ratio of a </a:t>
            </a:r>
            <a:r>
              <a:rPr lang="en-US" sz="2400" dirty="0">
                <a:solidFill>
                  <a:srgbClr val="C00000"/>
                </a:solidFill>
              </a:rPr>
              <a:t>geometric sequence</a:t>
            </a:r>
            <a:r>
              <a:rPr lang="en-US" sz="2400" dirty="0"/>
              <a:t>. </a:t>
            </a:r>
          </a:p>
          <a:p>
            <a:pPr marL="0" indent="0">
              <a:buNone/>
            </a:pPr>
            <a:r>
              <a:rPr lang="en-US" sz="2400" dirty="0"/>
              <a:t>Then the </a:t>
            </a:r>
            <a:r>
              <a:rPr lang="en-US" sz="2400" dirty="0">
                <a:solidFill>
                  <a:srgbClr val="C00000"/>
                </a:solidFill>
              </a:rPr>
              <a:t>sequence</a:t>
            </a:r>
            <a:r>
              <a:rPr lang="en-US" sz="2400" dirty="0"/>
              <a:t> is </a:t>
            </a:r>
          </a:p>
          <a:p>
            <a:pPr algn="ctr">
              <a:buNone/>
            </a:pPr>
            <a:r>
              <a:rPr lang="en-US" sz="2400" dirty="0"/>
              <a:t>	</a:t>
            </a:r>
            <a:r>
              <a:rPr lang="en-US" sz="2400" dirty="0">
                <a:solidFill>
                  <a:srgbClr val="C00000"/>
                </a:solidFill>
              </a:rPr>
              <a:t>a</a:t>
            </a:r>
            <a:r>
              <a:rPr lang="en-US" sz="2400" dirty="0"/>
              <a:t> , </a:t>
            </a:r>
            <a:r>
              <a:rPr lang="en-US" sz="2400" dirty="0" err="1">
                <a:solidFill>
                  <a:srgbClr val="C00000"/>
                </a:solidFill>
              </a:rPr>
              <a:t>ar</a:t>
            </a:r>
            <a:r>
              <a:rPr lang="en-US" sz="2400" dirty="0"/>
              <a:t> , </a:t>
            </a:r>
            <a:r>
              <a:rPr lang="en-US" sz="2400" dirty="0">
                <a:solidFill>
                  <a:srgbClr val="C00000"/>
                </a:solidFill>
              </a:rPr>
              <a:t>ar</a:t>
            </a:r>
            <a:r>
              <a:rPr lang="en-US" sz="2400" baseline="30000" dirty="0">
                <a:solidFill>
                  <a:srgbClr val="C00000"/>
                </a:solidFill>
              </a:rPr>
              <a:t>2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C00000"/>
                </a:solidFill>
              </a:rPr>
              <a:t>ar</a:t>
            </a:r>
            <a:r>
              <a:rPr lang="en-US" sz="2400" baseline="30000" dirty="0">
                <a:solidFill>
                  <a:srgbClr val="C00000"/>
                </a:solidFill>
              </a:rPr>
              <a:t>3</a:t>
            </a:r>
            <a:r>
              <a:rPr lang="en-US" sz="2400" dirty="0"/>
              <a:t>, … </a:t>
            </a:r>
          </a:p>
          <a:p>
            <a:endParaRPr lang="en-US" sz="2400" dirty="0"/>
          </a:p>
          <a:p>
            <a:pPr>
              <a:buNone/>
            </a:pPr>
            <a:r>
              <a:rPr lang="en-US" sz="2400" dirty="0"/>
              <a:t>		</a:t>
            </a:r>
            <a:r>
              <a:rPr lang="en-US" sz="2400" dirty="0">
                <a:solidFill>
                  <a:srgbClr val="C00000"/>
                </a:solidFill>
              </a:rPr>
              <a:t>a</a:t>
            </a:r>
            <a:r>
              <a:rPr lang="en-US" sz="2400" baseline="-25000" dirty="0">
                <a:solidFill>
                  <a:srgbClr val="C00000"/>
                </a:solidFill>
              </a:rPr>
              <a:t>1</a:t>
            </a:r>
            <a:r>
              <a:rPr lang="en-US" sz="2400" dirty="0"/>
              <a:t> = first term </a:t>
            </a:r>
            <a:r>
              <a:rPr lang="en-US" sz="2400" dirty="0">
                <a:solidFill>
                  <a:srgbClr val="C00000"/>
                </a:solidFill>
              </a:rPr>
              <a:t>= a = ar</a:t>
            </a:r>
            <a:r>
              <a:rPr lang="en-US" sz="2400" baseline="30000" dirty="0">
                <a:solidFill>
                  <a:srgbClr val="C00000"/>
                </a:solidFill>
              </a:rPr>
              <a:t>1-1</a:t>
            </a:r>
            <a:endParaRPr lang="en-US" sz="2400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sz="2400" dirty="0"/>
              <a:t>		</a:t>
            </a:r>
            <a:r>
              <a:rPr lang="en-US" sz="2400" dirty="0">
                <a:solidFill>
                  <a:srgbClr val="C00000"/>
                </a:solidFill>
              </a:rPr>
              <a:t>a</a:t>
            </a:r>
            <a:r>
              <a:rPr lang="en-US" sz="2400" baseline="-25000" dirty="0">
                <a:solidFill>
                  <a:srgbClr val="C00000"/>
                </a:solidFill>
              </a:rPr>
              <a:t>2</a:t>
            </a:r>
            <a:r>
              <a:rPr lang="en-US" sz="2400" dirty="0"/>
              <a:t> = second term </a:t>
            </a:r>
            <a:r>
              <a:rPr lang="en-US" sz="2400" dirty="0">
                <a:solidFill>
                  <a:srgbClr val="C00000"/>
                </a:solidFill>
              </a:rPr>
              <a:t>= </a:t>
            </a:r>
            <a:r>
              <a:rPr lang="en-US" sz="2400" dirty="0" err="1">
                <a:solidFill>
                  <a:srgbClr val="C00000"/>
                </a:solidFill>
              </a:rPr>
              <a:t>ar</a:t>
            </a:r>
            <a:r>
              <a:rPr lang="en-US" sz="2400" dirty="0">
                <a:solidFill>
                  <a:srgbClr val="C00000"/>
                </a:solidFill>
              </a:rPr>
              <a:t> = ar</a:t>
            </a:r>
            <a:r>
              <a:rPr lang="en-US" sz="2400" baseline="30000" dirty="0">
                <a:solidFill>
                  <a:srgbClr val="C00000"/>
                </a:solidFill>
              </a:rPr>
              <a:t>2-1</a:t>
            </a:r>
            <a:endParaRPr lang="en-US" sz="2400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sz="2400" dirty="0"/>
              <a:t>		</a:t>
            </a:r>
            <a:r>
              <a:rPr lang="en-US" sz="2400" dirty="0">
                <a:solidFill>
                  <a:srgbClr val="C00000"/>
                </a:solidFill>
              </a:rPr>
              <a:t>a</a:t>
            </a:r>
            <a:r>
              <a:rPr lang="en-US" sz="2400" baseline="-25000" dirty="0">
                <a:solidFill>
                  <a:srgbClr val="C00000"/>
                </a:solidFill>
              </a:rPr>
              <a:t>3</a:t>
            </a:r>
            <a:r>
              <a:rPr lang="en-US" sz="2400" dirty="0"/>
              <a:t> = third term </a:t>
            </a:r>
            <a:r>
              <a:rPr lang="en-US" sz="2400" dirty="0">
                <a:solidFill>
                  <a:srgbClr val="C00000"/>
                </a:solidFill>
              </a:rPr>
              <a:t>= ar</a:t>
            </a:r>
            <a:r>
              <a:rPr lang="en-US" sz="2400" baseline="30000" dirty="0">
                <a:solidFill>
                  <a:srgbClr val="C00000"/>
                </a:solidFill>
              </a:rPr>
              <a:t>2</a:t>
            </a:r>
            <a:r>
              <a:rPr lang="en-US" sz="2400" dirty="0">
                <a:solidFill>
                  <a:srgbClr val="C00000"/>
                </a:solidFill>
              </a:rPr>
              <a:t> = ar</a:t>
            </a:r>
            <a:r>
              <a:rPr lang="en-US" sz="2400" baseline="30000" dirty="0">
                <a:solidFill>
                  <a:srgbClr val="C00000"/>
                </a:solidFill>
              </a:rPr>
              <a:t>3-1</a:t>
            </a:r>
            <a:endParaRPr lang="en-US" sz="2400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sz="2400" dirty="0"/>
              <a:t>			………………</a:t>
            </a:r>
          </a:p>
          <a:p>
            <a:pPr>
              <a:buNone/>
            </a:pPr>
            <a:r>
              <a:rPr lang="en-US" sz="2400" dirty="0"/>
              <a:t>			………………</a:t>
            </a:r>
          </a:p>
          <a:p>
            <a:pPr>
              <a:buNone/>
            </a:pPr>
            <a:r>
              <a:rPr lang="en-US" sz="2400" dirty="0"/>
              <a:t>		</a:t>
            </a:r>
            <a:r>
              <a:rPr lang="en-US" sz="2400" dirty="0">
                <a:solidFill>
                  <a:srgbClr val="C00000"/>
                </a:solidFill>
              </a:rPr>
              <a:t>a</a:t>
            </a:r>
            <a:r>
              <a:rPr lang="en-US" sz="2400" baseline="-25000" dirty="0">
                <a:solidFill>
                  <a:srgbClr val="C00000"/>
                </a:solidFill>
              </a:rPr>
              <a:t>n</a:t>
            </a:r>
            <a:r>
              <a:rPr lang="en-US" sz="2400" dirty="0">
                <a:solidFill>
                  <a:srgbClr val="C00000"/>
                </a:solidFill>
              </a:rPr>
              <a:t> = nth term = ar</a:t>
            </a:r>
            <a:r>
              <a:rPr lang="en-US" sz="2400" baseline="30000" dirty="0">
                <a:solidFill>
                  <a:srgbClr val="C00000"/>
                </a:solidFill>
              </a:rPr>
              <a:t>n-1</a:t>
            </a:r>
            <a:r>
              <a:rPr lang="en-US" sz="2400" dirty="0">
                <a:solidFill>
                  <a:srgbClr val="C00000"/>
                </a:solidFill>
              </a:rPr>
              <a:t>;</a:t>
            </a:r>
            <a:r>
              <a:rPr lang="en-US" sz="2400" dirty="0"/>
              <a:t>	for all integers </a:t>
            </a:r>
            <a:r>
              <a:rPr lang="en-US" sz="2400" dirty="0">
                <a:solidFill>
                  <a:srgbClr val="C00000"/>
                </a:solidFill>
              </a:rPr>
              <a:t>n </a:t>
            </a:r>
            <a:r>
              <a:rPr lang="en-US" sz="2400" dirty="0">
                <a:solidFill>
                  <a:srgbClr val="C00000"/>
                </a:solidFill>
                <a:sym typeface="Symbol"/>
              </a:rPr>
              <a:t></a:t>
            </a:r>
            <a:r>
              <a:rPr lang="en-US" sz="2400" dirty="0">
                <a:solidFill>
                  <a:srgbClr val="C00000"/>
                </a:solidFill>
              </a:rPr>
              <a:t> 1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2943" y="1"/>
            <a:ext cx="10515600" cy="995082"/>
          </a:xfrm>
        </p:spPr>
        <p:txBody>
          <a:bodyPr>
            <a:normAutofit/>
          </a:bodyPr>
          <a:lstStyle/>
          <a:p>
            <a:pPr algn="ctr"/>
            <a:r>
              <a:rPr lang="en-US" sz="3600" b="1" u="sng" dirty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981199" y="1219199"/>
            <a:ext cx="9610165" cy="52757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Find the </a:t>
            </a:r>
            <a:r>
              <a:rPr lang="en-US" sz="2400" dirty="0">
                <a:solidFill>
                  <a:srgbClr val="C00000"/>
                </a:solidFill>
              </a:rPr>
              <a:t>8th</a:t>
            </a:r>
            <a:r>
              <a:rPr lang="en-US" sz="2400" dirty="0"/>
              <a:t> term of the following </a:t>
            </a:r>
            <a:r>
              <a:rPr lang="en-US" sz="2400" dirty="0">
                <a:solidFill>
                  <a:srgbClr val="C00000"/>
                </a:solidFill>
              </a:rPr>
              <a:t>geometric sequence </a:t>
            </a:r>
          </a:p>
          <a:p>
            <a:pPr>
              <a:buNone/>
            </a:pPr>
            <a:r>
              <a:rPr lang="en-US" sz="2400" dirty="0"/>
              <a:t>				</a:t>
            </a:r>
            <a:r>
              <a:rPr lang="en-US" sz="2400" dirty="0">
                <a:solidFill>
                  <a:srgbClr val="C00000"/>
                </a:solidFill>
              </a:rPr>
              <a:t>4, 12, 36, 108, …</a:t>
            </a:r>
          </a:p>
          <a:p>
            <a:pPr marL="0" indent="0">
              <a:buNone/>
            </a:pPr>
            <a:r>
              <a:rPr lang="en-US" sz="2400" b="1" u="sng" dirty="0">
                <a:solidFill>
                  <a:srgbClr val="C00000"/>
                </a:solidFill>
              </a:rPr>
              <a:t>SOLUTION:</a:t>
            </a:r>
          </a:p>
          <a:p>
            <a:pPr>
              <a:buNone/>
            </a:pPr>
            <a:r>
              <a:rPr lang="en-US" sz="2400" dirty="0"/>
              <a:t>	Here 		</a:t>
            </a:r>
            <a:r>
              <a:rPr lang="en-US" sz="2400" dirty="0">
                <a:solidFill>
                  <a:srgbClr val="C00000"/>
                </a:solidFill>
              </a:rPr>
              <a:t>a</a:t>
            </a:r>
            <a:r>
              <a:rPr lang="en-US" sz="2400" dirty="0"/>
              <a:t> = first term = </a:t>
            </a:r>
            <a:r>
              <a:rPr lang="en-US" sz="2400" dirty="0">
                <a:solidFill>
                  <a:srgbClr val="C00000"/>
                </a:solidFill>
              </a:rPr>
              <a:t>4</a:t>
            </a:r>
          </a:p>
          <a:p>
            <a:pPr>
              <a:buNone/>
            </a:pPr>
            <a:r>
              <a:rPr lang="en-US" sz="2400" dirty="0"/>
              <a:t>				</a:t>
            </a:r>
            <a:r>
              <a:rPr lang="en-US" sz="2400" dirty="0">
                <a:solidFill>
                  <a:srgbClr val="C00000"/>
                </a:solidFill>
              </a:rPr>
              <a:t>r </a:t>
            </a:r>
            <a:r>
              <a:rPr lang="en-US" sz="2400" dirty="0"/>
              <a:t>= common ratio =      = </a:t>
            </a:r>
            <a:r>
              <a:rPr lang="en-US" sz="2400" dirty="0">
                <a:solidFill>
                  <a:srgbClr val="C00000"/>
                </a:solidFill>
              </a:rPr>
              <a:t>3</a:t>
            </a:r>
          </a:p>
          <a:p>
            <a:pPr>
              <a:buNone/>
            </a:pPr>
            <a:r>
              <a:rPr lang="en-US" sz="2400" dirty="0"/>
              <a:t>				</a:t>
            </a:r>
            <a:r>
              <a:rPr lang="en-US" sz="2400" dirty="0">
                <a:solidFill>
                  <a:srgbClr val="C00000"/>
                </a:solidFill>
              </a:rPr>
              <a:t>n </a:t>
            </a:r>
            <a:r>
              <a:rPr lang="en-US" sz="2400" dirty="0"/>
              <a:t>= term number = </a:t>
            </a:r>
            <a:r>
              <a:rPr lang="en-US" sz="2400" dirty="0">
                <a:solidFill>
                  <a:srgbClr val="C00000"/>
                </a:solidFill>
              </a:rPr>
              <a:t>8</a:t>
            </a:r>
          </a:p>
          <a:p>
            <a:pPr>
              <a:buNone/>
            </a:pPr>
            <a:r>
              <a:rPr lang="en-US" sz="2400" dirty="0"/>
              <a:t>				</a:t>
            </a:r>
            <a:r>
              <a:rPr lang="en-US" sz="2400" dirty="0">
                <a:solidFill>
                  <a:srgbClr val="C00000"/>
                </a:solidFill>
              </a:rPr>
              <a:t>a</a:t>
            </a:r>
            <a:r>
              <a:rPr lang="en-US" sz="2400" baseline="-25000" dirty="0">
                <a:solidFill>
                  <a:srgbClr val="C00000"/>
                </a:solidFill>
              </a:rPr>
              <a:t>8</a:t>
            </a:r>
            <a:r>
              <a:rPr lang="en-US" sz="2400" dirty="0">
                <a:solidFill>
                  <a:srgbClr val="C00000"/>
                </a:solidFill>
              </a:rPr>
              <a:t> = value of 8th term = ?</a:t>
            </a:r>
          </a:p>
          <a:p>
            <a:pPr>
              <a:buNone/>
            </a:pPr>
            <a:r>
              <a:rPr lang="en-US" sz="2400" dirty="0">
                <a:solidFill>
                  <a:srgbClr val="C00000"/>
                </a:solidFill>
              </a:rPr>
              <a:t>	</a:t>
            </a:r>
            <a:r>
              <a:rPr lang="en-US" sz="2400" dirty="0"/>
              <a:t>Since		</a:t>
            </a:r>
            <a:r>
              <a:rPr lang="en-US" sz="2400" b="1" dirty="0">
                <a:solidFill>
                  <a:srgbClr val="C00000"/>
                </a:solidFill>
              </a:rPr>
              <a:t>a</a:t>
            </a:r>
            <a:r>
              <a:rPr lang="en-US" sz="2400" b="1" baseline="-25000" dirty="0">
                <a:solidFill>
                  <a:srgbClr val="C00000"/>
                </a:solidFill>
              </a:rPr>
              <a:t>n</a:t>
            </a:r>
            <a:r>
              <a:rPr lang="en-US" sz="2400" b="1" dirty="0">
                <a:solidFill>
                  <a:srgbClr val="C00000"/>
                </a:solidFill>
              </a:rPr>
              <a:t> = ar</a:t>
            </a:r>
            <a:r>
              <a:rPr lang="en-US" sz="2400" b="1" baseline="30000" dirty="0">
                <a:solidFill>
                  <a:srgbClr val="C00000"/>
                </a:solidFill>
              </a:rPr>
              <a:t>n-1</a:t>
            </a:r>
            <a:r>
              <a:rPr lang="en-US" sz="2400" dirty="0"/>
              <a:t>		n </a:t>
            </a:r>
            <a:r>
              <a:rPr lang="en-US" sz="2400" dirty="0">
                <a:sym typeface="Symbol"/>
              </a:rPr>
              <a:t></a:t>
            </a:r>
            <a:r>
              <a:rPr lang="en-US" sz="2400" dirty="0"/>
              <a:t> 1</a:t>
            </a:r>
          </a:p>
          <a:p>
            <a:pPr>
              <a:buNone/>
            </a:pPr>
            <a:r>
              <a:rPr lang="en-US" sz="2400" dirty="0">
                <a:solidFill>
                  <a:srgbClr val="C00000"/>
                </a:solidFill>
                <a:sym typeface="Symbol"/>
              </a:rPr>
              <a:t>			</a:t>
            </a:r>
            <a:r>
              <a:rPr lang="en-US" sz="2400" dirty="0">
                <a:sym typeface="Symbol"/>
              </a:rPr>
              <a:t></a:t>
            </a:r>
            <a:r>
              <a:rPr lang="en-US" sz="2400" dirty="0"/>
              <a:t>	</a:t>
            </a:r>
            <a:r>
              <a:rPr lang="en-US" sz="2400" dirty="0">
                <a:solidFill>
                  <a:srgbClr val="C00000"/>
                </a:solidFill>
              </a:rPr>
              <a:t>a</a:t>
            </a:r>
            <a:r>
              <a:rPr lang="en-US" sz="2400" baseline="-25000" dirty="0">
                <a:solidFill>
                  <a:srgbClr val="C00000"/>
                </a:solidFill>
              </a:rPr>
              <a:t>8</a:t>
            </a:r>
            <a:r>
              <a:rPr lang="en-US" sz="2400" dirty="0"/>
              <a:t> = (4)(3)</a:t>
            </a:r>
            <a:r>
              <a:rPr lang="en-US" sz="2400" baseline="30000" dirty="0"/>
              <a:t>8-1</a:t>
            </a:r>
            <a:endParaRPr lang="en-US" sz="2400" dirty="0"/>
          </a:p>
          <a:p>
            <a:pPr>
              <a:buNone/>
            </a:pPr>
            <a:r>
              <a:rPr lang="en-US" sz="2400" dirty="0"/>
              <a:t>				    = 4 .(2187)</a:t>
            </a:r>
          </a:p>
          <a:p>
            <a:pPr>
              <a:buNone/>
            </a:pPr>
            <a:r>
              <a:rPr lang="en-US" sz="2400" dirty="0"/>
              <a:t>			              =</a:t>
            </a:r>
            <a:r>
              <a:rPr lang="en-US" sz="2400" dirty="0">
                <a:solidFill>
                  <a:srgbClr val="C00000"/>
                </a:solidFill>
              </a:rPr>
              <a:t> 8748</a:t>
            </a:r>
          </a:p>
          <a:p>
            <a:pPr>
              <a:buNone/>
            </a:pPr>
            <a:endParaRPr lang="en-US" sz="2400" dirty="0">
              <a:solidFill>
                <a:srgbClr val="C00000"/>
              </a:solidFill>
            </a:endParaRPr>
          </a:p>
          <a:p>
            <a:endParaRPr lang="en-US" sz="2400" b="1" u="sng" dirty="0"/>
          </a:p>
          <a:p>
            <a:endParaRPr lang="en-US" sz="2400" dirty="0"/>
          </a:p>
          <a:p>
            <a:endParaRPr lang="en-US" sz="2400" dirty="0"/>
          </a:p>
        </p:txBody>
      </p:sp>
      <p:graphicFrame>
        <p:nvGraphicFramePr>
          <p:cNvPr id="9728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2347044"/>
              </p:ext>
            </p:extLst>
          </p:nvPr>
        </p:nvGraphicFramePr>
        <p:xfrm>
          <a:off x="7310718" y="2967318"/>
          <a:ext cx="355600" cy="6191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56" r:id="rId3" imgW="203040" imgH="393480" progId="">
                  <p:embed/>
                </p:oleObj>
              </mc:Choice>
              <mc:Fallback>
                <p:oleObj r:id="rId3" imgW="203040" imgH="393480" progId="">
                  <p:embed/>
                  <p:pic>
                    <p:nvPicPr>
                      <p:cNvPr id="9728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0718" y="2967318"/>
                        <a:ext cx="355600" cy="61912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54515" y="829233"/>
            <a:ext cx="10965450" cy="601979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dirty="0"/>
              <a:t>Which term of the </a:t>
            </a:r>
            <a:r>
              <a:rPr lang="en-US" sz="2400" dirty="0">
                <a:solidFill>
                  <a:srgbClr val="C00000"/>
                </a:solidFill>
              </a:rPr>
              <a:t>geometric sequence </a:t>
            </a:r>
            <a:r>
              <a:rPr lang="en-US" sz="2400" dirty="0"/>
              <a:t>is </a:t>
            </a:r>
            <a:r>
              <a:rPr lang="en-US" sz="2400" dirty="0">
                <a:solidFill>
                  <a:srgbClr val="C00000"/>
                </a:solidFill>
              </a:rPr>
              <a:t>1/8</a:t>
            </a:r>
            <a:r>
              <a:rPr lang="en-US" sz="2400" dirty="0"/>
              <a:t> if the </a:t>
            </a:r>
            <a:r>
              <a:rPr lang="en-US" sz="2400" dirty="0">
                <a:solidFill>
                  <a:srgbClr val="C00000"/>
                </a:solidFill>
              </a:rPr>
              <a:t>first term</a:t>
            </a:r>
            <a:r>
              <a:rPr lang="en-US" sz="2400" dirty="0"/>
              <a:t> is </a:t>
            </a:r>
            <a:r>
              <a:rPr lang="en-US" sz="2400" dirty="0">
                <a:solidFill>
                  <a:srgbClr val="C00000"/>
                </a:solidFill>
              </a:rPr>
              <a:t>4</a:t>
            </a:r>
            <a:r>
              <a:rPr lang="en-US" sz="2400" dirty="0"/>
              <a:t> and common ratio </a:t>
            </a:r>
            <a:r>
              <a:rPr lang="en-US" sz="2400" dirty="0">
                <a:solidFill>
                  <a:srgbClr val="C00000"/>
                </a:solidFill>
              </a:rPr>
              <a:t>½</a:t>
            </a:r>
          </a:p>
          <a:p>
            <a:endParaRPr lang="en-US" sz="24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2400" b="1" u="sng" dirty="0">
                <a:solidFill>
                  <a:srgbClr val="C00000"/>
                </a:solidFill>
              </a:rPr>
              <a:t>SOLUTION:</a:t>
            </a:r>
            <a:endParaRPr lang="en-US" sz="2400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sz="2400" dirty="0"/>
              <a:t>	Given	</a:t>
            </a:r>
            <a:r>
              <a:rPr lang="en-US" sz="2400" dirty="0">
                <a:solidFill>
                  <a:srgbClr val="C00000"/>
                </a:solidFill>
              </a:rPr>
              <a:t>a </a:t>
            </a:r>
            <a:r>
              <a:rPr lang="en-US" sz="2400" dirty="0"/>
              <a:t>= first term = </a:t>
            </a:r>
            <a:r>
              <a:rPr lang="en-US" sz="2400" dirty="0">
                <a:solidFill>
                  <a:srgbClr val="C00000"/>
                </a:solidFill>
              </a:rPr>
              <a:t>4</a:t>
            </a:r>
            <a:r>
              <a:rPr lang="en-US" sz="2400" dirty="0"/>
              <a:t>			</a:t>
            </a:r>
            <a:r>
              <a:rPr lang="en-US" sz="2400" dirty="0">
                <a:solidFill>
                  <a:srgbClr val="C00000"/>
                </a:solidFill>
              </a:rPr>
              <a:t>r</a:t>
            </a:r>
            <a:r>
              <a:rPr lang="en-US" sz="2400" dirty="0"/>
              <a:t> = common ratio = </a:t>
            </a:r>
            <a:r>
              <a:rPr lang="en-US" sz="2400" dirty="0">
                <a:solidFill>
                  <a:srgbClr val="C00000"/>
                </a:solidFill>
              </a:rPr>
              <a:t>½</a:t>
            </a:r>
            <a:endParaRPr lang="en-US" sz="2400" dirty="0"/>
          </a:p>
          <a:p>
            <a:pPr>
              <a:buNone/>
            </a:pPr>
            <a:r>
              <a:rPr lang="en-US" sz="2400" dirty="0"/>
              <a:t>		</a:t>
            </a:r>
            <a:r>
              <a:rPr lang="en-US" sz="2400" dirty="0">
                <a:solidFill>
                  <a:srgbClr val="C00000"/>
                </a:solidFill>
              </a:rPr>
              <a:t>a</a:t>
            </a:r>
            <a:r>
              <a:rPr lang="en-US" sz="2400" baseline="-25000" dirty="0">
                <a:solidFill>
                  <a:srgbClr val="C00000"/>
                </a:solidFill>
              </a:rPr>
              <a:t>n</a:t>
            </a:r>
            <a:r>
              <a:rPr lang="en-US" sz="2400" dirty="0"/>
              <a:t> = value of the nth term = </a:t>
            </a:r>
            <a:r>
              <a:rPr lang="en-US" sz="2400" dirty="0">
                <a:solidFill>
                  <a:srgbClr val="C00000"/>
                </a:solidFill>
              </a:rPr>
              <a:t>1/8	n = term number = ?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   </a:t>
            </a:r>
            <a:r>
              <a:rPr lang="en-US" sz="2400" dirty="0"/>
              <a:t>Since</a:t>
            </a:r>
            <a:r>
              <a:rPr lang="en-US" sz="2400" b="1" dirty="0">
                <a:solidFill>
                  <a:srgbClr val="C00000"/>
                </a:solidFill>
              </a:rPr>
              <a:t>		    a</a:t>
            </a:r>
            <a:r>
              <a:rPr lang="en-US" sz="2400" b="1" baseline="-25000" dirty="0">
                <a:solidFill>
                  <a:srgbClr val="C00000"/>
                </a:solidFill>
              </a:rPr>
              <a:t>n</a:t>
            </a:r>
            <a:r>
              <a:rPr lang="en-US" sz="2400" b="1" dirty="0">
                <a:solidFill>
                  <a:srgbClr val="C00000"/>
                </a:solidFill>
              </a:rPr>
              <a:t> = ar</a:t>
            </a:r>
            <a:r>
              <a:rPr lang="en-US" sz="2400" b="1" baseline="30000" dirty="0">
                <a:solidFill>
                  <a:srgbClr val="C00000"/>
                </a:solidFill>
              </a:rPr>
              <a:t>n-1</a:t>
            </a:r>
            <a:r>
              <a:rPr lang="en-US" sz="2400" dirty="0"/>
              <a:t>		n </a:t>
            </a:r>
            <a:r>
              <a:rPr lang="en-US" sz="2400" dirty="0">
                <a:sym typeface="Symbol"/>
              </a:rPr>
              <a:t></a:t>
            </a:r>
            <a:r>
              <a:rPr lang="en-US" sz="2400" dirty="0"/>
              <a:t> 1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Since bases are same so powers must be equal</a:t>
            </a:r>
          </a:p>
          <a:p>
            <a:pPr>
              <a:buNone/>
            </a:pPr>
            <a:r>
              <a:rPr lang="en-US" sz="2400" dirty="0">
                <a:sym typeface="Symbol"/>
              </a:rPr>
              <a:t>			       </a:t>
            </a:r>
            <a:r>
              <a:rPr lang="en-US" sz="2400" dirty="0">
                <a:solidFill>
                  <a:srgbClr val="C00000"/>
                </a:solidFill>
                <a:sym typeface="Symbol"/>
              </a:rPr>
              <a:t>n – 1 = 5</a:t>
            </a:r>
          </a:p>
          <a:p>
            <a:pPr>
              <a:buNone/>
            </a:pPr>
            <a:r>
              <a:rPr lang="en-US" sz="2400" dirty="0">
                <a:sym typeface="Symbol"/>
              </a:rPr>
              <a:t>			       </a:t>
            </a:r>
            <a:r>
              <a:rPr lang="en-US" sz="2400" dirty="0">
                <a:solidFill>
                  <a:srgbClr val="C00000"/>
                </a:solidFill>
                <a:sym typeface="Symbol"/>
              </a:rPr>
              <a:t>n = 6</a:t>
            </a:r>
          </a:p>
          <a:p>
            <a:pPr>
              <a:buNone/>
            </a:pPr>
            <a:r>
              <a:rPr lang="en-US" sz="2400" dirty="0"/>
              <a:t>	Hence </a:t>
            </a:r>
            <a:r>
              <a:rPr lang="en-US" sz="2400" b="1" dirty="0">
                <a:solidFill>
                  <a:srgbClr val="C00000"/>
                </a:solidFill>
              </a:rPr>
              <a:t>1/8 </a:t>
            </a:r>
            <a:r>
              <a:rPr lang="en-US" sz="2400" dirty="0"/>
              <a:t>is the </a:t>
            </a:r>
            <a:r>
              <a:rPr lang="en-US" sz="2400" b="1" dirty="0">
                <a:solidFill>
                  <a:srgbClr val="C00000"/>
                </a:solidFill>
              </a:rPr>
              <a:t>6th</a:t>
            </a:r>
            <a:r>
              <a:rPr lang="en-US" sz="2400" dirty="0"/>
              <a:t> term of the given </a:t>
            </a:r>
            <a:r>
              <a:rPr lang="en-US" sz="2400" b="1" dirty="0">
                <a:solidFill>
                  <a:srgbClr val="C00000"/>
                </a:solidFill>
              </a:rPr>
              <a:t>G.P</a:t>
            </a:r>
            <a:r>
              <a:rPr lang="en-US" sz="2400" dirty="0"/>
              <a:t>.</a:t>
            </a:r>
          </a:p>
          <a:p>
            <a:pPr>
              <a:buNone/>
            </a:pPr>
            <a:endParaRPr lang="en-US" sz="2400" dirty="0">
              <a:solidFill>
                <a:srgbClr val="C00000"/>
              </a:solidFill>
            </a:endParaRPr>
          </a:p>
          <a:p>
            <a:pPr>
              <a:buNone/>
            </a:pPr>
            <a:endParaRPr lang="en-US" sz="2400" dirty="0">
              <a:solidFill>
                <a:srgbClr val="C00000"/>
              </a:solidFill>
            </a:endParaRPr>
          </a:p>
          <a:p>
            <a:pPr>
              <a:buNone/>
            </a:pPr>
            <a:endParaRPr lang="en-US" sz="2400" dirty="0">
              <a:solidFill>
                <a:srgbClr val="C00000"/>
              </a:solidFill>
            </a:endParaRPr>
          </a:p>
          <a:p>
            <a:endParaRPr lang="en-US" sz="2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5A23845-047A-4474-8C1F-F2660A8E8827}"/>
              </a:ext>
            </a:extLst>
          </p:cNvPr>
          <p:cNvSpPr txBox="1">
            <a:spLocks/>
          </p:cNvSpPr>
          <p:nvPr/>
        </p:nvSpPr>
        <p:spPr>
          <a:xfrm>
            <a:off x="552943" y="1"/>
            <a:ext cx="10515600" cy="83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u="sng" dirty="0">
                <a:solidFill>
                  <a:srgbClr val="0070C0"/>
                </a:solidFill>
              </a:rPr>
              <a:t>EXAMPLE</a:t>
            </a:r>
          </a:p>
        </p:txBody>
      </p:sp>
      <p:graphicFrame>
        <p:nvGraphicFramePr>
          <p:cNvPr id="8" name="Object 2">
            <a:extLst>
              <a:ext uri="{FF2B5EF4-FFF2-40B4-BE49-F238E27FC236}">
                <a16:creationId xmlns:a16="http://schemas.microsoft.com/office/drawing/2014/main" id="{D4C9A07F-273C-4296-A245-E6E4B88168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3043672"/>
              </p:ext>
            </p:extLst>
          </p:nvPr>
        </p:nvGraphicFramePr>
        <p:xfrm>
          <a:off x="2519803" y="2969558"/>
          <a:ext cx="2725060" cy="21268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92" r:id="rId3" imgW="1917360" imgH="1625400" progId="">
                  <p:embed/>
                </p:oleObj>
              </mc:Choice>
              <mc:Fallback>
                <p:oleObj r:id="rId3" imgW="1917360" imgH="1625400" progId="">
                  <p:embed/>
                  <p:pic>
                    <p:nvPicPr>
                      <p:cNvPr id="9933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9803" y="2969558"/>
                        <a:ext cx="2725060" cy="212687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268506" y="977153"/>
            <a:ext cx="10515600" cy="5257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Write the </a:t>
            </a:r>
            <a:r>
              <a:rPr lang="en-US" sz="2400" dirty="0">
                <a:solidFill>
                  <a:srgbClr val="C00000"/>
                </a:solidFill>
              </a:rPr>
              <a:t>geometric sequence </a:t>
            </a:r>
            <a:r>
              <a:rPr lang="en-US" sz="2400" dirty="0"/>
              <a:t>with </a:t>
            </a:r>
            <a:r>
              <a:rPr lang="en-US" sz="2400" dirty="0">
                <a:solidFill>
                  <a:srgbClr val="C00000"/>
                </a:solidFill>
              </a:rPr>
              <a:t>positive terms </a:t>
            </a:r>
            <a:r>
              <a:rPr lang="en-US" sz="2400" dirty="0"/>
              <a:t>whose </a:t>
            </a:r>
            <a:r>
              <a:rPr lang="en-US" sz="2400" dirty="0">
                <a:solidFill>
                  <a:srgbClr val="C00000"/>
                </a:solidFill>
              </a:rPr>
              <a:t>second term </a:t>
            </a:r>
            <a:r>
              <a:rPr lang="en-US" sz="2400" dirty="0"/>
              <a:t>is </a:t>
            </a:r>
            <a:r>
              <a:rPr lang="en-US" sz="2400" dirty="0">
                <a:solidFill>
                  <a:srgbClr val="C00000"/>
                </a:solidFill>
              </a:rPr>
              <a:t>9 </a:t>
            </a:r>
            <a:r>
              <a:rPr lang="en-US" sz="2400" dirty="0"/>
              <a:t>and </a:t>
            </a:r>
            <a:r>
              <a:rPr lang="en-US" sz="2400" dirty="0">
                <a:solidFill>
                  <a:srgbClr val="C00000"/>
                </a:solidFill>
              </a:rPr>
              <a:t>fourth term </a:t>
            </a:r>
            <a:r>
              <a:rPr lang="en-US" sz="2400" dirty="0"/>
              <a:t>is </a:t>
            </a:r>
            <a:r>
              <a:rPr lang="en-US" sz="2400" dirty="0">
                <a:solidFill>
                  <a:srgbClr val="C00000"/>
                </a:solidFill>
              </a:rPr>
              <a:t>1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b="1" u="sng" dirty="0">
                <a:solidFill>
                  <a:srgbClr val="C00000"/>
                </a:solidFill>
              </a:rPr>
              <a:t>SOLUTION:</a:t>
            </a:r>
            <a:endParaRPr lang="en-US" sz="2400" dirty="0">
              <a:solidFill>
                <a:srgbClr val="C00000"/>
              </a:solidFill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dirty="0"/>
              <a:t>	</a:t>
            </a:r>
            <a:r>
              <a:rPr lang="en-US" sz="2000" dirty="0"/>
              <a:t>General Formula</a:t>
            </a:r>
          </a:p>
          <a:p>
            <a:pPr>
              <a:lnSpc>
                <a:spcPct val="100000"/>
              </a:lnSpc>
              <a:buNone/>
            </a:pPr>
            <a:r>
              <a:rPr lang="en-US" sz="2000" dirty="0"/>
              <a:t>				</a:t>
            </a:r>
            <a:r>
              <a:rPr lang="pt-BR" sz="2000" dirty="0"/>
              <a:t> </a:t>
            </a:r>
            <a:r>
              <a:rPr lang="pt-BR" sz="2000" b="1" dirty="0">
                <a:solidFill>
                  <a:srgbClr val="C00000"/>
                </a:solidFill>
              </a:rPr>
              <a:t>a</a:t>
            </a:r>
            <a:r>
              <a:rPr lang="pt-BR" sz="2000" b="1" baseline="-25000" dirty="0">
                <a:solidFill>
                  <a:srgbClr val="C00000"/>
                </a:solidFill>
              </a:rPr>
              <a:t>n</a:t>
            </a:r>
            <a:r>
              <a:rPr lang="pt-BR" sz="2000" b="1" dirty="0">
                <a:solidFill>
                  <a:srgbClr val="C00000"/>
                </a:solidFill>
              </a:rPr>
              <a:t> = ar</a:t>
            </a:r>
            <a:r>
              <a:rPr lang="pt-BR" sz="2000" b="1" baseline="30000" dirty="0">
                <a:solidFill>
                  <a:srgbClr val="C00000"/>
                </a:solidFill>
              </a:rPr>
              <a:t> n-1</a:t>
            </a:r>
            <a:r>
              <a:rPr lang="pt-BR" sz="2000" dirty="0"/>
              <a:t>		n </a:t>
            </a:r>
            <a:r>
              <a:rPr lang="en-US" sz="2000" dirty="0">
                <a:sym typeface="Symbol"/>
              </a:rPr>
              <a:t></a:t>
            </a:r>
            <a:r>
              <a:rPr lang="pt-BR" sz="2000" dirty="0"/>
              <a:t>1</a:t>
            </a:r>
            <a:endParaRPr lang="en-US" sz="2000" dirty="0"/>
          </a:p>
          <a:p>
            <a:pPr>
              <a:lnSpc>
                <a:spcPct val="100000"/>
              </a:lnSpc>
              <a:buNone/>
            </a:pPr>
            <a:r>
              <a:rPr lang="pt-BR" sz="2000" dirty="0"/>
              <a:t>	Now	</a:t>
            </a:r>
          </a:p>
          <a:p>
            <a:pPr>
              <a:lnSpc>
                <a:spcPct val="100000"/>
              </a:lnSpc>
              <a:buNone/>
            </a:pPr>
            <a:r>
              <a:rPr lang="pt-BR" sz="2000" dirty="0"/>
              <a:t>   	          			</a:t>
            </a:r>
            <a:r>
              <a:rPr lang="pt-BR" sz="2000" b="1" dirty="0"/>
              <a:t>a</a:t>
            </a:r>
            <a:r>
              <a:rPr lang="pt-BR" sz="2000" b="1" baseline="-25000" dirty="0"/>
              <a:t>2</a:t>
            </a:r>
            <a:r>
              <a:rPr lang="pt-BR" sz="2000" b="1" dirty="0"/>
              <a:t> = ar</a:t>
            </a:r>
            <a:r>
              <a:rPr lang="pt-BR" sz="2000" b="1" baseline="30000" dirty="0"/>
              <a:t> 2-1</a:t>
            </a:r>
          </a:p>
          <a:p>
            <a:pPr>
              <a:lnSpc>
                <a:spcPct val="100000"/>
              </a:lnSpc>
              <a:buNone/>
            </a:pPr>
            <a:r>
              <a:rPr lang="pt-BR" sz="2000" baseline="30000" dirty="0"/>
              <a:t>			</a:t>
            </a:r>
            <a:r>
              <a:rPr lang="en-US" sz="2000" dirty="0">
                <a:sym typeface="Symbol"/>
              </a:rPr>
              <a:t> </a:t>
            </a:r>
            <a:r>
              <a:rPr lang="pt-BR" sz="2000" dirty="0"/>
              <a:t>	 </a:t>
            </a:r>
            <a:r>
              <a:rPr lang="pt-BR" sz="2000" dirty="0">
                <a:solidFill>
                  <a:srgbClr val="C00000"/>
                </a:solidFill>
              </a:rPr>
              <a:t>9  = ar     </a:t>
            </a:r>
            <a:r>
              <a:rPr lang="pt-BR" sz="2000" dirty="0"/>
              <a:t>……………….(1)</a:t>
            </a:r>
          </a:p>
          <a:p>
            <a:pPr>
              <a:lnSpc>
                <a:spcPct val="100000"/>
              </a:lnSpc>
              <a:buNone/>
            </a:pPr>
            <a:r>
              <a:rPr lang="pt-BR" sz="2000" dirty="0"/>
              <a:t>	 Also			 </a:t>
            </a:r>
            <a:r>
              <a:rPr lang="pt-BR" sz="2000" b="1" dirty="0"/>
              <a:t>a</a:t>
            </a:r>
            <a:r>
              <a:rPr lang="pt-BR" sz="2000" b="1" baseline="-25000" dirty="0"/>
              <a:t>4</a:t>
            </a:r>
            <a:r>
              <a:rPr lang="pt-BR" sz="2000" b="1" dirty="0"/>
              <a:t> = ar</a:t>
            </a:r>
            <a:r>
              <a:rPr lang="pt-BR" sz="2000" b="1" baseline="30000" dirty="0"/>
              <a:t>4-1</a:t>
            </a:r>
          </a:p>
          <a:p>
            <a:pPr>
              <a:lnSpc>
                <a:spcPct val="100000"/>
              </a:lnSpc>
              <a:buNone/>
            </a:pPr>
            <a:r>
              <a:rPr lang="pt-BR" sz="2000" baseline="30000" dirty="0"/>
              <a:t>	</a:t>
            </a:r>
            <a:r>
              <a:rPr lang="en-US" sz="2000" dirty="0"/>
              <a:t> 	</a:t>
            </a:r>
            <a:r>
              <a:rPr lang="en-US" sz="2000" dirty="0">
                <a:sym typeface="Symbol"/>
              </a:rPr>
              <a:t> 	 </a:t>
            </a:r>
            <a:r>
              <a:rPr lang="en-US" sz="2000" dirty="0"/>
              <a:t>	 </a:t>
            </a:r>
            <a:r>
              <a:rPr lang="en-US" sz="2000" dirty="0">
                <a:solidFill>
                  <a:srgbClr val="C00000"/>
                </a:solidFill>
              </a:rPr>
              <a:t>1  = </a:t>
            </a:r>
            <a:r>
              <a:rPr lang="en-US" sz="2000" dirty="0" err="1">
                <a:solidFill>
                  <a:srgbClr val="C00000"/>
                </a:solidFill>
              </a:rPr>
              <a:t>ar</a:t>
            </a:r>
            <a:r>
              <a:rPr lang="en-US" sz="2000" baseline="30000" dirty="0">
                <a:solidFill>
                  <a:srgbClr val="C00000"/>
                </a:solidFill>
              </a:rPr>
              <a:t> 3</a:t>
            </a:r>
            <a:r>
              <a:rPr lang="en-US" sz="2000" dirty="0">
                <a:solidFill>
                  <a:srgbClr val="C00000"/>
                </a:solidFill>
              </a:rPr>
              <a:t>    </a:t>
            </a:r>
            <a:r>
              <a:rPr lang="en-US" sz="2000" dirty="0"/>
              <a:t>………………(2)</a:t>
            </a:r>
          </a:p>
          <a:p>
            <a:pPr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00000"/>
                </a:solidFill>
              </a:rPr>
              <a:t>Dividing (2) by (1), </a:t>
            </a:r>
            <a:r>
              <a:rPr lang="en-US" sz="2000" dirty="0"/>
              <a:t>we get,</a:t>
            </a:r>
          </a:p>
          <a:p>
            <a:pPr>
              <a:buNone/>
            </a:pPr>
            <a:endParaRPr lang="en-US" sz="20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endParaRPr lang="en-US" sz="24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3181792-5559-4AC2-9A5D-33EB1E30C337}"/>
              </a:ext>
            </a:extLst>
          </p:cNvPr>
          <p:cNvSpPr txBox="1">
            <a:spLocks/>
          </p:cNvSpPr>
          <p:nvPr/>
        </p:nvSpPr>
        <p:spPr>
          <a:xfrm>
            <a:off x="552943" y="1"/>
            <a:ext cx="10515600" cy="83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u="sng" dirty="0">
                <a:solidFill>
                  <a:srgbClr val="0070C0"/>
                </a:solidFill>
              </a:rPr>
              <a:t>EXAMPLE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35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0026908"/>
              </p:ext>
            </p:extLst>
          </p:nvPr>
        </p:nvGraphicFramePr>
        <p:xfrm>
          <a:off x="3245223" y="348006"/>
          <a:ext cx="5446368" cy="24620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7" r:id="rId3" imgW="3022560" imgH="1269720" progId="">
                  <p:embed/>
                </p:oleObj>
              </mc:Choice>
              <mc:Fallback>
                <p:oleObj r:id="rId3" imgW="3022560" imgH="1269720" progId="">
                  <p:embed/>
                  <p:pic>
                    <p:nvPicPr>
                      <p:cNvPr id="10035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5223" y="348006"/>
                        <a:ext cx="5446368" cy="246205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CB833A4-25F7-46E1-9EFD-11A9E0AAE0E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181100" y="2947230"/>
            <a:ext cx="9829800" cy="34356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Substituting </a:t>
            </a:r>
            <a:r>
              <a:rPr lang="en-US" sz="2400" b="1" dirty="0">
                <a:solidFill>
                  <a:srgbClr val="C00000"/>
                </a:solidFill>
              </a:rPr>
              <a:t>r = 1/3 </a:t>
            </a:r>
            <a:r>
              <a:rPr lang="en-US" sz="2400" dirty="0"/>
              <a:t>in (1), we get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>
              <a:buNone/>
            </a:pPr>
            <a:r>
              <a:rPr lang="en-US" sz="2400" dirty="0"/>
              <a:t>	Hence the </a:t>
            </a:r>
            <a:r>
              <a:rPr lang="en-US" sz="2400" b="1" dirty="0">
                <a:solidFill>
                  <a:srgbClr val="C00000"/>
                </a:solidFill>
              </a:rPr>
              <a:t>geometric sequence </a:t>
            </a:r>
            <a:r>
              <a:rPr lang="en-US" sz="2400" dirty="0"/>
              <a:t>is</a:t>
            </a:r>
          </a:p>
          <a:p>
            <a:pPr>
              <a:buNone/>
            </a:pPr>
            <a:r>
              <a:rPr lang="en-US" sz="2400" dirty="0"/>
              <a:t>	 		</a:t>
            </a:r>
            <a:r>
              <a:rPr lang="en-US" sz="2400" b="1" dirty="0">
                <a:solidFill>
                  <a:srgbClr val="C00000"/>
                </a:solidFill>
              </a:rPr>
              <a:t>27, 9, 3, 1, 1/3, 1/9, …</a:t>
            </a:r>
            <a:endParaRPr lang="en-US" sz="2400" dirty="0"/>
          </a:p>
        </p:txBody>
      </p:sp>
      <p:graphicFrame>
        <p:nvGraphicFramePr>
          <p:cNvPr id="6" name="Object 2">
            <a:extLst>
              <a:ext uri="{FF2B5EF4-FFF2-40B4-BE49-F238E27FC236}">
                <a16:creationId xmlns:a16="http://schemas.microsoft.com/office/drawing/2014/main" id="{47C3A50B-073C-4FA7-944F-6192DB4106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2479594"/>
              </p:ext>
            </p:extLst>
          </p:nvPr>
        </p:nvGraphicFramePr>
        <p:xfrm>
          <a:off x="3245223" y="3566874"/>
          <a:ext cx="3124200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8" r:id="rId5" imgW="1765080" imgH="634680" progId="">
                  <p:embed/>
                </p:oleObj>
              </mc:Choice>
              <mc:Fallback>
                <p:oleObj r:id="rId5" imgW="1765080" imgH="634680" progId="">
                  <p:embed/>
                  <p:pic>
                    <p:nvPicPr>
                      <p:cNvPr id="10137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5223" y="3566874"/>
                        <a:ext cx="3124200" cy="1447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12741-90FC-4BC8-A46B-015A69761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SUMMATION</a:t>
            </a:r>
          </a:p>
        </p:txBody>
      </p:sp>
    </p:spTree>
    <p:extLst>
      <p:ext uri="{BB962C8B-B14F-4D97-AF65-F5344CB8AC3E}">
        <p14:creationId xmlns:p14="http://schemas.microsoft.com/office/powerpoint/2010/main" val="18531257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Google Shape;115;p2">
            <a:extLst>
              <a:ext uri="{FF2B5EF4-FFF2-40B4-BE49-F238E27FC236}">
                <a16:creationId xmlns:a16="http://schemas.microsoft.com/office/drawing/2014/main" id="{2E472A40-D572-436F-8AC7-8EF1F2EE8248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774700" y="65087"/>
            <a:ext cx="10515600" cy="828531"/>
          </a:xfrm>
        </p:spPr>
        <p:txBody>
          <a:bodyPr>
            <a:normAutofit/>
          </a:bodyPr>
          <a:lstStyle/>
          <a:p>
            <a:pPr algn="ctr" eaLnBrk="1" hangingPunct="1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ts val="3200"/>
              <a:buFont typeface="Bookman Old Style" panose="02050604050505020204" pitchFamily="18" charset="0"/>
              <a:buNone/>
            </a:pPr>
            <a:r>
              <a:rPr lang="en-US" altLang="en-US" sz="4000" b="1" u="sng" dirty="0">
                <a:solidFill>
                  <a:srgbClr val="0070C0"/>
                </a:solidFill>
                <a:latin typeface="Bookman Old Style" panose="02050604050505020204" pitchFamily="18" charset="0"/>
                <a:cs typeface="Arial" panose="020B0604020202020204" pitchFamily="34" charset="0"/>
                <a:sym typeface="Bookman Old Style" panose="02050604050505020204" pitchFamily="18" charset="0"/>
              </a:rPr>
              <a:t>INTRODUCTION</a:t>
            </a:r>
            <a:endParaRPr lang="en-US" altLang="en-US" sz="4000" b="1" dirty="0">
              <a:solidFill>
                <a:srgbClr val="0070C0"/>
              </a:solidFill>
              <a:latin typeface="Bookman Old Style" panose="02050604050505020204" pitchFamily="18" charset="0"/>
              <a:cs typeface="Arial" panose="020B0604020202020204" pitchFamily="34" charset="0"/>
              <a:sym typeface="Bookman Old Style" panose="02050604050505020204" pitchFamily="18" charset="0"/>
            </a:endParaRPr>
          </a:p>
        </p:txBody>
      </p:sp>
      <p:sp>
        <p:nvSpPr>
          <p:cNvPr id="116" name="Google Shape;116;p2">
            <a:extLst>
              <a:ext uri="{FF2B5EF4-FFF2-40B4-BE49-F238E27FC236}">
                <a16:creationId xmlns:a16="http://schemas.microsoft.com/office/drawing/2014/main" id="{8F80A016-1846-43DA-B1F2-D12DB0B9EDCC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>
          <a:xfrm>
            <a:off x="774699" y="924381"/>
            <a:ext cx="11050156" cy="5868532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r>
              <a:rPr lang="en-US" altLang="en-US" sz="2600" dirty="0"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	The </a:t>
            </a:r>
            <a:r>
              <a:rPr lang="en-US" altLang="en-US" sz="26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sum</a:t>
            </a:r>
            <a:r>
              <a:rPr lang="en-US" altLang="en-US" sz="2600" dirty="0"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 of the terms of a </a:t>
            </a:r>
            <a:r>
              <a:rPr lang="en-US" altLang="en-US" sz="26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sequence forms</a:t>
            </a:r>
            <a:r>
              <a:rPr lang="en-US" altLang="en-US" sz="2600" dirty="0"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 a </a:t>
            </a:r>
            <a:r>
              <a:rPr lang="en-US" altLang="en-US" sz="26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series</a:t>
            </a:r>
            <a:r>
              <a:rPr lang="en-US" altLang="en-US" sz="2600" dirty="0"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. If</a:t>
            </a:r>
          </a:p>
          <a:p>
            <a:pPr marL="0" indent="0">
              <a:lnSpc>
                <a:spcPct val="100000"/>
              </a:lnSpc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r>
              <a:rPr lang="en-US" altLang="en-US" sz="2600" dirty="0"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				  </a:t>
            </a:r>
            <a:r>
              <a:rPr lang="en-US" altLang="en-US" sz="26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a</a:t>
            </a:r>
            <a:r>
              <a:rPr lang="en-US" altLang="en-US" sz="2600" baseline="-250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1</a:t>
            </a:r>
            <a:r>
              <a:rPr lang="en-US" altLang="en-US" sz="26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, a</a:t>
            </a:r>
            <a:r>
              <a:rPr lang="en-US" altLang="en-US" sz="2600" baseline="-250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2</a:t>
            </a:r>
            <a:r>
              <a:rPr lang="en-US" altLang="en-US" sz="26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, a</a:t>
            </a:r>
            <a:r>
              <a:rPr lang="en-US" altLang="en-US" sz="2600" baseline="-250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3</a:t>
            </a:r>
            <a:r>
              <a:rPr lang="en-US" altLang="en-US" sz="26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, … </a:t>
            </a:r>
            <a:endParaRPr lang="en-US" altLang="en-US" sz="2600" dirty="0">
              <a:latin typeface="Cambria" panose="02040503050406030204" pitchFamily="18" charset="0"/>
              <a:ea typeface="Cambria" panose="02040503050406030204" pitchFamily="18" charset="0"/>
              <a:cs typeface="Gill Sans" charset="0"/>
              <a:sym typeface="Gill Sans" charset="0"/>
            </a:endParaRPr>
          </a:p>
          <a:p>
            <a:pPr marL="0" indent="0">
              <a:lnSpc>
                <a:spcPct val="100000"/>
              </a:lnSpc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r>
              <a:rPr lang="en-US" altLang="en-US" sz="2600" dirty="0"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	represent a </a:t>
            </a:r>
            <a:r>
              <a:rPr lang="en-US" altLang="en-US" sz="26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sequence of numbers</a:t>
            </a:r>
            <a:r>
              <a:rPr lang="en-US" altLang="en-US" sz="2600" dirty="0"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, then the </a:t>
            </a:r>
            <a:r>
              <a:rPr lang="en-US" altLang="en-US" sz="26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corresponding series</a:t>
            </a:r>
            <a:r>
              <a:rPr lang="en-US" altLang="en-US" sz="2600" dirty="0"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 is: </a:t>
            </a:r>
          </a:p>
          <a:p>
            <a:pPr marL="0" indent="0">
              <a:lnSpc>
                <a:spcPct val="100000"/>
              </a:lnSpc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r>
              <a:rPr lang="en-US" altLang="en-US" sz="2600" dirty="0"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				  </a:t>
            </a:r>
            <a:r>
              <a:rPr lang="en-US" altLang="en-US" sz="26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a</a:t>
            </a:r>
            <a:r>
              <a:rPr lang="en-US" altLang="en-US" sz="2600" baseline="-250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1</a:t>
            </a:r>
            <a:r>
              <a:rPr lang="en-US" altLang="en-US" sz="26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 + a</a:t>
            </a:r>
            <a:r>
              <a:rPr lang="en-US" altLang="en-US" sz="2600" baseline="-250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2</a:t>
            </a:r>
            <a:r>
              <a:rPr lang="en-US" altLang="en-US" sz="26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 + a</a:t>
            </a:r>
            <a:r>
              <a:rPr lang="en-US" altLang="en-US" sz="2600" baseline="-250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3</a:t>
            </a:r>
            <a:r>
              <a:rPr lang="en-US" altLang="en-US" sz="26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 + …</a:t>
            </a:r>
          </a:p>
          <a:p>
            <a:pPr marL="0" indent="0">
              <a:lnSpc>
                <a:spcPct val="100000"/>
              </a:lnSpc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endParaRPr lang="en-US" altLang="en-US" sz="2600" dirty="0">
              <a:latin typeface="Cambria" panose="02040503050406030204" pitchFamily="18" charset="0"/>
              <a:ea typeface="Cambria" panose="02040503050406030204" pitchFamily="18" charset="0"/>
              <a:cs typeface="Gill Sans" charset="0"/>
              <a:sym typeface="Gill Sans" charset="0"/>
            </a:endParaRPr>
          </a:p>
          <a:p>
            <a:pPr marL="273050" indent="-273050">
              <a:lnSpc>
                <a:spcPct val="100000"/>
              </a:lnSpc>
              <a:spcAft>
                <a:spcPct val="0"/>
              </a:spcAft>
              <a:buClr>
                <a:schemeClr val="accent1"/>
              </a:buClr>
              <a:buSzPts val="2000"/>
            </a:pPr>
            <a:endParaRPr lang="en-US" altLang="en-US" sz="2600" dirty="0">
              <a:latin typeface="Cambria" panose="02040503050406030204" pitchFamily="18" charset="0"/>
              <a:ea typeface="Cambria" panose="02040503050406030204" pitchFamily="18" charset="0"/>
              <a:cs typeface="Gill Sans" charset="0"/>
              <a:sym typeface="Gill Sans" charset="0"/>
            </a:endParaRPr>
          </a:p>
          <a:p>
            <a:pPr marL="26987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1500"/>
              <a:buNone/>
            </a:pPr>
            <a:r>
              <a:rPr lang="en-US" altLang="en-US" dirty="0">
                <a:cs typeface="Gill Sans" charset="0"/>
                <a:sym typeface="Gill Sans" charset="0"/>
              </a:rPr>
              <a:t>The capital </a:t>
            </a:r>
            <a:r>
              <a:rPr lang="en-US" altLang="en-US" dirty="0">
                <a:solidFill>
                  <a:srgbClr val="C00000"/>
                </a:solidFill>
                <a:cs typeface="Gill Sans" charset="0"/>
                <a:sym typeface="Gill Sans" charset="0"/>
              </a:rPr>
              <a:t>Greek letter sigma ∑</a:t>
            </a:r>
            <a:r>
              <a:rPr lang="en-US" altLang="en-US" dirty="0">
                <a:cs typeface="Gill Sans" charset="0"/>
                <a:sym typeface="Gill Sans" charset="0"/>
              </a:rPr>
              <a:t> is used to write a </a:t>
            </a:r>
            <a:r>
              <a:rPr lang="en-US" altLang="en-US" dirty="0">
                <a:solidFill>
                  <a:srgbClr val="C00000"/>
                </a:solidFill>
                <a:cs typeface="Gill Sans" charset="0"/>
                <a:sym typeface="Gill Sans" charset="0"/>
              </a:rPr>
              <a:t>sum</a:t>
            </a:r>
            <a:r>
              <a:rPr lang="en-US" altLang="en-US" dirty="0">
                <a:cs typeface="Gill Sans" charset="0"/>
                <a:sym typeface="Gill Sans" charset="0"/>
              </a:rPr>
              <a:t> in a </a:t>
            </a:r>
            <a:r>
              <a:rPr lang="en-US" altLang="en-US" dirty="0">
                <a:solidFill>
                  <a:srgbClr val="C00000"/>
                </a:solidFill>
                <a:cs typeface="Gill Sans" charset="0"/>
                <a:sym typeface="Gill Sans" charset="0"/>
              </a:rPr>
              <a:t>short hand notation</a:t>
            </a:r>
            <a:r>
              <a:rPr lang="en-US" altLang="en-US" dirty="0">
                <a:cs typeface="Gill Sans" charset="0"/>
                <a:sym typeface="Gill Sans" charset="0"/>
              </a:rPr>
              <a:t>.</a:t>
            </a:r>
          </a:p>
          <a:p>
            <a:pPr marL="26987" indent="0">
              <a:lnSpc>
                <a:spcPct val="100000"/>
              </a:lnSpc>
              <a:spcAft>
                <a:spcPct val="0"/>
              </a:spcAft>
              <a:buClr>
                <a:schemeClr val="accent1"/>
              </a:buClr>
              <a:buSzPts val="1200"/>
              <a:buNone/>
            </a:pPr>
            <a:r>
              <a:rPr lang="en-US" altLang="en-US" dirty="0">
                <a:cs typeface="Gill Sans" charset="0"/>
                <a:sym typeface="Gill Sans" charset="0"/>
              </a:rPr>
              <a:t>	     	                   = a</a:t>
            </a:r>
            <a:r>
              <a:rPr lang="en-US" altLang="en-US" baseline="-25000" dirty="0">
                <a:cs typeface="Gill Sans" charset="0"/>
                <a:sym typeface="Gill Sans" charset="0"/>
              </a:rPr>
              <a:t>1</a:t>
            </a:r>
            <a:r>
              <a:rPr lang="en-US" altLang="en-US" dirty="0">
                <a:cs typeface="Gill Sans" charset="0"/>
                <a:sym typeface="Gill Sans" charset="0"/>
              </a:rPr>
              <a:t> + a</a:t>
            </a:r>
            <a:r>
              <a:rPr lang="en-US" altLang="en-US" baseline="-25000" dirty="0">
                <a:cs typeface="Gill Sans" charset="0"/>
                <a:sym typeface="Gill Sans" charset="0"/>
              </a:rPr>
              <a:t>2</a:t>
            </a:r>
            <a:r>
              <a:rPr lang="en-US" altLang="en-US" dirty="0">
                <a:cs typeface="Gill Sans" charset="0"/>
                <a:sym typeface="Gill Sans" charset="0"/>
              </a:rPr>
              <a:t> + a</a:t>
            </a:r>
            <a:r>
              <a:rPr lang="en-US" altLang="en-US" baseline="-25000" dirty="0">
                <a:cs typeface="Gill Sans" charset="0"/>
                <a:sym typeface="Gill Sans" charset="0"/>
              </a:rPr>
              <a:t>3</a:t>
            </a:r>
            <a:r>
              <a:rPr lang="en-US" altLang="en-US" dirty="0">
                <a:cs typeface="Gill Sans" charset="0"/>
                <a:sym typeface="Gill Sans" charset="0"/>
              </a:rPr>
              <a:t> + … + a</a:t>
            </a:r>
            <a:r>
              <a:rPr lang="en-US" altLang="en-US" baseline="-25000" dirty="0">
                <a:cs typeface="Gill Sans" charset="0"/>
                <a:sym typeface="Gill Sans" charset="0"/>
              </a:rPr>
              <a:t>n</a:t>
            </a:r>
          </a:p>
          <a:p>
            <a:pPr marL="26987" indent="0">
              <a:lnSpc>
                <a:spcPct val="100000"/>
              </a:lnSpc>
              <a:spcAft>
                <a:spcPct val="0"/>
              </a:spcAft>
              <a:buClr>
                <a:schemeClr val="accent1"/>
              </a:buClr>
              <a:buSzPts val="1200"/>
              <a:buNone/>
            </a:pPr>
            <a:endParaRPr lang="en-US" altLang="en-US" dirty="0">
              <a:cs typeface="Gill Sans" charset="0"/>
              <a:sym typeface="Gill Sans" charset="0"/>
            </a:endParaRPr>
          </a:p>
          <a:p>
            <a:pPr marL="26987" indent="0">
              <a:lnSpc>
                <a:spcPct val="100000"/>
              </a:lnSpc>
              <a:spcAft>
                <a:spcPct val="0"/>
              </a:spcAft>
              <a:buClr>
                <a:schemeClr val="accent1"/>
              </a:buClr>
              <a:buSzPts val="1200"/>
              <a:buNone/>
            </a:pPr>
            <a:r>
              <a:rPr lang="en-US" altLang="en-US" dirty="0">
                <a:cs typeface="Gill Sans" charset="0"/>
                <a:sym typeface="Gill Sans" charset="0"/>
              </a:rPr>
              <a:t>    Here </a:t>
            </a:r>
            <a:r>
              <a:rPr lang="en-US" altLang="en-US" b="1" dirty="0">
                <a:solidFill>
                  <a:srgbClr val="C00000"/>
                </a:solidFill>
                <a:cs typeface="Gill Sans" charset="0"/>
                <a:sym typeface="Gill Sans" charset="0"/>
              </a:rPr>
              <a:t>k</a:t>
            </a:r>
            <a:r>
              <a:rPr lang="en-US" altLang="en-US" dirty="0">
                <a:cs typeface="Gill Sans" charset="0"/>
                <a:sym typeface="Gill Sans" charset="0"/>
              </a:rPr>
              <a:t> is called the </a:t>
            </a:r>
            <a:r>
              <a:rPr lang="en-US" altLang="en-US" dirty="0">
                <a:solidFill>
                  <a:srgbClr val="C00000"/>
                </a:solidFill>
                <a:cs typeface="Gill Sans" charset="0"/>
                <a:sym typeface="Gill Sans" charset="0"/>
              </a:rPr>
              <a:t>index</a:t>
            </a:r>
            <a:r>
              <a:rPr lang="en-US" altLang="en-US" dirty="0">
                <a:cs typeface="Gill Sans" charset="0"/>
                <a:sym typeface="Gill Sans" charset="0"/>
              </a:rPr>
              <a:t> of the </a:t>
            </a:r>
            <a:r>
              <a:rPr lang="en-US" altLang="en-US" dirty="0">
                <a:solidFill>
                  <a:srgbClr val="C00000"/>
                </a:solidFill>
                <a:cs typeface="Gill Sans" charset="0"/>
                <a:sym typeface="Gill Sans" charset="0"/>
              </a:rPr>
              <a:t>summation</a:t>
            </a:r>
            <a:r>
              <a:rPr lang="en-US" altLang="en-US" dirty="0">
                <a:cs typeface="Gill Sans" charset="0"/>
                <a:sym typeface="Gill Sans" charset="0"/>
              </a:rPr>
              <a:t>, varies from </a:t>
            </a:r>
            <a:r>
              <a:rPr lang="en-US" altLang="en-US" b="1" dirty="0">
                <a:solidFill>
                  <a:srgbClr val="C00000"/>
                </a:solidFill>
                <a:cs typeface="Gill Sans" charset="0"/>
                <a:sym typeface="Gill Sans" charset="0"/>
              </a:rPr>
              <a:t>1</a:t>
            </a:r>
            <a:r>
              <a:rPr lang="en-US" altLang="en-US" dirty="0">
                <a:cs typeface="Gill Sans" charset="0"/>
                <a:sym typeface="Gill Sans" charset="0"/>
              </a:rPr>
              <a:t> to </a:t>
            </a:r>
            <a:r>
              <a:rPr lang="en-US" altLang="en-US" b="1" dirty="0">
                <a:solidFill>
                  <a:srgbClr val="C00000"/>
                </a:solidFill>
                <a:cs typeface="Gill Sans" charset="0"/>
                <a:sym typeface="Gill Sans" charset="0"/>
              </a:rPr>
              <a:t>n.</a:t>
            </a:r>
            <a:endParaRPr lang="en-US" altLang="en-US" b="1" dirty="0">
              <a:cs typeface="Gill Sans" charset="0"/>
              <a:sym typeface="Gill Sans" charset="0"/>
            </a:endParaRPr>
          </a:p>
        </p:txBody>
      </p:sp>
      <p:graphicFrame>
        <p:nvGraphicFramePr>
          <p:cNvPr id="117" name="Google Shape;117;p2">
            <a:extLst>
              <a:ext uri="{FF2B5EF4-FFF2-40B4-BE49-F238E27FC236}">
                <a16:creationId xmlns:a16="http://schemas.microsoft.com/office/drawing/2014/main" id="{9113461A-399D-4024-B4BD-988D3C0C83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4321962"/>
              </p:ext>
            </p:extLst>
          </p:nvPr>
        </p:nvGraphicFramePr>
        <p:xfrm>
          <a:off x="5245677" y="3115265"/>
          <a:ext cx="1054100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35" r:id="rId4" imgW="0" imgH="0" progId="">
                  <p:embed/>
                </p:oleObj>
              </mc:Choice>
              <mc:Fallback>
                <p:oleObj r:id="rId4" imgW="0" imgH="0" progId="">
                  <p:embed/>
                  <p:pic>
                    <p:nvPicPr>
                      <p:cNvPr id="117" name="Google Shape;117;p2">
                        <a:extLst>
                          <a:ext uri="{FF2B5EF4-FFF2-40B4-BE49-F238E27FC236}">
                            <a16:creationId xmlns:a16="http://schemas.microsoft.com/office/drawing/2014/main" id="{9113461A-399D-4024-B4BD-988D3C0C83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5677" y="3115265"/>
                        <a:ext cx="1054100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" name="Google Shape;118;p2">
            <a:extLst>
              <a:ext uri="{FF2B5EF4-FFF2-40B4-BE49-F238E27FC236}">
                <a16:creationId xmlns:a16="http://schemas.microsoft.com/office/drawing/2014/main" id="{03A2F45E-D656-4D89-B35A-F0C7FC3EB1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9264" y="3375904"/>
            <a:ext cx="1012825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2400"/>
              <a:buFont typeface="Calibri" panose="020F0502020204030204" pitchFamily="34" charset="0"/>
              <a:buNone/>
            </a:pP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=</a:t>
            </a:r>
            <a:endParaRPr lang="en-US" altLang="en-US" sz="1800" dirty="0">
              <a:cs typeface="Calibri" panose="020F0502020204030204" pitchFamily="34" charset="0"/>
            </a:endParaRPr>
          </a:p>
        </p:txBody>
      </p:sp>
      <p:pic>
        <p:nvPicPr>
          <p:cNvPr id="6" name="Picture 5" descr="sum.png">
            <a:extLst>
              <a:ext uri="{FF2B5EF4-FFF2-40B4-BE49-F238E27FC236}">
                <a16:creationId xmlns:a16="http://schemas.microsoft.com/office/drawing/2014/main" id="{FD1E7E3B-5AF1-4068-9DBA-9087BE969EE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biLevel thresh="75000"/>
          </a:blip>
          <a:stretch>
            <a:fillRect/>
          </a:stretch>
        </p:blipFill>
        <p:spPr>
          <a:xfrm>
            <a:off x="3117272" y="4671468"/>
            <a:ext cx="953801" cy="1040511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Google Shape;139;p5">
            <a:extLst>
              <a:ext uri="{FF2B5EF4-FFF2-40B4-BE49-F238E27FC236}">
                <a16:creationId xmlns:a16="http://schemas.microsoft.com/office/drawing/2014/main" id="{4E391B8F-D8D3-4A3D-B570-80A0004F8FBF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ts val="3200"/>
              <a:buFont typeface="Bookman Old Style" panose="02050604050505020204" pitchFamily="18" charset="0"/>
              <a:buNone/>
            </a:pPr>
            <a:r>
              <a:rPr lang="en-US" altLang="en-US" sz="3200" b="1" u="sng">
                <a:solidFill>
                  <a:srgbClr val="0070C0"/>
                </a:solidFill>
                <a:latin typeface="Bookman Old Style" panose="02050604050505020204" pitchFamily="18" charset="0"/>
                <a:cs typeface="Arial" panose="020B0604020202020204" pitchFamily="34" charset="0"/>
                <a:sym typeface="Bookman Old Style" panose="02050604050505020204" pitchFamily="18" charset="0"/>
              </a:rPr>
              <a:t>COMPUTING SUMMATIONS</a:t>
            </a:r>
            <a:endParaRPr lang="en-US" altLang="en-US" sz="3200">
              <a:solidFill>
                <a:srgbClr val="464653"/>
              </a:solidFill>
              <a:latin typeface="Bookman Old Style" panose="02050604050505020204" pitchFamily="18" charset="0"/>
              <a:cs typeface="Arial" panose="020B0604020202020204" pitchFamily="34" charset="0"/>
              <a:sym typeface="Bookman Old Style" panose="02050604050505020204" pitchFamily="18" charset="0"/>
            </a:endParaRPr>
          </a:p>
        </p:txBody>
      </p:sp>
      <p:sp>
        <p:nvSpPr>
          <p:cNvPr id="140" name="Google Shape;140;p5">
            <a:extLst>
              <a:ext uri="{FF2B5EF4-FFF2-40B4-BE49-F238E27FC236}">
                <a16:creationId xmlns:a16="http://schemas.microsoft.com/office/drawing/2014/main" id="{729B1DCC-C104-458C-8F52-08AB2898958C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136904" y="1468185"/>
            <a:ext cx="9829800" cy="4581779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Clr>
                <a:schemeClr val="accent1"/>
              </a:buClr>
              <a:buSzPts val="1976"/>
              <a:buNone/>
              <a:defRPr/>
            </a:pP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Use summation notation to express the sum of the first 100 terms of the sequence {</a:t>
            </a:r>
            <a:r>
              <a:rPr lang="en-US" sz="2400" dirty="0" err="1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a</a:t>
            </a:r>
            <a:r>
              <a:rPr lang="en-US" sz="2400" baseline="-25000" dirty="0" err="1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j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}, where</a:t>
            </a:r>
          </a:p>
          <a:p>
            <a:pPr marL="0" indent="0">
              <a:spcBef>
                <a:spcPts val="0"/>
              </a:spcBef>
              <a:buClr>
                <a:schemeClr val="accent1"/>
              </a:buClr>
              <a:buSzPts val="1976"/>
              <a:buNone/>
              <a:defRPr/>
            </a:pPr>
            <a:endParaRPr lang="en-US" sz="24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457200" lvl="1" indent="0">
              <a:spcBef>
                <a:spcPts val="0"/>
              </a:spcBef>
              <a:buClr>
                <a:schemeClr val="accent1"/>
              </a:buClr>
              <a:buSzPts val="1976"/>
              <a:buNone/>
              <a:defRPr/>
            </a:pPr>
            <a:r>
              <a:rPr lang="en-US" dirty="0" err="1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a</a:t>
            </a:r>
            <a:r>
              <a:rPr lang="en-US" baseline="-25000" dirty="0" err="1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j</a:t>
            </a:r>
            <a:r>
              <a:rPr lang="en-US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</a:t>
            </a:r>
            <a:r>
              <a:rPr lang="en-US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</a:t>
            </a:r>
            <a:r>
              <a:rPr lang="en-US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= 1/j		for    j = 1, 2, 3, … .</a:t>
            </a:r>
          </a:p>
          <a:p>
            <a:pPr marL="457200" lvl="1" indent="0">
              <a:spcBef>
                <a:spcPts val="0"/>
              </a:spcBef>
              <a:buClr>
                <a:schemeClr val="accent1"/>
              </a:buClr>
              <a:buSzPts val="1976"/>
              <a:buNone/>
              <a:defRPr/>
            </a:pPr>
            <a:endParaRPr lang="en-US" b="1" u="sng" dirty="0">
              <a:solidFill>
                <a:srgbClr val="C00000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spcBef>
                <a:spcPts val="0"/>
              </a:spcBef>
              <a:buClr>
                <a:schemeClr val="accent1"/>
              </a:buClr>
              <a:buSzPts val="1976"/>
              <a:buNone/>
              <a:defRPr/>
            </a:pPr>
            <a:r>
              <a:rPr lang="en-US" sz="2400" b="1" u="sng" dirty="0">
                <a:solidFill>
                  <a:srgbClr val="0070C0"/>
                </a:solidFill>
                <a:ea typeface="Gill Sans"/>
                <a:cs typeface="Gill Sans"/>
                <a:sym typeface="Gill Sans"/>
              </a:rPr>
              <a:t>SOLUTION</a:t>
            </a:r>
          </a:p>
          <a:p>
            <a:pPr marL="26987" indent="0">
              <a:lnSpc>
                <a:spcPct val="80000"/>
              </a:lnSpc>
              <a:spcAft>
                <a:spcPct val="0"/>
              </a:spcAft>
              <a:buClr>
                <a:schemeClr val="accent1"/>
              </a:buClr>
              <a:buSzPts val="1200"/>
              <a:buNone/>
              <a:defRPr/>
            </a:pPr>
            <a:r>
              <a:rPr lang="en-US" altLang="en-PK" sz="2400" dirty="0">
                <a:solidFill>
                  <a:srgbClr val="C00000"/>
                </a:solidFill>
                <a:cs typeface="Gill Sans" panose="020B0604020202020204" charset="0"/>
                <a:sym typeface="Gill Sans" panose="020B0604020202020204" charset="0"/>
              </a:rPr>
              <a:t>Lower limit</a:t>
            </a:r>
            <a:r>
              <a:rPr lang="en-US" altLang="en-PK" sz="2400" dirty="0">
                <a:cs typeface="Gill Sans" panose="020B0604020202020204" charset="0"/>
                <a:sym typeface="Gill Sans" panose="020B0604020202020204" charset="0"/>
              </a:rPr>
              <a:t> of the </a:t>
            </a:r>
            <a:r>
              <a:rPr lang="en-US" altLang="en-PK" sz="2400" dirty="0">
                <a:solidFill>
                  <a:srgbClr val="C00000"/>
                </a:solidFill>
                <a:cs typeface="Gill Sans" panose="020B0604020202020204" charset="0"/>
                <a:sym typeface="Gill Sans" panose="020B0604020202020204" charset="0"/>
              </a:rPr>
              <a:t>summation</a:t>
            </a:r>
            <a:r>
              <a:rPr lang="en-US" altLang="en-PK" sz="2400" dirty="0">
                <a:cs typeface="Gill Sans" panose="020B0604020202020204" charset="0"/>
                <a:sym typeface="Gill Sans" panose="020B0604020202020204" charset="0"/>
              </a:rPr>
              <a:t> is </a:t>
            </a:r>
            <a:r>
              <a:rPr lang="en-US" altLang="en-PK" sz="2400" dirty="0">
                <a:solidFill>
                  <a:srgbClr val="C00000"/>
                </a:solidFill>
                <a:cs typeface="Gill Sans" panose="020B0604020202020204" charset="0"/>
                <a:sym typeface="Gill Sans" panose="020B0604020202020204" charset="0"/>
              </a:rPr>
              <a:t>1.</a:t>
            </a:r>
            <a:r>
              <a:rPr lang="en-US" altLang="en-PK" sz="2400" dirty="0">
                <a:cs typeface="Gill Sans" panose="020B0604020202020204" charset="0"/>
                <a:sym typeface="Gill Sans" panose="020B0604020202020204" charset="0"/>
              </a:rPr>
              <a:t> </a:t>
            </a:r>
            <a:endParaRPr lang="en-PK" altLang="en-PK" sz="2400" dirty="0">
              <a:cs typeface="Gill Sans" panose="020B0604020202020204" charset="0"/>
              <a:sym typeface="Gill Sans" panose="020B0604020202020204" charset="0"/>
            </a:endParaRPr>
          </a:p>
          <a:p>
            <a:pPr marL="26987" indent="0">
              <a:lnSpc>
                <a:spcPct val="80000"/>
              </a:lnSpc>
              <a:spcAft>
                <a:spcPct val="0"/>
              </a:spcAft>
              <a:buClr>
                <a:schemeClr val="accent1"/>
              </a:buClr>
              <a:buSzPts val="1200"/>
              <a:buNone/>
              <a:defRPr/>
            </a:pPr>
            <a:r>
              <a:rPr lang="en-US" altLang="en-PK" sz="2400" dirty="0">
                <a:solidFill>
                  <a:srgbClr val="C00000"/>
                </a:solidFill>
                <a:cs typeface="Gill Sans" panose="020B0604020202020204" charset="0"/>
                <a:sym typeface="Gill Sans" panose="020B0604020202020204" charset="0"/>
              </a:rPr>
              <a:t>Upper limit</a:t>
            </a:r>
            <a:r>
              <a:rPr lang="en-US" altLang="en-PK" sz="2400" dirty="0">
                <a:cs typeface="Gill Sans" panose="020B0604020202020204" charset="0"/>
                <a:sym typeface="Gill Sans" panose="020B0604020202020204" charset="0"/>
              </a:rPr>
              <a:t> of the </a:t>
            </a:r>
            <a:r>
              <a:rPr lang="en-US" altLang="en-PK" sz="2400" dirty="0">
                <a:solidFill>
                  <a:srgbClr val="C00000"/>
                </a:solidFill>
                <a:cs typeface="Gill Sans" panose="020B0604020202020204" charset="0"/>
                <a:sym typeface="Gill Sans" panose="020B0604020202020204" charset="0"/>
              </a:rPr>
              <a:t>summation </a:t>
            </a:r>
            <a:r>
              <a:rPr lang="en-US" altLang="en-PK" sz="2400" dirty="0">
                <a:cs typeface="Gill Sans" panose="020B0604020202020204" charset="0"/>
                <a:sym typeface="Gill Sans" panose="020B0604020202020204" charset="0"/>
              </a:rPr>
              <a:t>is </a:t>
            </a:r>
            <a:r>
              <a:rPr lang="en-US" altLang="en-PK" sz="2400" dirty="0">
                <a:solidFill>
                  <a:srgbClr val="C00000"/>
                </a:solidFill>
                <a:cs typeface="Gill Sans" panose="020B0604020202020204" charset="0"/>
                <a:sym typeface="Gill Sans" panose="020B0604020202020204" charset="0"/>
              </a:rPr>
              <a:t>100.</a:t>
            </a:r>
          </a:p>
          <a:p>
            <a:pPr marL="26987" indent="0">
              <a:lnSpc>
                <a:spcPct val="80000"/>
              </a:lnSpc>
              <a:spcAft>
                <a:spcPct val="0"/>
              </a:spcAft>
              <a:buClr>
                <a:schemeClr val="accent1"/>
              </a:buClr>
              <a:buSzPts val="1200"/>
              <a:buNone/>
              <a:defRPr/>
            </a:pPr>
            <a:endParaRPr lang="en-US" sz="2400" dirty="0">
              <a:solidFill>
                <a:srgbClr val="C00000"/>
              </a:solidFill>
              <a:ea typeface="Gill Sans"/>
              <a:cs typeface="Gill Sans"/>
              <a:sym typeface="Gill Sans"/>
            </a:endParaRPr>
          </a:p>
          <a:p>
            <a:pPr marL="26987" indent="0">
              <a:lnSpc>
                <a:spcPct val="80000"/>
              </a:lnSpc>
              <a:spcAft>
                <a:spcPct val="0"/>
              </a:spcAft>
              <a:buClr>
                <a:schemeClr val="accent1"/>
              </a:buClr>
              <a:buSzPts val="1200"/>
              <a:buNone/>
              <a:defRPr/>
            </a:pPr>
            <a:r>
              <a:rPr lang="en-US" sz="2400" dirty="0">
                <a:solidFill>
                  <a:schemeClr val="accent6">
                    <a:lumMod val="50000"/>
                  </a:schemeClr>
                </a:solidFill>
                <a:ea typeface="Gill Sans"/>
                <a:cs typeface="Gill Sans"/>
                <a:sym typeface="Gill Sans"/>
              </a:rPr>
              <a:t>We write the 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Sum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ea typeface="Gill Sans"/>
                <a:cs typeface="Gill Sans"/>
                <a:sym typeface="Gill Sans"/>
              </a:rPr>
              <a:t>as: </a:t>
            </a:r>
          </a:p>
        </p:txBody>
      </p:sp>
      <p:sp>
        <p:nvSpPr>
          <p:cNvPr id="20484" name="Google Shape;141;p5">
            <a:extLst>
              <a:ext uri="{FF2B5EF4-FFF2-40B4-BE49-F238E27FC236}">
                <a16:creationId xmlns:a16="http://schemas.microsoft.com/office/drawing/2014/main" id="{29FDE13E-826E-4E67-B15D-7E2DB035AC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43955"/>
            <a:ext cx="9144000" cy="36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Gill Sans" charset="0"/>
              <a:cs typeface="Gill Sans" charset="0"/>
              <a:sym typeface="Gill Sans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629F6E-803A-498D-9862-876E37410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38" t="40320" r="68219" b="30212"/>
          <a:stretch>
            <a:fillRect/>
          </a:stretch>
        </p:blipFill>
        <p:spPr bwMode="auto">
          <a:xfrm>
            <a:off x="4145990" y="4457795"/>
            <a:ext cx="122681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1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1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1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Google Shape;139;p5">
            <a:extLst>
              <a:ext uri="{FF2B5EF4-FFF2-40B4-BE49-F238E27FC236}">
                <a16:creationId xmlns:a16="http://schemas.microsoft.com/office/drawing/2014/main" id="{BA9CB74E-9126-4DEB-A741-65E484D09DCA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ts val="3200"/>
              <a:buFont typeface="Bookman Old Style" panose="02050604050505020204" pitchFamily="18" charset="0"/>
              <a:buNone/>
            </a:pPr>
            <a:r>
              <a:rPr lang="en-US" altLang="en-US" sz="3200" b="1" u="sng" dirty="0">
                <a:solidFill>
                  <a:srgbClr val="0070C0"/>
                </a:solidFill>
                <a:latin typeface="Bookman Old Style" panose="02050604050505020204" pitchFamily="18" charset="0"/>
                <a:cs typeface="Arial" panose="020B0604020202020204" pitchFamily="34" charset="0"/>
                <a:sym typeface="Bookman Old Style" panose="02050604050505020204" pitchFamily="18" charset="0"/>
              </a:rPr>
              <a:t>COMPUTING SUMMATIONS</a:t>
            </a:r>
            <a:endParaRPr lang="en-US" altLang="en-US" sz="3200" dirty="0">
              <a:solidFill>
                <a:srgbClr val="464653"/>
              </a:solidFill>
              <a:latin typeface="Bookman Old Style" panose="02050604050505020204" pitchFamily="18" charset="0"/>
              <a:cs typeface="Arial" panose="020B0604020202020204" pitchFamily="34" charset="0"/>
              <a:sym typeface="Bookman Old Style" panose="02050604050505020204" pitchFamily="18" charset="0"/>
            </a:endParaRPr>
          </a:p>
        </p:txBody>
      </p:sp>
      <p:sp>
        <p:nvSpPr>
          <p:cNvPr id="140" name="Google Shape;140;p5">
            <a:extLst>
              <a:ext uri="{FF2B5EF4-FFF2-40B4-BE49-F238E27FC236}">
                <a16:creationId xmlns:a16="http://schemas.microsoft.com/office/drawing/2014/main" id="{4C9BF9CD-AB36-405D-80C7-56C7A69C4B6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181100" y="2011858"/>
            <a:ext cx="9829800" cy="3859742"/>
          </a:xfrm>
        </p:spPr>
        <p:txBody>
          <a:bodyPr/>
          <a:lstStyle/>
          <a:p>
            <a:pPr marL="0" indent="0">
              <a:spcBef>
                <a:spcPts val="0"/>
              </a:spcBef>
              <a:buClr>
                <a:schemeClr val="accent1"/>
              </a:buClr>
              <a:buSzPts val="1976"/>
              <a:buNone/>
              <a:defRPr/>
            </a:pPr>
            <a:r>
              <a:rPr lang="en-US" sz="26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Let </a:t>
            </a:r>
            <a:r>
              <a:rPr lang="en-US" sz="26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a</a:t>
            </a:r>
            <a:r>
              <a:rPr lang="en-US" sz="2600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0</a:t>
            </a:r>
            <a:r>
              <a:rPr lang="en-US" sz="26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= 2</a:t>
            </a:r>
            <a:r>
              <a:rPr lang="en-US" sz="26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, </a:t>
            </a:r>
            <a:r>
              <a:rPr lang="en-US" sz="26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a</a:t>
            </a:r>
            <a:r>
              <a:rPr lang="en-US" sz="2600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1</a:t>
            </a:r>
            <a:r>
              <a:rPr lang="en-US" sz="26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= 3</a:t>
            </a:r>
            <a:r>
              <a:rPr lang="en-US" sz="26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, </a:t>
            </a:r>
            <a:r>
              <a:rPr lang="en-US" sz="26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a</a:t>
            </a:r>
            <a:r>
              <a:rPr lang="en-US" sz="2600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2</a:t>
            </a:r>
            <a:r>
              <a:rPr lang="en-US" sz="26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= -2</a:t>
            </a:r>
            <a:r>
              <a:rPr lang="en-US" sz="26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, </a:t>
            </a:r>
            <a:r>
              <a:rPr lang="en-US" sz="26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a</a:t>
            </a:r>
            <a:r>
              <a:rPr lang="en-US" sz="2600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3</a:t>
            </a:r>
            <a:r>
              <a:rPr lang="en-US" sz="26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= 1</a:t>
            </a:r>
            <a:r>
              <a:rPr lang="en-US" sz="26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and </a:t>
            </a:r>
            <a:r>
              <a:rPr lang="en-US" sz="26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a</a:t>
            </a:r>
            <a:r>
              <a:rPr lang="en-US" sz="2600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4</a:t>
            </a:r>
            <a:r>
              <a:rPr lang="en-US" sz="26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= 0</a:t>
            </a:r>
            <a:r>
              <a:rPr lang="en-US" sz="26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.</a:t>
            </a:r>
          </a:p>
          <a:p>
            <a:pPr>
              <a:spcBef>
                <a:spcPts val="0"/>
              </a:spcBef>
              <a:buClr>
                <a:schemeClr val="accent1"/>
              </a:buClr>
              <a:buSzPts val="1976"/>
              <a:defRPr/>
            </a:pPr>
            <a:endParaRPr sz="26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r>
              <a:rPr lang="en-US" sz="26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Compute</a:t>
            </a:r>
            <a:r>
              <a:rPr lang="en-US" sz="26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each of the </a:t>
            </a:r>
            <a:r>
              <a:rPr lang="en-US" sz="26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summations</a:t>
            </a:r>
            <a:r>
              <a:rPr lang="en-US" sz="26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:</a:t>
            </a:r>
            <a:endParaRPr sz="2600" baseline="-25000" dirty="0">
              <a:solidFill>
                <a:srgbClr val="C00000"/>
              </a:solidFill>
              <a:ea typeface="Gill Sans"/>
              <a:cs typeface="Gill Sans"/>
              <a:sym typeface="Gill Sans"/>
            </a:endParaRPr>
          </a:p>
          <a:p>
            <a:pPr marL="274320" indent="-274320">
              <a:buClr>
                <a:schemeClr val="accent1"/>
              </a:buClr>
              <a:buSzPts val="1976"/>
              <a:defRPr/>
            </a:pPr>
            <a:endParaRPr sz="26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</p:txBody>
      </p:sp>
      <p:sp>
        <p:nvSpPr>
          <p:cNvPr id="22532" name="Google Shape;141;p5">
            <a:extLst>
              <a:ext uri="{FF2B5EF4-FFF2-40B4-BE49-F238E27FC236}">
                <a16:creationId xmlns:a16="http://schemas.microsoft.com/office/drawing/2014/main" id="{2D630C4B-F983-4F65-AEE0-92EB5BD344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43955"/>
            <a:ext cx="9144000" cy="36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Gill Sans" charset="0"/>
              <a:cs typeface="Gill Sans" charset="0"/>
              <a:sym typeface="Gill Sans" charset="0"/>
            </a:endParaRPr>
          </a:p>
        </p:txBody>
      </p:sp>
      <p:graphicFrame>
        <p:nvGraphicFramePr>
          <p:cNvPr id="142" name="Google Shape;142;p5">
            <a:extLst>
              <a:ext uri="{FF2B5EF4-FFF2-40B4-BE49-F238E27FC236}">
                <a16:creationId xmlns:a16="http://schemas.microsoft.com/office/drawing/2014/main" id="{B1FF4664-12AF-41CD-A61B-1D19172FE0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0869327"/>
              </p:ext>
            </p:extLst>
          </p:nvPr>
        </p:nvGraphicFramePr>
        <p:xfrm>
          <a:off x="2298212" y="3612367"/>
          <a:ext cx="6675438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83" r:id="rId4" imgW="0" imgH="0" progId="">
                  <p:embed/>
                </p:oleObj>
              </mc:Choice>
              <mc:Fallback>
                <p:oleObj r:id="rId4" imgW="0" imgH="0" progId="">
                  <p:embed/>
                  <p:pic>
                    <p:nvPicPr>
                      <p:cNvPr id="142" name="Google Shape;142;p5">
                        <a:extLst>
                          <a:ext uri="{FF2B5EF4-FFF2-40B4-BE49-F238E27FC236}">
                            <a16:creationId xmlns:a16="http://schemas.microsoft.com/office/drawing/2014/main" id="{B1FF4664-12AF-41CD-A61B-1D19172FE0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8212" y="3612367"/>
                        <a:ext cx="6675438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4" name="Google Shape;143;p5">
            <a:extLst>
              <a:ext uri="{FF2B5EF4-FFF2-40B4-BE49-F238E27FC236}">
                <a16:creationId xmlns:a16="http://schemas.microsoft.com/office/drawing/2014/main" id="{6599270E-A12B-4CC8-8925-00C77B578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3459" y="3840967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3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Google Shape;156;p7">
            <a:extLst>
              <a:ext uri="{FF2B5EF4-FFF2-40B4-BE49-F238E27FC236}">
                <a16:creationId xmlns:a16="http://schemas.microsoft.com/office/drawing/2014/main" id="{66A1739E-DC73-48E2-8E79-9FEEAA2D5500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493776" y="19611"/>
            <a:ext cx="10515600" cy="1213878"/>
          </a:xfrm>
        </p:spPr>
        <p:txBody>
          <a:bodyPr>
            <a:normAutofit/>
          </a:bodyPr>
          <a:lstStyle/>
          <a:p>
            <a:pPr algn="ctr">
              <a:spcAft>
                <a:spcPct val="0"/>
              </a:spcAft>
              <a:buClr>
                <a:srgbClr val="0070C0"/>
              </a:buClr>
              <a:buSzPts val="3200"/>
            </a:pPr>
            <a:r>
              <a:rPr lang="en-US" altLang="en-US" sz="3600" b="1" u="sng" dirty="0">
                <a:solidFill>
                  <a:srgbClr val="0070C0"/>
                </a:solidFill>
                <a:cs typeface="Arial" panose="020B0604020202020204" pitchFamily="34" charset="0"/>
                <a:sym typeface="Bookman Old Style" panose="02050604050505020204" pitchFamily="18" charset="0"/>
              </a:rPr>
              <a:t>Example 1</a:t>
            </a:r>
          </a:p>
        </p:txBody>
      </p:sp>
      <p:sp>
        <p:nvSpPr>
          <p:cNvPr id="157" name="Google Shape;157;p7">
            <a:extLst>
              <a:ext uri="{FF2B5EF4-FFF2-40B4-BE49-F238E27FC236}">
                <a16:creationId xmlns:a16="http://schemas.microsoft.com/office/drawing/2014/main" id="{ADC6EAD5-3880-44E8-85E3-80BA99DA2C8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179576" y="1277471"/>
            <a:ext cx="9829800" cy="5215404"/>
          </a:xfrm>
        </p:spPr>
        <p:txBody>
          <a:bodyPr>
            <a:normAutofit fontScale="92500" lnSpcReduction="10000"/>
          </a:bodyPr>
          <a:lstStyle/>
          <a:p>
            <a:pPr marL="0" indent="0">
              <a:spcBef>
                <a:spcPts val="0"/>
              </a:spcBef>
              <a:buClr>
                <a:schemeClr val="accent1"/>
              </a:buClr>
              <a:buSzPts val="1976"/>
              <a:buNone/>
              <a:defRPr/>
            </a:pPr>
            <a:r>
              <a:rPr lang="en-US" sz="26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	Let </a:t>
            </a:r>
            <a:r>
              <a:rPr lang="en-US" sz="26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a</a:t>
            </a:r>
            <a:r>
              <a:rPr lang="en-US" sz="2600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0</a:t>
            </a:r>
            <a:r>
              <a:rPr lang="en-US" sz="26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= 2</a:t>
            </a:r>
            <a:r>
              <a:rPr lang="en-US" sz="26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, </a:t>
            </a:r>
            <a:r>
              <a:rPr lang="en-US" sz="26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a</a:t>
            </a:r>
            <a:r>
              <a:rPr lang="en-US" sz="2600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1</a:t>
            </a:r>
            <a:r>
              <a:rPr lang="en-US" sz="26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= 3</a:t>
            </a:r>
            <a:r>
              <a:rPr lang="en-US" sz="26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, </a:t>
            </a:r>
            <a:r>
              <a:rPr lang="en-US" sz="26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a</a:t>
            </a:r>
            <a:r>
              <a:rPr lang="en-US" sz="2600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2</a:t>
            </a:r>
            <a:r>
              <a:rPr lang="en-US" sz="26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= -2</a:t>
            </a:r>
            <a:r>
              <a:rPr lang="en-US" sz="26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, </a:t>
            </a:r>
            <a:r>
              <a:rPr lang="en-US" sz="26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a</a:t>
            </a:r>
            <a:r>
              <a:rPr lang="en-US" sz="2600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3</a:t>
            </a:r>
            <a:r>
              <a:rPr lang="en-US" sz="26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= 1</a:t>
            </a:r>
            <a:r>
              <a:rPr lang="en-US" sz="26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and </a:t>
            </a:r>
            <a:r>
              <a:rPr lang="en-US" sz="26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a</a:t>
            </a:r>
            <a:r>
              <a:rPr lang="en-US" sz="2600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4</a:t>
            </a:r>
            <a:r>
              <a:rPr lang="en-US" sz="26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= 0</a:t>
            </a:r>
          </a:p>
          <a:p>
            <a:pPr marL="0" indent="0">
              <a:spcBef>
                <a:spcPts val="0"/>
              </a:spcBef>
              <a:buClr>
                <a:schemeClr val="accent1"/>
              </a:buClr>
              <a:buSzPts val="1976"/>
              <a:buNone/>
              <a:defRPr/>
            </a:pPr>
            <a:r>
              <a:rPr lang="en-US" sz="26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	</a:t>
            </a:r>
          </a:p>
          <a:p>
            <a:pPr marL="0" indent="0">
              <a:spcBef>
                <a:spcPts val="0"/>
              </a:spcBef>
              <a:buClr>
                <a:schemeClr val="accent1"/>
              </a:buClr>
              <a:buSzPts val="1976"/>
              <a:buNone/>
              <a:defRPr/>
            </a:pPr>
            <a:r>
              <a:rPr lang="en-US" sz="26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	Compute </a:t>
            </a:r>
          </a:p>
          <a:p>
            <a:pPr marL="0" indent="0">
              <a:spcBef>
                <a:spcPts val="0"/>
              </a:spcBef>
              <a:buClr>
                <a:schemeClr val="accent1"/>
              </a:buClr>
              <a:buSzPts val="1976"/>
              <a:buNone/>
              <a:defRPr/>
            </a:pPr>
            <a:endParaRPr lang="en-US" sz="2600" dirty="0">
              <a:solidFill>
                <a:srgbClr val="C00000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spcBef>
                <a:spcPts val="0"/>
              </a:spcBef>
              <a:buClr>
                <a:schemeClr val="accent1"/>
              </a:buClr>
              <a:buSzPts val="1976"/>
              <a:buNone/>
              <a:defRPr/>
            </a:pPr>
            <a:endParaRPr lang="en-US" sz="2400" b="1" u="sng" dirty="0">
              <a:solidFill>
                <a:srgbClr val="0070C0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spcBef>
                <a:spcPts val="0"/>
              </a:spcBef>
              <a:buClr>
                <a:schemeClr val="accent1"/>
              </a:buClr>
              <a:buSzPts val="1976"/>
              <a:buNone/>
              <a:defRPr/>
            </a:pPr>
            <a:r>
              <a:rPr lang="en-US" sz="2400" b="1" u="sng" dirty="0">
                <a:solidFill>
                  <a:srgbClr val="0070C0"/>
                </a:solidFill>
                <a:ea typeface="Gill Sans"/>
                <a:cs typeface="Gill Sans"/>
                <a:sym typeface="Gill Sans"/>
              </a:rPr>
              <a:t>SOLUTION</a:t>
            </a:r>
          </a:p>
          <a:p>
            <a:pPr marL="0" indent="0">
              <a:spcBef>
                <a:spcPts val="0"/>
              </a:spcBef>
              <a:buClr>
                <a:schemeClr val="accent1"/>
              </a:buClr>
              <a:buSzPts val="1976"/>
              <a:buNone/>
              <a:defRPr/>
            </a:pPr>
            <a:endParaRPr lang="en-US" sz="2400" b="1" u="sng" dirty="0">
              <a:solidFill>
                <a:srgbClr val="0070C0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spcBef>
                <a:spcPts val="0"/>
              </a:spcBef>
              <a:buClr>
                <a:schemeClr val="accent1"/>
              </a:buClr>
              <a:buSzPts val="1976"/>
              <a:buNone/>
              <a:defRPr/>
            </a:pPr>
            <a:r>
              <a:rPr lang="en-US" sz="20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We will take </a:t>
            </a:r>
            <a:r>
              <a:rPr lang="en-US" sz="2000" dirty="0" err="1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i</a:t>
            </a:r>
            <a:r>
              <a:rPr lang="en-US" sz="20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= </a:t>
            </a:r>
            <a:r>
              <a:rPr lang="en-US" sz="2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0, 1, 2, 3, 4</a:t>
            </a:r>
            <a:endParaRPr lang="en-US" sz="2000" b="1" u="sng" dirty="0">
              <a:solidFill>
                <a:srgbClr val="0070C0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spcBef>
                <a:spcPts val="0"/>
              </a:spcBef>
              <a:buClr>
                <a:schemeClr val="accent1"/>
              </a:buClr>
              <a:buSzPts val="1976"/>
              <a:buNone/>
              <a:defRPr/>
            </a:pPr>
            <a:endParaRPr sz="20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r>
              <a:rPr lang="en-US" sz="26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	</a:t>
            </a:r>
            <a:r>
              <a:rPr lang="pt-BR" sz="26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	             = </a:t>
            </a:r>
            <a:r>
              <a:rPr lang="pt-BR" sz="26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a</a:t>
            </a:r>
            <a:r>
              <a:rPr lang="pt-BR" sz="2600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0</a:t>
            </a:r>
            <a:r>
              <a:rPr lang="pt-BR" sz="26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+ a</a:t>
            </a:r>
            <a:r>
              <a:rPr lang="pt-BR" sz="2600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1</a:t>
            </a:r>
            <a:r>
              <a:rPr lang="pt-BR" sz="26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+ a</a:t>
            </a:r>
            <a:r>
              <a:rPr lang="pt-BR" sz="2600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2</a:t>
            </a:r>
            <a:r>
              <a:rPr lang="pt-BR" sz="26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+ a</a:t>
            </a:r>
            <a:r>
              <a:rPr lang="pt-BR" sz="2600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3</a:t>
            </a:r>
            <a:r>
              <a:rPr lang="pt-BR" sz="26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+ a</a:t>
            </a:r>
            <a:r>
              <a:rPr lang="pt-BR" sz="2600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4</a:t>
            </a:r>
            <a:endParaRPr lang="pt-BR" sz="2600" dirty="0">
              <a:solidFill>
                <a:srgbClr val="C00000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r>
              <a:rPr lang="pt-BR" sz="26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	</a:t>
            </a: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r>
              <a:rPr lang="pt-BR" sz="26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			   = </a:t>
            </a:r>
            <a:r>
              <a:rPr lang="pt-BR" sz="26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2 + 3 + (-2) + 1 + 0  </a:t>
            </a: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endParaRPr lang="pt-BR" sz="26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r>
              <a:rPr lang="pt-BR" sz="26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			   = </a:t>
            </a:r>
            <a:r>
              <a:rPr lang="pt-BR" sz="26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4</a:t>
            </a: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r>
              <a:rPr lang="en-US" sz="26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	</a:t>
            </a:r>
            <a:endParaRPr sz="26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</p:txBody>
      </p:sp>
      <p:graphicFrame>
        <p:nvGraphicFramePr>
          <p:cNvPr id="3" name="Google Shape;150;p6">
            <a:extLst>
              <a:ext uri="{FF2B5EF4-FFF2-40B4-BE49-F238E27FC236}">
                <a16:creationId xmlns:a16="http://schemas.microsoft.com/office/drawing/2014/main" id="{40C6131D-05CF-43FC-8233-189942486A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9114141"/>
              </p:ext>
            </p:extLst>
          </p:nvPr>
        </p:nvGraphicFramePr>
        <p:xfrm>
          <a:off x="3475037" y="1688634"/>
          <a:ext cx="838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65" r:id="rId4" imgW="0" imgH="0" progId="">
                  <p:embed/>
                </p:oleObj>
              </mc:Choice>
              <mc:Fallback>
                <p:oleObj r:id="rId4" imgW="0" imgH="0" progId="">
                  <p:embed/>
                  <p:pic>
                    <p:nvPicPr>
                      <p:cNvPr id="3" name="Google Shape;150;p6">
                        <a:extLst>
                          <a:ext uri="{FF2B5EF4-FFF2-40B4-BE49-F238E27FC236}">
                            <a16:creationId xmlns:a16="http://schemas.microsoft.com/office/drawing/2014/main" id="{40C6131D-05CF-43FC-8233-189942486A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5037" y="1688634"/>
                        <a:ext cx="8382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Google Shape;150;p6">
            <a:extLst>
              <a:ext uri="{FF2B5EF4-FFF2-40B4-BE49-F238E27FC236}">
                <a16:creationId xmlns:a16="http://schemas.microsoft.com/office/drawing/2014/main" id="{EF8AA722-7CE2-4FBF-9E6E-B0A228048C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5467262"/>
              </p:ext>
            </p:extLst>
          </p:nvPr>
        </p:nvGraphicFramePr>
        <p:xfrm>
          <a:off x="2961230" y="3522008"/>
          <a:ext cx="838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66" r:id="rId6" imgW="0" imgH="0" progId="">
                  <p:embed/>
                </p:oleObj>
              </mc:Choice>
              <mc:Fallback>
                <p:oleObj r:id="rId6" imgW="0" imgH="0" progId="">
                  <p:embed/>
                  <p:pic>
                    <p:nvPicPr>
                      <p:cNvPr id="4" name="Google Shape;150;p6">
                        <a:extLst>
                          <a:ext uri="{FF2B5EF4-FFF2-40B4-BE49-F238E27FC236}">
                            <a16:creationId xmlns:a16="http://schemas.microsoft.com/office/drawing/2014/main" id="{EF8AA722-7CE2-4FBF-9E6E-B0A228048C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1230" y="3522008"/>
                        <a:ext cx="8382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Google Shape;150;p6">
            <a:extLst>
              <a:ext uri="{FF2B5EF4-FFF2-40B4-BE49-F238E27FC236}">
                <a16:creationId xmlns:a16="http://schemas.microsoft.com/office/drawing/2014/main" id="{8A35019C-C9BA-4E1F-803C-EA874CFD9E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6658098"/>
              </p:ext>
            </p:extLst>
          </p:nvPr>
        </p:nvGraphicFramePr>
        <p:xfrm>
          <a:off x="2961230" y="5123329"/>
          <a:ext cx="838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67" r:id="rId7" imgW="0" imgH="0" progId="">
                  <p:embed/>
                </p:oleObj>
              </mc:Choice>
              <mc:Fallback>
                <p:oleObj r:id="rId7" imgW="0" imgH="0" progId="">
                  <p:embed/>
                  <p:pic>
                    <p:nvPicPr>
                      <p:cNvPr id="5" name="Google Shape;150;p6">
                        <a:extLst>
                          <a:ext uri="{FF2B5EF4-FFF2-40B4-BE49-F238E27FC236}">
                            <a16:creationId xmlns:a16="http://schemas.microsoft.com/office/drawing/2014/main" id="{8A35019C-C9BA-4E1F-803C-EA874CFD9E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1230" y="5123329"/>
                        <a:ext cx="8382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5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5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5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5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Google Shape;156;p7">
            <a:extLst>
              <a:ext uri="{FF2B5EF4-FFF2-40B4-BE49-F238E27FC236}">
                <a16:creationId xmlns:a16="http://schemas.microsoft.com/office/drawing/2014/main" id="{77D619E6-8956-47E6-824D-5BE0A5462655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493776" y="119662"/>
            <a:ext cx="10515600" cy="1104301"/>
          </a:xfrm>
        </p:spPr>
        <p:txBody>
          <a:bodyPr>
            <a:normAutofit/>
          </a:bodyPr>
          <a:lstStyle/>
          <a:p>
            <a:pPr algn="ctr">
              <a:spcAft>
                <a:spcPct val="0"/>
              </a:spcAft>
              <a:buClr>
                <a:srgbClr val="0070C0"/>
              </a:buClr>
              <a:buSzPts val="3200"/>
            </a:pPr>
            <a:r>
              <a:rPr lang="en-US" altLang="en-US" sz="3600" b="1" u="sng" dirty="0">
                <a:solidFill>
                  <a:srgbClr val="0070C0"/>
                </a:solidFill>
                <a:cs typeface="Arial" panose="020B0604020202020204" pitchFamily="34" charset="0"/>
                <a:sym typeface="Bookman Old Style" panose="02050604050505020204" pitchFamily="18" charset="0"/>
              </a:rPr>
              <a:t>Example 2</a:t>
            </a:r>
          </a:p>
        </p:txBody>
      </p:sp>
      <p:sp>
        <p:nvSpPr>
          <p:cNvPr id="157" name="Google Shape;157;p7">
            <a:extLst>
              <a:ext uri="{FF2B5EF4-FFF2-40B4-BE49-F238E27FC236}">
                <a16:creationId xmlns:a16="http://schemas.microsoft.com/office/drawing/2014/main" id="{9CD71006-F37D-4035-89B7-32C44011E91C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>
          <a:xfrm>
            <a:off x="1179576" y="1304365"/>
            <a:ext cx="9829800" cy="4746811"/>
          </a:xfrm>
        </p:spPr>
        <p:txBody>
          <a:bodyPr>
            <a:normAutofit/>
          </a:bodyPr>
          <a:lstStyle/>
          <a:p>
            <a:pPr marL="0" inden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r>
              <a:rPr lang="en-US" altLang="en-US" sz="2400" dirty="0">
                <a:cs typeface="Gill Sans" charset="0"/>
                <a:sym typeface="Gill Sans" charset="0"/>
              </a:rPr>
              <a:t>	Let 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a</a:t>
            </a:r>
            <a:r>
              <a:rPr lang="en-US" altLang="en-US" sz="2400" baseline="-25000" dirty="0">
                <a:solidFill>
                  <a:srgbClr val="C00000"/>
                </a:solidFill>
                <a:cs typeface="Gill Sans" charset="0"/>
                <a:sym typeface="Gill Sans" charset="0"/>
              </a:rPr>
              <a:t>0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 = 2</a:t>
            </a:r>
            <a:r>
              <a:rPr lang="en-US" altLang="en-US" sz="2400" dirty="0">
                <a:cs typeface="Gill Sans" charset="0"/>
                <a:sym typeface="Gill Sans" charset="0"/>
              </a:rPr>
              <a:t>, 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a</a:t>
            </a:r>
            <a:r>
              <a:rPr lang="en-US" altLang="en-US" sz="2400" baseline="-25000" dirty="0">
                <a:solidFill>
                  <a:srgbClr val="C00000"/>
                </a:solidFill>
                <a:cs typeface="Gill Sans" charset="0"/>
                <a:sym typeface="Gill Sans" charset="0"/>
              </a:rPr>
              <a:t>1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 = 3</a:t>
            </a:r>
            <a:r>
              <a:rPr lang="en-US" altLang="en-US" sz="2400" dirty="0">
                <a:cs typeface="Gill Sans" charset="0"/>
                <a:sym typeface="Gill Sans" charset="0"/>
              </a:rPr>
              <a:t>, 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a</a:t>
            </a:r>
            <a:r>
              <a:rPr lang="en-US" altLang="en-US" sz="2400" baseline="-25000" dirty="0">
                <a:solidFill>
                  <a:srgbClr val="C00000"/>
                </a:solidFill>
                <a:cs typeface="Gill Sans" charset="0"/>
                <a:sym typeface="Gill Sans" charset="0"/>
              </a:rPr>
              <a:t>2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 = -2</a:t>
            </a:r>
            <a:r>
              <a:rPr lang="en-US" altLang="en-US" sz="2400" dirty="0">
                <a:cs typeface="Gill Sans" charset="0"/>
                <a:sym typeface="Gill Sans" charset="0"/>
              </a:rPr>
              <a:t>, 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a</a:t>
            </a:r>
            <a:r>
              <a:rPr lang="en-US" altLang="en-US" sz="2400" baseline="-25000" dirty="0">
                <a:solidFill>
                  <a:srgbClr val="C00000"/>
                </a:solidFill>
                <a:cs typeface="Gill Sans" charset="0"/>
                <a:sym typeface="Gill Sans" charset="0"/>
              </a:rPr>
              <a:t>3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 = 1</a:t>
            </a:r>
            <a:r>
              <a:rPr lang="en-US" altLang="en-US" sz="2400" dirty="0">
                <a:cs typeface="Gill Sans" charset="0"/>
                <a:sym typeface="Gill Sans" charset="0"/>
              </a:rPr>
              <a:t> and 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a</a:t>
            </a:r>
            <a:r>
              <a:rPr lang="en-US" altLang="en-US" sz="2400" baseline="-25000" dirty="0">
                <a:solidFill>
                  <a:srgbClr val="C00000"/>
                </a:solidFill>
                <a:cs typeface="Gill Sans" charset="0"/>
                <a:sym typeface="Gill Sans" charset="0"/>
              </a:rPr>
              <a:t>4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 = 0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	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	Compute 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endParaRPr lang="en-US" altLang="en-US" sz="2400" dirty="0">
              <a:solidFill>
                <a:srgbClr val="C00000"/>
              </a:solidFill>
              <a:cs typeface="Gill Sans" charset="0"/>
              <a:sym typeface="Gill Sans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r>
              <a:rPr lang="en-US" altLang="en-US" sz="2400" b="1" u="sng" dirty="0">
                <a:solidFill>
                  <a:srgbClr val="0070C0"/>
                </a:solidFill>
                <a:cs typeface="Gill Sans" charset="0"/>
                <a:sym typeface="Gill Sans" charset="0"/>
              </a:rPr>
              <a:t>SOLUTION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endParaRPr lang="en-US" altLang="en-US" sz="2400" dirty="0">
              <a:cs typeface="Gill Sans" charset="0"/>
              <a:sym typeface="Gill Sans" charset="0"/>
            </a:endParaRPr>
          </a:p>
          <a:p>
            <a:pPr marL="0" indent="0"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r>
              <a:rPr lang="en-US" altLang="en-US" sz="2400" dirty="0">
                <a:cs typeface="Gill Sans" charset="0"/>
                <a:sym typeface="Gill Sans" charset="0"/>
              </a:rPr>
              <a:t>		        	 = 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a</a:t>
            </a:r>
            <a:r>
              <a:rPr lang="en-US" altLang="en-US" sz="2400" baseline="-25000" dirty="0">
                <a:solidFill>
                  <a:srgbClr val="C00000"/>
                </a:solidFill>
                <a:cs typeface="Gill Sans" charset="0"/>
                <a:sym typeface="Gill Sans" charset="0"/>
              </a:rPr>
              <a:t>0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 + a</a:t>
            </a:r>
            <a:r>
              <a:rPr lang="en-US" altLang="en-US" sz="2400" baseline="-25000" dirty="0">
                <a:solidFill>
                  <a:srgbClr val="C00000"/>
                </a:solidFill>
                <a:cs typeface="Gill Sans" charset="0"/>
                <a:sym typeface="Gill Sans" charset="0"/>
              </a:rPr>
              <a:t>2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 + a</a:t>
            </a:r>
            <a:r>
              <a:rPr lang="en-US" altLang="en-US" sz="2400" baseline="-25000" dirty="0">
                <a:solidFill>
                  <a:srgbClr val="C00000"/>
                </a:solidFill>
                <a:cs typeface="Gill Sans" charset="0"/>
                <a:sym typeface="Gill Sans" charset="0"/>
              </a:rPr>
              <a:t>4              </a:t>
            </a:r>
            <a:r>
              <a:rPr lang="en-US" altLang="en-US" sz="2400" dirty="0">
                <a:cs typeface="Gill Sans" charset="0"/>
                <a:sym typeface="Gill Sans" charset="0"/>
              </a:rPr>
              <a:t>(Take 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j</a:t>
            </a:r>
            <a:r>
              <a:rPr lang="en-US" altLang="en-US" sz="2400" dirty="0">
                <a:cs typeface="Gill Sans" charset="0"/>
                <a:sym typeface="Gill Sans" charset="0"/>
              </a:rPr>
              <a:t> = 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0, 1, 2)</a:t>
            </a:r>
          </a:p>
          <a:p>
            <a:pPr marL="0" indent="0"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r>
              <a:rPr lang="en-US" altLang="en-US" sz="2400" dirty="0">
                <a:cs typeface="Gill Sans" charset="0"/>
                <a:sym typeface="Gill Sans" charset="0"/>
              </a:rPr>
              <a:t>	</a:t>
            </a:r>
          </a:p>
          <a:p>
            <a:pPr marL="0" indent="0"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r>
              <a:rPr lang="en-US" altLang="en-US" sz="2400" dirty="0">
                <a:cs typeface="Gill Sans" charset="0"/>
                <a:sym typeface="Gill Sans" charset="0"/>
              </a:rPr>
              <a:t>			= 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2 + (-2) + 0  </a:t>
            </a:r>
          </a:p>
          <a:p>
            <a:pPr marL="0" indent="0"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r>
              <a:rPr lang="en-US" altLang="en-US" sz="2400" dirty="0">
                <a:cs typeface="Gill Sans" charset="0"/>
                <a:sym typeface="Gill Sans" charset="0"/>
              </a:rPr>
              <a:t>		</a:t>
            </a:r>
          </a:p>
          <a:p>
            <a:pPr marL="0" indent="0"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r>
              <a:rPr lang="en-US" altLang="en-US" sz="2400" dirty="0">
                <a:cs typeface="Gill Sans" charset="0"/>
                <a:sym typeface="Gill Sans" charset="0"/>
              </a:rPr>
              <a:t>	                 	= 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0</a:t>
            </a:r>
          </a:p>
          <a:p>
            <a:pPr marL="0" indent="0"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endParaRPr lang="en-US" altLang="en-US" sz="2400" dirty="0">
              <a:cs typeface="Gill Sans" charset="0"/>
              <a:sym typeface="Gill Sans" charset="0"/>
            </a:endParaRPr>
          </a:p>
        </p:txBody>
      </p:sp>
      <p:graphicFrame>
        <p:nvGraphicFramePr>
          <p:cNvPr id="158" name="Google Shape;158;p7">
            <a:extLst>
              <a:ext uri="{FF2B5EF4-FFF2-40B4-BE49-F238E27FC236}">
                <a16:creationId xmlns:a16="http://schemas.microsoft.com/office/drawing/2014/main" id="{85697595-E9C7-4759-87B8-E9FA858BA1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0547537"/>
              </p:ext>
            </p:extLst>
          </p:nvPr>
        </p:nvGraphicFramePr>
        <p:xfrm>
          <a:off x="2682503" y="3102443"/>
          <a:ext cx="879475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9" r:id="rId4" imgW="0" imgH="0" progId="">
                  <p:embed/>
                </p:oleObj>
              </mc:Choice>
              <mc:Fallback>
                <p:oleObj r:id="rId4" imgW="0" imgH="0" progId="">
                  <p:embed/>
                  <p:pic>
                    <p:nvPicPr>
                      <p:cNvPr id="158" name="Google Shape;158;p7">
                        <a:extLst>
                          <a:ext uri="{FF2B5EF4-FFF2-40B4-BE49-F238E27FC236}">
                            <a16:creationId xmlns:a16="http://schemas.microsoft.com/office/drawing/2014/main" id="{85697595-E9C7-4759-87B8-E9FA858BA1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2503" y="3102443"/>
                        <a:ext cx="879475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" name="Google Shape;159;p7">
            <a:extLst>
              <a:ext uri="{FF2B5EF4-FFF2-40B4-BE49-F238E27FC236}">
                <a16:creationId xmlns:a16="http://schemas.microsoft.com/office/drawing/2014/main" id="{8052D5C4-8328-41B3-8785-5DA57D40B9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0431833"/>
              </p:ext>
            </p:extLst>
          </p:nvPr>
        </p:nvGraphicFramePr>
        <p:xfrm>
          <a:off x="2682503" y="4934792"/>
          <a:ext cx="879475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0" r:id="rId6" imgW="0" imgH="0" progId="">
                  <p:embed/>
                </p:oleObj>
              </mc:Choice>
              <mc:Fallback>
                <p:oleObj r:id="rId6" imgW="0" imgH="0" progId="">
                  <p:embed/>
                  <p:pic>
                    <p:nvPicPr>
                      <p:cNvPr id="159" name="Google Shape;159;p7">
                        <a:extLst>
                          <a:ext uri="{FF2B5EF4-FFF2-40B4-BE49-F238E27FC236}">
                            <a16:creationId xmlns:a16="http://schemas.microsoft.com/office/drawing/2014/main" id="{8052D5C4-8328-41B3-8785-5DA57D40B9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2503" y="4934792"/>
                        <a:ext cx="879475" cy="931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Google Shape;158;p7">
            <a:extLst>
              <a:ext uri="{FF2B5EF4-FFF2-40B4-BE49-F238E27FC236}">
                <a16:creationId xmlns:a16="http://schemas.microsoft.com/office/drawing/2014/main" id="{4D8EDE78-1130-4878-9485-24F563E5E4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9390634"/>
              </p:ext>
            </p:extLst>
          </p:nvPr>
        </p:nvGraphicFramePr>
        <p:xfrm>
          <a:off x="3536764" y="1696478"/>
          <a:ext cx="879475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1" r:id="rId7" imgW="0" imgH="0" progId="">
                  <p:embed/>
                </p:oleObj>
              </mc:Choice>
              <mc:Fallback>
                <p:oleObj r:id="rId7" imgW="0" imgH="0" progId="">
                  <p:embed/>
                  <p:pic>
                    <p:nvPicPr>
                      <p:cNvPr id="2" name="Google Shape;158;p7">
                        <a:extLst>
                          <a:ext uri="{FF2B5EF4-FFF2-40B4-BE49-F238E27FC236}">
                            <a16:creationId xmlns:a16="http://schemas.microsoft.com/office/drawing/2014/main" id="{4D8EDE78-1130-4878-9485-24F563E5E4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6764" y="1696478"/>
                        <a:ext cx="879475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5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5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Google Shape;156;p7">
            <a:extLst>
              <a:ext uri="{FF2B5EF4-FFF2-40B4-BE49-F238E27FC236}">
                <a16:creationId xmlns:a16="http://schemas.microsoft.com/office/drawing/2014/main" id="{101320BE-7455-435D-ACFC-5E3B2BBC5A5D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539496" y="365125"/>
            <a:ext cx="10515600" cy="722037"/>
          </a:xfrm>
        </p:spPr>
        <p:txBody>
          <a:bodyPr>
            <a:normAutofit/>
          </a:bodyPr>
          <a:lstStyle/>
          <a:p>
            <a:pPr algn="ctr">
              <a:spcAft>
                <a:spcPct val="0"/>
              </a:spcAft>
              <a:buClr>
                <a:srgbClr val="0070C0"/>
              </a:buClr>
              <a:buSzPts val="3200"/>
            </a:pPr>
            <a:r>
              <a:rPr lang="en-US" altLang="en-US" sz="3600" b="1" u="sng" dirty="0">
                <a:solidFill>
                  <a:srgbClr val="0070C0"/>
                </a:solidFill>
                <a:cs typeface="Arial" panose="020B0604020202020204" pitchFamily="34" charset="0"/>
                <a:sym typeface="Bookman Old Style" panose="02050604050505020204" pitchFamily="18" charset="0"/>
              </a:rPr>
              <a:t>Example 3</a:t>
            </a:r>
          </a:p>
        </p:txBody>
      </p:sp>
      <p:sp>
        <p:nvSpPr>
          <p:cNvPr id="157" name="Google Shape;157;p7">
            <a:extLst>
              <a:ext uri="{FF2B5EF4-FFF2-40B4-BE49-F238E27FC236}">
                <a16:creationId xmlns:a16="http://schemas.microsoft.com/office/drawing/2014/main" id="{278C8298-4D47-45BF-8AA6-B1F2C606C383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>
          <a:xfrm>
            <a:off x="1181100" y="1604042"/>
            <a:ext cx="9829800" cy="3859742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r>
              <a:rPr lang="en-US" altLang="en-US" sz="2600" dirty="0">
                <a:cs typeface="Gill Sans" charset="0"/>
                <a:sym typeface="Gill Sans" charset="0"/>
              </a:rPr>
              <a:t>	Let </a:t>
            </a:r>
            <a:r>
              <a:rPr lang="en-US" altLang="en-US" sz="2600" dirty="0">
                <a:solidFill>
                  <a:srgbClr val="C00000"/>
                </a:solidFill>
                <a:cs typeface="Gill Sans" charset="0"/>
                <a:sym typeface="Gill Sans" charset="0"/>
              </a:rPr>
              <a:t>a</a:t>
            </a:r>
            <a:r>
              <a:rPr lang="en-US" altLang="en-US" sz="2600" baseline="-25000" dirty="0">
                <a:solidFill>
                  <a:srgbClr val="C00000"/>
                </a:solidFill>
                <a:cs typeface="Gill Sans" charset="0"/>
                <a:sym typeface="Gill Sans" charset="0"/>
              </a:rPr>
              <a:t>0</a:t>
            </a:r>
            <a:r>
              <a:rPr lang="en-US" altLang="en-US" sz="2600" dirty="0">
                <a:solidFill>
                  <a:srgbClr val="C00000"/>
                </a:solidFill>
                <a:cs typeface="Gill Sans" charset="0"/>
                <a:sym typeface="Gill Sans" charset="0"/>
              </a:rPr>
              <a:t> = 2</a:t>
            </a:r>
            <a:r>
              <a:rPr lang="en-US" altLang="en-US" sz="2600" dirty="0">
                <a:cs typeface="Gill Sans" charset="0"/>
                <a:sym typeface="Gill Sans" charset="0"/>
              </a:rPr>
              <a:t>, </a:t>
            </a:r>
            <a:r>
              <a:rPr lang="en-US" altLang="en-US" sz="2600" dirty="0">
                <a:solidFill>
                  <a:srgbClr val="C00000"/>
                </a:solidFill>
                <a:cs typeface="Gill Sans" charset="0"/>
                <a:sym typeface="Gill Sans" charset="0"/>
              </a:rPr>
              <a:t>a</a:t>
            </a:r>
            <a:r>
              <a:rPr lang="en-US" altLang="en-US" sz="2600" baseline="-25000" dirty="0">
                <a:solidFill>
                  <a:srgbClr val="C00000"/>
                </a:solidFill>
                <a:cs typeface="Gill Sans" charset="0"/>
                <a:sym typeface="Gill Sans" charset="0"/>
              </a:rPr>
              <a:t>1</a:t>
            </a:r>
            <a:r>
              <a:rPr lang="en-US" altLang="en-US" sz="2600" dirty="0">
                <a:solidFill>
                  <a:srgbClr val="C00000"/>
                </a:solidFill>
                <a:cs typeface="Gill Sans" charset="0"/>
                <a:sym typeface="Gill Sans" charset="0"/>
              </a:rPr>
              <a:t> = 3</a:t>
            </a:r>
            <a:r>
              <a:rPr lang="en-US" altLang="en-US" sz="2600" dirty="0">
                <a:cs typeface="Gill Sans" charset="0"/>
                <a:sym typeface="Gill Sans" charset="0"/>
              </a:rPr>
              <a:t>, </a:t>
            </a:r>
            <a:r>
              <a:rPr lang="en-US" altLang="en-US" sz="2600" dirty="0">
                <a:solidFill>
                  <a:srgbClr val="C00000"/>
                </a:solidFill>
                <a:cs typeface="Gill Sans" charset="0"/>
                <a:sym typeface="Gill Sans" charset="0"/>
              </a:rPr>
              <a:t>a</a:t>
            </a:r>
            <a:r>
              <a:rPr lang="en-US" altLang="en-US" sz="2600" baseline="-25000" dirty="0">
                <a:solidFill>
                  <a:srgbClr val="C00000"/>
                </a:solidFill>
                <a:cs typeface="Gill Sans" charset="0"/>
                <a:sym typeface="Gill Sans" charset="0"/>
              </a:rPr>
              <a:t>2</a:t>
            </a:r>
            <a:r>
              <a:rPr lang="en-US" altLang="en-US" sz="2600" dirty="0">
                <a:solidFill>
                  <a:srgbClr val="C00000"/>
                </a:solidFill>
                <a:cs typeface="Gill Sans" charset="0"/>
                <a:sym typeface="Gill Sans" charset="0"/>
              </a:rPr>
              <a:t> = -2</a:t>
            </a:r>
            <a:r>
              <a:rPr lang="en-US" altLang="en-US" sz="2600" dirty="0">
                <a:cs typeface="Gill Sans" charset="0"/>
                <a:sym typeface="Gill Sans" charset="0"/>
              </a:rPr>
              <a:t>, </a:t>
            </a:r>
            <a:r>
              <a:rPr lang="en-US" altLang="en-US" sz="2600" dirty="0">
                <a:solidFill>
                  <a:srgbClr val="C00000"/>
                </a:solidFill>
                <a:cs typeface="Gill Sans" charset="0"/>
                <a:sym typeface="Gill Sans" charset="0"/>
              </a:rPr>
              <a:t>a</a:t>
            </a:r>
            <a:r>
              <a:rPr lang="en-US" altLang="en-US" sz="2600" baseline="-25000" dirty="0">
                <a:solidFill>
                  <a:srgbClr val="C00000"/>
                </a:solidFill>
                <a:cs typeface="Gill Sans" charset="0"/>
                <a:sym typeface="Gill Sans" charset="0"/>
              </a:rPr>
              <a:t>3</a:t>
            </a:r>
            <a:r>
              <a:rPr lang="en-US" altLang="en-US" sz="2600" dirty="0">
                <a:solidFill>
                  <a:srgbClr val="C00000"/>
                </a:solidFill>
                <a:cs typeface="Gill Sans" charset="0"/>
                <a:sym typeface="Gill Sans" charset="0"/>
              </a:rPr>
              <a:t> = 1</a:t>
            </a:r>
            <a:r>
              <a:rPr lang="en-US" altLang="en-US" sz="2600" dirty="0">
                <a:cs typeface="Gill Sans" charset="0"/>
                <a:sym typeface="Gill Sans" charset="0"/>
              </a:rPr>
              <a:t> and </a:t>
            </a:r>
            <a:r>
              <a:rPr lang="en-US" altLang="en-US" sz="2600" dirty="0">
                <a:solidFill>
                  <a:srgbClr val="C00000"/>
                </a:solidFill>
                <a:cs typeface="Gill Sans" charset="0"/>
                <a:sym typeface="Gill Sans" charset="0"/>
              </a:rPr>
              <a:t>a</a:t>
            </a:r>
            <a:r>
              <a:rPr lang="en-US" altLang="en-US" sz="2600" baseline="-25000" dirty="0">
                <a:solidFill>
                  <a:srgbClr val="C00000"/>
                </a:solidFill>
                <a:cs typeface="Gill Sans" charset="0"/>
                <a:sym typeface="Gill Sans" charset="0"/>
              </a:rPr>
              <a:t>4</a:t>
            </a:r>
            <a:r>
              <a:rPr lang="en-US" altLang="en-US" sz="2600" dirty="0">
                <a:solidFill>
                  <a:srgbClr val="C00000"/>
                </a:solidFill>
                <a:cs typeface="Gill Sans" charset="0"/>
                <a:sym typeface="Gill Sans" charset="0"/>
              </a:rPr>
              <a:t> = 0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r>
              <a:rPr lang="en-US" altLang="en-US" sz="2600" dirty="0">
                <a:solidFill>
                  <a:srgbClr val="C00000"/>
                </a:solidFill>
                <a:cs typeface="Gill Sans" charset="0"/>
                <a:sym typeface="Gill Sans" charset="0"/>
              </a:rPr>
              <a:t>	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r>
              <a:rPr lang="en-US" altLang="en-US" sz="2600" dirty="0">
                <a:solidFill>
                  <a:srgbClr val="C00000"/>
                </a:solidFill>
                <a:cs typeface="Gill Sans" charset="0"/>
                <a:sym typeface="Gill Sans" charset="0"/>
              </a:rPr>
              <a:t>	Compute 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endParaRPr lang="en-US" altLang="en-US" sz="2600" dirty="0">
              <a:solidFill>
                <a:srgbClr val="C00000"/>
              </a:solidFill>
              <a:cs typeface="Gill Sans" charset="0"/>
              <a:sym typeface="Gill Sans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r>
              <a:rPr lang="en-US" altLang="en-US" sz="2400" b="1" u="sng" dirty="0">
                <a:solidFill>
                  <a:srgbClr val="0070C0"/>
                </a:solidFill>
                <a:cs typeface="Gill Sans" charset="0"/>
                <a:sym typeface="Gill Sans" charset="0"/>
              </a:rPr>
              <a:t>SOLUTION</a:t>
            </a:r>
            <a:endParaRPr lang="en-US" altLang="en-US" sz="2000" b="1" u="sng" dirty="0">
              <a:solidFill>
                <a:srgbClr val="0070C0"/>
              </a:solidFill>
              <a:cs typeface="Gill Sans" charset="0"/>
              <a:sym typeface="Gill Sans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endParaRPr lang="en-US" altLang="en-US" sz="2000" dirty="0">
              <a:cs typeface="Gill Sans" charset="0"/>
              <a:sym typeface="Gill Sans" charset="0"/>
            </a:endParaRPr>
          </a:p>
          <a:p>
            <a:pPr marL="0" indent="0"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r>
              <a:rPr lang="en-US" altLang="en-US" sz="2600" dirty="0">
                <a:cs typeface="Gill Sans" charset="0"/>
                <a:sym typeface="Gill Sans" charset="0"/>
              </a:rPr>
              <a:t>		         = </a:t>
            </a:r>
            <a:r>
              <a:rPr lang="en-US" altLang="en-US" sz="2600" dirty="0">
                <a:solidFill>
                  <a:srgbClr val="C00000"/>
                </a:solidFill>
                <a:cs typeface="Gill Sans" charset="0"/>
                <a:sym typeface="Gill Sans" charset="0"/>
              </a:rPr>
              <a:t>a</a:t>
            </a:r>
            <a:r>
              <a:rPr lang="en-US" altLang="en-US" sz="2600" baseline="-25000" dirty="0">
                <a:solidFill>
                  <a:srgbClr val="C00000"/>
                </a:solidFill>
                <a:cs typeface="Gill Sans" charset="0"/>
                <a:sym typeface="Gill Sans" charset="0"/>
              </a:rPr>
              <a:t>1</a:t>
            </a:r>
            <a:r>
              <a:rPr lang="en-US" altLang="en-US" sz="2600" dirty="0">
                <a:solidFill>
                  <a:srgbClr val="C00000"/>
                </a:solidFill>
                <a:cs typeface="Gill Sans" charset="0"/>
                <a:sym typeface="Gill Sans" charset="0"/>
              </a:rPr>
              <a:t> 		</a:t>
            </a:r>
            <a:r>
              <a:rPr lang="en-US" altLang="en-US" sz="2600" baseline="-25000" dirty="0">
                <a:solidFill>
                  <a:srgbClr val="C00000"/>
                </a:solidFill>
                <a:cs typeface="Gill Sans" charset="0"/>
                <a:sym typeface="Gill Sans" charset="0"/>
              </a:rPr>
              <a:t>             </a:t>
            </a:r>
            <a:r>
              <a:rPr lang="en-US" altLang="en-US" sz="2600" dirty="0">
                <a:cs typeface="Gill Sans" charset="0"/>
                <a:sym typeface="Gill Sans" charset="0"/>
              </a:rPr>
              <a:t>(As </a:t>
            </a:r>
            <a:r>
              <a:rPr lang="en-US" altLang="en-US" sz="2600" dirty="0">
                <a:solidFill>
                  <a:srgbClr val="C00000"/>
                </a:solidFill>
                <a:cs typeface="Gill Sans" charset="0"/>
                <a:sym typeface="Gill Sans" charset="0"/>
              </a:rPr>
              <a:t>k</a:t>
            </a:r>
            <a:r>
              <a:rPr lang="en-US" altLang="en-US" sz="2600" dirty="0">
                <a:cs typeface="Gill Sans" charset="0"/>
                <a:sym typeface="Gill Sans" charset="0"/>
              </a:rPr>
              <a:t> = </a:t>
            </a:r>
            <a:r>
              <a:rPr lang="en-US" altLang="en-US" sz="2600" dirty="0">
                <a:solidFill>
                  <a:srgbClr val="C00000"/>
                </a:solidFill>
                <a:cs typeface="Gill Sans" charset="0"/>
                <a:sym typeface="Gill Sans" charset="0"/>
              </a:rPr>
              <a:t>1)</a:t>
            </a:r>
          </a:p>
          <a:p>
            <a:pPr marL="0" indent="0"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r>
              <a:rPr lang="en-US" altLang="en-US" sz="2600" dirty="0">
                <a:cs typeface="Gill Sans" charset="0"/>
                <a:sym typeface="Gill Sans" charset="0"/>
              </a:rPr>
              <a:t>	</a:t>
            </a:r>
          </a:p>
          <a:p>
            <a:pPr marL="0" indent="0"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r>
              <a:rPr lang="en-US" altLang="en-US" sz="2600" dirty="0">
                <a:cs typeface="Gill Sans" charset="0"/>
                <a:sym typeface="Gill Sans" charset="0"/>
              </a:rPr>
              <a:t>				</a:t>
            </a:r>
          </a:p>
          <a:p>
            <a:pPr marL="0" indent="0"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r>
              <a:rPr lang="en-US" altLang="en-US" sz="2600" dirty="0">
                <a:cs typeface="Gill Sans" charset="0"/>
                <a:sym typeface="Gill Sans" charset="0"/>
              </a:rPr>
              <a:t>	                      = </a:t>
            </a:r>
            <a:r>
              <a:rPr lang="en-US" altLang="en-US" sz="2600" dirty="0">
                <a:solidFill>
                  <a:srgbClr val="C00000"/>
                </a:solidFill>
                <a:cs typeface="Gill Sans" charset="0"/>
                <a:sym typeface="Gill Sans" charset="0"/>
              </a:rPr>
              <a:t>3</a:t>
            </a:r>
          </a:p>
          <a:p>
            <a:pPr marL="0" indent="0"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endParaRPr lang="en-US" altLang="en-US" sz="2600" dirty="0">
              <a:cs typeface="Gill Sans" charset="0"/>
              <a:sym typeface="Gill Sans" charset="0"/>
            </a:endParaRPr>
          </a:p>
        </p:txBody>
      </p:sp>
      <p:graphicFrame>
        <p:nvGraphicFramePr>
          <p:cNvPr id="3" name="Google Shape;166;p8">
            <a:extLst>
              <a:ext uri="{FF2B5EF4-FFF2-40B4-BE49-F238E27FC236}">
                <a16:creationId xmlns:a16="http://schemas.microsoft.com/office/drawing/2014/main" id="{BCBDDAD6-A80D-474B-8C7D-AD64836CCB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2667386"/>
              </p:ext>
            </p:extLst>
          </p:nvPr>
        </p:nvGraphicFramePr>
        <p:xfrm>
          <a:off x="3742344" y="2098719"/>
          <a:ext cx="793689" cy="7923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13" r:id="rId4" imgW="0" imgH="0" progId="">
                  <p:embed/>
                </p:oleObj>
              </mc:Choice>
              <mc:Fallback>
                <p:oleObj r:id="rId4" imgW="0" imgH="0" progId="">
                  <p:embed/>
                  <p:pic>
                    <p:nvPicPr>
                      <p:cNvPr id="3" name="Google Shape;166;p8">
                        <a:extLst>
                          <a:ext uri="{FF2B5EF4-FFF2-40B4-BE49-F238E27FC236}">
                            <a16:creationId xmlns:a16="http://schemas.microsoft.com/office/drawing/2014/main" id="{BCBDDAD6-A80D-474B-8C7D-AD64836CCB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2344" y="2098719"/>
                        <a:ext cx="793689" cy="7923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Google Shape;166;p8">
            <a:extLst>
              <a:ext uri="{FF2B5EF4-FFF2-40B4-BE49-F238E27FC236}">
                <a16:creationId xmlns:a16="http://schemas.microsoft.com/office/drawing/2014/main" id="{D71283DE-DE5D-41F6-B457-BB76153FDB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4201573"/>
              </p:ext>
            </p:extLst>
          </p:nvPr>
        </p:nvGraphicFramePr>
        <p:xfrm>
          <a:off x="2709349" y="3197724"/>
          <a:ext cx="974725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14" r:id="rId6" imgW="0" imgH="0" progId="">
                  <p:embed/>
                </p:oleObj>
              </mc:Choice>
              <mc:Fallback>
                <p:oleObj r:id="rId6" imgW="0" imgH="0" progId="">
                  <p:embed/>
                  <p:pic>
                    <p:nvPicPr>
                      <p:cNvPr id="4" name="Google Shape;166;p8">
                        <a:extLst>
                          <a:ext uri="{FF2B5EF4-FFF2-40B4-BE49-F238E27FC236}">
                            <a16:creationId xmlns:a16="http://schemas.microsoft.com/office/drawing/2014/main" id="{D71283DE-DE5D-41F6-B457-BB76153FDB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9349" y="3197724"/>
                        <a:ext cx="974725" cy="974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Google Shape;166;p8">
            <a:extLst>
              <a:ext uri="{FF2B5EF4-FFF2-40B4-BE49-F238E27FC236}">
                <a16:creationId xmlns:a16="http://schemas.microsoft.com/office/drawing/2014/main" id="{AFA6722C-BE24-4F9D-BB80-FB85ED387A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0272723"/>
              </p:ext>
            </p:extLst>
          </p:nvPr>
        </p:nvGraphicFramePr>
        <p:xfrm>
          <a:off x="2766032" y="4489059"/>
          <a:ext cx="976312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15" r:id="rId7" imgW="0" imgH="0" progId="">
                  <p:embed/>
                </p:oleObj>
              </mc:Choice>
              <mc:Fallback>
                <p:oleObj r:id="rId7" imgW="0" imgH="0" progId="">
                  <p:embed/>
                  <p:pic>
                    <p:nvPicPr>
                      <p:cNvPr id="5" name="Google Shape;166;p8">
                        <a:extLst>
                          <a:ext uri="{FF2B5EF4-FFF2-40B4-BE49-F238E27FC236}">
                            <a16:creationId xmlns:a16="http://schemas.microsoft.com/office/drawing/2014/main" id="{AFA6722C-BE24-4F9D-BB80-FB85ED387A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6032" y="4489059"/>
                        <a:ext cx="976312" cy="974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5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Google Shape;172;p9">
            <a:extLst>
              <a:ext uri="{FF2B5EF4-FFF2-40B4-BE49-F238E27FC236}">
                <a16:creationId xmlns:a16="http://schemas.microsoft.com/office/drawing/2014/main" id="{8C53A58A-2621-47F5-9460-2B3BD04D9A80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539496" y="1"/>
            <a:ext cx="10515600" cy="1087161"/>
          </a:xfrm>
        </p:spPr>
        <p:txBody>
          <a:bodyPr>
            <a:normAutofit/>
          </a:bodyPr>
          <a:lstStyle/>
          <a:p>
            <a:pPr algn="ctr" eaLnBrk="1" hangingPunct="1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ts val="3200"/>
              <a:buFont typeface="Bookman Old Style" panose="02050604050505020204" pitchFamily="18" charset="0"/>
              <a:buNone/>
            </a:pPr>
            <a:r>
              <a:rPr lang="en-US" altLang="en-US" sz="3600" b="1" u="sng" dirty="0">
                <a:solidFill>
                  <a:srgbClr val="0070C0"/>
                </a:solidFill>
                <a:cs typeface="Arial" panose="020B0604020202020204" pitchFamily="34" charset="0"/>
                <a:sym typeface="Bookman Old Style" panose="02050604050505020204" pitchFamily="18" charset="0"/>
              </a:rPr>
              <a:t>EXERCISE</a:t>
            </a:r>
            <a:endParaRPr lang="en-US" altLang="en-US" sz="3600" dirty="0">
              <a:solidFill>
                <a:srgbClr val="464653"/>
              </a:solidFill>
              <a:cs typeface="Arial" panose="020B0604020202020204" pitchFamily="34" charset="0"/>
              <a:sym typeface="Bookman Old Style" panose="02050604050505020204" pitchFamily="18" charset="0"/>
            </a:endParaRPr>
          </a:p>
        </p:txBody>
      </p:sp>
      <p:sp>
        <p:nvSpPr>
          <p:cNvPr id="173" name="Google Shape;173;p9">
            <a:extLst>
              <a:ext uri="{FF2B5EF4-FFF2-40B4-BE49-F238E27FC236}">
                <a16:creationId xmlns:a16="http://schemas.microsoft.com/office/drawing/2014/main" id="{FB59BA46-784A-4A82-A62C-6E0E872EEF6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179576" y="1455737"/>
            <a:ext cx="9829800" cy="4315101"/>
          </a:xfrm>
        </p:spPr>
        <p:txBody>
          <a:bodyPr/>
          <a:lstStyle/>
          <a:p>
            <a:pPr marL="0" indent="0">
              <a:spcBef>
                <a:spcPts val="0"/>
              </a:spcBef>
              <a:buClr>
                <a:schemeClr val="accent1"/>
              </a:buClr>
              <a:buSzPts val="1976"/>
              <a:buNone/>
              <a:defRPr/>
            </a:pPr>
            <a:r>
              <a:rPr lang="en-US" sz="2600" dirty="0">
                <a:solidFill>
                  <a:srgbClr val="C00000"/>
                </a:solidFill>
                <a:latin typeface="+mj-lt"/>
                <a:ea typeface="Gill Sans"/>
                <a:cs typeface="Gill Sans"/>
                <a:sym typeface="Gill Sans"/>
              </a:rPr>
              <a:t>Compute</a:t>
            </a:r>
            <a:r>
              <a:rPr lang="en-US" sz="2600" dirty="0">
                <a:solidFill>
                  <a:schemeClr val="dk1"/>
                </a:solidFill>
                <a:latin typeface="+mj-lt"/>
                <a:ea typeface="Gill Sans"/>
                <a:cs typeface="Gill Sans"/>
                <a:sym typeface="Gill Sans"/>
              </a:rPr>
              <a:t> the </a:t>
            </a:r>
            <a:r>
              <a:rPr lang="en-US" sz="2600" dirty="0">
                <a:solidFill>
                  <a:srgbClr val="C00000"/>
                </a:solidFill>
                <a:latin typeface="+mj-lt"/>
                <a:ea typeface="Gill Sans"/>
                <a:cs typeface="Gill Sans"/>
                <a:sym typeface="Gill Sans"/>
              </a:rPr>
              <a:t>summations</a:t>
            </a:r>
            <a:r>
              <a:rPr lang="en-US" sz="2600" dirty="0">
                <a:solidFill>
                  <a:schemeClr val="dk1"/>
                </a:solidFill>
                <a:latin typeface="+mj-lt"/>
                <a:ea typeface="Gill Sans"/>
                <a:cs typeface="Gill Sans"/>
                <a:sym typeface="Gill Sans"/>
              </a:rPr>
              <a:t>.</a:t>
            </a:r>
            <a:endParaRPr sz="2600" dirty="0">
              <a:solidFill>
                <a:schemeClr val="dk1"/>
              </a:solidFill>
              <a:latin typeface="+mj-lt"/>
              <a:ea typeface="Gill Sans"/>
              <a:cs typeface="Gill Sans"/>
              <a:sym typeface="Gill Sans"/>
            </a:endParaRPr>
          </a:p>
          <a:p>
            <a:pPr marL="125476" indent="0">
              <a:buClr>
                <a:schemeClr val="accent1"/>
              </a:buClr>
              <a:buSzPts val="1976"/>
              <a:buNone/>
              <a:defRPr/>
            </a:pPr>
            <a:endParaRPr sz="2600" dirty="0">
              <a:solidFill>
                <a:schemeClr val="dk1"/>
              </a:solidFill>
              <a:latin typeface="+mj-lt"/>
              <a:ea typeface="Gill Sans"/>
              <a:cs typeface="Gill Sans"/>
              <a:sym typeface="Gill Sans"/>
            </a:endParaRPr>
          </a:p>
        </p:txBody>
      </p:sp>
      <p:graphicFrame>
        <p:nvGraphicFramePr>
          <p:cNvPr id="174" name="Google Shape;174;p9">
            <a:extLst>
              <a:ext uri="{FF2B5EF4-FFF2-40B4-BE49-F238E27FC236}">
                <a16:creationId xmlns:a16="http://schemas.microsoft.com/office/drawing/2014/main" id="{48D07D8C-CD81-4865-9A06-6EEF28D338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8340839"/>
              </p:ext>
            </p:extLst>
          </p:nvPr>
        </p:nvGraphicFramePr>
        <p:xfrm>
          <a:off x="2247900" y="1973263"/>
          <a:ext cx="7348538" cy="342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79" r:id="rId4" imgW="0" imgH="0" progId="">
                  <p:embed/>
                </p:oleObj>
              </mc:Choice>
              <mc:Fallback>
                <p:oleObj r:id="rId4" imgW="0" imgH="0" progId="">
                  <p:embed/>
                  <p:pic>
                    <p:nvPicPr>
                      <p:cNvPr id="174" name="Google Shape;174;p9">
                        <a:extLst>
                          <a:ext uri="{FF2B5EF4-FFF2-40B4-BE49-F238E27FC236}">
                            <a16:creationId xmlns:a16="http://schemas.microsoft.com/office/drawing/2014/main" id="{48D07D8C-CD81-4865-9A06-6EEF28D338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7900" y="1973263"/>
                        <a:ext cx="7348538" cy="342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6B3814EA-4162-43CB-B2F9-C47F068575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757"/>
          <a:stretch>
            <a:fillRect/>
          </a:stretch>
        </p:blipFill>
        <p:spPr bwMode="auto">
          <a:xfrm>
            <a:off x="2247900" y="1971675"/>
            <a:ext cx="2370138" cy="3430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Google Shape;179;p10">
            <a:extLst>
              <a:ext uri="{FF2B5EF4-FFF2-40B4-BE49-F238E27FC236}">
                <a16:creationId xmlns:a16="http://schemas.microsoft.com/office/drawing/2014/main" id="{8274D85B-9ECF-4CAF-A4C8-0F5FEF6ED878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539496" y="365125"/>
            <a:ext cx="10515600" cy="1033369"/>
          </a:xfrm>
        </p:spPr>
        <p:txBody>
          <a:bodyPr>
            <a:normAutofit/>
          </a:bodyPr>
          <a:lstStyle/>
          <a:p>
            <a:pPr algn="ctr" eaLnBrk="1" hangingPunct="1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ts val="3200"/>
              <a:buFont typeface="Bookman Old Style" panose="02050604050505020204" pitchFamily="18" charset="0"/>
              <a:buNone/>
            </a:pPr>
            <a:r>
              <a:rPr lang="en-US" altLang="en-US" sz="4000" b="1" u="sng" dirty="0">
                <a:solidFill>
                  <a:srgbClr val="0070C0"/>
                </a:solidFill>
                <a:latin typeface="Bookman Old Style" panose="02050604050505020204" pitchFamily="18" charset="0"/>
                <a:cs typeface="Arial" panose="020B0604020202020204" pitchFamily="34" charset="0"/>
                <a:sym typeface="Bookman Old Style" panose="02050604050505020204" pitchFamily="18" charset="0"/>
              </a:rPr>
              <a:t>NOTE</a:t>
            </a:r>
            <a:endParaRPr lang="en-US" altLang="en-US" sz="4000" dirty="0">
              <a:solidFill>
                <a:srgbClr val="464653"/>
              </a:solidFill>
              <a:latin typeface="Bookman Old Style" panose="02050604050505020204" pitchFamily="18" charset="0"/>
              <a:cs typeface="Arial" panose="020B0604020202020204" pitchFamily="34" charset="0"/>
              <a:sym typeface="Bookman Old Style" panose="02050604050505020204" pitchFamily="18" charset="0"/>
            </a:endParaRPr>
          </a:p>
        </p:txBody>
      </p:sp>
      <p:sp>
        <p:nvSpPr>
          <p:cNvPr id="180" name="Google Shape;180;p10">
            <a:extLst>
              <a:ext uri="{FF2B5EF4-FFF2-40B4-BE49-F238E27FC236}">
                <a16:creationId xmlns:a16="http://schemas.microsoft.com/office/drawing/2014/main" id="{3F745E56-FD5C-4944-A73F-0A98AD3CF0AC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690688"/>
            <a:ext cx="10515600" cy="4220763"/>
          </a:xfrm>
        </p:spPr>
        <p:txBody>
          <a:bodyPr/>
          <a:lstStyle/>
          <a:p>
            <a:pPr>
              <a:spcBef>
                <a:spcPts val="0"/>
              </a:spcBef>
              <a:buClr>
                <a:schemeClr val="accent1"/>
              </a:buClr>
              <a:buSzPts val="1976"/>
              <a:defRPr/>
            </a:pPr>
            <a:r>
              <a:rPr lang="en-US" sz="26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Note that in both the </a:t>
            </a:r>
            <a:r>
              <a:rPr lang="en-US" sz="2600" b="1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examples</a:t>
            </a:r>
            <a:r>
              <a:rPr lang="en-US" sz="26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we have </a:t>
            </a:r>
            <a:r>
              <a:rPr lang="en-US" sz="2600" b="1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constants</a:t>
            </a:r>
            <a:r>
              <a:rPr lang="en-US" sz="26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.</a:t>
            </a:r>
            <a:endParaRPr sz="26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582676" indent="-457200">
              <a:buClr>
                <a:schemeClr val="accent1"/>
              </a:buClr>
              <a:buSzPts val="1976"/>
              <a:defRPr/>
            </a:pPr>
            <a:endParaRPr sz="26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>
              <a:buClr>
                <a:schemeClr val="accent1"/>
              </a:buClr>
              <a:buSzPts val="1976"/>
              <a:defRPr/>
            </a:pPr>
            <a:r>
              <a:rPr lang="en-US" sz="26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In First example we have </a:t>
            </a:r>
            <a:r>
              <a:rPr lang="en-US" sz="2600" b="1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constant ‘-1’</a:t>
            </a:r>
            <a:r>
              <a:rPr lang="en-US" sz="26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that constant appear in all three terms.</a:t>
            </a:r>
            <a:endParaRPr sz="26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582676" indent="-457200">
              <a:buClr>
                <a:schemeClr val="accent1"/>
              </a:buClr>
              <a:buSzPts val="1976"/>
              <a:defRPr/>
            </a:pPr>
            <a:endParaRPr sz="26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>
              <a:buClr>
                <a:schemeClr val="accent1"/>
              </a:buClr>
              <a:buSzPts val="1976"/>
              <a:defRPr/>
            </a:pPr>
            <a:r>
              <a:rPr lang="en-US" sz="26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Similarly </a:t>
            </a:r>
            <a:r>
              <a:rPr lang="en-US" sz="2600" b="1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‘+2’</a:t>
            </a:r>
            <a:r>
              <a:rPr lang="en-US" sz="26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in the second example.</a:t>
            </a:r>
            <a:endParaRPr sz="26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582676" indent="-457200">
              <a:buClr>
                <a:schemeClr val="accent1"/>
              </a:buClr>
              <a:buSzPts val="1976"/>
              <a:defRPr/>
            </a:pPr>
            <a:endParaRPr sz="26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>
              <a:buClr>
                <a:schemeClr val="accent1"/>
              </a:buClr>
              <a:buSzPts val="1976"/>
              <a:defRPr/>
            </a:pPr>
            <a:r>
              <a:rPr lang="en-US" sz="26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The </a:t>
            </a:r>
            <a:r>
              <a:rPr lang="en-US" sz="2600" b="1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constant term</a:t>
            </a:r>
            <a:r>
              <a:rPr lang="en-US" sz="26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in series keep on </a:t>
            </a:r>
            <a:r>
              <a:rPr lang="en-US" sz="2600" b="1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adding</a:t>
            </a:r>
            <a:r>
              <a:rPr lang="en-US" sz="26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.</a:t>
            </a:r>
            <a:endParaRPr sz="26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Google Shape;185;p11">
            <a:extLst>
              <a:ext uri="{FF2B5EF4-FFF2-40B4-BE49-F238E27FC236}">
                <a16:creationId xmlns:a16="http://schemas.microsoft.com/office/drawing/2014/main" id="{7BBEF33E-FBBA-4B4E-8CC2-0F2AED877910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ts val="3200"/>
              <a:buFont typeface="Bookman Old Style" panose="02050604050505020204" pitchFamily="18" charset="0"/>
              <a:buNone/>
              <a:defRPr/>
            </a:pPr>
            <a:r>
              <a:rPr lang="en-US" altLang="en-PK" sz="3200" b="1" u="sng">
                <a:solidFill>
                  <a:srgbClr val="0070C0"/>
                </a:solidFill>
                <a:latin typeface="Bookman Old Style" panose="02050604050505020204" pitchFamily="18" charset="0"/>
                <a:cs typeface="Arial" panose="020B0604020202020204" pitchFamily="34" charset="0"/>
                <a:sym typeface="Bookman Old Style" panose="02050604050505020204" pitchFamily="18" charset="0"/>
              </a:rPr>
              <a:t>SUMMATION NOTATION TO EXPANDED FORM</a:t>
            </a:r>
            <a:endParaRPr lang="en-PK" altLang="en-PK" sz="3200">
              <a:solidFill>
                <a:srgbClr val="464653"/>
              </a:solidFill>
              <a:latin typeface="Bookman Old Style" panose="02050604050505020204" pitchFamily="18" charset="0"/>
              <a:cs typeface="Arial" panose="020B0604020202020204" pitchFamily="34" charset="0"/>
              <a:sym typeface="Bookman Old Style" panose="02050604050505020204" pitchFamily="18" charset="0"/>
            </a:endParaRPr>
          </a:p>
        </p:txBody>
      </p:sp>
      <p:sp>
        <p:nvSpPr>
          <p:cNvPr id="186" name="Google Shape;186;p11">
            <a:extLst>
              <a:ext uri="{FF2B5EF4-FFF2-40B4-BE49-F238E27FC236}">
                <a16:creationId xmlns:a16="http://schemas.microsoft.com/office/drawing/2014/main" id="{E84B47B6-947A-4D4E-8F09-25BA3C0DD14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910634" y="1561473"/>
            <a:ext cx="11012424" cy="4798986"/>
          </a:xfrm>
        </p:spPr>
        <p:txBody>
          <a:bodyPr/>
          <a:lstStyle/>
          <a:p>
            <a:pPr marL="0" indent="0">
              <a:spcBef>
                <a:spcPts val="0"/>
              </a:spcBef>
              <a:buClr>
                <a:schemeClr val="accent1"/>
              </a:buClr>
              <a:buSzPts val="1976"/>
              <a:buNone/>
              <a:defRPr/>
            </a:pPr>
            <a:r>
              <a:rPr lang="en-US" sz="26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Write the summation                     to expanded form:</a:t>
            </a:r>
            <a:endParaRPr sz="26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r>
              <a:rPr lang="en-US" sz="2600" b="1" u="sng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SOLUTION:</a:t>
            </a:r>
            <a:r>
              <a:rPr lang="en-US" sz="26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	</a:t>
            </a:r>
            <a:endParaRPr sz="26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r>
              <a:rPr lang="en-US" sz="26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		</a:t>
            </a:r>
            <a:r>
              <a:rPr lang="en-US" sz="26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Lower Limit = 0</a:t>
            </a:r>
            <a:r>
              <a:rPr lang="en-US" sz="26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,	</a:t>
            </a:r>
            <a:r>
              <a:rPr lang="en-US" sz="26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Upper Limit = n</a:t>
            </a:r>
            <a:endParaRPr sz="26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r>
              <a:rPr lang="en-US" sz="26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		Total number of terms will be </a:t>
            </a:r>
            <a:r>
              <a:rPr lang="en-US" sz="26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n + 1</a:t>
            </a:r>
            <a:r>
              <a:rPr lang="en-US" sz="26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.</a:t>
            </a:r>
            <a:endParaRPr sz="26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125476" indent="0">
              <a:buClr>
                <a:schemeClr val="accent1"/>
              </a:buClr>
              <a:buSzPts val="1976"/>
              <a:buNone/>
              <a:defRPr/>
            </a:pPr>
            <a:endParaRPr sz="26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</p:txBody>
      </p:sp>
      <p:graphicFrame>
        <p:nvGraphicFramePr>
          <p:cNvPr id="187" name="Google Shape;187;p11">
            <a:extLst>
              <a:ext uri="{FF2B5EF4-FFF2-40B4-BE49-F238E27FC236}">
                <a16:creationId xmlns:a16="http://schemas.microsoft.com/office/drawing/2014/main" id="{3543DCFD-8720-430B-ABEB-E73EE5F287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329425"/>
              </p:ext>
            </p:extLst>
          </p:nvPr>
        </p:nvGraphicFramePr>
        <p:xfrm>
          <a:off x="4202112" y="1392705"/>
          <a:ext cx="1265238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03" r:id="rId4" imgW="0" imgH="0" progId="">
                  <p:embed/>
                </p:oleObj>
              </mc:Choice>
              <mc:Fallback>
                <p:oleObj r:id="rId4" imgW="0" imgH="0" progId="">
                  <p:embed/>
                  <p:pic>
                    <p:nvPicPr>
                      <p:cNvPr id="187" name="Google Shape;187;p11">
                        <a:extLst>
                          <a:ext uri="{FF2B5EF4-FFF2-40B4-BE49-F238E27FC236}">
                            <a16:creationId xmlns:a16="http://schemas.microsoft.com/office/drawing/2014/main" id="{3543DCFD-8720-430B-ABEB-E73EE5F287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2112" y="1392705"/>
                        <a:ext cx="1265238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F3B10F5A-6CA4-4D01-A38C-9C23BF506C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85" t="32037" r="18230" b="48518"/>
          <a:stretch>
            <a:fillRect/>
          </a:stretch>
        </p:blipFill>
        <p:spPr bwMode="auto">
          <a:xfrm>
            <a:off x="2474913" y="3525511"/>
            <a:ext cx="6829425" cy="10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0525A4C-9E5D-4774-91A5-EE3F3952EB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41" t="53703" r="30000" b="28889"/>
          <a:stretch>
            <a:fillRect/>
          </a:stretch>
        </p:blipFill>
        <p:spPr bwMode="auto">
          <a:xfrm>
            <a:off x="3536951" y="4767950"/>
            <a:ext cx="4705350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F30501-F227-49E9-A4ED-C3F933264B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76" t="70184" r="41875" b="12408"/>
          <a:stretch>
            <a:fillRect/>
          </a:stretch>
        </p:blipFill>
        <p:spPr bwMode="auto">
          <a:xfrm>
            <a:off x="3695700" y="5813799"/>
            <a:ext cx="3543300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Google Shape;194;p12">
            <a:extLst>
              <a:ext uri="{FF2B5EF4-FFF2-40B4-BE49-F238E27FC236}">
                <a16:creationId xmlns:a16="http://schemas.microsoft.com/office/drawing/2014/main" id="{340E4AA4-C09F-4E64-8429-EC4F41D1A74F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603683" y="45245"/>
            <a:ext cx="10984633" cy="1096961"/>
          </a:xfrm>
        </p:spPr>
        <p:txBody>
          <a:bodyPr>
            <a:normAutofit/>
          </a:bodyPr>
          <a:lstStyle/>
          <a:p>
            <a:pPr algn="ctr" eaLnBrk="1" hangingPunct="1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ts val="3200"/>
              <a:buFont typeface="Bookman Old Style" panose="02050604050505020204" pitchFamily="18" charset="0"/>
              <a:buNone/>
              <a:defRPr/>
            </a:pPr>
            <a:r>
              <a:rPr lang="en-US" altLang="en-PK" sz="3200" b="1" u="sng" dirty="0">
                <a:solidFill>
                  <a:srgbClr val="0070C0"/>
                </a:solidFill>
                <a:latin typeface="Bookman Old Style" panose="02050604050505020204" pitchFamily="18" charset="0"/>
                <a:cs typeface="Arial" panose="020B0604020202020204" pitchFamily="34" charset="0"/>
                <a:sym typeface="Bookman Old Style" panose="02050604050505020204" pitchFamily="18" charset="0"/>
              </a:rPr>
              <a:t>EXPANDED FORM TO SUMMATION NOTATION</a:t>
            </a:r>
            <a:endParaRPr lang="en-PK" altLang="en-PK" sz="3200" dirty="0">
              <a:solidFill>
                <a:srgbClr val="464653"/>
              </a:solidFill>
              <a:latin typeface="Bookman Old Style" panose="02050604050505020204" pitchFamily="18" charset="0"/>
              <a:cs typeface="Arial" panose="020B0604020202020204" pitchFamily="34" charset="0"/>
              <a:sym typeface="Bookman Old Style" panose="02050604050505020204" pitchFamily="18" charset="0"/>
            </a:endParaRPr>
          </a:p>
        </p:txBody>
      </p:sp>
      <p:sp>
        <p:nvSpPr>
          <p:cNvPr id="195" name="Google Shape;195;p12">
            <a:extLst>
              <a:ext uri="{FF2B5EF4-FFF2-40B4-BE49-F238E27FC236}">
                <a16:creationId xmlns:a16="http://schemas.microsoft.com/office/drawing/2014/main" id="{3A997E2A-4DAA-4B41-AD5D-516A77053C4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110010" y="1027906"/>
            <a:ext cx="10640389" cy="5601494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Clr>
                <a:schemeClr val="accent1"/>
              </a:buClr>
              <a:buSzPts val="1976"/>
              <a:buNone/>
              <a:defRPr/>
            </a:pP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Write the following using summation notation:</a:t>
            </a:r>
            <a:endParaRPr sz="24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125476" indent="0">
              <a:buClr>
                <a:schemeClr val="accent1"/>
              </a:buClr>
              <a:buSzPts val="1976"/>
              <a:buNone/>
              <a:defRPr/>
            </a:pPr>
            <a:endParaRPr lang="en-US" sz="24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125476" indent="0">
              <a:buClr>
                <a:schemeClr val="accent1"/>
              </a:buClr>
              <a:buSzPts val="1976"/>
              <a:buNone/>
              <a:defRPr/>
            </a:pPr>
            <a:endParaRPr sz="24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r>
              <a:rPr lang="en-US" sz="2400" b="1" u="sng" dirty="0">
                <a:solidFill>
                  <a:srgbClr val="00B050"/>
                </a:solidFill>
                <a:ea typeface="Gill Sans"/>
                <a:cs typeface="Gill Sans"/>
                <a:sym typeface="Gill Sans"/>
              </a:rPr>
              <a:t>SOLUTION</a:t>
            </a:r>
            <a:endParaRPr sz="24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spcBef>
                <a:spcPts val="0"/>
              </a:spcBef>
              <a:buClr>
                <a:schemeClr val="accent1"/>
              </a:buClr>
              <a:buSzPts val="1976"/>
              <a:buNone/>
              <a:defRPr/>
            </a:pPr>
            <a:r>
              <a:rPr lang="en-US" sz="2400" b="1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		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1, 2, 3,…, n+1 are 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Numerators</a:t>
            </a:r>
            <a:endParaRPr lang="en-US" sz="24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The 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numerators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forms an </a:t>
            </a:r>
            <a:r>
              <a:rPr lang="en-US" sz="2400" dirty="0">
                <a:solidFill>
                  <a:srgbClr val="00B050"/>
                </a:solidFill>
                <a:ea typeface="Gill Sans"/>
                <a:cs typeface="Gill Sans"/>
                <a:sym typeface="Gill Sans"/>
              </a:rPr>
              <a:t>arithmetic sequence</a:t>
            </a:r>
            <a:endParaRPr lang="en-US" sz="24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			  a = 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first term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= 1</a:t>
            </a: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		&amp;         d = 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common difference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= 1</a:t>
            </a:r>
          </a:p>
          <a:p>
            <a:pPr marL="0" indent="0">
              <a:spcBef>
                <a:spcPts val="0"/>
              </a:spcBef>
              <a:buClr>
                <a:schemeClr val="accent1"/>
              </a:buClr>
              <a:buSzPts val="1976"/>
              <a:buNone/>
              <a:defRPr/>
            </a:pPr>
            <a:r>
              <a:rPr lang="en-US" sz="2400" b="1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	</a:t>
            </a:r>
            <a:r>
              <a:rPr lang="en-US" sz="24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/>
                <a:sym typeface="Gill Sans"/>
              </a:rPr>
              <a:t>So, For </a:t>
            </a:r>
            <a:r>
              <a:rPr lang="en-US" sz="24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/>
                <a:sym typeface="Gill Sans"/>
              </a:rPr>
              <a:t>Numerator</a:t>
            </a:r>
            <a:r>
              <a:rPr lang="en-US" sz="24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/>
                <a:sym typeface="Gill Sans"/>
              </a:rPr>
              <a:t> the </a:t>
            </a:r>
            <a:r>
              <a:rPr lang="en-US" sz="24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/>
                <a:sym typeface="Gill Sans"/>
              </a:rPr>
              <a:t>k</a:t>
            </a:r>
            <a:r>
              <a:rPr lang="en-US" sz="2400" baseline="300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/>
                <a:sym typeface="Gill Sans"/>
              </a:rPr>
              <a:t>th</a:t>
            </a:r>
            <a:r>
              <a:rPr lang="en-US" sz="24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/>
                <a:sym typeface="Gill Sans"/>
              </a:rPr>
              <a:t> term</a:t>
            </a:r>
            <a:r>
              <a:rPr lang="en-US" sz="24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/>
                <a:sym typeface="Gill Sans"/>
              </a:rPr>
              <a:t> will be:</a:t>
            </a: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r>
              <a:rPr lang="en-US" sz="24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/>
                <a:sym typeface="Gill Sans"/>
              </a:rPr>
              <a:t>	 		</a:t>
            </a:r>
            <a:r>
              <a:rPr lang="en-US" sz="2400" dirty="0" err="1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/>
                <a:sym typeface="Gill Sans"/>
              </a:rPr>
              <a:t>a</a:t>
            </a:r>
            <a:r>
              <a:rPr lang="en-US" sz="2400" baseline="-25000" dirty="0" err="1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/>
                <a:sym typeface="Gill Sans"/>
              </a:rPr>
              <a:t>k</a:t>
            </a:r>
            <a:r>
              <a:rPr lang="en-US" sz="24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/>
                <a:sym typeface="Gill Sans"/>
              </a:rPr>
              <a:t> = a + (k - 1)d</a:t>
            </a:r>
            <a:endParaRPr lang="en-US" sz="2400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r>
              <a:rPr lang="en-US" sz="24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/>
                <a:sym typeface="Gill Sans"/>
              </a:rPr>
              <a:t>			    = 1 + (k - 1) (1)</a:t>
            </a: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r>
              <a:rPr lang="en-US" sz="24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/>
                <a:sym typeface="Gill Sans"/>
              </a:rPr>
              <a:t>			    = 1 + k - 1 </a:t>
            </a: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r>
              <a:rPr lang="en-US" sz="24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/>
                <a:sym typeface="Gill Sans"/>
              </a:rPr>
              <a:t>			</a:t>
            </a:r>
            <a:r>
              <a:rPr lang="en-US" sz="2400" dirty="0" err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/>
                <a:sym typeface="Gill Sans"/>
              </a:rPr>
              <a:t>a</a:t>
            </a:r>
            <a:r>
              <a:rPr lang="en-US" sz="2400" baseline="-25000" dirty="0" err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/>
                <a:sym typeface="Gill Sans"/>
              </a:rPr>
              <a:t>k</a:t>
            </a:r>
            <a:r>
              <a:rPr lang="en-US" sz="24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/>
                <a:sym typeface="Gill Sans"/>
              </a:rPr>
              <a:t> = </a:t>
            </a:r>
            <a:r>
              <a:rPr lang="en-US" sz="24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/>
                <a:sym typeface="Gill Sans"/>
              </a:rPr>
              <a:t>k</a:t>
            </a:r>
            <a:endParaRPr lang="en-US" sz="2400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endParaRPr sz="24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E5909F-4400-4110-BF26-8F9A754AC4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96" t="34467" r="29166" b="40556"/>
          <a:stretch>
            <a:fillRect/>
          </a:stretch>
        </p:blipFill>
        <p:spPr bwMode="auto">
          <a:xfrm>
            <a:off x="3776942" y="1539500"/>
            <a:ext cx="3867150" cy="928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1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1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1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4">
            <a:extLst>
              <a:ext uri="{FF2B5EF4-FFF2-40B4-BE49-F238E27FC236}">
                <a16:creationId xmlns:a16="http://schemas.microsoft.com/office/drawing/2014/main" id="{04DBDEAB-B1DE-4B67-94CC-2389D0D9561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29594" y="134471"/>
            <a:ext cx="10532812" cy="5566275"/>
          </a:xfrm>
        </p:spPr>
        <p:txBody>
          <a:bodyPr>
            <a:normAutofit lnSpcReduction="10000"/>
          </a:bodyPr>
          <a:lstStyle/>
          <a:p>
            <a:pPr marL="0" indent="0">
              <a:buClr>
                <a:schemeClr val="accent1"/>
              </a:buClr>
              <a:buSzPts val="1976"/>
              <a:buNone/>
              <a:defRPr/>
            </a:pPr>
            <a:r>
              <a:rPr lang="en-US" sz="26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/>
                <a:sym typeface="Gill Sans"/>
              </a:rPr>
              <a:t>			 n, n+1, n+2, …, 2n are </a:t>
            </a:r>
            <a:r>
              <a:rPr lang="en-US" sz="2600" dirty="0" err="1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/>
                <a:sym typeface="Gill Sans"/>
              </a:rPr>
              <a:t>Denomenators</a:t>
            </a:r>
            <a:r>
              <a:rPr lang="en-US" sz="26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/>
                <a:sym typeface="Gill Sans"/>
              </a:rPr>
              <a:t>.</a:t>
            </a: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r>
              <a:rPr lang="en-US" sz="26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/>
                <a:sym typeface="Gill Sans"/>
              </a:rPr>
              <a:t>	Similarly, </a:t>
            </a:r>
            <a:r>
              <a:rPr lang="en-US" sz="26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/>
                <a:sym typeface="Gill Sans"/>
              </a:rPr>
              <a:t>denominators</a:t>
            </a:r>
            <a:r>
              <a:rPr lang="en-US" sz="26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/>
                <a:sym typeface="Gill Sans"/>
              </a:rPr>
              <a:t> forms an </a:t>
            </a:r>
            <a:r>
              <a:rPr lang="en-US" sz="2600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/>
                <a:sym typeface="Gill Sans"/>
              </a:rPr>
              <a:t>arithmetic sequence</a:t>
            </a:r>
            <a:r>
              <a:rPr lang="en-US" sz="26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/>
                <a:sym typeface="Gill Sans"/>
              </a:rPr>
              <a:t>           </a:t>
            </a: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r>
              <a:rPr lang="en-US" sz="26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/>
                <a:sym typeface="Gill Sans"/>
              </a:rPr>
              <a:t>	  a = </a:t>
            </a:r>
            <a:r>
              <a:rPr lang="en-US" sz="26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/>
                <a:sym typeface="Gill Sans"/>
              </a:rPr>
              <a:t>first term</a:t>
            </a:r>
            <a:r>
              <a:rPr lang="en-US" sz="26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/>
                <a:sym typeface="Gill Sans"/>
              </a:rPr>
              <a:t> = n	                   d = </a:t>
            </a:r>
            <a:r>
              <a:rPr lang="en-US" sz="26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/>
                <a:sym typeface="Gill Sans"/>
              </a:rPr>
              <a:t>common difference</a:t>
            </a:r>
            <a:r>
              <a:rPr lang="en-US" sz="26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/>
                <a:sym typeface="Gill Sans"/>
              </a:rPr>
              <a:t> = 1</a:t>
            </a: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r>
              <a:rPr lang="en-US" sz="26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/>
                <a:sym typeface="Gill Sans"/>
              </a:rPr>
              <a:t> 	So, For </a:t>
            </a:r>
            <a:r>
              <a:rPr lang="en-US" sz="26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/>
                <a:sym typeface="Gill Sans"/>
              </a:rPr>
              <a:t>Denominator</a:t>
            </a:r>
            <a:r>
              <a:rPr lang="en-US" sz="26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/>
                <a:sym typeface="Gill Sans"/>
              </a:rPr>
              <a:t> the </a:t>
            </a:r>
            <a:r>
              <a:rPr lang="en-US" sz="26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/>
                <a:sym typeface="Gill Sans"/>
              </a:rPr>
              <a:t>k</a:t>
            </a:r>
            <a:r>
              <a:rPr lang="en-US" sz="2600" baseline="300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/>
                <a:sym typeface="Gill Sans"/>
              </a:rPr>
              <a:t>th</a:t>
            </a:r>
            <a:r>
              <a:rPr lang="en-US" sz="26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/>
                <a:sym typeface="Gill Sans"/>
              </a:rPr>
              <a:t> term</a:t>
            </a:r>
            <a:r>
              <a:rPr lang="en-US" sz="26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/>
                <a:sym typeface="Gill Sans"/>
              </a:rPr>
              <a:t> will be:</a:t>
            </a: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r>
              <a:rPr lang="en-US" sz="26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/>
                <a:sym typeface="Gill Sans"/>
              </a:rPr>
              <a:t>			 </a:t>
            </a:r>
            <a:r>
              <a:rPr lang="en-US" sz="2600" dirty="0" err="1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/>
                <a:sym typeface="Gill Sans"/>
              </a:rPr>
              <a:t>a</a:t>
            </a:r>
            <a:r>
              <a:rPr lang="en-US" sz="2600" baseline="-25000" dirty="0" err="1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/>
                <a:sym typeface="Gill Sans"/>
              </a:rPr>
              <a:t>k</a:t>
            </a:r>
            <a:r>
              <a:rPr lang="en-US" sz="26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/>
                <a:sym typeface="Gill Sans"/>
              </a:rPr>
              <a:t> = a + (k - 1)d</a:t>
            </a:r>
            <a:endParaRPr lang="en-US" sz="2600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r>
              <a:rPr lang="en-US" sz="26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/>
                <a:sym typeface="Gill Sans"/>
              </a:rPr>
              <a:t>			     </a:t>
            </a:r>
            <a:r>
              <a:rPr lang="en-US" sz="26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/>
                <a:sym typeface="Gill Sans"/>
              </a:rPr>
              <a:t>= n + (k - 1) (1)</a:t>
            </a: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r>
              <a:rPr lang="en-US" sz="26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/>
                <a:sym typeface="Gill Sans"/>
              </a:rPr>
              <a:t>			 </a:t>
            </a:r>
            <a:r>
              <a:rPr lang="en-US" sz="2600" dirty="0" err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/>
                <a:sym typeface="Gill Sans"/>
              </a:rPr>
              <a:t>a</a:t>
            </a:r>
            <a:r>
              <a:rPr lang="en-US" sz="2600" baseline="-25000" dirty="0" err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/>
                <a:sym typeface="Gill Sans"/>
              </a:rPr>
              <a:t>k</a:t>
            </a:r>
            <a:r>
              <a:rPr lang="en-US" sz="26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/>
                <a:sym typeface="Gill Sans"/>
              </a:rPr>
              <a:t> = </a:t>
            </a:r>
            <a:r>
              <a:rPr lang="en-US" sz="26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/>
                <a:sym typeface="Gill Sans"/>
              </a:rPr>
              <a:t>k + n – 1</a:t>
            </a: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endParaRPr lang="en-US" sz="2600" dirty="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0" indent="0">
              <a:spcBef>
                <a:spcPts val="0"/>
              </a:spcBef>
              <a:buClr>
                <a:schemeClr val="accent1"/>
              </a:buClr>
              <a:buSzPts val="1976"/>
              <a:buNone/>
              <a:defRPr/>
            </a:pPr>
            <a:r>
              <a:rPr lang="en-US" sz="26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Hence the </a:t>
            </a:r>
            <a:r>
              <a:rPr lang="en-US" sz="26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kth term</a:t>
            </a:r>
            <a:r>
              <a:rPr lang="en-US" sz="26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of the </a:t>
            </a:r>
            <a:r>
              <a:rPr lang="en-US" sz="26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series</a:t>
            </a:r>
            <a:r>
              <a:rPr lang="en-US" sz="26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is</a:t>
            </a:r>
          </a:p>
          <a:p>
            <a:pPr marL="125476" indent="0">
              <a:buClr>
                <a:schemeClr val="accent1"/>
              </a:buClr>
              <a:buSzPts val="1976"/>
              <a:buNone/>
              <a:defRPr/>
            </a:pPr>
            <a:endParaRPr lang="en-US" sz="26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125476" indent="0">
              <a:buClr>
                <a:schemeClr val="accent1"/>
              </a:buClr>
              <a:buSzPts val="1976"/>
              <a:buNone/>
              <a:defRPr/>
            </a:pPr>
            <a:endParaRPr lang="en-US" sz="26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r>
              <a:rPr lang="en-US" sz="26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And the </a:t>
            </a:r>
            <a:r>
              <a:rPr lang="en-US" sz="26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expression</a:t>
            </a:r>
            <a:r>
              <a:rPr lang="en-US" sz="26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for the series is given by </a:t>
            </a:r>
          </a:p>
          <a:p>
            <a:pPr marL="125476" indent="0">
              <a:buClr>
                <a:schemeClr val="accent1"/>
              </a:buClr>
              <a:buSzPts val="1976"/>
              <a:buNone/>
              <a:defRPr/>
            </a:pPr>
            <a:endParaRPr lang="en-US" sz="26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endParaRPr lang="en-US" sz="2600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125476" indent="0">
              <a:buClr>
                <a:schemeClr val="accent1"/>
              </a:buClr>
              <a:buSzPts val="1976"/>
              <a:buNone/>
              <a:defRPr/>
            </a:pPr>
            <a:endParaRPr sz="2600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graphicFrame>
        <p:nvGraphicFramePr>
          <p:cNvPr id="7" name="Google Shape;221;p16">
            <a:extLst>
              <a:ext uri="{FF2B5EF4-FFF2-40B4-BE49-F238E27FC236}">
                <a16:creationId xmlns:a16="http://schemas.microsoft.com/office/drawing/2014/main" id="{731EF20D-162B-48D1-B808-E8B0F50D85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3848429"/>
              </p:ext>
            </p:extLst>
          </p:nvPr>
        </p:nvGraphicFramePr>
        <p:xfrm>
          <a:off x="4980454" y="3923180"/>
          <a:ext cx="1295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24" r:id="rId4" imgW="0" imgH="0" progId="">
                  <p:embed/>
                </p:oleObj>
              </mc:Choice>
              <mc:Fallback>
                <p:oleObj r:id="rId4" imgW="0" imgH="0" progId="">
                  <p:embed/>
                  <p:pic>
                    <p:nvPicPr>
                      <p:cNvPr id="221" name="Google Shape;221;p16">
                        <a:extLst>
                          <a:ext uri="{FF2B5EF4-FFF2-40B4-BE49-F238E27FC236}">
                            <a16:creationId xmlns:a16="http://schemas.microsoft.com/office/drawing/2014/main" id="{872308D7-0991-4783-92FB-404DBBC5DB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0454" y="3923180"/>
                        <a:ext cx="1295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83D20DBF-C7AE-4DBC-95DB-3950500064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33" t="23889" r="21458" b="51295"/>
          <a:stretch>
            <a:fillRect/>
          </a:stretch>
        </p:blipFill>
        <p:spPr bwMode="auto">
          <a:xfrm>
            <a:off x="904113" y="5338796"/>
            <a:ext cx="6648450" cy="127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9" name="Google Shape;223;p16">
            <a:extLst>
              <a:ext uri="{FF2B5EF4-FFF2-40B4-BE49-F238E27FC236}">
                <a16:creationId xmlns:a16="http://schemas.microsoft.com/office/drawing/2014/main" id="{31AAE9EE-8395-4400-9C88-9E9F237630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5515199"/>
              </p:ext>
            </p:extLst>
          </p:nvPr>
        </p:nvGraphicFramePr>
        <p:xfrm>
          <a:off x="7827122" y="5519771"/>
          <a:ext cx="163036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25" r:id="rId7" imgW="0" imgH="0" progId="">
                  <p:embed/>
                </p:oleObj>
              </mc:Choice>
              <mc:Fallback>
                <p:oleObj r:id="rId7" imgW="0" imgH="0" progId="">
                  <p:embed/>
                  <p:pic>
                    <p:nvPicPr>
                      <p:cNvPr id="223" name="Google Shape;223;p16">
                        <a:extLst>
                          <a:ext uri="{FF2B5EF4-FFF2-40B4-BE49-F238E27FC236}">
                            <a16:creationId xmlns:a16="http://schemas.microsoft.com/office/drawing/2014/main" id="{8D9078A6-1550-4864-BD7C-C03031B071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7122" y="5519771"/>
                        <a:ext cx="163036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Google Shape;267;p22">
            <a:extLst>
              <a:ext uri="{FF2B5EF4-FFF2-40B4-BE49-F238E27FC236}">
                <a16:creationId xmlns:a16="http://schemas.microsoft.com/office/drawing/2014/main" id="{67EF80A2-396B-4913-87EE-9685F596582F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549021" y="25961"/>
            <a:ext cx="10515600" cy="909638"/>
          </a:xfrm>
        </p:spPr>
        <p:txBody>
          <a:bodyPr/>
          <a:lstStyle/>
          <a:p>
            <a:pPr algn="ctr" eaLnBrk="1" hangingPunct="1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ts val="3200"/>
              <a:buFont typeface="Bookman Old Style" panose="02050604050505020204" pitchFamily="18" charset="0"/>
              <a:buNone/>
            </a:pPr>
            <a:r>
              <a:rPr lang="en-US" altLang="en-US" sz="3200" b="1" u="sng" dirty="0">
                <a:solidFill>
                  <a:srgbClr val="0070C0"/>
                </a:solidFill>
                <a:latin typeface="Bookman Old Style" panose="02050604050505020204" pitchFamily="18" charset="0"/>
                <a:cs typeface="Arial" panose="020B0604020202020204" pitchFamily="34" charset="0"/>
                <a:sym typeface="Bookman Old Style" panose="02050604050505020204" pitchFamily="18" charset="0"/>
              </a:rPr>
              <a:t>PROPERTIES OF SUMMATIONS</a:t>
            </a:r>
            <a:endParaRPr lang="en-US" altLang="en-US" sz="3200" dirty="0">
              <a:solidFill>
                <a:srgbClr val="464653"/>
              </a:solidFill>
              <a:latin typeface="Bookman Old Style" panose="02050604050505020204" pitchFamily="18" charset="0"/>
              <a:cs typeface="Arial" panose="020B0604020202020204" pitchFamily="34" charset="0"/>
              <a:sym typeface="Bookman Old Style" panose="02050604050505020204" pitchFamily="18" charset="0"/>
            </a:endParaRPr>
          </a:p>
        </p:txBody>
      </p:sp>
      <p:graphicFrame>
        <p:nvGraphicFramePr>
          <p:cNvPr id="59395" name="Google Shape;269;p22">
            <a:extLst>
              <a:ext uri="{FF2B5EF4-FFF2-40B4-BE49-F238E27FC236}">
                <a16:creationId xmlns:a16="http://schemas.microsoft.com/office/drawing/2014/main" id="{0238D67A-C004-4E7E-BF88-EA09DDF091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14613" y="1147764"/>
          <a:ext cx="5962650" cy="90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58" r:id="rId4" imgW="0" imgH="0" progId="">
                  <p:embed/>
                </p:oleObj>
              </mc:Choice>
              <mc:Fallback>
                <p:oleObj r:id="rId4" imgW="0" imgH="0" progId="">
                  <p:embed/>
                  <p:pic>
                    <p:nvPicPr>
                      <p:cNvPr id="59395" name="Google Shape;269;p22">
                        <a:extLst>
                          <a:ext uri="{FF2B5EF4-FFF2-40B4-BE49-F238E27FC236}">
                            <a16:creationId xmlns:a16="http://schemas.microsoft.com/office/drawing/2014/main" id="{0238D67A-C004-4E7E-BF88-EA09DDF091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4613" y="1147764"/>
                        <a:ext cx="5962650" cy="909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96" name="Google Shape;270;p22">
            <a:extLst>
              <a:ext uri="{FF2B5EF4-FFF2-40B4-BE49-F238E27FC236}">
                <a16:creationId xmlns:a16="http://schemas.microsoft.com/office/drawing/2014/main" id="{229BF77E-9E21-4859-8097-B2EA13BCE1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14614" y="2117725"/>
          <a:ext cx="557847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59" r:id="rId6" imgW="0" imgH="0" progId="">
                  <p:embed/>
                </p:oleObj>
              </mc:Choice>
              <mc:Fallback>
                <p:oleObj r:id="rId6" imgW="0" imgH="0" progId="">
                  <p:embed/>
                  <p:pic>
                    <p:nvPicPr>
                      <p:cNvPr id="59396" name="Google Shape;270;p22">
                        <a:extLst>
                          <a:ext uri="{FF2B5EF4-FFF2-40B4-BE49-F238E27FC236}">
                            <a16:creationId xmlns:a16="http://schemas.microsoft.com/office/drawing/2014/main" id="{229BF77E-9E21-4859-8097-B2EA13BCE1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4614" y="2117725"/>
                        <a:ext cx="5578475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97" name="Google Shape;271;p22">
            <a:extLst>
              <a:ext uri="{FF2B5EF4-FFF2-40B4-BE49-F238E27FC236}">
                <a16:creationId xmlns:a16="http://schemas.microsoft.com/office/drawing/2014/main" id="{ADB49A6F-8C5A-4364-AAC7-403DA0095C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73339" y="3046413"/>
          <a:ext cx="524827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60" r:id="rId8" imgW="0" imgH="0" progId="">
                  <p:embed/>
                </p:oleObj>
              </mc:Choice>
              <mc:Fallback>
                <p:oleObj r:id="rId8" imgW="0" imgH="0" progId="">
                  <p:embed/>
                  <p:pic>
                    <p:nvPicPr>
                      <p:cNvPr id="59397" name="Google Shape;271;p22">
                        <a:extLst>
                          <a:ext uri="{FF2B5EF4-FFF2-40B4-BE49-F238E27FC236}">
                            <a16:creationId xmlns:a16="http://schemas.microsoft.com/office/drawing/2014/main" id="{ADB49A6F-8C5A-4364-AAC7-403DA0095C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3339" y="3046413"/>
                        <a:ext cx="5248275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98" name="Google Shape;272;p22">
            <a:extLst>
              <a:ext uri="{FF2B5EF4-FFF2-40B4-BE49-F238E27FC236}">
                <a16:creationId xmlns:a16="http://schemas.microsoft.com/office/drawing/2014/main" id="{91EBEA4D-EB76-46C1-B93A-FC4F90FB47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66989" y="4133850"/>
          <a:ext cx="4903787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61" r:id="rId10" imgW="0" imgH="0" progId="">
                  <p:embed/>
                </p:oleObj>
              </mc:Choice>
              <mc:Fallback>
                <p:oleObj r:id="rId10" imgW="0" imgH="0" progId="">
                  <p:embed/>
                  <p:pic>
                    <p:nvPicPr>
                      <p:cNvPr id="59398" name="Google Shape;272;p22">
                        <a:extLst>
                          <a:ext uri="{FF2B5EF4-FFF2-40B4-BE49-F238E27FC236}">
                            <a16:creationId xmlns:a16="http://schemas.microsoft.com/office/drawing/2014/main" id="{91EBEA4D-EB76-46C1-B93A-FC4F90FB47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9" y="4133850"/>
                        <a:ext cx="4903787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9399" name="Picture 2">
            <a:extLst>
              <a:ext uri="{FF2B5EF4-FFF2-40B4-BE49-F238E27FC236}">
                <a16:creationId xmlns:a16="http://schemas.microsoft.com/office/drawing/2014/main" id="{73DE1131-851F-4E50-99D4-C075F461E4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3" t="52341" r="46559" b="26631"/>
          <a:stretch>
            <a:fillRect/>
          </a:stretch>
        </p:blipFill>
        <p:spPr bwMode="auto">
          <a:xfrm>
            <a:off x="2468564" y="5168901"/>
            <a:ext cx="4581525" cy="108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Google Shape;278;p23">
            <a:extLst>
              <a:ext uri="{FF2B5EF4-FFF2-40B4-BE49-F238E27FC236}">
                <a16:creationId xmlns:a16="http://schemas.microsoft.com/office/drawing/2014/main" id="{F6A9FCB4-19DB-4CF6-88F8-194D3D266557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539495" y="16644"/>
            <a:ext cx="10515600" cy="669796"/>
          </a:xfrm>
        </p:spPr>
        <p:txBody>
          <a:bodyPr>
            <a:normAutofit/>
          </a:bodyPr>
          <a:lstStyle/>
          <a:p>
            <a:pPr algn="ctr" eaLnBrk="1" hangingPunct="1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ts val="3200"/>
              <a:buFont typeface="Bookman Old Style" panose="02050604050505020204" pitchFamily="18" charset="0"/>
              <a:buNone/>
            </a:pPr>
            <a:r>
              <a:rPr lang="en-US" altLang="en-US" sz="3600" b="1" u="sng" dirty="0">
                <a:solidFill>
                  <a:srgbClr val="0070C0"/>
                </a:solidFill>
                <a:cs typeface="Arial" panose="020B0604020202020204" pitchFamily="34" charset="0"/>
                <a:sym typeface="Bookman Old Style" panose="02050604050505020204" pitchFamily="18" charset="0"/>
              </a:rPr>
              <a:t>EXERCISE</a:t>
            </a:r>
            <a:endParaRPr lang="en-US" altLang="en-US" sz="3600" dirty="0">
              <a:solidFill>
                <a:srgbClr val="464653"/>
              </a:solidFill>
              <a:cs typeface="Arial" panose="020B0604020202020204" pitchFamily="34" charset="0"/>
              <a:sym typeface="Bookman Old Style" panose="02050604050505020204" pitchFamily="18" charset="0"/>
            </a:endParaRPr>
          </a:p>
        </p:txBody>
      </p:sp>
      <p:sp>
        <p:nvSpPr>
          <p:cNvPr id="279" name="Google Shape;279;p23">
            <a:extLst>
              <a:ext uri="{FF2B5EF4-FFF2-40B4-BE49-F238E27FC236}">
                <a16:creationId xmlns:a16="http://schemas.microsoft.com/office/drawing/2014/main" id="{6E00DF63-CB3F-4F71-8F61-2390A69F954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701847" y="713751"/>
            <a:ext cx="10788306" cy="4731751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Clr>
                <a:schemeClr val="accent1"/>
              </a:buClr>
              <a:buSzPts val="1976"/>
              <a:buNone/>
              <a:defRPr/>
            </a:pPr>
            <a:r>
              <a:rPr lang="en-US" sz="2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Express</a:t>
            </a:r>
            <a:r>
              <a:rPr lang="en-US" sz="20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the following </a:t>
            </a:r>
            <a:r>
              <a:rPr lang="en-US" sz="2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summation</a:t>
            </a:r>
            <a:r>
              <a:rPr lang="en-US" sz="20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more </a:t>
            </a:r>
            <a:r>
              <a:rPr lang="en-US" sz="2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simply</a:t>
            </a:r>
            <a:r>
              <a:rPr lang="en-US" sz="20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:</a:t>
            </a:r>
            <a:endParaRPr sz="20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125476" indent="0">
              <a:buClr>
                <a:schemeClr val="accent1"/>
              </a:buClr>
              <a:buSzPts val="1976"/>
              <a:buNone/>
              <a:defRPr/>
            </a:pPr>
            <a:endParaRPr sz="20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125476" indent="0">
              <a:buClr>
                <a:schemeClr val="accent1"/>
              </a:buClr>
              <a:buSzPts val="1976"/>
              <a:buNone/>
              <a:defRPr/>
            </a:pPr>
            <a:endParaRPr sz="2000" b="1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r>
              <a:rPr lang="en-US" sz="2000" b="1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SOLUTION:</a:t>
            </a:r>
          </a:p>
          <a:p>
            <a:pPr marL="1828800" lvl="4" indent="0">
              <a:buClr>
                <a:schemeClr val="accent1"/>
              </a:buClr>
              <a:buSzPts val="1976"/>
              <a:buNone/>
              <a:defRPr/>
            </a:pPr>
            <a:r>
              <a:rPr lang="en-US" sz="2000" b="1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              </a:t>
            </a:r>
            <a:r>
              <a:rPr lang="en-US" sz="2000" b="1" dirty="0">
                <a:ea typeface="Gill Sans"/>
                <a:cs typeface="Gill Sans"/>
                <a:sym typeface="Gill Sans"/>
              </a:rPr>
              <a:t>=</a:t>
            </a:r>
          </a:p>
          <a:p>
            <a:pPr marL="1828800" lvl="4" indent="0">
              <a:buClr>
                <a:schemeClr val="accent1"/>
              </a:buClr>
              <a:buSzPts val="1976"/>
              <a:buNone/>
              <a:defRPr/>
            </a:pPr>
            <a:endParaRPr lang="en-US" sz="2000" b="1" dirty="0">
              <a:solidFill>
                <a:schemeClr val="accent6">
                  <a:lumMod val="50000"/>
                </a:schemeClr>
              </a:solidFill>
              <a:ea typeface="Gill Sans"/>
              <a:cs typeface="Gill Sans"/>
              <a:sym typeface="Gill Sans"/>
            </a:endParaRPr>
          </a:p>
          <a:p>
            <a:pPr marL="1828800" lvl="4" indent="0">
              <a:buClr>
                <a:schemeClr val="accent1"/>
              </a:buClr>
              <a:buSzPts val="1976"/>
              <a:buNone/>
              <a:defRPr/>
            </a:pPr>
            <a:endParaRPr lang="en-US" sz="2000" b="1" dirty="0">
              <a:solidFill>
                <a:schemeClr val="accent6">
                  <a:lumMod val="50000"/>
                </a:schemeClr>
              </a:solidFill>
              <a:ea typeface="Gill Sans"/>
              <a:cs typeface="Gill Sans"/>
              <a:sym typeface="Gill Sans"/>
            </a:endParaRPr>
          </a:p>
          <a:p>
            <a:pPr marL="1828800" lvl="4" indent="0">
              <a:buClr>
                <a:schemeClr val="accent1"/>
              </a:buClr>
              <a:buSzPts val="1976"/>
              <a:buNone/>
              <a:defRPr/>
            </a:pP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ea typeface="Gill Sans"/>
                <a:cs typeface="Gill Sans"/>
                <a:sym typeface="Gill Sans"/>
              </a:rPr>
              <a:t>               </a:t>
            </a:r>
            <a:r>
              <a:rPr lang="en-US" sz="2000" b="1" dirty="0">
                <a:ea typeface="Gill Sans"/>
                <a:cs typeface="Gill Sans"/>
                <a:sym typeface="Gill Sans"/>
              </a:rPr>
              <a:t>=</a:t>
            </a:r>
            <a:endParaRPr sz="2000" dirty="0">
              <a:ea typeface="Gill Sans"/>
              <a:cs typeface="Gill Sans"/>
              <a:sym typeface="Gill Sans"/>
            </a:endParaRPr>
          </a:p>
          <a:p>
            <a:pPr marL="125476" indent="0">
              <a:buClr>
                <a:schemeClr val="accent1"/>
              </a:buClr>
              <a:buSzPts val="1976"/>
              <a:buNone/>
              <a:defRPr/>
            </a:pPr>
            <a:endParaRPr sz="20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</p:txBody>
      </p:sp>
      <p:sp>
        <p:nvSpPr>
          <p:cNvPr id="61444" name="Google Shape;280;p23">
            <a:extLst>
              <a:ext uri="{FF2B5EF4-FFF2-40B4-BE49-F238E27FC236}">
                <a16:creationId xmlns:a16="http://schemas.microsoft.com/office/drawing/2014/main" id="{99195FE9-A2BC-494D-AEF2-F725447492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43955"/>
            <a:ext cx="9144000" cy="36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Gill Sans" charset="0"/>
              <a:cs typeface="Gill Sans" charset="0"/>
              <a:sym typeface="Gill Sans" charset="0"/>
            </a:endParaRPr>
          </a:p>
        </p:txBody>
      </p:sp>
      <p:graphicFrame>
        <p:nvGraphicFramePr>
          <p:cNvPr id="59397" name="Google Shape;281;p23">
            <a:extLst>
              <a:ext uri="{FF2B5EF4-FFF2-40B4-BE49-F238E27FC236}">
                <a16:creationId xmlns:a16="http://schemas.microsoft.com/office/drawing/2014/main" id="{13839555-6F1B-428D-8F52-CB5EB6FC61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9877556"/>
              </p:ext>
            </p:extLst>
          </p:nvPr>
        </p:nvGraphicFramePr>
        <p:xfrm>
          <a:off x="3569285" y="1072417"/>
          <a:ext cx="3057525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44" r:id="rId4" imgW="0" imgH="0" progId="">
                  <p:embed/>
                </p:oleObj>
              </mc:Choice>
              <mc:Fallback>
                <p:oleObj r:id="rId4" imgW="0" imgH="0" progId="">
                  <p:embed/>
                  <p:pic>
                    <p:nvPicPr>
                      <p:cNvPr id="59397" name="Google Shape;281;p23">
                        <a:extLst>
                          <a:ext uri="{FF2B5EF4-FFF2-40B4-BE49-F238E27FC236}">
                            <a16:creationId xmlns:a16="http://schemas.microsoft.com/office/drawing/2014/main" id="{13839555-6F1B-428D-8F52-CB5EB6FC61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9285" y="1072417"/>
                        <a:ext cx="3057525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98" name="Google Shape;282;p23">
            <a:extLst>
              <a:ext uri="{FF2B5EF4-FFF2-40B4-BE49-F238E27FC236}">
                <a16:creationId xmlns:a16="http://schemas.microsoft.com/office/drawing/2014/main" id="{06272C33-6C22-4655-8709-6A7614DC3F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547278"/>
              </p:ext>
            </p:extLst>
          </p:nvPr>
        </p:nvGraphicFramePr>
        <p:xfrm>
          <a:off x="3651579" y="2044134"/>
          <a:ext cx="3057525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45" r:id="rId6" imgW="0" imgH="0" progId="">
                  <p:embed/>
                </p:oleObj>
              </mc:Choice>
              <mc:Fallback>
                <p:oleObj r:id="rId6" imgW="0" imgH="0" progId="">
                  <p:embed/>
                  <p:pic>
                    <p:nvPicPr>
                      <p:cNvPr id="59398" name="Google Shape;282;p23">
                        <a:extLst>
                          <a:ext uri="{FF2B5EF4-FFF2-40B4-BE49-F238E27FC236}">
                            <a16:creationId xmlns:a16="http://schemas.microsoft.com/office/drawing/2014/main" id="{06272C33-6C22-4655-8709-6A7614DC3F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1579" y="2044134"/>
                        <a:ext cx="3057525" cy="79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69DB2E60-62B0-4B10-B89E-4C94A6AAA5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1" t="52197" r="53226" b="28543"/>
          <a:stretch>
            <a:fillRect/>
          </a:stretch>
        </p:blipFill>
        <p:spPr bwMode="auto">
          <a:xfrm>
            <a:off x="3825314" y="3039295"/>
            <a:ext cx="32258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BC7DE98-6983-4443-9070-C65FB210C7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032" t="39005"/>
          <a:stretch>
            <a:fillRect/>
          </a:stretch>
        </p:blipFill>
        <p:spPr bwMode="auto">
          <a:xfrm>
            <a:off x="3166807" y="3960867"/>
            <a:ext cx="4159250" cy="2789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9" name="Google Shape;291;p24">
            <a:extLst>
              <a:ext uri="{FF2B5EF4-FFF2-40B4-BE49-F238E27FC236}">
                <a16:creationId xmlns:a16="http://schemas.microsoft.com/office/drawing/2014/main" id="{9FF2D9BA-3B94-4528-86E3-3CCEB7F21A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6481688"/>
              </p:ext>
            </p:extLst>
          </p:nvPr>
        </p:nvGraphicFramePr>
        <p:xfrm>
          <a:off x="6412451" y="5549115"/>
          <a:ext cx="1827212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46" r:id="rId9" imgW="0" imgH="0" progId="">
                  <p:embed/>
                </p:oleObj>
              </mc:Choice>
              <mc:Fallback>
                <p:oleObj r:id="rId9" imgW="0" imgH="0" progId="">
                  <p:embed/>
                  <p:pic>
                    <p:nvPicPr>
                      <p:cNvPr id="61446" name="Google Shape;291;p24">
                        <a:extLst>
                          <a:ext uri="{FF2B5EF4-FFF2-40B4-BE49-F238E27FC236}">
                            <a16:creationId xmlns:a16="http://schemas.microsoft.com/office/drawing/2014/main" id="{5293E981-CC2A-41C7-8C06-0E4F04382F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2451" y="5549115"/>
                        <a:ext cx="1827212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2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9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9BE97FE-2D28-311A-9C73-DD1FAADF28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40541"/>
            <a:ext cx="10515600" cy="45364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Solution?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2D61EEF-6A51-C54E-756C-EF06DF3AE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681037"/>
          </a:xfrm>
        </p:spPr>
        <p:txBody>
          <a:bodyPr>
            <a:normAutofit/>
          </a:bodyPr>
          <a:lstStyle/>
          <a:p>
            <a:r>
              <a:rPr lang="en-US" sz="3600" b="1" u="sng" dirty="0">
                <a:solidFill>
                  <a:srgbClr val="0070C0"/>
                </a:solidFill>
                <a:cs typeface="Arial" panose="020B0604020202020204" pitchFamily="34" charset="0"/>
              </a:rPr>
              <a:t>Summation Properties: </a:t>
            </a:r>
            <a:r>
              <a:rPr lang="en-US" sz="3600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</a:rPr>
              <a:t>Exercise …… </a:t>
            </a:r>
            <a:r>
              <a:rPr lang="en-US" sz="3600" dirty="0">
                <a:solidFill>
                  <a:srgbClr val="00B050"/>
                </a:solidFill>
                <a:latin typeface="Cambria Math" pitchFamily="18" charset="0"/>
                <a:ea typeface="Cambria Math" pitchFamily="18" charset="0"/>
              </a:rPr>
              <a:t>Do it Yourself</a:t>
            </a:r>
            <a:endParaRPr lang="en-US" sz="4000" dirty="0">
              <a:solidFill>
                <a:srgbClr val="00B05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3ABAB5-B9CA-C62D-93E5-E3AA548639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778283"/>
            <a:ext cx="4388473" cy="599587"/>
          </a:xfrm>
          <a:prstGeom prst="rect">
            <a:avLst/>
          </a:prstGeom>
          <a:solidFill>
            <a:srgbClr val="FFFFFF">
              <a:shade val="85000"/>
            </a:srgbClr>
          </a:solidFill>
          <a:ln w="38100" cap="rnd">
            <a:solidFill>
              <a:schemeClr val="accent1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5809373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9BE97FE-2D28-311A-9C73-DD1FAADF28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759233"/>
            <a:ext cx="10515600" cy="44177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Solution?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1971AF-B6E1-FD24-D754-6989C334E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8" y="965153"/>
            <a:ext cx="4446495" cy="509964"/>
          </a:xfrm>
          <a:prstGeom prst="rect">
            <a:avLst/>
          </a:prstGeom>
          <a:ln w="38100" cap="sq">
            <a:solidFill>
              <a:srgbClr val="FF3399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itle 2">
            <a:extLst>
              <a:ext uri="{FF2B5EF4-FFF2-40B4-BE49-F238E27FC236}">
                <a16:creationId xmlns:a16="http://schemas.microsoft.com/office/drawing/2014/main" id="{6CE97F66-0E02-4BD1-96AA-A351BF0E94C3}"/>
              </a:ext>
            </a:extLst>
          </p:cNvPr>
          <p:cNvSpPr txBox="1">
            <a:spLocks/>
          </p:cNvSpPr>
          <p:nvPr/>
        </p:nvSpPr>
        <p:spPr>
          <a:xfrm>
            <a:off x="609600" y="0"/>
            <a:ext cx="10972800" cy="6810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u="sng">
                <a:solidFill>
                  <a:srgbClr val="0070C0"/>
                </a:solidFill>
                <a:cs typeface="Arial" panose="020B0604020202020204" pitchFamily="34" charset="0"/>
              </a:rPr>
              <a:t>Summation Properties: </a:t>
            </a:r>
            <a:r>
              <a:rPr lang="en-US" sz="360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</a:rPr>
              <a:t>Exercise …… </a:t>
            </a:r>
            <a:r>
              <a:rPr lang="en-US" sz="3600">
                <a:solidFill>
                  <a:srgbClr val="00B050"/>
                </a:solidFill>
                <a:latin typeface="Cambria Math" pitchFamily="18" charset="0"/>
                <a:ea typeface="Cambria Math" pitchFamily="18" charset="0"/>
              </a:rPr>
              <a:t>Do it Yourself</a:t>
            </a:r>
            <a:endParaRPr lang="en-US" sz="40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727571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9BE97FE-2D28-311A-9C73-DD1FAADF28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82587"/>
            <a:ext cx="10515600" cy="4294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Solution?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93817A-D785-122E-73DC-9A086091C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796037"/>
            <a:ext cx="2486025" cy="971550"/>
          </a:xfrm>
          <a:prstGeom prst="rect">
            <a:avLst/>
          </a:prstGeom>
          <a:ln w="28575">
            <a:solidFill>
              <a:srgbClr val="FF3399"/>
            </a:solidFill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Title 2">
            <a:extLst>
              <a:ext uri="{FF2B5EF4-FFF2-40B4-BE49-F238E27FC236}">
                <a16:creationId xmlns:a16="http://schemas.microsoft.com/office/drawing/2014/main" id="{29B8C2E2-FAAE-4EC6-83BB-A7134D8808F4}"/>
              </a:ext>
            </a:extLst>
          </p:cNvPr>
          <p:cNvSpPr txBox="1">
            <a:spLocks/>
          </p:cNvSpPr>
          <p:nvPr/>
        </p:nvSpPr>
        <p:spPr>
          <a:xfrm>
            <a:off x="609600" y="0"/>
            <a:ext cx="10972800" cy="6810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u="sng">
                <a:solidFill>
                  <a:srgbClr val="0070C0"/>
                </a:solidFill>
                <a:cs typeface="Arial" panose="020B0604020202020204" pitchFamily="34" charset="0"/>
              </a:rPr>
              <a:t>Summation Properties: </a:t>
            </a:r>
            <a:r>
              <a:rPr lang="en-US" sz="360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</a:rPr>
              <a:t>Exercise …… </a:t>
            </a:r>
            <a:r>
              <a:rPr lang="en-US" sz="3600">
                <a:solidFill>
                  <a:srgbClr val="00B050"/>
                </a:solidFill>
                <a:latin typeface="Cambria Math" pitchFamily="18" charset="0"/>
                <a:ea typeface="Cambria Math" pitchFamily="18" charset="0"/>
              </a:rPr>
              <a:t>Do it Yourself</a:t>
            </a:r>
            <a:endParaRPr lang="en-US" sz="40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473715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Google Shape;297;p25">
            <a:extLst>
              <a:ext uri="{FF2B5EF4-FFF2-40B4-BE49-F238E27FC236}">
                <a16:creationId xmlns:a16="http://schemas.microsoft.com/office/drawing/2014/main" id="{A0844FEA-5523-486F-BE09-C725C86F27C7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668229" y="1"/>
            <a:ext cx="10515600" cy="914400"/>
          </a:xfrm>
        </p:spPr>
        <p:txBody>
          <a:bodyPr/>
          <a:lstStyle/>
          <a:p>
            <a:pPr algn="ctr" eaLnBrk="1" hangingPunct="1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ts val="3200"/>
              <a:buFont typeface="Bookman Old Style" panose="02050604050505020204" pitchFamily="18" charset="0"/>
              <a:buNone/>
            </a:pPr>
            <a:r>
              <a:rPr lang="en-US" altLang="en-US" sz="3200" b="1" u="sng" dirty="0">
                <a:solidFill>
                  <a:srgbClr val="0070C0"/>
                </a:solidFill>
                <a:latin typeface="Bookman Old Style" panose="02050604050505020204" pitchFamily="18" charset="0"/>
                <a:cs typeface="Arial" panose="020B0604020202020204" pitchFamily="34" charset="0"/>
                <a:sym typeface="Bookman Old Style" panose="02050604050505020204" pitchFamily="18" charset="0"/>
              </a:rPr>
              <a:t>ARITHMETIC SERIES</a:t>
            </a:r>
            <a:endParaRPr lang="en-US" altLang="en-US" sz="3200" dirty="0">
              <a:solidFill>
                <a:srgbClr val="464653"/>
              </a:solidFill>
              <a:latin typeface="Bookman Old Style" panose="02050604050505020204" pitchFamily="18" charset="0"/>
              <a:cs typeface="Arial" panose="020B0604020202020204" pitchFamily="34" charset="0"/>
              <a:sym typeface="Bookman Old Style" panose="02050604050505020204" pitchFamily="18" charset="0"/>
            </a:endParaRPr>
          </a:p>
        </p:txBody>
      </p:sp>
      <p:sp>
        <p:nvSpPr>
          <p:cNvPr id="298" name="Google Shape;298;p25">
            <a:extLst>
              <a:ext uri="{FF2B5EF4-FFF2-40B4-BE49-F238E27FC236}">
                <a16:creationId xmlns:a16="http://schemas.microsoft.com/office/drawing/2014/main" id="{021640AF-2DB9-42B1-BBCA-09A9F761600C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68228" y="727365"/>
            <a:ext cx="11177408" cy="5818908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Clr>
                <a:schemeClr val="accent1"/>
              </a:buClr>
              <a:buSzPts val="1976"/>
              <a:buNone/>
              <a:defRPr/>
            </a:pP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The 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sum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of the 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terms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of an 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arithmetic sequence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forms an 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arithmetic series 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(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A.S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).</a:t>
            </a:r>
            <a:endParaRPr sz="24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endParaRPr lang="en-US" sz="24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For example:</a:t>
            </a:r>
            <a:endParaRPr sz="24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	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Arithmetic sequence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is    1 , 3 , 5 , 7 ,  …</a:t>
            </a:r>
            <a:endParaRPr sz="24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		Then</a:t>
            </a:r>
            <a:endParaRPr sz="24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				1 + 3 + 5 + 7 + …</a:t>
            </a:r>
            <a:endParaRPr sz="24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endParaRPr sz="24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	is an 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arithmetic series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of 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positive odd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integers.</a:t>
            </a: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endParaRPr lang="en-US" sz="24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spcBef>
                <a:spcPts val="0"/>
              </a:spcBef>
              <a:buClr>
                <a:schemeClr val="accent1"/>
              </a:buClr>
              <a:buSzPts val="1976"/>
              <a:buNone/>
              <a:defRPr/>
            </a:pPr>
            <a:r>
              <a:rPr lang="en-US" sz="24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/>
                <a:sym typeface="Gill Sans"/>
              </a:rPr>
              <a:t>In general, if </a:t>
            </a:r>
            <a:r>
              <a:rPr lang="en-US" sz="24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/>
                <a:sym typeface="Gill Sans"/>
              </a:rPr>
              <a:t>a</a:t>
            </a:r>
            <a:r>
              <a:rPr lang="en-US" sz="24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/>
                <a:sym typeface="Gill Sans"/>
              </a:rPr>
              <a:t> is the </a:t>
            </a:r>
            <a:r>
              <a:rPr lang="en-US" sz="24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/>
                <a:sym typeface="Gill Sans"/>
              </a:rPr>
              <a:t>first term</a:t>
            </a:r>
            <a:r>
              <a:rPr lang="en-US" sz="24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/>
                <a:sym typeface="Gill Sans"/>
              </a:rPr>
              <a:t> and </a:t>
            </a:r>
            <a:r>
              <a:rPr lang="en-US" sz="24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/>
                <a:sym typeface="Gill Sans"/>
              </a:rPr>
              <a:t>d</a:t>
            </a:r>
            <a:r>
              <a:rPr lang="en-US" sz="24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/>
                <a:sym typeface="Gill Sans"/>
              </a:rPr>
              <a:t> the </a:t>
            </a:r>
            <a:r>
              <a:rPr lang="en-US" sz="24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/>
                <a:sym typeface="Gill Sans"/>
              </a:rPr>
              <a:t>common difference</a:t>
            </a:r>
            <a:r>
              <a:rPr lang="en-US" sz="24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/>
                <a:sym typeface="Gill Sans"/>
              </a:rPr>
              <a:t> of an </a:t>
            </a:r>
            <a:r>
              <a:rPr lang="en-US" sz="24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/>
                <a:sym typeface="Gill Sans"/>
              </a:rPr>
              <a:t>arithmetic series</a:t>
            </a:r>
            <a:r>
              <a:rPr lang="en-US" sz="24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/>
                <a:sym typeface="Gill Sans"/>
              </a:rPr>
              <a:t>, then the series is given as:</a:t>
            </a:r>
          </a:p>
          <a:p>
            <a:pPr marL="125476" indent="0">
              <a:buClr>
                <a:schemeClr val="accent1"/>
              </a:buClr>
              <a:buSzPts val="1976"/>
              <a:buNone/>
              <a:defRPr/>
            </a:pPr>
            <a:endParaRPr lang="en-US" sz="2400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r>
              <a:rPr lang="en-US" sz="24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/>
                <a:sym typeface="Gill Sans"/>
              </a:rPr>
              <a:t>				</a:t>
            </a:r>
            <a:r>
              <a:rPr lang="en-US" sz="24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/>
                <a:sym typeface="Gill Sans"/>
              </a:rPr>
              <a:t>a + (</a:t>
            </a:r>
            <a:r>
              <a:rPr lang="en-US" sz="2400" dirty="0" err="1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/>
                <a:sym typeface="Gill Sans"/>
              </a:rPr>
              <a:t>a+d</a:t>
            </a:r>
            <a:r>
              <a:rPr lang="en-US" sz="24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/>
                <a:sym typeface="Gill Sans"/>
              </a:rPr>
              <a:t>) + (a+2d) +…</a:t>
            </a:r>
            <a:endParaRPr lang="en-US" sz="2400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2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2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2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2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2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29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Google Shape;309;p27">
            <a:extLst>
              <a:ext uri="{FF2B5EF4-FFF2-40B4-BE49-F238E27FC236}">
                <a16:creationId xmlns:a16="http://schemas.microsoft.com/office/drawing/2014/main" id="{702BA8E5-9180-4A83-AD23-865C7AD0C033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620178" y="1"/>
            <a:ext cx="10515600" cy="766482"/>
          </a:xfrm>
        </p:spPr>
        <p:txBody>
          <a:bodyPr>
            <a:normAutofit/>
          </a:bodyPr>
          <a:lstStyle/>
          <a:p>
            <a:pPr algn="ctr" eaLnBrk="1" hangingPunct="1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ts val="3200"/>
              <a:buFont typeface="Bookman Old Style" panose="02050604050505020204" pitchFamily="18" charset="0"/>
              <a:buNone/>
              <a:defRPr/>
            </a:pPr>
            <a:r>
              <a:rPr lang="en-US" altLang="en-PK" sz="3200" b="1" u="sng" dirty="0">
                <a:solidFill>
                  <a:srgbClr val="0070C0"/>
                </a:solidFill>
                <a:latin typeface="Bookman Old Style" panose="02050604050505020204" pitchFamily="18" charset="0"/>
                <a:cs typeface="Arial" panose="020B0604020202020204" pitchFamily="34" charset="0"/>
                <a:sym typeface="Bookman Old Style" panose="02050604050505020204" pitchFamily="18" charset="0"/>
              </a:rPr>
              <a:t>SUM OF </a:t>
            </a:r>
            <a:r>
              <a:rPr lang="en-US" altLang="en-PK" sz="3200" b="1" u="sng" dirty="0">
                <a:solidFill>
                  <a:srgbClr val="FF0000"/>
                </a:solidFill>
                <a:latin typeface="Bookman Old Style" panose="02050604050505020204" pitchFamily="18" charset="0"/>
                <a:cs typeface="Arial" panose="020B0604020202020204" pitchFamily="34" charset="0"/>
                <a:sym typeface="Bookman Old Style" panose="02050604050505020204" pitchFamily="18" charset="0"/>
              </a:rPr>
              <a:t>n</a:t>
            </a:r>
            <a:r>
              <a:rPr lang="en-US" altLang="en-PK" sz="3200" b="1" u="sng" dirty="0">
                <a:solidFill>
                  <a:srgbClr val="0070C0"/>
                </a:solidFill>
                <a:latin typeface="Bookman Old Style" panose="02050604050505020204" pitchFamily="18" charset="0"/>
                <a:cs typeface="Arial" panose="020B0604020202020204" pitchFamily="34" charset="0"/>
                <a:sym typeface="Bookman Old Style" panose="02050604050505020204" pitchFamily="18" charset="0"/>
              </a:rPr>
              <a:t> TERMS OF AN ARITHMETIC SERIES</a:t>
            </a:r>
            <a:endParaRPr lang="en-PK" altLang="en-PK" sz="3200" dirty="0">
              <a:solidFill>
                <a:srgbClr val="464653"/>
              </a:solidFill>
              <a:latin typeface="Bookman Old Style" panose="02050604050505020204" pitchFamily="18" charset="0"/>
              <a:cs typeface="Arial" panose="020B0604020202020204" pitchFamily="34" charset="0"/>
              <a:sym typeface="Bookman Old Style" panose="02050604050505020204" pitchFamily="18" charset="0"/>
            </a:endParaRPr>
          </a:p>
        </p:txBody>
      </p:sp>
      <p:sp>
        <p:nvSpPr>
          <p:cNvPr id="310" name="Google Shape;310;p27">
            <a:extLst>
              <a:ext uri="{FF2B5EF4-FFF2-40B4-BE49-F238E27FC236}">
                <a16:creationId xmlns:a16="http://schemas.microsoft.com/office/drawing/2014/main" id="{CF36FDFD-EA51-4C88-91E2-2DFC88CBC2A3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>
          <a:xfrm>
            <a:off x="484095" y="766483"/>
            <a:ext cx="11416552" cy="5809129"/>
          </a:xfrm>
        </p:spPr>
        <p:txBody>
          <a:bodyPr>
            <a:normAutofit fontScale="92500" lnSpcReduction="10000"/>
          </a:bodyPr>
          <a:lstStyle/>
          <a:p>
            <a:pPr marL="0" inden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Let </a:t>
            </a:r>
            <a:r>
              <a:rPr lang="en-US" altLang="en-US" sz="20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a</a:t>
            </a: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 be the </a:t>
            </a:r>
            <a:r>
              <a:rPr lang="en-US" altLang="en-US" sz="20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first term</a:t>
            </a: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 and </a:t>
            </a:r>
            <a:r>
              <a:rPr lang="en-US" altLang="en-US" sz="20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d</a:t>
            </a: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 be the </a:t>
            </a:r>
            <a:r>
              <a:rPr lang="en-US" altLang="en-US" sz="20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common difference</a:t>
            </a: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 of an </a:t>
            </a:r>
            <a:r>
              <a:rPr lang="en-US" altLang="en-US" sz="20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arithmetic series</a:t>
            </a: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. Then its </a:t>
            </a:r>
            <a:r>
              <a:rPr lang="en-US" altLang="en-US" sz="20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nth term</a:t>
            </a: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 is:</a:t>
            </a:r>
          </a:p>
          <a:p>
            <a:pPr marL="0" indent="0"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				a</a:t>
            </a:r>
            <a:r>
              <a:rPr lang="en-US" altLang="en-US" sz="2000" baseline="-25000" dirty="0"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n</a:t>
            </a: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 = a + (n - 1)d;	n ≥ 1</a:t>
            </a:r>
          </a:p>
          <a:p>
            <a:pPr marL="0" indent="0"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	If S</a:t>
            </a:r>
            <a:r>
              <a:rPr lang="en-US" altLang="en-US" sz="2000" baseline="-25000" dirty="0"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n</a:t>
            </a: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 denotes the sum of first n terms of the A.S, then</a:t>
            </a:r>
          </a:p>
          <a:p>
            <a:pPr marL="0" indent="0"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		S</a:t>
            </a:r>
            <a:r>
              <a:rPr lang="en-US" altLang="en-US" sz="2000" baseline="-25000" dirty="0"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n</a:t>
            </a: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 =  a + (a + d) + (a + 2d) + … + [a + (n-1) d]</a:t>
            </a:r>
          </a:p>
          <a:p>
            <a:pPr marL="0" indent="0"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		    =  a + (</a:t>
            </a:r>
            <a:r>
              <a:rPr lang="en-US" altLang="en-US" sz="2000" dirty="0" err="1"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a+d</a:t>
            </a: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) + (a + 2d) + … + a</a:t>
            </a:r>
            <a:r>
              <a:rPr lang="en-US" altLang="en-US" sz="2000" baseline="-25000" dirty="0"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n</a:t>
            </a: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			  Where </a:t>
            </a:r>
            <a:r>
              <a:rPr lang="en-US" altLang="en-US" sz="20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a</a:t>
            </a:r>
            <a:r>
              <a:rPr lang="en-US" altLang="en-US" sz="2000" baseline="-250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n</a:t>
            </a:r>
            <a:r>
              <a:rPr lang="en-US" altLang="en-US" sz="20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 = a + (n - 1)d</a:t>
            </a:r>
            <a:endParaRPr lang="en-US" altLang="en-US" sz="2000" dirty="0">
              <a:latin typeface="Cambria" panose="02040503050406030204" pitchFamily="18" charset="0"/>
              <a:ea typeface="Cambria" panose="02040503050406030204" pitchFamily="18" charset="0"/>
              <a:cs typeface="Gill Sans" charset="0"/>
              <a:sym typeface="Gill Sans" charset="0"/>
            </a:endParaRPr>
          </a:p>
          <a:p>
            <a:pPr marL="0" indent="0"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r>
              <a:rPr lang="en-US" altLang="en-US" sz="20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		   </a:t>
            </a: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 =  a + (</a:t>
            </a:r>
            <a:r>
              <a:rPr lang="en-US" altLang="en-US" sz="2000" dirty="0" err="1"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a+d</a:t>
            </a: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) + (a + 2d) + … + (a</a:t>
            </a:r>
            <a:r>
              <a:rPr lang="en-US" altLang="en-US" sz="2000" baseline="-25000" dirty="0"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n</a:t>
            </a: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 - d) + a</a:t>
            </a:r>
            <a:r>
              <a:rPr lang="en-US" altLang="en-US" sz="2000" baseline="-25000" dirty="0"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n</a:t>
            </a: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 …(1)</a:t>
            </a:r>
          </a:p>
          <a:p>
            <a:pPr marL="0" indent="0">
              <a:spcBef>
                <a:spcPts val="0"/>
              </a:spcBef>
              <a:buClr>
                <a:schemeClr val="accent1"/>
              </a:buClr>
              <a:buSzPct val="76000"/>
              <a:buNone/>
              <a:defRPr/>
            </a:pPr>
            <a:r>
              <a:rPr lang="en-US" sz="20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Rewriting the terms in the </a:t>
            </a:r>
            <a:r>
              <a:rPr lang="en-US" sz="2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series</a:t>
            </a:r>
            <a:r>
              <a:rPr lang="en-US" sz="20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in </a:t>
            </a:r>
            <a:r>
              <a:rPr lang="en-US" sz="2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reverse order.</a:t>
            </a:r>
            <a:endParaRPr lang="en-US" sz="20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buClr>
                <a:schemeClr val="accent1"/>
              </a:buClr>
              <a:buSzPct val="76000"/>
              <a:buNone/>
              <a:defRPr/>
            </a:pPr>
            <a:r>
              <a:rPr lang="en-US" sz="20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	 	S</a:t>
            </a:r>
            <a:r>
              <a:rPr lang="en-US" sz="2000" baseline="-250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n </a:t>
            </a:r>
            <a:r>
              <a:rPr lang="en-US" sz="20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= a</a:t>
            </a:r>
            <a:r>
              <a:rPr lang="en-US" sz="2000" baseline="-250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n</a:t>
            </a:r>
            <a:r>
              <a:rPr lang="en-US" sz="20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+ (a</a:t>
            </a:r>
            <a:r>
              <a:rPr lang="en-US" sz="2000" baseline="-250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n</a:t>
            </a:r>
            <a:r>
              <a:rPr lang="en-US" sz="20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- d) + (a</a:t>
            </a:r>
            <a:r>
              <a:rPr lang="en-US" sz="2000" baseline="-250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n</a:t>
            </a:r>
            <a:r>
              <a:rPr lang="en-US" sz="20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- 2d) + … + (a + d) + a ……….(2)</a:t>
            </a:r>
          </a:p>
          <a:p>
            <a:pPr marL="0" indent="0">
              <a:buClr>
                <a:schemeClr val="accent1"/>
              </a:buClr>
              <a:buSzPct val="76000"/>
              <a:buNone/>
              <a:defRPr/>
            </a:pPr>
            <a:r>
              <a:rPr lang="en-US" sz="20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	 Adding (1) and (2) term by term, gives</a:t>
            </a:r>
          </a:p>
          <a:p>
            <a:pPr marL="0" indent="0">
              <a:buClr>
                <a:schemeClr val="accent1"/>
              </a:buClr>
              <a:buSzPct val="76000"/>
              <a:buNone/>
              <a:defRPr/>
            </a:pPr>
            <a:r>
              <a:rPr lang="en-US" sz="20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	 2S</a:t>
            </a:r>
            <a:r>
              <a:rPr lang="en-US" sz="2000" baseline="-250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n</a:t>
            </a:r>
            <a:r>
              <a:rPr lang="en-US" sz="20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	= (a + a</a:t>
            </a:r>
            <a:r>
              <a:rPr lang="en-US" sz="2000" baseline="-250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n</a:t>
            </a:r>
            <a:r>
              <a:rPr lang="en-US" sz="20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) + (a + a</a:t>
            </a:r>
            <a:r>
              <a:rPr lang="en-US" sz="2000" baseline="-250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n</a:t>
            </a:r>
            <a:r>
              <a:rPr lang="en-US" sz="20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) + (a + a</a:t>
            </a:r>
            <a:r>
              <a:rPr lang="en-US" sz="2000" baseline="-250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n</a:t>
            </a:r>
            <a:r>
              <a:rPr lang="en-US" sz="20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) + … + (a + a</a:t>
            </a:r>
            <a:r>
              <a:rPr lang="en-US" sz="2000" baseline="-250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n</a:t>
            </a:r>
            <a:r>
              <a:rPr lang="en-US" sz="20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)       		</a:t>
            </a:r>
            <a:r>
              <a:rPr lang="en-US" sz="2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(n terms)</a:t>
            </a:r>
            <a:endParaRPr lang="en-US" sz="20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buClr>
                <a:schemeClr val="accent1"/>
              </a:buClr>
              <a:buSzPct val="76000"/>
              <a:buNone/>
              <a:defRPr/>
            </a:pPr>
            <a:r>
              <a:rPr lang="en-US" sz="20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	2S</a:t>
            </a:r>
            <a:r>
              <a:rPr lang="en-US" sz="2000" baseline="-250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n</a:t>
            </a:r>
            <a:r>
              <a:rPr lang="en-US" sz="20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	= n(a + a</a:t>
            </a:r>
            <a:r>
              <a:rPr lang="en-US" sz="2000" baseline="-250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n</a:t>
            </a:r>
            <a:r>
              <a:rPr lang="en-US" sz="20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)</a:t>
            </a:r>
          </a:p>
          <a:p>
            <a:pPr marL="0" indent="0">
              <a:buClr>
                <a:schemeClr val="accent1"/>
              </a:buClr>
              <a:buSzPct val="76000"/>
              <a:buNone/>
              <a:defRPr/>
            </a:pPr>
            <a:r>
              <a:rPr lang="en-US" sz="20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	   S</a:t>
            </a:r>
            <a:r>
              <a:rPr lang="en-US" sz="2000" baseline="-250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n 	</a:t>
            </a:r>
            <a:r>
              <a:rPr lang="en-US" sz="20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= n(a + a</a:t>
            </a:r>
            <a:r>
              <a:rPr lang="en-US" sz="2000" baseline="-250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n</a:t>
            </a:r>
            <a:r>
              <a:rPr lang="en-US" sz="20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)/2</a:t>
            </a:r>
          </a:p>
          <a:p>
            <a:pPr marL="0" indent="0">
              <a:buClr>
                <a:schemeClr val="accent1"/>
              </a:buClr>
              <a:buSzPct val="76000"/>
              <a:buNone/>
              <a:defRPr/>
            </a:pPr>
            <a:r>
              <a:rPr lang="en-US" sz="20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	</a:t>
            </a:r>
            <a:r>
              <a:rPr lang="en-US" sz="2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	  		 </a:t>
            </a:r>
            <a:r>
              <a:rPr lang="en-US" sz="2000" b="1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S</a:t>
            </a:r>
            <a:r>
              <a:rPr lang="en-US" sz="2000" b="1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n</a:t>
            </a:r>
            <a:r>
              <a:rPr lang="en-US" sz="2000" b="1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= n(a + l)/2</a:t>
            </a:r>
            <a:r>
              <a:rPr lang="en-US" sz="20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…………………..(3)	 </a:t>
            </a:r>
            <a:r>
              <a:rPr lang="en-US" sz="2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(l=last term)</a:t>
            </a:r>
          </a:p>
          <a:p>
            <a:pPr marL="0" indent="0">
              <a:buClr>
                <a:schemeClr val="accent1"/>
              </a:buClr>
              <a:buSzPct val="76000"/>
              <a:buNone/>
              <a:defRPr/>
            </a:pPr>
            <a:r>
              <a:rPr lang="en-US" sz="20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If we write </a:t>
            </a:r>
            <a:r>
              <a:rPr lang="en-US" sz="2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a</a:t>
            </a:r>
            <a:r>
              <a:rPr lang="en-US" sz="2000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n</a:t>
            </a:r>
            <a:r>
              <a:rPr lang="en-US" sz="2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= a + (n - 1)d</a:t>
            </a:r>
            <a:endParaRPr lang="en-US" sz="20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buClr>
                <a:schemeClr val="accent1"/>
              </a:buClr>
              <a:buSzPct val="76000"/>
              <a:buNone/>
              <a:defRPr/>
            </a:pPr>
            <a:r>
              <a:rPr lang="en-US" sz="20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			   S</a:t>
            </a:r>
            <a:r>
              <a:rPr lang="en-US" sz="2000" baseline="-250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n</a:t>
            </a:r>
            <a:r>
              <a:rPr lang="en-US" sz="20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=  n/2 [a + a + (n - 1) d]	</a:t>
            </a:r>
          </a:p>
          <a:p>
            <a:pPr marL="0" indent="0">
              <a:buClr>
                <a:schemeClr val="accent1"/>
              </a:buClr>
              <a:buSzPct val="76000"/>
              <a:buNone/>
              <a:defRPr/>
            </a:pPr>
            <a:r>
              <a:rPr lang="en-US" sz="20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	 			  </a:t>
            </a:r>
            <a:r>
              <a:rPr lang="en-US" sz="2000" b="1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S</a:t>
            </a:r>
            <a:r>
              <a:rPr lang="en-US" sz="2000" b="1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n</a:t>
            </a:r>
            <a:r>
              <a:rPr lang="en-US" sz="2000" b="1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= n/2 [2 a + (n - 1) d]</a:t>
            </a:r>
            <a:r>
              <a:rPr lang="en-US" sz="20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……….(4)</a:t>
            </a:r>
            <a:endParaRPr lang="en-US" altLang="en-US" sz="2000" dirty="0">
              <a:latin typeface="Cambria" panose="02040503050406030204" pitchFamily="18" charset="0"/>
              <a:ea typeface="Cambria" panose="02040503050406030204" pitchFamily="18" charset="0"/>
              <a:cs typeface="Gill Sans" charset="0"/>
              <a:sym typeface="Gill Sans" charset="0"/>
            </a:endParaRPr>
          </a:p>
          <a:p>
            <a:pPr marL="0" indent="0"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endParaRPr lang="en-US" altLang="en-US" sz="2000" dirty="0">
              <a:latin typeface="Cambria" panose="02040503050406030204" pitchFamily="18" charset="0"/>
              <a:ea typeface="Cambria" panose="02040503050406030204" pitchFamily="18" charset="0"/>
              <a:cs typeface="Gill Sans" charset="0"/>
              <a:sym typeface="Gill Sans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3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3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3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000"/>
                                        <p:tgtEl>
                                          <p:spTgt spid="3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000"/>
                                        <p:tgtEl>
                                          <p:spTgt spid="3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000"/>
                                        <p:tgtEl>
                                          <p:spTgt spid="31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9">
            <a:extLst>
              <a:ext uri="{FF2B5EF4-FFF2-40B4-BE49-F238E27FC236}">
                <a16:creationId xmlns:a16="http://schemas.microsoft.com/office/drawing/2014/main" id="{EFEAE12F-A33B-40D5-84C3-CF245406FAF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085447" y="524435"/>
            <a:ext cx="9829800" cy="4762309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Clr>
                <a:schemeClr val="accent1"/>
              </a:buClr>
              <a:buSzPts val="1976"/>
              <a:buNone/>
              <a:defRPr/>
            </a:pP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Hence,</a:t>
            </a:r>
          </a:p>
          <a:p>
            <a:pPr marL="0" indent="0">
              <a:spcBef>
                <a:spcPts val="0"/>
              </a:spcBef>
              <a:buClr>
                <a:schemeClr val="accent1"/>
              </a:buClr>
              <a:buSzPts val="1976"/>
              <a:buNone/>
              <a:defRPr/>
            </a:pPr>
            <a:endParaRPr lang="en-US" sz="24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spcBef>
                <a:spcPts val="0"/>
              </a:spcBef>
              <a:buClr>
                <a:schemeClr val="accent1"/>
              </a:buClr>
              <a:buSzPts val="1976"/>
              <a:buNone/>
              <a:defRPr/>
            </a:pP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We have t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wo formulas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for finding a 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sum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.</a:t>
            </a:r>
            <a:endParaRPr sz="24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125476" indent="0">
              <a:buClr>
                <a:schemeClr val="accent1"/>
              </a:buClr>
              <a:buSzPts val="1976"/>
              <a:buNone/>
              <a:defRPr/>
            </a:pPr>
            <a:endParaRPr sz="24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	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		</a:t>
            </a:r>
            <a:r>
              <a:rPr lang="en-US" b="1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S</a:t>
            </a:r>
            <a:r>
              <a:rPr lang="en-US" b="1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n</a:t>
            </a:r>
            <a:r>
              <a:rPr lang="en-US" b="1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= n(a +</a:t>
            </a:r>
            <a:r>
              <a:rPr lang="en-US" b="1" i="1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I </a:t>
            </a:r>
            <a:r>
              <a:rPr lang="en-US" b="1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)/2 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		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…………..(1)</a:t>
            </a:r>
            <a:endParaRPr sz="24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endParaRPr sz="24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	We use it when we are given 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first term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</a:t>
            </a:r>
            <a:r>
              <a:rPr lang="en-US" sz="2400" i="1" dirty="0">
                <a:solidFill>
                  <a:srgbClr val="00B050"/>
                </a:solidFill>
                <a:ea typeface="Gill Sans"/>
                <a:cs typeface="Gill Sans"/>
                <a:sym typeface="Gill Sans"/>
              </a:rPr>
              <a:t>a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and the 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last term </a:t>
            </a:r>
            <a:r>
              <a:rPr lang="en-US" sz="2400" i="1" dirty="0">
                <a:solidFill>
                  <a:srgbClr val="00B050"/>
                </a:solidFill>
                <a:ea typeface="Gill Sans"/>
                <a:cs typeface="Gill Sans"/>
                <a:sym typeface="Gill Sans"/>
              </a:rPr>
              <a:t>l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.</a:t>
            </a:r>
            <a:endParaRPr sz="24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endParaRPr lang="en-US" sz="24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endParaRPr sz="24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			</a:t>
            </a:r>
            <a:r>
              <a:rPr lang="en-US" b="1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S</a:t>
            </a:r>
            <a:r>
              <a:rPr lang="en-US" b="1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n</a:t>
            </a:r>
            <a:r>
              <a:rPr lang="en-US" b="1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= n/2 [2a + (n - 1) d]     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...................(2)</a:t>
            </a:r>
            <a:endParaRPr sz="24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endParaRPr sz="24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	We will use it when 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first term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and 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common difference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is given.</a:t>
            </a:r>
            <a:endParaRPr sz="24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3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3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3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Google Shape;327;p30">
            <a:extLst>
              <a:ext uri="{FF2B5EF4-FFF2-40B4-BE49-F238E27FC236}">
                <a16:creationId xmlns:a16="http://schemas.microsoft.com/office/drawing/2014/main" id="{983B3833-364E-43BA-A913-49F8D0D1007E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673966" y="-40342"/>
            <a:ext cx="10515600" cy="858557"/>
          </a:xfrm>
        </p:spPr>
        <p:txBody>
          <a:bodyPr>
            <a:normAutofit/>
          </a:bodyPr>
          <a:lstStyle/>
          <a:p>
            <a:pPr algn="ctr" eaLnBrk="1" hangingPunct="1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ts val="3200"/>
              <a:buFont typeface="Bookman Old Style" panose="02050604050505020204" pitchFamily="18" charset="0"/>
              <a:buNone/>
            </a:pPr>
            <a:r>
              <a:rPr lang="en-US" altLang="en-US" sz="3600" b="1" u="sng" dirty="0">
                <a:solidFill>
                  <a:srgbClr val="0070C0"/>
                </a:solidFill>
                <a:cs typeface="Arial" panose="020B0604020202020204" pitchFamily="34" charset="0"/>
                <a:sym typeface="Bookman Old Style" panose="02050604050505020204" pitchFamily="18" charset="0"/>
              </a:rPr>
              <a:t>EXERCISE</a:t>
            </a:r>
            <a:endParaRPr lang="en-US" altLang="en-US" sz="3600" dirty="0">
              <a:solidFill>
                <a:srgbClr val="464653"/>
              </a:solidFill>
              <a:cs typeface="Arial" panose="020B0604020202020204" pitchFamily="34" charset="0"/>
              <a:sym typeface="Bookman Old Style" panose="02050604050505020204" pitchFamily="18" charset="0"/>
            </a:endParaRPr>
          </a:p>
        </p:txBody>
      </p:sp>
      <p:sp>
        <p:nvSpPr>
          <p:cNvPr id="328" name="Google Shape;328;p30">
            <a:extLst>
              <a:ext uri="{FF2B5EF4-FFF2-40B4-BE49-F238E27FC236}">
                <a16:creationId xmlns:a16="http://schemas.microsoft.com/office/drawing/2014/main" id="{C19B0E46-A7FD-4E8F-9A82-B550857D033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181100" y="818215"/>
            <a:ext cx="9829800" cy="495262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1976"/>
              <a:buNone/>
              <a:defRPr/>
            </a:pP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Find the 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sum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of 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first n natural numbers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.</a:t>
            </a:r>
            <a:endParaRPr sz="24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lnSpc>
                <a:spcPct val="100000"/>
              </a:lnSpc>
              <a:buClr>
                <a:schemeClr val="accent1"/>
              </a:buClr>
              <a:buSzPts val="1976"/>
              <a:buNone/>
              <a:defRPr/>
            </a:pPr>
            <a:r>
              <a:rPr lang="en-US" sz="2400" b="1" u="sng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SOLUTION</a:t>
            </a:r>
            <a:endParaRPr sz="24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lnSpc>
                <a:spcPct val="100000"/>
              </a:lnSpc>
              <a:buClr>
                <a:schemeClr val="accent1"/>
              </a:buClr>
              <a:buSzPts val="1976"/>
              <a:buNone/>
              <a:defRPr/>
            </a:pP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	Let 		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S</a:t>
            </a:r>
            <a:r>
              <a:rPr lang="en-US" sz="2400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n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= 1 + 2 + 3 + … + n</a:t>
            </a:r>
            <a:endParaRPr sz="24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lnSpc>
                <a:spcPct val="100000"/>
              </a:lnSpc>
              <a:buClr>
                <a:schemeClr val="accent1"/>
              </a:buClr>
              <a:buSzPts val="1976"/>
              <a:buNone/>
              <a:defRPr/>
            </a:pP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	Clearly the 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right-hand side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forms an 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arithmetic series 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with</a:t>
            </a:r>
            <a:endParaRPr sz="24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lnSpc>
                <a:spcPct val="100000"/>
              </a:lnSpc>
              <a:buClr>
                <a:schemeClr val="accent1"/>
              </a:buClr>
              <a:buSzPts val="1976"/>
              <a:buNone/>
              <a:defRPr/>
            </a:pP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			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a = 1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,   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d = 2 - 1 = 1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	  and	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n = n</a:t>
            </a:r>
            <a:endParaRPr sz="24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lnSpc>
                <a:spcPct val="100000"/>
              </a:lnSpc>
              <a:buClr>
                <a:schemeClr val="accent1"/>
              </a:buClr>
              <a:buSzPts val="1976"/>
              <a:buNone/>
              <a:defRPr/>
            </a:pPr>
            <a:endParaRPr sz="24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endParaRPr sz="24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</p:txBody>
      </p:sp>
      <p:graphicFrame>
        <p:nvGraphicFramePr>
          <p:cNvPr id="4" name="Google Shape;335;p31">
            <a:extLst>
              <a:ext uri="{FF2B5EF4-FFF2-40B4-BE49-F238E27FC236}">
                <a16:creationId xmlns:a16="http://schemas.microsoft.com/office/drawing/2014/main" id="{2755CDA5-8727-4835-B4D7-BDC85392ED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575113"/>
              </p:ext>
            </p:extLst>
          </p:nvPr>
        </p:nvGraphicFramePr>
        <p:xfrm>
          <a:off x="3148993" y="3429000"/>
          <a:ext cx="4872038" cy="3200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83" r:id="rId4" imgW="0" imgH="0" progId="">
                  <p:embed/>
                </p:oleObj>
              </mc:Choice>
              <mc:Fallback>
                <p:oleObj r:id="rId4" imgW="0" imgH="0" progId="">
                  <p:embed/>
                  <p:pic>
                    <p:nvPicPr>
                      <p:cNvPr id="77828" name="Google Shape;335;p31">
                        <a:extLst>
                          <a:ext uri="{FF2B5EF4-FFF2-40B4-BE49-F238E27FC236}">
                            <a16:creationId xmlns:a16="http://schemas.microsoft.com/office/drawing/2014/main" id="{72536251-07D2-4D03-BF33-F0B17A00EB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8993" y="3429000"/>
                        <a:ext cx="4872038" cy="32003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Google Shape;340;p32">
            <a:extLst>
              <a:ext uri="{FF2B5EF4-FFF2-40B4-BE49-F238E27FC236}">
                <a16:creationId xmlns:a16="http://schemas.microsoft.com/office/drawing/2014/main" id="{3257D8A7-3748-4419-84DE-97BCFD5CF258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538600" y="0"/>
            <a:ext cx="10515600" cy="722037"/>
          </a:xfrm>
        </p:spPr>
        <p:txBody>
          <a:bodyPr/>
          <a:lstStyle/>
          <a:p>
            <a:pPr algn="ctr" eaLnBrk="1" hangingPunct="1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ts val="3200"/>
              <a:buFont typeface="Bookman Old Style" panose="02050604050505020204" pitchFamily="18" charset="0"/>
              <a:buNone/>
            </a:pPr>
            <a:r>
              <a:rPr lang="en-US" altLang="en-US" sz="3200" b="1" u="sng" dirty="0">
                <a:solidFill>
                  <a:srgbClr val="0070C0"/>
                </a:solidFill>
                <a:latin typeface="Bookman Old Style" panose="02050604050505020204" pitchFamily="18" charset="0"/>
                <a:cs typeface="Arial" panose="020B0604020202020204" pitchFamily="34" charset="0"/>
                <a:sym typeface="Bookman Old Style" panose="02050604050505020204" pitchFamily="18" charset="0"/>
              </a:rPr>
              <a:t>EXERCISE</a:t>
            </a:r>
          </a:p>
        </p:txBody>
      </p:sp>
      <p:sp>
        <p:nvSpPr>
          <p:cNvPr id="341" name="Google Shape;341;p32">
            <a:extLst>
              <a:ext uri="{FF2B5EF4-FFF2-40B4-BE49-F238E27FC236}">
                <a16:creationId xmlns:a16="http://schemas.microsoft.com/office/drawing/2014/main" id="{6CCE309A-7120-4E89-87F2-699F0CC046E5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>
          <a:xfrm>
            <a:off x="538600" y="537883"/>
            <a:ext cx="11308259" cy="6221884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r>
              <a:rPr lang="en-US" altLang="en-US" sz="2400" dirty="0">
                <a:cs typeface="Gill Sans" charset="0"/>
                <a:sym typeface="Gill Sans" charset="0"/>
              </a:rPr>
              <a:t>	Find the 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sum</a:t>
            </a:r>
            <a:r>
              <a:rPr lang="en-US" altLang="en-US" sz="2400" dirty="0">
                <a:cs typeface="Gill Sans" charset="0"/>
                <a:sym typeface="Gill Sans" charset="0"/>
              </a:rPr>
              <a:t> of all two digit 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positive integers</a:t>
            </a:r>
            <a:r>
              <a:rPr lang="en-US" altLang="en-US" sz="2400" dirty="0">
                <a:cs typeface="Gill Sans" charset="0"/>
                <a:sym typeface="Gill Sans" charset="0"/>
              </a:rPr>
              <a:t> which are 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neither divisible</a:t>
            </a:r>
            <a:r>
              <a:rPr lang="en-US" altLang="en-US" sz="2400" dirty="0">
                <a:cs typeface="Gill Sans" charset="0"/>
                <a:sym typeface="Gill Sans" charset="0"/>
              </a:rPr>
              <a:t> by 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5 nor</a:t>
            </a:r>
            <a:r>
              <a:rPr lang="en-US" altLang="en-US" sz="2400" dirty="0">
                <a:cs typeface="Gill Sans" charset="0"/>
                <a:sym typeface="Gill Sans" charset="0"/>
              </a:rPr>
              <a:t> by 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2</a:t>
            </a:r>
            <a:r>
              <a:rPr lang="en-US" altLang="en-US" sz="2400" dirty="0">
                <a:cs typeface="Gill Sans" charset="0"/>
                <a:sym typeface="Gill Sans" charset="0"/>
              </a:rPr>
              <a:t>.</a:t>
            </a:r>
          </a:p>
          <a:p>
            <a:pPr marL="0" indent="0">
              <a:lnSpc>
                <a:spcPct val="150000"/>
              </a:lnSpc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r>
              <a:rPr lang="en-US" altLang="en-US" sz="2400" b="1" u="sng" dirty="0">
                <a:solidFill>
                  <a:srgbClr val="C00000"/>
                </a:solidFill>
                <a:cs typeface="Gill Sans" charset="0"/>
                <a:sym typeface="Gill Sans" charset="0"/>
              </a:rPr>
              <a:t>SOLUTION</a:t>
            </a:r>
          </a:p>
          <a:p>
            <a:pPr marL="0" indent="0">
              <a:lnSpc>
                <a:spcPct val="150000"/>
              </a:lnSpc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r>
              <a:rPr lang="en-US" sz="2400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</a:rPr>
              <a:t>	S</a:t>
            </a:r>
            <a:r>
              <a:rPr lang="en-US" sz="2400" baseline="-25000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</a:rPr>
              <a:t>n</a:t>
            </a:r>
            <a:r>
              <a:rPr lang="en-US" sz="2400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</a:rPr>
              <a:t> =(11 + 13 + 15 + …. +99)–</a:t>
            </a:r>
            <a:r>
              <a:rPr lang="en-US" sz="2400" dirty="0">
                <a:solidFill>
                  <a:srgbClr val="006C31"/>
                </a:solidFill>
                <a:latin typeface="Cambria Math" pitchFamily="18" charset="0"/>
                <a:ea typeface="Cambria Math" pitchFamily="18" charset="0"/>
              </a:rPr>
              <a:t>(15 + 25 + 35 +…..+ 95) 		</a:t>
            </a:r>
            <a:r>
              <a:rPr lang="en-US" altLang="en-US" sz="2400" dirty="0">
                <a:cs typeface="Gill Sans" charset="0"/>
                <a:sym typeface="Gill Sans" charset="0"/>
              </a:rPr>
              <a:t>which is not an 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arithmetic series</a:t>
            </a:r>
            <a:r>
              <a:rPr lang="en-US" altLang="en-US" sz="2400" dirty="0">
                <a:cs typeface="Gill Sans" charset="0"/>
                <a:sym typeface="Gill Sans" charset="0"/>
              </a:rPr>
              <a:t>.</a:t>
            </a:r>
          </a:p>
          <a:p>
            <a:pPr marL="0" indent="0">
              <a:lnSpc>
                <a:spcPct val="150000"/>
              </a:lnSpc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r>
              <a:rPr lang="en-US" altLang="en-US" sz="2400" dirty="0">
                <a:cs typeface="Gill Sans" charset="0"/>
                <a:sym typeface="Gill Sans" charset="0"/>
              </a:rPr>
              <a:t>However, </a:t>
            </a:r>
          </a:p>
          <a:p>
            <a:pPr marL="0" indent="0">
              <a:lnSpc>
                <a:spcPct val="150000"/>
              </a:lnSpc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r>
              <a:rPr lang="en-US" altLang="en-US" sz="2400" dirty="0">
                <a:cs typeface="Gill Sans" charset="0"/>
                <a:sym typeface="Gill Sans" charset="0"/>
              </a:rPr>
              <a:t>	11 + 21 + 31 + ……… + 91 is an 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arithmetic series</a:t>
            </a:r>
            <a:r>
              <a:rPr lang="en-US" altLang="en-US" sz="2400" dirty="0">
                <a:cs typeface="Gill Sans" charset="0"/>
                <a:sym typeface="Gill Sans" charset="0"/>
              </a:rPr>
              <a:t>.		with 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a = 11</a:t>
            </a:r>
            <a:r>
              <a:rPr lang="en-US" altLang="en-US" sz="2400" dirty="0">
                <a:cs typeface="Gill Sans" charset="0"/>
                <a:sym typeface="Gill Sans" charset="0"/>
              </a:rPr>
              <a:t>, 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d = 10</a:t>
            </a:r>
            <a:endParaRPr lang="en-US" altLang="en-US" sz="2400" dirty="0">
              <a:cs typeface="Gill Sans" charset="0"/>
              <a:sym typeface="Gill Sans" charset="0"/>
            </a:endParaRPr>
          </a:p>
          <a:p>
            <a:pPr marL="0" indent="0">
              <a:lnSpc>
                <a:spcPct val="150000"/>
              </a:lnSpc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r>
              <a:rPr lang="en-US" altLang="en-US" sz="2400" dirty="0">
                <a:cs typeface="Gill Sans" charset="0"/>
                <a:sym typeface="Gill Sans" charset="0"/>
              </a:rPr>
              <a:t>	13 + 23 + 33 + ……… + 93 is an 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arithmetic series</a:t>
            </a:r>
            <a:r>
              <a:rPr lang="en-US" altLang="en-US" sz="2400" dirty="0">
                <a:cs typeface="Gill Sans" charset="0"/>
                <a:sym typeface="Gill Sans" charset="0"/>
              </a:rPr>
              <a:t>.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		</a:t>
            </a:r>
            <a:r>
              <a:rPr lang="en-US" altLang="en-US" sz="2400" dirty="0">
                <a:cs typeface="Gill Sans" charset="0"/>
                <a:sym typeface="Gill Sans" charset="0"/>
              </a:rPr>
              <a:t>with 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a = 13</a:t>
            </a:r>
            <a:r>
              <a:rPr lang="en-US" altLang="en-US" sz="2400" dirty="0">
                <a:cs typeface="Gill Sans" charset="0"/>
                <a:sym typeface="Gill Sans" charset="0"/>
              </a:rPr>
              <a:t>, 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d = 10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SzPts val="1976"/>
              <a:buNone/>
              <a:defRPr/>
            </a:pP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	17 + 27 + 37 + ……… + 97 is an 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arithmetic series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		with 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a = 17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, 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d = 10</a:t>
            </a:r>
            <a:endParaRPr lang="en-US" sz="24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lnSpc>
                <a:spcPct val="150000"/>
              </a:lnSpc>
              <a:buClr>
                <a:schemeClr val="accent1"/>
              </a:buClr>
              <a:buSzPts val="1976"/>
              <a:buNone/>
              <a:defRPr/>
            </a:pP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	19 + 29 + 39 + ……… + 99 is an 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arithmetic series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.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		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with 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a = 19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, 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d = 10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SzPts val="1976"/>
              <a:buNone/>
              <a:defRPr/>
            </a:pP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If we make 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group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of 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four terms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we get</a:t>
            </a:r>
          </a:p>
          <a:p>
            <a:pPr marL="0" indent="0">
              <a:lnSpc>
                <a:spcPct val="150000"/>
              </a:lnSpc>
              <a:buClr>
                <a:schemeClr val="accent1"/>
              </a:buClr>
              <a:buSzPts val="1976"/>
              <a:buNone/>
              <a:defRPr/>
            </a:pP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	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(11 + 13 + 17 + 19) + (21 + 23 + 27 + 29) + (31 + 33 + 37 + 39) + … + (91 + 93 + 97 + 99) </a:t>
            </a:r>
          </a:p>
          <a:p>
            <a:pPr marL="0" indent="0">
              <a:lnSpc>
                <a:spcPct val="150000"/>
              </a:lnSpc>
              <a:buClr>
                <a:schemeClr val="accent1"/>
              </a:buClr>
              <a:buSzPts val="1976"/>
              <a:buNone/>
              <a:defRPr/>
            </a:pP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		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= 60 + 100 + 140 + … + 380 	which now forms an 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arithmetic series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in which</a:t>
            </a:r>
          </a:p>
          <a:p>
            <a:pPr marL="0" indent="0">
              <a:lnSpc>
                <a:spcPct val="150000"/>
              </a:lnSpc>
              <a:buClr>
                <a:schemeClr val="accent1"/>
              </a:buClr>
              <a:buSzPts val="1976"/>
              <a:buNone/>
              <a:defRPr/>
            </a:pP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	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		a = 60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;		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d = 100 - 60 = 40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	and 	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l = a</a:t>
            </a:r>
            <a:r>
              <a:rPr lang="en-US" sz="2400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n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= 380</a:t>
            </a:r>
            <a:endParaRPr lang="en-US" sz="24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lnSpc>
                <a:spcPct val="150000"/>
              </a:lnSpc>
              <a:buClr>
                <a:schemeClr val="accent1"/>
              </a:buClr>
              <a:buSzPts val="1976"/>
              <a:buNone/>
              <a:defRPr/>
            </a:pPr>
            <a:endParaRPr lang="en-US" sz="2400" dirty="0">
              <a:solidFill>
                <a:srgbClr val="C00000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lnSpc>
                <a:spcPct val="150000"/>
              </a:lnSpc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endParaRPr lang="en-US" altLang="en-US" sz="2400" dirty="0">
              <a:cs typeface="Gill Sans" charset="0"/>
              <a:sym typeface="Gill Sans" charset="0"/>
            </a:endParaRPr>
          </a:p>
          <a:p>
            <a:pPr marL="0" indent="0">
              <a:lnSpc>
                <a:spcPct val="150000"/>
              </a:lnSpc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endParaRPr lang="en-US" altLang="en-US" sz="2400" dirty="0">
              <a:solidFill>
                <a:srgbClr val="C00000"/>
              </a:solidFill>
              <a:cs typeface="Gill Sans" charset="0"/>
              <a:sym typeface="Gill Sans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3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3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3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3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34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34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4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4">
            <a:extLst>
              <a:ext uri="{FF2B5EF4-FFF2-40B4-BE49-F238E27FC236}">
                <a16:creationId xmlns:a16="http://schemas.microsoft.com/office/drawing/2014/main" id="{F8F8DA05-2C0F-4F4C-B57E-B2E910F412F6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>
          <a:xfrm>
            <a:off x="1069041" y="134471"/>
            <a:ext cx="9829800" cy="4881282"/>
          </a:xfrm>
        </p:spPr>
        <p:txBody>
          <a:bodyPr>
            <a:normAutofit/>
          </a:bodyPr>
          <a:lstStyle/>
          <a:p>
            <a:pPr marL="0" inden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To find n, we use the formula</a:t>
            </a:r>
          </a:p>
          <a:p>
            <a:pPr marL="0" indent="0"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				</a:t>
            </a:r>
            <a:r>
              <a:rPr lang="en-US" altLang="en-US" sz="24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a</a:t>
            </a:r>
            <a:r>
              <a:rPr lang="en-US" altLang="en-US" sz="2400" baseline="-250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n</a:t>
            </a:r>
            <a:r>
              <a:rPr lang="en-US" altLang="en-US" sz="24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 = a + (n - 1) d</a:t>
            </a: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Gill Sans" charset="0"/>
              <a:sym typeface="Gill Sans" charset="0"/>
            </a:endParaRPr>
          </a:p>
          <a:p>
            <a:pPr marL="0" indent="0"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			⇒	380 =	60 + (n - 1) (40)</a:t>
            </a:r>
          </a:p>
          <a:p>
            <a:pPr marL="0" indent="0"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			⇒ 	380 - 60 = (n - 1) (40)</a:t>
            </a:r>
          </a:p>
          <a:p>
            <a:pPr marL="0" indent="0"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			⇒ 	320 = (n - 1) (40) </a:t>
            </a:r>
          </a:p>
          <a:p>
            <a:pPr marL="0" indent="0"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Gill Sans" charset="0"/>
              <a:sym typeface="Gill Sans" charset="0"/>
            </a:endParaRPr>
          </a:p>
          <a:p>
            <a:pPr marL="0" indent="0"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			</a:t>
            </a:r>
          </a:p>
          <a:p>
            <a:pPr marL="0" indent="0"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				     8 = n - 1</a:t>
            </a:r>
          </a:p>
          <a:p>
            <a:pPr marL="0" indent="0"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			 ⇒	     </a:t>
            </a:r>
            <a:r>
              <a:rPr lang="en-US" altLang="en-US" sz="24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Gill Sans" charset="0"/>
                <a:sym typeface="Gill Sans" charset="0"/>
              </a:rPr>
              <a:t>n = 9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r>
              <a:rPr lang="en-US" altLang="en-US" sz="2400" dirty="0">
                <a:cs typeface="Gill Sans" charset="0"/>
                <a:sym typeface="Gill Sans" charset="0"/>
              </a:rPr>
              <a:t>Now</a:t>
            </a:r>
          </a:p>
          <a:p>
            <a:pPr marL="0" indent="0"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r>
              <a:rPr lang="en-US" altLang="en-US" sz="2400" dirty="0">
                <a:cs typeface="Gill Sans" charset="0"/>
                <a:sym typeface="Gill Sans" charset="0"/>
              </a:rPr>
              <a:t>		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a = 60		1 = a</a:t>
            </a:r>
            <a:r>
              <a:rPr lang="en-US" altLang="en-US" sz="2400" baseline="-25000" dirty="0">
                <a:solidFill>
                  <a:srgbClr val="C00000"/>
                </a:solidFill>
                <a:cs typeface="Gill Sans" charset="0"/>
                <a:sym typeface="Gill Sans" charset="0"/>
              </a:rPr>
              <a:t>n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 = 380		n = 9</a:t>
            </a: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Gill Sans" charset="0"/>
              <a:sym typeface="Gill Sans" charset="0"/>
            </a:endParaRPr>
          </a:p>
        </p:txBody>
      </p:sp>
      <p:graphicFrame>
        <p:nvGraphicFramePr>
          <p:cNvPr id="81924" name="Google Shape;354;p34">
            <a:extLst>
              <a:ext uri="{FF2B5EF4-FFF2-40B4-BE49-F238E27FC236}">
                <a16:creationId xmlns:a16="http://schemas.microsoft.com/office/drawing/2014/main" id="{020B65F9-4CB6-4D76-A1F8-CCEBC2B048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435585"/>
              </p:ext>
            </p:extLst>
          </p:nvPr>
        </p:nvGraphicFramePr>
        <p:xfrm>
          <a:off x="4754376" y="2434384"/>
          <a:ext cx="2012950" cy="77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84" r:id="rId4" imgW="0" imgH="0" progId="">
                  <p:embed/>
                </p:oleObj>
              </mc:Choice>
              <mc:Fallback>
                <p:oleObj r:id="rId4" imgW="0" imgH="0" progId="">
                  <p:embed/>
                  <p:pic>
                    <p:nvPicPr>
                      <p:cNvPr id="81924" name="Google Shape;354;p34">
                        <a:extLst>
                          <a:ext uri="{FF2B5EF4-FFF2-40B4-BE49-F238E27FC236}">
                            <a16:creationId xmlns:a16="http://schemas.microsoft.com/office/drawing/2014/main" id="{020B65F9-4CB6-4D76-A1F8-CCEBC2B048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4376" y="2434384"/>
                        <a:ext cx="2012950" cy="779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Google Shape;361;p35">
            <a:extLst>
              <a:ext uri="{FF2B5EF4-FFF2-40B4-BE49-F238E27FC236}">
                <a16:creationId xmlns:a16="http://schemas.microsoft.com/office/drawing/2014/main" id="{11A86C41-862C-4A8F-8DA0-BC83B9B587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5854556"/>
              </p:ext>
            </p:extLst>
          </p:nvPr>
        </p:nvGraphicFramePr>
        <p:xfrm>
          <a:off x="2514600" y="5045758"/>
          <a:ext cx="6938682" cy="1677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85" r:id="rId6" imgW="0" imgH="0" progId="">
                  <p:embed/>
                </p:oleObj>
              </mc:Choice>
              <mc:Fallback>
                <p:oleObj r:id="rId6" imgW="0" imgH="0" progId="">
                  <p:embed/>
                  <p:pic>
                    <p:nvPicPr>
                      <p:cNvPr id="83972" name="Google Shape;361;p35">
                        <a:extLst>
                          <a:ext uri="{FF2B5EF4-FFF2-40B4-BE49-F238E27FC236}">
                            <a16:creationId xmlns:a16="http://schemas.microsoft.com/office/drawing/2014/main" id="{21C7CC42-2292-4724-9865-2280E0DC63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5045758"/>
                        <a:ext cx="6938682" cy="16777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Google Shape;366;p36">
            <a:extLst>
              <a:ext uri="{FF2B5EF4-FFF2-40B4-BE49-F238E27FC236}">
                <a16:creationId xmlns:a16="http://schemas.microsoft.com/office/drawing/2014/main" id="{B4426EF0-AAD4-4A82-95CF-2BA53A4E1781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496825" y="5696"/>
            <a:ext cx="10515600" cy="1177645"/>
          </a:xfrm>
        </p:spPr>
        <p:txBody>
          <a:bodyPr/>
          <a:lstStyle/>
          <a:p>
            <a:pPr algn="ctr" eaLnBrk="1" hangingPunct="1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ts val="3200"/>
              <a:buFont typeface="Bookman Old Style" panose="02050604050505020204" pitchFamily="18" charset="0"/>
              <a:buNone/>
            </a:pPr>
            <a:r>
              <a:rPr lang="en-US" altLang="en-US" sz="3200" b="1" u="sng" dirty="0">
                <a:solidFill>
                  <a:srgbClr val="0070C0"/>
                </a:solidFill>
                <a:cs typeface="Arial" panose="020B0604020202020204" pitchFamily="34" charset="0"/>
                <a:sym typeface="Bookman Old Style" panose="02050604050505020204" pitchFamily="18" charset="0"/>
              </a:rPr>
              <a:t>GEOMETRIC SERIES</a:t>
            </a:r>
            <a:endParaRPr lang="en-US" altLang="en-US" sz="3200" dirty="0">
              <a:solidFill>
                <a:srgbClr val="464653"/>
              </a:solidFill>
              <a:cs typeface="Arial" panose="020B0604020202020204" pitchFamily="34" charset="0"/>
              <a:sym typeface="Bookman Old Style" panose="02050604050505020204" pitchFamily="18" charset="0"/>
            </a:endParaRPr>
          </a:p>
        </p:txBody>
      </p:sp>
      <p:sp>
        <p:nvSpPr>
          <p:cNvPr id="367" name="Google Shape;367;p36">
            <a:extLst>
              <a:ext uri="{FF2B5EF4-FFF2-40B4-BE49-F238E27FC236}">
                <a16:creationId xmlns:a16="http://schemas.microsoft.com/office/drawing/2014/main" id="{A73EA296-3742-4CC1-8421-DC40DC0FC8EC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12024" y="1048870"/>
            <a:ext cx="10515600" cy="5486401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Clr>
                <a:schemeClr val="accent1"/>
              </a:buClr>
              <a:buSzPts val="1976"/>
              <a:buNone/>
              <a:defRPr/>
            </a:pP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The 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sum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of the terms of a 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geometric sequence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forms a 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geometric series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(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G.S.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). </a:t>
            </a:r>
            <a:endParaRPr sz="24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125476" indent="0">
              <a:buClr>
                <a:schemeClr val="accent1"/>
              </a:buClr>
              <a:buSzPts val="1976"/>
              <a:buNone/>
              <a:defRPr/>
            </a:pPr>
            <a:endParaRPr sz="24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For example</a:t>
            </a:r>
            <a:endParaRPr sz="24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			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Geometric Sequence</a:t>
            </a:r>
            <a:endParaRPr sz="24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				1, 2, 4, 8, 16, …</a:t>
            </a:r>
            <a:endParaRPr sz="24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			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Geometric Series</a:t>
            </a:r>
            <a:endParaRPr lang="en-US" sz="24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				1 + 2 + 4 + 8 + 16 + …</a:t>
            </a: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endParaRPr lang="en-US" sz="24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spcBef>
                <a:spcPts val="0"/>
              </a:spcBef>
              <a:buClr>
                <a:schemeClr val="accent1"/>
              </a:buClr>
              <a:buSzPts val="1976"/>
              <a:buNone/>
              <a:defRPr/>
            </a:pP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In general, if </a:t>
            </a:r>
            <a:r>
              <a:rPr lang="en-US" sz="2400" b="1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a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is the 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first term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and </a:t>
            </a:r>
            <a:r>
              <a:rPr lang="en-US" sz="2400" b="1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r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the 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common ratio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of a 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geometric series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, then the 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series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is given as:</a:t>
            </a: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				 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a + </a:t>
            </a:r>
            <a:r>
              <a:rPr lang="en-US" sz="2400" dirty="0" err="1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ar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+ ar</a:t>
            </a:r>
            <a:r>
              <a:rPr lang="en-US" sz="2400" baseline="30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2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+ ar</a:t>
            </a:r>
            <a:r>
              <a:rPr lang="en-US" sz="2400" baseline="30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3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+ …</a:t>
            </a:r>
            <a:endParaRPr sz="24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3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Google Shape;378;p38">
            <a:extLst>
              <a:ext uri="{FF2B5EF4-FFF2-40B4-BE49-F238E27FC236}">
                <a16:creationId xmlns:a16="http://schemas.microsoft.com/office/drawing/2014/main" id="{9D3688DA-F827-414D-B689-9E6B71CB97AD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837304" y="0"/>
            <a:ext cx="10515600" cy="1045229"/>
          </a:xfrm>
        </p:spPr>
        <p:txBody>
          <a:bodyPr>
            <a:normAutofit/>
          </a:bodyPr>
          <a:lstStyle/>
          <a:p>
            <a:pPr algn="ctr" eaLnBrk="1" hangingPunct="1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ts val="3200"/>
              <a:buFont typeface="Bookman Old Style" panose="02050604050505020204" pitchFamily="18" charset="0"/>
              <a:buNone/>
              <a:defRPr/>
            </a:pPr>
            <a:r>
              <a:rPr lang="en-US" altLang="en-PK" sz="3200" b="1" u="sng" dirty="0">
                <a:solidFill>
                  <a:srgbClr val="0070C0"/>
                </a:solidFill>
                <a:cs typeface="Arial" panose="020B0604020202020204" pitchFamily="34" charset="0"/>
                <a:sym typeface="Bookman Old Style" panose="02050604050505020204" pitchFamily="18" charset="0"/>
              </a:rPr>
              <a:t>SUM OF </a:t>
            </a:r>
            <a:r>
              <a:rPr lang="en-US" altLang="en-PK" sz="3200" b="1" u="sng" dirty="0">
                <a:solidFill>
                  <a:srgbClr val="FF0000"/>
                </a:solidFill>
                <a:cs typeface="Arial" panose="020B0604020202020204" pitchFamily="34" charset="0"/>
                <a:sym typeface="Bookman Old Style" panose="02050604050505020204" pitchFamily="18" charset="0"/>
              </a:rPr>
              <a:t>n</a:t>
            </a:r>
            <a:r>
              <a:rPr lang="en-US" altLang="en-PK" sz="3200" b="1" u="sng" dirty="0">
                <a:solidFill>
                  <a:srgbClr val="0070C0"/>
                </a:solidFill>
                <a:cs typeface="Arial" panose="020B0604020202020204" pitchFamily="34" charset="0"/>
                <a:sym typeface="Bookman Old Style" panose="02050604050505020204" pitchFamily="18" charset="0"/>
              </a:rPr>
              <a:t> TERMS OF A GEOMETRIC SERIES</a:t>
            </a:r>
            <a:endParaRPr lang="en-PK" altLang="en-PK" sz="3200" dirty="0">
              <a:solidFill>
                <a:srgbClr val="464653"/>
              </a:solidFill>
              <a:cs typeface="Arial" panose="020B0604020202020204" pitchFamily="34" charset="0"/>
              <a:sym typeface="Bookman Old Style" panose="02050604050505020204" pitchFamily="18" charset="0"/>
            </a:endParaRPr>
          </a:p>
        </p:txBody>
      </p:sp>
      <p:sp>
        <p:nvSpPr>
          <p:cNvPr id="379" name="Google Shape;379;p38">
            <a:extLst>
              <a:ext uri="{FF2B5EF4-FFF2-40B4-BE49-F238E27FC236}">
                <a16:creationId xmlns:a16="http://schemas.microsoft.com/office/drawing/2014/main" id="{D8ACF9E3-8D15-4491-A2C8-3B8D0DAE69A9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>
          <a:xfrm>
            <a:off x="837304" y="847164"/>
            <a:ext cx="10815200" cy="461153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r>
              <a:rPr lang="en-US" altLang="en-US" sz="2400" dirty="0">
                <a:cs typeface="Gill Sans" charset="0"/>
                <a:sym typeface="Gill Sans" charset="0"/>
              </a:rPr>
              <a:t>Let </a:t>
            </a:r>
            <a:r>
              <a:rPr lang="en-US" altLang="en-US" sz="2400" b="1" dirty="0">
                <a:solidFill>
                  <a:srgbClr val="C00000"/>
                </a:solidFill>
                <a:cs typeface="Gill Sans" charset="0"/>
                <a:sym typeface="Gill Sans" charset="0"/>
              </a:rPr>
              <a:t>a</a:t>
            </a:r>
            <a:r>
              <a:rPr lang="en-US" altLang="en-US" sz="2400" dirty="0">
                <a:cs typeface="Gill Sans" charset="0"/>
                <a:sym typeface="Gill Sans" charset="0"/>
              </a:rPr>
              <a:t> be the 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first term</a:t>
            </a:r>
            <a:r>
              <a:rPr lang="en-US" altLang="en-US" sz="2400" dirty="0">
                <a:cs typeface="Gill Sans" charset="0"/>
                <a:sym typeface="Gill Sans" charset="0"/>
              </a:rPr>
              <a:t> and </a:t>
            </a:r>
            <a:r>
              <a:rPr lang="en-US" altLang="en-US" sz="2400" b="1" dirty="0">
                <a:solidFill>
                  <a:srgbClr val="C00000"/>
                </a:solidFill>
                <a:cs typeface="Gill Sans" charset="0"/>
                <a:sym typeface="Gill Sans" charset="0"/>
              </a:rPr>
              <a:t>r</a:t>
            </a:r>
            <a:r>
              <a:rPr lang="en-US" altLang="en-US" sz="2400" dirty="0">
                <a:cs typeface="Gill Sans" charset="0"/>
                <a:sym typeface="Gill Sans" charset="0"/>
              </a:rPr>
              <a:t> be the 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common ratio</a:t>
            </a:r>
            <a:r>
              <a:rPr lang="en-US" altLang="en-US" sz="2400" dirty="0">
                <a:cs typeface="Gill Sans" charset="0"/>
                <a:sym typeface="Gill Sans" charset="0"/>
              </a:rPr>
              <a:t> of a 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geometric series</a:t>
            </a:r>
            <a:r>
              <a:rPr lang="en-US" altLang="en-US" sz="2400" dirty="0">
                <a:cs typeface="Gill Sans" charset="0"/>
                <a:sym typeface="Gill Sans" charset="0"/>
              </a:rPr>
              <a:t>. Then its 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nth</a:t>
            </a:r>
            <a:r>
              <a:rPr lang="en-US" altLang="en-US" sz="2400" dirty="0">
                <a:cs typeface="Gill Sans" charset="0"/>
                <a:sym typeface="Gill Sans" charset="0"/>
              </a:rPr>
              <a:t> term is:</a:t>
            </a:r>
          </a:p>
          <a:p>
            <a:pPr marL="0" indent="0">
              <a:lnSpc>
                <a:spcPct val="100000"/>
              </a:lnSpc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r>
              <a:rPr lang="en-US" altLang="en-US" sz="2400" dirty="0">
                <a:cs typeface="Gill Sans" charset="0"/>
                <a:sym typeface="Gill Sans" charset="0"/>
              </a:rPr>
              <a:t>			 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a</a:t>
            </a:r>
            <a:r>
              <a:rPr lang="en-US" altLang="en-US" sz="2400" baseline="-25000" dirty="0">
                <a:solidFill>
                  <a:srgbClr val="C00000"/>
                </a:solidFill>
                <a:cs typeface="Gill Sans" charset="0"/>
                <a:sym typeface="Gill Sans" charset="0"/>
              </a:rPr>
              <a:t>n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 = ar</a:t>
            </a:r>
            <a:r>
              <a:rPr lang="en-US" altLang="en-US" sz="2400" baseline="30000" dirty="0">
                <a:solidFill>
                  <a:srgbClr val="C00000"/>
                </a:solidFill>
                <a:cs typeface="Gill Sans" charset="0"/>
                <a:sym typeface="Gill Sans" charset="0"/>
              </a:rPr>
              <a:t>n-1</a:t>
            </a:r>
            <a:r>
              <a:rPr lang="en-US" altLang="en-US" sz="2400" dirty="0">
                <a:cs typeface="Gill Sans" charset="0"/>
                <a:sym typeface="Gill Sans" charset="0"/>
              </a:rPr>
              <a:t>;	n ≥ 1</a:t>
            </a:r>
          </a:p>
          <a:p>
            <a:pPr marL="0" indent="0">
              <a:lnSpc>
                <a:spcPct val="100000"/>
              </a:lnSpc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r>
              <a:rPr lang="en-US" altLang="en-US" sz="2400" dirty="0">
                <a:cs typeface="Gill Sans" charset="0"/>
                <a:sym typeface="Gill Sans" charset="0"/>
              </a:rPr>
              <a:t> If S</a:t>
            </a:r>
            <a:r>
              <a:rPr lang="en-US" altLang="en-US" sz="2400" baseline="-25000" dirty="0">
                <a:cs typeface="Gill Sans" charset="0"/>
                <a:sym typeface="Gill Sans" charset="0"/>
              </a:rPr>
              <a:t>n</a:t>
            </a:r>
            <a:r>
              <a:rPr lang="en-US" altLang="en-US" sz="2400" dirty="0">
                <a:cs typeface="Gill Sans" charset="0"/>
                <a:sym typeface="Gill Sans" charset="0"/>
              </a:rPr>
              <a:t> denotes the sum of first n terms of the G.S. then</a:t>
            </a:r>
          </a:p>
          <a:p>
            <a:pPr marL="0" indent="0">
              <a:lnSpc>
                <a:spcPct val="100000"/>
              </a:lnSpc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r>
              <a:rPr lang="en-US" altLang="en-US" sz="2400" dirty="0">
                <a:cs typeface="Gill Sans" charset="0"/>
                <a:sym typeface="Gill Sans" charset="0"/>
              </a:rPr>
              <a:t>		 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S</a:t>
            </a:r>
            <a:r>
              <a:rPr lang="en-US" altLang="en-US" sz="2400" baseline="-25000" dirty="0">
                <a:solidFill>
                  <a:srgbClr val="C00000"/>
                </a:solidFill>
                <a:cs typeface="Gill Sans" charset="0"/>
                <a:sym typeface="Gill Sans" charset="0"/>
              </a:rPr>
              <a:t>n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 = a + </a:t>
            </a:r>
            <a:r>
              <a:rPr lang="en-US" altLang="en-US" sz="2400" dirty="0" err="1">
                <a:solidFill>
                  <a:srgbClr val="C00000"/>
                </a:solidFill>
                <a:cs typeface="Gill Sans" charset="0"/>
                <a:sym typeface="Gill Sans" charset="0"/>
              </a:rPr>
              <a:t>ar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 + ar</a:t>
            </a:r>
            <a:r>
              <a:rPr lang="en-US" altLang="en-US" sz="2400" baseline="30000" dirty="0">
                <a:solidFill>
                  <a:srgbClr val="C00000"/>
                </a:solidFill>
                <a:cs typeface="Gill Sans" charset="0"/>
                <a:sym typeface="Gill Sans" charset="0"/>
              </a:rPr>
              <a:t>2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 + ar</a:t>
            </a:r>
            <a:r>
              <a:rPr lang="en-US" altLang="en-US" sz="2400" baseline="30000" dirty="0">
                <a:solidFill>
                  <a:srgbClr val="C00000"/>
                </a:solidFill>
                <a:cs typeface="Gill Sans" charset="0"/>
                <a:sym typeface="Gill Sans" charset="0"/>
              </a:rPr>
              <a:t>3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 + … + ar</a:t>
            </a:r>
            <a:r>
              <a:rPr lang="en-US" altLang="en-US" sz="2400" baseline="30000" dirty="0">
                <a:solidFill>
                  <a:srgbClr val="C00000"/>
                </a:solidFill>
                <a:cs typeface="Gill Sans" charset="0"/>
                <a:sym typeface="Gill Sans" charset="0"/>
              </a:rPr>
              <a:t>n-2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 + ar</a:t>
            </a:r>
            <a:r>
              <a:rPr lang="en-US" altLang="en-US" sz="2400" baseline="30000" dirty="0">
                <a:solidFill>
                  <a:srgbClr val="C00000"/>
                </a:solidFill>
                <a:cs typeface="Gill Sans" charset="0"/>
                <a:sym typeface="Gill Sans" charset="0"/>
              </a:rPr>
              <a:t>n-1</a:t>
            </a:r>
            <a:r>
              <a:rPr lang="en-US" altLang="en-US" sz="2400" dirty="0">
                <a:cs typeface="Gill Sans" charset="0"/>
                <a:sym typeface="Gill Sans" charset="0"/>
              </a:rPr>
              <a:t>….(1)</a:t>
            </a:r>
          </a:p>
          <a:p>
            <a:pPr marL="0" indent="0">
              <a:lnSpc>
                <a:spcPct val="100000"/>
              </a:lnSpc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r>
              <a:rPr lang="en-US" altLang="en-US" sz="2400" dirty="0">
                <a:cs typeface="Gill Sans" charset="0"/>
                <a:sym typeface="Gill Sans" charset="0"/>
              </a:rPr>
              <a:t>	 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Multiplying</a:t>
            </a:r>
            <a:r>
              <a:rPr lang="en-US" altLang="en-US" sz="2400" dirty="0">
                <a:cs typeface="Gill Sans" charset="0"/>
                <a:sym typeface="Gill Sans" charset="0"/>
              </a:rPr>
              <a:t> both sides by 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r</a:t>
            </a:r>
            <a:r>
              <a:rPr lang="en-US" altLang="en-US" sz="2400" dirty="0">
                <a:cs typeface="Gill Sans" charset="0"/>
                <a:sym typeface="Gill Sans" charset="0"/>
              </a:rPr>
              <a:t> we get.</a:t>
            </a:r>
          </a:p>
          <a:p>
            <a:pPr marL="0" indent="0">
              <a:lnSpc>
                <a:spcPct val="100000"/>
              </a:lnSpc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r>
              <a:rPr lang="en-US" altLang="en-US" sz="2400" dirty="0">
                <a:cs typeface="Gill Sans" charset="0"/>
                <a:sym typeface="Gill Sans" charset="0"/>
              </a:rPr>
              <a:t>		 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r S</a:t>
            </a:r>
            <a:r>
              <a:rPr lang="en-US" altLang="en-US" sz="2400" baseline="-25000" dirty="0">
                <a:solidFill>
                  <a:srgbClr val="C00000"/>
                </a:solidFill>
                <a:cs typeface="Gill Sans" charset="0"/>
                <a:sym typeface="Gill Sans" charset="0"/>
              </a:rPr>
              <a:t>n</a:t>
            </a:r>
            <a:r>
              <a:rPr lang="en-US" altLang="en-US" sz="2400" dirty="0">
                <a:cs typeface="Gill Sans" charset="0"/>
                <a:sym typeface="Gill Sans" charset="0"/>
              </a:rPr>
              <a:t> = </a:t>
            </a:r>
            <a:r>
              <a:rPr lang="en-US" altLang="en-US" sz="2400" dirty="0" err="1">
                <a:solidFill>
                  <a:srgbClr val="C00000"/>
                </a:solidFill>
                <a:cs typeface="Gill Sans" charset="0"/>
                <a:sym typeface="Gill Sans" charset="0"/>
              </a:rPr>
              <a:t>ar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 + ar</a:t>
            </a:r>
            <a:r>
              <a:rPr lang="en-US" altLang="en-US" sz="2400" baseline="30000" dirty="0">
                <a:solidFill>
                  <a:srgbClr val="C00000"/>
                </a:solidFill>
                <a:cs typeface="Gill Sans" charset="0"/>
                <a:sym typeface="Gill Sans" charset="0"/>
              </a:rPr>
              <a:t>2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 + ar</a:t>
            </a:r>
            <a:r>
              <a:rPr lang="en-US" altLang="en-US" sz="2400" baseline="30000" dirty="0">
                <a:solidFill>
                  <a:srgbClr val="C00000"/>
                </a:solidFill>
                <a:cs typeface="Gill Sans" charset="0"/>
                <a:sym typeface="Gill Sans" charset="0"/>
              </a:rPr>
              <a:t>3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 + … + ar</a:t>
            </a:r>
            <a:r>
              <a:rPr lang="en-US" altLang="en-US" sz="2400" baseline="30000" dirty="0">
                <a:solidFill>
                  <a:srgbClr val="C00000"/>
                </a:solidFill>
                <a:cs typeface="Gill Sans" charset="0"/>
                <a:sym typeface="Gill Sans" charset="0"/>
              </a:rPr>
              <a:t>n-1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 + </a:t>
            </a:r>
            <a:r>
              <a:rPr lang="en-US" altLang="en-US" sz="2400" dirty="0" err="1">
                <a:solidFill>
                  <a:srgbClr val="C00000"/>
                </a:solidFill>
                <a:cs typeface="Gill Sans" charset="0"/>
                <a:sym typeface="Gill Sans" charset="0"/>
              </a:rPr>
              <a:t>ar</a:t>
            </a:r>
            <a:r>
              <a:rPr lang="en-US" altLang="en-US" sz="2400" baseline="30000" dirty="0" err="1">
                <a:solidFill>
                  <a:srgbClr val="C00000"/>
                </a:solidFill>
                <a:cs typeface="Gill Sans" charset="0"/>
                <a:sym typeface="Gill Sans" charset="0"/>
              </a:rPr>
              <a:t>n</a:t>
            </a:r>
            <a:r>
              <a:rPr lang="en-US" altLang="en-US" sz="2400" dirty="0">
                <a:cs typeface="Gill Sans" charset="0"/>
                <a:sym typeface="Gill Sans" charset="0"/>
              </a:rPr>
              <a:t>….(2)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r>
              <a:rPr lang="en-US" altLang="en-US" sz="2400" dirty="0">
                <a:cs typeface="Gill Sans" charset="0"/>
                <a:sym typeface="Gill Sans" charset="0"/>
              </a:rPr>
              <a:t>Subtracting (2) from (1) we get</a:t>
            </a:r>
          </a:p>
          <a:p>
            <a:pPr marL="0" indent="0">
              <a:lnSpc>
                <a:spcPct val="100000"/>
              </a:lnSpc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r>
              <a:rPr lang="en-US" altLang="en-US" sz="2400" dirty="0">
                <a:cs typeface="Gill Sans" charset="0"/>
                <a:sym typeface="Gill Sans" charset="0"/>
              </a:rPr>
              <a:t>				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 S</a:t>
            </a:r>
            <a:r>
              <a:rPr lang="en-US" altLang="en-US" sz="2400" baseline="-25000" dirty="0">
                <a:solidFill>
                  <a:srgbClr val="C00000"/>
                </a:solidFill>
                <a:cs typeface="Gill Sans" charset="0"/>
                <a:sym typeface="Gill Sans" charset="0"/>
              </a:rPr>
              <a:t>n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 – </a:t>
            </a:r>
            <a:r>
              <a:rPr lang="en-US" altLang="en-US" sz="2400" dirty="0" err="1">
                <a:solidFill>
                  <a:srgbClr val="C00000"/>
                </a:solidFill>
                <a:cs typeface="Gill Sans" charset="0"/>
                <a:sym typeface="Gill Sans" charset="0"/>
              </a:rPr>
              <a:t>rS</a:t>
            </a:r>
            <a:r>
              <a:rPr lang="en-US" altLang="en-US" sz="2400" baseline="-25000" dirty="0" err="1">
                <a:solidFill>
                  <a:srgbClr val="C00000"/>
                </a:solidFill>
                <a:cs typeface="Gill Sans" charset="0"/>
                <a:sym typeface="Gill Sans" charset="0"/>
              </a:rPr>
              <a:t>n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 = a – </a:t>
            </a:r>
            <a:r>
              <a:rPr lang="en-US" altLang="en-US" sz="2400" dirty="0" err="1">
                <a:solidFill>
                  <a:srgbClr val="C00000"/>
                </a:solidFill>
                <a:cs typeface="Gill Sans" charset="0"/>
                <a:sym typeface="Gill Sans" charset="0"/>
              </a:rPr>
              <a:t>ar</a:t>
            </a:r>
            <a:r>
              <a:rPr lang="en-US" altLang="en-US" sz="2400" baseline="30000" dirty="0" err="1">
                <a:solidFill>
                  <a:srgbClr val="C00000"/>
                </a:solidFill>
                <a:cs typeface="Gill Sans" charset="0"/>
                <a:sym typeface="Gill Sans" charset="0"/>
              </a:rPr>
              <a:t>n</a:t>
            </a:r>
            <a:endParaRPr lang="en-US" altLang="en-US" sz="2400" baseline="30000" dirty="0">
              <a:solidFill>
                <a:srgbClr val="C00000"/>
              </a:solidFill>
              <a:cs typeface="Gill Sans" charset="0"/>
              <a:sym typeface="Gill Sans" charset="0"/>
            </a:endParaRPr>
          </a:p>
          <a:p>
            <a:pPr marL="0" indent="0">
              <a:lnSpc>
                <a:spcPct val="100000"/>
              </a:lnSpc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r>
              <a:rPr lang="en-US" altLang="en-US" sz="2400" dirty="0">
                <a:cs typeface="Gill Sans" charset="0"/>
                <a:sym typeface="Gill Sans" charset="0"/>
              </a:rPr>
              <a:t>			 ⇒     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(1 - r) S</a:t>
            </a:r>
            <a:r>
              <a:rPr lang="en-US" altLang="en-US" sz="2400" baseline="-25000" dirty="0">
                <a:solidFill>
                  <a:srgbClr val="C00000"/>
                </a:solidFill>
                <a:cs typeface="Gill Sans" charset="0"/>
                <a:sym typeface="Gill Sans" charset="0"/>
              </a:rPr>
              <a:t>n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 = a (1 - </a:t>
            </a:r>
            <a:r>
              <a:rPr lang="en-US" altLang="en-US" sz="2400" dirty="0" err="1">
                <a:solidFill>
                  <a:srgbClr val="C00000"/>
                </a:solidFill>
                <a:cs typeface="Gill Sans" charset="0"/>
                <a:sym typeface="Gill Sans" charset="0"/>
              </a:rPr>
              <a:t>r</a:t>
            </a:r>
            <a:r>
              <a:rPr lang="en-US" altLang="en-US" sz="2400" baseline="30000" dirty="0" err="1">
                <a:solidFill>
                  <a:srgbClr val="C00000"/>
                </a:solidFill>
                <a:cs typeface="Gill Sans" charset="0"/>
                <a:sym typeface="Gill Sans" charset="0"/>
              </a:rPr>
              <a:t>n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)</a:t>
            </a:r>
            <a:endParaRPr lang="en-US" altLang="en-US" sz="2400" dirty="0">
              <a:cs typeface="Gill Sans" charset="0"/>
              <a:sym typeface="Gill Sans" charset="0"/>
            </a:endParaRPr>
          </a:p>
          <a:p>
            <a:pPr marL="0" indent="0">
              <a:lnSpc>
                <a:spcPct val="100000"/>
              </a:lnSpc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endParaRPr lang="en-US" altLang="en-US" sz="2400" dirty="0">
              <a:cs typeface="Gill Sans" charset="0"/>
              <a:sym typeface="Gill Sans" charset="0"/>
            </a:endParaRPr>
          </a:p>
          <a:p>
            <a:pPr marL="0" indent="0">
              <a:lnSpc>
                <a:spcPct val="100000"/>
              </a:lnSpc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endParaRPr lang="en-US" altLang="en-US" sz="2400" dirty="0">
              <a:cs typeface="Gill Sans" charset="0"/>
              <a:sym typeface="Gill Sans" charset="0"/>
            </a:endParaRPr>
          </a:p>
          <a:p>
            <a:pPr marL="0" indent="0">
              <a:lnSpc>
                <a:spcPct val="100000"/>
              </a:lnSpc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endParaRPr lang="en-US" altLang="en-US" sz="2400" dirty="0">
              <a:cs typeface="Gill Sans" charset="0"/>
              <a:sym typeface="Gill Sans" charset="0"/>
            </a:endParaRPr>
          </a:p>
        </p:txBody>
      </p:sp>
      <p:graphicFrame>
        <p:nvGraphicFramePr>
          <p:cNvPr id="4" name="Google Shape;386;p39">
            <a:extLst>
              <a:ext uri="{FF2B5EF4-FFF2-40B4-BE49-F238E27FC236}">
                <a16:creationId xmlns:a16="http://schemas.microsoft.com/office/drawing/2014/main" id="{96C7F386-F596-4E5F-93D0-941F244145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6847496"/>
              </p:ext>
            </p:extLst>
          </p:nvPr>
        </p:nvGraphicFramePr>
        <p:xfrm>
          <a:off x="3288901" y="5591736"/>
          <a:ext cx="4665662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23" r:id="rId4" imgW="0" imgH="0" progId="">
                  <p:embed/>
                </p:oleObj>
              </mc:Choice>
              <mc:Fallback>
                <p:oleObj r:id="rId4" imgW="0" imgH="0" progId="">
                  <p:embed/>
                  <p:pic>
                    <p:nvPicPr>
                      <p:cNvPr id="92164" name="Google Shape;386;p39">
                        <a:extLst>
                          <a:ext uri="{FF2B5EF4-FFF2-40B4-BE49-F238E27FC236}">
                            <a16:creationId xmlns:a16="http://schemas.microsoft.com/office/drawing/2014/main" id="{A61F57D9-F3D9-44AC-91EC-BB73EBFE72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8901" y="5591736"/>
                        <a:ext cx="4665662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3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Google Shape;391;p40">
            <a:extLst>
              <a:ext uri="{FF2B5EF4-FFF2-40B4-BE49-F238E27FC236}">
                <a16:creationId xmlns:a16="http://schemas.microsoft.com/office/drawing/2014/main" id="{A2FA3498-63FB-43B6-A1A0-BBA6C44FAE67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633626" y="0"/>
            <a:ext cx="10515600" cy="699247"/>
          </a:xfrm>
        </p:spPr>
        <p:txBody>
          <a:bodyPr/>
          <a:lstStyle/>
          <a:p>
            <a:pPr algn="ctr" eaLnBrk="1" hangingPunct="1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ts val="3200"/>
              <a:buFont typeface="Bookman Old Style" panose="02050604050505020204" pitchFamily="18" charset="0"/>
              <a:buNone/>
            </a:pPr>
            <a:r>
              <a:rPr lang="en-US" altLang="en-US" sz="3200" b="1" u="sng" dirty="0">
                <a:solidFill>
                  <a:srgbClr val="0070C0"/>
                </a:solidFill>
                <a:cs typeface="Arial" panose="020B0604020202020204" pitchFamily="34" charset="0"/>
                <a:sym typeface="Bookman Old Style" panose="02050604050505020204" pitchFamily="18" charset="0"/>
              </a:rPr>
              <a:t>EXERCISE</a:t>
            </a:r>
          </a:p>
        </p:txBody>
      </p:sp>
      <p:sp>
        <p:nvSpPr>
          <p:cNvPr id="392" name="Google Shape;392;p40">
            <a:extLst>
              <a:ext uri="{FF2B5EF4-FFF2-40B4-BE49-F238E27FC236}">
                <a16:creationId xmlns:a16="http://schemas.microsoft.com/office/drawing/2014/main" id="{EA7F1E2C-4E34-416F-818D-DF3B31EE69D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976526" y="699247"/>
            <a:ext cx="9829800" cy="3859742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Clr>
                <a:schemeClr val="accent1"/>
              </a:buClr>
              <a:buSzPts val="1976"/>
              <a:buNone/>
              <a:defRPr/>
            </a:pP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Find the sum of the geometric series</a:t>
            </a:r>
            <a:endParaRPr sz="24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125476" indent="0">
              <a:buClr>
                <a:schemeClr val="accent1"/>
              </a:buClr>
              <a:buSzPts val="1976"/>
              <a:buNone/>
              <a:defRPr/>
            </a:pPr>
            <a:endParaRPr sz="24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r>
              <a:rPr lang="en-US" sz="2400" b="1" u="sng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SOLUTION</a:t>
            </a:r>
            <a:endParaRPr sz="24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</p:txBody>
      </p:sp>
      <p:graphicFrame>
        <p:nvGraphicFramePr>
          <p:cNvPr id="94213" name="Google Shape;394;p40">
            <a:extLst>
              <a:ext uri="{FF2B5EF4-FFF2-40B4-BE49-F238E27FC236}">
                <a16:creationId xmlns:a16="http://schemas.microsoft.com/office/drawing/2014/main" id="{F4FE1050-2F09-46B6-A7AD-C9F34F5C4E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0711726"/>
              </p:ext>
            </p:extLst>
          </p:nvPr>
        </p:nvGraphicFramePr>
        <p:xfrm>
          <a:off x="3312460" y="2209801"/>
          <a:ext cx="4056062" cy="7375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86" r:id="rId4" imgW="0" imgH="0" progId="">
                  <p:embed/>
                </p:oleObj>
              </mc:Choice>
              <mc:Fallback>
                <p:oleObj r:id="rId4" imgW="0" imgH="0" progId="">
                  <p:embed/>
                  <p:pic>
                    <p:nvPicPr>
                      <p:cNvPr id="94213" name="Google Shape;394;p40">
                        <a:extLst>
                          <a:ext uri="{FF2B5EF4-FFF2-40B4-BE49-F238E27FC236}">
                            <a16:creationId xmlns:a16="http://schemas.microsoft.com/office/drawing/2014/main" id="{F4FE1050-2F09-46B6-A7AD-C9F34F5C4E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2460" y="2209801"/>
                        <a:ext cx="4056062" cy="7375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>
            <a:extLst>
              <a:ext uri="{FF2B5EF4-FFF2-40B4-BE49-F238E27FC236}">
                <a16:creationId xmlns:a16="http://schemas.microsoft.com/office/drawing/2014/main" id="{11ECFAC9-AAB0-4067-B1BE-9BFC9CCA96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7219354"/>
              </p:ext>
            </p:extLst>
          </p:nvPr>
        </p:nvGraphicFramePr>
        <p:xfrm>
          <a:off x="3557910" y="1035424"/>
          <a:ext cx="4056062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87" name="Equation" r:id="rId6" imgW="1904760" imgH="393480" progId="Equation.3">
                  <p:embed/>
                </p:oleObj>
              </mc:Choice>
              <mc:Fallback>
                <p:oleObj name="Equation" r:id="rId6" imgW="1904760" imgH="393480" progId="Equation.3">
                  <p:embed/>
                  <p:pic>
                    <p:nvPicPr>
                      <p:cNvPr id="11469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7910" y="1035424"/>
                        <a:ext cx="4056062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Google Shape;401;p41">
            <a:extLst>
              <a:ext uri="{FF2B5EF4-FFF2-40B4-BE49-F238E27FC236}">
                <a16:creationId xmlns:a16="http://schemas.microsoft.com/office/drawing/2014/main" id="{C42605D7-61B3-4B51-9B04-F6D9476064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4849852"/>
              </p:ext>
            </p:extLst>
          </p:nvPr>
        </p:nvGraphicFramePr>
        <p:xfrm>
          <a:off x="2725766" y="3071299"/>
          <a:ext cx="4888206" cy="34760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88" r:id="rId8" imgW="0" imgH="0" progId="">
                  <p:embed/>
                </p:oleObj>
              </mc:Choice>
              <mc:Fallback>
                <p:oleObj r:id="rId8" imgW="0" imgH="0" progId="">
                  <p:embed/>
                  <p:pic>
                    <p:nvPicPr>
                      <p:cNvPr id="98306" name="Google Shape;401;p41">
                        <a:extLst>
                          <a:ext uri="{FF2B5EF4-FFF2-40B4-BE49-F238E27FC236}">
                            <a16:creationId xmlns:a16="http://schemas.microsoft.com/office/drawing/2014/main" id="{211A4B73-6385-46F1-8874-BA0504CDCF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5766" y="3071299"/>
                        <a:ext cx="4888206" cy="34760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006415" y="1008268"/>
            <a:ext cx="10179170" cy="21271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Cambria Math" pitchFamily="18" charset="0"/>
                <a:ea typeface="Cambria Math" pitchFamily="18" charset="0"/>
              </a:rPr>
              <a:t>Consider the infinite geometric series</a:t>
            </a:r>
          </a:p>
          <a:p>
            <a:pPr marL="0" indent="0">
              <a:buNone/>
            </a:pPr>
            <a:r>
              <a:rPr lang="en-US" sz="2400" dirty="0">
                <a:latin typeface="Cambria Math" pitchFamily="18" charset="0"/>
                <a:ea typeface="Cambria Math" pitchFamily="18" charset="0"/>
              </a:rPr>
              <a:t>	a + </a:t>
            </a:r>
            <a:r>
              <a:rPr lang="en-US" sz="2400" dirty="0" err="1">
                <a:latin typeface="Cambria Math" pitchFamily="18" charset="0"/>
                <a:ea typeface="Cambria Math" pitchFamily="18" charset="0"/>
              </a:rPr>
              <a:t>ar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 + ar2 + … + arn-1 + …</a:t>
            </a:r>
          </a:p>
          <a:p>
            <a:pPr marL="0" indent="0">
              <a:buNone/>
            </a:pPr>
            <a:r>
              <a:rPr lang="en-US" sz="2400" dirty="0">
                <a:latin typeface="Cambria Math" pitchFamily="18" charset="0"/>
                <a:ea typeface="Cambria Math" pitchFamily="18" charset="0"/>
              </a:rPr>
              <a:t>then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472406" y="23052"/>
            <a:ext cx="8229600" cy="783535"/>
          </a:xfrm>
        </p:spPr>
        <p:txBody>
          <a:bodyPr>
            <a:normAutofit/>
          </a:bodyPr>
          <a:lstStyle/>
          <a:p>
            <a:pPr algn="ctr"/>
            <a:r>
              <a:rPr lang="en-US" sz="3200" b="1" u="sng" dirty="0">
                <a:solidFill>
                  <a:srgbClr val="0070C0"/>
                </a:solidFill>
                <a:cs typeface="Arial" panose="020B0604020202020204" pitchFamily="34" charset="0"/>
              </a:rPr>
              <a:t>INFINITE GEOMETRIC SERIES</a:t>
            </a:r>
          </a:p>
        </p:txBody>
      </p:sp>
      <p:graphicFrame>
        <p:nvGraphicFramePr>
          <p:cNvPr id="11571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537555"/>
              </p:ext>
            </p:extLst>
          </p:nvPr>
        </p:nvGraphicFramePr>
        <p:xfrm>
          <a:off x="1981199" y="2283723"/>
          <a:ext cx="7212013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56" name="Equation" r:id="rId3" imgW="3174840" imgH="419040" progId="">
                  <p:embed/>
                </p:oleObj>
              </mc:Choice>
              <mc:Fallback>
                <p:oleObj name="Equation" r:id="rId3" imgW="3174840" imgH="419040" progId="">
                  <p:embed/>
                  <p:pic>
                    <p:nvPicPr>
                      <p:cNvPr id="11571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199" y="2283723"/>
                        <a:ext cx="7212013" cy="9525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Placeholder 1"/>
          <p:cNvSpPr txBox="1">
            <a:spLocks/>
          </p:cNvSpPr>
          <p:nvPr/>
        </p:nvSpPr>
        <p:spPr>
          <a:xfrm>
            <a:off x="1006415" y="3337063"/>
            <a:ext cx="10179170" cy="16002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en-US" sz="2800" kern="0" dirty="0">
                <a:solidFill>
                  <a:sysClr val="windowText" lastClr="000000"/>
                </a:solidFill>
                <a:latin typeface="Cambria Math" pitchFamily="18" charset="0"/>
                <a:ea typeface="Cambria Math" pitchFamily="18" charset="0"/>
              </a:rPr>
              <a:t>If </a:t>
            </a:r>
            <a:r>
              <a:rPr lang="en-US" sz="2800" dirty="0" err="1">
                <a:solidFill>
                  <a:srgbClr val="C00000"/>
                </a:solidFill>
                <a:latin typeface="Cambria Math" pitchFamily="18" charset="0"/>
                <a:ea typeface="Cambria Math" pitchFamily="18" charset="0"/>
              </a:rPr>
              <a:t>S</a:t>
            </a:r>
            <a:r>
              <a:rPr lang="en-US" sz="2800" baseline="-25000" dirty="0" err="1">
                <a:solidFill>
                  <a:srgbClr val="C00000"/>
                </a:solidFill>
                <a:latin typeface="Cambria Math" pitchFamily="18" charset="0"/>
                <a:ea typeface="Cambria Math" pitchFamily="18" charset="0"/>
              </a:rPr>
              <a:t>n</a:t>
            </a:r>
            <a:r>
              <a:rPr lang="en-US" sz="2800" kern="0" dirty="0">
                <a:solidFill>
                  <a:sysClr val="windowText" lastClr="000000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800" kern="0" dirty="0">
                <a:solidFill>
                  <a:sysClr val="windowText" lastClr="000000"/>
                </a:solidFill>
                <a:latin typeface="Cambria Math" pitchFamily="18" charset="0"/>
                <a:ea typeface="Cambria Math" pitchFamily="18" charset="0"/>
                <a:sym typeface="Wingdings" pitchFamily="2" charset="2"/>
              </a:rPr>
              <a:t></a:t>
            </a:r>
            <a:r>
              <a:rPr lang="en-US" sz="2800" kern="0" dirty="0">
                <a:solidFill>
                  <a:sysClr val="windowText" lastClr="000000"/>
                </a:solidFill>
                <a:latin typeface="Cambria Math" pitchFamily="18" charset="0"/>
                <a:ea typeface="Cambria Math" pitchFamily="18" charset="0"/>
              </a:rPr>
              <a:t> S as	n </a:t>
            </a:r>
            <a:r>
              <a:rPr lang="en-US" sz="2800" dirty="0">
                <a:sym typeface="Symbol" pitchFamily="18" charset="2"/>
              </a:rPr>
              <a:t> </a:t>
            </a:r>
            <a:r>
              <a:rPr lang="en-US" sz="2800" kern="0" dirty="0">
                <a:solidFill>
                  <a:sysClr val="windowText" lastClr="000000"/>
                </a:solidFill>
                <a:latin typeface="Cambria Math" pitchFamily="18" charset="0"/>
                <a:ea typeface="Cambria Math" pitchFamily="18" charset="0"/>
              </a:rPr>
              <a:t>, then the series is convergent and S is its sum.</a:t>
            </a:r>
          </a:p>
          <a:p>
            <a:pPr lvl="1">
              <a:spcBef>
                <a:spcPct val="50000"/>
              </a:spcBef>
            </a:pPr>
            <a:r>
              <a:rPr lang="en-US" sz="2800" kern="0" dirty="0">
                <a:solidFill>
                  <a:schemeClr val="accent5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If |r| &lt; 1,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  <a:sym typeface="Symbol" pitchFamily="18" charset="2"/>
              </a:rPr>
              <a:t>then </a:t>
            </a: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  <a:sym typeface="Symbol" pitchFamily="18" charset="2"/>
              </a:rPr>
              <a:t>r</a:t>
            </a:r>
            <a:r>
              <a:rPr lang="en-US" sz="2400" baseline="30000" dirty="0" err="1">
                <a:solidFill>
                  <a:schemeClr val="accent5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  <a:sym typeface="Symbol" pitchFamily="18" charset="2"/>
              </a:rPr>
              <a:t>n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  <a:sym typeface="Symbol" pitchFamily="18" charset="2"/>
              </a:rPr>
              <a:t>  0 as n  </a:t>
            </a:r>
          </a:p>
        </p:txBody>
      </p:sp>
      <p:graphicFrame>
        <p:nvGraphicFramePr>
          <p:cNvPr id="11571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2039423"/>
              </p:ext>
            </p:extLst>
          </p:nvPr>
        </p:nvGraphicFramePr>
        <p:xfrm>
          <a:off x="2398806" y="4807089"/>
          <a:ext cx="4410075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57" name="Equation" r:id="rId5" imgW="2044440" imgH="812520" progId="">
                  <p:embed/>
                </p:oleObj>
              </mc:Choice>
              <mc:Fallback>
                <p:oleObj name="Equation" r:id="rId5" imgW="2044440" imgH="812520" progId="">
                  <p:embed/>
                  <p:pic>
                    <p:nvPicPr>
                      <p:cNvPr id="11571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8806" y="4807089"/>
                        <a:ext cx="4410075" cy="175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1814858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85645" y="1039468"/>
            <a:ext cx="8458200" cy="533400"/>
          </a:xfrm>
        </p:spPr>
        <p:txBody>
          <a:bodyPr>
            <a:normAutofit/>
          </a:bodyPr>
          <a:lstStyle/>
          <a:p>
            <a:pPr marL="0" lvl="1" indent="0"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Find the sum of the infinite geometric series: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79463" y="5798"/>
            <a:ext cx="8229600" cy="783535"/>
          </a:xfrm>
        </p:spPr>
        <p:txBody>
          <a:bodyPr>
            <a:normAutofit/>
          </a:bodyPr>
          <a:lstStyle/>
          <a:p>
            <a:pPr algn="ctr"/>
            <a:r>
              <a:rPr lang="en-US" sz="3200" b="1" u="sng" dirty="0">
                <a:solidFill>
                  <a:srgbClr val="0070C0"/>
                </a:solidFill>
                <a:cs typeface="Arial" panose="020B0604020202020204" pitchFamily="34" charset="0"/>
              </a:rPr>
              <a:t>GEOMETRIC SERIES SUM: </a:t>
            </a:r>
            <a:r>
              <a:rPr lang="en-US" sz="3600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</a:rPr>
              <a:t>EXAMPLE</a:t>
            </a:r>
            <a:endParaRPr lang="en-US" sz="4000" dirty="0">
              <a:solidFill>
                <a:srgbClr val="C00000"/>
              </a:solidFill>
              <a:latin typeface="Cambria Math" pitchFamily="18" charset="0"/>
              <a:ea typeface="Cambria Math" pitchFamily="18" charset="0"/>
            </a:endParaRPr>
          </a:p>
        </p:txBody>
      </p:sp>
      <p:graphicFrame>
        <p:nvGraphicFramePr>
          <p:cNvPr id="11673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6435427"/>
              </p:ext>
            </p:extLst>
          </p:nvPr>
        </p:nvGraphicFramePr>
        <p:xfrm>
          <a:off x="998452" y="1572868"/>
          <a:ext cx="2649538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67" name="Equation" r:id="rId3" imgW="1066680" imgH="393480" progId="">
                  <p:embed/>
                </p:oleObj>
              </mc:Choice>
              <mc:Fallback>
                <p:oleObj name="Equation" r:id="rId3" imgW="1066680" imgH="393480" progId="">
                  <p:embed/>
                  <p:pic>
                    <p:nvPicPr>
                      <p:cNvPr id="11673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8452" y="1572868"/>
                        <a:ext cx="2649538" cy="9779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2293783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484107" y="239964"/>
            <a:ext cx="8229600" cy="701583"/>
          </a:xfrm>
        </p:spPr>
        <p:txBody>
          <a:bodyPr>
            <a:normAutofit/>
          </a:bodyPr>
          <a:lstStyle/>
          <a:p>
            <a:pPr algn="ctr"/>
            <a:r>
              <a:rPr lang="en-US" sz="3600" b="1" u="sng" dirty="0">
                <a:solidFill>
                  <a:srgbClr val="0070C0"/>
                </a:solidFill>
                <a:cs typeface="Arial" panose="020B0604020202020204" pitchFamily="34" charset="0"/>
              </a:rPr>
              <a:t>IMPORTANT SUMS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A48FAE-4ACF-2912-8CF4-1AF625B922FE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</a:blip>
          <a:stretch>
            <a:fillRect/>
          </a:stretch>
        </p:blipFill>
        <p:spPr>
          <a:xfrm>
            <a:off x="1407907" y="1528866"/>
            <a:ext cx="83058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44064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54657" y="0"/>
            <a:ext cx="8229600" cy="783535"/>
          </a:xfrm>
        </p:spPr>
        <p:txBody>
          <a:bodyPr/>
          <a:lstStyle/>
          <a:p>
            <a:pPr algn="ctr"/>
            <a:r>
              <a:rPr lang="en-US" sz="3200" b="1" u="sng" dirty="0">
                <a:solidFill>
                  <a:srgbClr val="0070C0"/>
                </a:solidFill>
                <a:cs typeface="Arial" panose="020B0604020202020204" pitchFamily="34" charset="0"/>
              </a:rPr>
              <a:t>SERIES SUM: </a:t>
            </a:r>
            <a:r>
              <a:rPr lang="en-US" sz="3200" b="1" u="sng" dirty="0">
                <a:solidFill>
                  <a:srgbClr val="FF0000"/>
                </a:solidFill>
                <a:cs typeface="Arial" panose="020B0604020202020204" pitchFamily="34" charset="0"/>
              </a:rPr>
              <a:t>EXERCISE</a:t>
            </a:r>
          </a:p>
        </p:txBody>
      </p:sp>
      <p:sp>
        <p:nvSpPr>
          <p:cNvPr id="4" name="Text Placeholder 1"/>
          <p:cNvSpPr>
            <a:spLocks noGrp="1"/>
          </p:cNvSpPr>
          <p:nvPr>
            <p:ph type="body" idx="1"/>
          </p:nvPr>
        </p:nvSpPr>
        <p:spPr>
          <a:xfrm>
            <a:off x="1173193" y="783535"/>
            <a:ext cx="8229600" cy="1066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Cambria Math" pitchFamily="18" charset="0"/>
                <a:ea typeface="Cambria Math" pitchFamily="18" charset="0"/>
              </a:rPr>
              <a:t>Sum to n terms the series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</a:rPr>
              <a:t>1.5+5.11+9.17+…</a:t>
            </a:r>
          </a:p>
        </p:txBody>
      </p:sp>
      <p:pic>
        <p:nvPicPr>
          <p:cNvPr id="8" name="Picture 7" descr="sum4.png"/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54599" y="5334000"/>
            <a:ext cx="1213672" cy="11883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B7DFBDF-2D5C-4E2F-AFC8-4A61B7A66D78}"/>
              </a:ext>
            </a:extLst>
          </p:cNvPr>
          <p:cNvSpPr txBox="1"/>
          <p:nvPr/>
        </p:nvSpPr>
        <p:spPr>
          <a:xfrm>
            <a:off x="1173193" y="1618693"/>
            <a:ext cx="9315513" cy="445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000"/>
              </a:spcBef>
              <a:buClr>
                <a:schemeClr val="accent1"/>
              </a:buClr>
              <a:buSzPts val="1976"/>
              <a:defRPr/>
            </a:pPr>
            <a:r>
              <a:rPr lang="en-US" sz="2400" b="1" u="sng" dirty="0">
                <a:solidFill>
                  <a:srgbClr val="C00000"/>
                </a:solidFill>
              </a:rPr>
              <a:t>Solution:</a:t>
            </a:r>
          </a:p>
          <a:p>
            <a:pPr>
              <a:lnSpc>
                <a:spcPct val="150000"/>
              </a:lnSpc>
              <a:defRPr/>
            </a:pPr>
            <a:r>
              <a:rPr lang="en-US" sz="2400" kern="0" dirty="0">
                <a:solidFill>
                  <a:sysClr val="windowText" lastClr="000000"/>
                </a:solidFill>
                <a:ea typeface="Cambria Math" pitchFamily="18" charset="0"/>
              </a:rPr>
              <a:t>Lets write the nth term of given series</a:t>
            </a:r>
          </a:p>
          <a:p>
            <a:pPr>
              <a:lnSpc>
                <a:spcPct val="150000"/>
              </a:lnSpc>
            </a:pPr>
            <a:r>
              <a:rPr lang="en-US" sz="2400" kern="0" dirty="0">
                <a:solidFill>
                  <a:sysClr val="windowText" lastClr="000000"/>
                </a:solidFill>
                <a:ea typeface="Cambria Math" pitchFamily="18" charset="0"/>
              </a:rPr>
              <a:t>	</a:t>
            </a:r>
            <a:r>
              <a:rPr lang="en-US" sz="2400" kern="0" dirty="0" err="1">
                <a:solidFill>
                  <a:srgbClr val="C00000"/>
                </a:solidFill>
                <a:ea typeface="Cambria Math" pitchFamily="18" charset="0"/>
              </a:rPr>
              <a:t>t</a:t>
            </a:r>
            <a:r>
              <a:rPr lang="en-US" sz="2400" kern="0" baseline="-25000" dirty="0" err="1">
                <a:solidFill>
                  <a:srgbClr val="C00000"/>
                </a:solidFill>
                <a:ea typeface="Cambria Math" pitchFamily="18" charset="0"/>
              </a:rPr>
              <a:t>k</a:t>
            </a:r>
            <a:r>
              <a:rPr lang="en-US" sz="2400" kern="0" dirty="0">
                <a:solidFill>
                  <a:srgbClr val="C00000"/>
                </a:solidFill>
                <a:ea typeface="Cambria Math" pitchFamily="18" charset="0"/>
              </a:rPr>
              <a:t> = </a:t>
            </a:r>
            <a:r>
              <a:rPr lang="en-US" sz="2400" kern="0" dirty="0">
                <a:solidFill>
                  <a:sysClr val="windowText" lastClr="000000"/>
                </a:solidFill>
                <a:ea typeface="Cambria Math" pitchFamily="18" charset="0"/>
              </a:rPr>
              <a:t>[a</a:t>
            </a:r>
            <a:r>
              <a:rPr lang="en-US" sz="2400" kern="0" baseline="-25000" dirty="0">
                <a:solidFill>
                  <a:sysClr val="windowText" lastClr="000000"/>
                </a:solidFill>
                <a:ea typeface="Cambria Math" pitchFamily="18" charset="0"/>
              </a:rPr>
              <a:t>0</a:t>
            </a:r>
            <a:r>
              <a:rPr lang="en-US" sz="2400" kern="0" dirty="0">
                <a:solidFill>
                  <a:sysClr val="windowText" lastClr="000000"/>
                </a:solidFill>
                <a:ea typeface="Cambria Math" pitchFamily="18" charset="0"/>
              </a:rPr>
              <a:t> + (k-1)d].[b</a:t>
            </a:r>
            <a:r>
              <a:rPr lang="en-US" sz="2400" kern="0" baseline="-25000" dirty="0">
                <a:solidFill>
                  <a:sysClr val="windowText" lastClr="000000"/>
                </a:solidFill>
                <a:ea typeface="Cambria Math" pitchFamily="18" charset="0"/>
              </a:rPr>
              <a:t>0</a:t>
            </a:r>
            <a:r>
              <a:rPr lang="en-US" sz="2400" kern="0" dirty="0">
                <a:solidFill>
                  <a:sysClr val="windowText" lastClr="000000"/>
                </a:solidFill>
                <a:ea typeface="Cambria Math" pitchFamily="18" charset="0"/>
              </a:rPr>
              <a:t> + (k-1)d]</a:t>
            </a:r>
          </a:p>
          <a:p>
            <a:pPr>
              <a:lnSpc>
                <a:spcPct val="150000"/>
              </a:lnSpc>
            </a:pPr>
            <a:r>
              <a:rPr lang="en-US" sz="2400" kern="0" dirty="0">
                <a:solidFill>
                  <a:srgbClr val="C00000"/>
                </a:solidFill>
                <a:ea typeface="Cambria Math" pitchFamily="18" charset="0"/>
              </a:rPr>
              <a:t>	    </a:t>
            </a:r>
            <a:r>
              <a:rPr lang="en-US" sz="2400" kern="0" dirty="0">
                <a:ea typeface="Cambria Math" pitchFamily="18" charset="0"/>
              </a:rPr>
              <a:t>= [1+(k-1)4].[5+(k-1)6]</a:t>
            </a:r>
          </a:p>
          <a:p>
            <a:pPr>
              <a:lnSpc>
                <a:spcPct val="150000"/>
              </a:lnSpc>
            </a:pPr>
            <a:r>
              <a:rPr lang="en-US" sz="2400" kern="0" dirty="0">
                <a:ea typeface="Cambria Math" pitchFamily="18" charset="0"/>
              </a:rPr>
              <a:t>	    = (4k-3).(6k-1)</a:t>
            </a:r>
          </a:p>
          <a:p>
            <a:pPr>
              <a:lnSpc>
                <a:spcPct val="150000"/>
              </a:lnSpc>
            </a:pPr>
            <a:r>
              <a:rPr lang="en-US" sz="2400" kern="0" dirty="0">
                <a:ea typeface="Cambria Math" pitchFamily="18" charset="0"/>
              </a:rPr>
              <a:t>	    = 24k</a:t>
            </a:r>
            <a:r>
              <a:rPr lang="en-US" sz="2400" kern="0" baseline="30000" dirty="0">
                <a:ea typeface="Cambria Math" pitchFamily="18" charset="0"/>
              </a:rPr>
              <a:t>2</a:t>
            </a:r>
            <a:r>
              <a:rPr lang="en-US" sz="2400" kern="0" dirty="0">
                <a:ea typeface="Cambria Math" pitchFamily="18" charset="0"/>
              </a:rPr>
              <a:t>-22k+3</a:t>
            </a:r>
          </a:p>
          <a:p>
            <a:pPr>
              <a:lnSpc>
                <a:spcPct val="150000"/>
              </a:lnSpc>
            </a:pPr>
            <a:r>
              <a:rPr lang="en-US" sz="2400" kern="0" dirty="0">
                <a:ea typeface="Cambria Math" pitchFamily="18" charset="0"/>
              </a:rPr>
              <a:t>now </a:t>
            </a:r>
          </a:p>
          <a:p>
            <a:pPr>
              <a:lnSpc>
                <a:spcPct val="150000"/>
              </a:lnSpc>
            </a:pPr>
            <a:r>
              <a:rPr lang="en-US" sz="2400" kern="0" dirty="0">
                <a:solidFill>
                  <a:srgbClr val="C00000"/>
                </a:solidFill>
                <a:ea typeface="Cambria Math" pitchFamily="18" charset="0"/>
              </a:rPr>
              <a:t>	S</a:t>
            </a:r>
            <a:r>
              <a:rPr lang="en-US" sz="2400" kern="0" baseline="-25000" dirty="0">
                <a:solidFill>
                  <a:srgbClr val="C00000"/>
                </a:solidFill>
                <a:ea typeface="Cambria Math" pitchFamily="18" charset="0"/>
              </a:rPr>
              <a:t>n</a:t>
            </a:r>
            <a:r>
              <a:rPr lang="en-US" sz="2400" kern="0" dirty="0">
                <a:solidFill>
                  <a:srgbClr val="C00000"/>
                </a:solidFill>
                <a:ea typeface="Cambria Math" pitchFamily="18" charset="0"/>
              </a:rPr>
              <a:t>=</a:t>
            </a:r>
            <a:r>
              <a:rPr lang="en-US" sz="2400" kern="0" dirty="0">
                <a:ea typeface="Cambria Math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40956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133600" y="205863"/>
            <a:ext cx="8229600" cy="602864"/>
          </a:xfrm>
        </p:spPr>
        <p:txBody>
          <a:bodyPr>
            <a:normAutofit fontScale="90000"/>
          </a:bodyPr>
          <a:lstStyle/>
          <a:p>
            <a:r>
              <a:rPr lang="en-US" sz="3600" b="1" u="sng" dirty="0">
                <a:solidFill>
                  <a:srgbClr val="0070C0"/>
                </a:solidFill>
                <a:cs typeface="Arial" panose="020B0604020202020204" pitchFamily="34" charset="0"/>
              </a:rPr>
              <a:t>Series Sum: </a:t>
            </a:r>
            <a:r>
              <a:rPr lang="en-US" sz="4000" dirty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</a:rPr>
              <a:t>Example</a:t>
            </a:r>
          </a:p>
        </p:txBody>
      </p:sp>
      <p:sp>
        <p:nvSpPr>
          <p:cNvPr id="5" name="Text Placeholder 1"/>
          <p:cNvSpPr txBox="1">
            <a:spLocks/>
          </p:cNvSpPr>
          <p:nvPr/>
        </p:nvSpPr>
        <p:spPr>
          <a:xfrm>
            <a:off x="1559859" y="1057835"/>
            <a:ext cx="8732822" cy="5204337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kern="0" dirty="0">
                <a:latin typeface="Cambria Math" pitchFamily="18" charset="0"/>
                <a:ea typeface="Cambria Math" pitchFamily="18" charset="0"/>
              </a:rPr>
              <a:t>	= 	 (24k</a:t>
            </a:r>
            <a:r>
              <a:rPr lang="en-US" sz="2400" kern="0" baseline="30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2400" kern="0" dirty="0">
                <a:latin typeface="Cambria Math" pitchFamily="18" charset="0"/>
                <a:ea typeface="Cambria Math" pitchFamily="18" charset="0"/>
              </a:rPr>
              <a:t>-22k+3)</a:t>
            </a:r>
          </a:p>
          <a:p>
            <a:pPr>
              <a:lnSpc>
                <a:spcPct val="150000"/>
              </a:lnSpc>
            </a:pPr>
            <a:endParaRPr lang="en-US" sz="2400" kern="0" dirty="0">
              <a:latin typeface="Cambria Math" pitchFamily="18" charset="0"/>
              <a:ea typeface="Cambria Math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kern="0" dirty="0">
                <a:latin typeface="Cambria Math" pitchFamily="18" charset="0"/>
                <a:ea typeface="Cambria Math" pitchFamily="18" charset="0"/>
              </a:rPr>
              <a:t>	</a:t>
            </a:r>
          </a:p>
          <a:p>
            <a:pPr>
              <a:lnSpc>
                <a:spcPct val="150000"/>
              </a:lnSpc>
            </a:pPr>
            <a:r>
              <a:rPr lang="en-US" sz="2400" kern="0" dirty="0">
                <a:latin typeface="Cambria Math" pitchFamily="18" charset="0"/>
                <a:ea typeface="Cambria Math" pitchFamily="18" charset="0"/>
              </a:rPr>
              <a:t>	=  24 	       k</a:t>
            </a:r>
            <a:r>
              <a:rPr lang="en-US" sz="2400" kern="0" baseline="30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2400" kern="0" dirty="0">
                <a:latin typeface="Cambria Math" pitchFamily="18" charset="0"/>
                <a:ea typeface="Cambria Math" pitchFamily="18" charset="0"/>
              </a:rPr>
              <a:t> – 22	 k + 3	     1</a:t>
            </a:r>
          </a:p>
          <a:p>
            <a:pPr>
              <a:lnSpc>
                <a:spcPct val="150000"/>
              </a:lnSpc>
            </a:pPr>
            <a:endParaRPr lang="en-US" sz="2400" kern="0" dirty="0">
              <a:latin typeface="Cambria Math" pitchFamily="18" charset="0"/>
              <a:ea typeface="Cambria Math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kern="0" dirty="0">
                <a:latin typeface="Cambria Math" pitchFamily="18" charset="0"/>
                <a:ea typeface="Cambria Math" pitchFamily="18" charset="0"/>
              </a:rPr>
              <a:t>	= 24 (n(n+1)(2n+1))/6 – 22 (n(n+1)) / 2 + 3 n</a:t>
            </a:r>
          </a:p>
          <a:p>
            <a:pPr>
              <a:lnSpc>
                <a:spcPct val="150000"/>
              </a:lnSpc>
            </a:pPr>
            <a:r>
              <a:rPr lang="en-US" sz="2400" kern="0" dirty="0">
                <a:latin typeface="Cambria Math" pitchFamily="18" charset="0"/>
                <a:ea typeface="Cambria Math" pitchFamily="18" charset="0"/>
              </a:rPr>
              <a:t>	=  4n (2n</a:t>
            </a:r>
            <a:r>
              <a:rPr lang="en-US" sz="2400" kern="0" baseline="30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2400" kern="0" dirty="0">
                <a:latin typeface="Cambria Math" pitchFamily="18" charset="0"/>
                <a:ea typeface="Cambria Math" pitchFamily="18" charset="0"/>
              </a:rPr>
              <a:t> + 3n + 1)  - 11 (n</a:t>
            </a:r>
            <a:r>
              <a:rPr lang="en-US" sz="2400" kern="0" baseline="30000" dirty="0">
                <a:latin typeface="Cambria Math" pitchFamily="18" charset="0"/>
                <a:ea typeface="Cambria Math" pitchFamily="18" charset="0"/>
              </a:rPr>
              <a:t>2 </a:t>
            </a:r>
            <a:r>
              <a:rPr lang="en-US" sz="2400" kern="0" dirty="0">
                <a:latin typeface="Cambria Math" pitchFamily="18" charset="0"/>
                <a:ea typeface="Cambria Math" pitchFamily="18" charset="0"/>
              </a:rPr>
              <a:t> + n) + 3n</a:t>
            </a:r>
          </a:p>
          <a:p>
            <a:pPr>
              <a:lnSpc>
                <a:spcPct val="150000"/>
              </a:lnSpc>
            </a:pPr>
            <a:r>
              <a:rPr lang="en-US" sz="2400" kern="0" dirty="0">
                <a:latin typeface="Cambria Math" pitchFamily="18" charset="0"/>
                <a:ea typeface="Cambria Math" pitchFamily="18" charset="0"/>
              </a:rPr>
              <a:t>	= 8n</a:t>
            </a:r>
            <a:r>
              <a:rPr lang="en-US" sz="2400" kern="0" baseline="30000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sz="2400" kern="0" dirty="0">
                <a:latin typeface="Cambria Math" pitchFamily="18" charset="0"/>
                <a:ea typeface="Cambria Math" pitchFamily="18" charset="0"/>
              </a:rPr>
              <a:t> + 12n</a:t>
            </a:r>
            <a:r>
              <a:rPr lang="en-US" sz="2400" kern="0" baseline="30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2400" kern="0" dirty="0">
                <a:latin typeface="Cambria Math" pitchFamily="18" charset="0"/>
                <a:ea typeface="Cambria Math" pitchFamily="18" charset="0"/>
              </a:rPr>
              <a:t> + 4n - 11n</a:t>
            </a:r>
            <a:r>
              <a:rPr lang="en-US" sz="2400" kern="0" baseline="30000" dirty="0">
                <a:latin typeface="Cambria Math" pitchFamily="18" charset="0"/>
                <a:ea typeface="Cambria Math" pitchFamily="18" charset="0"/>
              </a:rPr>
              <a:t>2 </a:t>
            </a:r>
            <a:r>
              <a:rPr lang="en-US" sz="2400" kern="0" dirty="0">
                <a:latin typeface="Cambria Math" pitchFamily="18" charset="0"/>
                <a:ea typeface="Cambria Math" pitchFamily="18" charset="0"/>
              </a:rPr>
              <a:t> - 11n + 3n</a:t>
            </a:r>
          </a:p>
          <a:p>
            <a:pPr>
              <a:lnSpc>
                <a:spcPct val="150000"/>
              </a:lnSpc>
            </a:pPr>
            <a:r>
              <a:rPr lang="en-US" sz="2400" kern="0" dirty="0">
                <a:latin typeface="Cambria Math" pitchFamily="18" charset="0"/>
                <a:ea typeface="Cambria Math" pitchFamily="18" charset="0"/>
              </a:rPr>
              <a:t>	</a:t>
            </a:r>
            <a:r>
              <a:rPr lang="en-US" sz="2400" kern="0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</a:rPr>
              <a:t>= 8n</a:t>
            </a:r>
            <a:r>
              <a:rPr lang="en-US" sz="2400" kern="0" baseline="30000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sz="2400" kern="0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</a:rPr>
              <a:t> + n</a:t>
            </a:r>
            <a:r>
              <a:rPr lang="en-US" sz="2400" kern="0" baseline="30000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2400" kern="0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</a:rPr>
              <a:t> - 4n</a:t>
            </a:r>
          </a:p>
        </p:txBody>
      </p:sp>
      <p:pic>
        <p:nvPicPr>
          <p:cNvPr id="9" name="Picture 8" descr="sum5.png"/>
          <p:cNvPicPr>
            <a:picLocks noChangeAspect="1"/>
          </p:cNvPicPr>
          <p:nvPr/>
        </p:nvPicPr>
        <p:blipFill>
          <a:blip r:embed="rId3" cstate="print">
            <a:biLevel thresh="75000"/>
          </a:blip>
          <a:stretch>
            <a:fillRect/>
          </a:stretch>
        </p:blipFill>
        <p:spPr>
          <a:xfrm>
            <a:off x="2931460" y="1031689"/>
            <a:ext cx="552527" cy="895475"/>
          </a:xfrm>
          <a:prstGeom prst="rect">
            <a:avLst/>
          </a:prstGeom>
        </p:spPr>
      </p:pic>
      <p:pic>
        <p:nvPicPr>
          <p:cNvPr id="10" name="Picture 9" descr="sum4.png"/>
          <p:cNvPicPr>
            <a:picLocks noChangeAspect="1"/>
          </p:cNvPicPr>
          <p:nvPr/>
        </p:nvPicPr>
        <p:blipFill>
          <a:blip r:embed="rId4" cstate="print">
            <a:biLevel thresh="75000"/>
          </a:blip>
          <a:stretch>
            <a:fillRect/>
          </a:stretch>
        </p:blipFill>
        <p:spPr>
          <a:xfrm>
            <a:off x="1465602" y="923863"/>
            <a:ext cx="914528" cy="895475"/>
          </a:xfrm>
          <a:prstGeom prst="rect">
            <a:avLst/>
          </a:prstGeom>
        </p:spPr>
      </p:pic>
      <p:pic>
        <p:nvPicPr>
          <p:cNvPr id="11" name="Picture 10" descr="sum5.png"/>
          <p:cNvPicPr>
            <a:picLocks noChangeAspect="1"/>
          </p:cNvPicPr>
          <p:nvPr/>
        </p:nvPicPr>
        <p:blipFill>
          <a:blip r:embed="rId3" cstate="print">
            <a:biLevel thresh="75000"/>
          </a:blip>
          <a:stretch>
            <a:fillRect/>
          </a:stretch>
        </p:blipFill>
        <p:spPr>
          <a:xfrm>
            <a:off x="3325907" y="2679240"/>
            <a:ext cx="552527" cy="895475"/>
          </a:xfrm>
          <a:prstGeom prst="rect">
            <a:avLst/>
          </a:prstGeom>
        </p:spPr>
      </p:pic>
      <p:pic>
        <p:nvPicPr>
          <p:cNvPr id="12" name="Picture 11" descr="sum5.png"/>
          <p:cNvPicPr>
            <a:picLocks noChangeAspect="1"/>
          </p:cNvPicPr>
          <p:nvPr/>
        </p:nvPicPr>
        <p:blipFill>
          <a:blip r:embed="rId3" cstate="print">
            <a:biLevel thresh="75000"/>
          </a:blip>
          <a:stretch>
            <a:fillRect/>
          </a:stretch>
        </p:blipFill>
        <p:spPr>
          <a:xfrm>
            <a:off x="4825254" y="2679240"/>
            <a:ext cx="552527" cy="895475"/>
          </a:xfrm>
          <a:prstGeom prst="rect">
            <a:avLst/>
          </a:prstGeom>
        </p:spPr>
      </p:pic>
      <p:pic>
        <p:nvPicPr>
          <p:cNvPr id="13" name="Picture 12" descr="sum5.png"/>
          <p:cNvPicPr>
            <a:picLocks noChangeAspect="1"/>
          </p:cNvPicPr>
          <p:nvPr/>
        </p:nvPicPr>
        <p:blipFill>
          <a:blip r:embed="rId3" cstate="print">
            <a:biLevel thresh="75000"/>
          </a:blip>
          <a:stretch>
            <a:fillRect/>
          </a:stretch>
        </p:blipFill>
        <p:spPr>
          <a:xfrm>
            <a:off x="6059620" y="2679240"/>
            <a:ext cx="552527" cy="895475"/>
          </a:xfrm>
          <a:prstGeom prst="rect">
            <a:avLst/>
          </a:prstGeom>
        </p:spPr>
      </p:pic>
      <p:pic>
        <p:nvPicPr>
          <p:cNvPr id="14" name="Picture 13" descr="sum4.png">
            <a:extLst>
              <a:ext uri="{FF2B5EF4-FFF2-40B4-BE49-F238E27FC236}">
                <a16:creationId xmlns:a16="http://schemas.microsoft.com/office/drawing/2014/main" id="{5832E20E-991B-420B-97D5-C9689729118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biLevel thresh="75000"/>
          </a:blip>
          <a:stretch>
            <a:fillRect/>
          </a:stretch>
        </p:blipFill>
        <p:spPr>
          <a:xfrm>
            <a:off x="1559859" y="5352427"/>
            <a:ext cx="914528" cy="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114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Google Shape;406;p42">
            <a:extLst>
              <a:ext uri="{FF2B5EF4-FFF2-40B4-BE49-F238E27FC236}">
                <a16:creationId xmlns:a16="http://schemas.microsoft.com/office/drawing/2014/main" id="{4D3C1C96-02B9-48A2-ADD7-5D307B53034F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838200" y="376518"/>
            <a:ext cx="10515600" cy="722037"/>
          </a:xfrm>
        </p:spPr>
        <p:txBody>
          <a:bodyPr/>
          <a:lstStyle/>
          <a:p>
            <a:pPr algn="ctr" eaLnBrk="1" hangingPunct="1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ts val="3200"/>
              <a:buFont typeface="Bookman Old Style" panose="02050604050505020204" pitchFamily="18" charset="0"/>
              <a:buNone/>
            </a:pPr>
            <a:r>
              <a:rPr lang="en-US" altLang="en-US" sz="3200" b="1" u="sng" dirty="0">
                <a:solidFill>
                  <a:srgbClr val="0070C0"/>
                </a:solidFill>
                <a:latin typeface="Bookman Old Style" panose="02050604050505020204" pitchFamily="18" charset="0"/>
                <a:cs typeface="Arial" panose="020B0604020202020204" pitchFamily="34" charset="0"/>
                <a:sym typeface="Bookman Old Style" panose="02050604050505020204" pitchFamily="18" charset="0"/>
              </a:rPr>
              <a:t>RECURRENCE RELATION</a:t>
            </a:r>
            <a:endParaRPr lang="en-US" altLang="en-US" sz="3200" dirty="0">
              <a:solidFill>
                <a:srgbClr val="464653"/>
              </a:solidFill>
              <a:latin typeface="Bookman Old Style" panose="02050604050505020204" pitchFamily="18" charset="0"/>
              <a:cs typeface="Arial" panose="020B0604020202020204" pitchFamily="34" charset="0"/>
              <a:sym typeface="Bookman Old Style" panose="02050604050505020204" pitchFamily="18" charset="0"/>
            </a:endParaRPr>
          </a:p>
        </p:txBody>
      </p:sp>
      <p:sp>
        <p:nvSpPr>
          <p:cNvPr id="407" name="Google Shape;407;p42">
            <a:extLst>
              <a:ext uri="{FF2B5EF4-FFF2-40B4-BE49-F238E27FC236}">
                <a16:creationId xmlns:a16="http://schemas.microsoft.com/office/drawing/2014/main" id="{ADCF59EE-3435-4502-9ED9-BF8AC984FB6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499129"/>
            <a:ext cx="9829800" cy="385974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SzPts val="1976"/>
              <a:buNone/>
              <a:defRPr/>
            </a:pP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A 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recurrence relation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for a sequence 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a</a:t>
            </a:r>
            <a:r>
              <a:rPr lang="en-US" sz="2400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0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, a</a:t>
            </a:r>
            <a:r>
              <a:rPr lang="en-US" sz="2400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1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, a</a:t>
            </a:r>
            <a:r>
              <a:rPr lang="en-US" sz="2400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2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, . . .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, is a formula that relates each term </a:t>
            </a:r>
            <a:r>
              <a:rPr lang="en-US" sz="2400" dirty="0" err="1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a</a:t>
            </a:r>
            <a:r>
              <a:rPr lang="en-US" sz="2400" baseline="-25000" dirty="0" err="1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k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to certain of its 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predecessors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a</a:t>
            </a:r>
            <a:r>
              <a:rPr lang="en-US" sz="2400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k-1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, a</a:t>
            </a:r>
            <a:r>
              <a:rPr lang="en-US" sz="2400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k-2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, . . . , </a:t>
            </a:r>
            <a:r>
              <a:rPr lang="en-US" sz="2400" dirty="0" err="1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a</a:t>
            </a:r>
            <a:r>
              <a:rPr lang="en-US" sz="2400" baseline="-25000" dirty="0" err="1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k-i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, where </a:t>
            </a:r>
            <a:r>
              <a:rPr lang="en-US" sz="2400" dirty="0" err="1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i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is a fixed integer and 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k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is any integer greater than or equal to </a:t>
            </a:r>
            <a:r>
              <a:rPr lang="en-US" sz="2400" dirty="0" err="1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i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. </a:t>
            </a:r>
            <a:endParaRPr sz="24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125476" indent="0">
              <a:lnSpc>
                <a:spcPct val="150000"/>
              </a:lnSpc>
              <a:buClr>
                <a:schemeClr val="accent1"/>
              </a:buClr>
              <a:buSzPts val="1976"/>
              <a:buNone/>
              <a:defRPr/>
            </a:pPr>
            <a:endParaRPr sz="24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lnSpc>
                <a:spcPct val="150000"/>
              </a:lnSpc>
              <a:buClr>
                <a:schemeClr val="accent1"/>
              </a:buClr>
              <a:buSzPts val="1976"/>
              <a:buNone/>
              <a:defRPr/>
            </a:pP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The 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initial conditions 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for such a 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recurrence relation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specify the values of </a:t>
            </a:r>
            <a:b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</a:b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			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a</a:t>
            </a:r>
            <a:r>
              <a:rPr lang="en-US" sz="2400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0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, a</a:t>
            </a:r>
            <a:r>
              <a:rPr lang="en-US" sz="2400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1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, a</a:t>
            </a:r>
            <a:r>
              <a:rPr lang="en-US" sz="2400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2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, . . . , a</a:t>
            </a:r>
            <a:r>
              <a:rPr lang="en-US" sz="2400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i-1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.</a:t>
            </a:r>
            <a:endParaRPr sz="24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125476" indent="0">
              <a:lnSpc>
                <a:spcPct val="150000"/>
              </a:lnSpc>
              <a:buClr>
                <a:schemeClr val="accent1"/>
              </a:buClr>
              <a:buSzPts val="1976"/>
              <a:buNone/>
              <a:defRPr/>
            </a:pPr>
            <a:endParaRPr sz="24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Google Shape;412;p43">
            <a:extLst>
              <a:ext uri="{FF2B5EF4-FFF2-40B4-BE49-F238E27FC236}">
                <a16:creationId xmlns:a16="http://schemas.microsoft.com/office/drawing/2014/main" id="{907D2F71-8F3E-4695-8884-E919133A04EF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578941" y="0"/>
            <a:ext cx="10515600" cy="722036"/>
          </a:xfrm>
        </p:spPr>
        <p:txBody>
          <a:bodyPr/>
          <a:lstStyle/>
          <a:p>
            <a:pPr algn="ctr" eaLnBrk="1" hangingPunct="1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ts val="3200"/>
              <a:buFont typeface="Bookman Old Style" panose="02050604050505020204" pitchFamily="18" charset="0"/>
              <a:buNone/>
            </a:pPr>
            <a:r>
              <a:rPr lang="en-US" altLang="en-US" sz="3200" b="1" u="sng" dirty="0">
                <a:solidFill>
                  <a:srgbClr val="0070C0"/>
                </a:solidFill>
                <a:cs typeface="Arial" panose="020B0604020202020204" pitchFamily="34" charset="0"/>
                <a:sym typeface="Bookman Old Style" panose="02050604050505020204" pitchFamily="18" charset="0"/>
              </a:rPr>
              <a:t>EXAMPLE</a:t>
            </a:r>
            <a:endParaRPr lang="en-US" altLang="en-US" sz="3200" dirty="0">
              <a:solidFill>
                <a:srgbClr val="464653"/>
              </a:solidFill>
              <a:cs typeface="Arial" panose="020B0604020202020204" pitchFamily="34" charset="0"/>
              <a:sym typeface="Bookman Old Style" panose="02050604050505020204" pitchFamily="18" charset="0"/>
            </a:endParaRPr>
          </a:p>
        </p:txBody>
      </p:sp>
      <p:sp>
        <p:nvSpPr>
          <p:cNvPr id="413" name="Google Shape;413;p43">
            <a:extLst>
              <a:ext uri="{FF2B5EF4-FFF2-40B4-BE49-F238E27FC236}">
                <a16:creationId xmlns:a16="http://schemas.microsoft.com/office/drawing/2014/main" id="{580B7688-32FF-476E-BD66-DE6C2DF986DF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>
          <a:xfrm>
            <a:off x="1179575" y="722036"/>
            <a:ext cx="9914965" cy="6767976"/>
          </a:xfrm>
        </p:spPr>
        <p:txBody>
          <a:bodyPr>
            <a:noAutofit/>
          </a:bodyPr>
          <a:lstStyle/>
          <a:p>
            <a:pPr marL="0" inden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r>
              <a:rPr lang="en-US" altLang="en-US" sz="2400" dirty="0">
                <a:cs typeface="Gill Sans" charset="0"/>
                <a:sym typeface="Gill Sans" charset="0"/>
              </a:rPr>
              <a:t>Let {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a</a:t>
            </a:r>
            <a:r>
              <a:rPr lang="en-US" altLang="en-US" sz="2400" baseline="-25000" dirty="0">
                <a:solidFill>
                  <a:srgbClr val="C00000"/>
                </a:solidFill>
                <a:cs typeface="Gill Sans" charset="0"/>
                <a:sym typeface="Gill Sans" charset="0"/>
              </a:rPr>
              <a:t>n</a:t>
            </a:r>
            <a:r>
              <a:rPr lang="en-US" altLang="en-US" sz="2400" dirty="0">
                <a:cs typeface="Gill Sans" charset="0"/>
                <a:sym typeface="Gill Sans" charset="0"/>
              </a:rPr>
              <a:t>} be a sequence that satisfies the recurrence relation </a:t>
            </a:r>
            <a:r>
              <a:rPr lang="en-US" altLang="en-US" sz="2400" b="1" dirty="0">
                <a:solidFill>
                  <a:srgbClr val="C00000"/>
                </a:solidFill>
                <a:cs typeface="Gill Sans" charset="0"/>
                <a:sym typeface="Gill Sans" charset="0"/>
              </a:rPr>
              <a:t>a</a:t>
            </a:r>
            <a:r>
              <a:rPr lang="en-US" altLang="en-US" sz="2400" b="1" baseline="-25000" dirty="0">
                <a:solidFill>
                  <a:srgbClr val="C00000"/>
                </a:solidFill>
                <a:cs typeface="Gill Sans" charset="0"/>
                <a:sym typeface="Gill Sans" charset="0"/>
              </a:rPr>
              <a:t>n</a:t>
            </a:r>
            <a:r>
              <a:rPr lang="en-US" altLang="en-US" sz="2400" b="1" dirty="0">
                <a:solidFill>
                  <a:srgbClr val="C00000"/>
                </a:solidFill>
                <a:cs typeface="Gill Sans" charset="0"/>
                <a:sym typeface="Gill Sans" charset="0"/>
              </a:rPr>
              <a:t> = a</a:t>
            </a:r>
            <a:r>
              <a:rPr lang="en-US" altLang="en-US" sz="2400" b="1" baseline="-25000" dirty="0">
                <a:solidFill>
                  <a:srgbClr val="C00000"/>
                </a:solidFill>
                <a:cs typeface="Gill Sans" charset="0"/>
                <a:sym typeface="Gill Sans" charset="0"/>
              </a:rPr>
              <a:t>n-1</a:t>
            </a:r>
            <a:r>
              <a:rPr lang="en-US" altLang="en-US" sz="2400" b="1" dirty="0">
                <a:solidFill>
                  <a:srgbClr val="C00000"/>
                </a:solidFill>
                <a:cs typeface="Gill Sans" charset="0"/>
                <a:sym typeface="Gill Sans" charset="0"/>
              </a:rPr>
              <a:t> +3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 </a:t>
            </a:r>
            <a:r>
              <a:rPr lang="en-US" altLang="en-US" sz="2400" dirty="0">
                <a:cs typeface="Gill Sans" charset="0"/>
                <a:sym typeface="Gill Sans" charset="0"/>
              </a:rPr>
              <a:t>for n = 1, 2, 3, …, and suppose that</a:t>
            </a:r>
          </a:p>
          <a:p>
            <a:pPr marL="0" indent="0"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r>
              <a:rPr lang="en-US" altLang="en-US" sz="2400" dirty="0">
                <a:cs typeface="Gill Sans" charset="0"/>
                <a:sym typeface="Gill Sans" charset="0"/>
              </a:rPr>
              <a:t>			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 </a:t>
            </a:r>
            <a:r>
              <a:rPr lang="en-US" altLang="en-US" sz="2400" b="1" dirty="0">
                <a:solidFill>
                  <a:srgbClr val="C00000"/>
                </a:solidFill>
                <a:cs typeface="Gill Sans" charset="0"/>
                <a:sym typeface="Gill Sans" charset="0"/>
              </a:rPr>
              <a:t>a</a:t>
            </a:r>
            <a:r>
              <a:rPr lang="en-US" altLang="en-US" sz="2400" b="1" baseline="-25000" dirty="0">
                <a:solidFill>
                  <a:srgbClr val="C00000"/>
                </a:solidFill>
                <a:cs typeface="Gill Sans" charset="0"/>
                <a:sym typeface="Gill Sans" charset="0"/>
              </a:rPr>
              <a:t>0</a:t>
            </a:r>
            <a:r>
              <a:rPr lang="en-US" altLang="en-US" sz="2400" b="1" dirty="0">
                <a:solidFill>
                  <a:srgbClr val="C00000"/>
                </a:solidFill>
                <a:cs typeface="Gill Sans" charset="0"/>
                <a:sym typeface="Gill Sans" charset="0"/>
              </a:rPr>
              <a:t> = 2</a:t>
            </a:r>
            <a:r>
              <a:rPr lang="en-US" altLang="en-US" sz="2400" b="1" dirty="0">
                <a:cs typeface="Gill Sans" charset="0"/>
                <a:sym typeface="Gill Sans" charset="0"/>
              </a:rPr>
              <a:t>.</a:t>
            </a:r>
            <a:r>
              <a:rPr lang="en-US" altLang="en-US" sz="2400" dirty="0">
                <a:cs typeface="Gill Sans" charset="0"/>
                <a:sym typeface="Gill Sans" charset="0"/>
              </a:rPr>
              <a:t> What are </a:t>
            </a:r>
            <a:r>
              <a:rPr lang="en-US" altLang="en-US" sz="2400" b="1" dirty="0">
                <a:solidFill>
                  <a:srgbClr val="C00000"/>
                </a:solidFill>
                <a:cs typeface="Gill Sans" charset="0"/>
                <a:sym typeface="Gill Sans" charset="0"/>
              </a:rPr>
              <a:t>a</a:t>
            </a:r>
            <a:r>
              <a:rPr lang="en-US" altLang="en-US" sz="2400" b="1" baseline="-25000" dirty="0">
                <a:solidFill>
                  <a:srgbClr val="C00000"/>
                </a:solidFill>
                <a:cs typeface="Gill Sans" charset="0"/>
                <a:sym typeface="Gill Sans" charset="0"/>
              </a:rPr>
              <a:t>1</a:t>
            </a:r>
            <a:r>
              <a:rPr lang="en-US" altLang="en-US" sz="2400" b="1" dirty="0">
                <a:solidFill>
                  <a:srgbClr val="C00000"/>
                </a:solidFill>
                <a:cs typeface="Gill Sans" charset="0"/>
                <a:sym typeface="Gill Sans" charset="0"/>
              </a:rPr>
              <a:t> , a</a:t>
            </a:r>
            <a:r>
              <a:rPr lang="en-US" altLang="en-US" sz="2400" b="1" baseline="-25000" dirty="0">
                <a:solidFill>
                  <a:srgbClr val="C00000"/>
                </a:solidFill>
                <a:cs typeface="Gill Sans" charset="0"/>
                <a:sym typeface="Gill Sans" charset="0"/>
              </a:rPr>
              <a:t>2</a:t>
            </a:r>
            <a:r>
              <a:rPr lang="en-US" altLang="en-US" sz="2400" b="1" dirty="0">
                <a:solidFill>
                  <a:srgbClr val="C00000"/>
                </a:solidFill>
                <a:cs typeface="Gill Sans" charset="0"/>
                <a:sym typeface="Gill Sans" charset="0"/>
              </a:rPr>
              <a:t> , a</a:t>
            </a:r>
            <a:r>
              <a:rPr lang="en-US" altLang="en-US" sz="2400" b="1" baseline="-25000" dirty="0">
                <a:solidFill>
                  <a:srgbClr val="C00000"/>
                </a:solidFill>
                <a:cs typeface="Gill Sans" charset="0"/>
                <a:sym typeface="Gill Sans" charset="0"/>
              </a:rPr>
              <a:t>3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 </a:t>
            </a:r>
            <a:r>
              <a:rPr lang="en-US" altLang="en-US" sz="2400" dirty="0">
                <a:cs typeface="Gill Sans" charset="0"/>
                <a:sym typeface="Gill Sans" charset="0"/>
              </a:rPr>
              <a:t>?</a:t>
            </a:r>
          </a:p>
          <a:p>
            <a:pPr marL="0" indent="0"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r>
              <a:rPr lang="en-US" altLang="en-US" sz="2400" b="1" dirty="0">
                <a:solidFill>
                  <a:srgbClr val="C00000"/>
                </a:solidFill>
                <a:cs typeface="Gill Sans" charset="0"/>
                <a:sym typeface="Gill Sans" charset="0"/>
              </a:rPr>
              <a:t>Solution:</a:t>
            </a:r>
            <a:endParaRPr lang="en-US" altLang="en-US" sz="2400" dirty="0">
              <a:cs typeface="Gill Sans" charset="0"/>
              <a:sym typeface="Gill Sans" charset="0"/>
            </a:endParaRPr>
          </a:p>
          <a:p>
            <a:pPr marL="0" indent="0"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			 </a:t>
            </a:r>
            <a:r>
              <a:rPr lang="en-US" altLang="en-US" sz="2400" dirty="0">
                <a:cs typeface="Gill Sans" charset="0"/>
                <a:sym typeface="Gill Sans" charset="0"/>
              </a:rPr>
              <a:t>a</a:t>
            </a:r>
            <a:r>
              <a:rPr lang="en-US" altLang="en-US" sz="2400" baseline="-25000" dirty="0">
                <a:cs typeface="Gill Sans" charset="0"/>
                <a:sym typeface="Gill Sans" charset="0"/>
              </a:rPr>
              <a:t>n</a:t>
            </a:r>
            <a:r>
              <a:rPr lang="en-US" altLang="en-US" sz="2400" dirty="0">
                <a:cs typeface="Gill Sans" charset="0"/>
                <a:sym typeface="Gill Sans" charset="0"/>
              </a:rPr>
              <a:t> = a</a:t>
            </a:r>
            <a:r>
              <a:rPr lang="en-US" altLang="en-US" sz="2400" baseline="-25000" dirty="0">
                <a:cs typeface="Gill Sans" charset="0"/>
                <a:sym typeface="Gill Sans" charset="0"/>
              </a:rPr>
              <a:t>n-1</a:t>
            </a:r>
            <a:r>
              <a:rPr lang="en-US" altLang="en-US" sz="2400" dirty="0">
                <a:cs typeface="Gill Sans" charset="0"/>
                <a:sym typeface="Gill Sans" charset="0"/>
              </a:rPr>
              <a:t> +3</a:t>
            </a:r>
          </a:p>
          <a:p>
            <a:pPr marL="0" indent="0"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	                            a</a:t>
            </a:r>
            <a:r>
              <a:rPr lang="en-US" altLang="en-US" sz="2400" baseline="-25000" dirty="0">
                <a:solidFill>
                  <a:srgbClr val="C00000"/>
                </a:solidFill>
                <a:cs typeface="Gill Sans" charset="0"/>
                <a:sym typeface="Gill Sans" charset="0"/>
              </a:rPr>
              <a:t>1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 = a</a:t>
            </a:r>
            <a:r>
              <a:rPr lang="en-US" altLang="en-US" sz="2400" baseline="-25000" dirty="0">
                <a:solidFill>
                  <a:srgbClr val="C00000"/>
                </a:solidFill>
                <a:cs typeface="Gill Sans" charset="0"/>
                <a:sym typeface="Gill Sans" charset="0"/>
              </a:rPr>
              <a:t>0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 +3</a:t>
            </a:r>
            <a:endParaRPr lang="en-US" altLang="en-US" sz="2400" dirty="0">
              <a:cs typeface="Gill Sans" charset="0"/>
              <a:sym typeface="Gill Sans" charset="0"/>
            </a:endParaRPr>
          </a:p>
          <a:p>
            <a:pPr marL="0" indent="0"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                              	 a</a:t>
            </a:r>
            <a:r>
              <a:rPr lang="en-US" altLang="en-US" sz="2400" baseline="-25000" dirty="0">
                <a:solidFill>
                  <a:srgbClr val="C00000"/>
                </a:solidFill>
                <a:cs typeface="Gill Sans" charset="0"/>
                <a:sym typeface="Gill Sans" charset="0"/>
              </a:rPr>
              <a:t>1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 = 2 +3 = 5</a:t>
            </a:r>
          </a:p>
          <a:p>
            <a:pPr marL="0" indent="0"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r>
              <a:rPr lang="pt-BR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			</a:t>
            </a:r>
          </a:p>
          <a:p>
            <a:pPr marL="0" indent="0"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r>
              <a:rPr lang="pt-BR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			a</a:t>
            </a:r>
            <a:r>
              <a:rPr lang="pt-BR" sz="2400" baseline="-250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2</a:t>
            </a:r>
            <a:r>
              <a:rPr lang="pt-BR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= a</a:t>
            </a:r>
            <a:r>
              <a:rPr lang="pt-BR" sz="2400" baseline="-250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1</a:t>
            </a:r>
            <a:r>
              <a:rPr lang="pt-BR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+3 </a:t>
            </a:r>
          </a:p>
          <a:p>
            <a:pPr marL="0" indent="0"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r>
              <a:rPr lang="pt-BR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			</a:t>
            </a:r>
            <a:r>
              <a:rPr lang="pt-BR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a</a:t>
            </a:r>
            <a:r>
              <a:rPr lang="pt-BR" sz="2400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2</a:t>
            </a:r>
            <a:r>
              <a:rPr lang="pt-BR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= 5 +3 = 8</a:t>
            </a:r>
            <a:endParaRPr lang="pt-BR" sz="24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r>
              <a:rPr lang="pt-BR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					</a:t>
            </a:r>
          </a:p>
          <a:p>
            <a:pPr marL="0" indent="0"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r>
              <a:rPr lang="pt-BR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			a</a:t>
            </a:r>
            <a:r>
              <a:rPr lang="pt-BR" sz="2400" baseline="-250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3</a:t>
            </a:r>
            <a:r>
              <a:rPr lang="pt-BR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= a</a:t>
            </a:r>
            <a:r>
              <a:rPr lang="pt-BR" sz="2400" baseline="-250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2</a:t>
            </a:r>
            <a:r>
              <a:rPr lang="pt-BR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+3 </a:t>
            </a:r>
          </a:p>
          <a:p>
            <a:pPr marL="0" indent="0"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r>
              <a:rPr lang="pt-BR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			</a:t>
            </a:r>
            <a:r>
              <a:rPr lang="pt-BR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a</a:t>
            </a:r>
            <a:r>
              <a:rPr lang="pt-BR" sz="2400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3</a:t>
            </a:r>
            <a:r>
              <a:rPr lang="pt-BR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= 8 +3 = 11</a:t>
            </a:r>
          </a:p>
          <a:p>
            <a:pPr marL="0" indent="0"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endParaRPr lang="en-US" altLang="en-US" sz="2400" dirty="0">
              <a:solidFill>
                <a:srgbClr val="C00000"/>
              </a:solidFill>
              <a:cs typeface="Gill Sans" charset="0"/>
              <a:sym typeface="Gill Sans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Google Shape;424;p45">
            <a:extLst>
              <a:ext uri="{FF2B5EF4-FFF2-40B4-BE49-F238E27FC236}">
                <a16:creationId xmlns:a16="http://schemas.microsoft.com/office/drawing/2014/main" id="{1DEEA2EF-5EED-4E8B-A8DB-72436AEDA9E3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493776" y="123079"/>
            <a:ext cx="10515600" cy="804768"/>
          </a:xfrm>
        </p:spPr>
        <p:txBody>
          <a:bodyPr/>
          <a:lstStyle/>
          <a:p>
            <a:pPr algn="ctr" eaLnBrk="1" hangingPunct="1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ts val="3200"/>
              <a:buFont typeface="Bookman Old Style" panose="02050604050505020204" pitchFamily="18" charset="0"/>
              <a:buNone/>
            </a:pPr>
            <a:r>
              <a:rPr lang="en-US" altLang="en-US" sz="3200" b="1" u="sng" dirty="0">
                <a:solidFill>
                  <a:srgbClr val="0070C0"/>
                </a:solidFill>
                <a:cs typeface="Arial" panose="020B0604020202020204" pitchFamily="34" charset="0"/>
                <a:sym typeface="Bookman Old Style" panose="02050604050505020204" pitchFamily="18" charset="0"/>
              </a:rPr>
              <a:t>EXAMPLE … </a:t>
            </a:r>
            <a:r>
              <a:rPr lang="en-US" altLang="en-US" sz="3200" b="1" u="sng" dirty="0">
                <a:solidFill>
                  <a:srgbClr val="00B050"/>
                </a:solidFill>
                <a:cs typeface="Arial" panose="020B0604020202020204" pitchFamily="34" charset="0"/>
                <a:sym typeface="Bookman Old Style" panose="02050604050505020204" pitchFamily="18" charset="0"/>
              </a:rPr>
              <a:t>Do it Yourself</a:t>
            </a:r>
            <a:endParaRPr lang="en-US" altLang="en-US" sz="3200" dirty="0">
              <a:solidFill>
                <a:srgbClr val="00B050"/>
              </a:solidFill>
              <a:cs typeface="Arial" panose="020B0604020202020204" pitchFamily="34" charset="0"/>
              <a:sym typeface="Bookman Old Style" panose="02050604050505020204" pitchFamily="18" charset="0"/>
            </a:endParaRPr>
          </a:p>
        </p:txBody>
      </p:sp>
      <p:sp>
        <p:nvSpPr>
          <p:cNvPr id="425" name="Google Shape;425;p45">
            <a:extLst>
              <a:ext uri="{FF2B5EF4-FFF2-40B4-BE49-F238E27FC236}">
                <a16:creationId xmlns:a16="http://schemas.microsoft.com/office/drawing/2014/main" id="{CFD1F975-11C1-47F7-95BA-8A71303020B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085446" y="1106328"/>
            <a:ext cx="9829800" cy="5496178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Clr>
                <a:schemeClr val="accent1"/>
              </a:buClr>
              <a:buSzPts val="1976"/>
              <a:buNone/>
              <a:defRPr/>
            </a:pP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Let {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a</a:t>
            </a:r>
            <a:r>
              <a:rPr lang="en-US" sz="2400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n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} be a sequence that satisfies the recurrence relation </a:t>
            </a:r>
            <a:r>
              <a:rPr lang="en-US" sz="2400" b="1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a</a:t>
            </a:r>
            <a:r>
              <a:rPr lang="en-US" sz="2400" b="1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n</a:t>
            </a:r>
            <a:r>
              <a:rPr lang="en-US" sz="2400" b="1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= a</a:t>
            </a:r>
            <a:r>
              <a:rPr lang="en-US" sz="2400" b="1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n-1</a:t>
            </a:r>
            <a:r>
              <a:rPr lang="en-US" sz="2400" b="1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- a</a:t>
            </a:r>
            <a:r>
              <a:rPr lang="en-US" sz="2400" b="1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n-2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for n = 2, 3, 4, … and suppose that</a:t>
            </a:r>
            <a:endParaRPr sz="24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	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a</a:t>
            </a:r>
            <a:r>
              <a:rPr lang="en-US" sz="2400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0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= 3 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and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a</a:t>
            </a:r>
            <a:r>
              <a:rPr lang="en-US" sz="2400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1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= 5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. What are 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a</a:t>
            </a:r>
            <a:r>
              <a:rPr lang="en-US" sz="2400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2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, a</a:t>
            </a:r>
            <a:r>
              <a:rPr lang="en-US" sz="2400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3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?</a:t>
            </a:r>
            <a:endParaRPr sz="24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endParaRPr sz="2400" dirty="0">
              <a:solidFill>
                <a:srgbClr val="C00000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r>
              <a:rPr lang="en-US" sz="2400" b="1" dirty="0">
                <a:solidFill>
                  <a:srgbClr val="0070C0"/>
                </a:solidFill>
                <a:ea typeface="Bookman Old Style"/>
                <a:cs typeface="Bookman Old Style"/>
                <a:sym typeface="Bookman Old Style"/>
              </a:rPr>
              <a:t>Solution:</a:t>
            </a:r>
            <a:endParaRPr sz="24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				</a:t>
            </a:r>
            <a:endParaRPr sz="2400" dirty="0">
              <a:solidFill>
                <a:srgbClr val="C00000"/>
              </a:solidFill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Google Shape;436;p47">
            <a:extLst>
              <a:ext uri="{FF2B5EF4-FFF2-40B4-BE49-F238E27FC236}">
                <a16:creationId xmlns:a16="http://schemas.microsoft.com/office/drawing/2014/main" id="{393A5884-2477-4890-911D-00DCD31772AE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565494" y="24844"/>
            <a:ext cx="10515600" cy="722037"/>
          </a:xfrm>
        </p:spPr>
        <p:txBody>
          <a:bodyPr/>
          <a:lstStyle/>
          <a:p>
            <a:pPr algn="ctr" eaLnBrk="1" hangingPunct="1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ts val="3200"/>
              <a:buFont typeface="Bookman Old Style" panose="02050604050505020204" pitchFamily="18" charset="0"/>
              <a:buNone/>
            </a:pPr>
            <a:r>
              <a:rPr lang="en-US" altLang="en-US" sz="3200" b="1" u="sng" dirty="0">
                <a:solidFill>
                  <a:srgbClr val="0070C0"/>
                </a:solidFill>
                <a:cs typeface="Arial" panose="020B0604020202020204" pitchFamily="34" charset="0"/>
                <a:sym typeface="Bookman Old Style" panose="02050604050505020204" pitchFamily="18" charset="0"/>
              </a:rPr>
              <a:t>EXAMPLE</a:t>
            </a:r>
            <a:endParaRPr lang="en-US" altLang="en-US" sz="3200" dirty="0">
              <a:solidFill>
                <a:srgbClr val="464653"/>
              </a:solidFill>
              <a:cs typeface="Arial" panose="020B0604020202020204" pitchFamily="34" charset="0"/>
              <a:sym typeface="Bookman Old Style" panose="02050604050505020204" pitchFamily="18" charset="0"/>
            </a:endParaRPr>
          </a:p>
        </p:txBody>
      </p:sp>
      <p:sp>
        <p:nvSpPr>
          <p:cNvPr id="437" name="Google Shape;437;p47">
            <a:extLst>
              <a:ext uri="{FF2B5EF4-FFF2-40B4-BE49-F238E27FC236}">
                <a16:creationId xmlns:a16="http://schemas.microsoft.com/office/drawing/2014/main" id="{25164F55-B7E4-406F-B254-88B8C658750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990959" y="746881"/>
            <a:ext cx="9968394" cy="5963201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SzPts val="1976"/>
              <a:buNone/>
              <a:defRPr/>
            </a:pP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Determine whether the sequence {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a</a:t>
            </a:r>
            <a:r>
              <a:rPr lang="en-US" sz="2400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n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}, where 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a</a:t>
            </a:r>
            <a:r>
              <a:rPr lang="en-US" sz="2400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n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= 3n 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for every nonnegative integer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n, 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is a </a:t>
            </a:r>
            <a:r>
              <a:rPr lang="en-US" sz="2400" b="1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solution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of the </a:t>
            </a:r>
            <a:r>
              <a:rPr lang="en-US" sz="2400" b="1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recurrence relation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that satisfies the recurrence relation </a:t>
            </a:r>
            <a:r>
              <a:rPr lang="en-US" sz="2400" b="1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a</a:t>
            </a:r>
            <a:r>
              <a:rPr lang="en-US" sz="2400" b="1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n</a:t>
            </a:r>
            <a:r>
              <a:rPr lang="en-US" sz="2400" b="1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= 2a</a:t>
            </a:r>
            <a:r>
              <a:rPr lang="en-US" sz="2400" b="1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n-1</a:t>
            </a:r>
            <a:r>
              <a:rPr lang="en-US" sz="2400" b="1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- a</a:t>
            </a:r>
            <a:r>
              <a:rPr lang="en-US" sz="2400" b="1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n-2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for n = 2, 3, 4, …</a:t>
            </a:r>
            <a:endParaRPr sz="24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r>
              <a:rPr lang="en-US" sz="2400" b="1" dirty="0">
                <a:solidFill>
                  <a:srgbClr val="0070C0"/>
                </a:solidFill>
                <a:ea typeface="Bookman Old Style"/>
                <a:cs typeface="Bookman Old Style"/>
                <a:sym typeface="Bookman Old Style"/>
              </a:rPr>
              <a:t>Solution:</a:t>
            </a:r>
            <a:endParaRPr sz="24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	Suppose that 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a</a:t>
            </a:r>
            <a:r>
              <a:rPr lang="en-US" sz="2400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n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= 3n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for every nonnegative integer n.</a:t>
            </a: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			 </a:t>
            </a:r>
            <a:r>
              <a:rPr lang="en-US" sz="2400" b="1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a</a:t>
            </a:r>
            <a:r>
              <a:rPr lang="en-US" sz="2400" b="1" baseline="-250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n</a:t>
            </a:r>
            <a:r>
              <a:rPr lang="en-US" sz="2400" b="1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= 2a</a:t>
            </a:r>
            <a:r>
              <a:rPr lang="en-US" sz="2400" b="1" baseline="-250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n-1</a:t>
            </a:r>
            <a:r>
              <a:rPr lang="en-US" sz="2400" b="1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- a</a:t>
            </a:r>
            <a:r>
              <a:rPr lang="en-US" sz="2400" b="1" baseline="-250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n-2</a:t>
            </a:r>
            <a:r>
              <a:rPr lang="en-US" sz="2400" b="1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 </a:t>
            </a:r>
            <a:endParaRPr sz="24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buClr>
                <a:schemeClr val="accent1"/>
              </a:buClr>
              <a:buSzPts val="1672"/>
              <a:buNone/>
              <a:defRPr/>
            </a:pP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	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So, </a:t>
            </a:r>
            <a:endParaRPr sz="24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buClr>
                <a:schemeClr val="accent1"/>
              </a:buClr>
              <a:buSzPts val="1672"/>
              <a:buNone/>
              <a:defRPr/>
            </a:pP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		a</a:t>
            </a:r>
            <a:r>
              <a:rPr lang="en-US" sz="2400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n-1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= 3(n-1)		</a:t>
            </a:r>
            <a:r>
              <a:rPr lang="en-US" sz="2400" dirty="0">
                <a:ea typeface="Gill Sans"/>
                <a:cs typeface="Gill Sans"/>
                <a:sym typeface="Gill Sans"/>
              </a:rPr>
              <a:t>and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		a</a:t>
            </a:r>
            <a:r>
              <a:rPr lang="en-US" sz="2400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n-2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= 3(n-2)</a:t>
            </a:r>
          </a:p>
          <a:p>
            <a:pPr marL="0" indent="0">
              <a:spcBef>
                <a:spcPts val="0"/>
              </a:spcBef>
              <a:buClr>
                <a:schemeClr val="accent1"/>
              </a:buClr>
              <a:buSzPts val="1976"/>
              <a:buNone/>
              <a:defRPr/>
            </a:pP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		</a:t>
            </a:r>
          </a:p>
          <a:p>
            <a:pPr marL="0" indent="0">
              <a:spcBef>
                <a:spcPts val="0"/>
              </a:spcBef>
              <a:buClr>
                <a:schemeClr val="accent1"/>
              </a:buClr>
              <a:buSzPts val="1976"/>
              <a:buNone/>
              <a:defRPr/>
            </a:pP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		a</a:t>
            </a:r>
            <a:r>
              <a:rPr lang="en-US" sz="2400" baseline="-250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n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= 2a</a:t>
            </a:r>
            <a:r>
              <a:rPr lang="en-US" sz="2400" baseline="-250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n-1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– a</a:t>
            </a:r>
            <a:r>
              <a:rPr lang="en-US" sz="2400" baseline="-250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n-2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 </a:t>
            </a: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		a</a:t>
            </a:r>
            <a:r>
              <a:rPr lang="en-US" sz="2400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n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= 2(3(n – 1)) – 3(n – 2) </a:t>
            </a:r>
            <a:endParaRPr lang="en-US" sz="24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		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a</a:t>
            </a:r>
            <a:r>
              <a:rPr lang="en-US" sz="2400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n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= 2(3n – 3) – 3n + 6</a:t>
            </a:r>
            <a:endParaRPr lang="en-US" sz="24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		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a</a:t>
            </a:r>
            <a:r>
              <a:rPr lang="en-US" sz="2400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n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= 6n – 6 – 3n + 6</a:t>
            </a:r>
            <a:endParaRPr lang="en-US" sz="24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		a</a:t>
            </a:r>
            <a:r>
              <a:rPr lang="en-US" sz="2400" baseline="-250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n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= 3n</a:t>
            </a:r>
          </a:p>
          <a:p>
            <a:pPr marL="0" indent="0" algn="ctr">
              <a:buClr>
                <a:schemeClr val="accent1"/>
              </a:buClr>
              <a:buSzPts val="1520"/>
              <a:buNone/>
              <a:defRPr/>
            </a:pPr>
            <a:endParaRPr lang="en-US" sz="18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buClr>
                <a:schemeClr val="accent1"/>
              </a:buClr>
              <a:buSzPts val="1520"/>
              <a:buNone/>
              <a:defRPr/>
            </a:pPr>
            <a:r>
              <a:rPr lang="en-US" sz="18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	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So 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a</a:t>
            </a:r>
            <a:r>
              <a:rPr lang="en-US" sz="2400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n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= 3n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is solution of recurrence relation.</a:t>
            </a:r>
            <a:endParaRPr lang="en-US" sz="18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Google Shape;448;p49">
            <a:extLst>
              <a:ext uri="{FF2B5EF4-FFF2-40B4-BE49-F238E27FC236}">
                <a16:creationId xmlns:a16="http://schemas.microsoft.com/office/drawing/2014/main" id="{7C12047F-9278-44E0-B394-9A91C711A094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565494" y="11397"/>
            <a:ext cx="10515600" cy="722037"/>
          </a:xfrm>
        </p:spPr>
        <p:txBody>
          <a:bodyPr/>
          <a:lstStyle/>
          <a:p>
            <a:pPr algn="ctr" eaLnBrk="1" hangingPunct="1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ts val="3200"/>
              <a:buFont typeface="Bookman Old Style" panose="02050604050505020204" pitchFamily="18" charset="0"/>
              <a:buNone/>
            </a:pPr>
            <a:r>
              <a:rPr lang="en-US" altLang="en-US" sz="3200" b="1" u="sng" dirty="0">
                <a:solidFill>
                  <a:srgbClr val="0070C0"/>
                </a:solidFill>
                <a:cs typeface="Arial" panose="020B0604020202020204" pitchFamily="34" charset="0"/>
                <a:sym typeface="Bookman Old Style" panose="02050604050505020204" pitchFamily="18" charset="0"/>
              </a:rPr>
              <a:t>EXAMPLE</a:t>
            </a:r>
            <a:endParaRPr lang="en-US" altLang="en-US" sz="3200" dirty="0">
              <a:solidFill>
                <a:srgbClr val="464653"/>
              </a:solidFill>
              <a:cs typeface="Arial" panose="020B0604020202020204" pitchFamily="34" charset="0"/>
              <a:sym typeface="Bookman Old Style" panose="02050604050505020204" pitchFamily="18" charset="0"/>
            </a:endParaRPr>
          </a:p>
        </p:txBody>
      </p:sp>
      <p:sp>
        <p:nvSpPr>
          <p:cNvPr id="449" name="Google Shape;449;p49">
            <a:extLst>
              <a:ext uri="{FF2B5EF4-FFF2-40B4-BE49-F238E27FC236}">
                <a16:creationId xmlns:a16="http://schemas.microsoft.com/office/drawing/2014/main" id="{614063E1-DE04-49A5-B45A-0EDFD8EB2388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>
          <a:xfrm>
            <a:off x="1179576" y="605117"/>
            <a:ext cx="9829800" cy="6064624"/>
          </a:xfrm>
        </p:spPr>
        <p:txBody>
          <a:bodyPr>
            <a:noAutofit/>
          </a:bodyPr>
          <a:lstStyle/>
          <a:p>
            <a:pPr marL="0" inden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r>
              <a:rPr lang="en-US" altLang="en-US" sz="2400" dirty="0">
                <a:cs typeface="Gill Sans" charset="0"/>
                <a:sym typeface="Gill Sans" charset="0"/>
              </a:rPr>
              <a:t>Determine whether the sequence {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a</a:t>
            </a:r>
            <a:r>
              <a:rPr lang="en-US" altLang="en-US" sz="2400" baseline="-25000" dirty="0">
                <a:solidFill>
                  <a:srgbClr val="C00000"/>
                </a:solidFill>
                <a:cs typeface="Gill Sans" charset="0"/>
                <a:sym typeface="Gill Sans" charset="0"/>
              </a:rPr>
              <a:t>n</a:t>
            </a:r>
            <a:r>
              <a:rPr lang="en-US" altLang="en-US" sz="2400" dirty="0">
                <a:cs typeface="Gill Sans" charset="0"/>
                <a:sym typeface="Gill Sans" charset="0"/>
              </a:rPr>
              <a:t>}, where 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a</a:t>
            </a:r>
            <a:r>
              <a:rPr lang="en-US" altLang="en-US" sz="2400" baseline="-25000" dirty="0">
                <a:solidFill>
                  <a:srgbClr val="C00000"/>
                </a:solidFill>
                <a:cs typeface="Gill Sans" charset="0"/>
                <a:sym typeface="Gill Sans" charset="0"/>
              </a:rPr>
              <a:t>n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 = 2</a:t>
            </a:r>
            <a:r>
              <a:rPr lang="en-US" altLang="en-US" sz="2400" baseline="30000" dirty="0">
                <a:solidFill>
                  <a:srgbClr val="C00000"/>
                </a:solidFill>
                <a:cs typeface="Gill Sans" charset="0"/>
                <a:sym typeface="Gill Sans" charset="0"/>
              </a:rPr>
              <a:t>n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 </a:t>
            </a:r>
            <a:r>
              <a:rPr lang="en-US" altLang="en-US" sz="2400" dirty="0">
                <a:cs typeface="Gill Sans" charset="0"/>
                <a:sym typeface="Gill Sans" charset="0"/>
              </a:rPr>
              <a:t>for every nonnegative integer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 n, </a:t>
            </a:r>
            <a:r>
              <a:rPr lang="en-US" altLang="en-US" sz="2400" dirty="0">
                <a:cs typeface="Gill Sans" charset="0"/>
                <a:sym typeface="Gill Sans" charset="0"/>
              </a:rPr>
              <a:t>is a </a:t>
            </a:r>
            <a:r>
              <a:rPr lang="en-US" altLang="en-US" sz="2400" b="1" dirty="0">
                <a:solidFill>
                  <a:srgbClr val="C00000"/>
                </a:solidFill>
                <a:cs typeface="Gill Sans" charset="0"/>
                <a:sym typeface="Gill Sans" charset="0"/>
              </a:rPr>
              <a:t>solution</a:t>
            </a:r>
            <a:r>
              <a:rPr lang="en-US" altLang="en-US" sz="2400" dirty="0">
                <a:cs typeface="Gill Sans" charset="0"/>
                <a:sym typeface="Gill Sans" charset="0"/>
              </a:rPr>
              <a:t> of the </a:t>
            </a:r>
            <a:r>
              <a:rPr lang="en-US" altLang="en-US" sz="2400" b="1" dirty="0">
                <a:solidFill>
                  <a:srgbClr val="C00000"/>
                </a:solidFill>
                <a:cs typeface="Gill Sans" charset="0"/>
                <a:sym typeface="Gill Sans" charset="0"/>
              </a:rPr>
              <a:t>recurrence relation</a:t>
            </a:r>
            <a:r>
              <a:rPr lang="en-US" altLang="en-US" sz="2400" dirty="0">
                <a:cs typeface="Gill Sans" charset="0"/>
                <a:sym typeface="Gill Sans" charset="0"/>
              </a:rPr>
              <a:t> that satisfies the recurrence relation </a:t>
            </a:r>
            <a:r>
              <a:rPr lang="en-US" altLang="en-US" sz="2400" b="1" dirty="0">
                <a:solidFill>
                  <a:srgbClr val="C00000"/>
                </a:solidFill>
                <a:cs typeface="Gill Sans" charset="0"/>
                <a:sym typeface="Gill Sans" charset="0"/>
              </a:rPr>
              <a:t>a</a:t>
            </a:r>
            <a:r>
              <a:rPr lang="en-US" altLang="en-US" sz="2400" b="1" baseline="-25000" dirty="0">
                <a:solidFill>
                  <a:srgbClr val="C00000"/>
                </a:solidFill>
                <a:cs typeface="Gill Sans" charset="0"/>
                <a:sym typeface="Gill Sans" charset="0"/>
              </a:rPr>
              <a:t>n</a:t>
            </a:r>
            <a:r>
              <a:rPr lang="en-US" altLang="en-US" sz="2400" b="1" dirty="0">
                <a:solidFill>
                  <a:srgbClr val="C00000"/>
                </a:solidFill>
                <a:cs typeface="Gill Sans" charset="0"/>
                <a:sym typeface="Gill Sans" charset="0"/>
              </a:rPr>
              <a:t> = 2a</a:t>
            </a:r>
            <a:r>
              <a:rPr lang="en-US" altLang="en-US" sz="2400" b="1" baseline="-25000" dirty="0">
                <a:solidFill>
                  <a:srgbClr val="C00000"/>
                </a:solidFill>
                <a:cs typeface="Gill Sans" charset="0"/>
                <a:sym typeface="Gill Sans" charset="0"/>
              </a:rPr>
              <a:t>n-1</a:t>
            </a:r>
            <a:r>
              <a:rPr lang="en-US" altLang="en-US" sz="2400" b="1" dirty="0">
                <a:solidFill>
                  <a:srgbClr val="C00000"/>
                </a:solidFill>
                <a:cs typeface="Gill Sans" charset="0"/>
                <a:sym typeface="Gill Sans" charset="0"/>
              </a:rPr>
              <a:t> - a</a:t>
            </a:r>
            <a:r>
              <a:rPr lang="en-US" altLang="en-US" sz="2400" b="1" baseline="-25000" dirty="0">
                <a:solidFill>
                  <a:srgbClr val="C00000"/>
                </a:solidFill>
                <a:cs typeface="Gill Sans" charset="0"/>
                <a:sym typeface="Gill Sans" charset="0"/>
              </a:rPr>
              <a:t>n-2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 </a:t>
            </a:r>
            <a:r>
              <a:rPr lang="en-US" altLang="en-US" sz="2400" dirty="0">
                <a:cs typeface="Gill Sans" charset="0"/>
                <a:sym typeface="Gill Sans" charset="0"/>
              </a:rPr>
              <a:t>for n = 2, 3, 4, … 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endParaRPr lang="en-US" altLang="en-US" sz="2400" b="1" dirty="0">
              <a:solidFill>
                <a:srgbClr val="0070C0"/>
              </a:solidFill>
              <a:cs typeface="Arial" panose="020B0604020202020204" pitchFamily="34" charset="0"/>
              <a:sym typeface="Bookman Old Style" panose="02050604050505020204" pitchFamily="18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r>
              <a:rPr lang="en-US" altLang="en-US" sz="2400" b="1" dirty="0">
                <a:solidFill>
                  <a:srgbClr val="0070C0"/>
                </a:solidFill>
                <a:cs typeface="Arial" panose="020B0604020202020204" pitchFamily="34" charset="0"/>
                <a:sym typeface="Bookman Old Style" panose="02050604050505020204" pitchFamily="18" charset="0"/>
              </a:rPr>
              <a:t>Solution:</a:t>
            </a:r>
            <a:endParaRPr lang="en-US" altLang="en-US" sz="2400" dirty="0">
              <a:cs typeface="Gill Sans" charset="0"/>
              <a:sym typeface="Gill Sans" charset="0"/>
            </a:endParaRPr>
          </a:p>
          <a:p>
            <a:pPr marL="0" indent="0"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r>
              <a:rPr lang="en-US" altLang="en-US" sz="2400" dirty="0">
                <a:cs typeface="Gill Sans" charset="0"/>
                <a:sym typeface="Gill Sans" charset="0"/>
              </a:rPr>
              <a:t>	Suppose that 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a</a:t>
            </a:r>
            <a:r>
              <a:rPr lang="en-US" altLang="en-US" sz="2400" baseline="-25000" dirty="0">
                <a:solidFill>
                  <a:srgbClr val="C00000"/>
                </a:solidFill>
                <a:cs typeface="Gill Sans" charset="0"/>
                <a:sym typeface="Gill Sans" charset="0"/>
              </a:rPr>
              <a:t>n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 = 2</a:t>
            </a:r>
            <a:r>
              <a:rPr lang="en-US" altLang="en-US" sz="2400" baseline="30000" dirty="0">
                <a:solidFill>
                  <a:srgbClr val="C00000"/>
                </a:solidFill>
                <a:cs typeface="Gill Sans" charset="0"/>
                <a:sym typeface="Gill Sans" charset="0"/>
              </a:rPr>
              <a:t>n</a:t>
            </a:r>
            <a:r>
              <a:rPr lang="en-US" altLang="en-US" sz="2400" dirty="0">
                <a:cs typeface="Gill Sans" charset="0"/>
                <a:sym typeface="Gill Sans" charset="0"/>
              </a:rPr>
              <a:t> for every nonnegative integer n.</a:t>
            </a:r>
          </a:p>
          <a:p>
            <a:pPr marL="0" indent="0">
              <a:spcAft>
                <a:spcPct val="0"/>
              </a:spcAft>
              <a:buClr>
                <a:schemeClr val="accent1"/>
              </a:buClr>
              <a:buSzPts val="2000"/>
              <a:buNone/>
            </a:pP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			 </a:t>
            </a:r>
            <a:r>
              <a:rPr lang="en-US" altLang="en-US" sz="2400" b="1" dirty="0">
                <a:cs typeface="Gill Sans" charset="0"/>
                <a:sym typeface="Gill Sans" charset="0"/>
              </a:rPr>
              <a:t>a</a:t>
            </a:r>
            <a:r>
              <a:rPr lang="en-US" altLang="en-US" sz="2400" b="1" baseline="-25000" dirty="0">
                <a:cs typeface="Gill Sans" charset="0"/>
                <a:sym typeface="Gill Sans" charset="0"/>
              </a:rPr>
              <a:t>n</a:t>
            </a:r>
            <a:r>
              <a:rPr lang="en-US" altLang="en-US" sz="2400" b="1" dirty="0">
                <a:cs typeface="Gill Sans" charset="0"/>
                <a:sym typeface="Gill Sans" charset="0"/>
              </a:rPr>
              <a:t> = 2a</a:t>
            </a:r>
            <a:r>
              <a:rPr lang="en-US" altLang="en-US" sz="2400" b="1" baseline="-25000" dirty="0">
                <a:cs typeface="Gill Sans" charset="0"/>
                <a:sym typeface="Gill Sans" charset="0"/>
              </a:rPr>
              <a:t>n-1</a:t>
            </a:r>
            <a:r>
              <a:rPr lang="en-US" altLang="en-US" sz="2400" b="1" dirty="0">
                <a:cs typeface="Gill Sans" charset="0"/>
                <a:sym typeface="Gill Sans" charset="0"/>
              </a:rPr>
              <a:t> - a</a:t>
            </a:r>
            <a:r>
              <a:rPr lang="en-US" altLang="en-US" sz="2400" b="1" baseline="-25000" dirty="0">
                <a:cs typeface="Gill Sans" charset="0"/>
                <a:sym typeface="Gill Sans" charset="0"/>
              </a:rPr>
              <a:t>n-2</a:t>
            </a:r>
            <a:r>
              <a:rPr lang="en-US" altLang="en-US" sz="2400" b="1" dirty="0">
                <a:cs typeface="Gill Sans" charset="0"/>
                <a:sym typeface="Gill Sans" charset="0"/>
              </a:rPr>
              <a:t>  </a:t>
            </a:r>
            <a:endParaRPr lang="en-US" altLang="en-US" sz="2400" dirty="0">
              <a:cs typeface="Gill Sans" charset="0"/>
              <a:sym typeface="Gill Sans" charset="0"/>
            </a:endParaRPr>
          </a:p>
          <a:p>
            <a:pPr marL="0" indent="0">
              <a:spcAft>
                <a:spcPct val="0"/>
              </a:spcAft>
              <a:buClr>
                <a:schemeClr val="accent1"/>
              </a:buClr>
              <a:buSzPts val="1700"/>
              <a:buNone/>
            </a:pP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	</a:t>
            </a:r>
            <a:r>
              <a:rPr lang="en-US" altLang="en-US" sz="2400" dirty="0">
                <a:cs typeface="Gill Sans" charset="0"/>
                <a:sym typeface="Gill Sans" charset="0"/>
              </a:rPr>
              <a:t>So, 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		a</a:t>
            </a:r>
            <a:r>
              <a:rPr lang="en-US" altLang="en-US" sz="2400" baseline="-25000" dirty="0">
                <a:solidFill>
                  <a:srgbClr val="C00000"/>
                </a:solidFill>
                <a:cs typeface="Gill Sans" charset="0"/>
                <a:sym typeface="Gill Sans" charset="0"/>
              </a:rPr>
              <a:t>n-1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 = 2</a:t>
            </a:r>
            <a:r>
              <a:rPr lang="en-US" altLang="en-US" sz="2400" baseline="30000" dirty="0">
                <a:solidFill>
                  <a:srgbClr val="C00000"/>
                </a:solidFill>
                <a:cs typeface="Gill Sans" charset="0"/>
                <a:sym typeface="Gill Sans" charset="0"/>
              </a:rPr>
              <a:t>n-1 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 	and		a</a:t>
            </a:r>
            <a:r>
              <a:rPr lang="en-US" altLang="en-US" sz="2400" baseline="-25000" dirty="0">
                <a:solidFill>
                  <a:srgbClr val="C00000"/>
                </a:solidFill>
                <a:cs typeface="Gill Sans" charset="0"/>
                <a:sym typeface="Gill Sans" charset="0"/>
              </a:rPr>
              <a:t>n-2</a:t>
            </a:r>
            <a:r>
              <a:rPr lang="en-US" altLang="en-US" sz="2400" dirty="0">
                <a:solidFill>
                  <a:srgbClr val="C00000"/>
                </a:solidFill>
                <a:cs typeface="Gill Sans" charset="0"/>
                <a:sym typeface="Gill Sans" charset="0"/>
              </a:rPr>
              <a:t> = 2</a:t>
            </a:r>
            <a:r>
              <a:rPr lang="en-US" altLang="en-US" sz="2400" baseline="30000" dirty="0">
                <a:solidFill>
                  <a:srgbClr val="C00000"/>
                </a:solidFill>
                <a:cs typeface="Gill Sans" charset="0"/>
                <a:sym typeface="Gill Sans" charset="0"/>
              </a:rPr>
              <a:t>n-2</a:t>
            </a:r>
          </a:p>
          <a:p>
            <a:pPr marL="0" indent="0">
              <a:spcBef>
                <a:spcPts val="0"/>
              </a:spcBef>
              <a:buClr>
                <a:schemeClr val="accent1"/>
              </a:buClr>
              <a:buSzPts val="1976"/>
              <a:buNone/>
              <a:defRPr/>
            </a:pPr>
            <a:endParaRPr lang="en-US" sz="24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spcBef>
                <a:spcPts val="0"/>
              </a:spcBef>
              <a:buClr>
                <a:schemeClr val="accent1"/>
              </a:buClr>
              <a:buSzPts val="1976"/>
              <a:buNone/>
              <a:defRPr/>
            </a:pP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			a</a:t>
            </a:r>
            <a:r>
              <a:rPr lang="en-US" sz="2400" baseline="-250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n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= 2a</a:t>
            </a:r>
            <a:r>
              <a:rPr lang="en-US" sz="2400" baseline="-250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n-1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– a</a:t>
            </a:r>
            <a:r>
              <a:rPr lang="en-US" sz="2400" baseline="-250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n-2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 </a:t>
            </a: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			a</a:t>
            </a:r>
            <a:r>
              <a:rPr lang="en-US" sz="2400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n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= 2. 2</a:t>
            </a:r>
            <a:r>
              <a:rPr lang="en-US" sz="2400" baseline="30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n-1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–2</a:t>
            </a:r>
            <a:r>
              <a:rPr lang="en-US" sz="2400" baseline="30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n-2</a:t>
            </a:r>
            <a:endParaRPr lang="en-US" sz="24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			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a</a:t>
            </a:r>
            <a:r>
              <a:rPr lang="en-US" sz="2400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n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= 2</a:t>
            </a:r>
            <a:r>
              <a:rPr lang="en-US" sz="2400" baseline="30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n-1+1 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– </a:t>
            </a:r>
            <a:r>
              <a:rPr lang="en-US" sz="2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2</a:t>
            </a:r>
            <a:r>
              <a:rPr lang="en-US" sz="2000" baseline="30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n-2</a:t>
            </a:r>
            <a:endParaRPr lang="en-US" sz="24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			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a</a:t>
            </a:r>
            <a:r>
              <a:rPr lang="en-US" sz="2400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n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= 2</a:t>
            </a:r>
            <a:r>
              <a:rPr lang="en-US" sz="2400" baseline="30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n 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– </a:t>
            </a:r>
            <a:r>
              <a:rPr lang="en-US" sz="2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2</a:t>
            </a:r>
            <a:r>
              <a:rPr lang="en-US" sz="2000" baseline="30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n-2</a:t>
            </a:r>
            <a:endParaRPr lang="en-US" sz="2400" dirty="0">
              <a:solidFill>
                <a:srgbClr val="C00000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buClr>
                <a:schemeClr val="accent1"/>
              </a:buClr>
              <a:buSzPts val="1520"/>
              <a:buNone/>
              <a:defRPr/>
            </a:pPr>
            <a:r>
              <a:rPr lang="en-US" sz="18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	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So 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a</a:t>
            </a:r>
            <a:r>
              <a:rPr lang="en-US" sz="2400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n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= 2</a:t>
            </a:r>
            <a:r>
              <a:rPr lang="en-US" sz="2400" baseline="30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n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is 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not a solution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of recurrence relation</a:t>
            </a:r>
          </a:p>
          <a:p>
            <a:pPr marL="0" indent="0">
              <a:spcAft>
                <a:spcPct val="0"/>
              </a:spcAft>
              <a:buClr>
                <a:schemeClr val="accent1"/>
              </a:buClr>
              <a:buSzPts val="1800"/>
              <a:buNone/>
            </a:pPr>
            <a:endParaRPr lang="en-US" altLang="en-US" sz="2400" b="1" baseline="-25000" dirty="0">
              <a:solidFill>
                <a:srgbClr val="C00000"/>
              </a:solidFill>
              <a:cs typeface="Gill Sans" charset="0"/>
              <a:sym typeface="Gill Sans" charset="0"/>
            </a:endParaRPr>
          </a:p>
          <a:p>
            <a:pPr marL="0" indent="0">
              <a:spcAft>
                <a:spcPct val="0"/>
              </a:spcAft>
              <a:buClr>
                <a:schemeClr val="accent1"/>
              </a:buClr>
              <a:buSzPts val="1700"/>
              <a:buNone/>
            </a:pPr>
            <a:endParaRPr lang="en-US" altLang="en-US" sz="2400" baseline="-25000" dirty="0">
              <a:solidFill>
                <a:srgbClr val="C00000"/>
              </a:solidFill>
              <a:cs typeface="Gill Sans" charset="0"/>
              <a:sym typeface="Gill Sans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Google Shape;460;p51">
            <a:extLst>
              <a:ext uri="{FF2B5EF4-FFF2-40B4-BE49-F238E27FC236}">
                <a16:creationId xmlns:a16="http://schemas.microsoft.com/office/drawing/2014/main" id="{21542132-2967-41A1-B561-8F07144269F6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700861" y="1"/>
            <a:ext cx="10515600" cy="685800"/>
          </a:xfrm>
        </p:spPr>
        <p:txBody>
          <a:bodyPr/>
          <a:lstStyle/>
          <a:p>
            <a:pPr algn="ctr" eaLnBrk="1" hangingPunct="1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ts val="3200"/>
              <a:buFont typeface="Bookman Old Style" panose="02050604050505020204" pitchFamily="18" charset="0"/>
              <a:buNone/>
            </a:pPr>
            <a:r>
              <a:rPr lang="en-US" altLang="en-US" sz="3200" b="1" u="sng" dirty="0">
                <a:solidFill>
                  <a:srgbClr val="0070C0"/>
                </a:solidFill>
                <a:cs typeface="Arial" panose="020B0604020202020204" pitchFamily="34" charset="0"/>
                <a:sym typeface="Bookman Old Style" panose="02050604050505020204" pitchFamily="18" charset="0"/>
              </a:rPr>
              <a:t>EXAMPLE</a:t>
            </a:r>
            <a:endParaRPr lang="en-US" altLang="en-US" sz="3200" dirty="0">
              <a:solidFill>
                <a:srgbClr val="464653"/>
              </a:solidFill>
              <a:cs typeface="Arial" panose="020B0604020202020204" pitchFamily="34" charset="0"/>
              <a:sym typeface="Bookman Old Style" panose="02050604050505020204" pitchFamily="18" charset="0"/>
            </a:endParaRPr>
          </a:p>
        </p:txBody>
      </p:sp>
      <p:sp>
        <p:nvSpPr>
          <p:cNvPr id="461" name="Google Shape;461;p51">
            <a:extLst>
              <a:ext uri="{FF2B5EF4-FFF2-40B4-BE49-F238E27FC236}">
                <a16:creationId xmlns:a16="http://schemas.microsoft.com/office/drawing/2014/main" id="{2D971FFF-A108-46E2-AD33-3BB7C5160BE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756621" y="685800"/>
            <a:ext cx="10734518" cy="6172199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20000"/>
              </a:lnSpc>
              <a:spcBef>
                <a:spcPts val="0"/>
              </a:spcBef>
              <a:buClr>
                <a:schemeClr val="accent1"/>
              </a:buClr>
              <a:buSzPts val="1976"/>
              <a:buNone/>
              <a:defRPr/>
            </a:pPr>
            <a:r>
              <a:rPr lang="en-US" sz="26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Determine whether the sequence {</a:t>
            </a:r>
            <a:r>
              <a:rPr lang="en-US" sz="26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a</a:t>
            </a:r>
            <a:r>
              <a:rPr lang="en-US" sz="2600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n</a:t>
            </a:r>
            <a:r>
              <a:rPr lang="en-US" sz="26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}, where </a:t>
            </a:r>
            <a:r>
              <a:rPr lang="en-US" sz="26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a</a:t>
            </a:r>
            <a:r>
              <a:rPr lang="en-US" sz="2600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n</a:t>
            </a:r>
            <a:r>
              <a:rPr lang="en-US" sz="26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= 5 </a:t>
            </a:r>
            <a:r>
              <a:rPr lang="en-US" sz="26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for every nonnegative integer</a:t>
            </a:r>
            <a:r>
              <a:rPr lang="en-US" sz="26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n, </a:t>
            </a:r>
            <a:r>
              <a:rPr lang="en-US" sz="26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is a </a:t>
            </a:r>
            <a:r>
              <a:rPr lang="en-US" sz="2600" b="1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solution</a:t>
            </a:r>
            <a:r>
              <a:rPr lang="en-US" sz="26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of the </a:t>
            </a:r>
            <a:r>
              <a:rPr lang="en-US" sz="2600" b="1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recurrence relation</a:t>
            </a:r>
            <a:r>
              <a:rPr lang="en-US" sz="26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that satisfies the recurrence relation </a:t>
            </a:r>
            <a:r>
              <a:rPr lang="en-US" sz="2600" b="1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a</a:t>
            </a:r>
            <a:r>
              <a:rPr lang="en-US" sz="2600" b="1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n</a:t>
            </a:r>
            <a:r>
              <a:rPr lang="en-US" sz="2600" b="1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= 2a</a:t>
            </a:r>
            <a:r>
              <a:rPr lang="en-US" sz="2600" b="1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n-</a:t>
            </a:r>
            <a:r>
              <a:rPr lang="en-US" sz="2200" b="1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1</a:t>
            </a:r>
            <a:r>
              <a:rPr lang="en-US" sz="2600" b="1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- a</a:t>
            </a:r>
            <a:r>
              <a:rPr lang="en-US" sz="2600" b="1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n-</a:t>
            </a:r>
            <a:r>
              <a:rPr lang="en-US" sz="2200" b="1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2</a:t>
            </a:r>
            <a:r>
              <a:rPr lang="en-US" sz="26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</a:t>
            </a:r>
            <a:r>
              <a:rPr lang="en-US" sz="26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for n = 2, 3, 4, …</a:t>
            </a:r>
            <a:endParaRPr sz="26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r>
              <a:rPr lang="en-US" sz="26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	</a:t>
            </a:r>
            <a:endParaRPr sz="26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r>
              <a:rPr lang="en-US" sz="2600" b="1" dirty="0">
                <a:solidFill>
                  <a:srgbClr val="0070C0"/>
                </a:solidFill>
                <a:ea typeface="Bookman Old Style"/>
                <a:cs typeface="Bookman Old Style"/>
                <a:sym typeface="Bookman Old Style"/>
              </a:rPr>
              <a:t>Solution:</a:t>
            </a:r>
            <a:endParaRPr sz="26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r>
              <a:rPr lang="en-US" sz="26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	Suppose that </a:t>
            </a:r>
            <a:r>
              <a:rPr lang="en-US" sz="26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a</a:t>
            </a:r>
            <a:r>
              <a:rPr lang="en-US" sz="2600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n</a:t>
            </a:r>
            <a:r>
              <a:rPr lang="en-US" sz="26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= 5</a:t>
            </a:r>
            <a:r>
              <a:rPr lang="en-US" sz="26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for every nonnegative integer n.</a:t>
            </a: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r>
              <a:rPr lang="en-US" sz="26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			 </a:t>
            </a:r>
            <a:r>
              <a:rPr lang="en-US" sz="2600" b="1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a</a:t>
            </a:r>
            <a:r>
              <a:rPr lang="en-US" sz="2600" b="1" baseline="-250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n</a:t>
            </a:r>
            <a:r>
              <a:rPr lang="en-US" sz="2600" b="1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= 2a</a:t>
            </a:r>
            <a:r>
              <a:rPr lang="en-US" sz="2600" b="1" baseline="-250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n-</a:t>
            </a:r>
            <a:r>
              <a:rPr lang="en-US" sz="2200" b="1" baseline="-250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1</a:t>
            </a:r>
            <a:r>
              <a:rPr lang="en-US" sz="2600" b="1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- a</a:t>
            </a:r>
            <a:r>
              <a:rPr lang="en-US" sz="2600" b="1" baseline="-250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n-</a:t>
            </a:r>
            <a:r>
              <a:rPr lang="en-US" sz="2200" b="1" baseline="-250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2</a:t>
            </a:r>
            <a:r>
              <a:rPr lang="en-US" sz="2200" b="1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 </a:t>
            </a:r>
            <a:endParaRPr sz="26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buClr>
                <a:schemeClr val="accent1"/>
              </a:buClr>
              <a:buSzPts val="1672"/>
              <a:buNone/>
              <a:defRPr/>
            </a:pPr>
            <a:r>
              <a:rPr lang="en-US" sz="22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	</a:t>
            </a:r>
            <a:r>
              <a:rPr lang="en-US" sz="26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So, </a:t>
            </a:r>
            <a:r>
              <a:rPr lang="en-US" sz="22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		</a:t>
            </a:r>
            <a:r>
              <a:rPr lang="en-US" sz="26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a</a:t>
            </a:r>
            <a:r>
              <a:rPr lang="en-US" sz="2600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n</a:t>
            </a:r>
            <a:r>
              <a:rPr lang="en-US" sz="2400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-</a:t>
            </a:r>
            <a:r>
              <a:rPr lang="en-US" sz="2200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1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= </a:t>
            </a:r>
            <a:r>
              <a:rPr lang="en-US" sz="22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5 	and  </a:t>
            </a:r>
            <a:r>
              <a:rPr lang="en-US" sz="26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a</a:t>
            </a:r>
            <a:r>
              <a:rPr lang="en-US" sz="2600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n-2</a:t>
            </a:r>
            <a:r>
              <a:rPr lang="en-US" sz="2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</a:t>
            </a:r>
            <a:r>
              <a:rPr lang="en-US" sz="26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= </a:t>
            </a:r>
            <a:r>
              <a:rPr lang="en-US" sz="22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5</a:t>
            </a:r>
          </a:p>
          <a:p>
            <a:pPr marL="0" indent="0">
              <a:spcBef>
                <a:spcPts val="0"/>
              </a:spcBef>
              <a:buClr>
                <a:schemeClr val="accent1"/>
              </a:buClr>
              <a:buSzPts val="1976"/>
              <a:buNone/>
              <a:defRPr/>
            </a:pP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			</a:t>
            </a:r>
          </a:p>
          <a:p>
            <a:pPr marL="0" indent="0">
              <a:spcBef>
                <a:spcPts val="0"/>
              </a:spcBef>
              <a:buClr>
                <a:schemeClr val="accent1"/>
              </a:buClr>
              <a:buSzPts val="1976"/>
              <a:buNone/>
              <a:defRPr/>
            </a:pP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			a</a:t>
            </a:r>
            <a:r>
              <a:rPr lang="en-US" sz="2400" baseline="-250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n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= 2a</a:t>
            </a:r>
            <a:r>
              <a:rPr lang="en-US" sz="2400" baseline="-250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n-1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– a</a:t>
            </a:r>
            <a:r>
              <a:rPr lang="en-US" sz="2400" baseline="-250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n-2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 </a:t>
            </a: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			a</a:t>
            </a:r>
            <a:r>
              <a:rPr lang="en-US" sz="2400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n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= 2 . </a:t>
            </a:r>
            <a:r>
              <a:rPr lang="en-US" sz="2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5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– 5</a:t>
            </a:r>
            <a:endParaRPr lang="en-US" sz="2400" baseline="30000" dirty="0">
              <a:solidFill>
                <a:srgbClr val="C00000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			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a</a:t>
            </a:r>
            <a:r>
              <a:rPr lang="en-US" sz="2400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n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= 10</a:t>
            </a:r>
            <a:r>
              <a:rPr lang="en-US" sz="2400" baseline="30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– 5</a:t>
            </a:r>
            <a:endParaRPr lang="en-US" sz="2000" baseline="30000" dirty="0">
              <a:solidFill>
                <a:srgbClr val="C00000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buClr>
                <a:schemeClr val="accent1"/>
              </a:buClr>
              <a:buSzPts val="1976"/>
              <a:buNone/>
              <a:defRPr/>
            </a:pP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			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a</a:t>
            </a:r>
            <a:r>
              <a:rPr lang="en-US" sz="2400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n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= 5</a:t>
            </a:r>
            <a:endParaRPr lang="en-US" sz="1800" dirty="0">
              <a:solidFill>
                <a:schemeClr val="dk1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buClr>
                <a:schemeClr val="accent1"/>
              </a:buClr>
              <a:buSzPts val="1520"/>
              <a:buNone/>
              <a:defRPr/>
            </a:pPr>
            <a:r>
              <a:rPr lang="en-US" sz="18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	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So 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a</a:t>
            </a:r>
            <a:r>
              <a:rPr lang="en-US" sz="2400" baseline="-250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n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 = 5 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is </a:t>
            </a:r>
            <a:r>
              <a:rPr lang="en-US" sz="2400" dirty="0">
                <a:solidFill>
                  <a:srgbClr val="C00000"/>
                </a:solidFill>
                <a:ea typeface="Gill Sans"/>
                <a:cs typeface="Gill Sans"/>
                <a:sym typeface="Gill Sans"/>
              </a:rPr>
              <a:t>a solution</a:t>
            </a:r>
            <a:r>
              <a:rPr lang="en-US" sz="2400" dirty="0">
                <a:solidFill>
                  <a:schemeClr val="dk1"/>
                </a:solidFill>
                <a:ea typeface="Gill Sans"/>
                <a:cs typeface="Gill Sans"/>
                <a:sym typeface="Gill Sans"/>
              </a:rPr>
              <a:t> of recurrence relation.</a:t>
            </a:r>
          </a:p>
          <a:p>
            <a:pPr marL="0" indent="0">
              <a:buClr>
                <a:schemeClr val="accent1"/>
              </a:buClr>
              <a:buSzPts val="1824"/>
              <a:buNone/>
              <a:defRPr/>
            </a:pPr>
            <a:endParaRPr sz="2200" b="1" baseline="-25000" dirty="0">
              <a:solidFill>
                <a:srgbClr val="C00000"/>
              </a:solidFill>
              <a:ea typeface="Gill Sans"/>
              <a:cs typeface="Gill Sans"/>
              <a:sym typeface="Gill Sans"/>
            </a:endParaRPr>
          </a:p>
          <a:p>
            <a:pPr marL="0" indent="0">
              <a:buClr>
                <a:schemeClr val="accent1"/>
              </a:buClr>
              <a:buSzPts val="1672"/>
              <a:buNone/>
              <a:defRPr/>
            </a:pPr>
            <a:endParaRPr sz="2200" baseline="-25000" dirty="0">
              <a:solidFill>
                <a:srgbClr val="C00000"/>
              </a:solidFill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20C7446-2B0F-63E0-8043-0A3B42392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888521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ambria Math" panose="02040503050406030204" pitchFamily="18" charset="0"/>
                <a:ea typeface="Cambria Math" panose="02040503050406030204" pitchFamily="18" charset="0"/>
              </a:rPr>
              <a:t>Some Useful Sequences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CCEF95-1A36-6FA4-B52B-5E6B9F33D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904" y="1161277"/>
            <a:ext cx="9855106" cy="4713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56899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45DE935-8A5C-9551-E0A1-27E7B326D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972800" cy="802257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ambria Math" panose="02040503050406030204" pitchFamily="18" charset="0"/>
                <a:ea typeface="Cambria Math" panose="02040503050406030204" pitchFamily="18" charset="0"/>
              </a:rPr>
              <a:t>Some Useful Summations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EA2EBC-9DA8-B9CE-FB6C-090825CEE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3685" y="688501"/>
            <a:ext cx="5188496" cy="5846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046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D0C9BAF-1750-A80B-660F-8E3C05694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43796"/>
            <a:ext cx="10515600" cy="5133167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How can we produce the terms of a sequence if the first 10 terms are 1, 2, 2, 3, 3, 3, 4, 4, 4, 4?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How can we produce the terms of a sequence if the first 10 terms are 5, 11, 17, 23, 29, 35, 41, 47, 53, 59?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How can we produce the terms of a sequence if the first 10 terms are 1, 3, 4, 7, 11, 18, 29, 47, 76, 123?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Conjecture a simple formula for an if the first 10 terms of the sequence {an} are 1, 7, 25, 79, 241, 727, 2185, 6559, 19681, 59047.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514350" indent="-514350">
              <a:buFont typeface="+mj-lt"/>
              <a:buAutoNum type="arabicPeriod"/>
            </a:pPr>
            <a:endParaRPr 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4C7E19F-5E37-3B2B-6E9C-CBD23C438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81088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ambria Math" pitchFamily="18" charset="0"/>
                <a:ea typeface="Cambria Math" pitchFamily="18" charset="0"/>
              </a:rPr>
              <a:t>Sequences &amp; Summations … </a:t>
            </a:r>
            <a:r>
              <a:rPr lang="en-US" sz="3600" dirty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</a:rPr>
              <a:t>Exercises</a:t>
            </a:r>
            <a:endParaRPr lang="en-US" sz="4000" dirty="0">
              <a:solidFill>
                <a:srgbClr val="FF0000"/>
              </a:solidFill>
              <a:latin typeface="Cambria Math" pitchFamily="18" charset="0"/>
              <a:ea typeface="Cambria Math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712894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FC48730-FA30-5D20-B39E-28CC6D823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875" y="0"/>
            <a:ext cx="10972800" cy="91440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ambria Math" panose="02040503050406030204" pitchFamily="18" charset="0"/>
                <a:ea typeface="Cambria Math" panose="02040503050406030204" pitchFamily="18" charset="0"/>
              </a:rPr>
              <a:t>Evaluate the Summations … </a:t>
            </a:r>
            <a:r>
              <a:rPr lang="en-US" sz="4000" dirty="0">
                <a:solidFill>
                  <a:srgbClr val="FF006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Exercises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6431FE-AC84-BAFE-5F72-658924D02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346" y="1216324"/>
            <a:ext cx="3162091" cy="4819392"/>
          </a:xfrm>
          <a:prstGeom prst="rect">
            <a:avLst/>
          </a:prstGeom>
          <a:ln w="38100" cap="sq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8035499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FC48730-FA30-5D20-B39E-28CC6D823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875" y="0"/>
            <a:ext cx="10972800" cy="91440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ambria Math" panose="02040503050406030204" pitchFamily="18" charset="0"/>
                <a:ea typeface="Cambria Math" panose="02040503050406030204" pitchFamily="18" charset="0"/>
              </a:rPr>
              <a:t>Evaluate the Summations … </a:t>
            </a:r>
            <a:r>
              <a:rPr lang="en-US" sz="4000" dirty="0">
                <a:solidFill>
                  <a:srgbClr val="FF006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Exercises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A52F9E-6E6C-5A79-D7B0-568CE2A613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747" y="914400"/>
            <a:ext cx="3329977" cy="4333693"/>
          </a:xfrm>
          <a:prstGeom prst="rect">
            <a:avLst/>
          </a:prstGeom>
          <a:ln w="38100" cap="sq">
            <a:solidFill>
              <a:schemeClr val="accent2">
                <a:lumMod val="7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0701730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FC48730-FA30-5D20-B39E-28CC6D823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875" y="0"/>
            <a:ext cx="10972800" cy="91440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ambria Math" panose="02040503050406030204" pitchFamily="18" charset="0"/>
                <a:ea typeface="Cambria Math" panose="02040503050406030204" pitchFamily="18" charset="0"/>
              </a:rPr>
              <a:t>Evaluate the Summations … </a:t>
            </a:r>
            <a:r>
              <a:rPr lang="en-US" sz="4000" dirty="0">
                <a:solidFill>
                  <a:srgbClr val="FF006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Exercises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C98018-4DBE-E4A3-AA77-51A236C56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244" y="914400"/>
            <a:ext cx="3886560" cy="4884820"/>
          </a:xfrm>
          <a:prstGeom prst="rect">
            <a:avLst/>
          </a:prstGeom>
          <a:ln w="38100" cap="sq">
            <a:solidFill>
              <a:srgbClr val="B3159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3544768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FC48730-FA30-5D20-B39E-28CC6D823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875" y="0"/>
            <a:ext cx="10972800" cy="91440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ambria Math" panose="02040503050406030204" pitchFamily="18" charset="0"/>
                <a:ea typeface="Cambria Math" panose="02040503050406030204" pitchFamily="18" charset="0"/>
              </a:rPr>
              <a:t>Evaluate the Summations … </a:t>
            </a:r>
            <a:r>
              <a:rPr lang="en-US" sz="4000" dirty="0">
                <a:solidFill>
                  <a:srgbClr val="FF006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Exercises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6124C6-468A-9036-98F6-C254DB503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038" y="1008301"/>
            <a:ext cx="3738743" cy="4589026"/>
          </a:xfrm>
          <a:prstGeom prst="rect">
            <a:avLst/>
          </a:prstGeom>
          <a:ln w="38100" cap="sq">
            <a:solidFill>
              <a:srgbClr val="0070C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2181376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CD81A2A-6ED4-4EF4-A14C-912D31E148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661932C-CA15-4E17-B115-FAE7CBEE4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8657" y="1"/>
            <a:ext cx="1155142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590ADD5-9383-4D3D-9047-3DA2593CC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8185" y="3423959"/>
            <a:ext cx="540822" cy="540822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Graphic 8" descr="Books">
            <a:extLst>
              <a:ext uri="{FF2B5EF4-FFF2-40B4-BE49-F238E27FC236}">
                <a16:creationId xmlns:a16="http://schemas.microsoft.com/office/drawing/2014/main" id="{15422CC9-DE1C-CDFA-10C5-EC1FEBB1DA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87184" y="1216485"/>
            <a:ext cx="3781051" cy="3781051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</p:spPr>
      </p:pic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DABE3E45-88CF-45D8-8D40-C773324D9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9602" y="1"/>
            <a:ext cx="2066948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9CD1692-827B-4C8D-B4A1-134FD04CF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38745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B91ECDA9-56DC-4270-8F33-01C5637B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7456580" y="5166682"/>
            <a:ext cx="1835725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75F47824-961D-465D-84F9-EAE11BC61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9527" y="6033795"/>
            <a:ext cx="1991064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FEC9DA3E-C1D7-472D-B7C0-F71AE41FB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51696" y="5519196"/>
            <a:ext cx="134030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32344EE1-CFFD-57AA-4D75-9BBE96554682}"/>
              </a:ext>
            </a:extLst>
          </p:cNvPr>
          <p:cNvSpPr txBox="1">
            <a:spLocks/>
          </p:cNvSpPr>
          <p:nvPr/>
        </p:nvSpPr>
        <p:spPr>
          <a:xfrm>
            <a:off x="937909" y="148000"/>
            <a:ext cx="5120640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solidFill>
                  <a:schemeClr val="tx1"/>
                </a:solidFill>
              </a:rPr>
              <a:t>Summary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23425AC-ED1E-40F1-8FF4-F3357609CC0E}"/>
              </a:ext>
            </a:extLst>
          </p:cNvPr>
          <p:cNvSpPr txBox="1">
            <a:spLocks/>
          </p:cNvSpPr>
          <p:nvPr/>
        </p:nvSpPr>
        <p:spPr>
          <a:xfrm>
            <a:off x="684934" y="1317813"/>
            <a:ext cx="6393662" cy="53788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The topics we covered: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Sequence (Definition, Notations, Example)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Arithmetic Progression (Generic Form, Example)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Geometric Progression (Generic Form, Example)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Summation (Computing, Examples)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Properties of Summation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Arithmetic Series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Sum of Series (Arithmetic, Geometric)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Infinite Geometric Series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Important Sums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Recurrence Relation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Practice Questions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PK" sz="2000" dirty="0"/>
          </a:p>
        </p:txBody>
      </p:sp>
    </p:spTree>
    <p:extLst>
      <p:ext uri="{BB962C8B-B14F-4D97-AF65-F5344CB8AC3E}">
        <p14:creationId xmlns:p14="http://schemas.microsoft.com/office/powerpoint/2010/main" val="2062828042"/>
      </p:ext>
    </p:extLst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Shapes">
      <a:dk1>
        <a:sysClr val="windowText" lastClr="000000"/>
      </a:dk1>
      <a:lt1>
        <a:sysClr val="window" lastClr="FFFFFF"/>
      </a:lt1>
      <a:dk2>
        <a:srgbClr val="281B10"/>
      </a:dk2>
      <a:lt2>
        <a:srgbClr val="FFF9F5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E50CBC"/>
      </a:hlink>
      <a:folHlink>
        <a:srgbClr val="6257FF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apesVTI" id="{C78D20FD-A872-4243-8597-B534C62538FF}" vid="{7CAFCCF9-7834-41D6-B6AB-7D225A18A4E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A449C04-64B3-4403-94B7-8D2284C38D1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BDEF148-1770-458F-8F5B-C3D0A278AA97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8413533D-8C39-401E-8B75-B1AEEEC56B9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20238</TotalTime>
  <Words>5637</Words>
  <Application>Microsoft Office PowerPoint</Application>
  <PresentationFormat>Widescreen</PresentationFormat>
  <Paragraphs>646</Paragraphs>
  <Slides>72</Slides>
  <Notes>30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83" baseType="lpstr">
      <vt:lpstr>Arial</vt:lpstr>
      <vt:lpstr>Bookman Old Style</vt:lpstr>
      <vt:lpstr>Calibri</vt:lpstr>
      <vt:lpstr>Cambria</vt:lpstr>
      <vt:lpstr>Cambria Math</vt:lpstr>
      <vt:lpstr>Century Gothic</vt:lpstr>
      <vt:lpstr>Comic Sans MS</vt:lpstr>
      <vt:lpstr>Gill Sans</vt:lpstr>
      <vt:lpstr>Times New Roman</vt:lpstr>
      <vt:lpstr>ShapesVTI</vt:lpstr>
      <vt:lpstr>Equation</vt:lpstr>
      <vt:lpstr>PowerPoint Presentation</vt:lpstr>
      <vt:lpstr>Section No. 2.4   Sequence &amp; Summations</vt:lpstr>
      <vt:lpstr>APPLICATION OF SEQUENCES AND SUMMATIONS</vt:lpstr>
      <vt:lpstr>SEQUENCE</vt:lpstr>
      <vt:lpstr>PowerPoint Presentation</vt:lpstr>
      <vt:lpstr>FORMAL DEFINITION OF SEQUENCE</vt:lpstr>
      <vt:lpstr>FINDING TERMS OF A SEQUENCE GIVEN BY AN EXPLICIT FORMULA</vt:lpstr>
      <vt:lpstr>EXAMPLE</vt:lpstr>
      <vt:lpstr>EXAMPLE</vt:lpstr>
      <vt:lpstr>EXAMPLE</vt:lpstr>
      <vt:lpstr>EXERCISE</vt:lpstr>
      <vt:lpstr>Solution</vt:lpstr>
      <vt:lpstr>Solution</vt:lpstr>
      <vt:lpstr>Solution</vt:lpstr>
      <vt:lpstr>Solution</vt:lpstr>
      <vt:lpstr>ARITHMETIC SEQUENCE</vt:lpstr>
      <vt:lpstr>GENERAL TERM OF AN ARITHMETIC SEQUENCE</vt:lpstr>
      <vt:lpstr>EXAMPLE</vt:lpstr>
      <vt:lpstr>EXAMPLE</vt:lpstr>
      <vt:lpstr>EXERCISE</vt:lpstr>
      <vt:lpstr>PowerPoint Presentation</vt:lpstr>
      <vt:lpstr>GEOMETRIC SEQUENCE</vt:lpstr>
      <vt:lpstr>GENERAL TERM OF A GEOMETRIC SEQUENCE</vt:lpstr>
      <vt:lpstr>EXAMPLE</vt:lpstr>
      <vt:lpstr>PowerPoint Presentation</vt:lpstr>
      <vt:lpstr>PowerPoint Presentation</vt:lpstr>
      <vt:lpstr>PowerPoint Presentation</vt:lpstr>
      <vt:lpstr>SUMMATION</vt:lpstr>
      <vt:lpstr>INTRODUCTION</vt:lpstr>
      <vt:lpstr>COMPUTING SUMMATIONS</vt:lpstr>
      <vt:lpstr>COMPUTING SUMMATIONS</vt:lpstr>
      <vt:lpstr>Example 1</vt:lpstr>
      <vt:lpstr>Example 2</vt:lpstr>
      <vt:lpstr>Example 3</vt:lpstr>
      <vt:lpstr>EXERCISE</vt:lpstr>
      <vt:lpstr>NOTE</vt:lpstr>
      <vt:lpstr>SUMMATION NOTATION TO EXPANDED FORM</vt:lpstr>
      <vt:lpstr>EXPANDED FORM TO SUMMATION NOTATION</vt:lpstr>
      <vt:lpstr>PowerPoint Presentation</vt:lpstr>
      <vt:lpstr>PROPERTIES OF SUMMATIONS</vt:lpstr>
      <vt:lpstr>EXERCISE</vt:lpstr>
      <vt:lpstr>Summation Properties: Exercise …… Do it Yourself</vt:lpstr>
      <vt:lpstr>PowerPoint Presentation</vt:lpstr>
      <vt:lpstr>PowerPoint Presentation</vt:lpstr>
      <vt:lpstr>ARITHMETIC SERIES</vt:lpstr>
      <vt:lpstr>SUM OF n TERMS OF AN ARITHMETIC SERIES</vt:lpstr>
      <vt:lpstr>PowerPoint Presentation</vt:lpstr>
      <vt:lpstr>EXERCISE</vt:lpstr>
      <vt:lpstr>EXERCISE</vt:lpstr>
      <vt:lpstr>PowerPoint Presentation</vt:lpstr>
      <vt:lpstr>GEOMETRIC SERIES</vt:lpstr>
      <vt:lpstr>SUM OF n TERMS OF A GEOMETRIC SERIES</vt:lpstr>
      <vt:lpstr>EXERCISE</vt:lpstr>
      <vt:lpstr>INFINITE GEOMETRIC SERIES</vt:lpstr>
      <vt:lpstr>GEOMETRIC SERIES SUM: EXAMPLE</vt:lpstr>
      <vt:lpstr>IMPORTANT SUMS</vt:lpstr>
      <vt:lpstr>SERIES SUM: EXERCISE</vt:lpstr>
      <vt:lpstr>Series Sum: Example</vt:lpstr>
      <vt:lpstr>RECURRENCE RELATION</vt:lpstr>
      <vt:lpstr>EXAMPLE</vt:lpstr>
      <vt:lpstr>EXAMPLE … Do it Yourself</vt:lpstr>
      <vt:lpstr>EXAMPLE</vt:lpstr>
      <vt:lpstr>EXAMPLE</vt:lpstr>
      <vt:lpstr>EXAMPLE</vt:lpstr>
      <vt:lpstr>Some Useful Sequences</vt:lpstr>
      <vt:lpstr>Some Useful Summations</vt:lpstr>
      <vt:lpstr>Sequences &amp; Summations … Exercises</vt:lpstr>
      <vt:lpstr>Evaluate the Summations … Exercises</vt:lpstr>
      <vt:lpstr>Evaluate the Summations … Exercises</vt:lpstr>
      <vt:lpstr>Evaluate the Summations … Exercises</vt:lpstr>
      <vt:lpstr>Evaluate the Summations … Exercises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CC2031  Digital Logic Design Section – V11</dc:title>
  <dc:creator>IQRA JAVED</dc:creator>
  <cp:lastModifiedBy>IQRA JAVED</cp:lastModifiedBy>
  <cp:revision>161</cp:revision>
  <cp:lastPrinted>2024-03-28T06:21:38Z</cp:lastPrinted>
  <dcterms:created xsi:type="dcterms:W3CDTF">2023-10-03T05:27:31Z</dcterms:created>
  <dcterms:modified xsi:type="dcterms:W3CDTF">2025-05-12T11:19:56Z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