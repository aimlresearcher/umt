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4"/>
  </p:sldMasterIdLst>
  <p:notesMasterIdLst>
    <p:notesMasterId r:id="rId61"/>
  </p:notesMasterIdLst>
  <p:sldIdLst>
    <p:sldId id="3894" r:id="rId5"/>
    <p:sldId id="3885" r:id="rId6"/>
    <p:sldId id="386" r:id="rId7"/>
    <p:sldId id="387" r:id="rId8"/>
    <p:sldId id="389" r:id="rId9"/>
    <p:sldId id="390" r:id="rId10"/>
    <p:sldId id="391" r:id="rId11"/>
    <p:sldId id="393" r:id="rId12"/>
    <p:sldId id="394" r:id="rId13"/>
    <p:sldId id="395" r:id="rId14"/>
    <p:sldId id="3895" r:id="rId15"/>
    <p:sldId id="396" r:id="rId16"/>
    <p:sldId id="397" r:id="rId17"/>
    <p:sldId id="398" r:id="rId18"/>
    <p:sldId id="494" r:id="rId19"/>
    <p:sldId id="495" r:id="rId20"/>
    <p:sldId id="507" r:id="rId21"/>
    <p:sldId id="616" r:id="rId22"/>
    <p:sldId id="617" r:id="rId23"/>
    <p:sldId id="618" r:id="rId24"/>
    <p:sldId id="619" r:id="rId25"/>
    <p:sldId id="620" r:id="rId26"/>
    <p:sldId id="400" r:id="rId27"/>
    <p:sldId id="401" r:id="rId28"/>
    <p:sldId id="402" r:id="rId29"/>
    <p:sldId id="492" r:id="rId30"/>
    <p:sldId id="493" r:id="rId31"/>
    <p:sldId id="403" r:id="rId32"/>
    <p:sldId id="404" r:id="rId33"/>
    <p:sldId id="405" r:id="rId34"/>
    <p:sldId id="406" r:id="rId35"/>
    <p:sldId id="407" r:id="rId36"/>
    <p:sldId id="3896" r:id="rId37"/>
    <p:sldId id="350" r:id="rId38"/>
    <p:sldId id="523" r:id="rId39"/>
    <p:sldId id="526" r:id="rId40"/>
    <p:sldId id="629" r:id="rId41"/>
    <p:sldId id="483" r:id="rId42"/>
    <p:sldId id="474" r:id="rId43"/>
    <p:sldId id="473" r:id="rId44"/>
    <p:sldId id="3897" r:id="rId45"/>
    <p:sldId id="630" r:id="rId46"/>
    <p:sldId id="631" r:id="rId47"/>
    <p:sldId id="632" r:id="rId48"/>
    <p:sldId id="633" r:id="rId49"/>
    <p:sldId id="634" r:id="rId50"/>
    <p:sldId id="637" r:id="rId51"/>
    <p:sldId id="638" r:id="rId52"/>
    <p:sldId id="530" r:id="rId53"/>
    <p:sldId id="622" r:id="rId54"/>
    <p:sldId id="636" r:id="rId55"/>
    <p:sldId id="635" r:id="rId56"/>
    <p:sldId id="639" r:id="rId57"/>
    <p:sldId id="640" r:id="rId58"/>
    <p:sldId id="641" r:id="rId59"/>
    <p:sldId id="3855"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orient="horz" pos="3408" userDrawn="1">
          <p15:clr>
            <a:srgbClr val="A4A3A4"/>
          </p15:clr>
        </p15:guide>
        <p15:guide id="3" pos="6936" userDrawn="1">
          <p15:clr>
            <a:srgbClr val="A4A3A4"/>
          </p15:clr>
        </p15:guide>
        <p15:guide id="4" pos="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0" autoAdjust="0"/>
    <p:restoredTop sz="94660"/>
  </p:normalViewPr>
  <p:slideViewPr>
    <p:cSldViewPr snapToGrid="0">
      <p:cViewPr varScale="1">
        <p:scale>
          <a:sx n="70" d="100"/>
          <a:sy n="70" d="100"/>
        </p:scale>
        <p:origin x="78" y="84"/>
      </p:cViewPr>
      <p:guideLst>
        <p:guide orient="horz" pos="1200"/>
        <p:guide orient="horz" pos="3408"/>
        <p:guide pos="6936"/>
        <p:guide pos="7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8/10/relationships/authors" Target="authors.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7BA811-8917-4F1D-B22F-E96045BFA4E0}" type="datetimeFigureOut">
              <a:rPr lang="en-US" smtClean="0"/>
              <a:t>6/10/2025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C6A29-4676-420C-BBE3-ACC2B80F64D4}" type="slidenum">
              <a:rPr lang="en-US" smtClean="0"/>
              <a:t>‹#›</a:t>
            </a:fld>
            <a:endParaRPr lang="en-US" dirty="0"/>
          </a:p>
        </p:txBody>
      </p:sp>
    </p:spTree>
    <p:extLst>
      <p:ext uri="{BB962C8B-B14F-4D97-AF65-F5344CB8AC3E}">
        <p14:creationId xmlns:p14="http://schemas.microsoft.com/office/powerpoint/2010/main" val="3804597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5093208" y="2743200"/>
            <a:ext cx="6592824" cy="2386584"/>
          </a:xfrm>
        </p:spPr>
        <p:txBody>
          <a:bodyPr anchor="b"/>
          <a:lstStyle>
            <a:lvl1pPr algn="r">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5093208" y="5221224"/>
            <a:ext cx="6592824" cy="99669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010415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813944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7200479" y="1150210"/>
            <a:ext cx="2207046" cy="2204178"/>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8444632" y="2579683"/>
            <a:ext cx="3096807" cy="3096807"/>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Oval 9">
            <a:extLst>
              <a:ext uri="{FF2B5EF4-FFF2-40B4-BE49-F238E27FC236}">
                <a16:creationId xmlns:a16="http://schemas.microsoft.com/office/drawing/2014/main" id="{E8E71C73-7BAD-4838-88C1-42E045A9D179}"/>
              </a:ext>
            </a:extLst>
          </p:cNvPr>
          <p:cNvSpPr/>
          <p:nvPr userDrawn="1"/>
        </p:nvSpPr>
        <p:spPr>
          <a:xfrm>
            <a:off x="10249620" y="1555068"/>
            <a:ext cx="819303" cy="797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userDrawn="1"/>
        </p:nvSpPr>
        <p:spPr>
          <a:xfrm>
            <a:off x="7590089" y="4034393"/>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839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userDrawn="1"/>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9272" y="1380744"/>
            <a:ext cx="5559552" cy="2514600"/>
          </a:xfrm>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85573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179576" y="1911096"/>
            <a:ext cx="98298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5081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38200" y="1911096"/>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8923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2192000" cy="6858000"/>
          </a:xfrm>
        </p:spPr>
        <p:txBody>
          <a:bodyPr/>
          <a:lstStyle>
            <a:lvl1pPr>
              <a:buNone/>
              <a:defRPr>
                <a:solidFill>
                  <a:schemeClr val="bg1"/>
                </a:solidFill>
              </a:defRPr>
            </a:lvl1pPr>
          </a:lstStyle>
          <a:p>
            <a:r>
              <a:rPr lang="en-US"/>
              <a:t>Click icon to add picture</a:t>
            </a:r>
            <a:endParaRPr lang="en-US" dirty="0"/>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3111500" y="370600"/>
            <a:ext cx="5923842" cy="592384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4000">
                <a:solidFill>
                  <a:schemeClr val="tx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575304" y="4379976"/>
            <a:ext cx="5038344" cy="713232"/>
          </a:xfrm>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pPr>
              <a:defRPr/>
            </a:pPr>
            <a:r>
              <a:rPr lang="en-US"/>
              <a:t>9/3/20XX</a:t>
            </a:r>
            <a:endParaRPr lang="en-US" dirty="0"/>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pPr>
              <a:defRPr/>
            </a:pPr>
            <a:r>
              <a:rPr lang="fr-FR"/>
              <a:t>Discrete Structures : Lecture 1-2 by IQRA JAVED</a:t>
            </a:r>
            <a:endParaRPr lang="en-US" dirty="0"/>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a:defRPr/>
            </a:pPr>
            <a:fld id="{D76B855D-E9CC-4FF8-AD85-6CDC7B89A0DE}" type="slidenum">
              <a:rPr lang="en-US" smtClean="0"/>
              <a:pPr>
                <a:defRPr/>
              </a:pPr>
              <a:t>‹#›</a:t>
            </a:fld>
            <a:endParaRPr lang="en-US" dirty="0"/>
          </a:p>
        </p:txBody>
      </p:sp>
    </p:spTree>
    <p:extLst>
      <p:ext uri="{BB962C8B-B14F-4D97-AF65-F5344CB8AC3E}">
        <p14:creationId xmlns:p14="http://schemas.microsoft.com/office/powerpoint/2010/main" val="220328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6906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594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45312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45312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806500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806500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7273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7901259" y="2727729"/>
            <a:ext cx="4290740" cy="4130271"/>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6261609" y="0"/>
            <a:ext cx="3519311" cy="3007909"/>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10" name="Oval 9">
            <a:extLst>
              <a:ext uri="{FF2B5EF4-FFF2-40B4-BE49-F238E27FC236}">
                <a16:creationId xmlns:a16="http://schemas.microsoft.com/office/drawing/2014/main" id="{B7BFFB5A-A05C-4B0C-905C-5884361304B2}"/>
              </a:ext>
            </a:extLst>
          </p:cNvPr>
          <p:cNvSpPr/>
          <p:nvPr userDrawn="1"/>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userDrawn="1"/>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841248" y="365760"/>
            <a:ext cx="5120640" cy="132588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41248" y="1828800"/>
            <a:ext cx="5093208" cy="4352544"/>
          </a:xfrm>
        </p:spPr>
        <p:txBody>
          <a:bodyPr/>
          <a:lstStyle>
            <a:lvl1pPr marL="0" indent="0">
              <a:buNone/>
              <a:defRPr sz="24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413178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userDrawn="1"/>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userDrawn="1"/>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389888" y="1234440"/>
            <a:ext cx="3236976" cy="4069080"/>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665976" y="2551176"/>
            <a:ext cx="4709160" cy="1755648"/>
          </a:xfrm>
        </p:spPr>
        <p:txBody>
          <a:bodyPr/>
          <a:lstStyle>
            <a:lvl1pPr marL="0" indent="0">
              <a:buNone/>
              <a:defRPr sz="2400"/>
            </a:lvl1pPr>
            <a:lvl2pPr marL="228600">
              <a:defRPr sz="1800"/>
            </a:lvl2pPr>
            <a:lvl3pPr marL="457200">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267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648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5405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8628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401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06766865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71" r:id="rId4"/>
    <p:sldLayoutId id="2147483770" r:id="rId5"/>
    <p:sldLayoutId id="2147483774" r:id="rId6"/>
    <p:sldLayoutId id="2147483783" r:id="rId7"/>
    <p:sldLayoutId id="2147483772" r:id="rId8"/>
    <p:sldLayoutId id="2147483773" r:id="rId9"/>
    <p:sldLayoutId id="2147483785" r:id="rId10"/>
    <p:sldLayoutId id="2147483786" r:id="rId11"/>
    <p:sldLayoutId id="2147483787" r:id="rId12"/>
    <p:sldLayoutId id="2147483775" r:id="rId13"/>
    <p:sldLayoutId id="2147483788" r:id="rId14"/>
    <p:sldLayoutId id="2147483776" r:id="rId15"/>
    <p:sldLayoutId id="2147483777" r:id="rId1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9.jpeg"/></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9.jpeg"/></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9.jpeg"/></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9.jpeg"/></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9.jpeg"/></Relationships>
</file>

<file path=ppt/slides/_rels/slide22.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07/relationships/hdphoto" Target="../media/hdphoto1.wdp"/><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9.png"/><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png"/><Relationship Id="rId1" Type="http://schemas.openxmlformats.org/officeDocument/2006/relationships/slideLayout" Target="../slideLayouts/slideLayout5.xml"/><Relationship Id="rId4" Type="http://schemas.openxmlformats.org/officeDocument/2006/relationships/image" Target="../media/image24.e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BB25E70-F951-4043-8895-D1EFDDA97DDE}"/>
              </a:ext>
            </a:extLst>
          </p:cNvPr>
          <p:cNvSpPr txBox="1">
            <a:spLocks/>
          </p:cNvSpPr>
          <p:nvPr/>
        </p:nvSpPr>
        <p:spPr>
          <a:xfrm>
            <a:off x="460375" y="1948069"/>
            <a:ext cx="11594776" cy="4073773"/>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dirty="0">
                <a:solidFill>
                  <a:srgbClr val="C00000"/>
                </a:solidFill>
                <a:latin typeface="Cambria Math" panose="02040503050406030204" pitchFamily="18" charset="0"/>
                <a:ea typeface="Cambria Math" panose="02040503050406030204" pitchFamily="18" charset="0"/>
              </a:rPr>
              <a:t>CC 141 </a:t>
            </a:r>
            <a:br>
              <a:rPr lang="en-US" sz="4800" dirty="0">
                <a:solidFill>
                  <a:srgbClr val="C00000"/>
                </a:solidFill>
                <a:latin typeface="Cambria Math" panose="02040503050406030204" pitchFamily="18" charset="0"/>
                <a:ea typeface="Cambria Math" panose="02040503050406030204" pitchFamily="18" charset="0"/>
              </a:rPr>
            </a:br>
            <a:r>
              <a:rPr lang="en-US" sz="4800" dirty="0">
                <a:solidFill>
                  <a:srgbClr val="C00000"/>
                </a:solidFill>
                <a:latin typeface="Cambria Math" panose="02040503050406030204" pitchFamily="18" charset="0"/>
                <a:ea typeface="Cambria Math" panose="02040503050406030204" pitchFamily="18" charset="0"/>
              </a:rPr>
              <a:t>Discrete Structures</a:t>
            </a:r>
            <a:br>
              <a:rPr lang="en-US" sz="4800" dirty="0">
                <a:solidFill>
                  <a:srgbClr val="C00000"/>
                </a:solidFill>
                <a:latin typeface="Cambria Math" panose="02040503050406030204" pitchFamily="18" charset="0"/>
                <a:ea typeface="Cambria Math" panose="02040503050406030204" pitchFamily="18" charset="0"/>
              </a:rPr>
            </a:br>
            <a:br>
              <a:rPr lang="en-US" dirty="0">
                <a:solidFill>
                  <a:srgbClr val="C00000"/>
                </a:solidFill>
                <a:latin typeface="Cambria Math" panose="02040503050406030204" pitchFamily="18" charset="0"/>
                <a:ea typeface="Cambria Math" panose="02040503050406030204" pitchFamily="18" charset="0"/>
              </a:rPr>
            </a:br>
            <a:r>
              <a:rPr lang="en-US" sz="3200" dirty="0">
                <a:solidFill>
                  <a:schemeClr val="accent5">
                    <a:lumMod val="50000"/>
                  </a:schemeClr>
                </a:solidFill>
                <a:latin typeface="Century Gothic" panose="020B0502020202020204" pitchFamily="34" charset="0"/>
                <a:ea typeface="Cambria Math" panose="02040503050406030204" pitchFamily="18" charset="0"/>
              </a:rPr>
              <a:t>Department of Computer Science</a:t>
            </a:r>
            <a:br>
              <a:rPr lang="en-US" sz="3200" dirty="0">
                <a:solidFill>
                  <a:schemeClr val="accent5">
                    <a:lumMod val="50000"/>
                  </a:schemeClr>
                </a:solidFill>
                <a:latin typeface="Century Gothic" panose="020B0502020202020204" pitchFamily="34" charset="0"/>
                <a:ea typeface="Cambria Math" panose="02040503050406030204" pitchFamily="18" charset="0"/>
              </a:rPr>
            </a:br>
            <a:r>
              <a:rPr lang="en-US" sz="3200" dirty="0">
                <a:solidFill>
                  <a:schemeClr val="accent5">
                    <a:lumMod val="50000"/>
                  </a:schemeClr>
                </a:solidFill>
                <a:latin typeface="Century Gothic" panose="020B0502020202020204" pitchFamily="34" charset="0"/>
                <a:ea typeface="Cambria Math" panose="02040503050406030204" pitchFamily="18" charset="0"/>
              </a:rPr>
              <a:t>School of Systems and Technology</a:t>
            </a:r>
            <a:br>
              <a:rPr lang="en-US" sz="3200" dirty="0">
                <a:solidFill>
                  <a:schemeClr val="accent6">
                    <a:lumMod val="75000"/>
                  </a:schemeClr>
                </a:solidFill>
                <a:latin typeface="Comic Sans MS" panose="030F0702030302020204" pitchFamily="66" charset="0"/>
                <a:ea typeface="Cambria Math" panose="02040503050406030204" pitchFamily="18" charset="0"/>
              </a:rPr>
            </a:br>
            <a:br>
              <a:rPr lang="en-US" sz="3200" dirty="0">
                <a:solidFill>
                  <a:schemeClr val="accent6">
                    <a:lumMod val="75000"/>
                  </a:schemeClr>
                </a:solidFill>
                <a:latin typeface="Comic Sans MS" panose="030F0702030302020204" pitchFamily="66" charset="0"/>
                <a:ea typeface="Cambria Math" panose="02040503050406030204" pitchFamily="18" charset="0"/>
              </a:rPr>
            </a:br>
            <a:r>
              <a:rPr lang="en-US" sz="3200" dirty="0">
                <a:solidFill>
                  <a:schemeClr val="accent6">
                    <a:lumMod val="75000"/>
                  </a:schemeClr>
                </a:solidFill>
                <a:latin typeface="Comic Sans MS" panose="030F0702030302020204" pitchFamily="66" charset="0"/>
                <a:ea typeface="Cambria Math" panose="02040503050406030204" pitchFamily="18" charset="0"/>
              </a:rPr>
              <a:t>University of Management and Technology</a:t>
            </a:r>
            <a:br>
              <a:rPr lang="en-US" sz="3200" dirty="0">
                <a:solidFill>
                  <a:schemeClr val="accent6">
                    <a:lumMod val="75000"/>
                  </a:schemeClr>
                </a:solidFill>
                <a:latin typeface="Comic Sans MS" panose="030F0702030302020204" pitchFamily="66" charset="0"/>
                <a:ea typeface="Cambria Math" panose="02040503050406030204" pitchFamily="18" charset="0"/>
              </a:rPr>
            </a:br>
            <a:r>
              <a:rPr lang="en-US" sz="3200" dirty="0">
                <a:solidFill>
                  <a:schemeClr val="accent6">
                    <a:lumMod val="75000"/>
                  </a:schemeClr>
                </a:solidFill>
                <a:latin typeface="Comic Sans MS" panose="030F0702030302020204" pitchFamily="66" charset="0"/>
                <a:ea typeface="Cambria Math" panose="02040503050406030204" pitchFamily="18" charset="0"/>
              </a:rPr>
              <a:t>Lahore, Pakistan</a:t>
            </a:r>
          </a:p>
        </p:txBody>
      </p:sp>
      <p:pic>
        <p:nvPicPr>
          <p:cNvPr id="6" name="Picture 5">
            <a:extLst>
              <a:ext uri="{FF2B5EF4-FFF2-40B4-BE49-F238E27FC236}">
                <a16:creationId xmlns:a16="http://schemas.microsoft.com/office/drawing/2014/main" id="{C01BB6BA-659C-4C58-A7BC-E779ADA85127}"/>
              </a:ext>
            </a:extLst>
          </p:cNvPr>
          <p:cNvPicPr>
            <a:picLocks noChangeAspect="1"/>
          </p:cNvPicPr>
          <p:nvPr/>
        </p:nvPicPr>
        <p:blipFill>
          <a:blip r:embed="rId2"/>
          <a:stretch>
            <a:fillRect/>
          </a:stretch>
        </p:blipFill>
        <p:spPr>
          <a:xfrm>
            <a:off x="460375" y="223319"/>
            <a:ext cx="2220849" cy="2228277"/>
          </a:xfrm>
          <a:prstGeom prst="rect">
            <a:avLst/>
          </a:prstGeom>
        </p:spPr>
      </p:pic>
    </p:spTree>
    <p:extLst>
      <p:ext uri="{BB962C8B-B14F-4D97-AF65-F5344CB8AC3E}">
        <p14:creationId xmlns:p14="http://schemas.microsoft.com/office/powerpoint/2010/main" val="3815780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22F2B-2D78-EB56-E02E-F61CF209E0F3}"/>
              </a:ext>
            </a:extLst>
          </p:cNvPr>
          <p:cNvSpPr>
            <a:spLocks noGrp="1"/>
          </p:cNvSpPr>
          <p:nvPr>
            <p:ph type="title"/>
          </p:nvPr>
        </p:nvSpPr>
        <p:spPr>
          <a:xfrm>
            <a:off x="3195200" y="2162462"/>
            <a:ext cx="5559552" cy="2533075"/>
          </a:xfrm>
        </p:spPr>
        <p:txBody>
          <a:bodyPr>
            <a:normAutofit fontScale="90000"/>
          </a:bodyPr>
          <a:lstStyle/>
          <a:p>
            <a:r>
              <a:rPr lang="en-US" sz="4800" dirty="0">
                <a:latin typeface="Cambria Math" panose="02040503050406030204" pitchFamily="18" charset="0"/>
                <a:ea typeface="Cambria Math" panose="02040503050406030204" pitchFamily="18" charset="0"/>
              </a:rPr>
              <a:t>Section 6.2</a:t>
            </a:r>
            <a:br>
              <a:rPr lang="en-US" sz="4800"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 </a:t>
            </a:r>
            <a:br>
              <a:rPr lang="en-US"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The Pigeonhole Principle</a:t>
            </a:r>
            <a:endParaRPr lang="en-PK"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787434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776" y="1"/>
            <a:ext cx="10515600" cy="1087162"/>
          </a:xfrm>
        </p:spPr>
        <p:txBody>
          <a:bodyPr>
            <a:normAutofit/>
          </a:bodyPr>
          <a:lstStyle/>
          <a:p>
            <a:pPr algn="ctr"/>
            <a:r>
              <a:rPr lang="en-US" b="1" u="sng" dirty="0">
                <a:solidFill>
                  <a:srgbClr val="0070C0"/>
                </a:solidFill>
              </a:rPr>
              <a:t>THE PIGEONHOLE PRINCIPLE</a:t>
            </a:r>
          </a:p>
        </p:txBody>
      </p:sp>
      <p:sp>
        <p:nvSpPr>
          <p:cNvPr id="4" name="Content Placeholder 3"/>
          <p:cNvSpPr>
            <a:spLocks noGrp="1"/>
          </p:cNvSpPr>
          <p:nvPr>
            <p:ph sz="quarter" idx="1"/>
          </p:nvPr>
        </p:nvSpPr>
        <p:spPr>
          <a:xfrm>
            <a:off x="247650" y="1057931"/>
            <a:ext cx="5848350" cy="4742137"/>
          </a:xfrm>
        </p:spPr>
        <p:txBody>
          <a:bodyPr>
            <a:normAutofit fontScale="92500" lnSpcReduction="10000"/>
          </a:bodyPr>
          <a:lstStyle/>
          <a:p>
            <a:pPr algn="just">
              <a:lnSpc>
                <a:spcPct val="150000"/>
              </a:lnSpc>
            </a:pPr>
            <a:r>
              <a:rPr lang="en-US" dirty="0"/>
              <a:t>Its very </a:t>
            </a:r>
            <a:r>
              <a:rPr lang="en-US" dirty="0">
                <a:solidFill>
                  <a:srgbClr val="FF0000"/>
                </a:solidFill>
              </a:rPr>
              <a:t>useful principle</a:t>
            </a:r>
            <a:r>
              <a:rPr lang="en-US" dirty="0"/>
              <a:t> for many counting problems.</a:t>
            </a:r>
          </a:p>
          <a:p>
            <a:pPr algn="just">
              <a:lnSpc>
                <a:spcPct val="150000"/>
              </a:lnSpc>
            </a:pPr>
            <a:r>
              <a:rPr lang="en-US" dirty="0"/>
              <a:t>Suppose that a flock of </a:t>
            </a:r>
            <a:r>
              <a:rPr lang="en-US" dirty="0">
                <a:solidFill>
                  <a:srgbClr val="FF0000"/>
                </a:solidFill>
              </a:rPr>
              <a:t>10 pigeons flies</a:t>
            </a:r>
            <a:r>
              <a:rPr lang="en-US" dirty="0"/>
              <a:t> into a set of </a:t>
            </a:r>
            <a:r>
              <a:rPr lang="en-US" dirty="0">
                <a:solidFill>
                  <a:srgbClr val="FF0000"/>
                </a:solidFill>
              </a:rPr>
              <a:t>9 pigeonholes</a:t>
            </a:r>
            <a:r>
              <a:rPr lang="en-US" dirty="0"/>
              <a:t> to roost. Because there are 10 pigeons but only 9 pigeonholes, </a:t>
            </a:r>
            <a:r>
              <a:rPr lang="en-US" dirty="0">
                <a:solidFill>
                  <a:srgbClr val="FF0000"/>
                </a:solidFill>
              </a:rPr>
              <a:t>at least one</a:t>
            </a:r>
            <a:r>
              <a:rPr lang="en-US" dirty="0"/>
              <a:t> of these 9 pigeonholes must have </a:t>
            </a:r>
            <a:r>
              <a:rPr lang="en-US" dirty="0">
                <a:solidFill>
                  <a:srgbClr val="FF0000"/>
                </a:solidFill>
              </a:rPr>
              <a:t>at least two</a:t>
            </a:r>
            <a:r>
              <a:rPr lang="en-US" dirty="0"/>
              <a:t> pigeons in it.</a:t>
            </a:r>
          </a:p>
        </p:txBody>
      </p:sp>
      <p:pic>
        <p:nvPicPr>
          <p:cNvPr id="5" name="Picture 4">
            <a:extLst>
              <a:ext uri="{FF2B5EF4-FFF2-40B4-BE49-F238E27FC236}">
                <a16:creationId xmlns:a16="http://schemas.microsoft.com/office/drawing/2014/main" id="{0C191940-0B14-4470-8C16-BF5593DB7693}"/>
              </a:ext>
            </a:extLst>
          </p:cNvPr>
          <p:cNvPicPr>
            <a:picLocks noChangeAspect="1"/>
          </p:cNvPicPr>
          <p:nvPr/>
        </p:nvPicPr>
        <p:blipFill>
          <a:blip r:embed="rId2"/>
          <a:stretch>
            <a:fillRect/>
          </a:stretch>
        </p:blipFill>
        <p:spPr>
          <a:xfrm>
            <a:off x="6499822" y="1365130"/>
            <a:ext cx="5355784" cy="490231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836676" y="844295"/>
            <a:ext cx="11145774" cy="2089405"/>
          </a:xfrm>
        </p:spPr>
        <p:txBody>
          <a:bodyPr>
            <a:normAutofit/>
          </a:bodyPr>
          <a:lstStyle/>
          <a:p>
            <a:pPr marL="0" indent="0">
              <a:lnSpc>
                <a:spcPct val="150000"/>
              </a:lnSpc>
              <a:buNone/>
            </a:pPr>
            <a:r>
              <a:rPr lang="en-US" dirty="0"/>
              <a:t>This illustrates a general principle called the </a:t>
            </a:r>
            <a:r>
              <a:rPr lang="en-US" b="1" dirty="0">
                <a:solidFill>
                  <a:srgbClr val="FF0000"/>
                </a:solidFill>
              </a:rPr>
              <a:t>pigeonhole principle, which states that if there are more pigeons than pigeonholes</a:t>
            </a:r>
            <a:r>
              <a:rPr lang="en-US" b="1" dirty="0"/>
              <a:t>, </a:t>
            </a:r>
            <a:r>
              <a:rPr lang="en-US" dirty="0"/>
              <a:t>then there must be </a:t>
            </a:r>
            <a:r>
              <a:rPr lang="en-US" b="1" dirty="0">
                <a:solidFill>
                  <a:srgbClr val="FF0000"/>
                </a:solidFill>
              </a:rPr>
              <a:t>at least </a:t>
            </a:r>
            <a:r>
              <a:rPr lang="en-US" dirty="0"/>
              <a:t>one pigeonhole with at least two pigeons in it.</a:t>
            </a:r>
          </a:p>
        </p:txBody>
      </p:sp>
      <p:sp>
        <p:nvSpPr>
          <p:cNvPr id="5" name="Title 1">
            <a:extLst>
              <a:ext uri="{FF2B5EF4-FFF2-40B4-BE49-F238E27FC236}">
                <a16:creationId xmlns:a16="http://schemas.microsoft.com/office/drawing/2014/main" id="{62A76F74-AA33-4274-B384-2EC816343407}"/>
              </a:ext>
            </a:extLst>
          </p:cNvPr>
          <p:cNvSpPr txBox="1">
            <a:spLocks/>
          </p:cNvSpPr>
          <p:nvPr/>
        </p:nvSpPr>
        <p:spPr>
          <a:xfrm>
            <a:off x="836676" y="-1561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THE PIGEONHOLE PRINCIPLE</a:t>
            </a:r>
          </a:p>
        </p:txBody>
      </p:sp>
      <p:pic>
        <p:nvPicPr>
          <p:cNvPr id="6" name="Picture 2">
            <a:extLst>
              <a:ext uri="{FF2B5EF4-FFF2-40B4-BE49-F238E27FC236}">
                <a16:creationId xmlns:a16="http://schemas.microsoft.com/office/drawing/2014/main" id="{40995201-AD37-416A-8258-5BD5ED959017}"/>
              </a:ext>
            </a:extLst>
          </p:cNvPr>
          <p:cNvPicPr>
            <a:picLocks noChangeAspect="1" noChangeArrowheads="1"/>
          </p:cNvPicPr>
          <p:nvPr/>
        </p:nvPicPr>
        <p:blipFill>
          <a:blip r:embed="rId2"/>
          <a:srcRect/>
          <a:stretch>
            <a:fillRect/>
          </a:stretch>
        </p:blipFill>
        <p:spPr bwMode="auto">
          <a:xfrm>
            <a:off x="1306141" y="3086101"/>
            <a:ext cx="9576669" cy="375285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446" y="1"/>
            <a:ext cx="10515600" cy="1219200"/>
          </a:xfrm>
        </p:spPr>
        <p:txBody>
          <a:bodyPr>
            <a:normAutofit/>
          </a:bodyPr>
          <a:lstStyle/>
          <a:p>
            <a:pPr algn="ctr"/>
            <a:r>
              <a:rPr lang="en-US" b="1" u="sng" dirty="0">
                <a:solidFill>
                  <a:srgbClr val="0070C0"/>
                </a:solidFill>
              </a:rPr>
              <a:t>REVISION OF FUNCTIONS</a:t>
            </a:r>
          </a:p>
        </p:txBody>
      </p:sp>
      <p:sp>
        <p:nvSpPr>
          <p:cNvPr id="4" name="Content Placeholder 3"/>
          <p:cNvSpPr>
            <a:spLocks noGrp="1"/>
          </p:cNvSpPr>
          <p:nvPr>
            <p:ph sz="quarter" idx="1"/>
          </p:nvPr>
        </p:nvSpPr>
        <p:spPr>
          <a:xfrm>
            <a:off x="520446" y="1219200"/>
            <a:ext cx="11671554" cy="5638800"/>
          </a:xfrm>
        </p:spPr>
        <p:txBody>
          <a:bodyPr>
            <a:normAutofit/>
          </a:bodyPr>
          <a:lstStyle/>
          <a:p>
            <a:endParaRPr lang="en-US" dirty="0"/>
          </a:p>
          <a:p>
            <a:endParaRPr lang="en-US" dirty="0"/>
          </a:p>
          <a:p>
            <a:endParaRPr lang="en-US" dirty="0"/>
          </a:p>
          <a:p>
            <a:endParaRPr lang="en-US" dirty="0"/>
          </a:p>
          <a:p>
            <a:endParaRPr lang="en-US" dirty="0"/>
          </a:p>
          <a:p>
            <a:endParaRPr lang="en-US" dirty="0"/>
          </a:p>
          <a:p>
            <a:r>
              <a:rPr lang="en-US" dirty="0"/>
              <a:t>Clearly the above </a:t>
            </a:r>
            <a:r>
              <a:rPr lang="en-US" dirty="0">
                <a:solidFill>
                  <a:srgbClr val="FF0000"/>
                </a:solidFill>
              </a:rPr>
              <a:t>relation is not a function</a:t>
            </a:r>
            <a:r>
              <a:rPr lang="en-US" dirty="0"/>
              <a:t> because 2 does not have any image under this relation. Note that if want to made it relation we have to must map the 2 into some element of B which is also the image of some element of A. </a:t>
            </a:r>
          </a:p>
          <a:p>
            <a:pPr marL="0" indent="0">
              <a:buNone/>
            </a:pPr>
            <a:r>
              <a:rPr lang="en-US" dirty="0"/>
              <a:t>	Now</a:t>
            </a:r>
            <a:endParaRPr lang="en-US" b="1" u="sng" dirty="0"/>
          </a:p>
        </p:txBody>
      </p:sp>
      <p:pic>
        <p:nvPicPr>
          <p:cNvPr id="5" name="Picture 4"/>
          <p:cNvPicPr/>
          <p:nvPr/>
        </p:nvPicPr>
        <p:blipFill>
          <a:blip r:embed="rId2"/>
          <a:srcRect/>
          <a:stretch>
            <a:fillRect/>
          </a:stretch>
        </p:blipFill>
        <p:spPr bwMode="auto">
          <a:xfrm>
            <a:off x="4229100" y="1066800"/>
            <a:ext cx="3733800" cy="297180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1160526" y="1943100"/>
            <a:ext cx="10364724" cy="3714750"/>
          </a:xfrm>
        </p:spPr>
        <p:txBody>
          <a:bodyPr>
            <a:normAutofit/>
          </a:bodyPr>
          <a:lstStyle/>
          <a:p>
            <a:endParaRPr lang="en-US" dirty="0"/>
          </a:p>
          <a:p>
            <a:endParaRPr lang="en-US" dirty="0"/>
          </a:p>
          <a:p>
            <a:endParaRPr lang="en-US" dirty="0"/>
          </a:p>
          <a:p>
            <a:endParaRPr lang="en-US" dirty="0"/>
          </a:p>
          <a:p>
            <a:endParaRPr lang="en-US" dirty="0"/>
          </a:p>
          <a:p>
            <a:r>
              <a:rPr lang="en-US" dirty="0"/>
              <a:t>The above relation is a </a:t>
            </a:r>
            <a:r>
              <a:rPr lang="en-US" dirty="0">
                <a:solidFill>
                  <a:srgbClr val="FF0000"/>
                </a:solidFill>
              </a:rPr>
              <a:t>function</a:t>
            </a:r>
            <a:r>
              <a:rPr lang="en-US" dirty="0"/>
              <a:t> because it satisfy the </a:t>
            </a:r>
            <a:r>
              <a:rPr lang="en-US" dirty="0">
                <a:solidFill>
                  <a:srgbClr val="FF0000"/>
                </a:solidFill>
              </a:rPr>
              <a:t>conditions of functions</a:t>
            </a:r>
            <a:r>
              <a:rPr lang="en-US" dirty="0"/>
              <a:t>(as each element of 1</a:t>
            </a:r>
            <a:r>
              <a:rPr lang="en-US" baseline="30000" dirty="0"/>
              <a:t>st</a:t>
            </a:r>
            <a:r>
              <a:rPr lang="en-US" dirty="0"/>
              <a:t> set have the images in 2</a:t>
            </a:r>
            <a:r>
              <a:rPr lang="en-US" baseline="30000" dirty="0"/>
              <a:t>nd</a:t>
            </a:r>
            <a:r>
              <a:rPr lang="en-US" dirty="0"/>
              <a:t> set). </a:t>
            </a:r>
          </a:p>
        </p:txBody>
      </p:sp>
      <p:pic>
        <p:nvPicPr>
          <p:cNvPr id="5" name="Picture 4"/>
          <p:cNvPicPr/>
          <p:nvPr/>
        </p:nvPicPr>
        <p:blipFill>
          <a:blip r:embed="rId2"/>
          <a:srcRect/>
          <a:stretch>
            <a:fillRect/>
          </a:stretch>
        </p:blipFill>
        <p:spPr bwMode="auto">
          <a:xfrm>
            <a:off x="4114800" y="533400"/>
            <a:ext cx="3619500" cy="35433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2846" y="0"/>
            <a:ext cx="10515600" cy="1325563"/>
          </a:xfrm>
        </p:spPr>
        <p:txBody>
          <a:bodyPr>
            <a:normAutofit/>
          </a:bodyPr>
          <a:lstStyle/>
          <a:p>
            <a:pPr algn="ctr"/>
            <a:r>
              <a:rPr lang="en-US" b="1" u="sng" dirty="0">
                <a:solidFill>
                  <a:srgbClr val="0070C0"/>
                </a:solidFill>
              </a:rPr>
              <a:t>PIGEONHOLE PRINCIPLE</a:t>
            </a:r>
          </a:p>
        </p:txBody>
      </p:sp>
      <p:sp>
        <p:nvSpPr>
          <p:cNvPr id="4" name="Content Placeholder 3"/>
          <p:cNvSpPr>
            <a:spLocks noGrp="1"/>
          </p:cNvSpPr>
          <p:nvPr>
            <p:ph sz="quarter" idx="1"/>
          </p:nvPr>
        </p:nvSpPr>
        <p:spPr>
          <a:xfrm>
            <a:off x="672846" y="1325563"/>
            <a:ext cx="11298174" cy="1517904"/>
          </a:xfrm>
        </p:spPr>
        <p:txBody>
          <a:bodyPr/>
          <a:lstStyle/>
          <a:p>
            <a:pPr marL="0" indent="0">
              <a:buNone/>
            </a:pPr>
            <a:r>
              <a:rPr lang="en-US" dirty="0"/>
              <a:t>We define a </a:t>
            </a:r>
            <a:r>
              <a:rPr lang="en-US" dirty="0">
                <a:solidFill>
                  <a:srgbClr val="FF0000"/>
                </a:solidFill>
              </a:rPr>
              <a:t>function</a:t>
            </a:r>
            <a:r>
              <a:rPr lang="en-US" dirty="0"/>
              <a:t> from </a:t>
            </a:r>
            <a:r>
              <a:rPr lang="en-US" dirty="0">
                <a:solidFill>
                  <a:srgbClr val="FF0000"/>
                </a:solidFill>
              </a:rPr>
              <a:t>A</a:t>
            </a:r>
            <a:r>
              <a:rPr lang="en-US" dirty="0"/>
              <a:t> to </a:t>
            </a:r>
            <a:r>
              <a:rPr lang="en-US" dirty="0">
                <a:solidFill>
                  <a:srgbClr val="FF0000"/>
                </a:solidFill>
              </a:rPr>
              <a:t>B</a:t>
            </a:r>
            <a:r>
              <a:rPr lang="en-US" dirty="0"/>
              <a:t>. If </a:t>
            </a:r>
            <a:r>
              <a:rPr lang="en-US" dirty="0">
                <a:solidFill>
                  <a:srgbClr val="FF0000"/>
                </a:solidFill>
              </a:rPr>
              <a:t>A</a:t>
            </a:r>
            <a:r>
              <a:rPr lang="en-US" dirty="0"/>
              <a:t> has </a:t>
            </a:r>
            <a:r>
              <a:rPr lang="en-US" dirty="0">
                <a:solidFill>
                  <a:srgbClr val="FF0000"/>
                </a:solidFill>
              </a:rPr>
              <a:t>more</a:t>
            </a:r>
            <a:r>
              <a:rPr lang="en-US" dirty="0"/>
              <a:t> elements then </a:t>
            </a:r>
            <a:r>
              <a:rPr lang="en-US" dirty="0">
                <a:solidFill>
                  <a:srgbClr val="FF0000"/>
                </a:solidFill>
              </a:rPr>
              <a:t>B</a:t>
            </a:r>
            <a:r>
              <a:rPr lang="en-US" dirty="0"/>
              <a:t>.</a:t>
            </a:r>
          </a:p>
          <a:p>
            <a:pPr marL="0" indent="0">
              <a:buNone/>
            </a:pPr>
            <a:r>
              <a:rPr lang="en-US" dirty="0">
                <a:solidFill>
                  <a:srgbClr val="FF0000"/>
                </a:solidFill>
              </a:rPr>
              <a:t>B </a:t>
            </a:r>
            <a:r>
              <a:rPr lang="en-US" dirty="0"/>
              <a:t>must have element which is </a:t>
            </a:r>
            <a:r>
              <a:rPr lang="en-US" dirty="0">
                <a:solidFill>
                  <a:srgbClr val="FF0000"/>
                </a:solidFill>
              </a:rPr>
              <a:t>image</a:t>
            </a:r>
            <a:r>
              <a:rPr lang="en-US" dirty="0"/>
              <a:t> of more than  one element of </a:t>
            </a:r>
            <a:r>
              <a:rPr lang="en-US" dirty="0">
                <a:solidFill>
                  <a:srgbClr val="FF0000"/>
                </a:solidFill>
              </a:rPr>
              <a:t>A</a:t>
            </a:r>
            <a:r>
              <a:rPr lang="en-US" dirty="0"/>
              <a:t>.</a:t>
            </a:r>
          </a:p>
        </p:txBody>
      </p:sp>
      <p:pic>
        <p:nvPicPr>
          <p:cNvPr id="5" name="Picture 4">
            <a:extLst>
              <a:ext uri="{FF2B5EF4-FFF2-40B4-BE49-F238E27FC236}">
                <a16:creationId xmlns:a16="http://schemas.microsoft.com/office/drawing/2014/main" id="{F334BFAF-A621-4C5B-A993-03B360AFF524}"/>
              </a:ext>
            </a:extLst>
          </p:cNvPr>
          <p:cNvPicPr/>
          <p:nvPr/>
        </p:nvPicPr>
        <p:blipFill>
          <a:blip r:embed="rId2"/>
          <a:srcRect/>
          <a:stretch>
            <a:fillRect/>
          </a:stretch>
        </p:blipFill>
        <p:spPr bwMode="auto">
          <a:xfrm>
            <a:off x="4367879" y="2670049"/>
            <a:ext cx="3456242" cy="3080004"/>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PIGEONHOLE PRINCIPLE</a:t>
            </a:r>
          </a:p>
        </p:txBody>
      </p:sp>
      <p:sp>
        <p:nvSpPr>
          <p:cNvPr id="4" name="Content Placeholder 3"/>
          <p:cNvSpPr>
            <a:spLocks noGrp="1"/>
          </p:cNvSpPr>
          <p:nvPr>
            <p:ph sz="quarter" idx="1"/>
          </p:nvPr>
        </p:nvSpPr>
        <p:spPr/>
        <p:txBody>
          <a:bodyPr/>
          <a:lstStyle/>
          <a:p>
            <a:r>
              <a:rPr lang="en-US" dirty="0"/>
              <a:t>A function from a </a:t>
            </a:r>
            <a:r>
              <a:rPr lang="en-US" dirty="0">
                <a:solidFill>
                  <a:srgbClr val="FF0000"/>
                </a:solidFill>
              </a:rPr>
              <a:t>set</a:t>
            </a:r>
            <a:r>
              <a:rPr lang="en-US" dirty="0"/>
              <a:t> of </a:t>
            </a:r>
            <a:r>
              <a:rPr lang="en-US" i="1" dirty="0">
                <a:solidFill>
                  <a:srgbClr val="FF0000"/>
                </a:solidFill>
              </a:rPr>
              <a:t>k</a:t>
            </a:r>
            <a:r>
              <a:rPr lang="en-US" dirty="0">
                <a:solidFill>
                  <a:srgbClr val="FF0000"/>
                </a:solidFill>
              </a:rPr>
              <a:t> + 1</a:t>
            </a:r>
            <a:r>
              <a:rPr lang="en-US" dirty="0"/>
              <a:t> or </a:t>
            </a:r>
            <a:r>
              <a:rPr lang="en-US" dirty="0">
                <a:solidFill>
                  <a:srgbClr val="FF0000"/>
                </a:solidFill>
              </a:rPr>
              <a:t>more elements</a:t>
            </a:r>
            <a:r>
              <a:rPr lang="en-US" dirty="0"/>
              <a:t> to a </a:t>
            </a:r>
            <a:r>
              <a:rPr lang="en-US" dirty="0">
                <a:solidFill>
                  <a:srgbClr val="FF0000"/>
                </a:solidFill>
              </a:rPr>
              <a:t>set</a:t>
            </a:r>
            <a:r>
              <a:rPr lang="en-US" dirty="0"/>
              <a:t> of </a:t>
            </a:r>
            <a:r>
              <a:rPr lang="en-US" i="1" dirty="0">
                <a:solidFill>
                  <a:srgbClr val="FF0000"/>
                </a:solidFill>
              </a:rPr>
              <a:t>k</a:t>
            </a:r>
            <a:r>
              <a:rPr lang="en-US" dirty="0">
                <a:solidFill>
                  <a:srgbClr val="FF0000"/>
                </a:solidFill>
              </a:rPr>
              <a:t> elements</a:t>
            </a:r>
            <a:r>
              <a:rPr lang="en-US" dirty="0"/>
              <a:t> must have </a:t>
            </a:r>
            <a:r>
              <a:rPr lang="en-US" dirty="0">
                <a:solidFill>
                  <a:srgbClr val="FF0000"/>
                </a:solidFill>
              </a:rPr>
              <a:t>at least two elements</a:t>
            </a:r>
            <a:r>
              <a:rPr lang="en-US" dirty="0"/>
              <a:t> in the </a:t>
            </a:r>
            <a:r>
              <a:rPr lang="en-US" dirty="0">
                <a:solidFill>
                  <a:srgbClr val="FF0000"/>
                </a:solidFill>
              </a:rPr>
              <a:t>domain</a:t>
            </a:r>
            <a:r>
              <a:rPr lang="en-US" dirty="0"/>
              <a:t> that have the same </a:t>
            </a:r>
            <a:r>
              <a:rPr lang="en-US" dirty="0">
                <a:solidFill>
                  <a:srgbClr val="FF0000"/>
                </a:solidFill>
              </a:rPr>
              <a:t>image</a:t>
            </a:r>
            <a:r>
              <a:rPr lang="en-US" dirty="0"/>
              <a:t> in the </a:t>
            </a:r>
            <a:r>
              <a:rPr lang="en-US" dirty="0">
                <a:solidFill>
                  <a:srgbClr val="FF0000"/>
                </a:solidFill>
              </a:rPr>
              <a:t>co-domain</a:t>
            </a:r>
            <a:r>
              <a:rPr lang="en-US" dirty="0"/>
              <a:t>. </a:t>
            </a:r>
          </a:p>
          <a:p>
            <a:pPr>
              <a:buNone/>
            </a:pPr>
            <a:endParaRPr lang="en-US" dirty="0"/>
          </a:p>
          <a:p>
            <a:r>
              <a:rPr lang="en-US" dirty="0"/>
              <a:t>If </a:t>
            </a:r>
            <a:r>
              <a:rPr lang="en-US" i="1" dirty="0">
                <a:solidFill>
                  <a:srgbClr val="FF0000"/>
                </a:solidFill>
              </a:rPr>
              <a:t>k</a:t>
            </a:r>
            <a:r>
              <a:rPr lang="en-US" dirty="0">
                <a:solidFill>
                  <a:srgbClr val="FF0000"/>
                </a:solidFill>
              </a:rPr>
              <a:t> + 1</a:t>
            </a:r>
            <a:r>
              <a:rPr lang="en-US" dirty="0"/>
              <a:t> or </a:t>
            </a:r>
            <a:r>
              <a:rPr lang="en-US" dirty="0">
                <a:solidFill>
                  <a:srgbClr val="FF0000"/>
                </a:solidFill>
              </a:rPr>
              <a:t>more pigeons</a:t>
            </a:r>
            <a:r>
              <a:rPr lang="en-US" dirty="0"/>
              <a:t> fly into </a:t>
            </a:r>
            <a:r>
              <a:rPr lang="en-US" i="1" dirty="0">
                <a:solidFill>
                  <a:srgbClr val="FF0000"/>
                </a:solidFill>
              </a:rPr>
              <a:t>k</a:t>
            </a:r>
            <a:r>
              <a:rPr lang="en-US" dirty="0">
                <a:solidFill>
                  <a:srgbClr val="FF0000"/>
                </a:solidFill>
              </a:rPr>
              <a:t> pigeonholes</a:t>
            </a:r>
            <a:r>
              <a:rPr lang="en-US" dirty="0"/>
              <a:t> then at least </a:t>
            </a:r>
            <a:r>
              <a:rPr lang="en-US" dirty="0">
                <a:solidFill>
                  <a:srgbClr val="FF0000"/>
                </a:solidFill>
              </a:rPr>
              <a:t>one pigeonhole</a:t>
            </a:r>
            <a:r>
              <a:rPr lang="en-US" dirty="0"/>
              <a:t> must contain </a:t>
            </a:r>
            <a:r>
              <a:rPr lang="en-US" dirty="0">
                <a:solidFill>
                  <a:srgbClr val="FF0000"/>
                </a:solidFill>
              </a:rPr>
              <a:t>two</a:t>
            </a:r>
            <a:r>
              <a:rPr lang="en-US" dirty="0"/>
              <a:t> or </a:t>
            </a:r>
            <a:r>
              <a:rPr lang="en-US" dirty="0">
                <a:solidFill>
                  <a:srgbClr val="FF0000"/>
                </a:solidFill>
              </a:rPr>
              <a:t>more pigeons</a:t>
            </a:r>
            <a:r>
              <a:rPr lang="en-US" dirty="0"/>
              <a:t>. </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EXAMPLES</a:t>
            </a:r>
          </a:p>
        </p:txBody>
      </p:sp>
      <p:sp>
        <p:nvSpPr>
          <p:cNvPr id="4" name="Content Placeholder 3"/>
          <p:cNvSpPr>
            <a:spLocks noGrp="1"/>
          </p:cNvSpPr>
          <p:nvPr>
            <p:ph sz="quarter" idx="1"/>
          </p:nvPr>
        </p:nvSpPr>
        <p:spPr/>
        <p:txBody>
          <a:bodyPr/>
          <a:lstStyle/>
          <a:p>
            <a:pPr>
              <a:buNone/>
            </a:pPr>
            <a:r>
              <a:rPr lang="en-US" b="1" dirty="0"/>
              <a:t>	</a:t>
            </a:r>
            <a:r>
              <a:rPr lang="en-US" b="1" dirty="0">
                <a:solidFill>
                  <a:srgbClr val="249C2F"/>
                </a:solidFill>
              </a:rPr>
              <a:t>1.</a:t>
            </a:r>
            <a:r>
              <a:rPr lang="en-US" dirty="0"/>
              <a:t>  Among any group of </a:t>
            </a:r>
            <a:r>
              <a:rPr lang="en-US" dirty="0">
                <a:solidFill>
                  <a:srgbClr val="FF0000"/>
                </a:solidFill>
              </a:rPr>
              <a:t>367 people</a:t>
            </a:r>
            <a:r>
              <a:rPr lang="en-US" dirty="0"/>
              <a:t>, there must be </a:t>
            </a:r>
            <a:r>
              <a:rPr lang="en-US" dirty="0">
                <a:solidFill>
                  <a:srgbClr val="FF0000"/>
                </a:solidFill>
              </a:rPr>
              <a:t>at least two</a:t>
            </a:r>
            <a:r>
              <a:rPr lang="en-US" dirty="0"/>
              <a:t> with the </a:t>
            </a:r>
            <a:r>
              <a:rPr lang="en-US" dirty="0">
                <a:solidFill>
                  <a:srgbClr val="FF0000"/>
                </a:solidFill>
              </a:rPr>
              <a:t>same birthday. Why?</a:t>
            </a:r>
            <a:endParaRPr lang="en-US" dirty="0"/>
          </a:p>
          <a:p>
            <a:pPr>
              <a:buNone/>
            </a:pPr>
            <a:r>
              <a:rPr lang="en-US" dirty="0"/>
              <a:t>	because there are only </a:t>
            </a:r>
            <a:r>
              <a:rPr lang="en-US" dirty="0">
                <a:solidFill>
                  <a:srgbClr val="FF0000"/>
                </a:solidFill>
              </a:rPr>
              <a:t>366 possible birthdays</a:t>
            </a:r>
            <a:r>
              <a:rPr lang="en-US" dirty="0"/>
              <a:t>.  </a:t>
            </a:r>
          </a:p>
          <a:p>
            <a:endParaRPr lang="en-US" dirty="0"/>
          </a:p>
          <a:p>
            <a:pPr>
              <a:buNone/>
            </a:pPr>
            <a:r>
              <a:rPr lang="en-US" b="1" dirty="0"/>
              <a:t>	</a:t>
            </a:r>
            <a:r>
              <a:rPr lang="en-US" b="1" dirty="0">
                <a:solidFill>
                  <a:srgbClr val="249C2F"/>
                </a:solidFill>
              </a:rPr>
              <a:t>2.</a:t>
            </a:r>
            <a:r>
              <a:rPr lang="en-US" b="1" dirty="0"/>
              <a:t>  </a:t>
            </a:r>
            <a:r>
              <a:rPr lang="en-US" dirty="0"/>
              <a:t>In any set of </a:t>
            </a:r>
            <a:r>
              <a:rPr lang="en-US" dirty="0">
                <a:solidFill>
                  <a:srgbClr val="FF0000"/>
                </a:solidFill>
              </a:rPr>
              <a:t>27 English words</a:t>
            </a:r>
            <a:r>
              <a:rPr lang="en-US" dirty="0"/>
              <a:t>, there must be </a:t>
            </a:r>
            <a:r>
              <a:rPr lang="en-US" dirty="0">
                <a:solidFill>
                  <a:srgbClr val="FF0000"/>
                </a:solidFill>
              </a:rPr>
              <a:t>at least two</a:t>
            </a:r>
            <a:r>
              <a:rPr lang="en-US" dirty="0"/>
              <a:t> that </a:t>
            </a:r>
            <a:r>
              <a:rPr lang="en-US" dirty="0">
                <a:solidFill>
                  <a:srgbClr val="FF0000"/>
                </a:solidFill>
              </a:rPr>
              <a:t>begin</a:t>
            </a:r>
            <a:r>
              <a:rPr lang="en-US" dirty="0"/>
              <a:t> with the </a:t>
            </a:r>
            <a:r>
              <a:rPr lang="en-US" dirty="0">
                <a:solidFill>
                  <a:srgbClr val="FF0000"/>
                </a:solidFill>
              </a:rPr>
              <a:t>same letter</a:t>
            </a:r>
            <a:r>
              <a:rPr lang="en-US" dirty="0"/>
              <a:t>. </a:t>
            </a:r>
            <a:r>
              <a:rPr lang="en-US" dirty="0">
                <a:solidFill>
                  <a:srgbClr val="FF0000"/>
                </a:solidFill>
              </a:rPr>
              <a:t>Why?</a:t>
            </a:r>
          </a:p>
          <a:p>
            <a:pPr>
              <a:buNone/>
            </a:pPr>
            <a:r>
              <a:rPr lang="en-US" dirty="0"/>
              <a:t>	since there are 26 letters in the English alphabet.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EXERCISE</a:t>
            </a:r>
          </a:p>
        </p:txBody>
      </p:sp>
      <p:sp>
        <p:nvSpPr>
          <p:cNvPr id="4" name="Content Placeholder 3"/>
          <p:cNvSpPr>
            <a:spLocks noGrp="1"/>
          </p:cNvSpPr>
          <p:nvPr>
            <p:ph sz="quarter" idx="1"/>
          </p:nvPr>
        </p:nvSpPr>
        <p:spPr/>
        <p:txBody>
          <a:bodyPr>
            <a:normAutofit lnSpcReduction="10000"/>
          </a:bodyPr>
          <a:lstStyle/>
          <a:p>
            <a:pPr marL="0" indent="0">
              <a:buNone/>
            </a:pPr>
            <a:r>
              <a:rPr lang="en-US" dirty="0"/>
              <a:t>What is the </a:t>
            </a:r>
            <a:r>
              <a:rPr lang="en-US" dirty="0">
                <a:solidFill>
                  <a:srgbClr val="FF0000"/>
                </a:solidFill>
              </a:rPr>
              <a:t>minimum number</a:t>
            </a:r>
            <a:r>
              <a:rPr lang="en-US" dirty="0"/>
              <a:t> of </a:t>
            </a:r>
            <a:r>
              <a:rPr lang="en-US" dirty="0">
                <a:solidFill>
                  <a:srgbClr val="FF0000"/>
                </a:solidFill>
              </a:rPr>
              <a:t>students</a:t>
            </a:r>
            <a:r>
              <a:rPr lang="en-US" dirty="0"/>
              <a:t> in a </a:t>
            </a:r>
            <a:r>
              <a:rPr lang="en-US" dirty="0">
                <a:solidFill>
                  <a:srgbClr val="FF0000"/>
                </a:solidFill>
              </a:rPr>
              <a:t>class</a:t>
            </a:r>
            <a:r>
              <a:rPr lang="en-US" dirty="0"/>
              <a:t> to be sure that </a:t>
            </a:r>
            <a:r>
              <a:rPr lang="en-US" dirty="0">
                <a:solidFill>
                  <a:srgbClr val="FF0000"/>
                </a:solidFill>
              </a:rPr>
              <a:t>two</a:t>
            </a:r>
            <a:r>
              <a:rPr lang="en-US" dirty="0"/>
              <a:t> of them are </a:t>
            </a:r>
            <a:r>
              <a:rPr lang="en-US" dirty="0">
                <a:solidFill>
                  <a:srgbClr val="FF0000"/>
                </a:solidFill>
              </a:rPr>
              <a:t>born</a:t>
            </a:r>
            <a:r>
              <a:rPr lang="en-US" dirty="0"/>
              <a:t> in the </a:t>
            </a:r>
            <a:r>
              <a:rPr lang="en-US" dirty="0">
                <a:solidFill>
                  <a:srgbClr val="FF0000"/>
                </a:solidFill>
              </a:rPr>
              <a:t>same month</a:t>
            </a:r>
            <a:r>
              <a:rPr lang="en-US" dirty="0"/>
              <a:t>?</a:t>
            </a:r>
          </a:p>
          <a:p>
            <a:pPr>
              <a:buNone/>
            </a:pPr>
            <a:endParaRPr lang="en-US" dirty="0"/>
          </a:p>
          <a:p>
            <a:pPr marL="0" indent="0">
              <a:buNone/>
            </a:pPr>
            <a:r>
              <a:rPr lang="en-US" b="1" u="sng" dirty="0">
                <a:solidFill>
                  <a:srgbClr val="0070C0"/>
                </a:solidFill>
              </a:rPr>
              <a:t>SOLUTION:</a:t>
            </a:r>
            <a:endParaRPr lang="en-US" dirty="0">
              <a:solidFill>
                <a:srgbClr val="0070C0"/>
              </a:solidFill>
            </a:endParaRPr>
          </a:p>
          <a:p>
            <a:pPr>
              <a:buNone/>
            </a:pPr>
            <a:r>
              <a:rPr lang="en-US" dirty="0"/>
              <a:t>	                  There are </a:t>
            </a:r>
            <a:r>
              <a:rPr lang="en-US" dirty="0">
                <a:solidFill>
                  <a:srgbClr val="FF0000"/>
                </a:solidFill>
              </a:rPr>
              <a:t>12 (= </a:t>
            </a:r>
            <a:r>
              <a:rPr lang="en-US" i="1" dirty="0">
                <a:solidFill>
                  <a:srgbClr val="FF0000"/>
                </a:solidFill>
              </a:rPr>
              <a:t>n</a:t>
            </a:r>
            <a:r>
              <a:rPr lang="en-US" dirty="0">
                <a:solidFill>
                  <a:srgbClr val="FF0000"/>
                </a:solidFill>
              </a:rPr>
              <a:t>)</a:t>
            </a:r>
            <a:r>
              <a:rPr lang="en-US" dirty="0"/>
              <a:t> months in a year. </a:t>
            </a:r>
          </a:p>
          <a:p>
            <a:pPr>
              <a:buNone/>
            </a:pPr>
            <a:r>
              <a:rPr lang="en-US" dirty="0"/>
              <a:t>	The </a:t>
            </a:r>
            <a:r>
              <a:rPr lang="en-US" dirty="0">
                <a:solidFill>
                  <a:srgbClr val="FF0000"/>
                </a:solidFill>
              </a:rPr>
              <a:t>pigeonhole principle</a:t>
            </a:r>
            <a:r>
              <a:rPr lang="en-US" dirty="0"/>
              <a:t> shows that among</a:t>
            </a:r>
          </a:p>
          <a:p>
            <a:pPr>
              <a:buNone/>
            </a:pPr>
            <a:r>
              <a:rPr lang="en-US" dirty="0"/>
              <a:t>	 any </a:t>
            </a:r>
            <a:r>
              <a:rPr lang="en-US" dirty="0">
                <a:solidFill>
                  <a:srgbClr val="FF0000"/>
                </a:solidFill>
              </a:rPr>
              <a:t>13 (= </a:t>
            </a:r>
            <a:r>
              <a:rPr lang="en-US" i="1" dirty="0">
                <a:solidFill>
                  <a:srgbClr val="FF0000"/>
                </a:solidFill>
              </a:rPr>
              <a:t>n</a:t>
            </a:r>
            <a:r>
              <a:rPr lang="en-US" dirty="0">
                <a:solidFill>
                  <a:srgbClr val="FF0000"/>
                </a:solidFill>
              </a:rPr>
              <a:t> + 1)</a:t>
            </a:r>
            <a:r>
              <a:rPr lang="en-US" dirty="0"/>
              <a:t> or more students there must be</a:t>
            </a:r>
          </a:p>
          <a:p>
            <a:pPr>
              <a:buNone/>
            </a:pPr>
            <a:r>
              <a:rPr lang="en-US" dirty="0"/>
              <a:t>	 at least </a:t>
            </a:r>
            <a:r>
              <a:rPr lang="en-US" dirty="0">
                <a:solidFill>
                  <a:srgbClr val="FF0000"/>
                </a:solidFill>
              </a:rPr>
              <a:t>two students</a:t>
            </a:r>
            <a:r>
              <a:rPr lang="en-US" dirty="0"/>
              <a:t> who are born in the same month.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434695-436B-4268-A8BA-BD0A5F4A5AAF}"/>
              </a:ext>
            </a:extLst>
          </p:cNvPr>
          <p:cNvSpPr>
            <a:spLocks noGrp="1"/>
          </p:cNvSpPr>
          <p:nvPr>
            <p:ph idx="1"/>
          </p:nvPr>
        </p:nvSpPr>
        <p:spPr>
          <a:xfrm>
            <a:off x="712694" y="1210235"/>
            <a:ext cx="10830844" cy="5351929"/>
          </a:xfrm>
        </p:spPr>
        <p:txBody>
          <a:bodyPr>
            <a:normAutofit/>
          </a:bodyPr>
          <a:lstStyle/>
          <a:p>
            <a:pPr marL="0" indent="0">
              <a:lnSpc>
                <a:spcPct val="100000"/>
              </a:lnSpc>
              <a:buNone/>
            </a:pPr>
            <a:r>
              <a:rPr lang="en-US" sz="2000" dirty="0"/>
              <a:t>a) </a:t>
            </a:r>
            <a:r>
              <a:rPr lang="en-US" sz="2400" dirty="0"/>
              <a:t>Show that if </a:t>
            </a:r>
            <a:r>
              <a:rPr lang="en-US" sz="2400" dirty="0">
                <a:solidFill>
                  <a:srgbClr val="FF0000"/>
                </a:solidFill>
              </a:rPr>
              <a:t>5</a:t>
            </a:r>
            <a:r>
              <a:rPr lang="en-US" sz="2400" b="1" dirty="0">
                <a:solidFill>
                  <a:srgbClr val="FF0000"/>
                </a:solidFill>
              </a:rPr>
              <a:t> </a:t>
            </a:r>
            <a:r>
              <a:rPr lang="en-US" sz="2400" dirty="0"/>
              <a:t>integers are selected from the </a:t>
            </a:r>
            <a:r>
              <a:rPr lang="en-US" sz="2400" dirty="0">
                <a:solidFill>
                  <a:srgbClr val="FF0000"/>
                </a:solidFill>
              </a:rPr>
              <a:t>first eight positive integers, </a:t>
            </a:r>
            <a:r>
              <a:rPr lang="en-US" sz="2400" dirty="0"/>
              <a:t>there must be a pair of these integers with a </a:t>
            </a:r>
            <a:r>
              <a:rPr lang="en-US" sz="2400" dirty="0">
                <a:solidFill>
                  <a:srgbClr val="FF0000"/>
                </a:solidFill>
              </a:rPr>
              <a:t>sum </a:t>
            </a:r>
            <a:r>
              <a:rPr lang="en-US" sz="2400" dirty="0"/>
              <a:t>equal to</a:t>
            </a:r>
            <a:r>
              <a:rPr lang="en-US" sz="2400" dirty="0">
                <a:solidFill>
                  <a:srgbClr val="FF0000"/>
                </a:solidFill>
              </a:rPr>
              <a:t> 9</a:t>
            </a:r>
            <a:r>
              <a:rPr lang="en-US" sz="2400" dirty="0"/>
              <a:t>. </a:t>
            </a:r>
          </a:p>
          <a:p>
            <a:pPr marL="0" indent="0">
              <a:lnSpc>
                <a:spcPct val="100000"/>
              </a:lnSpc>
              <a:buNone/>
            </a:pPr>
            <a:r>
              <a:rPr lang="en-US" sz="2000" b="1" u="sng" dirty="0">
                <a:solidFill>
                  <a:srgbClr val="0070C0"/>
                </a:solidFill>
              </a:rPr>
              <a:t>SOLUTION:</a:t>
            </a:r>
            <a:endParaRPr lang="en-US" sz="2000" dirty="0">
              <a:solidFill>
                <a:srgbClr val="0070C0"/>
              </a:solidFill>
            </a:endParaRPr>
          </a:p>
          <a:p>
            <a:pPr marL="0" indent="0">
              <a:lnSpc>
                <a:spcPct val="100000"/>
              </a:lnSpc>
              <a:buNone/>
            </a:pPr>
            <a:r>
              <a:rPr lang="en-US" sz="2000" dirty="0"/>
              <a:t>Group the first eight positive integers into four subsets of two integers each so that the integers of each subset add up to 9: {1, 8}, {2, 7}, {3, 6}, and {4, 5}. </a:t>
            </a:r>
          </a:p>
          <a:p>
            <a:pPr marL="0" indent="0">
              <a:lnSpc>
                <a:spcPct val="100000"/>
              </a:lnSpc>
              <a:buNone/>
            </a:pPr>
            <a:r>
              <a:rPr lang="en-US" sz="2000" dirty="0"/>
              <a:t>If five integers are selected from the first eight positive integers, by the pigeonhole principle at least two of them come from the same subset. Two such integers have a sum of 9, as desired. </a:t>
            </a:r>
          </a:p>
          <a:p>
            <a:pPr marL="0" indent="0">
              <a:lnSpc>
                <a:spcPct val="100000"/>
              </a:lnSpc>
              <a:buNone/>
            </a:pPr>
            <a:endParaRPr lang="en-US" sz="2400" dirty="0"/>
          </a:p>
          <a:p>
            <a:pPr marL="0" indent="0">
              <a:lnSpc>
                <a:spcPct val="100000"/>
              </a:lnSpc>
              <a:buNone/>
            </a:pPr>
            <a:r>
              <a:rPr lang="en-US" sz="2400" dirty="0"/>
              <a:t>b) Is the conclusion true if </a:t>
            </a:r>
            <a:r>
              <a:rPr lang="en-US" sz="2400" dirty="0">
                <a:solidFill>
                  <a:srgbClr val="FF0000"/>
                </a:solidFill>
              </a:rPr>
              <a:t>4 integers </a:t>
            </a:r>
            <a:r>
              <a:rPr lang="en-US" sz="2400" dirty="0"/>
              <a:t>are selected rather than </a:t>
            </a:r>
            <a:r>
              <a:rPr lang="en-US" sz="2400" dirty="0">
                <a:solidFill>
                  <a:srgbClr val="FF0000"/>
                </a:solidFill>
              </a:rPr>
              <a:t>5</a:t>
            </a:r>
            <a:r>
              <a:rPr lang="en-US" sz="2400" dirty="0"/>
              <a:t>?</a:t>
            </a:r>
          </a:p>
          <a:p>
            <a:pPr marL="0" indent="0">
              <a:lnSpc>
                <a:spcPct val="100000"/>
              </a:lnSpc>
              <a:buNone/>
            </a:pPr>
            <a:r>
              <a:rPr lang="en-US" sz="2000" b="1" u="sng" dirty="0">
                <a:solidFill>
                  <a:srgbClr val="0070C0"/>
                </a:solidFill>
              </a:rPr>
              <a:t>SOLUTION:</a:t>
            </a:r>
            <a:endParaRPr lang="en-US" sz="2000" dirty="0">
              <a:solidFill>
                <a:srgbClr val="0070C0"/>
              </a:solidFill>
            </a:endParaRPr>
          </a:p>
          <a:p>
            <a:pPr marL="0" indent="0">
              <a:lnSpc>
                <a:spcPct val="100000"/>
              </a:lnSpc>
              <a:buNone/>
            </a:pPr>
            <a:r>
              <a:rPr lang="en-US" sz="2000" dirty="0"/>
              <a:t>No. Take {1, 2, 3, 4}, for example.</a:t>
            </a:r>
          </a:p>
        </p:txBody>
      </p:sp>
      <p:sp>
        <p:nvSpPr>
          <p:cNvPr id="4" name="Title 1">
            <a:extLst>
              <a:ext uri="{FF2B5EF4-FFF2-40B4-BE49-F238E27FC236}">
                <a16:creationId xmlns:a16="http://schemas.microsoft.com/office/drawing/2014/main" id="{2C7796B6-6B8F-41E3-A1BE-10C401435F84}"/>
              </a:ext>
            </a:extLst>
          </p:cNvPr>
          <p:cNvSpPr txBox="1">
            <a:spLocks/>
          </p:cNvSpPr>
          <p:nvPr/>
        </p:nvSpPr>
        <p:spPr>
          <a:xfrm>
            <a:off x="838200" y="0"/>
            <a:ext cx="10515600" cy="9934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EXERCISE</a:t>
            </a:r>
          </a:p>
        </p:txBody>
      </p:sp>
    </p:spTree>
    <p:extLst>
      <p:ext uri="{BB962C8B-B14F-4D97-AF65-F5344CB8AC3E}">
        <p14:creationId xmlns:p14="http://schemas.microsoft.com/office/powerpoint/2010/main" val="3408553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496" y="0"/>
            <a:ext cx="10515600" cy="1325563"/>
          </a:xfrm>
        </p:spPr>
        <p:txBody>
          <a:bodyPr>
            <a:normAutofit/>
          </a:bodyPr>
          <a:lstStyle/>
          <a:p>
            <a:pPr algn="ctr"/>
            <a:r>
              <a:rPr lang="en-US" b="1" u="sng" dirty="0">
                <a:solidFill>
                  <a:srgbClr val="0070C0"/>
                </a:solidFill>
              </a:rPr>
              <a:t>EXERCISE</a:t>
            </a:r>
          </a:p>
        </p:txBody>
      </p:sp>
      <p:sp>
        <p:nvSpPr>
          <p:cNvPr id="4" name="Content Placeholder 3"/>
          <p:cNvSpPr>
            <a:spLocks noGrp="1"/>
          </p:cNvSpPr>
          <p:nvPr>
            <p:ph sz="quarter" idx="1"/>
          </p:nvPr>
        </p:nvSpPr>
        <p:spPr>
          <a:xfrm>
            <a:off x="766482" y="1219200"/>
            <a:ext cx="10886022" cy="4616824"/>
          </a:xfrm>
        </p:spPr>
        <p:txBody>
          <a:bodyPr>
            <a:normAutofit fontScale="92500" lnSpcReduction="10000"/>
          </a:bodyPr>
          <a:lstStyle/>
          <a:p>
            <a:r>
              <a:rPr lang="en-US" dirty="0"/>
              <a:t>Show that from any </a:t>
            </a:r>
            <a:r>
              <a:rPr lang="en-US" dirty="0">
                <a:solidFill>
                  <a:srgbClr val="FF0000"/>
                </a:solidFill>
              </a:rPr>
              <a:t>set</a:t>
            </a:r>
            <a:r>
              <a:rPr lang="en-US" dirty="0"/>
              <a:t> of </a:t>
            </a:r>
            <a:r>
              <a:rPr lang="en-US" dirty="0">
                <a:solidFill>
                  <a:srgbClr val="FF0000"/>
                </a:solidFill>
              </a:rPr>
              <a:t>seven integers</a:t>
            </a:r>
            <a:r>
              <a:rPr lang="en-US" dirty="0"/>
              <a:t>, there must be </a:t>
            </a:r>
            <a:r>
              <a:rPr lang="en-US" dirty="0">
                <a:solidFill>
                  <a:srgbClr val="FF0000"/>
                </a:solidFill>
              </a:rPr>
              <a:t>two integers</a:t>
            </a:r>
            <a:r>
              <a:rPr lang="en-US" dirty="0"/>
              <a:t> that have the </a:t>
            </a:r>
            <a:r>
              <a:rPr lang="en-US" dirty="0">
                <a:solidFill>
                  <a:srgbClr val="FF0000"/>
                </a:solidFill>
              </a:rPr>
              <a:t>same remainder</a:t>
            </a:r>
            <a:r>
              <a:rPr lang="en-US" dirty="0"/>
              <a:t> when </a:t>
            </a:r>
            <a:r>
              <a:rPr lang="en-US" dirty="0">
                <a:solidFill>
                  <a:srgbClr val="FF0000"/>
                </a:solidFill>
              </a:rPr>
              <a:t>divided</a:t>
            </a:r>
            <a:r>
              <a:rPr lang="en-US" dirty="0"/>
              <a:t> by </a:t>
            </a:r>
            <a:r>
              <a:rPr lang="en-US" dirty="0">
                <a:solidFill>
                  <a:srgbClr val="FF0000"/>
                </a:solidFill>
              </a:rPr>
              <a:t>6</a:t>
            </a:r>
            <a:r>
              <a:rPr lang="en-US" dirty="0"/>
              <a:t>?</a:t>
            </a:r>
          </a:p>
          <a:p>
            <a:endParaRPr lang="en-US" dirty="0"/>
          </a:p>
          <a:p>
            <a:r>
              <a:rPr lang="en-US" b="1" u="sng" dirty="0">
                <a:solidFill>
                  <a:srgbClr val="0070C0"/>
                </a:solidFill>
              </a:rPr>
              <a:t>SOLUTION:</a:t>
            </a:r>
            <a:endParaRPr lang="en-US" dirty="0">
              <a:solidFill>
                <a:srgbClr val="0070C0"/>
              </a:solidFill>
            </a:endParaRPr>
          </a:p>
          <a:p>
            <a:pPr>
              <a:buNone/>
            </a:pPr>
            <a:r>
              <a:rPr lang="en-US" dirty="0"/>
              <a:t>	 The set of possible </a:t>
            </a:r>
            <a:r>
              <a:rPr lang="en-US" dirty="0">
                <a:solidFill>
                  <a:srgbClr val="FF0000"/>
                </a:solidFill>
              </a:rPr>
              <a:t>remainders</a:t>
            </a:r>
            <a:r>
              <a:rPr lang="en-US" dirty="0"/>
              <a:t> that can be obtained when an integer is </a:t>
            </a:r>
            <a:r>
              <a:rPr lang="en-US" dirty="0">
                <a:solidFill>
                  <a:srgbClr val="FF0000"/>
                </a:solidFill>
              </a:rPr>
              <a:t>divided by six</a:t>
            </a:r>
            <a:r>
              <a:rPr lang="en-US" dirty="0"/>
              <a:t> is {</a:t>
            </a:r>
            <a:r>
              <a:rPr lang="en-US" dirty="0">
                <a:solidFill>
                  <a:srgbClr val="FF0000"/>
                </a:solidFill>
              </a:rPr>
              <a:t>0, 1, 2, 3, 4, 5</a:t>
            </a:r>
            <a:r>
              <a:rPr lang="en-US" dirty="0"/>
              <a:t>}. </a:t>
            </a:r>
          </a:p>
          <a:p>
            <a:pPr>
              <a:buNone/>
            </a:pPr>
            <a:endParaRPr lang="en-US" dirty="0"/>
          </a:p>
          <a:p>
            <a:pPr>
              <a:buNone/>
            </a:pPr>
            <a:r>
              <a:rPr lang="en-US" dirty="0"/>
              <a:t>	This set has </a:t>
            </a:r>
            <a:r>
              <a:rPr lang="en-US" dirty="0">
                <a:solidFill>
                  <a:srgbClr val="FF0000"/>
                </a:solidFill>
              </a:rPr>
              <a:t>6</a:t>
            </a:r>
            <a:r>
              <a:rPr lang="en-US" dirty="0"/>
              <a:t> elements. </a:t>
            </a:r>
          </a:p>
          <a:p>
            <a:pPr>
              <a:buNone/>
            </a:pPr>
            <a:endParaRPr lang="en-US" dirty="0"/>
          </a:p>
          <a:p>
            <a:pPr>
              <a:buNone/>
            </a:pPr>
            <a:r>
              <a:rPr lang="en-US" dirty="0"/>
              <a:t>	Thus by the </a:t>
            </a:r>
            <a:r>
              <a:rPr lang="en-US" dirty="0">
                <a:solidFill>
                  <a:srgbClr val="FF0000"/>
                </a:solidFill>
              </a:rPr>
              <a:t>pigeonhole principle</a:t>
            </a:r>
            <a:r>
              <a:rPr lang="en-US" dirty="0"/>
              <a:t> if </a:t>
            </a:r>
            <a:r>
              <a:rPr lang="en-US" dirty="0">
                <a:solidFill>
                  <a:srgbClr val="FF0000"/>
                </a:solidFill>
              </a:rPr>
              <a:t>7 = 6 + 1</a:t>
            </a:r>
            <a:r>
              <a:rPr lang="en-US" dirty="0"/>
              <a:t> integers are each divided by </a:t>
            </a:r>
            <a:r>
              <a:rPr lang="en-US" dirty="0">
                <a:solidFill>
                  <a:srgbClr val="FF0000"/>
                </a:solidFill>
              </a:rPr>
              <a:t>six</a:t>
            </a:r>
            <a:r>
              <a:rPr lang="en-US" dirty="0"/>
              <a:t>, then at least </a:t>
            </a:r>
            <a:r>
              <a:rPr lang="en-US" dirty="0">
                <a:solidFill>
                  <a:srgbClr val="FF0000"/>
                </a:solidFill>
              </a:rPr>
              <a:t>two</a:t>
            </a:r>
            <a:r>
              <a:rPr lang="en-US" dirty="0"/>
              <a:t> of them must have the same </a:t>
            </a:r>
            <a:r>
              <a:rPr lang="en-US" dirty="0">
                <a:solidFill>
                  <a:srgbClr val="FF0000"/>
                </a:solidFill>
              </a:rPr>
              <a:t>remainder</a:t>
            </a:r>
            <a:r>
              <a:rPr lang="en-US" dirty="0"/>
              <a:t>.</a:t>
            </a:r>
          </a:p>
          <a:p>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2000"/>
                                        <p:tgtEl>
                                          <p:spTgt spid="4">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animEffect transition="in" filter="fade">
                                      <p:cBhvr>
                                        <p:cTn id="18" dur="2000"/>
                                        <p:tgtEl>
                                          <p:spTgt spid="4">
                                            <p:txEl>
                                              <p:pRg st="5" end="5"/>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animEffect transition="in" filter="fade">
                                      <p:cBhvr>
                                        <p:cTn id="21" dur="20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602" y="1"/>
            <a:ext cx="10515600" cy="941294"/>
          </a:xfrm>
        </p:spPr>
        <p:txBody>
          <a:bodyPr>
            <a:normAutofit/>
          </a:bodyPr>
          <a:lstStyle/>
          <a:p>
            <a:pPr algn="ctr"/>
            <a:r>
              <a:rPr lang="en-US" b="1" u="sng" dirty="0">
                <a:solidFill>
                  <a:srgbClr val="0070C0"/>
                </a:solidFill>
              </a:rPr>
              <a:t>EXERCISE</a:t>
            </a:r>
          </a:p>
        </p:txBody>
      </p:sp>
      <p:sp>
        <p:nvSpPr>
          <p:cNvPr id="4" name="Content Placeholder 3"/>
          <p:cNvSpPr>
            <a:spLocks noGrp="1"/>
          </p:cNvSpPr>
          <p:nvPr>
            <p:ph sz="quarter" idx="1"/>
          </p:nvPr>
        </p:nvSpPr>
        <p:spPr>
          <a:xfrm>
            <a:off x="309283" y="1219200"/>
            <a:ext cx="11591364" cy="5029200"/>
          </a:xfrm>
        </p:spPr>
        <p:txBody>
          <a:bodyPr>
            <a:normAutofit/>
          </a:bodyPr>
          <a:lstStyle/>
          <a:p>
            <a:pPr marL="0" indent="0">
              <a:buNone/>
            </a:pPr>
            <a:r>
              <a:rPr lang="en-US" dirty="0"/>
              <a:t>How many </a:t>
            </a:r>
            <a:r>
              <a:rPr lang="en-US" dirty="0">
                <a:solidFill>
                  <a:srgbClr val="FF0000"/>
                </a:solidFill>
              </a:rPr>
              <a:t>integers</a:t>
            </a:r>
            <a:r>
              <a:rPr lang="en-US" dirty="0"/>
              <a:t> from </a:t>
            </a:r>
            <a:r>
              <a:rPr lang="en-US" dirty="0">
                <a:solidFill>
                  <a:srgbClr val="FF0000"/>
                </a:solidFill>
              </a:rPr>
              <a:t>1</a:t>
            </a:r>
            <a:r>
              <a:rPr lang="en-US" dirty="0"/>
              <a:t> through </a:t>
            </a:r>
            <a:r>
              <a:rPr lang="en-US" dirty="0">
                <a:solidFill>
                  <a:srgbClr val="FF0000"/>
                </a:solidFill>
              </a:rPr>
              <a:t>100</a:t>
            </a:r>
            <a:r>
              <a:rPr lang="en-US" dirty="0"/>
              <a:t> must you </a:t>
            </a:r>
            <a:r>
              <a:rPr lang="en-US" dirty="0">
                <a:solidFill>
                  <a:srgbClr val="FF0000"/>
                </a:solidFill>
              </a:rPr>
              <a:t>pick in order</a:t>
            </a:r>
            <a:r>
              <a:rPr lang="en-US" dirty="0"/>
              <a:t> to be sure of </a:t>
            </a:r>
            <a:r>
              <a:rPr lang="en-US" dirty="0">
                <a:solidFill>
                  <a:srgbClr val="FF0000"/>
                </a:solidFill>
              </a:rPr>
              <a:t>getting one</a:t>
            </a:r>
            <a:r>
              <a:rPr lang="en-US" dirty="0"/>
              <a:t> that is </a:t>
            </a:r>
            <a:r>
              <a:rPr lang="en-US" dirty="0">
                <a:solidFill>
                  <a:srgbClr val="FF0000"/>
                </a:solidFill>
              </a:rPr>
              <a:t>divisible</a:t>
            </a:r>
            <a:r>
              <a:rPr lang="en-US" dirty="0"/>
              <a:t> by </a:t>
            </a:r>
            <a:r>
              <a:rPr lang="en-US" dirty="0">
                <a:solidFill>
                  <a:srgbClr val="FF0000"/>
                </a:solidFill>
              </a:rPr>
              <a:t>5</a:t>
            </a:r>
            <a:r>
              <a:rPr lang="en-US" dirty="0"/>
              <a:t>?</a:t>
            </a:r>
          </a:p>
          <a:p>
            <a:endParaRPr lang="en-US" dirty="0"/>
          </a:p>
          <a:p>
            <a:pPr marL="0" indent="0">
              <a:buNone/>
            </a:pPr>
            <a:r>
              <a:rPr lang="en-US" b="1" u="sng" dirty="0">
                <a:solidFill>
                  <a:srgbClr val="0070C0"/>
                </a:solidFill>
              </a:rPr>
              <a:t>SOLUTION:</a:t>
            </a:r>
            <a:endParaRPr lang="en-US" dirty="0">
              <a:solidFill>
                <a:srgbClr val="0070C0"/>
              </a:solidFill>
            </a:endParaRPr>
          </a:p>
          <a:p>
            <a:pPr>
              <a:buNone/>
            </a:pPr>
            <a:r>
              <a:rPr lang="en-US" dirty="0"/>
              <a:t>	 There are </a:t>
            </a:r>
            <a:r>
              <a:rPr lang="en-US" dirty="0">
                <a:solidFill>
                  <a:srgbClr val="FF0000"/>
                </a:solidFill>
              </a:rPr>
              <a:t>20</a:t>
            </a:r>
            <a:r>
              <a:rPr lang="en-US" dirty="0"/>
              <a:t> </a:t>
            </a:r>
            <a:r>
              <a:rPr lang="en-US" dirty="0">
                <a:solidFill>
                  <a:srgbClr val="FF0000"/>
                </a:solidFill>
              </a:rPr>
              <a:t>integers</a:t>
            </a:r>
            <a:r>
              <a:rPr lang="en-US" dirty="0"/>
              <a:t> from </a:t>
            </a:r>
            <a:r>
              <a:rPr lang="en-US" dirty="0">
                <a:solidFill>
                  <a:srgbClr val="FF0000"/>
                </a:solidFill>
              </a:rPr>
              <a:t>1</a:t>
            </a:r>
            <a:r>
              <a:rPr lang="en-US" dirty="0"/>
              <a:t> through </a:t>
            </a:r>
            <a:r>
              <a:rPr lang="en-US" dirty="0">
                <a:solidFill>
                  <a:srgbClr val="FF0000"/>
                </a:solidFill>
              </a:rPr>
              <a:t>100</a:t>
            </a:r>
            <a:r>
              <a:rPr lang="en-US" dirty="0"/>
              <a:t> that are </a:t>
            </a:r>
            <a:r>
              <a:rPr lang="en-US" dirty="0">
                <a:solidFill>
                  <a:srgbClr val="FF0000"/>
                </a:solidFill>
              </a:rPr>
              <a:t>divisible</a:t>
            </a:r>
            <a:r>
              <a:rPr lang="en-US" dirty="0"/>
              <a:t> by </a:t>
            </a:r>
            <a:r>
              <a:rPr lang="en-US" dirty="0">
                <a:solidFill>
                  <a:srgbClr val="FF0000"/>
                </a:solidFill>
              </a:rPr>
              <a:t>5</a:t>
            </a:r>
            <a:r>
              <a:rPr lang="en-US" dirty="0"/>
              <a:t>. </a:t>
            </a:r>
          </a:p>
          <a:p>
            <a:pPr>
              <a:buNone/>
            </a:pPr>
            <a:r>
              <a:rPr lang="en-US" dirty="0"/>
              <a:t>	Hence there are </a:t>
            </a:r>
            <a:r>
              <a:rPr lang="en-US" dirty="0">
                <a:solidFill>
                  <a:srgbClr val="FF0000"/>
                </a:solidFill>
              </a:rPr>
              <a:t>80 integers</a:t>
            </a:r>
            <a:r>
              <a:rPr lang="en-US" dirty="0"/>
              <a:t> from </a:t>
            </a:r>
            <a:r>
              <a:rPr lang="en-US" dirty="0">
                <a:solidFill>
                  <a:srgbClr val="FF0000"/>
                </a:solidFill>
              </a:rPr>
              <a:t>1</a:t>
            </a:r>
            <a:r>
              <a:rPr lang="en-US" dirty="0"/>
              <a:t> through </a:t>
            </a:r>
            <a:r>
              <a:rPr lang="en-US" dirty="0">
                <a:solidFill>
                  <a:srgbClr val="FF0000"/>
                </a:solidFill>
              </a:rPr>
              <a:t>100</a:t>
            </a:r>
            <a:r>
              <a:rPr lang="en-US" dirty="0"/>
              <a:t> that are </a:t>
            </a:r>
            <a:r>
              <a:rPr lang="en-US" dirty="0">
                <a:solidFill>
                  <a:srgbClr val="FF0000"/>
                </a:solidFill>
              </a:rPr>
              <a:t>not divisible</a:t>
            </a:r>
            <a:r>
              <a:rPr lang="en-US" dirty="0"/>
              <a:t> by </a:t>
            </a:r>
            <a:r>
              <a:rPr lang="en-US" dirty="0">
                <a:solidFill>
                  <a:srgbClr val="FF0000"/>
                </a:solidFill>
              </a:rPr>
              <a:t>5</a:t>
            </a:r>
            <a:r>
              <a:rPr lang="en-US" dirty="0"/>
              <a:t>.</a:t>
            </a:r>
          </a:p>
          <a:p>
            <a:pPr>
              <a:buNone/>
            </a:pPr>
            <a:r>
              <a:rPr lang="en-US" dirty="0"/>
              <a:t>	 Thus by the </a:t>
            </a:r>
            <a:r>
              <a:rPr lang="en-US" dirty="0">
                <a:solidFill>
                  <a:srgbClr val="FF0000"/>
                </a:solidFill>
              </a:rPr>
              <a:t>pigeonhole principle</a:t>
            </a:r>
            <a:r>
              <a:rPr lang="en-US" dirty="0"/>
              <a:t> </a:t>
            </a:r>
            <a:r>
              <a:rPr lang="en-US" dirty="0">
                <a:solidFill>
                  <a:srgbClr val="FF0000"/>
                </a:solidFill>
              </a:rPr>
              <a:t>81 = 80 + 1</a:t>
            </a:r>
            <a:r>
              <a:rPr lang="en-US" dirty="0"/>
              <a:t> integers from 1 though 100 must be picked in order to be sure of getting </a:t>
            </a:r>
            <a:r>
              <a:rPr lang="en-US" dirty="0">
                <a:solidFill>
                  <a:srgbClr val="FF0000"/>
                </a:solidFill>
              </a:rPr>
              <a:t>one</a:t>
            </a:r>
            <a:r>
              <a:rPr lang="en-US" dirty="0"/>
              <a:t> that is </a:t>
            </a:r>
            <a:r>
              <a:rPr lang="en-US" dirty="0">
                <a:solidFill>
                  <a:srgbClr val="FF0000"/>
                </a:solidFill>
              </a:rPr>
              <a:t>divisible</a:t>
            </a:r>
            <a:r>
              <a:rPr lang="en-US" dirty="0"/>
              <a:t> by </a:t>
            </a:r>
            <a:r>
              <a:rPr lang="en-US" dirty="0">
                <a:solidFill>
                  <a:srgbClr val="FF0000"/>
                </a:solidFill>
              </a:rPr>
              <a:t>5</a:t>
            </a:r>
            <a:r>
              <a:rPr lang="en-US" dirty="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20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2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776" y="0"/>
            <a:ext cx="10515600" cy="1325563"/>
          </a:xfrm>
        </p:spPr>
        <p:txBody>
          <a:bodyPr>
            <a:normAutofit/>
          </a:bodyPr>
          <a:lstStyle/>
          <a:p>
            <a:pPr algn="ctr"/>
            <a:r>
              <a:rPr lang="en-US" b="1" u="sng" dirty="0">
                <a:solidFill>
                  <a:srgbClr val="0070C0"/>
                </a:solidFill>
              </a:rPr>
              <a:t>EXERCISE</a:t>
            </a:r>
          </a:p>
        </p:txBody>
      </p:sp>
      <p:sp>
        <p:nvSpPr>
          <p:cNvPr id="4" name="Content Placeholder 3"/>
          <p:cNvSpPr>
            <a:spLocks noGrp="1"/>
          </p:cNvSpPr>
          <p:nvPr>
            <p:ph sz="quarter" idx="1"/>
          </p:nvPr>
        </p:nvSpPr>
        <p:spPr>
          <a:xfrm>
            <a:off x="493776" y="1116106"/>
            <a:ext cx="11554789" cy="5056094"/>
          </a:xfrm>
        </p:spPr>
        <p:txBody>
          <a:bodyPr>
            <a:normAutofit fontScale="85000" lnSpcReduction="20000"/>
          </a:bodyPr>
          <a:lstStyle/>
          <a:p>
            <a:pPr marL="0" indent="0">
              <a:lnSpc>
                <a:spcPct val="120000"/>
              </a:lnSpc>
              <a:buNone/>
            </a:pPr>
            <a:r>
              <a:rPr lang="en-US" dirty="0"/>
              <a:t>Let A = </a:t>
            </a:r>
            <a:r>
              <a:rPr lang="en-US" dirty="0">
                <a:solidFill>
                  <a:srgbClr val="FF0000"/>
                </a:solidFill>
              </a:rPr>
              <a:t>{1, 2, 3, 4, 5, 6, 7, 8, 9, 10}</a:t>
            </a:r>
            <a:r>
              <a:rPr lang="en-US" dirty="0"/>
              <a:t>. </a:t>
            </a:r>
            <a:r>
              <a:rPr lang="en-US" dirty="0">
                <a:solidFill>
                  <a:srgbClr val="FF0000"/>
                </a:solidFill>
              </a:rPr>
              <a:t>Show </a:t>
            </a:r>
            <a:r>
              <a:rPr lang="en-US" dirty="0"/>
              <a:t>that if </a:t>
            </a:r>
            <a:r>
              <a:rPr lang="en-US" dirty="0">
                <a:solidFill>
                  <a:srgbClr val="FF0000"/>
                </a:solidFill>
              </a:rPr>
              <a:t>six</a:t>
            </a:r>
            <a:r>
              <a:rPr lang="en-US" dirty="0"/>
              <a:t> integers are </a:t>
            </a:r>
            <a:r>
              <a:rPr lang="en-US" dirty="0">
                <a:solidFill>
                  <a:srgbClr val="FF0000"/>
                </a:solidFill>
              </a:rPr>
              <a:t>chosen</a:t>
            </a:r>
            <a:r>
              <a:rPr lang="en-US" dirty="0"/>
              <a:t> from</a:t>
            </a:r>
            <a:r>
              <a:rPr lang="en-US" dirty="0">
                <a:solidFill>
                  <a:srgbClr val="FF0000"/>
                </a:solidFill>
              </a:rPr>
              <a:t> A</a:t>
            </a:r>
            <a:r>
              <a:rPr lang="en-US" dirty="0"/>
              <a:t>. Must there be </a:t>
            </a:r>
            <a:r>
              <a:rPr lang="en-US" dirty="0">
                <a:solidFill>
                  <a:srgbClr val="FF0000"/>
                </a:solidFill>
              </a:rPr>
              <a:t>two integers</a:t>
            </a:r>
            <a:r>
              <a:rPr lang="en-US" dirty="0"/>
              <a:t> whose </a:t>
            </a:r>
            <a:r>
              <a:rPr lang="en-US" dirty="0">
                <a:solidFill>
                  <a:srgbClr val="FF0000"/>
                </a:solidFill>
              </a:rPr>
              <a:t>sum</a:t>
            </a:r>
            <a:r>
              <a:rPr lang="en-US" dirty="0"/>
              <a:t> is </a:t>
            </a:r>
            <a:r>
              <a:rPr lang="en-US" dirty="0">
                <a:solidFill>
                  <a:srgbClr val="FF0000"/>
                </a:solidFill>
              </a:rPr>
              <a:t>11</a:t>
            </a:r>
            <a:r>
              <a:rPr lang="en-US" dirty="0"/>
              <a:t>.</a:t>
            </a:r>
          </a:p>
          <a:p>
            <a:pPr marL="0" indent="0">
              <a:lnSpc>
                <a:spcPct val="120000"/>
              </a:lnSpc>
              <a:buNone/>
            </a:pPr>
            <a:r>
              <a:rPr lang="en-US" b="1" u="sng" dirty="0">
                <a:solidFill>
                  <a:srgbClr val="0070C0"/>
                </a:solidFill>
              </a:rPr>
              <a:t>SOLUTION:</a:t>
            </a:r>
            <a:endParaRPr lang="en-US" dirty="0">
              <a:solidFill>
                <a:srgbClr val="0070C0"/>
              </a:solidFill>
            </a:endParaRPr>
          </a:p>
          <a:p>
            <a:pPr>
              <a:lnSpc>
                <a:spcPct val="120000"/>
              </a:lnSpc>
              <a:buNone/>
            </a:pPr>
            <a:r>
              <a:rPr lang="en-US" dirty="0"/>
              <a:t>	The set </a:t>
            </a:r>
            <a:r>
              <a:rPr lang="en-US" dirty="0">
                <a:solidFill>
                  <a:srgbClr val="FF0000"/>
                </a:solidFill>
              </a:rPr>
              <a:t>A</a:t>
            </a:r>
            <a:r>
              <a:rPr lang="en-US" dirty="0"/>
              <a:t> can be </a:t>
            </a:r>
            <a:r>
              <a:rPr lang="en-US" dirty="0">
                <a:solidFill>
                  <a:srgbClr val="FF0000"/>
                </a:solidFill>
              </a:rPr>
              <a:t>partitioned</a:t>
            </a:r>
            <a:r>
              <a:rPr lang="en-US" dirty="0"/>
              <a:t> into </a:t>
            </a:r>
            <a:r>
              <a:rPr lang="en-US" dirty="0">
                <a:solidFill>
                  <a:srgbClr val="FF0000"/>
                </a:solidFill>
              </a:rPr>
              <a:t>five subsets</a:t>
            </a:r>
            <a:r>
              <a:rPr lang="en-US" dirty="0"/>
              <a:t>:</a:t>
            </a:r>
          </a:p>
          <a:p>
            <a:pPr>
              <a:lnSpc>
                <a:spcPct val="120000"/>
              </a:lnSpc>
              <a:buNone/>
            </a:pPr>
            <a:r>
              <a:rPr lang="en-US" dirty="0"/>
              <a:t>			</a:t>
            </a:r>
            <a:r>
              <a:rPr lang="en-US" dirty="0">
                <a:solidFill>
                  <a:srgbClr val="FF0000"/>
                </a:solidFill>
              </a:rPr>
              <a:t>{1, 10}</a:t>
            </a:r>
            <a:r>
              <a:rPr lang="en-US" dirty="0"/>
              <a:t>, </a:t>
            </a:r>
            <a:r>
              <a:rPr lang="en-US" dirty="0">
                <a:solidFill>
                  <a:srgbClr val="FF0000"/>
                </a:solidFill>
              </a:rPr>
              <a:t>{2, 9}</a:t>
            </a:r>
            <a:r>
              <a:rPr lang="en-US" dirty="0"/>
              <a:t>, </a:t>
            </a:r>
            <a:r>
              <a:rPr lang="en-US" dirty="0">
                <a:solidFill>
                  <a:srgbClr val="FF0000"/>
                </a:solidFill>
              </a:rPr>
              <a:t>{3, 8}</a:t>
            </a:r>
            <a:r>
              <a:rPr lang="en-US" dirty="0"/>
              <a:t>, </a:t>
            </a:r>
            <a:r>
              <a:rPr lang="en-US" dirty="0">
                <a:solidFill>
                  <a:srgbClr val="FF0000"/>
                </a:solidFill>
              </a:rPr>
              <a:t>{4, 7}</a:t>
            </a:r>
            <a:r>
              <a:rPr lang="en-US" dirty="0"/>
              <a:t>, and </a:t>
            </a:r>
            <a:r>
              <a:rPr lang="en-US" dirty="0">
                <a:solidFill>
                  <a:srgbClr val="FF0000"/>
                </a:solidFill>
              </a:rPr>
              <a:t>{5, 6} </a:t>
            </a:r>
            <a:r>
              <a:rPr lang="en-US" dirty="0"/>
              <a:t>each consisting of two integers whose </a:t>
            </a:r>
            <a:r>
              <a:rPr lang="en-US" dirty="0">
                <a:solidFill>
                  <a:srgbClr val="FF0000"/>
                </a:solidFill>
              </a:rPr>
              <a:t>sum is 11</a:t>
            </a:r>
            <a:r>
              <a:rPr lang="en-US" dirty="0"/>
              <a:t>. </a:t>
            </a:r>
          </a:p>
          <a:p>
            <a:pPr>
              <a:lnSpc>
                <a:spcPct val="120000"/>
              </a:lnSpc>
              <a:buNone/>
            </a:pPr>
            <a:r>
              <a:rPr lang="en-US" dirty="0"/>
              <a:t>	These </a:t>
            </a:r>
            <a:r>
              <a:rPr lang="en-US" dirty="0">
                <a:solidFill>
                  <a:srgbClr val="FF0000"/>
                </a:solidFill>
              </a:rPr>
              <a:t>5</a:t>
            </a:r>
            <a:r>
              <a:rPr lang="en-US" dirty="0"/>
              <a:t> </a:t>
            </a:r>
            <a:r>
              <a:rPr lang="en-US" dirty="0">
                <a:solidFill>
                  <a:srgbClr val="FF0000"/>
                </a:solidFill>
              </a:rPr>
              <a:t>subsets</a:t>
            </a:r>
            <a:r>
              <a:rPr lang="en-US" dirty="0"/>
              <a:t> can be considered as </a:t>
            </a:r>
            <a:r>
              <a:rPr lang="en-US" dirty="0">
                <a:solidFill>
                  <a:srgbClr val="FF0000"/>
                </a:solidFill>
              </a:rPr>
              <a:t>5 pigeonholes</a:t>
            </a:r>
            <a:r>
              <a:rPr lang="en-US" dirty="0"/>
              <a:t>. 	</a:t>
            </a:r>
          </a:p>
          <a:p>
            <a:pPr>
              <a:lnSpc>
                <a:spcPct val="120000"/>
              </a:lnSpc>
              <a:buNone/>
            </a:pPr>
            <a:r>
              <a:rPr lang="en-US" dirty="0"/>
              <a:t>	If you pick six elements. Then you have to pick one set from above sets.</a:t>
            </a:r>
          </a:p>
          <a:p>
            <a:pPr>
              <a:lnSpc>
                <a:spcPct val="120000"/>
              </a:lnSpc>
              <a:buNone/>
            </a:pPr>
            <a:r>
              <a:rPr lang="en-US" dirty="0"/>
              <a:t>         </a:t>
            </a:r>
          </a:p>
          <a:p>
            <a:pPr>
              <a:lnSpc>
                <a:spcPct val="120000"/>
              </a:lnSpc>
              <a:buNone/>
            </a:pPr>
            <a:r>
              <a:rPr lang="en-US" dirty="0"/>
              <a:t>	If 6 = (5 + 1) integers are selected from A, then by the </a:t>
            </a:r>
            <a:r>
              <a:rPr lang="en-US" dirty="0">
                <a:solidFill>
                  <a:srgbClr val="FF0000"/>
                </a:solidFill>
              </a:rPr>
              <a:t>pigeonhole principle</a:t>
            </a:r>
            <a:r>
              <a:rPr lang="en-US" dirty="0"/>
              <a:t> at least </a:t>
            </a:r>
            <a:r>
              <a:rPr lang="en-US" dirty="0">
                <a:solidFill>
                  <a:srgbClr val="FF0000"/>
                </a:solidFill>
              </a:rPr>
              <a:t>two must be from one of the five subsets.</a:t>
            </a:r>
            <a:r>
              <a:rPr lang="en-US" dirty="0"/>
              <a:t> But then the sum of these two integers is 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9728" y="1506167"/>
            <a:ext cx="11308702" cy="912861"/>
          </a:xfrm>
        </p:spPr>
        <p:txBody>
          <a:bodyPr>
            <a:normAutofit/>
          </a:bodyPr>
          <a:lstStyle/>
          <a:p>
            <a:pPr marL="0" lvl="0" indent="0" algn="just">
              <a:buNone/>
            </a:pPr>
            <a:r>
              <a:rPr lang="en-US" sz="2400" b="1" dirty="0">
                <a:solidFill>
                  <a:schemeClr val="accent5">
                    <a:lumMod val="75000"/>
                  </a:schemeClr>
                </a:solidFill>
                <a:latin typeface="Cambria Math" panose="02040503050406030204" pitchFamily="18" charset="0"/>
                <a:ea typeface="Cambria Math" panose="02040503050406030204" pitchFamily="18" charset="0"/>
              </a:rPr>
              <a:t>At any given time in Lahore City there live at least two people who have the same number of hair on their head.</a:t>
            </a: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pic>
        <p:nvPicPr>
          <p:cNvPr id="6" name="Picture 5"/>
          <p:cNvPicPr>
            <a:picLocks noChangeAspect="1"/>
          </p:cNvPicPr>
          <p:nvPr/>
        </p:nvPicPr>
        <p:blipFill>
          <a:blip r:embed="rId2"/>
          <a:stretch>
            <a:fillRect/>
          </a:stretch>
        </p:blipFill>
        <p:spPr>
          <a:xfrm>
            <a:off x="9144000" y="4001294"/>
            <a:ext cx="2465921" cy="2719031"/>
          </a:xfrm>
          <a:prstGeom prst="rect">
            <a:avLst/>
          </a:prstGeom>
        </p:spPr>
      </p:pic>
      <p:sp>
        <p:nvSpPr>
          <p:cNvPr id="4" name="Title 1">
            <a:extLst>
              <a:ext uri="{FF2B5EF4-FFF2-40B4-BE49-F238E27FC236}">
                <a16:creationId xmlns:a16="http://schemas.microsoft.com/office/drawing/2014/main" id="{6B1826E5-3197-6F55-F9A3-7D81EE65CA78}"/>
              </a:ext>
            </a:extLst>
          </p:cNvPr>
          <p:cNvSpPr txBox="1">
            <a:spLocks/>
          </p:cNvSpPr>
          <p:nvPr/>
        </p:nvSpPr>
        <p:spPr>
          <a:xfrm>
            <a:off x="629728" y="1"/>
            <a:ext cx="9885872" cy="12774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u="sng" dirty="0">
                <a:solidFill>
                  <a:srgbClr val="0070C0"/>
                </a:solidFill>
              </a:rPr>
              <a:t>Pigeonhole Principal </a:t>
            </a:r>
            <a:r>
              <a:rPr lang="en-US" sz="4000" dirty="0">
                <a:solidFill>
                  <a:schemeClr val="accent5">
                    <a:lumMod val="75000"/>
                  </a:schemeClr>
                </a:solidFill>
                <a:latin typeface="Cambria Math" panose="02040503050406030204" pitchFamily="18" charset="0"/>
                <a:ea typeface="Cambria Math" panose="02040503050406030204" pitchFamily="18" charset="0"/>
              </a:rPr>
              <a:t>… </a:t>
            </a:r>
            <a:r>
              <a:rPr lang="en-US" sz="3600" b="1" u="sng" dirty="0">
                <a:solidFill>
                  <a:srgbClr val="B31591"/>
                </a:solidFill>
                <a:latin typeface="Cambria Math" panose="02040503050406030204" pitchFamily="18" charset="0"/>
                <a:ea typeface="Cambria Math" panose="02040503050406030204" pitchFamily="18" charset="0"/>
              </a:rPr>
              <a:t>Exercise</a:t>
            </a:r>
            <a:endParaRPr lang="en-US" sz="2800" b="1" u="sng" dirty="0">
              <a:solidFill>
                <a:schemeClr val="accent4">
                  <a:lumMod val="75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759849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9728" y="1116804"/>
            <a:ext cx="10551225" cy="927411"/>
          </a:xfrm>
        </p:spPr>
        <p:txBody>
          <a:bodyPr>
            <a:normAutofit/>
          </a:bodyPr>
          <a:lstStyle/>
          <a:p>
            <a:pPr marL="0" lvl="0" indent="0">
              <a:buNone/>
            </a:pPr>
            <a:r>
              <a:rPr lang="en-US" b="1" dirty="0">
                <a:solidFill>
                  <a:schemeClr val="accent5">
                    <a:lumMod val="75000"/>
                  </a:schemeClr>
                </a:solidFill>
                <a:latin typeface="Cambria Math" panose="02040503050406030204" pitchFamily="18" charset="0"/>
                <a:ea typeface="Cambria Math" panose="02040503050406030204" pitchFamily="18" charset="0"/>
              </a:rPr>
              <a:t>At any given time in Lahore there live at least two people who have the same number of hairs on their head.</a:t>
            </a:r>
          </a:p>
          <a:p>
            <a:pPr marL="0" indent="0">
              <a:buNone/>
            </a:pPr>
            <a:endParaRPr lang="en-US" dirty="0">
              <a:latin typeface="Cambria Math" panose="02040503050406030204" pitchFamily="18" charset="0"/>
              <a:ea typeface="Cambria Math" panose="02040503050406030204" pitchFamily="18" charset="0"/>
            </a:endParaRPr>
          </a:p>
        </p:txBody>
      </p:sp>
      <p:sp>
        <p:nvSpPr>
          <p:cNvPr id="5" name="Rectangle 4"/>
          <p:cNvSpPr/>
          <p:nvPr/>
        </p:nvSpPr>
        <p:spPr>
          <a:xfrm>
            <a:off x="629728" y="2459504"/>
            <a:ext cx="8096228" cy="1938992"/>
          </a:xfrm>
          <a:prstGeom prst="rect">
            <a:avLst/>
          </a:prstGeom>
        </p:spPr>
        <p:txBody>
          <a:bodyPr wrap="square">
            <a:spAutoFit/>
          </a:bodyPr>
          <a:lstStyle/>
          <a:p>
            <a:pPr algn="just"/>
            <a:r>
              <a:rPr lang="en-US" sz="2400" dirty="0">
                <a:solidFill>
                  <a:schemeClr val="accent6">
                    <a:lumMod val="75000"/>
                  </a:schemeClr>
                </a:solidFill>
                <a:latin typeface="Cambria Math" panose="02040503050406030204" pitchFamily="18" charset="0"/>
                <a:ea typeface="Cambria Math" panose="02040503050406030204" pitchFamily="18" charset="0"/>
              </a:rPr>
              <a:t>A human has a maximum of about 500,000 hairs. In comparison, there are millions of people in a metropolitan, which outnumbers the number of hairs a human normally has. By pigeonhole principle, at least two of them must have the same number of hairs.</a:t>
            </a:r>
          </a:p>
        </p:txBody>
      </p:sp>
      <p:pic>
        <p:nvPicPr>
          <p:cNvPr id="6" name="Picture 5"/>
          <p:cNvPicPr>
            <a:picLocks noChangeAspect="1"/>
          </p:cNvPicPr>
          <p:nvPr/>
        </p:nvPicPr>
        <p:blipFill>
          <a:blip r:embed="rId2"/>
          <a:stretch>
            <a:fillRect/>
          </a:stretch>
        </p:blipFill>
        <p:spPr>
          <a:xfrm rot="943839">
            <a:off x="9116008" y="2463282"/>
            <a:ext cx="2465921" cy="2719031"/>
          </a:xfrm>
          <a:prstGeom prst="rect">
            <a:avLst/>
          </a:prstGeom>
        </p:spPr>
      </p:pic>
      <p:sp>
        <p:nvSpPr>
          <p:cNvPr id="7" name="Title 1">
            <a:extLst>
              <a:ext uri="{FF2B5EF4-FFF2-40B4-BE49-F238E27FC236}">
                <a16:creationId xmlns:a16="http://schemas.microsoft.com/office/drawing/2014/main" id="{003541A8-2597-4DDA-867F-071E96900821}"/>
              </a:ext>
            </a:extLst>
          </p:cNvPr>
          <p:cNvSpPr txBox="1">
            <a:spLocks/>
          </p:cNvSpPr>
          <p:nvPr/>
        </p:nvSpPr>
        <p:spPr>
          <a:xfrm>
            <a:off x="629728" y="1"/>
            <a:ext cx="9885872" cy="12774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u="sng" dirty="0">
                <a:solidFill>
                  <a:srgbClr val="0070C0"/>
                </a:solidFill>
              </a:rPr>
              <a:t>Pigeonhole Principal </a:t>
            </a:r>
            <a:r>
              <a:rPr lang="en-US" sz="4000" dirty="0">
                <a:solidFill>
                  <a:schemeClr val="accent5">
                    <a:lumMod val="75000"/>
                  </a:schemeClr>
                </a:solidFill>
                <a:latin typeface="Cambria Math" panose="02040503050406030204" pitchFamily="18" charset="0"/>
                <a:ea typeface="Cambria Math" panose="02040503050406030204" pitchFamily="18" charset="0"/>
              </a:rPr>
              <a:t>… </a:t>
            </a:r>
            <a:r>
              <a:rPr lang="en-US" sz="3600" b="1" u="sng" dirty="0">
                <a:solidFill>
                  <a:srgbClr val="B31591"/>
                </a:solidFill>
                <a:latin typeface="Cambria Math" panose="02040503050406030204" pitchFamily="18" charset="0"/>
                <a:ea typeface="Cambria Math" panose="02040503050406030204" pitchFamily="18" charset="0"/>
              </a:rPr>
              <a:t>Exercise</a:t>
            </a:r>
            <a:endParaRPr lang="en-US" sz="2800" b="1" u="sng" dirty="0">
              <a:solidFill>
                <a:schemeClr val="accent4">
                  <a:lumMod val="75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926398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4"/>
          <p:cNvGrpSpPr>
            <a:grpSpLocks noChangeAspect="1"/>
          </p:cNvGrpSpPr>
          <p:nvPr/>
        </p:nvGrpSpPr>
        <p:grpSpPr bwMode="auto">
          <a:xfrm rot="11077843" flipV="1">
            <a:off x="9716722" y="96715"/>
            <a:ext cx="2465387" cy="2719387"/>
            <a:chOff x="6127" y="1"/>
            <a:chExt cx="1553" cy="1713"/>
          </a:xfrm>
          <a:effectLst>
            <a:reflection blurRad="190500" dir="5400000" sy="-100000" algn="bl" rotWithShape="0"/>
          </a:effectLst>
        </p:grpSpPr>
        <p:sp>
          <p:nvSpPr>
            <p:cNvPr id="13" name="AutoShape 3"/>
            <p:cNvSpPr>
              <a:spLocks noChangeAspect="1" noChangeArrowheads="1" noTextEdit="1"/>
            </p:cNvSpPr>
            <p:nvPr/>
          </p:nvSpPr>
          <p:spPr bwMode="auto">
            <a:xfrm>
              <a:off x="6127" y="1"/>
              <a:ext cx="1553" cy="17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3" name="Picture 5"/>
            <p:cNvPicPr>
              <a:picLocks noChangeAspect="1" noChangeArrowheads="1"/>
            </p:cNvPicPr>
            <p:nvPr/>
          </p:nvPicPr>
          <p:blipFill>
            <a:blip r:embed="rId2">
              <a:extLst>
                <a:ext uri="{BEBA8EAE-BF5A-486C-A8C5-ECC9F3942E4B}">
                  <a14:imgProps xmlns:a14="http://schemas.microsoft.com/office/drawing/2010/main">
                    <a14:imgLayer r:embed="rId3">
                      <a14:imgEffect>
                        <a14:artisticGlass scaling="100"/>
                      </a14:imgEffect>
                    </a14:imgLayer>
                  </a14:imgProps>
                </a:ext>
                <a:ext uri="{28A0092B-C50C-407E-A947-70E740481C1C}">
                  <a14:useLocalDpi xmlns:a14="http://schemas.microsoft.com/office/drawing/2010/main" val="0"/>
                </a:ext>
              </a:extLst>
            </a:blip>
            <a:srcRect/>
            <a:stretch>
              <a:fillRect/>
            </a:stretch>
          </p:blipFill>
          <p:spPr bwMode="auto">
            <a:xfrm>
              <a:off x="6127" y="1"/>
              <a:ext cx="1559" cy="171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grpSp>
      <p:sp>
        <p:nvSpPr>
          <p:cNvPr id="8" name="Content Placeholder 7"/>
          <p:cNvSpPr>
            <a:spLocks noGrp="1"/>
          </p:cNvSpPr>
          <p:nvPr>
            <p:ph idx="1"/>
          </p:nvPr>
        </p:nvSpPr>
        <p:spPr>
          <a:xfrm>
            <a:off x="619259" y="1328468"/>
            <a:ext cx="8795329" cy="5239757"/>
          </a:xfrm>
        </p:spPr>
        <p:txBody>
          <a:bodyPr>
            <a:normAutofit/>
          </a:bodyPr>
          <a:lstStyle/>
          <a:p>
            <a:pPr marL="0" indent="0">
              <a:buNone/>
            </a:pPr>
            <a:r>
              <a:rPr lang="en-US" sz="3200" b="1" dirty="0">
                <a:solidFill>
                  <a:srgbClr val="B31591"/>
                </a:solidFill>
                <a:latin typeface="Cambria Math" panose="02040503050406030204" pitchFamily="18" charset="0"/>
                <a:ea typeface="Cambria Math" panose="02040503050406030204" pitchFamily="18" charset="0"/>
              </a:rPr>
              <a:t>Formulating the Problem:</a:t>
            </a:r>
            <a:endParaRPr lang="en-US" sz="2000" dirty="0">
              <a:solidFill>
                <a:srgbClr val="B31591"/>
              </a:solidFill>
              <a:latin typeface="Cambria Math" panose="02040503050406030204" pitchFamily="18" charset="0"/>
              <a:ea typeface="Cambria Math" panose="02040503050406030204" pitchFamily="18" charset="0"/>
            </a:endParaRPr>
          </a:p>
          <a:p>
            <a:pPr marL="0" indent="0">
              <a:buNone/>
            </a:pPr>
            <a:r>
              <a:rPr lang="en-US" sz="2400" dirty="0">
                <a:latin typeface="Cambria Math" panose="02040503050406030204" pitchFamily="18" charset="0"/>
                <a:ea typeface="Cambria Math" panose="02040503050406030204" pitchFamily="18" charset="0"/>
              </a:rPr>
              <a:t>If there were no two people with the same number of strands of hair, then, </a:t>
            </a:r>
          </a:p>
          <a:p>
            <a:pPr>
              <a:buFont typeface="Wingdings" panose="05000000000000000000" pitchFamily="2" charset="2"/>
              <a:buChar char="ü"/>
            </a:pPr>
            <a:r>
              <a:rPr lang="en-US" sz="2400" dirty="0">
                <a:solidFill>
                  <a:schemeClr val="accent6">
                    <a:lumMod val="75000"/>
                  </a:schemeClr>
                </a:solidFill>
                <a:latin typeface="Cambria Math" panose="02040503050406030204" pitchFamily="18" charset="0"/>
                <a:ea typeface="Cambria Math" panose="02040503050406030204" pitchFamily="18" charset="0"/>
              </a:rPr>
              <a:t>There would be at most one person having 0 strands, </a:t>
            </a:r>
          </a:p>
        </p:txBody>
      </p:sp>
      <p:pic>
        <p:nvPicPr>
          <p:cNvPr id="11" name="Picture 10" descr="Image result for PIGE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42303" y="289775"/>
            <a:ext cx="2096722" cy="835598"/>
          </a:xfrm>
          <a:prstGeom prst="rect">
            <a:avLst/>
          </a:prstGeom>
          <a:noFill/>
          <a:effectLst>
            <a:softEdge rad="114300"/>
          </a:effectLst>
          <a:extLst>
            <a:ext uri="{909E8E84-426E-40DD-AFC4-6F175D3DCCD1}">
              <a14:hiddenFill xmlns:a14="http://schemas.microsoft.com/office/drawing/2010/main">
                <a:solidFill>
                  <a:srgbClr val="FFFFFF"/>
                </a:solidFill>
              </a14:hiddenFill>
            </a:ext>
          </a:extLst>
        </p:spPr>
      </p:pic>
      <p:sp>
        <p:nvSpPr>
          <p:cNvPr id="14" name="Title 1">
            <a:extLst>
              <a:ext uri="{FF2B5EF4-FFF2-40B4-BE49-F238E27FC236}">
                <a16:creationId xmlns:a16="http://schemas.microsoft.com/office/drawing/2014/main" id="{DAF53632-CCBE-48E3-A165-B3C8ACB12C78}"/>
              </a:ext>
            </a:extLst>
          </p:cNvPr>
          <p:cNvSpPr txBox="1">
            <a:spLocks/>
          </p:cNvSpPr>
          <p:nvPr/>
        </p:nvSpPr>
        <p:spPr>
          <a:xfrm>
            <a:off x="481810" y="0"/>
            <a:ext cx="9885872" cy="12774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u="sng" dirty="0">
                <a:solidFill>
                  <a:srgbClr val="0070C0"/>
                </a:solidFill>
              </a:rPr>
              <a:t>Pigeonhole Principal </a:t>
            </a:r>
            <a:r>
              <a:rPr lang="en-US" sz="4000" dirty="0">
                <a:solidFill>
                  <a:schemeClr val="accent5">
                    <a:lumMod val="75000"/>
                  </a:schemeClr>
                </a:solidFill>
                <a:latin typeface="Cambria Math" panose="02040503050406030204" pitchFamily="18" charset="0"/>
                <a:ea typeface="Cambria Math" panose="02040503050406030204" pitchFamily="18" charset="0"/>
              </a:rPr>
              <a:t>… </a:t>
            </a:r>
            <a:r>
              <a:rPr lang="en-US" sz="3600" b="1" u="sng" dirty="0">
                <a:solidFill>
                  <a:srgbClr val="B31591"/>
                </a:solidFill>
                <a:latin typeface="Cambria Math" panose="02040503050406030204" pitchFamily="18" charset="0"/>
                <a:ea typeface="Cambria Math" panose="02040503050406030204" pitchFamily="18" charset="0"/>
              </a:rPr>
              <a:t>Exercise</a:t>
            </a:r>
            <a:endParaRPr lang="en-US" sz="2800" b="1" u="sng" dirty="0">
              <a:solidFill>
                <a:schemeClr val="accent4">
                  <a:lumMod val="75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263538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4"/>
          <p:cNvGrpSpPr>
            <a:grpSpLocks noChangeAspect="1"/>
          </p:cNvGrpSpPr>
          <p:nvPr/>
        </p:nvGrpSpPr>
        <p:grpSpPr bwMode="auto">
          <a:xfrm rot="11077843" flipV="1">
            <a:off x="9716722" y="96715"/>
            <a:ext cx="2465387" cy="2719387"/>
            <a:chOff x="6127" y="1"/>
            <a:chExt cx="1553" cy="1713"/>
          </a:xfrm>
          <a:effectLst>
            <a:reflection blurRad="190500" dir="5400000" sy="-100000" algn="bl" rotWithShape="0"/>
          </a:effectLst>
        </p:grpSpPr>
        <p:sp>
          <p:nvSpPr>
            <p:cNvPr id="13" name="AutoShape 3"/>
            <p:cNvSpPr>
              <a:spLocks noChangeAspect="1" noChangeArrowheads="1" noTextEdit="1"/>
            </p:cNvSpPr>
            <p:nvPr/>
          </p:nvSpPr>
          <p:spPr bwMode="auto">
            <a:xfrm>
              <a:off x="6127" y="1"/>
              <a:ext cx="1553" cy="17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3" name="Picture 5"/>
            <p:cNvPicPr>
              <a:picLocks noChangeAspect="1" noChangeArrowheads="1"/>
            </p:cNvPicPr>
            <p:nvPr/>
          </p:nvPicPr>
          <p:blipFill>
            <a:blip r:embed="rId2">
              <a:extLst>
                <a:ext uri="{BEBA8EAE-BF5A-486C-A8C5-ECC9F3942E4B}">
                  <a14:imgProps xmlns:a14="http://schemas.microsoft.com/office/drawing/2010/main">
                    <a14:imgLayer r:embed="rId3">
                      <a14:imgEffect>
                        <a14:artisticGlass scaling="100"/>
                      </a14:imgEffect>
                    </a14:imgLayer>
                  </a14:imgProps>
                </a:ext>
                <a:ext uri="{28A0092B-C50C-407E-A947-70E740481C1C}">
                  <a14:useLocalDpi xmlns:a14="http://schemas.microsoft.com/office/drawing/2010/main" val="0"/>
                </a:ext>
              </a:extLst>
            </a:blip>
            <a:srcRect/>
            <a:stretch>
              <a:fillRect/>
            </a:stretch>
          </p:blipFill>
          <p:spPr bwMode="auto">
            <a:xfrm>
              <a:off x="6127" y="1"/>
              <a:ext cx="1559" cy="171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grpSp>
      <p:sp>
        <p:nvSpPr>
          <p:cNvPr id="8" name="Content Placeholder 7"/>
          <p:cNvSpPr>
            <a:spLocks noGrp="1"/>
          </p:cNvSpPr>
          <p:nvPr>
            <p:ph idx="1"/>
          </p:nvPr>
        </p:nvSpPr>
        <p:spPr>
          <a:xfrm>
            <a:off x="619259" y="1325563"/>
            <a:ext cx="8795329" cy="5242662"/>
          </a:xfrm>
        </p:spPr>
        <p:txBody>
          <a:bodyPr>
            <a:normAutofit/>
          </a:bodyPr>
          <a:lstStyle/>
          <a:p>
            <a:pPr marL="0" indent="0">
              <a:buNone/>
            </a:pPr>
            <a:r>
              <a:rPr lang="en-US" b="1" dirty="0">
                <a:solidFill>
                  <a:srgbClr val="B31591"/>
                </a:solidFill>
                <a:latin typeface="Cambria Math" panose="02040503050406030204" pitchFamily="18" charset="0"/>
                <a:ea typeface="Cambria Math" panose="02040503050406030204" pitchFamily="18" charset="0"/>
              </a:rPr>
              <a:t>Formulating the Problem</a:t>
            </a:r>
            <a:endParaRPr lang="en-US" sz="1800" dirty="0">
              <a:solidFill>
                <a:srgbClr val="B31591"/>
              </a:solidFill>
              <a:latin typeface="Cambria Math" panose="02040503050406030204" pitchFamily="18" charset="0"/>
              <a:ea typeface="Cambria Math" panose="02040503050406030204" pitchFamily="18" charset="0"/>
            </a:endParaRPr>
          </a:p>
          <a:p>
            <a:pPr marL="0" indent="0">
              <a:buNone/>
            </a:pPr>
            <a:r>
              <a:rPr lang="en-US" sz="2400" dirty="0">
                <a:latin typeface="Cambria Math" panose="02040503050406030204" pitchFamily="18" charset="0"/>
                <a:ea typeface="Cambria Math" panose="02040503050406030204" pitchFamily="18" charset="0"/>
              </a:rPr>
              <a:t>If there were no two people with the same number of strands of hair, then, </a:t>
            </a:r>
          </a:p>
          <a:p>
            <a:pPr>
              <a:buFont typeface="Wingdings" panose="05000000000000000000" pitchFamily="2" charset="2"/>
              <a:buChar char="ü"/>
            </a:pPr>
            <a:r>
              <a:rPr lang="en-US" sz="2400" dirty="0">
                <a:solidFill>
                  <a:schemeClr val="accent6">
                    <a:lumMod val="75000"/>
                  </a:schemeClr>
                </a:solidFill>
                <a:latin typeface="Cambria Math" panose="02040503050406030204" pitchFamily="18" charset="0"/>
                <a:ea typeface="Cambria Math" panose="02040503050406030204" pitchFamily="18" charset="0"/>
              </a:rPr>
              <a:t>there would be at most one person having 0 strands, </a:t>
            </a:r>
          </a:p>
          <a:p>
            <a:pPr>
              <a:buFont typeface="Wingdings" panose="05000000000000000000" pitchFamily="2" charset="2"/>
              <a:buChar char="ü"/>
            </a:pPr>
            <a:r>
              <a:rPr lang="en-US" sz="2400" dirty="0">
                <a:solidFill>
                  <a:schemeClr val="accent5">
                    <a:lumMod val="75000"/>
                  </a:schemeClr>
                </a:solidFill>
                <a:latin typeface="Cambria Math" panose="02040503050406030204" pitchFamily="18" charset="0"/>
                <a:ea typeface="Cambria Math" panose="02040503050406030204" pitchFamily="18" charset="0"/>
              </a:rPr>
              <a:t>at most one person having exactly 1 strand,</a:t>
            </a:r>
          </a:p>
        </p:txBody>
      </p:sp>
      <p:pic>
        <p:nvPicPr>
          <p:cNvPr id="11" name="Picture 10" descr="Image result for PIGE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66668" y="243751"/>
            <a:ext cx="2240305" cy="828584"/>
          </a:xfrm>
          <a:prstGeom prst="rect">
            <a:avLst/>
          </a:prstGeom>
          <a:noFill/>
          <a:effectLst>
            <a:softEdge rad="114300"/>
          </a:effectLst>
          <a:extLst>
            <a:ext uri="{909E8E84-426E-40DD-AFC4-6F175D3DCCD1}">
              <a14:hiddenFill xmlns:a14="http://schemas.microsoft.com/office/drawing/2010/main">
                <a:solidFill>
                  <a:srgbClr val="FFFFFF"/>
                </a:solidFill>
              </a14:hiddenFill>
            </a:ext>
          </a:extLst>
        </p:spPr>
      </p:pic>
      <p:sp>
        <p:nvSpPr>
          <p:cNvPr id="14" name="Title 1">
            <a:extLst>
              <a:ext uri="{FF2B5EF4-FFF2-40B4-BE49-F238E27FC236}">
                <a16:creationId xmlns:a16="http://schemas.microsoft.com/office/drawing/2014/main" id="{F3B6F5AC-8EA4-44A3-A8B2-752F4CC3214F}"/>
              </a:ext>
            </a:extLst>
          </p:cNvPr>
          <p:cNvSpPr txBox="1">
            <a:spLocks/>
          </p:cNvSpPr>
          <p:nvPr/>
        </p:nvSpPr>
        <p:spPr>
          <a:xfrm>
            <a:off x="629728" y="1"/>
            <a:ext cx="9885872" cy="12774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u="sng" dirty="0">
                <a:solidFill>
                  <a:srgbClr val="0070C0"/>
                </a:solidFill>
              </a:rPr>
              <a:t>Pigeonhole Principal </a:t>
            </a:r>
            <a:r>
              <a:rPr lang="en-US" sz="4000" dirty="0">
                <a:solidFill>
                  <a:schemeClr val="accent5">
                    <a:lumMod val="75000"/>
                  </a:schemeClr>
                </a:solidFill>
                <a:latin typeface="Cambria Math" panose="02040503050406030204" pitchFamily="18" charset="0"/>
                <a:ea typeface="Cambria Math" panose="02040503050406030204" pitchFamily="18" charset="0"/>
              </a:rPr>
              <a:t>… </a:t>
            </a:r>
            <a:r>
              <a:rPr lang="en-US" sz="3600" b="1" u="sng" dirty="0">
                <a:solidFill>
                  <a:srgbClr val="B31591"/>
                </a:solidFill>
                <a:latin typeface="Cambria Math" panose="02040503050406030204" pitchFamily="18" charset="0"/>
                <a:ea typeface="Cambria Math" panose="02040503050406030204" pitchFamily="18" charset="0"/>
              </a:rPr>
              <a:t>Exercise</a:t>
            </a:r>
            <a:endParaRPr lang="en-US" sz="2800" b="1" u="sng" dirty="0">
              <a:solidFill>
                <a:schemeClr val="accent4">
                  <a:lumMod val="75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37479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4"/>
          <p:cNvGrpSpPr>
            <a:grpSpLocks noChangeAspect="1"/>
          </p:cNvGrpSpPr>
          <p:nvPr/>
        </p:nvGrpSpPr>
        <p:grpSpPr bwMode="auto">
          <a:xfrm rot="11077843" flipV="1">
            <a:off x="9716722" y="96715"/>
            <a:ext cx="2465387" cy="2719387"/>
            <a:chOff x="6127" y="1"/>
            <a:chExt cx="1553" cy="1713"/>
          </a:xfrm>
          <a:effectLst>
            <a:reflection blurRad="190500" dir="5400000" sy="-100000" algn="bl" rotWithShape="0"/>
          </a:effectLst>
        </p:grpSpPr>
        <p:sp>
          <p:nvSpPr>
            <p:cNvPr id="13" name="AutoShape 3"/>
            <p:cNvSpPr>
              <a:spLocks noChangeAspect="1" noChangeArrowheads="1" noTextEdit="1"/>
            </p:cNvSpPr>
            <p:nvPr/>
          </p:nvSpPr>
          <p:spPr bwMode="auto">
            <a:xfrm>
              <a:off x="6127" y="1"/>
              <a:ext cx="1553" cy="17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3" name="Picture 5"/>
            <p:cNvPicPr>
              <a:picLocks noChangeAspect="1" noChangeArrowheads="1"/>
            </p:cNvPicPr>
            <p:nvPr/>
          </p:nvPicPr>
          <p:blipFill>
            <a:blip r:embed="rId2">
              <a:extLst>
                <a:ext uri="{BEBA8EAE-BF5A-486C-A8C5-ECC9F3942E4B}">
                  <a14:imgProps xmlns:a14="http://schemas.microsoft.com/office/drawing/2010/main">
                    <a14:imgLayer r:embed="rId3">
                      <a14:imgEffect>
                        <a14:artisticGlass scaling="100"/>
                      </a14:imgEffect>
                    </a14:imgLayer>
                  </a14:imgProps>
                </a:ext>
                <a:ext uri="{28A0092B-C50C-407E-A947-70E740481C1C}">
                  <a14:useLocalDpi xmlns:a14="http://schemas.microsoft.com/office/drawing/2010/main" val="0"/>
                </a:ext>
              </a:extLst>
            </a:blip>
            <a:srcRect/>
            <a:stretch>
              <a:fillRect/>
            </a:stretch>
          </p:blipFill>
          <p:spPr bwMode="auto">
            <a:xfrm>
              <a:off x="6127" y="1"/>
              <a:ext cx="1559" cy="171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grpSp>
      <p:sp>
        <p:nvSpPr>
          <p:cNvPr id="8" name="Content Placeholder 7"/>
          <p:cNvSpPr>
            <a:spLocks noGrp="1"/>
          </p:cNvSpPr>
          <p:nvPr>
            <p:ph idx="1"/>
          </p:nvPr>
        </p:nvSpPr>
        <p:spPr>
          <a:xfrm>
            <a:off x="619259" y="1325563"/>
            <a:ext cx="8795329" cy="5242662"/>
          </a:xfrm>
        </p:spPr>
        <p:txBody>
          <a:bodyPr>
            <a:normAutofit/>
          </a:bodyPr>
          <a:lstStyle/>
          <a:p>
            <a:pPr marL="0" indent="0">
              <a:buNone/>
            </a:pPr>
            <a:r>
              <a:rPr lang="en-US" b="1" dirty="0">
                <a:solidFill>
                  <a:srgbClr val="B31591"/>
                </a:solidFill>
                <a:latin typeface="Cambria Math" panose="02040503050406030204" pitchFamily="18" charset="0"/>
                <a:ea typeface="Cambria Math" panose="02040503050406030204" pitchFamily="18" charset="0"/>
              </a:rPr>
              <a:t>Formulating the Problem</a:t>
            </a:r>
            <a:endParaRPr lang="en-US" sz="1800" dirty="0">
              <a:solidFill>
                <a:srgbClr val="B31591"/>
              </a:solidFill>
              <a:latin typeface="Cambria Math" panose="02040503050406030204" pitchFamily="18" charset="0"/>
              <a:ea typeface="Cambria Math" panose="02040503050406030204" pitchFamily="18" charset="0"/>
            </a:endParaRPr>
          </a:p>
          <a:p>
            <a:pPr marL="0" indent="0">
              <a:buNone/>
            </a:pPr>
            <a:endParaRPr lang="en-US" sz="2400" dirty="0">
              <a:latin typeface="Cambria Math" panose="02040503050406030204" pitchFamily="18" charset="0"/>
              <a:ea typeface="Cambria Math" panose="02040503050406030204" pitchFamily="18" charset="0"/>
            </a:endParaRPr>
          </a:p>
          <a:p>
            <a:pPr marL="0" indent="0">
              <a:buNone/>
            </a:pPr>
            <a:r>
              <a:rPr lang="en-US" sz="2400" dirty="0">
                <a:latin typeface="Cambria Math" panose="02040503050406030204" pitchFamily="18" charset="0"/>
                <a:ea typeface="Cambria Math" panose="02040503050406030204" pitchFamily="18" charset="0"/>
              </a:rPr>
              <a:t>If there were no two people with the same number of strands of hair, then, </a:t>
            </a:r>
          </a:p>
          <a:p>
            <a:pPr>
              <a:buFont typeface="Wingdings" panose="05000000000000000000" pitchFamily="2" charset="2"/>
              <a:buChar char="ü"/>
            </a:pPr>
            <a:r>
              <a:rPr lang="en-US" sz="2400" dirty="0">
                <a:solidFill>
                  <a:schemeClr val="accent6">
                    <a:lumMod val="75000"/>
                  </a:schemeClr>
                </a:solidFill>
                <a:latin typeface="Cambria Math" panose="02040503050406030204" pitchFamily="18" charset="0"/>
                <a:ea typeface="Cambria Math" panose="02040503050406030204" pitchFamily="18" charset="0"/>
              </a:rPr>
              <a:t>there would be at most one person having 0 strands, </a:t>
            </a:r>
          </a:p>
          <a:p>
            <a:pPr>
              <a:buFont typeface="Wingdings" panose="05000000000000000000" pitchFamily="2" charset="2"/>
              <a:buChar char="ü"/>
            </a:pPr>
            <a:r>
              <a:rPr lang="en-US" sz="2400" dirty="0">
                <a:solidFill>
                  <a:schemeClr val="accent5">
                    <a:lumMod val="75000"/>
                  </a:schemeClr>
                </a:solidFill>
                <a:latin typeface="Cambria Math" panose="02040503050406030204" pitchFamily="18" charset="0"/>
                <a:ea typeface="Cambria Math" panose="02040503050406030204" pitchFamily="18" charset="0"/>
              </a:rPr>
              <a:t>at most one person having exactly 1 strand,</a:t>
            </a:r>
          </a:p>
          <a:p>
            <a:pPr>
              <a:buFont typeface="Wingdings" panose="05000000000000000000" pitchFamily="2" charset="2"/>
              <a:buChar char="ü"/>
            </a:pPr>
            <a:r>
              <a:rPr lang="en-US" sz="2400" dirty="0">
                <a:solidFill>
                  <a:schemeClr val="accent2">
                    <a:lumMod val="75000"/>
                  </a:schemeClr>
                </a:solidFill>
                <a:latin typeface="Cambria Math" panose="02040503050406030204" pitchFamily="18" charset="0"/>
                <a:ea typeface="Cambria Math" panose="02040503050406030204" pitchFamily="18" charset="0"/>
              </a:rPr>
              <a:t>and so on</a:t>
            </a:r>
          </a:p>
        </p:txBody>
      </p:sp>
      <p:pic>
        <p:nvPicPr>
          <p:cNvPr id="11" name="Picture 10" descr="Image result for PIGE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37743" y="243751"/>
            <a:ext cx="2096722" cy="828584"/>
          </a:xfrm>
          <a:prstGeom prst="rect">
            <a:avLst/>
          </a:prstGeom>
          <a:noFill/>
          <a:effectLst>
            <a:softEdge rad="114300"/>
          </a:effectLst>
          <a:extLst>
            <a:ext uri="{909E8E84-426E-40DD-AFC4-6F175D3DCCD1}">
              <a14:hiddenFill xmlns:a14="http://schemas.microsoft.com/office/drawing/2010/main">
                <a:solidFill>
                  <a:srgbClr val="FFFFFF"/>
                </a:solidFill>
              </a14:hiddenFill>
            </a:ext>
          </a:extLst>
        </p:spPr>
      </p:pic>
      <p:sp>
        <p:nvSpPr>
          <p:cNvPr id="14" name="Title 1">
            <a:extLst>
              <a:ext uri="{FF2B5EF4-FFF2-40B4-BE49-F238E27FC236}">
                <a16:creationId xmlns:a16="http://schemas.microsoft.com/office/drawing/2014/main" id="{FAF72917-50B9-46DA-AE21-9E93A489A110}"/>
              </a:ext>
            </a:extLst>
          </p:cNvPr>
          <p:cNvSpPr txBox="1">
            <a:spLocks/>
          </p:cNvSpPr>
          <p:nvPr/>
        </p:nvSpPr>
        <p:spPr>
          <a:xfrm>
            <a:off x="629728" y="1"/>
            <a:ext cx="9885872" cy="12774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u="sng" dirty="0">
                <a:solidFill>
                  <a:srgbClr val="0070C0"/>
                </a:solidFill>
              </a:rPr>
              <a:t>Pigeonhole Principal </a:t>
            </a:r>
            <a:r>
              <a:rPr lang="en-US" sz="4000" dirty="0">
                <a:solidFill>
                  <a:schemeClr val="accent5">
                    <a:lumMod val="75000"/>
                  </a:schemeClr>
                </a:solidFill>
                <a:latin typeface="Cambria Math" panose="02040503050406030204" pitchFamily="18" charset="0"/>
                <a:ea typeface="Cambria Math" panose="02040503050406030204" pitchFamily="18" charset="0"/>
              </a:rPr>
              <a:t>… </a:t>
            </a:r>
            <a:r>
              <a:rPr lang="en-US" sz="3600" b="1" u="sng" dirty="0">
                <a:solidFill>
                  <a:srgbClr val="B31591"/>
                </a:solidFill>
                <a:latin typeface="Cambria Math" panose="02040503050406030204" pitchFamily="18" charset="0"/>
                <a:ea typeface="Cambria Math" panose="02040503050406030204" pitchFamily="18" charset="0"/>
              </a:rPr>
              <a:t>Exercise</a:t>
            </a:r>
            <a:endParaRPr lang="en-US" sz="2800" b="1" u="sng" dirty="0">
              <a:solidFill>
                <a:schemeClr val="accent4">
                  <a:lumMod val="75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270567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4"/>
          <p:cNvGrpSpPr>
            <a:grpSpLocks noChangeAspect="1"/>
          </p:cNvGrpSpPr>
          <p:nvPr/>
        </p:nvGrpSpPr>
        <p:grpSpPr bwMode="auto">
          <a:xfrm rot="11077843" flipV="1">
            <a:off x="9716722" y="96715"/>
            <a:ext cx="2465387" cy="2719387"/>
            <a:chOff x="6127" y="1"/>
            <a:chExt cx="1553" cy="1713"/>
          </a:xfrm>
          <a:effectLst>
            <a:reflection blurRad="190500" dir="5400000" sy="-100000" algn="bl" rotWithShape="0"/>
          </a:effectLst>
        </p:grpSpPr>
        <p:sp>
          <p:nvSpPr>
            <p:cNvPr id="13" name="AutoShape 3"/>
            <p:cNvSpPr>
              <a:spLocks noChangeAspect="1" noChangeArrowheads="1" noTextEdit="1"/>
            </p:cNvSpPr>
            <p:nvPr/>
          </p:nvSpPr>
          <p:spPr bwMode="auto">
            <a:xfrm>
              <a:off x="6127" y="1"/>
              <a:ext cx="1553" cy="17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3" name="Picture 5"/>
            <p:cNvPicPr>
              <a:picLocks noChangeAspect="1" noChangeArrowheads="1"/>
            </p:cNvPicPr>
            <p:nvPr/>
          </p:nvPicPr>
          <p:blipFill>
            <a:blip r:embed="rId2">
              <a:extLst>
                <a:ext uri="{BEBA8EAE-BF5A-486C-A8C5-ECC9F3942E4B}">
                  <a14:imgProps xmlns:a14="http://schemas.microsoft.com/office/drawing/2010/main">
                    <a14:imgLayer r:embed="rId3">
                      <a14:imgEffect>
                        <a14:artisticGlass scaling="100"/>
                      </a14:imgEffect>
                    </a14:imgLayer>
                  </a14:imgProps>
                </a:ext>
                <a:ext uri="{28A0092B-C50C-407E-A947-70E740481C1C}">
                  <a14:useLocalDpi xmlns:a14="http://schemas.microsoft.com/office/drawing/2010/main" val="0"/>
                </a:ext>
              </a:extLst>
            </a:blip>
            <a:srcRect/>
            <a:stretch>
              <a:fillRect/>
            </a:stretch>
          </p:blipFill>
          <p:spPr bwMode="auto">
            <a:xfrm>
              <a:off x="6127" y="1"/>
              <a:ext cx="1559" cy="171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grpSp>
      <p:sp>
        <p:nvSpPr>
          <p:cNvPr id="8" name="Content Placeholder 7"/>
          <p:cNvSpPr>
            <a:spLocks noGrp="1"/>
          </p:cNvSpPr>
          <p:nvPr>
            <p:ph idx="1"/>
          </p:nvPr>
        </p:nvSpPr>
        <p:spPr>
          <a:xfrm>
            <a:off x="619259" y="1325563"/>
            <a:ext cx="8795329" cy="5242662"/>
          </a:xfrm>
        </p:spPr>
        <p:txBody>
          <a:bodyPr>
            <a:normAutofit/>
          </a:bodyPr>
          <a:lstStyle/>
          <a:p>
            <a:pPr marL="0" indent="0">
              <a:buNone/>
            </a:pPr>
            <a:r>
              <a:rPr lang="en-US" sz="3200" b="1" dirty="0">
                <a:solidFill>
                  <a:srgbClr val="B31591"/>
                </a:solidFill>
                <a:latin typeface="Cambria Math" panose="02040503050406030204" pitchFamily="18" charset="0"/>
                <a:ea typeface="Cambria Math" panose="02040503050406030204" pitchFamily="18" charset="0"/>
              </a:rPr>
              <a:t>Formulating the Problem</a:t>
            </a:r>
            <a:endParaRPr lang="en-US" sz="2000" dirty="0">
              <a:solidFill>
                <a:srgbClr val="B31591"/>
              </a:solidFill>
              <a:latin typeface="Cambria Math" panose="02040503050406030204" pitchFamily="18" charset="0"/>
              <a:ea typeface="Cambria Math" panose="02040503050406030204" pitchFamily="18" charset="0"/>
            </a:endParaRPr>
          </a:p>
          <a:p>
            <a:pPr marL="0" indent="0">
              <a:buNone/>
            </a:pPr>
            <a:endParaRPr lang="en-US" sz="2400" dirty="0">
              <a:latin typeface="Cambria Math" panose="02040503050406030204" pitchFamily="18" charset="0"/>
              <a:ea typeface="Cambria Math" panose="02040503050406030204" pitchFamily="18" charset="0"/>
            </a:endParaRPr>
          </a:p>
          <a:p>
            <a:pPr marL="0" indent="0">
              <a:buNone/>
            </a:pPr>
            <a:r>
              <a:rPr lang="en-US" sz="2400" dirty="0">
                <a:latin typeface="Cambria Math" panose="02040503050406030204" pitchFamily="18" charset="0"/>
                <a:ea typeface="Cambria Math" panose="02040503050406030204" pitchFamily="18" charset="0"/>
              </a:rPr>
              <a:t>If there were no two people with the same number of strands of hair, then, </a:t>
            </a:r>
          </a:p>
          <a:p>
            <a:pPr>
              <a:buFont typeface="Wingdings" panose="05000000000000000000" pitchFamily="2" charset="2"/>
              <a:buChar char="ü"/>
            </a:pPr>
            <a:r>
              <a:rPr lang="en-US" sz="2400" dirty="0">
                <a:solidFill>
                  <a:schemeClr val="accent6">
                    <a:lumMod val="75000"/>
                  </a:schemeClr>
                </a:solidFill>
                <a:latin typeface="Cambria Math" panose="02040503050406030204" pitchFamily="18" charset="0"/>
                <a:ea typeface="Cambria Math" panose="02040503050406030204" pitchFamily="18" charset="0"/>
              </a:rPr>
              <a:t>there would be at most one person having 0 strands, </a:t>
            </a:r>
          </a:p>
          <a:p>
            <a:pPr>
              <a:buFont typeface="Wingdings" panose="05000000000000000000" pitchFamily="2" charset="2"/>
              <a:buChar char="ü"/>
            </a:pPr>
            <a:r>
              <a:rPr lang="en-US" sz="2400" dirty="0">
                <a:solidFill>
                  <a:schemeClr val="accent5">
                    <a:lumMod val="75000"/>
                  </a:schemeClr>
                </a:solidFill>
                <a:latin typeface="Cambria Math" panose="02040503050406030204" pitchFamily="18" charset="0"/>
                <a:ea typeface="Cambria Math" panose="02040503050406030204" pitchFamily="18" charset="0"/>
              </a:rPr>
              <a:t>at most one person having exactly 1 strand,</a:t>
            </a:r>
          </a:p>
          <a:p>
            <a:pPr>
              <a:buFont typeface="Wingdings" panose="05000000000000000000" pitchFamily="2" charset="2"/>
              <a:buChar char="ü"/>
            </a:pPr>
            <a:r>
              <a:rPr lang="en-US" sz="2400" dirty="0">
                <a:solidFill>
                  <a:schemeClr val="accent2">
                    <a:lumMod val="75000"/>
                  </a:schemeClr>
                </a:solidFill>
                <a:latin typeface="Cambria Math" panose="02040503050406030204" pitchFamily="18" charset="0"/>
                <a:ea typeface="Cambria Math" panose="02040503050406030204" pitchFamily="18" charset="0"/>
              </a:rPr>
              <a:t>and so on</a:t>
            </a:r>
          </a:p>
          <a:p>
            <a:pPr>
              <a:buFont typeface="Wingdings" panose="05000000000000000000" pitchFamily="2" charset="2"/>
              <a:buChar char="ü"/>
            </a:pPr>
            <a:r>
              <a:rPr lang="en-US" sz="2400" dirty="0">
                <a:solidFill>
                  <a:srgbClr val="960C82"/>
                </a:solidFill>
                <a:latin typeface="Cambria Math" panose="02040503050406030204" pitchFamily="18" charset="0"/>
                <a:ea typeface="Cambria Math" panose="02040503050406030204" pitchFamily="18" charset="0"/>
              </a:rPr>
              <a:t>Finally, there would be at most one person having exactly 500,000 strands. </a:t>
            </a:r>
          </a:p>
          <a:p>
            <a:pPr>
              <a:buFont typeface="Wingdings" panose="05000000000000000000" pitchFamily="2" charset="2"/>
              <a:buChar char="ü"/>
            </a:pPr>
            <a:endParaRPr lang="en-US" sz="2400" dirty="0">
              <a:solidFill>
                <a:schemeClr val="accent2">
                  <a:lumMod val="75000"/>
                </a:schemeClr>
              </a:solidFill>
              <a:latin typeface="Cambria Math" panose="02040503050406030204" pitchFamily="18" charset="0"/>
              <a:ea typeface="Cambria Math" panose="02040503050406030204" pitchFamily="18" charset="0"/>
            </a:endParaRPr>
          </a:p>
        </p:txBody>
      </p:sp>
      <p:pic>
        <p:nvPicPr>
          <p:cNvPr id="11" name="Picture 10" descr="Image result for PIGE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37743" y="245800"/>
            <a:ext cx="2096722" cy="835598"/>
          </a:xfrm>
          <a:prstGeom prst="rect">
            <a:avLst/>
          </a:prstGeom>
          <a:noFill/>
          <a:effectLst>
            <a:softEdge rad="114300"/>
          </a:effectLst>
          <a:extLst>
            <a:ext uri="{909E8E84-426E-40DD-AFC4-6F175D3DCCD1}">
              <a14:hiddenFill xmlns:a14="http://schemas.microsoft.com/office/drawing/2010/main">
                <a:solidFill>
                  <a:srgbClr val="FFFFFF"/>
                </a:solidFill>
              </a14:hiddenFill>
            </a:ext>
          </a:extLst>
        </p:spPr>
      </p:pic>
      <p:sp>
        <p:nvSpPr>
          <p:cNvPr id="14" name="Title 1">
            <a:extLst>
              <a:ext uri="{FF2B5EF4-FFF2-40B4-BE49-F238E27FC236}">
                <a16:creationId xmlns:a16="http://schemas.microsoft.com/office/drawing/2014/main" id="{7B25D580-ADA0-4D06-9FF8-C5304E840C9D}"/>
              </a:ext>
            </a:extLst>
          </p:cNvPr>
          <p:cNvSpPr txBox="1">
            <a:spLocks/>
          </p:cNvSpPr>
          <p:nvPr/>
        </p:nvSpPr>
        <p:spPr>
          <a:xfrm>
            <a:off x="629728" y="1"/>
            <a:ext cx="9885872" cy="12774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u="sng" dirty="0">
                <a:solidFill>
                  <a:srgbClr val="0070C0"/>
                </a:solidFill>
              </a:rPr>
              <a:t>Pigeonhole Principal </a:t>
            </a:r>
            <a:r>
              <a:rPr lang="en-US" sz="4000" dirty="0">
                <a:solidFill>
                  <a:schemeClr val="accent5">
                    <a:lumMod val="75000"/>
                  </a:schemeClr>
                </a:solidFill>
                <a:latin typeface="Cambria Math" panose="02040503050406030204" pitchFamily="18" charset="0"/>
                <a:ea typeface="Cambria Math" panose="02040503050406030204" pitchFamily="18" charset="0"/>
              </a:rPr>
              <a:t>… </a:t>
            </a:r>
            <a:r>
              <a:rPr lang="en-US" sz="3600" b="1" u="sng" dirty="0">
                <a:solidFill>
                  <a:srgbClr val="B31591"/>
                </a:solidFill>
                <a:latin typeface="Cambria Math" panose="02040503050406030204" pitchFamily="18" charset="0"/>
                <a:ea typeface="Cambria Math" panose="02040503050406030204" pitchFamily="18" charset="0"/>
              </a:rPr>
              <a:t>Exercise</a:t>
            </a:r>
            <a:endParaRPr lang="en-US" sz="2800" b="1" u="sng" dirty="0">
              <a:solidFill>
                <a:schemeClr val="accent4">
                  <a:lumMod val="75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97897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4"/>
          <p:cNvGrpSpPr>
            <a:grpSpLocks noChangeAspect="1"/>
          </p:cNvGrpSpPr>
          <p:nvPr/>
        </p:nvGrpSpPr>
        <p:grpSpPr bwMode="auto">
          <a:xfrm rot="11077843" flipV="1">
            <a:off x="9716722" y="96715"/>
            <a:ext cx="2465387" cy="2719387"/>
            <a:chOff x="6127" y="1"/>
            <a:chExt cx="1553" cy="1713"/>
          </a:xfrm>
          <a:effectLst>
            <a:reflection blurRad="190500" dir="5400000" sy="-100000" algn="bl" rotWithShape="0"/>
          </a:effectLst>
        </p:grpSpPr>
        <p:sp>
          <p:nvSpPr>
            <p:cNvPr id="13" name="AutoShape 3"/>
            <p:cNvSpPr>
              <a:spLocks noChangeAspect="1" noChangeArrowheads="1" noTextEdit="1"/>
            </p:cNvSpPr>
            <p:nvPr/>
          </p:nvSpPr>
          <p:spPr bwMode="auto">
            <a:xfrm>
              <a:off x="6127" y="1"/>
              <a:ext cx="1553" cy="17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3" name="Picture 5"/>
            <p:cNvPicPr>
              <a:picLocks noChangeAspect="1" noChangeArrowheads="1"/>
            </p:cNvPicPr>
            <p:nvPr/>
          </p:nvPicPr>
          <p:blipFill>
            <a:blip r:embed="rId2">
              <a:extLst>
                <a:ext uri="{BEBA8EAE-BF5A-486C-A8C5-ECC9F3942E4B}">
                  <a14:imgProps xmlns:a14="http://schemas.microsoft.com/office/drawing/2010/main">
                    <a14:imgLayer r:embed="rId3">
                      <a14:imgEffect>
                        <a14:artisticGlass scaling="100"/>
                      </a14:imgEffect>
                    </a14:imgLayer>
                  </a14:imgProps>
                </a:ext>
                <a:ext uri="{28A0092B-C50C-407E-A947-70E740481C1C}">
                  <a14:useLocalDpi xmlns:a14="http://schemas.microsoft.com/office/drawing/2010/main" val="0"/>
                </a:ext>
              </a:extLst>
            </a:blip>
            <a:srcRect/>
            <a:stretch>
              <a:fillRect/>
            </a:stretch>
          </p:blipFill>
          <p:spPr bwMode="auto">
            <a:xfrm>
              <a:off x="6127" y="1"/>
              <a:ext cx="1559" cy="171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grpSp>
      <p:sp>
        <p:nvSpPr>
          <p:cNvPr id="8" name="Content Placeholder 7"/>
          <p:cNvSpPr>
            <a:spLocks noGrp="1"/>
          </p:cNvSpPr>
          <p:nvPr>
            <p:ph idx="1"/>
          </p:nvPr>
        </p:nvSpPr>
        <p:spPr>
          <a:xfrm>
            <a:off x="619259" y="1325563"/>
            <a:ext cx="8795329" cy="5242662"/>
          </a:xfrm>
        </p:spPr>
        <p:txBody>
          <a:bodyPr>
            <a:normAutofit/>
          </a:bodyPr>
          <a:lstStyle/>
          <a:p>
            <a:pPr marL="0" indent="0">
              <a:buNone/>
            </a:pPr>
            <a:r>
              <a:rPr lang="en-US" b="1" dirty="0">
                <a:solidFill>
                  <a:srgbClr val="B31591"/>
                </a:solidFill>
                <a:latin typeface="Cambria Math" panose="02040503050406030204" pitchFamily="18" charset="0"/>
                <a:ea typeface="Cambria Math" panose="02040503050406030204" pitchFamily="18" charset="0"/>
              </a:rPr>
              <a:t>Formulating the Problem</a:t>
            </a:r>
            <a:endParaRPr lang="en-US" sz="1800" dirty="0">
              <a:solidFill>
                <a:srgbClr val="B31591"/>
              </a:solidFill>
              <a:latin typeface="Cambria Math" panose="02040503050406030204" pitchFamily="18" charset="0"/>
              <a:ea typeface="Cambria Math" panose="02040503050406030204" pitchFamily="18" charset="0"/>
            </a:endParaRPr>
          </a:p>
          <a:p>
            <a:pPr marL="0" indent="0">
              <a:buNone/>
            </a:pPr>
            <a:endParaRPr lang="en-US" sz="2400" dirty="0">
              <a:latin typeface="Cambria Math" panose="02040503050406030204" pitchFamily="18" charset="0"/>
              <a:ea typeface="Cambria Math" panose="02040503050406030204" pitchFamily="18" charset="0"/>
            </a:endParaRPr>
          </a:p>
          <a:p>
            <a:pPr marL="0" indent="0">
              <a:buNone/>
            </a:pPr>
            <a:r>
              <a:rPr lang="en-US" sz="2400" dirty="0">
                <a:latin typeface="Cambria Math" panose="02040503050406030204" pitchFamily="18" charset="0"/>
                <a:ea typeface="Cambria Math" panose="02040503050406030204" pitchFamily="18" charset="0"/>
              </a:rPr>
              <a:t>If there were no two people with the same number of strands of hair, then, </a:t>
            </a:r>
          </a:p>
          <a:p>
            <a:pPr>
              <a:buFont typeface="Wingdings" panose="05000000000000000000" pitchFamily="2" charset="2"/>
              <a:buChar char="ü"/>
            </a:pPr>
            <a:r>
              <a:rPr lang="en-US" sz="2400" dirty="0">
                <a:solidFill>
                  <a:schemeClr val="accent6">
                    <a:lumMod val="75000"/>
                  </a:schemeClr>
                </a:solidFill>
                <a:latin typeface="Cambria Math" panose="02040503050406030204" pitchFamily="18" charset="0"/>
                <a:ea typeface="Cambria Math" panose="02040503050406030204" pitchFamily="18" charset="0"/>
              </a:rPr>
              <a:t>there would be at most one person having 0 strands, </a:t>
            </a:r>
          </a:p>
          <a:p>
            <a:pPr>
              <a:buFont typeface="Wingdings" panose="05000000000000000000" pitchFamily="2" charset="2"/>
              <a:buChar char="ü"/>
            </a:pPr>
            <a:r>
              <a:rPr lang="en-US" sz="2400" dirty="0">
                <a:solidFill>
                  <a:schemeClr val="accent5">
                    <a:lumMod val="75000"/>
                  </a:schemeClr>
                </a:solidFill>
                <a:latin typeface="Cambria Math" panose="02040503050406030204" pitchFamily="18" charset="0"/>
                <a:ea typeface="Cambria Math" panose="02040503050406030204" pitchFamily="18" charset="0"/>
              </a:rPr>
              <a:t>at most one person having exactly 1 strand,</a:t>
            </a:r>
          </a:p>
          <a:p>
            <a:pPr>
              <a:buFont typeface="Wingdings" panose="05000000000000000000" pitchFamily="2" charset="2"/>
              <a:buChar char="ü"/>
            </a:pPr>
            <a:r>
              <a:rPr lang="en-US" sz="2400" dirty="0">
                <a:solidFill>
                  <a:schemeClr val="accent2">
                    <a:lumMod val="75000"/>
                  </a:schemeClr>
                </a:solidFill>
                <a:latin typeface="Cambria Math" panose="02040503050406030204" pitchFamily="18" charset="0"/>
                <a:ea typeface="Cambria Math" panose="02040503050406030204" pitchFamily="18" charset="0"/>
              </a:rPr>
              <a:t>and so on</a:t>
            </a:r>
          </a:p>
          <a:p>
            <a:pPr>
              <a:buFont typeface="Wingdings" panose="05000000000000000000" pitchFamily="2" charset="2"/>
              <a:buChar char="ü"/>
            </a:pPr>
            <a:r>
              <a:rPr lang="en-US" sz="2400" dirty="0">
                <a:solidFill>
                  <a:srgbClr val="960C82"/>
                </a:solidFill>
                <a:latin typeface="Cambria Math" panose="02040503050406030204" pitchFamily="18" charset="0"/>
                <a:ea typeface="Cambria Math" panose="02040503050406030204" pitchFamily="18" charset="0"/>
              </a:rPr>
              <a:t>Finally, there would be at most one person having exactly 500,000 strands. </a:t>
            </a:r>
          </a:p>
          <a:p>
            <a:pPr marL="0" indent="0">
              <a:buNone/>
            </a:pPr>
            <a:endParaRPr lang="en-US" sz="2400" dirty="0">
              <a:solidFill>
                <a:schemeClr val="accent2">
                  <a:lumMod val="75000"/>
                </a:schemeClr>
              </a:solidFill>
              <a:latin typeface="Cambria Math" panose="02040503050406030204" pitchFamily="18" charset="0"/>
              <a:ea typeface="Cambria Math" panose="02040503050406030204" pitchFamily="18" charset="0"/>
            </a:endParaRPr>
          </a:p>
          <a:p>
            <a:pPr marL="0" indent="0" algn="just">
              <a:buNone/>
            </a:pPr>
            <a:r>
              <a:rPr lang="en-US" sz="2400" dirty="0">
                <a:solidFill>
                  <a:schemeClr val="accent4">
                    <a:lumMod val="75000"/>
                  </a:schemeClr>
                </a:solidFill>
                <a:latin typeface="Cambria Math" panose="02040503050406030204" pitchFamily="18" charset="0"/>
                <a:ea typeface="Cambria Math" panose="02040503050406030204" pitchFamily="18" charset="0"/>
              </a:rPr>
              <a:t>But then this means that there are no more than 500,001 inhabitants of Lahore.</a:t>
            </a:r>
          </a:p>
          <a:p>
            <a:pPr marL="0" indent="0">
              <a:buNone/>
            </a:pPr>
            <a:endParaRPr lang="en-US" sz="2400" dirty="0">
              <a:solidFill>
                <a:schemeClr val="accent2">
                  <a:lumMod val="75000"/>
                </a:schemeClr>
              </a:solidFill>
              <a:latin typeface="Cambria Math" panose="02040503050406030204" pitchFamily="18" charset="0"/>
              <a:ea typeface="Cambria Math" panose="02040503050406030204" pitchFamily="18" charset="0"/>
            </a:endParaRPr>
          </a:p>
        </p:txBody>
      </p:sp>
      <p:pic>
        <p:nvPicPr>
          <p:cNvPr id="11" name="Picture 10" descr="Image result for PIGE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37743" y="245800"/>
            <a:ext cx="2096722" cy="835598"/>
          </a:xfrm>
          <a:prstGeom prst="rect">
            <a:avLst/>
          </a:prstGeom>
          <a:noFill/>
          <a:effectLst>
            <a:softEdge rad="114300"/>
          </a:effectLst>
          <a:extLst>
            <a:ext uri="{909E8E84-426E-40DD-AFC4-6F175D3DCCD1}">
              <a14:hiddenFill xmlns:a14="http://schemas.microsoft.com/office/drawing/2010/main">
                <a:solidFill>
                  <a:srgbClr val="FFFFFF"/>
                </a:solidFill>
              </a14:hiddenFill>
            </a:ext>
          </a:extLst>
        </p:spPr>
      </p:pic>
      <p:sp>
        <p:nvSpPr>
          <p:cNvPr id="14" name="Title 1">
            <a:extLst>
              <a:ext uri="{FF2B5EF4-FFF2-40B4-BE49-F238E27FC236}">
                <a16:creationId xmlns:a16="http://schemas.microsoft.com/office/drawing/2014/main" id="{1D22453E-5864-4ADA-B04C-108D27E46F9C}"/>
              </a:ext>
            </a:extLst>
          </p:cNvPr>
          <p:cNvSpPr txBox="1">
            <a:spLocks/>
          </p:cNvSpPr>
          <p:nvPr/>
        </p:nvSpPr>
        <p:spPr>
          <a:xfrm>
            <a:off x="629728" y="1"/>
            <a:ext cx="9885872" cy="12774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u="sng" dirty="0">
                <a:solidFill>
                  <a:srgbClr val="0070C0"/>
                </a:solidFill>
              </a:rPr>
              <a:t>Pigeonhole Principal </a:t>
            </a:r>
            <a:r>
              <a:rPr lang="en-US" sz="4000" dirty="0">
                <a:solidFill>
                  <a:schemeClr val="accent5">
                    <a:lumMod val="75000"/>
                  </a:schemeClr>
                </a:solidFill>
                <a:latin typeface="Cambria Math" panose="02040503050406030204" pitchFamily="18" charset="0"/>
                <a:ea typeface="Cambria Math" panose="02040503050406030204" pitchFamily="18" charset="0"/>
              </a:rPr>
              <a:t>… </a:t>
            </a:r>
            <a:r>
              <a:rPr lang="en-US" sz="3600" b="1" u="sng" dirty="0">
                <a:solidFill>
                  <a:srgbClr val="B31591"/>
                </a:solidFill>
                <a:latin typeface="Cambria Math" panose="02040503050406030204" pitchFamily="18" charset="0"/>
                <a:ea typeface="Cambria Math" panose="02040503050406030204" pitchFamily="18" charset="0"/>
              </a:rPr>
              <a:t>Exercise</a:t>
            </a:r>
            <a:endParaRPr lang="en-US" sz="2800" b="1" u="sng" dirty="0">
              <a:solidFill>
                <a:schemeClr val="accent4">
                  <a:lumMod val="75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5939301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4"/>
          <p:cNvGrpSpPr>
            <a:grpSpLocks noChangeAspect="1"/>
          </p:cNvGrpSpPr>
          <p:nvPr/>
        </p:nvGrpSpPr>
        <p:grpSpPr bwMode="auto">
          <a:xfrm rot="11077843" flipV="1">
            <a:off x="9716722" y="96715"/>
            <a:ext cx="2465387" cy="2719387"/>
            <a:chOff x="6127" y="1"/>
            <a:chExt cx="1553" cy="1713"/>
          </a:xfrm>
          <a:effectLst>
            <a:reflection blurRad="190500" dir="5400000" sy="-100000" algn="bl" rotWithShape="0"/>
          </a:effectLst>
        </p:grpSpPr>
        <p:sp>
          <p:nvSpPr>
            <p:cNvPr id="13" name="AutoShape 3"/>
            <p:cNvSpPr>
              <a:spLocks noChangeAspect="1" noChangeArrowheads="1" noTextEdit="1"/>
            </p:cNvSpPr>
            <p:nvPr/>
          </p:nvSpPr>
          <p:spPr bwMode="auto">
            <a:xfrm>
              <a:off x="6127" y="1"/>
              <a:ext cx="1553" cy="17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3" name="Picture 5"/>
            <p:cNvPicPr>
              <a:picLocks noChangeAspect="1" noChangeArrowheads="1"/>
            </p:cNvPicPr>
            <p:nvPr/>
          </p:nvPicPr>
          <p:blipFill>
            <a:blip r:embed="rId2">
              <a:extLst>
                <a:ext uri="{BEBA8EAE-BF5A-486C-A8C5-ECC9F3942E4B}">
                  <a14:imgProps xmlns:a14="http://schemas.microsoft.com/office/drawing/2010/main">
                    <a14:imgLayer r:embed="rId3">
                      <a14:imgEffect>
                        <a14:artisticGlass scaling="100"/>
                      </a14:imgEffect>
                    </a14:imgLayer>
                  </a14:imgProps>
                </a:ext>
                <a:ext uri="{28A0092B-C50C-407E-A947-70E740481C1C}">
                  <a14:useLocalDpi xmlns:a14="http://schemas.microsoft.com/office/drawing/2010/main" val="0"/>
                </a:ext>
              </a:extLst>
            </a:blip>
            <a:srcRect/>
            <a:stretch>
              <a:fillRect/>
            </a:stretch>
          </p:blipFill>
          <p:spPr bwMode="auto">
            <a:xfrm>
              <a:off x="6127" y="1"/>
              <a:ext cx="1559" cy="171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grpSp>
      <p:sp>
        <p:nvSpPr>
          <p:cNvPr id="8" name="Content Placeholder 7"/>
          <p:cNvSpPr>
            <a:spLocks noGrp="1"/>
          </p:cNvSpPr>
          <p:nvPr>
            <p:ph idx="1"/>
          </p:nvPr>
        </p:nvSpPr>
        <p:spPr>
          <a:xfrm>
            <a:off x="1753279" y="1325563"/>
            <a:ext cx="7661309" cy="5242662"/>
          </a:xfrm>
        </p:spPr>
        <p:txBody>
          <a:bodyPr>
            <a:normAutofit lnSpcReduction="10000"/>
          </a:bodyPr>
          <a:lstStyle/>
          <a:p>
            <a:pPr marL="0" indent="0">
              <a:buNone/>
            </a:pPr>
            <a:r>
              <a:rPr lang="en-US" sz="2400" dirty="0">
                <a:solidFill>
                  <a:schemeClr val="accent1">
                    <a:lumMod val="50000"/>
                  </a:schemeClr>
                </a:solidFill>
                <a:latin typeface="Cambria Math" panose="02040503050406030204" pitchFamily="18" charset="0"/>
                <a:ea typeface="Cambria Math" panose="02040503050406030204" pitchFamily="18" charset="0"/>
              </a:rPr>
              <a:t>Imagine 500,001 enormous boxes (or pigeon holes)</a:t>
            </a:r>
          </a:p>
          <a:p>
            <a:pPr>
              <a:buFont typeface="Wingdings" panose="05000000000000000000" pitchFamily="2" charset="2"/>
              <a:buChar char="ü"/>
            </a:pPr>
            <a:r>
              <a:rPr lang="en-US" sz="2400" dirty="0">
                <a:solidFill>
                  <a:schemeClr val="accent1">
                    <a:lumMod val="75000"/>
                  </a:schemeClr>
                </a:solidFill>
                <a:latin typeface="Cambria Math" panose="02040503050406030204" pitchFamily="18" charset="0"/>
                <a:ea typeface="Cambria Math" panose="02040503050406030204" pitchFamily="18" charset="0"/>
              </a:rPr>
              <a:t>The first one is labeled “Lahoris having 0 strands of hair,” </a:t>
            </a:r>
          </a:p>
          <a:p>
            <a:pPr>
              <a:buFont typeface="Wingdings" panose="05000000000000000000" pitchFamily="2" charset="2"/>
              <a:buChar char="ü"/>
            </a:pPr>
            <a:r>
              <a:rPr lang="en-US" sz="2400" dirty="0">
                <a:solidFill>
                  <a:schemeClr val="accent6">
                    <a:lumMod val="75000"/>
                  </a:schemeClr>
                </a:solidFill>
                <a:latin typeface="Cambria Math" panose="02040503050406030204" pitchFamily="18" charset="0"/>
                <a:ea typeface="Cambria Math" panose="02040503050406030204" pitchFamily="18" charset="0"/>
              </a:rPr>
              <a:t>the next is labeled “Lahoris having 1 strand of hair,”</a:t>
            </a:r>
          </a:p>
          <a:p>
            <a:pPr>
              <a:buFont typeface="Wingdings" panose="05000000000000000000" pitchFamily="2" charset="2"/>
              <a:buChar char="ü"/>
            </a:pPr>
            <a:endParaRPr lang="en-US" sz="2400" dirty="0">
              <a:solidFill>
                <a:schemeClr val="accent1">
                  <a:lumMod val="75000"/>
                </a:schemeClr>
              </a:solidFill>
              <a:latin typeface="Cambria Math" panose="02040503050406030204" pitchFamily="18" charset="0"/>
              <a:ea typeface="Cambria Math" panose="02040503050406030204" pitchFamily="18" charset="0"/>
            </a:endParaRPr>
          </a:p>
          <a:p>
            <a:pPr>
              <a:buFont typeface="Wingdings" panose="05000000000000000000" pitchFamily="2" charset="2"/>
              <a:buChar char="ü"/>
            </a:pPr>
            <a:r>
              <a:rPr lang="en-US" sz="2400" dirty="0">
                <a:solidFill>
                  <a:srgbClr val="C00000"/>
                </a:solidFill>
                <a:latin typeface="Cambria Math" panose="02040503050406030204" pitchFamily="18" charset="0"/>
                <a:ea typeface="Cambria Math" panose="02040503050406030204" pitchFamily="18" charset="0"/>
              </a:rPr>
              <a:t>and so on. </a:t>
            </a:r>
          </a:p>
          <a:p>
            <a:pPr>
              <a:buFont typeface="Wingdings" panose="05000000000000000000" pitchFamily="2" charset="2"/>
              <a:buChar char="ü"/>
            </a:pPr>
            <a:r>
              <a:rPr lang="en-US" sz="2400" dirty="0">
                <a:solidFill>
                  <a:srgbClr val="D6A300"/>
                </a:solidFill>
                <a:latin typeface="Cambria Math" panose="02040503050406030204" pitchFamily="18" charset="0"/>
                <a:ea typeface="Cambria Math" panose="02040503050406030204" pitchFamily="18" charset="0"/>
              </a:rPr>
              <a:t>The last box is labeled “Lahoris having 500,000 strands of hair”</a:t>
            </a:r>
          </a:p>
          <a:p>
            <a:pPr>
              <a:buFont typeface="Wingdings" panose="05000000000000000000" pitchFamily="2" charset="2"/>
              <a:buChar char="ü"/>
            </a:pPr>
            <a:r>
              <a:rPr lang="en-US" sz="2400" dirty="0">
                <a:solidFill>
                  <a:srgbClr val="4F1490"/>
                </a:solidFill>
                <a:latin typeface="Cambria Math" panose="02040503050406030204" pitchFamily="18" charset="0"/>
                <a:ea typeface="Cambria Math" panose="02040503050406030204" pitchFamily="18" charset="0"/>
              </a:rPr>
              <a:t>If everybody goes to the proper box, then about 10 million Lahoris are  properly assigned to some box (or hole). </a:t>
            </a:r>
          </a:p>
          <a:p>
            <a:pPr>
              <a:buFont typeface="Wingdings" panose="05000000000000000000" pitchFamily="2" charset="2"/>
              <a:buChar char="ü"/>
            </a:pPr>
            <a:r>
              <a:rPr lang="en-US" sz="2400" dirty="0">
                <a:solidFill>
                  <a:srgbClr val="FF0000"/>
                </a:solidFill>
                <a:latin typeface="Cambria Math" panose="02040503050406030204" pitchFamily="18" charset="0"/>
                <a:ea typeface="Cambria Math" panose="02040503050406030204" pitchFamily="18" charset="0"/>
              </a:rPr>
              <a:t>Since we have only 500,001 boxes, there certainly will be a box containing more than one Lahori.</a:t>
            </a:r>
          </a:p>
          <a:p>
            <a:pPr marL="0" indent="0">
              <a:buNone/>
            </a:pPr>
            <a:endParaRPr lang="en-US" sz="2400" dirty="0">
              <a:solidFill>
                <a:schemeClr val="accent1">
                  <a:lumMod val="50000"/>
                </a:schemeClr>
              </a:solidFill>
              <a:latin typeface="Cambria Math" panose="02040503050406030204" pitchFamily="18" charset="0"/>
              <a:ea typeface="Cambria Math" panose="02040503050406030204" pitchFamily="18" charset="0"/>
            </a:endParaRPr>
          </a:p>
        </p:txBody>
      </p:sp>
      <p:pic>
        <p:nvPicPr>
          <p:cNvPr id="11" name="Picture 10" descr="Image result for PIGE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37743" y="245800"/>
            <a:ext cx="2096722" cy="835598"/>
          </a:xfrm>
          <a:prstGeom prst="rect">
            <a:avLst/>
          </a:prstGeom>
          <a:noFill/>
          <a:effectLst>
            <a:softEdge rad="114300"/>
          </a:effectLst>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609378ED-5643-EF89-A758-7963AF9565CC}"/>
              </a:ext>
            </a:extLst>
          </p:cNvPr>
          <p:cNvPicPr>
            <a:picLocks noChangeAspect="1"/>
          </p:cNvPicPr>
          <p:nvPr/>
        </p:nvPicPr>
        <p:blipFill>
          <a:blip r:embed="rId5"/>
          <a:stretch>
            <a:fillRect/>
          </a:stretch>
        </p:blipFill>
        <p:spPr>
          <a:xfrm>
            <a:off x="94139" y="1748936"/>
            <a:ext cx="807918" cy="1181141"/>
          </a:xfrm>
          <a:prstGeom prst="rect">
            <a:avLst/>
          </a:prstGeom>
        </p:spPr>
      </p:pic>
      <p:pic>
        <p:nvPicPr>
          <p:cNvPr id="3" name="Picture 2">
            <a:extLst>
              <a:ext uri="{FF2B5EF4-FFF2-40B4-BE49-F238E27FC236}">
                <a16:creationId xmlns:a16="http://schemas.microsoft.com/office/drawing/2014/main" id="{D5EAE809-3D2F-5DAA-7D73-321F16906984}"/>
              </a:ext>
            </a:extLst>
          </p:cNvPr>
          <p:cNvPicPr>
            <a:picLocks noChangeAspect="1"/>
          </p:cNvPicPr>
          <p:nvPr/>
        </p:nvPicPr>
        <p:blipFill>
          <a:blip r:embed="rId6"/>
          <a:stretch>
            <a:fillRect/>
          </a:stretch>
        </p:blipFill>
        <p:spPr>
          <a:xfrm>
            <a:off x="988304" y="2722061"/>
            <a:ext cx="764975" cy="1086179"/>
          </a:xfrm>
          <a:prstGeom prst="rect">
            <a:avLst/>
          </a:prstGeom>
        </p:spPr>
      </p:pic>
      <p:pic>
        <p:nvPicPr>
          <p:cNvPr id="4" name="Picture 3">
            <a:extLst>
              <a:ext uri="{FF2B5EF4-FFF2-40B4-BE49-F238E27FC236}">
                <a16:creationId xmlns:a16="http://schemas.microsoft.com/office/drawing/2014/main" id="{D20C918A-550A-5F05-9789-A7E7949E27AB}"/>
              </a:ext>
            </a:extLst>
          </p:cNvPr>
          <p:cNvPicPr>
            <a:picLocks noChangeAspect="1"/>
          </p:cNvPicPr>
          <p:nvPr/>
        </p:nvPicPr>
        <p:blipFill>
          <a:blip r:embed="rId7"/>
          <a:stretch>
            <a:fillRect/>
          </a:stretch>
        </p:blipFill>
        <p:spPr>
          <a:xfrm>
            <a:off x="208836" y="3894141"/>
            <a:ext cx="1544443" cy="1073473"/>
          </a:xfrm>
          <a:prstGeom prst="rect">
            <a:avLst/>
          </a:prstGeom>
        </p:spPr>
      </p:pic>
      <p:pic>
        <p:nvPicPr>
          <p:cNvPr id="5" name="Picture 4">
            <a:extLst>
              <a:ext uri="{FF2B5EF4-FFF2-40B4-BE49-F238E27FC236}">
                <a16:creationId xmlns:a16="http://schemas.microsoft.com/office/drawing/2014/main" id="{A3271CC9-F587-7343-C6B2-71E0BCCE90BC}"/>
              </a:ext>
            </a:extLst>
          </p:cNvPr>
          <p:cNvPicPr>
            <a:picLocks noChangeAspect="1"/>
          </p:cNvPicPr>
          <p:nvPr/>
        </p:nvPicPr>
        <p:blipFill>
          <a:blip r:embed="rId8"/>
          <a:stretch>
            <a:fillRect/>
          </a:stretch>
        </p:blipFill>
        <p:spPr>
          <a:xfrm>
            <a:off x="94139" y="5053515"/>
            <a:ext cx="834710" cy="1123475"/>
          </a:xfrm>
          <a:prstGeom prst="rect">
            <a:avLst/>
          </a:prstGeom>
        </p:spPr>
      </p:pic>
      <p:sp>
        <p:nvSpPr>
          <p:cNvPr id="14" name="Title 1">
            <a:extLst>
              <a:ext uri="{FF2B5EF4-FFF2-40B4-BE49-F238E27FC236}">
                <a16:creationId xmlns:a16="http://schemas.microsoft.com/office/drawing/2014/main" id="{4F88B4AF-E428-41DB-A594-C2EE7BADF530}"/>
              </a:ext>
            </a:extLst>
          </p:cNvPr>
          <p:cNvSpPr txBox="1">
            <a:spLocks/>
          </p:cNvSpPr>
          <p:nvPr/>
        </p:nvSpPr>
        <p:spPr>
          <a:xfrm>
            <a:off x="629728" y="1"/>
            <a:ext cx="9885872" cy="12774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u="sng" dirty="0">
                <a:solidFill>
                  <a:srgbClr val="0070C0"/>
                </a:solidFill>
              </a:rPr>
              <a:t>Pigeonhole Principal </a:t>
            </a:r>
            <a:r>
              <a:rPr lang="en-US" sz="4000" dirty="0">
                <a:solidFill>
                  <a:schemeClr val="accent5">
                    <a:lumMod val="75000"/>
                  </a:schemeClr>
                </a:solidFill>
                <a:latin typeface="Cambria Math" panose="02040503050406030204" pitchFamily="18" charset="0"/>
                <a:ea typeface="Cambria Math" panose="02040503050406030204" pitchFamily="18" charset="0"/>
              </a:rPr>
              <a:t>… </a:t>
            </a:r>
            <a:r>
              <a:rPr lang="en-US" sz="3600" b="1" u="sng" dirty="0">
                <a:solidFill>
                  <a:srgbClr val="B31591"/>
                </a:solidFill>
                <a:latin typeface="Cambria Math" panose="02040503050406030204" pitchFamily="18" charset="0"/>
                <a:ea typeface="Cambria Math" panose="02040503050406030204" pitchFamily="18" charset="0"/>
              </a:rPr>
              <a:t>Exercise</a:t>
            </a:r>
            <a:endParaRPr lang="en-US" sz="2800" b="1" u="sng" dirty="0">
              <a:solidFill>
                <a:schemeClr val="accent4">
                  <a:lumMod val="75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059654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GENERALIZED PIGEONHOLE PRINCIPLE</a:t>
            </a:r>
            <a:endParaRPr lang="en-US" dirty="0">
              <a:solidFill>
                <a:srgbClr val="0070C0"/>
              </a:solidFill>
            </a:endParaRPr>
          </a:p>
        </p:txBody>
      </p:sp>
      <p:sp>
        <p:nvSpPr>
          <p:cNvPr id="4" name="Content Placeholder 3"/>
          <p:cNvSpPr>
            <a:spLocks noGrp="1"/>
          </p:cNvSpPr>
          <p:nvPr>
            <p:ph sz="quarter" idx="1"/>
          </p:nvPr>
        </p:nvSpPr>
        <p:spPr>
          <a:xfrm>
            <a:off x="672353" y="1911096"/>
            <a:ext cx="10337023" cy="3859742"/>
          </a:xfrm>
        </p:spPr>
        <p:txBody>
          <a:bodyPr/>
          <a:lstStyle/>
          <a:p>
            <a:r>
              <a:rPr lang="en-US" dirty="0"/>
              <a:t>A </a:t>
            </a:r>
            <a:r>
              <a:rPr lang="en-US" dirty="0">
                <a:solidFill>
                  <a:srgbClr val="FF0000"/>
                </a:solidFill>
              </a:rPr>
              <a:t>function</a:t>
            </a:r>
            <a:r>
              <a:rPr lang="en-US" dirty="0"/>
              <a:t> from a set of </a:t>
            </a:r>
            <a:r>
              <a:rPr lang="en-US" i="1" dirty="0" err="1">
                <a:solidFill>
                  <a:srgbClr val="FF0000"/>
                </a:solidFill>
              </a:rPr>
              <a:t>n</a:t>
            </a:r>
            <a:r>
              <a:rPr lang="en-US" dirty="0" err="1">
                <a:solidFill>
                  <a:srgbClr val="FF0000"/>
                </a:solidFill>
                <a:sym typeface="Symbol"/>
              </a:rPr>
              <a:t></a:t>
            </a:r>
            <a:r>
              <a:rPr lang="en-US" i="1" dirty="0" err="1">
                <a:solidFill>
                  <a:srgbClr val="FF0000"/>
                </a:solidFill>
              </a:rPr>
              <a:t>k</a:t>
            </a:r>
            <a:r>
              <a:rPr lang="en-US" dirty="0">
                <a:solidFill>
                  <a:srgbClr val="FF0000"/>
                </a:solidFill>
              </a:rPr>
              <a:t> + 1</a:t>
            </a:r>
            <a:r>
              <a:rPr lang="en-US" dirty="0"/>
              <a:t> or more elements to a </a:t>
            </a:r>
            <a:r>
              <a:rPr lang="en-US" dirty="0">
                <a:solidFill>
                  <a:srgbClr val="FF0000"/>
                </a:solidFill>
              </a:rPr>
              <a:t>set</a:t>
            </a:r>
            <a:r>
              <a:rPr lang="en-US" dirty="0"/>
              <a:t> of </a:t>
            </a:r>
            <a:r>
              <a:rPr lang="en-US" i="1" dirty="0">
                <a:solidFill>
                  <a:srgbClr val="FF0000"/>
                </a:solidFill>
              </a:rPr>
              <a:t>n</a:t>
            </a:r>
            <a:r>
              <a:rPr lang="en-US" dirty="0"/>
              <a:t> elements must have at least </a:t>
            </a:r>
            <a:r>
              <a:rPr lang="en-US" i="1" dirty="0">
                <a:solidFill>
                  <a:srgbClr val="FF0000"/>
                </a:solidFill>
              </a:rPr>
              <a:t>k</a:t>
            </a:r>
            <a:r>
              <a:rPr lang="en-US" dirty="0">
                <a:solidFill>
                  <a:srgbClr val="FF0000"/>
                </a:solidFill>
              </a:rPr>
              <a:t> + 1</a:t>
            </a:r>
            <a:r>
              <a:rPr lang="en-US" dirty="0"/>
              <a:t> elements in the </a:t>
            </a:r>
            <a:r>
              <a:rPr lang="en-US" dirty="0">
                <a:solidFill>
                  <a:srgbClr val="FF0000"/>
                </a:solidFill>
              </a:rPr>
              <a:t>domain</a:t>
            </a:r>
            <a:r>
              <a:rPr lang="en-US" dirty="0"/>
              <a:t> that have the </a:t>
            </a:r>
            <a:r>
              <a:rPr lang="en-US" dirty="0">
                <a:solidFill>
                  <a:srgbClr val="FF0000"/>
                </a:solidFill>
              </a:rPr>
              <a:t>same image</a:t>
            </a:r>
            <a:r>
              <a:rPr lang="en-US" dirty="0"/>
              <a:t> in the </a:t>
            </a:r>
            <a:r>
              <a:rPr lang="en-US" dirty="0">
                <a:solidFill>
                  <a:srgbClr val="FF0000"/>
                </a:solidFill>
              </a:rPr>
              <a:t>co-domain</a:t>
            </a:r>
            <a:r>
              <a:rPr lang="en-US" dirty="0"/>
              <a:t>. </a:t>
            </a:r>
          </a:p>
          <a:p>
            <a:endParaRPr lang="en-US" dirty="0"/>
          </a:p>
          <a:p>
            <a:r>
              <a:rPr lang="en-US" dirty="0"/>
              <a:t>If </a:t>
            </a:r>
            <a:r>
              <a:rPr lang="en-US" i="1" dirty="0">
                <a:solidFill>
                  <a:srgbClr val="FF0000"/>
                </a:solidFill>
              </a:rPr>
              <a:t>n </a:t>
            </a:r>
            <a:r>
              <a:rPr lang="en-US" dirty="0">
                <a:solidFill>
                  <a:srgbClr val="FF0000"/>
                </a:solidFill>
                <a:sym typeface="Symbol"/>
              </a:rPr>
              <a:t></a:t>
            </a:r>
            <a:r>
              <a:rPr lang="en-US" dirty="0">
                <a:solidFill>
                  <a:srgbClr val="FF0000"/>
                </a:solidFill>
              </a:rPr>
              <a:t> </a:t>
            </a:r>
            <a:r>
              <a:rPr lang="en-US" i="1" dirty="0">
                <a:solidFill>
                  <a:srgbClr val="FF0000"/>
                </a:solidFill>
              </a:rPr>
              <a:t>k</a:t>
            </a:r>
            <a:r>
              <a:rPr lang="en-US" dirty="0">
                <a:solidFill>
                  <a:srgbClr val="FF0000"/>
                </a:solidFill>
              </a:rPr>
              <a:t> + 1</a:t>
            </a:r>
            <a:r>
              <a:rPr lang="en-US" dirty="0"/>
              <a:t> or more </a:t>
            </a:r>
            <a:r>
              <a:rPr lang="en-US" dirty="0">
                <a:solidFill>
                  <a:srgbClr val="FF0000"/>
                </a:solidFill>
              </a:rPr>
              <a:t>pigeons</a:t>
            </a:r>
            <a:r>
              <a:rPr lang="en-US" dirty="0"/>
              <a:t> fly into </a:t>
            </a:r>
            <a:r>
              <a:rPr lang="en-US" i="1" dirty="0">
                <a:solidFill>
                  <a:srgbClr val="FF0000"/>
                </a:solidFill>
              </a:rPr>
              <a:t>n</a:t>
            </a:r>
            <a:r>
              <a:rPr lang="en-US" dirty="0">
                <a:solidFill>
                  <a:srgbClr val="FF0000"/>
                </a:solidFill>
              </a:rPr>
              <a:t> pigeonholes</a:t>
            </a:r>
            <a:r>
              <a:rPr lang="en-US" dirty="0"/>
              <a:t> then at least </a:t>
            </a:r>
            <a:r>
              <a:rPr lang="en-US" dirty="0">
                <a:solidFill>
                  <a:srgbClr val="FF0000"/>
                </a:solidFill>
              </a:rPr>
              <a:t>one pigeonhole</a:t>
            </a:r>
            <a:r>
              <a:rPr lang="en-US" dirty="0"/>
              <a:t> must contain </a:t>
            </a:r>
            <a:r>
              <a:rPr lang="en-US" i="1" dirty="0">
                <a:solidFill>
                  <a:srgbClr val="FF0000"/>
                </a:solidFill>
              </a:rPr>
              <a:t>k + </a:t>
            </a:r>
            <a:r>
              <a:rPr lang="en-US" dirty="0">
                <a:solidFill>
                  <a:srgbClr val="FF0000"/>
                </a:solidFill>
              </a:rPr>
              <a:t>1</a:t>
            </a:r>
            <a:r>
              <a:rPr lang="en-US" dirty="0"/>
              <a:t> or </a:t>
            </a:r>
            <a:r>
              <a:rPr lang="en-US" dirty="0">
                <a:solidFill>
                  <a:srgbClr val="FF0000"/>
                </a:solidFill>
              </a:rPr>
              <a:t>more pigeons</a:t>
            </a:r>
            <a:r>
              <a:rPr lang="en-US" dirty="0"/>
              <a:t>.  </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5696" y="0"/>
            <a:ext cx="10515600" cy="1120775"/>
          </a:xfrm>
        </p:spPr>
        <p:txBody>
          <a:bodyPr>
            <a:normAutofit/>
          </a:bodyPr>
          <a:lstStyle/>
          <a:p>
            <a:pPr algn="ctr"/>
            <a:r>
              <a:rPr lang="en-US" b="1" u="sng" dirty="0">
                <a:solidFill>
                  <a:srgbClr val="0070C0"/>
                </a:solidFill>
              </a:rPr>
              <a:t>EXERCISE</a:t>
            </a:r>
          </a:p>
        </p:txBody>
      </p:sp>
      <p:sp>
        <p:nvSpPr>
          <p:cNvPr id="4" name="Content Placeholder 3"/>
          <p:cNvSpPr>
            <a:spLocks noGrp="1"/>
          </p:cNvSpPr>
          <p:nvPr>
            <p:ph sz="quarter" idx="1"/>
          </p:nvPr>
        </p:nvSpPr>
        <p:spPr>
          <a:xfrm>
            <a:off x="615695" y="1120775"/>
            <a:ext cx="11512027" cy="3859742"/>
          </a:xfrm>
        </p:spPr>
        <p:txBody>
          <a:bodyPr/>
          <a:lstStyle/>
          <a:p>
            <a:pPr marL="0" indent="0">
              <a:buNone/>
            </a:pPr>
            <a:r>
              <a:rPr lang="en-US" dirty="0"/>
              <a:t>Suppose a </a:t>
            </a:r>
            <a:r>
              <a:rPr lang="en-US" dirty="0">
                <a:solidFill>
                  <a:srgbClr val="FF0000"/>
                </a:solidFill>
              </a:rPr>
              <a:t>laundry bag</a:t>
            </a:r>
            <a:r>
              <a:rPr lang="en-US" dirty="0"/>
              <a:t> contains many </a:t>
            </a:r>
            <a:r>
              <a:rPr lang="en-US" dirty="0">
                <a:solidFill>
                  <a:srgbClr val="FF0000"/>
                </a:solidFill>
              </a:rPr>
              <a:t>red</a:t>
            </a:r>
            <a:r>
              <a:rPr lang="en-US" dirty="0"/>
              <a:t>, </a:t>
            </a:r>
            <a:r>
              <a:rPr lang="en-US" dirty="0">
                <a:solidFill>
                  <a:srgbClr val="FF0000"/>
                </a:solidFill>
              </a:rPr>
              <a:t>white</a:t>
            </a:r>
            <a:r>
              <a:rPr lang="en-US" dirty="0"/>
              <a:t>, and </a:t>
            </a:r>
            <a:r>
              <a:rPr lang="en-US" dirty="0">
                <a:solidFill>
                  <a:srgbClr val="FF0000"/>
                </a:solidFill>
              </a:rPr>
              <a:t>black socks</a:t>
            </a:r>
            <a:r>
              <a:rPr lang="en-US" dirty="0"/>
              <a:t>. </a:t>
            </a:r>
          </a:p>
          <a:p>
            <a:endParaRPr lang="en-US" dirty="0"/>
          </a:p>
          <a:p>
            <a:r>
              <a:rPr lang="en-US" dirty="0"/>
              <a:t>Find the minimum number of </a:t>
            </a:r>
            <a:r>
              <a:rPr lang="en-US" dirty="0">
                <a:solidFill>
                  <a:srgbClr val="FF0000"/>
                </a:solidFill>
              </a:rPr>
              <a:t>socks</a:t>
            </a:r>
            <a:r>
              <a:rPr lang="en-US" dirty="0"/>
              <a:t> that one needs to choose in order to get </a:t>
            </a:r>
            <a:r>
              <a:rPr lang="en-US" dirty="0">
                <a:solidFill>
                  <a:srgbClr val="FF0000"/>
                </a:solidFill>
              </a:rPr>
              <a:t>two pairs</a:t>
            </a:r>
            <a:r>
              <a:rPr lang="en-US" dirty="0"/>
              <a:t> (four socks) of the </a:t>
            </a:r>
            <a:r>
              <a:rPr lang="en-US" dirty="0">
                <a:solidFill>
                  <a:srgbClr val="FF0000"/>
                </a:solidFill>
              </a:rPr>
              <a:t>same color?</a:t>
            </a:r>
          </a:p>
          <a:p>
            <a:endParaRPr lang="en-US" dirty="0"/>
          </a:p>
          <a:p>
            <a:endParaRPr lang="en-US" dirty="0"/>
          </a:p>
        </p:txBody>
      </p:sp>
      <p:pic>
        <p:nvPicPr>
          <p:cNvPr id="6" name="Picture 5">
            <a:extLst>
              <a:ext uri="{FF2B5EF4-FFF2-40B4-BE49-F238E27FC236}">
                <a16:creationId xmlns:a16="http://schemas.microsoft.com/office/drawing/2014/main" id="{4E49CCA9-0AFD-41AC-8C82-44ABEB6FF736}"/>
              </a:ext>
            </a:extLst>
          </p:cNvPr>
          <p:cNvPicPr>
            <a:picLocks noChangeAspect="1"/>
          </p:cNvPicPr>
          <p:nvPr/>
        </p:nvPicPr>
        <p:blipFill>
          <a:blip r:embed="rId2"/>
          <a:stretch>
            <a:fillRect/>
          </a:stretch>
        </p:blipFill>
        <p:spPr>
          <a:xfrm>
            <a:off x="9845880" y="3429000"/>
            <a:ext cx="2281843" cy="3429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0070C0"/>
                </a:solidFill>
              </a:rPr>
              <a:t>SOLUTION</a:t>
            </a:r>
          </a:p>
        </p:txBody>
      </p:sp>
      <p:sp>
        <p:nvSpPr>
          <p:cNvPr id="4" name="Content Placeholder 3"/>
          <p:cNvSpPr>
            <a:spLocks noGrp="1"/>
          </p:cNvSpPr>
          <p:nvPr>
            <p:ph sz="quarter" idx="1"/>
          </p:nvPr>
        </p:nvSpPr>
        <p:spPr/>
        <p:txBody>
          <a:bodyPr/>
          <a:lstStyle/>
          <a:p>
            <a:r>
              <a:rPr lang="en-US" dirty="0"/>
              <a:t>Here there are </a:t>
            </a:r>
            <a:r>
              <a:rPr lang="en-US" dirty="0">
                <a:solidFill>
                  <a:srgbClr val="FF0000"/>
                </a:solidFill>
              </a:rPr>
              <a:t>n = 3</a:t>
            </a:r>
            <a:r>
              <a:rPr lang="en-US" dirty="0"/>
              <a:t> colors (</a:t>
            </a:r>
            <a:r>
              <a:rPr lang="en-US" dirty="0">
                <a:solidFill>
                  <a:srgbClr val="FF0000"/>
                </a:solidFill>
              </a:rPr>
              <a:t>pigeonholes</a:t>
            </a:r>
            <a:r>
              <a:rPr lang="en-US" dirty="0"/>
              <a:t>)</a:t>
            </a:r>
          </a:p>
          <a:p>
            <a:endParaRPr lang="en-US" dirty="0"/>
          </a:p>
          <a:p>
            <a:pPr>
              <a:buNone/>
            </a:pPr>
            <a:r>
              <a:rPr lang="en-US" dirty="0"/>
              <a:t>	 and </a:t>
            </a:r>
            <a:r>
              <a:rPr lang="en-US" dirty="0">
                <a:solidFill>
                  <a:srgbClr val="FF0000"/>
                </a:solidFill>
              </a:rPr>
              <a:t>k + 1 = 4</a:t>
            </a:r>
            <a:r>
              <a:rPr lang="en-US" dirty="0"/>
              <a:t> or </a:t>
            </a:r>
            <a:r>
              <a:rPr lang="en-US" dirty="0">
                <a:solidFill>
                  <a:srgbClr val="FF0000"/>
                </a:solidFill>
              </a:rPr>
              <a:t>k = 3</a:t>
            </a:r>
            <a:r>
              <a:rPr lang="en-US" dirty="0"/>
              <a:t>. </a:t>
            </a:r>
          </a:p>
          <a:p>
            <a:pPr>
              <a:buNone/>
            </a:pPr>
            <a:endParaRPr lang="en-US" dirty="0"/>
          </a:p>
          <a:p>
            <a:pPr>
              <a:buNone/>
            </a:pPr>
            <a:r>
              <a:rPr lang="en-US" dirty="0"/>
              <a:t>	Thus among any </a:t>
            </a:r>
            <a:r>
              <a:rPr lang="en-US" i="1" dirty="0" err="1">
                <a:solidFill>
                  <a:srgbClr val="FF0000"/>
                </a:solidFill>
              </a:rPr>
              <a:t>n</a:t>
            </a:r>
            <a:r>
              <a:rPr lang="en-US" dirty="0" err="1">
                <a:solidFill>
                  <a:srgbClr val="FF0000"/>
                </a:solidFill>
                <a:sym typeface="Symbol"/>
              </a:rPr>
              <a:t></a:t>
            </a:r>
            <a:r>
              <a:rPr lang="en-US" i="1" dirty="0" err="1">
                <a:solidFill>
                  <a:srgbClr val="FF0000"/>
                </a:solidFill>
              </a:rPr>
              <a:t>k</a:t>
            </a:r>
            <a:r>
              <a:rPr lang="en-US" dirty="0">
                <a:solidFill>
                  <a:srgbClr val="FF0000"/>
                </a:solidFill>
              </a:rPr>
              <a:t> + 1 = 3</a:t>
            </a:r>
            <a:r>
              <a:rPr lang="en-US" dirty="0">
                <a:solidFill>
                  <a:srgbClr val="FF0000"/>
                </a:solidFill>
                <a:sym typeface="Symbol"/>
              </a:rPr>
              <a:t></a:t>
            </a:r>
            <a:r>
              <a:rPr lang="en-US" dirty="0">
                <a:solidFill>
                  <a:srgbClr val="FF0000"/>
                </a:solidFill>
              </a:rPr>
              <a:t>3 + 1 = 10</a:t>
            </a:r>
            <a:r>
              <a:rPr lang="en-US" dirty="0"/>
              <a:t> socks (</a:t>
            </a:r>
            <a:r>
              <a:rPr lang="en-US" dirty="0">
                <a:solidFill>
                  <a:srgbClr val="FF0000"/>
                </a:solidFill>
              </a:rPr>
              <a:t>pigeons</a:t>
            </a:r>
            <a:r>
              <a:rPr lang="en-US" dirty="0"/>
              <a:t>), </a:t>
            </a:r>
          </a:p>
          <a:p>
            <a:pPr>
              <a:buNone/>
            </a:pPr>
            <a:endParaRPr lang="en-US" dirty="0"/>
          </a:p>
          <a:p>
            <a:pPr>
              <a:buNone/>
            </a:pPr>
            <a:r>
              <a:rPr lang="en-US" dirty="0"/>
              <a:t>	at least </a:t>
            </a:r>
            <a:r>
              <a:rPr lang="en-US" dirty="0">
                <a:solidFill>
                  <a:srgbClr val="FF0000"/>
                </a:solidFill>
              </a:rPr>
              <a:t>four</a:t>
            </a:r>
            <a:r>
              <a:rPr lang="en-US" dirty="0"/>
              <a:t> have the </a:t>
            </a:r>
            <a:r>
              <a:rPr lang="en-US" dirty="0">
                <a:solidFill>
                  <a:srgbClr val="FF0000"/>
                </a:solidFill>
              </a:rPr>
              <a:t>same color</a:t>
            </a:r>
            <a:r>
              <a:rPr lang="en-US" dirty="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882" y="905775"/>
            <a:ext cx="10258246" cy="784650"/>
          </a:xfrm>
        </p:spPr>
        <p:txBody>
          <a:bodyPr>
            <a:normAutofit/>
          </a:bodyPr>
          <a:lstStyle/>
          <a:p>
            <a:pPr lvl="0"/>
            <a:r>
              <a:rPr lang="en-US" sz="4000" b="1" dirty="0">
                <a:solidFill>
                  <a:schemeClr val="accent6">
                    <a:lumMod val="75000"/>
                  </a:schemeClr>
                </a:solidFill>
                <a:latin typeface="Cambria Math" panose="02040503050406030204" pitchFamily="18" charset="0"/>
                <a:ea typeface="Cambria Math" panose="02040503050406030204" pitchFamily="18" charset="0"/>
              </a:rPr>
              <a:t>A Pair of Socks</a:t>
            </a:r>
          </a:p>
        </p:txBody>
      </p:sp>
      <p:sp>
        <p:nvSpPr>
          <p:cNvPr id="3" name="Content Placeholder 2"/>
          <p:cNvSpPr>
            <a:spLocks noGrp="1"/>
          </p:cNvSpPr>
          <p:nvPr>
            <p:ph idx="1"/>
          </p:nvPr>
        </p:nvSpPr>
        <p:spPr>
          <a:xfrm>
            <a:off x="810881" y="1690425"/>
            <a:ext cx="10808899" cy="3824502"/>
          </a:xfrm>
        </p:spPr>
        <p:txBody>
          <a:bodyPr>
            <a:normAutofit/>
          </a:bodyPr>
          <a:lstStyle/>
          <a:p>
            <a:pPr marL="457200" lvl="0" indent="-457200" algn="just" eaLnBrk="0" fontAlgn="base" hangingPunct="0">
              <a:lnSpc>
                <a:spcPct val="100000"/>
              </a:lnSpc>
              <a:spcBef>
                <a:spcPct val="0"/>
              </a:spcBef>
              <a:spcAft>
                <a:spcPct val="0"/>
              </a:spcAft>
              <a:buFont typeface="+mj-lt"/>
              <a:buAutoNum type="arabicPeriod"/>
            </a:pPr>
            <a:r>
              <a:rPr lang="en-US" sz="2400" b="1" dirty="0">
                <a:latin typeface="Cambria Math" panose="02040503050406030204" pitchFamily="18" charset="0"/>
                <a:ea typeface="Cambria Math" panose="02040503050406030204" pitchFamily="18" charset="0"/>
              </a:rPr>
              <a:t>Assume you have 10 orange socks and 10 blue socks and you want to find a matching pair of socks from a Random pick. How many socks you will need to pick?</a:t>
            </a:r>
          </a:p>
          <a:p>
            <a:pPr marL="457200" indent="-457200" algn="just" eaLnBrk="0" fontAlgn="base" hangingPunct="0">
              <a:lnSpc>
                <a:spcPct val="100000"/>
              </a:lnSpc>
              <a:spcBef>
                <a:spcPct val="0"/>
              </a:spcBef>
              <a:spcAft>
                <a:spcPct val="0"/>
              </a:spcAft>
              <a:buFont typeface="+mj-lt"/>
              <a:buAutoNum type="arabicPeriod"/>
            </a:pPr>
            <a:r>
              <a:rPr lang="en-US" sz="2400" b="1" dirty="0">
                <a:latin typeface="Cambria Math" panose="02040503050406030204" pitchFamily="18" charset="0"/>
                <a:ea typeface="Cambria Math" panose="02040503050406030204" pitchFamily="18" charset="0"/>
              </a:rPr>
              <a:t>Assume you have 10 orange socks and 10 blue socks and you want to find a matching pair of blue socks from a Random pick. How many socks you will need to pick?</a:t>
            </a:r>
          </a:p>
          <a:p>
            <a:pPr marL="457200" lvl="0" indent="-457200" algn="just" eaLnBrk="0" fontAlgn="base" hangingPunct="0">
              <a:lnSpc>
                <a:spcPct val="100000"/>
              </a:lnSpc>
              <a:spcBef>
                <a:spcPct val="0"/>
              </a:spcBef>
              <a:spcAft>
                <a:spcPct val="0"/>
              </a:spcAft>
              <a:buFont typeface="+mj-lt"/>
              <a:buAutoNum type="arabicPeriod"/>
            </a:pPr>
            <a:endParaRPr lang="en-US" sz="2400" b="1" dirty="0">
              <a:latin typeface="Cambria Math" panose="02040503050406030204" pitchFamily="18" charset="0"/>
              <a:ea typeface="Cambria Math" panose="02040503050406030204" pitchFamily="18" charset="0"/>
            </a:endParaRPr>
          </a:p>
          <a:p>
            <a:pPr marL="0" lvl="0" indent="0" algn="just" eaLnBrk="0" fontAlgn="base" hangingPunct="0">
              <a:lnSpc>
                <a:spcPct val="100000"/>
              </a:lnSpc>
              <a:spcBef>
                <a:spcPct val="0"/>
              </a:spcBef>
              <a:spcAft>
                <a:spcPct val="0"/>
              </a:spcAft>
              <a:buNone/>
            </a:pPr>
            <a:endParaRPr lang="en-US" sz="2400" b="1" dirty="0">
              <a:latin typeface="Cambria Math" panose="02040503050406030204" pitchFamily="18" charset="0"/>
              <a:ea typeface="Cambria Math" panose="020405030504060302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25302" y="4287328"/>
            <a:ext cx="3266698" cy="2430548"/>
          </a:xfrm>
          <a:prstGeom prst="rect">
            <a:avLst/>
          </a:prstGeom>
        </p:spPr>
      </p:pic>
      <p:sp>
        <p:nvSpPr>
          <p:cNvPr id="6" name="Title 1">
            <a:extLst>
              <a:ext uri="{FF2B5EF4-FFF2-40B4-BE49-F238E27FC236}">
                <a16:creationId xmlns:a16="http://schemas.microsoft.com/office/drawing/2014/main" id="{82A5D8E6-5877-40C8-AEC5-62864E022CF4}"/>
              </a:ext>
            </a:extLst>
          </p:cNvPr>
          <p:cNvSpPr txBox="1">
            <a:spLocks/>
          </p:cNvSpPr>
          <p:nvPr/>
        </p:nvSpPr>
        <p:spPr>
          <a:xfrm>
            <a:off x="615696" y="0"/>
            <a:ext cx="10515600" cy="1120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solidFill>
                  <a:srgbClr val="0070C0"/>
                </a:solidFill>
              </a:rPr>
              <a:t>EXERCISE … Do it Yourself</a:t>
            </a:r>
          </a:p>
        </p:txBody>
      </p:sp>
    </p:spTree>
    <p:extLst>
      <p:ext uri="{BB962C8B-B14F-4D97-AF65-F5344CB8AC3E}">
        <p14:creationId xmlns:p14="http://schemas.microsoft.com/office/powerpoint/2010/main" val="17069531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5696" y="976832"/>
            <a:ext cx="10165335" cy="720000"/>
          </a:xfrm>
        </p:spPr>
        <p:txBody>
          <a:bodyPr>
            <a:normAutofit/>
          </a:bodyPr>
          <a:lstStyle/>
          <a:p>
            <a:r>
              <a:rPr lang="en-US" sz="4000" dirty="0">
                <a:solidFill>
                  <a:schemeClr val="accent4">
                    <a:lumMod val="75000"/>
                  </a:schemeClr>
                </a:solidFill>
                <a:latin typeface="Cambria Math" panose="02040503050406030204" pitchFamily="18" charset="0"/>
                <a:ea typeface="Cambria Math" panose="02040503050406030204" pitchFamily="18" charset="0"/>
              </a:rPr>
              <a:t>Let’s Play Cards …</a:t>
            </a:r>
          </a:p>
        </p:txBody>
      </p:sp>
      <p:sp>
        <p:nvSpPr>
          <p:cNvPr id="8" name="Content Placeholder 7"/>
          <p:cNvSpPr>
            <a:spLocks noGrp="1"/>
          </p:cNvSpPr>
          <p:nvPr>
            <p:ph idx="1"/>
          </p:nvPr>
        </p:nvSpPr>
        <p:spPr>
          <a:xfrm>
            <a:off x="443249" y="1856843"/>
            <a:ext cx="10981001" cy="4024325"/>
          </a:xfrm>
        </p:spPr>
        <p:txBody>
          <a:bodyPr>
            <a:normAutofit/>
          </a:bodyPr>
          <a:lstStyle/>
          <a:p>
            <a:pPr marL="457200" indent="-457200" algn="just">
              <a:buFont typeface="+mj-lt"/>
              <a:buAutoNum type="arabicPeriod"/>
            </a:pPr>
            <a:r>
              <a:rPr lang="en-US" sz="2400" dirty="0">
                <a:solidFill>
                  <a:schemeClr val="accent5">
                    <a:lumMod val="75000"/>
                  </a:schemeClr>
                </a:solidFill>
                <a:latin typeface="Cambria Math" panose="02040503050406030204" pitchFamily="18" charset="0"/>
                <a:ea typeface="Cambria Math" panose="02040503050406030204" pitchFamily="18" charset="0"/>
              </a:rPr>
              <a:t>From a standard deck of 52 cards, how many cards you need to pick to guarantee </a:t>
            </a:r>
            <a:r>
              <a:rPr lang="en-US" sz="2400" dirty="0">
                <a:solidFill>
                  <a:srgbClr val="FF0000"/>
                </a:solidFill>
                <a:latin typeface="Cambria Math" panose="02040503050406030204" pitchFamily="18" charset="0"/>
                <a:ea typeface="Cambria Math" panose="02040503050406030204" pitchFamily="18" charset="0"/>
              </a:rPr>
              <a:t>at least two cards </a:t>
            </a:r>
            <a:r>
              <a:rPr lang="en-US" sz="2400" dirty="0">
                <a:solidFill>
                  <a:schemeClr val="accent5">
                    <a:lumMod val="75000"/>
                  </a:schemeClr>
                </a:solidFill>
                <a:latin typeface="Cambria Math" panose="02040503050406030204" pitchFamily="18" charset="0"/>
                <a:ea typeface="Cambria Math" panose="02040503050406030204" pitchFamily="18" charset="0"/>
              </a:rPr>
              <a:t>will be of the </a:t>
            </a:r>
            <a:r>
              <a:rPr lang="en-US" sz="2400" dirty="0">
                <a:solidFill>
                  <a:srgbClr val="FF0000"/>
                </a:solidFill>
                <a:latin typeface="Cambria Math" panose="02040503050406030204" pitchFamily="18" charset="0"/>
                <a:ea typeface="Cambria Math" panose="02040503050406030204" pitchFamily="18" charset="0"/>
              </a:rPr>
              <a:t>same color?</a:t>
            </a:r>
          </a:p>
          <a:p>
            <a:pPr marL="457200" indent="-457200" algn="just">
              <a:buFont typeface="+mj-lt"/>
              <a:buAutoNum type="arabicPeriod"/>
            </a:pPr>
            <a:r>
              <a:rPr lang="en-US" sz="2400" dirty="0">
                <a:solidFill>
                  <a:schemeClr val="accent5">
                    <a:lumMod val="75000"/>
                  </a:schemeClr>
                </a:solidFill>
                <a:latin typeface="Cambria Math" panose="02040503050406030204" pitchFamily="18" charset="0"/>
                <a:ea typeface="Cambria Math" panose="02040503050406030204" pitchFamily="18" charset="0"/>
              </a:rPr>
              <a:t>From a standard deck of 52 cards, how many cards you need to pick to guarantee </a:t>
            </a:r>
            <a:r>
              <a:rPr lang="en-US" sz="2400" dirty="0">
                <a:solidFill>
                  <a:srgbClr val="FF0000"/>
                </a:solidFill>
                <a:latin typeface="Cambria Math" panose="02040503050406030204" pitchFamily="18" charset="0"/>
                <a:ea typeface="Cambria Math" panose="02040503050406030204" pitchFamily="18" charset="0"/>
              </a:rPr>
              <a:t>at least two cards </a:t>
            </a:r>
            <a:r>
              <a:rPr lang="en-US" sz="2400" dirty="0">
                <a:solidFill>
                  <a:schemeClr val="accent5">
                    <a:lumMod val="75000"/>
                  </a:schemeClr>
                </a:solidFill>
                <a:latin typeface="Cambria Math" panose="02040503050406030204" pitchFamily="18" charset="0"/>
                <a:ea typeface="Cambria Math" panose="02040503050406030204" pitchFamily="18" charset="0"/>
              </a:rPr>
              <a:t>will be of the </a:t>
            </a:r>
            <a:r>
              <a:rPr lang="en-US" sz="2400" dirty="0">
                <a:solidFill>
                  <a:srgbClr val="FF0000"/>
                </a:solidFill>
                <a:latin typeface="Cambria Math" panose="02040503050406030204" pitchFamily="18" charset="0"/>
                <a:ea typeface="Cambria Math" panose="02040503050406030204" pitchFamily="18" charset="0"/>
              </a:rPr>
              <a:t>same suit?</a:t>
            </a:r>
          </a:p>
          <a:p>
            <a:pPr marL="457200" indent="-457200" algn="just">
              <a:buFont typeface="+mj-lt"/>
              <a:buAutoNum type="arabicPeriod"/>
            </a:pPr>
            <a:r>
              <a:rPr lang="en-US" sz="2400" dirty="0">
                <a:solidFill>
                  <a:schemeClr val="accent5">
                    <a:lumMod val="75000"/>
                  </a:schemeClr>
                </a:solidFill>
                <a:latin typeface="Cambria Math" panose="02040503050406030204" pitchFamily="18" charset="0"/>
                <a:ea typeface="Cambria Math" panose="02040503050406030204" pitchFamily="18" charset="0"/>
              </a:rPr>
              <a:t>From a standard deck of 52 cards, how many cards you need to pick to guarantee </a:t>
            </a:r>
            <a:r>
              <a:rPr lang="en-US" sz="2400" dirty="0">
                <a:solidFill>
                  <a:srgbClr val="FF0000"/>
                </a:solidFill>
                <a:latin typeface="Cambria Math" panose="02040503050406030204" pitchFamily="18" charset="0"/>
                <a:ea typeface="Cambria Math" panose="02040503050406030204" pitchFamily="18" charset="0"/>
              </a:rPr>
              <a:t>at least two cards </a:t>
            </a:r>
            <a:r>
              <a:rPr lang="en-US" sz="2400" dirty="0">
                <a:solidFill>
                  <a:schemeClr val="accent5">
                    <a:lumMod val="75000"/>
                  </a:schemeClr>
                </a:solidFill>
                <a:latin typeface="Cambria Math" panose="02040503050406030204" pitchFamily="18" charset="0"/>
                <a:ea typeface="Cambria Math" panose="02040503050406030204" pitchFamily="18" charset="0"/>
              </a:rPr>
              <a:t>will be </a:t>
            </a:r>
            <a:r>
              <a:rPr lang="en-US" sz="2400" dirty="0">
                <a:solidFill>
                  <a:srgbClr val="FF3399"/>
                </a:solidFill>
                <a:latin typeface="Cambria Math" panose="02040503050406030204" pitchFamily="18" charset="0"/>
                <a:ea typeface="Cambria Math" panose="02040503050406030204" pitchFamily="18" charset="0"/>
              </a:rPr>
              <a:t>Queens</a:t>
            </a:r>
            <a:r>
              <a:rPr lang="en-US" sz="2400" dirty="0">
                <a:solidFill>
                  <a:schemeClr val="accent5">
                    <a:lumMod val="75000"/>
                  </a:schemeClr>
                </a:solidFill>
                <a:latin typeface="Cambria Math" panose="02040503050406030204" pitchFamily="18" charset="0"/>
                <a:ea typeface="Cambria Math" panose="02040503050406030204" pitchFamily="18" charset="0"/>
              </a:rPr>
              <a:t>?</a:t>
            </a:r>
          </a:p>
          <a:p>
            <a:pPr marL="457200" indent="-457200" algn="just">
              <a:buFont typeface="+mj-lt"/>
              <a:buAutoNum type="arabicPeriod"/>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a:p>
            <a:pPr marL="457200" indent="-457200" algn="just">
              <a:buFont typeface="+mj-lt"/>
              <a:buAutoNum type="arabicPeriod"/>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a:p>
            <a:pPr marL="457200" indent="-457200" algn="just">
              <a:buFont typeface="+mj-lt"/>
              <a:buAutoNum type="arabicPeriod"/>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5592" y="4054841"/>
            <a:ext cx="2803159" cy="2803159"/>
          </a:xfrm>
          <a:prstGeom prst="rect">
            <a:avLst/>
          </a:prstGeom>
        </p:spPr>
      </p:pic>
      <p:sp>
        <p:nvSpPr>
          <p:cNvPr id="6" name="Title 1">
            <a:extLst>
              <a:ext uri="{FF2B5EF4-FFF2-40B4-BE49-F238E27FC236}">
                <a16:creationId xmlns:a16="http://schemas.microsoft.com/office/drawing/2014/main" id="{8D189B14-EA73-45FF-B593-FDF828E559E0}"/>
              </a:ext>
            </a:extLst>
          </p:cNvPr>
          <p:cNvSpPr txBox="1">
            <a:spLocks/>
          </p:cNvSpPr>
          <p:nvPr/>
        </p:nvSpPr>
        <p:spPr>
          <a:xfrm>
            <a:off x="615696" y="0"/>
            <a:ext cx="10515600" cy="1120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a:solidFill>
                  <a:srgbClr val="0070C0"/>
                </a:solidFill>
              </a:rPr>
              <a:t>EXERCISE</a:t>
            </a:r>
            <a:endParaRPr lang="en-US" b="1" u="sng" dirty="0">
              <a:solidFill>
                <a:srgbClr val="0070C0"/>
              </a:solidFill>
            </a:endParaRPr>
          </a:p>
        </p:txBody>
      </p:sp>
    </p:spTree>
    <p:extLst>
      <p:ext uri="{BB962C8B-B14F-4D97-AF65-F5344CB8AC3E}">
        <p14:creationId xmlns:p14="http://schemas.microsoft.com/office/powerpoint/2010/main" val="2921928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496" y="365126"/>
            <a:ext cx="10515600" cy="1140946"/>
          </a:xfrm>
        </p:spPr>
        <p:txBody>
          <a:bodyPr>
            <a:normAutofit/>
          </a:bodyPr>
          <a:lstStyle/>
          <a:p>
            <a:pPr algn="ctr"/>
            <a:r>
              <a:rPr lang="en-US" b="1" u="sng" dirty="0">
                <a:solidFill>
                  <a:srgbClr val="0070C0"/>
                </a:solidFill>
              </a:rPr>
              <a:t>FLOOR &amp; CEILING FUNCTIONS</a:t>
            </a:r>
          </a:p>
        </p:txBody>
      </p:sp>
      <p:sp>
        <p:nvSpPr>
          <p:cNvPr id="4" name="Content Placeholder 3"/>
          <p:cNvSpPr>
            <a:spLocks noGrp="1"/>
          </p:cNvSpPr>
          <p:nvPr>
            <p:ph sz="quarter" idx="1"/>
          </p:nvPr>
        </p:nvSpPr>
        <p:spPr>
          <a:xfrm>
            <a:off x="1058551" y="1628708"/>
            <a:ext cx="10384895" cy="3859742"/>
          </a:xfrm>
        </p:spPr>
        <p:txBody>
          <a:bodyPr>
            <a:normAutofit fontScale="92500" lnSpcReduction="10000"/>
          </a:bodyPr>
          <a:lstStyle/>
          <a:p>
            <a:pPr marL="0" indent="0">
              <a:buNone/>
            </a:pPr>
            <a:r>
              <a:rPr lang="en-US" dirty="0"/>
              <a:t>Given any </a:t>
            </a:r>
            <a:r>
              <a:rPr lang="en-US" dirty="0">
                <a:solidFill>
                  <a:srgbClr val="FF0000"/>
                </a:solidFill>
              </a:rPr>
              <a:t>real number </a:t>
            </a:r>
            <a:r>
              <a:rPr lang="en-US" i="1" dirty="0">
                <a:solidFill>
                  <a:srgbClr val="FF0000"/>
                </a:solidFill>
              </a:rPr>
              <a:t>x</a:t>
            </a:r>
            <a:r>
              <a:rPr lang="en-US" dirty="0">
                <a:solidFill>
                  <a:srgbClr val="FF0000"/>
                </a:solidFill>
              </a:rPr>
              <a:t>,</a:t>
            </a:r>
            <a:r>
              <a:rPr lang="en-US" dirty="0"/>
              <a:t> the</a:t>
            </a:r>
            <a:r>
              <a:rPr lang="en-US" b="1" dirty="0"/>
              <a:t> </a:t>
            </a:r>
            <a:r>
              <a:rPr lang="en-US" b="1" dirty="0">
                <a:solidFill>
                  <a:srgbClr val="FF0000"/>
                </a:solidFill>
              </a:rPr>
              <a:t>floor</a:t>
            </a:r>
            <a:r>
              <a:rPr lang="en-US" b="1" dirty="0"/>
              <a:t> </a:t>
            </a:r>
            <a:r>
              <a:rPr lang="en-US" dirty="0"/>
              <a:t>of</a:t>
            </a:r>
            <a:r>
              <a:rPr lang="en-US" b="1" dirty="0"/>
              <a:t> </a:t>
            </a:r>
            <a:r>
              <a:rPr lang="en-US" b="1" i="1" dirty="0">
                <a:solidFill>
                  <a:srgbClr val="FF0000"/>
                </a:solidFill>
              </a:rPr>
              <a:t>x</a:t>
            </a:r>
            <a:r>
              <a:rPr lang="en-US" dirty="0"/>
              <a:t>, denoted </a:t>
            </a:r>
            <a:r>
              <a:rPr lang="en-US" dirty="0">
                <a:solidFill>
                  <a:srgbClr val="FF0000"/>
                </a:solidFill>
                <a:sym typeface="Symbol"/>
              </a:rPr>
              <a:t></a:t>
            </a:r>
            <a:r>
              <a:rPr lang="en-US" i="1" dirty="0">
                <a:solidFill>
                  <a:srgbClr val="FF0000"/>
                </a:solidFill>
              </a:rPr>
              <a:t>x</a:t>
            </a:r>
            <a:r>
              <a:rPr lang="en-US" dirty="0">
                <a:solidFill>
                  <a:srgbClr val="FF0000"/>
                </a:solidFill>
                <a:sym typeface="Symbol"/>
              </a:rPr>
              <a:t></a:t>
            </a:r>
            <a:r>
              <a:rPr lang="en-US" dirty="0"/>
              <a:t>, is the </a:t>
            </a:r>
            <a:r>
              <a:rPr lang="en-US" dirty="0">
                <a:solidFill>
                  <a:srgbClr val="FF0000"/>
                </a:solidFill>
              </a:rPr>
              <a:t>largest</a:t>
            </a:r>
            <a:r>
              <a:rPr lang="en-US" dirty="0"/>
              <a:t> </a:t>
            </a:r>
            <a:r>
              <a:rPr lang="en-US" dirty="0">
                <a:solidFill>
                  <a:srgbClr val="FF0000"/>
                </a:solidFill>
              </a:rPr>
              <a:t>integer</a:t>
            </a:r>
            <a:r>
              <a:rPr lang="en-US" dirty="0"/>
              <a:t> smaller than or equal to </a:t>
            </a:r>
            <a:r>
              <a:rPr lang="en-US" i="1" dirty="0">
                <a:solidFill>
                  <a:srgbClr val="FF0000"/>
                </a:solidFill>
              </a:rPr>
              <a:t>x</a:t>
            </a:r>
            <a:r>
              <a:rPr lang="en-US" dirty="0"/>
              <a:t>.</a:t>
            </a:r>
          </a:p>
          <a:p>
            <a:endParaRPr lang="en-US" dirty="0"/>
          </a:p>
          <a:p>
            <a:r>
              <a:rPr lang="en-US" dirty="0"/>
              <a:t>Example: </a:t>
            </a:r>
            <a:r>
              <a:rPr lang="en-US" dirty="0">
                <a:solidFill>
                  <a:srgbClr val="FF0000"/>
                </a:solidFill>
                <a:sym typeface="Symbol"/>
              </a:rPr>
              <a:t></a:t>
            </a:r>
            <a:r>
              <a:rPr lang="en-US" i="1" dirty="0">
                <a:solidFill>
                  <a:srgbClr val="FF0000"/>
                </a:solidFill>
                <a:sym typeface="Symbol"/>
              </a:rPr>
              <a:t>3.4</a:t>
            </a:r>
            <a:r>
              <a:rPr lang="en-US" dirty="0">
                <a:solidFill>
                  <a:srgbClr val="FF0000"/>
                </a:solidFill>
                <a:sym typeface="Symbol"/>
              </a:rPr>
              <a:t> = 3 </a:t>
            </a:r>
            <a:r>
              <a:rPr lang="en-US" dirty="0">
                <a:sym typeface="Symbol"/>
              </a:rPr>
              <a:t>and</a:t>
            </a:r>
            <a:r>
              <a:rPr lang="en-US" dirty="0">
                <a:solidFill>
                  <a:srgbClr val="FF0000"/>
                </a:solidFill>
                <a:sym typeface="Symbol"/>
              </a:rPr>
              <a:t> 5 = 5</a:t>
            </a:r>
            <a:endParaRPr lang="en-US" dirty="0"/>
          </a:p>
          <a:p>
            <a:endParaRPr lang="en-US" dirty="0"/>
          </a:p>
          <a:p>
            <a:pPr marL="0" indent="0">
              <a:buNone/>
            </a:pPr>
            <a:r>
              <a:rPr lang="en-US" dirty="0"/>
              <a:t>Given any</a:t>
            </a:r>
            <a:r>
              <a:rPr lang="en-US" dirty="0">
                <a:solidFill>
                  <a:srgbClr val="FF0000"/>
                </a:solidFill>
              </a:rPr>
              <a:t> real number </a:t>
            </a:r>
            <a:r>
              <a:rPr lang="en-US" i="1" dirty="0">
                <a:solidFill>
                  <a:srgbClr val="FF0000"/>
                </a:solidFill>
              </a:rPr>
              <a:t>x</a:t>
            </a:r>
            <a:r>
              <a:rPr lang="en-US" dirty="0"/>
              <a:t>, the</a:t>
            </a:r>
            <a:r>
              <a:rPr lang="en-US" b="1" dirty="0"/>
              <a:t> </a:t>
            </a:r>
            <a:r>
              <a:rPr lang="en-US" b="1" dirty="0">
                <a:solidFill>
                  <a:srgbClr val="FF0000"/>
                </a:solidFill>
              </a:rPr>
              <a:t>ceiling</a:t>
            </a:r>
            <a:r>
              <a:rPr lang="en-US" b="1" dirty="0"/>
              <a:t> </a:t>
            </a:r>
            <a:r>
              <a:rPr lang="en-US" dirty="0"/>
              <a:t>of</a:t>
            </a:r>
            <a:r>
              <a:rPr lang="en-US" b="1" dirty="0"/>
              <a:t> </a:t>
            </a:r>
            <a:r>
              <a:rPr lang="en-US" b="1" i="1" dirty="0">
                <a:solidFill>
                  <a:srgbClr val="FF0000"/>
                </a:solidFill>
              </a:rPr>
              <a:t>x</a:t>
            </a:r>
            <a:r>
              <a:rPr lang="en-US" dirty="0"/>
              <a:t>, denoted </a:t>
            </a:r>
            <a:r>
              <a:rPr lang="en-US" dirty="0">
                <a:solidFill>
                  <a:srgbClr val="FF0000"/>
                </a:solidFill>
                <a:sym typeface="Symbol"/>
              </a:rPr>
              <a:t></a:t>
            </a:r>
            <a:r>
              <a:rPr lang="en-US" i="1" dirty="0">
                <a:solidFill>
                  <a:srgbClr val="FF0000"/>
                </a:solidFill>
              </a:rPr>
              <a:t>x</a:t>
            </a:r>
            <a:r>
              <a:rPr lang="en-US" dirty="0">
                <a:solidFill>
                  <a:srgbClr val="FF0000"/>
                </a:solidFill>
                <a:sym typeface="Symbol"/>
              </a:rPr>
              <a:t></a:t>
            </a:r>
            <a:r>
              <a:rPr lang="en-US" dirty="0"/>
              <a:t>, is the </a:t>
            </a:r>
            <a:r>
              <a:rPr lang="en-US" dirty="0">
                <a:solidFill>
                  <a:srgbClr val="FF0000"/>
                </a:solidFill>
              </a:rPr>
              <a:t>smallest integer</a:t>
            </a:r>
            <a:r>
              <a:rPr lang="en-US" dirty="0"/>
              <a:t> greater than or equal to </a:t>
            </a:r>
            <a:r>
              <a:rPr lang="en-US" i="1" dirty="0">
                <a:solidFill>
                  <a:srgbClr val="FF0000"/>
                </a:solidFill>
              </a:rPr>
              <a:t>x</a:t>
            </a:r>
            <a:r>
              <a:rPr lang="en-US" dirty="0"/>
              <a:t>.</a:t>
            </a:r>
          </a:p>
          <a:p>
            <a:endParaRPr lang="en-US" dirty="0"/>
          </a:p>
          <a:p>
            <a:r>
              <a:rPr lang="en-US" dirty="0"/>
              <a:t>Example: </a:t>
            </a:r>
            <a:r>
              <a:rPr lang="en-US" dirty="0">
                <a:solidFill>
                  <a:srgbClr val="FF0000"/>
                </a:solidFill>
                <a:sym typeface="Symbol"/>
              </a:rPr>
              <a:t></a:t>
            </a:r>
            <a:r>
              <a:rPr lang="en-US" i="1" dirty="0">
                <a:solidFill>
                  <a:srgbClr val="FF0000"/>
                </a:solidFill>
                <a:sym typeface="Symbol"/>
              </a:rPr>
              <a:t>3.4</a:t>
            </a:r>
            <a:r>
              <a:rPr lang="en-US" dirty="0">
                <a:solidFill>
                  <a:srgbClr val="FF0000"/>
                </a:solidFill>
                <a:sym typeface="Symbol"/>
              </a:rPr>
              <a:t> = 4 </a:t>
            </a:r>
            <a:r>
              <a:rPr lang="en-US" dirty="0">
                <a:sym typeface="Symbol"/>
              </a:rPr>
              <a:t>and</a:t>
            </a:r>
            <a:r>
              <a:rPr lang="en-US" dirty="0">
                <a:solidFill>
                  <a:srgbClr val="FF0000"/>
                </a:solidFill>
                <a:sym typeface="Symbol"/>
              </a:rPr>
              <a:t> </a:t>
            </a:r>
            <a:r>
              <a:rPr lang="en-US" i="1" dirty="0">
                <a:solidFill>
                  <a:srgbClr val="FF0000"/>
                </a:solidFill>
                <a:sym typeface="Symbol"/>
              </a:rPr>
              <a:t>5</a:t>
            </a:r>
            <a:r>
              <a:rPr lang="en-US" dirty="0">
                <a:solidFill>
                  <a:srgbClr val="FF0000"/>
                </a:solidFill>
                <a:sym typeface="Symbol"/>
              </a:rPr>
              <a:t> = 5 </a:t>
            </a:r>
            <a:endParaRPr lang="en-US" dirty="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814" y="0"/>
            <a:ext cx="10515600" cy="1060263"/>
          </a:xfrm>
        </p:spPr>
        <p:txBody>
          <a:bodyPr>
            <a:normAutofit/>
          </a:bodyPr>
          <a:lstStyle/>
          <a:p>
            <a:pPr algn="ctr"/>
            <a:r>
              <a:rPr lang="en-US" b="1" u="sng" dirty="0">
                <a:solidFill>
                  <a:srgbClr val="0070C0"/>
                </a:solidFill>
              </a:rPr>
              <a:t>EXAMPLE</a:t>
            </a:r>
          </a:p>
        </p:txBody>
      </p:sp>
      <p:sp>
        <p:nvSpPr>
          <p:cNvPr id="4" name="Content Placeholder 3"/>
          <p:cNvSpPr>
            <a:spLocks noGrp="1"/>
          </p:cNvSpPr>
          <p:nvPr>
            <p:ph sz="quarter" idx="1"/>
          </p:nvPr>
        </p:nvSpPr>
        <p:spPr>
          <a:xfrm>
            <a:off x="1981200" y="1060263"/>
            <a:ext cx="8993214" cy="5582584"/>
          </a:xfrm>
        </p:spPr>
        <p:txBody>
          <a:bodyPr>
            <a:normAutofit/>
          </a:bodyPr>
          <a:lstStyle/>
          <a:p>
            <a:r>
              <a:rPr lang="en-US" sz="2400" dirty="0"/>
              <a:t>Compute </a:t>
            </a:r>
            <a:r>
              <a:rPr lang="en-US" sz="2400" dirty="0">
                <a:solidFill>
                  <a:srgbClr val="FF0000"/>
                </a:solidFill>
                <a:sym typeface="Symbol"/>
              </a:rPr>
              <a:t></a:t>
            </a:r>
            <a:r>
              <a:rPr lang="en-US" sz="2400" i="1" dirty="0">
                <a:solidFill>
                  <a:srgbClr val="FF0000"/>
                </a:solidFill>
              </a:rPr>
              <a:t>x</a:t>
            </a:r>
            <a:r>
              <a:rPr lang="en-US" sz="2400" dirty="0">
                <a:solidFill>
                  <a:srgbClr val="FF0000"/>
                </a:solidFill>
                <a:sym typeface="Symbol"/>
              </a:rPr>
              <a:t></a:t>
            </a:r>
            <a:r>
              <a:rPr lang="en-US" sz="2400" dirty="0"/>
              <a:t> and </a:t>
            </a:r>
            <a:r>
              <a:rPr lang="en-US" sz="2400" dirty="0">
                <a:solidFill>
                  <a:srgbClr val="FF0000"/>
                </a:solidFill>
                <a:sym typeface="Symbol"/>
              </a:rPr>
              <a:t></a:t>
            </a:r>
            <a:r>
              <a:rPr lang="en-US" sz="2400" i="1" dirty="0">
                <a:solidFill>
                  <a:srgbClr val="FF0000"/>
                </a:solidFill>
              </a:rPr>
              <a:t>x</a:t>
            </a:r>
            <a:r>
              <a:rPr lang="en-US" sz="2400" dirty="0">
                <a:solidFill>
                  <a:srgbClr val="FF0000"/>
                </a:solidFill>
                <a:sym typeface="Symbol"/>
              </a:rPr>
              <a:t></a:t>
            </a:r>
            <a:r>
              <a:rPr lang="en-US" sz="2400" dirty="0"/>
              <a:t> for each of the following values of </a:t>
            </a:r>
            <a:r>
              <a:rPr lang="en-US" sz="2400" i="1" dirty="0">
                <a:solidFill>
                  <a:srgbClr val="FF0000"/>
                </a:solidFill>
              </a:rPr>
              <a:t>x</a:t>
            </a:r>
            <a:r>
              <a:rPr lang="en-US" sz="2400" dirty="0"/>
              <a:t>.	</a:t>
            </a:r>
          </a:p>
          <a:p>
            <a:pPr>
              <a:buNone/>
            </a:pPr>
            <a:r>
              <a:rPr lang="en-US" sz="2400" b="1" dirty="0"/>
              <a:t>			a.</a:t>
            </a:r>
            <a:r>
              <a:rPr lang="en-US" sz="2400" dirty="0"/>
              <a:t>    </a:t>
            </a:r>
            <a:r>
              <a:rPr lang="en-US" sz="2400" dirty="0">
                <a:solidFill>
                  <a:srgbClr val="FF0000"/>
                </a:solidFill>
              </a:rPr>
              <a:t>25/4</a:t>
            </a:r>
            <a:r>
              <a:rPr lang="en-US" sz="2400" dirty="0"/>
              <a:t>	</a:t>
            </a:r>
            <a:r>
              <a:rPr lang="en-US" sz="2400" b="1" dirty="0"/>
              <a:t>b.   </a:t>
            </a:r>
            <a:r>
              <a:rPr lang="en-US" sz="2400" dirty="0"/>
              <a:t> </a:t>
            </a:r>
            <a:r>
              <a:rPr lang="en-US" sz="2400" dirty="0">
                <a:solidFill>
                  <a:srgbClr val="FF0000"/>
                </a:solidFill>
              </a:rPr>
              <a:t>0.999</a:t>
            </a:r>
            <a:r>
              <a:rPr lang="en-US" sz="2400" dirty="0"/>
              <a:t>	</a:t>
            </a:r>
            <a:r>
              <a:rPr lang="en-US" sz="2400" b="1" dirty="0"/>
              <a:t>c.</a:t>
            </a:r>
            <a:r>
              <a:rPr lang="en-US" sz="2400" dirty="0"/>
              <a:t>   </a:t>
            </a:r>
            <a:r>
              <a:rPr lang="en-US" sz="2400" dirty="0">
                <a:solidFill>
                  <a:srgbClr val="FF0000"/>
                </a:solidFill>
              </a:rPr>
              <a:t> –2.01</a:t>
            </a:r>
          </a:p>
          <a:p>
            <a:r>
              <a:rPr lang="en-US" sz="2400" b="1" u="sng" dirty="0">
                <a:solidFill>
                  <a:srgbClr val="0070C0"/>
                </a:solidFill>
              </a:rPr>
              <a:t>SOLUTION:</a:t>
            </a:r>
            <a:endParaRPr lang="en-US" sz="2400" dirty="0">
              <a:solidFill>
                <a:srgbClr val="0070C0"/>
              </a:solidFill>
            </a:endParaRPr>
          </a:p>
          <a:p>
            <a:pPr>
              <a:buNone/>
            </a:pPr>
            <a:r>
              <a:rPr lang="en-US" sz="2400" b="1" dirty="0"/>
              <a:t>	a.</a:t>
            </a:r>
            <a:r>
              <a:rPr lang="en-US" sz="2400" dirty="0"/>
              <a:t>	</a:t>
            </a:r>
            <a:r>
              <a:rPr lang="en-US" sz="2400" dirty="0">
                <a:solidFill>
                  <a:srgbClr val="FF0000"/>
                </a:solidFill>
                <a:sym typeface="Symbol"/>
              </a:rPr>
              <a:t></a:t>
            </a:r>
            <a:r>
              <a:rPr lang="en-US" sz="2400" dirty="0"/>
              <a:t>25/4</a:t>
            </a:r>
            <a:r>
              <a:rPr lang="en-US" sz="2400" dirty="0">
                <a:solidFill>
                  <a:srgbClr val="FF0000"/>
                </a:solidFill>
                <a:sym typeface="Symbol"/>
              </a:rPr>
              <a:t></a:t>
            </a:r>
            <a:r>
              <a:rPr lang="en-US" sz="2400" dirty="0"/>
              <a:t>	= </a:t>
            </a:r>
            <a:r>
              <a:rPr lang="en-US" sz="2400" dirty="0">
                <a:solidFill>
                  <a:srgbClr val="FF0000"/>
                </a:solidFill>
                <a:sym typeface="Symbol"/>
              </a:rPr>
              <a:t></a:t>
            </a:r>
            <a:r>
              <a:rPr lang="en-US" sz="2400" dirty="0"/>
              <a:t>6 + ¼</a:t>
            </a:r>
            <a:r>
              <a:rPr lang="en-US" sz="2400" dirty="0">
                <a:solidFill>
                  <a:srgbClr val="FF0000"/>
                </a:solidFill>
                <a:sym typeface="Symbol"/>
              </a:rPr>
              <a:t></a:t>
            </a:r>
            <a:r>
              <a:rPr lang="en-US" sz="2400" dirty="0"/>
              <a:t> = 6</a:t>
            </a:r>
          </a:p>
          <a:p>
            <a:pPr>
              <a:buNone/>
            </a:pPr>
            <a:r>
              <a:rPr lang="en-US" sz="2400" dirty="0"/>
              <a:t>		</a:t>
            </a:r>
            <a:r>
              <a:rPr lang="en-US" sz="2400" dirty="0">
                <a:solidFill>
                  <a:srgbClr val="FF0000"/>
                </a:solidFill>
                <a:sym typeface="Symbol"/>
              </a:rPr>
              <a:t></a:t>
            </a:r>
            <a:r>
              <a:rPr lang="en-US" sz="2400" dirty="0"/>
              <a:t>25/4</a:t>
            </a:r>
            <a:r>
              <a:rPr lang="en-US" sz="2400" dirty="0">
                <a:solidFill>
                  <a:srgbClr val="FF0000"/>
                </a:solidFill>
                <a:sym typeface="Symbol"/>
              </a:rPr>
              <a:t></a:t>
            </a:r>
            <a:r>
              <a:rPr lang="en-US" sz="2400" dirty="0"/>
              <a:t> = </a:t>
            </a:r>
            <a:r>
              <a:rPr lang="en-US" sz="2400" dirty="0">
                <a:solidFill>
                  <a:srgbClr val="FF0000"/>
                </a:solidFill>
                <a:sym typeface="Symbol"/>
              </a:rPr>
              <a:t></a:t>
            </a:r>
            <a:r>
              <a:rPr lang="en-US" sz="2400" dirty="0"/>
              <a:t>6 + ¼</a:t>
            </a:r>
            <a:r>
              <a:rPr lang="en-US" sz="2400" dirty="0">
                <a:solidFill>
                  <a:srgbClr val="FF0000"/>
                </a:solidFill>
                <a:sym typeface="Symbol"/>
              </a:rPr>
              <a:t></a:t>
            </a:r>
            <a:r>
              <a:rPr lang="en-US" sz="2400" dirty="0"/>
              <a:t> = 6 + 1 = 7</a:t>
            </a:r>
          </a:p>
          <a:p>
            <a:pPr>
              <a:buNone/>
            </a:pPr>
            <a:r>
              <a:rPr lang="en-US" sz="2400" dirty="0"/>
              <a:t>	 </a:t>
            </a:r>
          </a:p>
          <a:p>
            <a:pPr>
              <a:buNone/>
            </a:pPr>
            <a:r>
              <a:rPr lang="en-US" sz="2400" b="1" dirty="0"/>
              <a:t>	b.</a:t>
            </a:r>
            <a:r>
              <a:rPr lang="en-US" sz="2400" dirty="0"/>
              <a:t>	</a:t>
            </a:r>
            <a:r>
              <a:rPr lang="en-US" sz="2400" dirty="0">
                <a:solidFill>
                  <a:srgbClr val="FF0000"/>
                </a:solidFill>
                <a:sym typeface="Symbol"/>
              </a:rPr>
              <a:t></a:t>
            </a:r>
            <a:r>
              <a:rPr lang="en-US" sz="2400" dirty="0"/>
              <a:t>0.999</a:t>
            </a:r>
            <a:r>
              <a:rPr lang="en-US" sz="2400" dirty="0">
                <a:solidFill>
                  <a:srgbClr val="FF0000"/>
                </a:solidFill>
                <a:sym typeface="Symbol"/>
              </a:rPr>
              <a:t></a:t>
            </a:r>
            <a:r>
              <a:rPr lang="en-US" sz="2400" dirty="0"/>
              <a:t> = </a:t>
            </a:r>
            <a:r>
              <a:rPr lang="en-US" sz="2400" dirty="0">
                <a:solidFill>
                  <a:srgbClr val="FF0000"/>
                </a:solidFill>
                <a:sym typeface="Symbol"/>
              </a:rPr>
              <a:t></a:t>
            </a:r>
            <a:r>
              <a:rPr lang="en-US" sz="2400" dirty="0"/>
              <a:t>0 + 0.999</a:t>
            </a:r>
            <a:r>
              <a:rPr lang="en-US" sz="2400" dirty="0">
                <a:solidFill>
                  <a:srgbClr val="FF0000"/>
                </a:solidFill>
                <a:sym typeface="Symbol"/>
              </a:rPr>
              <a:t></a:t>
            </a:r>
            <a:r>
              <a:rPr lang="en-US" sz="2400" dirty="0"/>
              <a:t> = 0</a:t>
            </a:r>
          </a:p>
          <a:p>
            <a:pPr>
              <a:buNone/>
            </a:pPr>
            <a:r>
              <a:rPr lang="en-US" sz="2400" dirty="0"/>
              <a:t>		</a:t>
            </a:r>
            <a:r>
              <a:rPr lang="en-US" sz="2400" dirty="0">
                <a:solidFill>
                  <a:srgbClr val="FF0000"/>
                </a:solidFill>
                <a:sym typeface="Symbol"/>
              </a:rPr>
              <a:t></a:t>
            </a:r>
            <a:r>
              <a:rPr lang="en-US" sz="2400" dirty="0"/>
              <a:t>0.999</a:t>
            </a:r>
            <a:r>
              <a:rPr lang="en-US" sz="2400" dirty="0">
                <a:solidFill>
                  <a:srgbClr val="FF0000"/>
                </a:solidFill>
                <a:sym typeface="Symbol"/>
              </a:rPr>
              <a:t></a:t>
            </a:r>
            <a:r>
              <a:rPr lang="en-US" sz="2400" dirty="0"/>
              <a:t> = </a:t>
            </a:r>
            <a:r>
              <a:rPr lang="en-US" sz="2400" dirty="0">
                <a:solidFill>
                  <a:srgbClr val="FF0000"/>
                </a:solidFill>
                <a:sym typeface="Symbol"/>
              </a:rPr>
              <a:t></a:t>
            </a:r>
            <a:r>
              <a:rPr lang="en-US" sz="2400" dirty="0"/>
              <a:t>0 + 0.999</a:t>
            </a:r>
            <a:r>
              <a:rPr lang="en-US" sz="2400" dirty="0">
                <a:solidFill>
                  <a:srgbClr val="FF0000"/>
                </a:solidFill>
                <a:sym typeface="Symbol"/>
              </a:rPr>
              <a:t></a:t>
            </a:r>
            <a:r>
              <a:rPr lang="en-US" sz="2400" dirty="0"/>
              <a:t> = 0 + 1 = 1</a:t>
            </a:r>
          </a:p>
          <a:p>
            <a:pPr>
              <a:buNone/>
            </a:pPr>
            <a:r>
              <a:rPr lang="en-US" sz="2400" dirty="0"/>
              <a:t>	 </a:t>
            </a:r>
          </a:p>
          <a:p>
            <a:pPr>
              <a:buNone/>
            </a:pPr>
            <a:r>
              <a:rPr lang="en-US" sz="2400" b="1" dirty="0"/>
              <a:t>	c.</a:t>
            </a:r>
            <a:r>
              <a:rPr lang="en-US" sz="2400" dirty="0"/>
              <a:t>	</a:t>
            </a:r>
            <a:r>
              <a:rPr lang="en-US" sz="2400" dirty="0">
                <a:solidFill>
                  <a:srgbClr val="FF0000"/>
                </a:solidFill>
                <a:sym typeface="Symbol"/>
              </a:rPr>
              <a:t></a:t>
            </a:r>
            <a:r>
              <a:rPr lang="en-US" sz="2400" dirty="0"/>
              <a:t>–2.01</a:t>
            </a:r>
            <a:r>
              <a:rPr lang="en-US" sz="2400" dirty="0">
                <a:solidFill>
                  <a:srgbClr val="FF0000"/>
                </a:solidFill>
                <a:sym typeface="Symbol"/>
              </a:rPr>
              <a:t></a:t>
            </a:r>
            <a:r>
              <a:rPr lang="en-US" sz="2400" dirty="0"/>
              <a:t> = </a:t>
            </a:r>
            <a:r>
              <a:rPr lang="en-US" sz="2400" dirty="0">
                <a:solidFill>
                  <a:srgbClr val="FF0000"/>
                </a:solidFill>
                <a:sym typeface="Symbol"/>
              </a:rPr>
              <a:t></a:t>
            </a:r>
            <a:r>
              <a:rPr lang="en-US" sz="2400" dirty="0"/>
              <a:t>–3 + 0.99</a:t>
            </a:r>
            <a:r>
              <a:rPr lang="en-US" sz="2400" dirty="0">
                <a:solidFill>
                  <a:srgbClr val="FF0000"/>
                </a:solidFill>
                <a:sym typeface="Symbol"/>
              </a:rPr>
              <a:t></a:t>
            </a:r>
            <a:r>
              <a:rPr lang="en-US" sz="2400" dirty="0"/>
              <a:t> = –3</a:t>
            </a:r>
          </a:p>
          <a:p>
            <a:pPr>
              <a:buNone/>
            </a:pPr>
            <a:r>
              <a:rPr lang="en-US" sz="2400" dirty="0"/>
              <a:t>		</a:t>
            </a:r>
            <a:r>
              <a:rPr lang="en-US" sz="2400" dirty="0">
                <a:solidFill>
                  <a:srgbClr val="FF0000"/>
                </a:solidFill>
                <a:sym typeface="Symbol"/>
              </a:rPr>
              <a:t></a:t>
            </a:r>
            <a:r>
              <a:rPr lang="en-US" sz="2400" dirty="0"/>
              <a:t>–2.01</a:t>
            </a:r>
            <a:r>
              <a:rPr lang="en-US" sz="2400" dirty="0">
                <a:solidFill>
                  <a:srgbClr val="FF0000"/>
                </a:solidFill>
                <a:sym typeface="Symbol"/>
              </a:rPr>
              <a:t></a:t>
            </a:r>
            <a:r>
              <a:rPr lang="en-US" sz="2400" dirty="0"/>
              <a:t> = </a:t>
            </a:r>
            <a:r>
              <a:rPr lang="en-US" sz="2400" dirty="0">
                <a:solidFill>
                  <a:srgbClr val="FF0000"/>
                </a:solidFill>
                <a:sym typeface="Symbol"/>
              </a:rPr>
              <a:t></a:t>
            </a:r>
            <a:r>
              <a:rPr lang="en-US" sz="2400" dirty="0"/>
              <a:t>–3+ 0.999</a:t>
            </a:r>
            <a:r>
              <a:rPr lang="en-US" sz="2400" dirty="0">
                <a:solidFill>
                  <a:srgbClr val="FF0000"/>
                </a:solidFill>
                <a:sym typeface="Symbol"/>
              </a:rPr>
              <a:t></a:t>
            </a:r>
            <a:r>
              <a:rPr lang="en-US" sz="2400" dirty="0"/>
              <a:t> = –3 + 1 = –2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pt-BR" b="1" u="sng" dirty="0">
                <a:solidFill>
                  <a:srgbClr val="0070C0"/>
                </a:solidFill>
              </a:rPr>
              <a:t>PIGEONHOLE PRINCIPLE</a:t>
            </a:r>
            <a:endParaRPr lang="en-US" b="1" u="sng" dirty="0">
              <a:solidFill>
                <a:srgbClr val="0070C0"/>
              </a:solidFill>
            </a:endParaRPr>
          </a:p>
        </p:txBody>
      </p:sp>
      <p:sp>
        <p:nvSpPr>
          <p:cNvPr id="4" name="Content Placeholder 3"/>
          <p:cNvSpPr>
            <a:spLocks noGrp="1"/>
          </p:cNvSpPr>
          <p:nvPr>
            <p:ph sz="quarter" idx="1"/>
          </p:nvPr>
        </p:nvSpPr>
        <p:spPr/>
        <p:txBody>
          <a:bodyPr/>
          <a:lstStyle/>
          <a:p>
            <a:r>
              <a:rPr lang="en-US" dirty="0"/>
              <a:t>If </a:t>
            </a:r>
            <a:r>
              <a:rPr lang="en-US" i="1" dirty="0">
                <a:solidFill>
                  <a:srgbClr val="FF0000"/>
                </a:solidFill>
              </a:rPr>
              <a:t>N</a:t>
            </a:r>
            <a:r>
              <a:rPr lang="en-US" dirty="0">
                <a:solidFill>
                  <a:srgbClr val="FF0000"/>
                </a:solidFill>
              </a:rPr>
              <a:t> pigeons</a:t>
            </a:r>
            <a:r>
              <a:rPr lang="en-US" dirty="0"/>
              <a:t> fly into </a:t>
            </a:r>
            <a:r>
              <a:rPr lang="en-US" i="1" dirty="0">
                <a:solidFill>
                  <a:srgbClr val="FF0000"/>
                </a:solidFill>
              </a:rPr>
              <a:t>k</a:t>
            </a:r>
            <a:r>
              <a:rPr lang="en-US" dirty="0">
                <a:solidFill>
                  <a:srgbClr val="FF0000"/>
                </a:solidFill>
              </a:rPr>
              <a:t> pigeonholes</a:t>
            </a:r>
            <a:r>
              <a:rPr lang="en-US" dirty="0"/>
              <a:t> then at least </a:t>
            </a:r>
            <a:r>
              <a:rPr lang="en-US" dirty="0">
                <a:solidFill>
                  <a:srgbClr val="FF0000"/>
                </a:solidFill>
              </a:rPr>
              <a:t>one pigeonhole</a:t>
            </a:r>
            <a:r>
              <a:rPr lang="en-US" dirty="0"/>
              <a:t> must contain </a:t>
            </a:r>
            <a:r>
              <a:rPr lang="en-US" dirty="0">
                <a:solidFill>
                  <a:srgbClr val="FF0000"/>
                </a:solidFill>
                <a:sym typeface="Symbol"/>
              </a:rPr>
              <a:t></a:t>
            </a:r>
            <a:r>
              <a:rPr lang="en-US" i="1" dirty="0">
                <a:solidFill>
                  <a:srgbClr val="FF0000"/>
                </a:solidFill>
              </a:rPr>
              <a:t>N</a:t>
            </a:r>
            <a:r>
              <a:rPr lang="en-US" dirty="0">
                <a:solidFill>
                  <a:srgbClr val="FF0000"/>
                </a:solidFill>
              </a:rPr>
              <a:t> /</a:t>
            </a:r>
            <a:r>
              <a:rPr lang="en-US" i="1" dirty="0">
                <a:solidFill>
                  <a:srgbClr val="FF0000"/>
                </a:solidFill>
              </a:rPr>
              <a:t>k</a:t>
            </a:r>
            <a:r>
              <a:rPr lang="en-US" dirty="0">
                <a:solidFill>
                  <a:srgbClr val="FF0000"/>
                </a:solidFill>
                <a:sym typeface="Symbol"/>
              </a:rPr>
              <a:t></a:t>
            </a:r>
            <a:r>
              <a:rPr lang="en-US" dirty="0"/>
              <a:t> or </a:t>
            </a:r>
            <a:r>
              <a:rPr lang="en-US" dirty="0">
                <a:solidFill>
                  <a:srgbClr val="FF0000"/>
                </a:solidFill>
              </a:rPr>
              <a:t>more pigeons</a:t>
            </a:r>
            <a:r>
              <a:rPr lang="en-US" dirty="0"/>
              <a:t>.</a:t>
            </a:r>
          </a:p>
          <a:p>
            <a:pPr>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US" b="1" u="sng" dirty="0">
                <a:solidFill>
                  <a:srgbClr val="0070C0"/>
                </a:solidFill>
              </a:rPr>
              <a:t>EXAMPLE</a:t>
            </a:r>
          </a:p>
        </p:txBody>
      </p:sp>
      <p:sp>
        <p:nvSpPr>
          <p:cNvPr id="4" name="Content Placeholder 3"/>
          <p:cNvSpPr>
            <a:spLocks noGrp="1"/>
          </p:cNvSpPr>
          <p:nvPr>
            <p:ph sz="quarter" idx="1"/>
          </p:nvPr>
        </p:nvSpPr>
        <p:spPr>
          <a:xfrm>
            <a:off x="1136904" y="1499129"/>
            <a:ext cx="9829800" cy="3859742"/>
          </a:xfrm>
        </p:spPr>
        <p:txBody>
          <a:bodyPr/>
          <a:lstStyle/>
          <a:p>
            <a:pPr marL="0" indent="0">
              <a:buNone/>
            </a:pPr>
            <a:r>
              <a:rPr lang="en-US" dirty="0"/>
              <a:t>We have </a:t>
            </a:r>
            <a:r>
              <a:rPr lang="en-US" dirty="0">
                <a:solidFill>
                  <a:srgbClr val="FF0000"/>
                </a:solidFill>
              </a:rPr>
              <a:t>100 people</a:t>
            </a:r>
            <a:r>
              <a:rPr lang="en-US" dirty="0"/>
              <a:t> and we want to know how many of them are born in same month?</a:t>
            </a:r>
          </a:p>
          <a:p>
            <a:endParaRPr lang="en-US" dirty="0"/>
          </a:p>
          <a:p>
            <a:pPr marL="0" indent="0">
              <a:buNone/>
            </a:pPr>
            <a:r>
              <a:rPr lang="en-US" b="1" u="sng" dirty="0">
                <a:solidFill>
                  <a:srgbClr val="0070C0"/>
                </a:solidFill>
              </a:rPr>
              <a:t>Solution:</a:t>
            </a:r>
          </a:p>
          <a:p>
            <a:pPr>
              <a:buNone/>
            </a:pPr>
            <a:r>
              <a:rPr lang="en-US" dirty="0"/>
              <a:t>	</a:t>
            </a:r>
          </a:p>
          <a:p>
            <a:pPr>
              <a:buNone/>
            </a:pPr>
            <a:r>
              <a:rPr lang="en-US" dirty="0"/>
              <a:t>	</a:t>
            </a:r>
            <a:r>
              <a:rPr lang="en-US" dirty="0">
                <a:solidFill>
                  <a:srgbClr val="FF0000"/>
                </a:solidFill>
              </a:rPr>
              <a:t>n = 12 months</a:t>
            </a:r>
            <a:r>
              <a:rPr lang="en-US" dirty="0"/>
              <a:t> (pigeonholes)</a:t>
            </a:r>
          </a:p>
          <a:p>
            <a:pPr>
              <a:buNone/>
            </a:pPr>
            <a:r>
              <a:rPr lang="en-US" dirty="0"/>
              <a:t>	The required no. is </a:t>
            </a:r>
            <a:r>
              <a:rPr lang="en-US" dirty="0">
                <a:solidFill>
                  <a:srgbClr val="FF0000"/>
                </a:solidFill>
                <a:sym typeface="Symbol"/>
              </a:rPr>
              <a:t></a:t>
            </a:r>
            <a:r>
              <a:rPr lang="en-US" dirty="0"/>
              <a:t>100/12</a:t>
            </a:r>
            <a:r>
              <a:rPr lang="en-US" dirty="0">
                <a:solidFill>
                  <a:srgbClr val="FF0000"/>
                </a:solidFill>
                <a:sym typeface="Symbol"/>
              </a:rPr>
              <a:t></a:t>
            </a:r>
            <a:r>
              <a:rPr lang="en-US" dirty="0">
                <a:sym typeface="Symbol"/>
              </a:rPr>
              <a:t> </a:t>
            </a:r>
            <a:r>
              <a:rPr lang="en-US" dirty="0"/>
              <a:t>= </a:t>
            </a:r>
            <a:r>
              <a:rPr lang="en-US" dirty="0">
                <a:solidFill>
                  <a:srgbClr val="FF0000"/>
                </a:solidFill>
                <a:sym typeface="Symbol"/>
              </a:rPr>
              <a:t></a:t>
            </a:r>
            <a:r>
              <a:rPr lang="en-US" dirty="0"/>
              <a:t>8 + 1/3</a:t>
            </a:r>
            <a:r>
              <a:rPr lang="en-US" dirty="0">
                <a:solidFill>
                  <a:srgbClr val="FF0000"/>
                </a:solidFill>
                <a:sym typeface="Symbol"/>
              </a:rPr>
              <a:t></a:t>
            </a:r>
            <a:r>
              <a:rPr lang="en-US" dirty="0"/>
              <a:t> = </a:t>
            </a:r>
            <a:r>
              <a:rPr lang="en-US" dirty="0">
                <a:solidFill>
                  <a:srgbClr val="FF0000"/>
                </a:solidFill>
              </a:rPr>
              <a:t>9</a:t>
            </a:r>
            <a:r>
              <a:rPr lang="en-US" dirty="0"/>
              <a:t> who were born in the same month.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776" y="-238401"/>
            <a:ext cx="10515600" cy="1325563"/>
          </a:xfrm>
        </p:spPr>
        <p:txBody>
          <a:bodyPr>
            <a:normAutofit/>
          </a:bodyPr>
          <a:lstStyle/>
          <a:p>
            <a:pPr algn="ctr"/>
            <a:r>
              <a:rPr lang="en-US" b="1" u="sng" dirty="0">
                <a:solidFill>
                  <a:srgbClr val="0070C0"/>
                </a:solidFill>
              </a:rPr>
              <a:t>EXERCISE</a:t>
            </a:r>
          </a:p>
        </p:txBody>
      </p:sp>
      <p:sp>
        <p:nvSpPr>
          <p:cNvPr id="4" name="Content Placeholder 3"/>
          <p:cNvSpPr>
            <a:spLocks noGrp="1"/>
          </p:cNvSpPr>
          <p:nvPr>
            <p:ph sz="quarter" idx="1"/>
          </p:nvPr>
        </p:nvSpPr>
        <p:spPr>
          <a:xfrm>
            <a:off x="708928" y="1087162"/>
            <a:ext cx="10989295" cy="5569131"/>
          </a:xfrm>
        </p:spPr>
        <p:txBody>
          <a:bodyPr>
            <a:normAutofit/>
          </a:bodyPr>
          <a:lstStyle/>
          <a:p>
            <a:pPr marL="0" indent="0">
              <a:lnSpc>
                <a:spcPct val="150000"/>
              </a:lnSpc>
              <a:buNone/>
            </a:pPr>
            <a:r>
              <a:rPr lang="en-US" sz="2400" dirty="0"/>
              <a:t>What is the </a:t>
            </a:r>
            <a:r>
              <a:rPr lang="en-US" sz="2400" dirty="0">
                <a:solidFill>
                  <a:srgbClr val="FF0000"/>
                </a:solidFill>
              </a:rPr>
              <a:t>minimum number</a:t>
            </a:r>
            <a:r>
              <a:rPr lang="en-US" sz="2400" dirty="0"/>
              <a:t> of students required in a </a:t>
            </a:r>
            <a:r>
              <a:rPr lang="en-US" sz="2400" dirty="0">
                <a:solidFill>
                  <a:srgbClr val="FF0000"/>
                </a:solidFill>
              </a:rPr>
              <a:t>Discrete Mathematics</a:t>
            </a:r>
            <a:r>
              <a:rPr lang="en-US" sz="2400" dirty="0"/>
              <a:t> class to be sure that at least </a:t>
            </a:r>
            <a:r>
              <a:rPr lang="en-US" sz="2400" dirty="0">
                <a:solidFill>
                  <a:srgbClr val="FF0000"/>
                </a:solidFill>
              </a:rPr>
              <a:t>six</a:t>
            </a:r>
            <a:r>
              <a:rPr lang="en-US" sz="2400" dirty="0"/>
              <a:t> will receive the same </a:t>
            </a:r>
            <a:r>
              <a:rPr lang="en-US" sz="2400" dirty="0">
                <a:solidFill>
                  <a:srgbClr val="FF0000"/>
                </a:solidFill>
              </a:rPr>
              <a:t>grade</a:t>
            </a:r>
            <a:r>
              <a:rPr lang="en-US" sz="2400" dirty="0"/>
              <a:t>, if there are </a:t>
            </a:r>
            <a:r>
              <a:rPr lang="en-US" sz="2400" dirty="0">
                <a:solidFill>
                  <a:srgbClr val="FF0000"/>
                </a:solidFill>
              </a:rPr>
              <a:t>five</a:t>
            </a:r>
            <a:r>
              <a:rPr lang="en-US" sz="2400" dirty="0"/>
              <a:t> possible </a:t>
            </a:r>
            <a:r>
              <a:rPr lang="en-US" sz="2400" dirty="0">
                <a:solidFill>
                  <a:srgbClr val="FF0000"/>
                </a:solidFill>
              </a:rPr>
              <a:t>grades</a:t>
            </a:r>
            <a:r>
              <a:rPr lang="en-US" sz="2400" dirty="0"/>
              <a:t>,  </a:t>
            </a:r>
            <a:r>
              <a:rPr lang="en-US" sz="2400" dirty="0">
                <a:solidFill>
                  <a:srgbClr val="FF0000"/>
                </a:solidFill>
              </a:rPr>
              <a:t>A</a:t>
            </a:r>
            <a:r>
              <a:rPr lang="en-US" sz="2400" dirty="0"/>
              <a:t>, </a:t>
            </a:r>
            <a:r>
              <a:rPr lang="en-US" sz="2400" dirty="0">
                <a:solidFill>
                  <a:srgbClr val="FF0000"/>
                </a:solidFill>
              </a:rPr>
              <a:t>B</a:t>
            </a:r>
            <a:r>
              <a:rPr lang="en-US" sz="2400" dirty="0"/>
              <a:t>, </a:t>
            </a:r>
            <a:r>
              <a:rPr lang="en-US" sz="2400" dirty="0">
                <a:solidFill>
                  <a:srgbClr val="FF0000"/>
                </a:solidFill>
              </a:rPr>
              <a:t>C</a:t>
            </a:r>
            <a:r>
              <a:rPr lang="en-US" sz="2400" dirty="0"/>
              <a:t>, </a:t>
            </a:r>
            <a:r>
              <a:rPr lang="en-US" sz="2400" dirty="0">
                <a:solidFill>
                  <a:srgbClr val="FF0000"/>
                </a:solidFill>
              </a:rPr>
              <a:t>D</a:t>
            </a:r>
            <a:r>
              <a:rPr lang="en-US" sz="2400" dirty="0"/>
              <a:t>, and </a:t>
            </a:r>
            <a:r>
              <a:rPr lang="en-US" sz="2400" dirty="0">
                <a:solidFill>
                  <a:srgbClr val="FF0000"/>
                </a:solidFill>
              </a:rPr>
              <a:t>F</a:t>
            </a:r>
            <a:r>
              <a:rPr lang="en-US" sz="2400" dirty="0"/>
              <a:t>.</a:t>
            </a:r>
          </a:p>
          <a:p>
            <a:pPr marL="0" indent="0">
              <a:lnSpc>
                <a:spcPct val="150000"/>
              </a:lnSpc>
              <a:buNone/>
            </a:pPr>
            <a:r>
              <a:rPr lang="en-US" sz="2400" b="1" u="sng" dirty="0">
                <a:solidFill>
                  <a:srgbClr val="0070C0"/>
                </a:solidFill>
              </a:rPr>
              <a:t>Solution:</a:t>
            </a:r>
          </a:p>
          <a:p>
            <a:pPr>
              <a:lnSpc>
                <a:spcPct val="150000"/>
              </a:lnSpc>
              <a:buNone/>
            </a:pPr>
            <a:endParaRPr lang="en-US" sz="2400" dirty="0"/>
          </a:p>
          <a:p>
            <a:pPr>
              <a:lnSpc>
                <a:spcPct val="150000"/>
              </a:lnSpc>
              <a:buNone/>
            </a:pPr>
            <a:endParaRPr lang="en-US" sz="2400" dirty="0"/>
          </a:p>
          <a:p>
            <a:pPr marL="0" indent="0">
              <a:lnSpc>
                <a:spcPct val="150000"/>
              </a:lnSpc>
              <a:buNone/>
            </a:pPr>
            <a:r>
              <a:rPr lang="en-US" sz="2400" dirty="0"/>
              <a:t>Thus </a:t>
            </a:r>
            <a:r>
              <a:rPr lang="en-US" sz="2400" dirty="0">
                <a:solidFill>
                  <a:srgbClr val="FF0000"/>
                </a:solidFill>
              </a:rPr>
              <a:t>26</a:t>
            </a:r>
            <a:r>
              <a:rPr lang="en-US" sz="2400" dirty="0"/>
              <a:t> is the </a:t>
            </a:r>
            <a:r>
              <a:rPr lang="en-US" sz="2400" dirty="0">
                <a:solidFill>
                  <a:srgbClr val="FF0000"/>
                </a:solidFill>
              </a:rPr>
              <a:t>minimum number</a:t>
            </a:r>
            <a:r>
              <a:rPr lang="en-US" sz="2400" dirty="0"/>
              <a:t> of students needed to be sure that </a:t>
            </a:r>
            <a:r>
              <a:rPr lang="en-US" sz="2400" dirty="0">
                <a:solidFill>
                  <a:srgbClr val="FF0000"/>
                </a:solidFill>
              </a:rPr>
              <a:t>at least 6 students</a:t>
            </a:r>
            <a:r>
              <a:rPr lang="en-US" sz="2400" dirty="0"/>
              <a:t> will receive the </a:t>
            </a:r>
            <a:r>
              <a:rPr lang="en-US" sz="2400" dirty="0">
                <a:solidFill>
                  <a:srgbClr val="FF0000"/>
                </a:solidFill>
              </a:rPr>
              <a:t>same grades</a:t>
            </a:r>
            <a:r>
              <a:rPr lang="en-US" sz="2400" dirty="0"/>
              <a:t>.  </a:t>
            </a:r>
          </a:p>
          <a:p>
            <a:pPr marL="0" indent="0">
              <a:lnSpc>
                <a:spcPct val="150000"/>
              </a:lnSpc>
              <a:buNone/>
            </a:pPr>
            <a:endParaRPr lang="en-US" sz="2400" dirty="0"/>
          </a:p>
        </p:txBody>
      </p:sp>
      <p:sp>
        <p:nvSpPr>
          <p:cNvPr id="5" name="Rectangle 4">
            <a:extLst>
              <a:ext uri="{FF2B5EF4-FFF2-40B4-BE49-F238E27FC236}">
                <a16:creationId xmlns:a16="http://schemas.microsoft.com/office/drawing/2014/main" id="{13DF33FD-8442-4016-AE74-261F0561C02C}"/>
              </a:ext>
            </a:extLst>
          </p:cNvPr>
          <p:cNvSpPr/>
          <p:nvPr/>
        </p:nvSpPr>
        <p:spPr>
          <a:xfrm>
            <a:off x="2515783" y="3588972"/>
            <a:ext cx="7375583" cy="1107056"/>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marL="0" indent="0" algn="just">
              <a:buNone/>
            </a:pPr>
            <a:r>
              <a:rPr lang="en-US" sz="2800" dirty="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a:t>5 grades * 5 people per grade +1 = 26 people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777" y="1"/>
            <a:ext cx="10515600" cy="1137304"/>
          </a:xfrm>
        </p:spPr>
        <p:txBody>
          <a:bodyPr>
            <a:normAutofit/>
          </a:bodyPr>
          <a:lstStyle/>
          <a:p>
            <a:pPr algn="ctr"/>
            <a:r>
              <a:rPr lang="en-US" b="1" u="sng" dirty="0">
                <a:solidFill>
                  <a:srgbClr val="0070C0"/>
                </a:solidFill>
              </a:rPr>
              <a:t>Practice Questions</a:t>
            </a:r>
          </a:p>
        </p:txBody>
      </p:sp>
      <p:sp>
        <p:nvSpPr>
          <p:cNvPr id="4" name="Content Placeholder 3"/>
          <p:cNvSpPr>
            <a:spLocks noGrp="1"/>
          </p:cNvSpPr>
          <p:nvPr>
            <p:ph sz="quarter" idx="1"/>
          </p:nvPr>
        </p:nvSpPr>
        <p:spPr>
          <a:xfrm>
            <a:off x="717535" y="1137304"/>
            <a:ext cx="10756929" cy="5330730"/>
          </a:xfrm>
        </p:spPr>
        <p:txBody>
          <a:bodyPr>
            <a:normAutofit fontScale="92500" lnSpcReduction="10000"/>
          </a:bodyPr>
          <a:lstStyle/>
          <a:p>
            <a:pPr marL="457200" indent="-457200" algn="just">
              <a:buFont typeface="+mj-lt"/>
              <a:buAutoNum type="arabicPeriod"/>
            </a:pPr>
            <a:r>
              <a:rPr lang="en-US" sz="2400" dirty="0">
                <a:latin typeface="Cambria Math" panose="02040503050406030204" pitchFamily="18" charset="0"/>
                <a:ea typeface="Cambria Math" panose="02040503050406030204" pitchFamily="18" charset="0"/>
              </a:rPr>
              <a:t>How many students must be in a class to guarantee that at least two students receive the same score on the ﬁnal exam, if the exam is graded on a scale from 0 to 100 points?</a:t>
            </a:r>
          </a:p>
          <a:p>
            <a:pPr marL="457200" indent="-457200" algn="just">
              <a:buFont typeface="+mj-lt"/>
              <a:buAutoNum type="arabicPeriod"/>
            </a:pPr>
            <a:r>
              <a:rPr lang="en-US" sz="2400" dirty="0">
                <a:latin typeface="Cambria Math" panose="02040503050406030204" pitchFamily="18" charset="0"/>
                <a:ea typeface="Cambria Math" panose="02040503050406030204" pitchFamily="18" charset="0"/>
              </a:rPr>
              <a:t>How many students must be in a class to guarantee that at least 5 students receive the same score on the ﬁnal exam, if the exam is graded on a scale from 0 to 100 points?</a:t>
            </a:r>
          </a:p>
          <a:p>
            <a:pPr marL="457200" indent="-457200" algn="just">
              <a:buFont typeface="+mj-lt"/>
              <a:buAutoNum type="arabicPeriod"/>
            </a:pPr>
            <a:r>
              <a:rPr lang="en-US" sz="2400" dirty="0">
                <a:latin typeface="Cambria Math" panose="02040503050406030204" pitchFamily="18" charset="0"/>
                <a:ea typeface="Cambria Math" panose="02040503050406030204" pitchFamily="18" charset="0"/>
              </a:rPr>
              <a:t>How many people should be there to guarantee that 9 people are born in same month?</a:t>
            </a:r>
          </a:p>
          <a:p>
            <a:pPr marL="457200" indent="-457200" algn="just">
              <a:buFont typeface="+mj-lt"/>
              <a:buAutoNum type="arabicPeriod"/>
            </a:pPr>
            <a:r>
              <a:rPr lang="en-US" sz="2400" dirty="0">
                <a:latin typeface="Cambria Math" panose="02040503050406030204" pitchFamily="18" charset="0"/>
                <a:ea typeface="Cambria Math" panose="02040503050406030204" pitchFamily="18" charset="0"/>
              </a:rPr>
              <a:t>How many cards must be selected from a standard deck of 52 cards to guarantee that at least three cards of the same suit are chosen?</a:t>
            </a:r>
          </a:p>
          <a:p>
            <a:pPr marL="457200" indent="-457200" algn="just">
              <a:buFont typeface="+mj-lt"/>
              <a:buAutoNum type="arabicPeriod"/>
            </a:pPr>
            <a:r>
              <a:rPr lang="en-US" sz="2400" dirty="0">
                <a:latin typeface="Cambria Math" panose="02040503050406030204" pitchFamily="18" charset="0"/>
                <a:ea typeface="Cambria Math" panose="02040503050406030204" pitchFamily="18" charset="0"/>
              </a:rPr>
              <a:t>How many must be selected to guarantee that at least three hearts are selected?</a:t>
            </a:r>
          </a:p>
          <a:p>
            <a:pPr marL="457200" indent="-457200" algn="just">
              <a:buFont typeface="+mj-lt"/>
              <a:buAutoNum type="arabicPeriod"/>
            </a:pPr>
            <a:r>
              <a:rPr lang="en-GB" sz="2400" dirty="0">
                <a:latin typeface="Cambria Math" panose="02040503050406030204" pitchFamily="18" charset="0"/>
                <a:ea typeface="Cambria Math" panose="02040503050406030204" pitchFamily="18" charset="0"/>
                <a:cs typeface="Calibri"/>
              </a:rPr>
              <a:t>How many students do you need in a school to guarantee that there are at least two students who have the same first two initials?</a:t>
            </a:r>
          </a:p>
          <a:p>
            <a:pPr marL="457200" indent="-457200" algn="just">
              <a:buFont typeface="+mj-lt"/>
              <a:buAutoNum type="arabicPeriod"/>
            </a:pPr>
            <a:r>
              <a:rPr lang="en-US" sz="2400" dirty="0">
                <a:latin typeface="Cambria Math" panose="02040503050406030204" pitchFamily="18" charset="0"/>
                <a:ea typeface="Cambria Math" panose="02040503050406030204" pitchFamily="18" charset="0"/>
              </a:rPr>
              <a:t>Given any 5 points inside a square of side length 2, there is always a pair whose distance apart is at most √2</a:t>
            </a:r>
          </a:p>
          <a:p>
            <a:pPr marL="0" indent="0" algn="just">
              <a:buNone/>
            </a:pPr>
            <a:endParaRPr lang="en-US" sz="2400" dirty="0">
              <a:latin typeface="Cambria Math" panose="02040503050406030204" pitchFamily="18" charset="0"/>
              <a:ea typeface="Cambria Math" panose="02040503050406030204" pitchFamily="18" charset="0"/>
            </a:endParaRPr>
          </a:p>
          <a:p>
            <a:pPr marL="0" indent="0" algn="just">
              <a:buNone/>
            </a:pPr>
            <a:endParaRPr lang="en-US"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831883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508902" y="1229217"/>
            <a:ext cx="11174196" cy="1258753"/>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sp>
        <p:nvSpPr>
          <p:cNvPr id="2" name="Title 1">
            <a:extLst>
              <a:ext uri="{FF2B5EF4-FFF2-40B4-BE49-F238E27FC236}">
                <a16:creationId xmlns:a16="http://schemas.microsoft.com/office/drawing/2014/main" id="{9F942125-7A27-14D9-BCE3-D37C1DBA9F97}"/>
              </a:ext>
            </a:extLst>
          </p:cNvPr>
          <p:cNvSpPr txBox="1">
            <a:spLocks/>
          </p:cNvSpPr>
          <p:nvPr/>
        </p:nvSpPr>
        <p:spPr>
          <a:xfrm>
            <a:off x="13953" y="1634"/>
            <a:ext cx="10515600" cy="9594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C00000"/>
                </a:solidFill>
                <a:latin typeface="Cambria Math" panose="02040503050406030204" pitchFamily="18" charset="0"/>
                <a:ea typeface="Cambria Math" panose="02040503050406030204" pitchFamily="18" charset="0"/>
              </a:rPr>
              <a:t>Examples: PHP --- </a:t>
            </a:r>
            <a:r>
              <a:rPr lang="en-US" sz="3200" dirty="0">
                <a:solidFill>
                  <a:srgbClr val="002060"/>
                </a:solidFill>
                <a:latin typeface="Cambria Math" panose="02040503050406030204" pitchFamily="18" charset="0"/>
                <a:ea typeface="Cambria Math" panose="02040503050406030204" pitchFamily="18" charset="0"/>
              </a:rPr>
              <a:t>Do it by yourself … </a:t>
            </a:r>
            <a:r>
              <a:rPr lang="en-US" sz="2800" b="1" dirty="0">
                <a:solidFill>
                  <a:schemeClr val="accent6">
                    <a:lumMod val="75000"/>
                  </a:schemeClr>
                </a:solidFill>
                <a:latin typeface="Cambria Math" panose="02040503050406030204" pitchFamily="18" charset="0"/>
                <a:ea typeface="Cambria Math" panose="02040503050406030204" pitchFamily="18" charset="0"/>
              </a:rPr>
              <a:t>EXAMPLE 10</a:t>
            </a:r>
            <a:r>
              <a:rPr lang="en-US" dirty="0">
                <a:latin typeface="Cambria Math" panose="02040503050406030204" pitchFamily="18" charset="0"/>
                <a:ea typeface="Cambria Math" panose="02040503050406030204" pitchFamily="18" charset="0"/>
              </a:rPr>
              <a:t> </a:t>
            </a:r>
          </a:p>
        </p:txBody>
      </p:sp>
    </p:spTree>
    <p:extLst>
      <p:ext uri="{BB962C8B-B14F-4D97-AF65-F5344CB8AC3E}">
        <p14:creationId xmlns:p14="http://schemas.microsoft.com/office/powerpoint/2010/main" val="8243269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3953" y="163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C00000"/>
                </a:solidFill>
                <a:latin typeface="Cambria Math" panose="02040503050406030204" pitchFamily="18" charset="0"/>
                <a:ea typeface="Cambria Math" panose="02040503050406030204" pitchFamily="18" charset="0"/>
              </a:rPr>
              <a:t>Examples: PHP --- </a:t>
            </a:r>
            <a:r>
              <a:rPr lang="en-US" sz="4000" dirty="0">
                <a:solidFill>
                  <a:srgbClr val="002060"/>
                </a:solidFill>
                <a:latin typeface="Cambria Math" panose="02040503050406030204" pitchFamily="18" charset="0"/>
                <a:ea typeface="Cambria Math" panose="02040503050406030204" pitchFamily="18" charset="0"/>
              </a:rPr>
              <a:t>Do it by yourself</a:t>
            </a:r>
            <a:endParaRPr lang="en-US" dirty="0">
              <a:solidFill>
                <a:srgbClr val="002060"/>
              </a:solidFill>
              <a:latin typeface="Cambria Math" panose="02040503050406030204" pitchFamily="18" charset="0"/>
              <a:ea typeface="Cambria Math" panose="02040503050406030204" pitchFamily="18" charset="0"/>
            </a:endParaRPr>
          </a:p>
        </p:txBody>
      </p:sp>
      <p:sp>
        <p:nvSpPr>
          <p:cNvPr id="6" name="Title 1"/>
          <p:cNvSpPr>
            <a:spLocks noGrp="1"/>
          </p:cNvSpPr>
          <p:nvPr>
            <p:ph type="title"/>
          </p:nvPr>
        </p:nvSpPr>
        <p:spPr>
          <a:xfrm>
            <a:off x="125262" y="1007407"/>
            <a:ext cx="2536066" cy="1325563"/>
          </a:xfrm>
        </p:spPr>
        <p:txBody>
          <a:bodyPr>
            <a:normAutofit/>
          </a:bodyPr>
          <a:lstStyle/>
          <a:p>
            <a:r>
              <a:rPr lang="en-US" sz="3600" dirty="0">
                <a:solidFill>
                  <a:schemeClr val="accent2">
                    <a:lumMod val="50000"/>
                  </a:schemeClr>
                </a:solidFill>
                <a:latin typeface="Cambria Math" panose="02040503050406030204" pitchFamily="18" charset="0"/>
                <a:ea typeface="Cambria Math" panose="02040503050406030204" pitchFamily="18" charset="0"/>
              </a:rPr>
              <a:t>Example:</a:t>
            </a:r>
          </a:p>
        </p:txBody>
      </p:sp>
      <p:sp>
        <p:nvSpPr>
          <p:cNvPr id="5" name="Content Placeholder 4"/>
          <p:cNvSpPr>
            <a:spLocks noGrp="1"/>
          </p:cNvSpPr>
          <p:nvPr>
            <p:ph idx="1"/>
          </p:nvPr>
        </p:nvSpPr>
        <p:spPr>
          <a:xfrm>
            <a:off x="3545983" y="1444591"/>
            <a:ext cx="6425485" cy="518330"/>
          </a:xfrm>
        </p:spPr>
        <p:txBody>
          <a:bodyPr>
            <a:normAutofit fontScale="85000" lnSpcReduction="10000"/>
          </a:bodyPr>
          <a:lstStyle/>
          <a:p>
            <a:pPr marL="0" indent="0">
              <a:buNone/>
            </a:pPr>
            <a:r>
              <a:rPr lang="en-US" dirty="0">
                <a:solidFill>
                  <a:srgbClr val="002060"/>
                </a:solidFill>
                <a:latin typeface="Cambria Math" panose="02040503050406030204" pitchFamily="18" charset="0"/>
                <a:ea typeface="Cambria Math" panose="02040503050406030204" pitchFamily="18" charset="0"/>
              </a:rPr>
              <a:t>From the textbook (Section 2.4 – Pages 35-36)</a:t>
            </a:r>
          </a:p>
        </p:txBody>
      </p:sp>
      <p:pic>
        <p:nvPicPr>
          <p:cNvPr id="7" name="Picture 6"/>
          <p:cNvPicPr>
            <a:picLocks noChangeAspect="1"/>
          </p:cNvPicPr>
          <p:nvPr/>
        </p:nvPicPr>
        <p:blipFill>
          <a:blip r:embed="rId2"/>
          <a:stretch>
            <a:fillRect/>
          </a:stretch>
        </p:blipFill>
        <p:spPr>
          <a:xfrm>
            <a:off x="256989" y="2080315"/>
            <a:ext cx="10342587" cy="1165074"/>
          </a:xfrm>
          <a:prstGeom prst="rect">
            <a:avLst/>
          </a:prstGeom>
        </p:spPr>
      </p:pic>
      <p:pic>
        <p:nvPicPr>
          <p:cNvPr id="2" name="Picture 1"/>
          <p:cNvPicPr>
            <a:picLocks noChangeAspect="1"/>
          </p:cNvPicPr>
          <p:nvPr/>
        </p:nvPicPr>
        <p:blipFill>
          <a:blip r:embed="rId3"/>
          <a:stretch>
            <a:fillRect/>
          </a:stretch>
        </p:blipFill>
        <p:spPr>
          <a:xfrm>
            <a:off x="7972239" y="3371530"/>
            <a:ext cx="4075732" cy="3486470"/>
          </a:xfrm>
          <a:prstGeom prst="rect">
            <a:avLst/>
          </a:prstGeom>
        </p:spPr>
      </p:pic>
      <p:pic>
        <p:nvPicPr>
          <p:cNvPr id="1026" name="Picture 2" descr="How many squares on a chess boar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989" y="3438668"/>
            <a:ext cx="7715250" cy="341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85996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5714" y="-28458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00000"/>
                </a:solidFill>
                <a:latin typeface="Cambria Math" panose="02040503050406030204" pitchFamily="18" charset="0"/>
                <a:ea typeface="Cambria Math" panose="02040503050406030204" pitchFamily="18" charset="0"/>
              </a:rPr>
              <a:t>Examples: PHP --- </a:t>
            </a:r>
            <a:r>
              <a:rPr lang="en-US" sz="3200" b="1" dirty="0">
                <a:solidFill>
                  <a:srgbClr val="002060"/>
                </a:solidFill>
                <a:latin typeface="Cambria Math" panose="02040503050406030204" pitchFamily="18" charset="0"/>
                <a:ea typeface="Cambria Math" panose="02040503050406030204" pitchFamily="18" charset="0"/>
              </a:rPr>
              <a:t>Do it by yourself</a:t>
            </a:r>
            <a:endParaRPr lang="en-US" b="1" dirty="0">
              <a:solidFill>
                <a:srgbClr val="002060"/>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6" name="Title 1"/>
              <p:cNvSpPr>
                <a:spLocks noGrp="1"/>
              </p:cNvSpPr>
              <p:nvPr>
                <p:ph type="title"/>
              </p:nvPr>
            </p:nvSpPr>
            <p:spPr>
              <a:xfrm>
                <a:off x="317591" y="4121065"/>
                <a:ext cx="7571291" cy="1325563"/>
              </a:xfrm>
            </p:spPr>
            <p:txBody>
              <a:bodyPr>
                <a:normAutofit/>
              </a:bodyPr>
              <a:lstStyle/>
              <a:p>
                <a:pPr/>
                <a:r>
                  <a:rPr lang="en-US" sz="4000" dirty="0">
                    <a:solidFill>
                      <a:schemeClr val="accent2">
                        <a:lumMod val="75000"/>
                      </a:schemeClr>
                    </a:solidFill>
                    <a:latin typeface="Cambria Math" panose="02040503050406030204" pitchFamily="18" charset="0"/>
                    <a:ea typeface="Cambria Math" panose="02040503050406030204" pitchFamily="18" charset="0"/>
                  </a:rPr>
                  <a:t>Pythagorous theorem: </a:t>
                </a:r>
                <a:br>
                  <a:rPr lang="en-US" sz="4000" dirty="0">
                    <a:solidFill>
                      <a:schemeClr val="accent2">
                        <a:lumMod val="75000"/>
                      </a:schemeClr>
                    </a:solidFill>
                    <a:latin typeface="Cambria Math" panose="02040503050406030204" pitchFamily="18" charset="0"/>
                    <a:ea typeface="Cambria Math" panose="02040503050406030204" pitchFamily="18" charset="0"/>
                  </a:rPr>
                </a:br>
                <a14:m>
                  <m:oMathPara xmlns:m="http://schemas.openxmlformats.org/officeDocument/2006/math">
                    <m:oMathParaPr>
                      <m:jc m:val="centerGroup"/>
                    </m:oMathParaPr>
                    <m:oMath xmlns:m="http://schemas.openxmlformats.org/officeDocument/2006/math">
                      <m:rad>
                        <m:radPr>
                          <m:degHide m:val="on"/>
                          <m:ctrlPr>
                            <a:rPr lang="en-US" sz="3200" i="1" smtClean="0">
                              <a:solidFill>
                                <a:schemeClr val="accent2">
                                  <a:lumMod val="75000"/>
                                </a:schemeClr>
                              </a:solidFill>
                              <a:latin typeface="Cambria Math" panose="02040503050406030204" pitchFamily="18" charset="0"/>
                              <a:ea typeface="Cambria Math" panose="02040503050406030204" pitchFamily="18" charset="0"/>
                            </a:rPr>
                          </m:ctrlPr>
                        </m:radPr>
                        <m:deg/>
                        <m:e>
                          <m:sSup>
                            <m:sSupPr>
                              <m:ctrlPr>
                                <a:rPr lang="en-US" sz="3200" i="1" smtClean="0">
                                  <a:solidFill>
                                    <a:schemeClr val="accent2">
                                      <a:lumMod val="75000"/>
                                    </a:schemeClr>
                                  </a:solidFill>
                                  <a:latin typeface="Cambria Math" panose="02040503050406030204" pitchFamily="18" charset="0"/>
                                  <a:ea typeface="Cambria Math" panose="02040503050406030204" pitchFamily="18" charset="0"/>
                                </a:rPr>
                              </m:ctrlPr>
                            </m:sSupPr>
                            <m:e>
                              <m:r>
                                <a:rPr lang="en-US" sz="3200" b="0" i="1" smtClean="0">
                                  <a:solidFill>
                                    <a:schemeClr val="accent2">
                                      <a:lumMod val="75000"/>
                                    </a:schemeClr>
                                  </a:solidFill>
                                  <a:latin typeface="Cambria Math" panose="02040503050406030204" pitchFamily="18" charset="0"/>
                                  <a:ea typeface="Cambria Math" panose="02040503050406030204" pitchFamily="18" charset="0"/>
                                </a:rPr>
                                <m:t>10</m:t>
                              </m:r>
                            </m:e>
                            <m:sup>
                              <m:r>
                                <a:rPr lang="en-US" sz="3200" b="0" i="1" smtClean="0">
                                  <a:solidFill>
                                    <a:schemeClr val="accent2">
                                      <a:lumMod val="75000"/>
                                    </a:schemeClr>
                                  </a:solidFill>
                                  <a:latin typeface="Cambria Math" panose="02040503050406030204" pitchFamily="18" charset="0"/>
                                  <a:ea typeface="Cambria Math" panose="02040503050406030204" pitchFamily="18" charset="0"/>
                                </a:rPr>
                                <m:t>2</m:t>
                              </m:r>
                            </m:sup>
                          </m:sSup>
                          <m:r>
                            <a:rPr lang="en-US" sz="3200" b="0" i="1" smtClean="0">
                              <a:solidFill>
                                <a:schemeClr val="accent2">
                                  <a:lumMod val="75000"/>
                                </a:schemeClr>
                              </a:solidFill>
                              <a:latin typeface="Cambria Math" panose="02040503050406030204" pitchFamily="18" charset="0"/>
                              <a:ea typeface="Cambria Math" panose="02040503050406030204" pitchFamily="18" charset="0"/>
                            </a:rPr>
                            <m:t>+</m:t>
                          </m:r>
                          <m:sSup>
                            <m:sSupPr>
                              <m:ctrlPr>
                                <a:rPr lang="en-US" sz="3200" i="1" smtClean="0">
                                  <a:solidFill>
                                    <a:schemeClr val="accent2">
                                      <a:lumMod val="75000"/>
                                    </a:schemeClr>
                                  </a:solidFill>
                                  <a:latin typeface="Cambria Math" panose="02040503050406030204" pitchFamily="18" charset="0"/>
                                  <a:ea typeface="Cambria Math" panose="02040503050406030204" pitchFamily="18" charset="0"/>
                                </a:rPr>
                              </m:ctrlPr>
                            </m:sSupPr>
                            <m:e>
                              <m:r>
                                <a:rPr lang="en-US" sz="3200" b="0" i="1" smtClean="0">
                                  <a:solidFill>
                                    <a:schemeClr val="accent2">
                                      <a:lumMod val="75000"/>
                                    </a:schemeClr>
                                  </a:solidFill>
                                  <a:latin typeface="Cambria Math" panose="02040503050406030204" pitchFamily="18" charset="0"/>
                                  <a:ea typeface="Cambria Math" panose="02040503050406030204" pitchFamily="18" charset="0"/>
                                </a:rPr>
                                <m:t>10</m:t>
                              </m:r>
                            </m:e>
                            <m:sup>
                              <m:r>
                                <a:rPr lang="en-US" sz="3200" b="0" i="1" smtClean="0">
                                  <a:solidFill>
                                    <a:schemeClr val="accent2">
                                      <a:lumMod val="75000"/>
                                    </a:schemeClr>
                                  </a:solidFill>
                                  <a:latin typeface="Cambria Math" panose="02040503050406030204" pitchFamily="18" charset="0"/>
                                  <a:ea typeface="Cambria Math" panose="02040503050406030204" pitchFamily="18" charset="0"/>
                                </a:rPr>
                                <m:t>2</m:t>
                              </m:r>
                            </m:sup>
                          </m:sSup>
                        </m:e>
                      </m:rad>
                      <m:r>
                        <a:rPr lang="en-US" sz="3200" b="0" i="1" smtClean="0">
                          <a:solidFill>
                            <a:schemeClr val="accent2">
                              <a:lumMod val="75000"/>
                            </a:schemeClr>
                          </a:solidFill>
                          <a:latin typeface="Cambria Math" panose="02040503050406030204" pitchFamily="18" charset="0"/>
                          <a:ea typeface="Cambria Math" panose="02040503050406030204" pitchFamily="18" charset="0"/>
                        </a:rPr>
                        <m:t>=</m:t>
                      </m:r>
                      <m:rad>
                        <m:radPr>
                          <m:degHide m:val="on"/>
                          <m:ctrlPr>
                            <a:rPr lang="en-US" sz="3200" i="1" smtClean="0">
                              <a:solidFill>
                                <a:schemeClr val="accent2">
                                  <a:lumMod val="75000"/>
                                </a:schemeClr>
                              </a:solidFill>
                              <a:latin typeface="Cambria Math" panose="02040503050406030204" pitchFamily="18" charset="0"/>
                              <a:ea typeface="Cambria Math" panose="02040503050406030204" pitchFamily="18" charset="0"/>
                            </a:rPr>
                          </m:ctrlPr>
                        </m:radPr>
                        <m:deg/>
                        <m:e>
                          <m:r>
                            <a:rPr lang="en-US" sz="3200" b="0" i="1" smtClean="0">
                              <a:solidFill>
                                <a:schemeClr val="accent2">
                                  <a:lumMod val="75000"/>
                                </a:schemeClr>
                              </a:solidFill>
                              <a:latin typeface="Cambria Math" panose="02040503050406030204" pitchFamily="18" charset="0"/>
                              <a:ea typeface="Cambria Math" panose="02040503050406030204" pitchFamily="18" charset="0"/>
                            </a:rPr>
                            <m:t>200</m:t>
                          </m:r>
                        </m:e>
                      </m:rad>
                      <m:r>
                        <a:rPr lang="en-US" sz="3200" b="0" i="1" smtClean="0">
                          <a:solidFill>
                            <a:schemeClr val="accent2">
                              <a:lumMod val="75000"/>
                            </a:schemeClr>
                          </a:solidFill>
                          <a:latin typeface="Cambria Math" panose="02040503050406030204" pitchFamily="18" charset="0"/>
                          <a:ea typeface="Cambria Math" panose="02040503050406030204" pitchFamily="18" charset="0"/>
                        </a:rPr>
                        <m:t>=14.1&lt;15</m:t>
                      </m:r>
                      <m:r>
                        <a:rPr lang="en-US" sz="3200" b="0" i="1" smtClean="0">
                          <a:solidFill>
                            <a:schemeClr val="accent2">
                              <a:lumMod val="75000"/>
                            </a:schemeClr>
                          </a:solidFill>
                          <a:latin typeface="Cambria Math" panose="02040503050406030204" pitchFamily="18" charset="0"/>
                          <a:ea typeface="Cambria Math" panose="02040503050406030204" pitchFamily="18" charset="0"/>
                        </a:rPr>
                        <m:t>𝑐𝑚</m:t>
                      </m:r>
                    </m:oMath>
                  </m:oMathPara>
                </a14:m>
                <a:endParaRPr lang="en-US" sz="3200" dirty="0">
                  <a:solidFill>
                    <a:schemeClr val="accent2">
                      <a:lumMod val="75000"/>
                    </a:schemeClr>
                  </a:solidFill>
                  <a:latin typeface="Cambria Math" panose="02040503050406030204" pitchFamily="18" charset="0"/>
                  <a:ea typeface="Cambria Math" panose="02040503050406030204" pitchFamily="18" charset="0"/>
                </a:endParaRPr>
              </a:p>
            </p:txBody>
          </p:sp>
        </mc:Choice>
        <mc:Fallback xmlns="">
          <p:sp>
            <p:nvSpPr>
              <p:cNvPr id="6" name="Title 1"/>
              <p:cNvSpPr>
                <a:spLocks noGrp="1" noRot="1" noChangeAspect="1" noMove="1" noResize="1" noEditPoints="1" noAdjustHandles="1" noChangeArrowheads="1" noChangeShapeType="1" noTextEdit="1"/>
              </p:cNvSpPr>
              <p:nvPr>
                <p:ph type="title"/>
              </p:nvPr>
            </p:nvSpPr>
            <p:spPr>
              <a:xfrm>
                <a:off x="317591" y="4121065"/>
                <a:ext cx="7571291" cy="1325563"/>
              </a:xfrm>
              <a:blipFill>
                <a:blip r:embed="rId2"/>
                <a:stretch>
                  <a:fillRect l="-2818" t="-7373"/>
                </a:stretch>
              </a:blipFill>
            </p:spPr>
            <p:txBody>
              <a:bodyPr/>
              <a:lstStyle/>
              <a:p>
                <a:r>
                  <a:rPr lang="en-US">
                    <a:noFill/>
                  </a:rPr>
                  <a:t> </a:t>
                </a:r>
              </a:p>
            </p:txBody>
          </p:sp>
        </mc:Fallback>
      </mc:AlternateContent>
      <p:sp>
        <p:nvSpPr>
          <p:cNvPr id="5" name="Content Placeholder 4"/>
          <p:cNvSpPr>
            <a:spLocks noGrp="1"/>
          </p:cNvSpPr>
          <p:nvPr>
            <p:ph idx="1"/>
          </p:nvPr>
        </p:nvSpPr>
        <p:spPr>
          <a:xfrm>
            <a:off x="2556938" y="1411372"/>
            <a:ext cx="6425485" cy="518330"/>
          </a:xfrm>
        </p:spPr>
        <p:txBody>
          <a:bodyPr>
            <a:normAutofit fontScale="85000" lnSpcReduction="10000"/>
          </a:bodyPr>
          <a:lstStyle/>
          <a:p>
            <a:pPr marL="0" indent="0">
              <a:buNone/>
            </a:pPr>
            <a:r>
              <a:rPr lang="en-US" dirty="0">
                <a:solidFill>
                  <a:srgbClr val="002060"/>
                </a:solidFill>
                <a:latin typeface="Cambria Math" panose="02040503050406030204" pitchFamily="18" charset="0"/>
                <a:ea typeface="Cambria Math" panose="02040503050406030204" pitchFamily="18" charset="0"/>
              </a:rPr>
              <a:t>From the textbook (Section 2.4 – Pages 35-36)</a:t>
            </a:r>
          </a:p>
        </p:txBody>
      </p:sp>
      <p:pic>
        <p:nvPicPr>
          <p:cNvPr id="7" name="Picture 6"/>
          <p:cNvPicPr>
            <a:picLocks noChangeAspect="1"/>
          </p:cNvPicPr>
          <p:nvPr/>
        </p:nvPicPr>
        <p:blipFill>
          <a:blip r:embed="rId3"/>
          <a:stretch>
            <a:fillRect/>
          </a:stretch>
        </p:blipFill>
        <p:spPr>
          <a:xfrm>
            <a:off x="452705" y="2366539"/>
            <a:ext cx="9518763" cy="1072272"/>
          </a:xfrm>
          <a:prstGeom prst="rect">
            <a:avLst/>
          </a:prstGeom>
        </p:spPr>
      </p:pic>
      <p:pic>
        <p:nvPicPr>
          <p:cNvPr id="2" name="Picture 1"/>
          <p:cNvPicPr>
            <a:picLocks noChangeAspect="1"/>
          </p:cNvPicPr>
          <p:nvPr/>
        </p:nvPicPr>
        <p:blipFill>
          <a:blip r:embed="rId4"/>
          <a:stretch>
            <a:fillRect/>
          </a:stretch>
        </p:blipFill>
        <p:spPr>
          <a:xfrm>
            <a:off x="7972239" y="3371530"/>
            <a:ext cx="4075732" cy="3486470"/>
          </a:xfrm>
          <a:prstGeom prst="rect">
            <a:avLst/>
          </a:prstGeom>
        </p:spPr>
      </p:pic>
      <p:sp>
        <p:nvSpPr>
          <p:cNvPr id="8" name="Title 1"/>
          <p:cNvSpPr txBox="1">
            <a:spLocks/>
          </p:cNvSpPr>
          <p:nvPr/>
        </p:nvSpPr>
        <p:spPr>
          <a:xfrm>
            <a:off x="193686" y="935696"/>
            <a:ext cx="25360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chemeClr val="accent2">
                    <a:lumMod val="50000"/>
                  </a:schemeClr>
                </a:solidFill>
                <a:latin typeface="Cambria Math" panose="02040503050406030204" pitchFamily="18" charset="0"/>
                <a:ea typeface="Cambria Math" panose="02040503050406030204" pitchFamily="18" charset="0"/>
              </a:rPr>
              <a:t>Example:</a:t>
            </a:r>
          </a:p>
        </p:txBody>
      </p:sp>
    </p:spTree>
    <p:extLst>
      <p:ext uri="{BB962C8B-B14F-4D97-AF65-F5344CB8AC3E}">
        <p14:creationId xmlns:p14="http://schemas.microsoft.com/office/powerpoint/2010/main" val="28712994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6780" y="1081147"/>
            <a:ext cx="11409609" cy="5307057"/>
          </a:xfrm>
        </p:spPr>
        <p:txBody>
          <a:bodyPr>
            <a:normAutofit/>
          </a:bodyPr>
          <a:lstStyle/>
          <a:p>
            <a:pPr marL="0" indent="0" algn="just">
              <a:buNone/>
            </a:pPr>
            <a:r>
              <a:rPr lang="en-US" sz="2400" dirty="0">
                <a:latin typeface="Cambria Math" panose="02040503050406030204" pitchFamily="18" charset="0"/>
                <a:ea typeface="Cambria Math" panose="02040503050406030204" pitchFamily="18" charset="0"/>
              </a:rPr>
              <a:t>What is the least number of area codes needed to guarantee that the 25 million phones in a state can be assigned distinct 10-digit telephone numbers? </a:t>
            </a:r>
          </a:p>
          <a:p>
            <a:pPr marL="0" indent="0" algn="just">
              <a:buNone/>
            </a:pPr>
            <a:endParaRPr lang="en-US" sz="2400" dirty="0">
              <a:latin typeface="Cambria Math" panose="02040503050406030204" pitchFamily="18" charset="0"/>
              <a:ea typeface="Cambria Math" panose="02040503050406030204" pitchFamily="18" charset="0"/>
            </a:endParaRPr>
          </a:p>
          <a:p>
            <a:pPr marL="0" indent="0" algn="just">
              <a:buNone/>
            </a:pPr>
            <a:r>
              <a:rPr lang="en-US" sz="2400" dirty="0">
                <a:solidFill>
                  <a:schemeClr val="accent2">
                    <a:lumMod val="75000"/>
                  </a:schemeClr>
                </a:solidFill>
                <a:latin typeface="Cambria Math" panose="02040503050406030204" pitchFamily="18" charset="0"/>
                <a:ea typeface="Cambria Math" panose="02040503050406030204" pitchFamily="18" charset="0"/>
              </a:rPr>
              <a:t>(Assume that telephone numbers are of the form NXX-NXX-XXXX, where the ﬁrst three digits form the area code, N represents a digit from 2 to 9 inclusive, and X represents any digit.)</a:t>
            </a:r>
          </a:p>
        </p:txBody>
      </p:sp>
      <p:sp>
        <p:nvSpPr>
          <p:cNvPr id="8" name="Title 1">
            <a:extLst>
              <a:ext uri="{FF2B5EF4-FFF2-40B4-BE49-F238E27FC236}">
                <a16:creationId xmlns:a16="http://schemas.microsoft.com/office/drawing/2014/main" id="{40A4546E-E8FE-BB05-0469-550ECCBCB31F}"/>
              </a:ext>
            </a:extLst>
          </p:cNvPr>
          <p:cNvSpPr txBox="1">
            <a:spLocks/>
          </p:cNvSpPr>
          <p:nvPr/>
        </p:nvSpPr>
        <p:spPr>
          <a:xfrm>
            <a:off x="13953" y="1634"/>
            <a:ext cx="10515600" cy="9594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C00000"/>
                </a:solidFill>
                <a:latin typeface="Cambria Math" panose="02040503050406030204" pitchFamily="18" charset="0"/>
                <a:ea typeface="Cambria Math" panose="02040503050406030204" pitchFamily="18" charset="0"/>
              </a:rPr>
              <a:t>Examples: PHP --- </a:t>
            </a:r>
            <a:r>
              <a:rPr lang="en-US" sz="3200" dirty="0">
                <a:solidFill>
                  <a:srgbClr val="002060"/>
                </a:solidFill>
                <a:latin typeface="Cambria Math" panose="02040503050406030204" pitchFamily="18" charset="0"/>
                <a:ea typeface="Cambria Math" panose="02040503050406030204" pitchFamily="18" charset="0"/>
              </a:rPr>
              <a:t>Do it by yourself … </a:t>
            </a:r>
            <a:r>
              <a:rPr lang="en-US" sz="2800" b="1" dirty="0">
                <a:solidFill>
                  <a:schemeClr val="accent6">
                    <a:lumMod val="75000"/>
                  </a:schemeClr>
                </a:solidFill>
                <a:latin typeface="Cambria Math" panose="02040503050406030204" pitchFamily="18" charset="0"/>
                <a:ea typeface="Cambria Math" panose="02040503050406030204" pitchFamily="18" charset="0"/>
              </a:rPr>
              <a:t>EXAMPLE 11</a:t>
            </a:r>
            <a:r>
              <a:rPr lang="en-US" dirty="0">
                <a:latin typeface="Cambria Math" panose="02040503050406030204" pitchFamily="18" charset="0"/>
                <a:ea typeface="Cambria Math" panose="02040503050406030204" pitchFamily="18" charset="0"/>
              </a:rPr>
              <a:t> </a:t>
            </a:r>
          </a:p>
        </p:txBody>
      </p:sp>
    </p:spTree>
    <p:extLst>
      <p:ext uri="{BB962C8B-B14F-4D97-AF65-F5344CB8AC3E}">
        <p14:creationId xmlns:p14="http://schemas.microsoft.com/office/powerpoint/2010/main" val="31426276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6780" y="1081147"/>
            <a:ext cx="11409609" cy="5307057"/>
          </a:xfrm>
        </p:spPr>
        <p:txBody>
          <a:bodyPr>
            <a:normAutofit/>
          </a:bodyPr>
          <a:lstStyle/>
          <a:p>
            <a:pPr marL="0" indent="0" algn="just">
              <a:buNone/>
            </a:pPr>
            <a:r>
              <a:rPr lang="en-US" sz="2400" dirty="0">
                <a:latin typeface="Cambria Math" panose="02040503050406030204" pitchFamily="18" charset="0"/>
                <a:ea typeface="Cambria Math" panose="02040503050406030204" pitchFamily="18" charset="0"/>
              </a:rPr>
              <a:t>What is the least number of area codes needed to guarantee that the 25 million phones in a state can be assigned distinct 10-digit telephone numbers? </a:t>
            </a:r>
          </a:p>
          <a:p>
            <a:pPr marL="0" indent="0" algn="just">
              <a:buNone/>
            </a:pPr>
            <a:endParaRPr lang="en-US" sz="2400" dirty="0">
              <a:latin typeface="Cambria Math" panose="02040503050406030204" pitchFamily="18" charset="0"/>
              <a:ea typeface="Cambria Math" panose="02040503050406030204" pitchFamily="18" charset="0"/>
            </a:endParaRPr>
          </a:p>
          <a:p>
            <a:pPr marL="0" indent="0" algn="just">
              <a:buNone/>
            </a:pPr>
            <a:r>
              <a:rPr lang="en-US" sz="2400" dirty="0">
                <a:latin typeface="Cambria Math" panose="02040503050406030204" pitchFamily="18" charset="0"/>
                <a:ea typeface="Cambria Math" panose="02040503050406030204" pitchFamily="18" charset="0"/>
              </a:rPr>
              <a:t>(Assume that telephone numbers are of the form NXX-NXX-XXXX, where the ﬁrst three digits form the area code, N represents a digit from 2 to 9 inclusive, and X represents any digit.)</a:t>
            </a:r>
          </a:p>
        </p:txBody>
      </p:sp>
      <p:pic>
        <p:nvPicPr>
          <p:cNvPr id="5" name="Picture 5">
            <a:extLst>
              <a:ext uri="{FF2B5EF4-FFF2-40B4-BE49-F238E27FC236}">
                <a16:creationId xmlns:a16="http://schemas.microsoft.com/office/drawing/2014/main" id="{34E81AAB-F891-47DC-893E-661ECC3C0C86}"/>
              </a:ext>
            </a:extLst>
          </p:cNvPr>
          <p:cNvPicPr>
            <a:picLocks noChangeAspect="1"/>
          </p:cNvPicPr>
          <p:nvPr/>
        </p:nvPicPr>
        <p:blipFill>
          <a:blip r:embed="rId2"/>
          <a:stretch>
            <a:fillRect/>
          </a:stretch>
        </p:blipFill>
        <p:spPr>
          <a:xfrm>
            <a:off x="376739" y="4128120"/>
            <a:ext cx="7847162" cy="595860"/>
          </a:xfrm>
          <a:prstGeom prst="rect">
            <a:avLst/>
          </a:prstGeom>
        </p:spPr>
      </p:pic>
      <p:sp>
        <p:nvSpPr>
          <p:cNvPr id="6" name="TextBox 5">
            <a:extLst>
              <a:ext uri="{FF2B5EF4-FFF2-40B4-BE49-F238E27FC236}">
                <a16:creationId xmlns:a16="http://schemas.microsoft.com/office/drawing/2014/main" id="{75A14445-38D9-4C47-A326-D5E935F8C4AA}"/>
              </a:ext>
            </a:extLst>
          </p:cNvPr>
          <p:cNvSpPr txBox="1"/>
          <p:nvPr/>
        </p:nvSpPr>
        <p:spPr>
          <a:xfrm>
            <a:off x="236780" y="5099128"/>
            <a:ext cx="47128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solidFill>
                  <a:srgbClr val="0070C0"/>
                </a:solidFill>
                <a:latin typeface="Cambria Math" panose="02040503050406030204" pitchFamily="18" charset="0"/>
                <a:ea typeface="Cambria Math" panose="02040503050406030204" pitchFamily="18" charset="0"/>
                <a:cs typeface="Calibri"/>
              </a:rPr>
              <a:t>Ceil (25,000,000 / 8,000,000 )= 4</a:t>
            </a:r>
          </a:p>
        </p:txBody>
      </p:sp>
      <p:sp>
        <p:nvSpPr>
          <p:cNvPr id="8" name="Title 1">
            <a:extLst>
              <a:ext uri="{FF2B5EF4-FFF2-40B4-BE49-F238E27FC236}">
                <a16:creationId xmlns:a16="http://schemas.microsoft.com/office/drawing/2014/main" id="{40A4546E-E8FE-BB05-0469-550ECCBCB31F}"/>
              </a:ext>
            </a:extLst>
          </p:cNvPr>
          <p:cNvSpPr txBox="1">
            <a:spLocks/>
          </p:cNvSpPr>
          <p:nvPr/>
        </p:nvSpPr>
        <p:spPr>
          <a:xfrm>
            <a:off x="13953" y="1634"/>
            <a:ext cx="10515600" cy="9594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C00000"/>
                </a:solidFill>
                <a:latin typeface="Cambria Math" panose="02040503050406030204" pitchFamily="18" charset="0"/>
                <a:ea typeface="Cambria Math" panose="02040503050406030204" pitchFamily="18" charset="0"/>
              </a:rPr>
              <a:t>Examples: PHP --- </a:t>
            </a:r>
            <a:r>
              <a:rPr lang="en-US" sz="3200" dirty="0">
                <a:solidFill>
                  <a:srgbClr val="002060"/>
                </a:solidFill>
                <a:latin typeface="Cambria Math" panose="02040503050406030204" pitchFamily="18" charset="0"/>
                <a:ea typeface="Cambria Math" panose="02040503050406030204" pitchFamily="18" charset="0"/>
              </a:rPr>
              <a:t>Do it by yourself … </a:t>
            </a:r>
            <a:r>
              <a:rPr lang="en-US" sz="2800" b="1" dirty="0">
                <a:solidFill>
                  <a:schemeClr val="accent6">
                    <a:lumMod val="75000"/>
                  </a:schemeClr>
                </a:solidFill>
                <a:latin typeface="Cambria Math" panose="02040503050406030204" pitchFamily="18" charset="0"/>
                <a:ea typeface="Cambria Math" panose="02040503050406030204" pitchFamily="18" charset="0"/>
              </a:rPr>
              <a:t>EXAMPLE 11</a:t>
            </a:r>
            <a:r>
              <a:rPr lang="en-US" dirty="0">
                <a:latin typeface="Cambria Math" panose="02040503050406030204" pitchFamily="18" charset="0"/>
                <a:ea typeface="Cambria Math" panose="02040503050406030204" pitchFamily="18" charset="0"/>
              </a:rPr>
              <a:t> </a:t>
            </a:r>
          </a:p>
        </p:txBody>
      </p:sp>
    </p:spTree>
    <p:extLst>
      <p:ext uri="{BB962C8B-B14F-4D97-AF65-F5344CB8AC3E}">
        <p14:creationId xmlns:p14="http://schemas.microsoft.com/office/powerpoint/2010/main" val="1294242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3930363" y="3212672"/>
            <a:ext cx="3837905" cy="3090929"/>
            <a:chOff x="4353058" y="1970468"/>
            <a:chExt cx="3837905" cy="3090929"/>
          </a:xfrm>
        </p:grpSpPr>
        <p:sp>
          <p:nvSpPr>
            <p:cNvPr id="6" name="Isosceles Triangle 5"/>
            <p:cNvSpPr/>
            <p:nvPr/>
          </p:nvSpPr>
          <p:spPr>
            <a:xfrm>
              <a:off x="4353058" y="1970468"/>
              <a:ext cx="3837905" cy="3090929"/>
            </a:xfrm>
            <a:prstGeom prst="triangl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Oval 6"/>
            <p:cNvSpPr/>
            <p:nvPr/>
          </p:nvSpPr>
          <p:spPr>
            <a:xfrm>
              <a:off x="6325672" y="2375079"/>
              <a:ext cx="89327" cy="901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6018083" y="3022243"/>
              <a:ext cx="89327" cy="901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383628" y="3112395"/>
              <a:ext cx="89327" cy="901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338551" y="3936643"/>
              <a:ext cx="89327" cy="901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551312" y="4743719"/>
              <a:ext cx="89327" cy="901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840828" y="3569595"/>
              <a:ext cx="89327" cy="901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659355" y="3479443"/>
              <a:ext cx="89327" cy="901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7175430" y="4039674"/>
              <a:ext cx="89327" cy="901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6383628" y="4488288"/>
              <a:ext cx="89327" cy="901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5659356" y="4039674"/>
              <a:ext cx="89327" cy="901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27DA3955-7A2C-A708-3E71-1AC53961810C}"/>
              </a:ext>
            </a:extLst>
          </p:cNvPr>
          <p:cNvSpPr txBox="1">
            <a:spLocks/>
          </p:cNvSpPr>
          <p:nvPr/>
        </p:nvSpPr>
        <p:spPr>
          <a:xfrm>
            <a:off x="819509" y="1634"/>
            <a:ext cx="9710044" cy="959419"/>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chemeClr val="accent5">
                    <a:lumMod val="50000"/>
                  </a:schemeClr>
                </a:solidFill>
                <a:latin typeface="Cambria Math" panose="02040503050406030204" pitchFamily="18" charset="0"/>
                <a:ea typeface="Cambria Math" panose="02040503050406030204" pitchFamily="18" charset="0"/>
              </a:rPr>
              <a:t>Examples: PHP </a:t>
            </a:r>
            <a:r>
              <a:rPr lang="en-US" sz="4000" dirty="0">
                <a:solidFill>
                  <a:srgbClr val="C00000"/>
                </a:solidFill>
                <a:latin typeface="Cambria Math" panose="02040503050406030204" pitchFamily="18" charset="0"/>
                <a:ea typeface="Cambria Math" panose="02040503050406030204" pitchFamily="18" charset="0"/>
              </a:rPr>
              <a:t>--- </a:t>
            </a:r>
            <a:r>
              <a:rPr lang="en-US" sz="3600" dirty="0">
                <a:solidFill>
                  <a:srgbClr val="B31591"/>
                </a:solidFill>
                <a:latin typeface="Cambria Math" panose="02040503050406030204" pitchFamily="18" charset="0"/>
                <a:ea typeface="Cambria Math" panose="02040503050406030204" pitchFamily="18" charset="0"/>
              </a:rPr>
              <a:t>Do it by yourself </a:t>
            </a:r>
            <a:r>
              <a:rPr lang="en-US" sz="3600" dirty="0">
                <a:solidFill>
                  <a:srgbClr val="002060"/>
                </a:solidFill>
                <a:latin typeface="Cambria Math" panose="02040503050406030204" pitchFamily="18" charset="0"/>
                <a:ea typeface="Cambria Math" panose="02040503050406030204" pitchFamily="18" charset="0"/>
              </a:rPr>
              <a:t>… </a:t>
            </a:r>
            <a:r>
              <a:rPr lang="en-US" sz="3200" b="1" dirty="0">
                <a:solidFill>
                  <a:schemeClr val="accent6">
                    <a:lumMod val="75000"/>
                  </a:schemeClr>
                </a:solidFill>
                <a:latin typeface="Cambria Math" panose="02040503050406030204" pitchFamily="18" charset="0"/>
                <a:ea typeface="Cambria Math" panose="02040503050406030204" pitchFamily="18" charset="0"/>
              </a:rPr>
              <a:t>EXAMPLE 12</a:t>
            </a:r>
            <a:r>
              <a:rPr lang="en-US" sz="4800" dirty="0">
                <a:latin typeface="Cambria Math" panose="02040503050406030204" pitchFamily="18" charset="0"/>
                <a:ea typeface="Cambria Math" panose="02040503050406030204" pitchFamily="18" charset="0"/>
              </a:rPr>
              <a:t> </a:t>
            </a:r>
            <a:endParaRPr lang="en-US" dirty="0">
              <a:latin typeface="Cambria Math" panose="02040503050406030204" pitchFamily="18" charset="0"/>
              <a:ea typeface="Cambria Math" panose="02040503050406030204" pitchFamily="18" charset="0"/>
            </a:endParaRPr>
          </a:p>
        </p:txBody>
      </p:sp>
      <p:sp>
        <p:nvSpPr>
          <p:cNvPr id="4" name="Content Placeholder 4">
            <a:extLst>
              <a:ext uri="{FF2B5EF4-FFF2-40B4-BE49-F238E27FC236}">
                <a16:creationId xmlns:a16="http://schemas.microsoft.com/office/drawing/2014/main" id="{3E559AB3-B59B-FF45-2D18-97E321069EFD}"/>
              </a:ext>
            </a:extLst>
          </p:cNvPr>
          <p:cNvSpPr>
            <a:spLocks noGrp="1"/>
          </p:cNvSpPr>
          <p:nvPr>
            <p:ph idx="1"/>
          </p:nvPr>
        </p:nvSpPr>
        <p:spPr>
          <a:xfrm>
            <a:off x="819509" y="961054"/>
            <a:ext cx="10750449" cy="1033154"/>
          </a:xfrm>
        </p:spPr>
        <p:txBody>
          <a:bodyPr vert="horz" lIns="91440" tIns="45720" rIns="91440" bIns="45720" rtlCol="0" anchor="t">
            <a:normAutofit/>
          </a:bodyPr>
          <a:lstStyle/>
          <a:p>
            <a:pPr marL="0" indent="0">
              <a:buNone/>
            </a:pPr>
            <a:r>
              <a:rPr lang="en-US" sz="2400" dirty="0">
                <a:solidFill>
                  <a:schemeClr val="accent5">
                    <a:lumMod val="75000"/>
                  </a:schemeClr>
                </a:solidFill>
                <a:latin typeface="Cambria Math" panose="02040503050406030204" pitchFamily="18" charset="0"/>
                <a:ea typeface="Cambria Math" panose="02040503050406030204" pitchFamily="18" charset="0"/>
                <a:cs typeface="Arial"/>
              </a:rPr>
              <a:t>Ten points are placed inside a unit equilateral triangle. Show that there exists two points with distance less than 1/3.</a:t>
            </a: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7667165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BB302C0-E2BF-4FC3-2B49-2FE850F94197}"/>
              </a:ext>
            </a:extLst>
          </p:cNvPr>
          <p:cNvSpPr txBox="1">
            <a:spLocks/>
          </p:cNvSpPr>
          <p:nvPr/>
        </p:nvSpPr>
        <p:spPr>
          <a:xfrm>
            <a:off x="577970" y="-17253"/>
            <a:ext cx="10515600" cy="6806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300" dirty="0">
                <a:solidFill>
                  <a:schemeClr val="accent5">
                    <a:lumMod val="50000"/>
                  </a:schemeClr>
                </a:solidFill>
                <a:latin typeface="Cambria Math" panose="02040503050406030204" pitchFamily="18" charset="0"/>
                <a:ea typeface="Cambria Math" panose="02040503050406030204" pitchFamily="18" charset="0"/>
              </a:rPr>
              <a:t>Examples: PHP </a:t>
            </a:r>
            <a:r>
              <a:rPr lang="en-US" sz="4000" dirty="0">
                <a:solidFill>
                  <a:srgbClr val="C00000"/>
                </a:solidFill>
                <a:latin typeface="Cambria Math" panose="02040503050406030204" pitchFamily="18" charset="0"/>
                <a:ea typeface="Cambria Math" panose="02040503050406030204" pitchFamily="18" charset="0"/>
              </a:rPr>
              <a:t>--- </a:t>
            </a:r>
            <a:r>
              <a:rPr lang="en-US" sz="3900" dirty="0">
                <a:solidFill>
                  <a:srgbClr val="B31591"/>
                </a:solidFill>
                <a:latin typeface="Cambria Math" panose="02040503050406030204" pitchFamily="18" charset="0"/>
                <a:ea typeface="Cambria Math" panose="02040503050406030204" pitchFamily="18" charset="0"/>
              </a:rPr>
              <a:t>Do it by yourself </a:t>
            </a:r>
            <a:r>
              <a:rPr lang="en-US" sz="3600" dirty="0">
                <a:solidFill>
                  <a:srgbClr val="002060"/>
                </a:solidFill>
                <a:latin typeface="Cambria Math" panose="02040503050406030204" pitchFamily="18" charset="0"/>
                <a:ea typeface="Cambria Math" panose="02040503050406030204" pitchFamily="18" charset="0"/>
              </a:rPr>
              <a:t>… </a:t>
            </a:r>
            <a:r>
              <a:rPr lang="en-US" sz="3500" b="1" dirty="0">
                <a:solidFill>
                  <a:schemeClr val="accent6">
                    <a:lumMod val="75000"/>
                  </a:schemeClr>
                </a:solidFill>
                <a:latin typeface="Cambria Math" panose="02040503050406030204" pitchFamily="18" charset="0"/>
                <a:ea typeface="Cambria Math" panose="02040503050406030204" pitchFamily="18" charset="0"/>
              </a:rPr>
              <a:t>EXAMPLE 12</a:t>
            </a:r>
            <a:r>
              <a:rPr lang="en-US" sz="3500" dirty="0">
                <a:latin typeface="Cambria Math" panose="02040503050406030204" pitchFamily="18" charset="0"/>
                <a:ea typeface="Cambria Math" panose="02040503050406030204" pitchFamily="18" charset="0"/>
              </a:rPr>
              <a:t> </a:t>
            </a:r>
          </a:p>
        </p:txBody>
      </p:sp>
      <p:sp>
        <p:nvSpPr>
          <p:cNvPr id="3" name="TextBox 2">
            <a:extLst>
              <a:ext uri="{FF2B5EF4-FFF2-40B4-BE49-F238E27FC236}">
                <a16:creationId xmlns:a16="http://schemas.microsoft.com/office/drawing/2014/main" id="{879293D0-A11D-C5A6-D30A-E084FD89D57D}"/>
              </a:ext>
            </a:extLst>
          </p:cNvPr>
          <p:cNvSpPr txBox="1"/>
          <p:nvPr/>
        </p:nvSpPr>
        <p:spPr>
          <a:xfrm>
            <a:off x="634042" y="821509"/>
            <a:ext cx="10403456" cy="2308324"/>
          </a:xfrm>
          <a:prstGeom prst="rect">
            <a:avLst/>
          </a:prstGeom>
          <a:noFill/>
        </p:spPr>
        <p:txBody>
          <a:bodyPr wrap="square">
            <a:spAutoFit/>
          </a:bodyPr>
          <a:lstStyle/>
          <a:p>
            <a:pPr marL="0" indent="0">
              <a:buNone/>
            </a:pPr>
            <a:r>
              <a:rPr lang="en-US" sz="2400" dirty="0">
                <a:latin typeface="Cambria Math" panose="02040503050406030204" pitchFamily="18" charset="0"/>
                <a:ea typeface="Cambria Math" panose="02040503050406030204" pitchFamily="18" charset="0"/>
                <a:cs typeface="Arial"/>
              </a:rPr>
              <a:t>Ten points are placed inside a unit equilateral triangle. Show that there exists two points with distance less than 1/3.</a:t>
            </a:r>
          </a:p>
          <a:p>
            <a:pPr marL="0" indent="0">
              <a:buNone/>
            </a:pPr>
            <a:endParaRPr lang="en-US" sz="2400" dirty="0">
              <a:latin typeface="Cambria Math" panose="02040503050406030204" pitchFamily="18" charset="0"/>
              <a:ea typeface="Cambria Math" panose="02040503050406030204" pitchFamily="18" charset="0"/>
              <a:cs typeface="Arial"/>
            </a:endParaRPr>
          </a:p>
          <a:p>
            <a:pPr marL="0" indent="0">
              <a:buNone/>
            </a:pPr>
            <a:r>
              <a:rPr lang="en-US" sz="2400" b="1" dirty="0">
                <a:latin typeface="Cambria Math" panose="02040503050406030204" pitchFamily="18" charset="0"/>
                <a:ea typeface="Cambria Math" panose="02040503050406030204" pitchFamily="18" charset="0"/>
                <a:cs typeface="Arial"/>
              </a:rPr>
              <a:t>Solution</a:t>
            </a:r>
            <a:r>
              <a:rPr lang="en-US" sz="2400" dirty="0">
                <a:latin typeface="Cambria Math" panose="02040503050406030204" pitchFamily="18" charset="0"/>
                <a:ea typeface="Cambria Math" panose="02040503050406030204" pitchFamily="18" charset="0"/>
                <a:cs typeface="Arial"/>
              </a:rPr>
              <a:t>:</a:t>
            </a:r>
          </a:p>
          <a:p>
            <a:pPr marL="0" indent="0">
              <a:buNone/>
            </a:pPr>
            <a:r>
              <a:rPr lang="en-US" sz="2400" dirty="0">
                <a:solidFill>
                  <a:schemeClr val="accent5">
                    <a:lumMod val="75000"/>
                  </a:schemeClr>
                </a:solidFill>
                <a:latin typeface="Cambria Math" panose="02040503050406030204" pitchFamily="18" charset="0"/>
                <a:ea typeface="Cambria Math" panose="02040503050406030204" pitchFamily="18" charset="0"/>
                <a:cs typeface="Arial"/>
              </a:rPr>
              <a:t>Consider the partitioning of the given triangle into nine congruent equilateral triangles as shown below:</a:t>
            </a: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pic>
        <p:nvPicPr>
          <p:cNvPr id="6" name="Picture 5">
            <a:extLst>
              <a:ext uri="{FF2B5EF4-FFF2-40B4-BE49-F238E27FC236}">
                <a16:creationId xmlns:a16="http://schemas.microsoft.com/office/drawing/2014/main" id="{EFDD6C70-7F4B-C70E-F79F-14E8967DBEA9}"/>
              </a:ext>
            </a:extLst>
          </p:cNvPr>
          <p:cNvPicPr>
            <a:picLocks noChangeAspect="1"/>
          </p:cNvPicPr>
          <p:nvPr/>
        </p:nvPicPr>
        <p:blipFill>
          <a:blip r:embed="rId2"/>
          <a:stretch>
            <a:fillRect/>
          </a:stretch>
        </p:blipFill>
        <p:spPr>
          <a:xfrm>
            <a:off x="6617898" y="2934613"/>
            <a:ext cx="4419600" cy="3800475"/>
          </a:xfrm>
          <a:prstGeom prst="rect">
            <a:avLst/>
          </a:prstGeom>
        </p:spPr>
      </p:pic>
    </p:spTree>
    <p:extLst>
      <p:ext uri="{BB962C8B-B14F-4D97-AF65-F5344CB8AC3E}">
        <p14:creationId xmlns:p14="http://schemas.microsoft.com/office/powerpoint/2010/main" val="14534504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22F2B-2D78-EB56-E02E-F61CF209E0F3}"/>
              </a:ext>
            </a:extLst>
          </p:cNvPr>
          <p:cNvSpPr>
            <a:spLocks noGrp="1"/>
          </p:cNvSpPr>
          <p:nvPr>
            <p:ph type="title"/>
          </p:nvPr>
        </p:nvSpPr>
        <p:spPr>
          <a:xfrm>
            <a:off x="3195200" y="2162462"/>
            <a:ext cx="5559552" cy="2533075"/>
          </a:xfrm>
        </p:spPr>
        <p:txBody>
          <a:bodyPr>
            <a:normAutofit fontScale="90000"/>
          </a:bodyPr>
          <a:lstStyle/>
          <a:p>
            <a:r>
              <a:rPr lang="en-US" sz="4800" dirty="0">
                <a:latin typeface="Cambria Math" panose="02040503050406030204" pitchFamily="18" charset="0"/>
                <a:ea typeface="Cambria Math" panose="02040503050406030204" pitchFamily="18" charset="0"/>
              </a:rPr>
              <a:t>Section 6.3</a:t>
            </a:r>
            <a:br>
              <a:rPr lang="en-US" sz="4800"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 </a:t>
            </a:r>
            <a:br>
              <a:rPr lang="en-US"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Permutations &amp; Combinations</a:t>
            </a:r>
            <a:endParaRPr lang="en-PK"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40194214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456" y="0"/>
            <a:ext cx="10245143" cy="1325563"/>
          </a:xfrm>
        </p:spPr>
        <p:txBody>
          <a:bodyPr>
            <a:normAutofit/>
          </a:bodyPr>
          <a:lstStyle/>
          <a:p>
            <a:r>
              <a:rPr lang="en-US" sz="4000" dirty="0">
                <a:solidFill>
                  <a:srgbClr val="0070C0"/>
                </a:solidFill>
                <a:latin typeface="Cambria Math" panose="02040503050406030204" pitchFamily="18" charset="0"/>
                <a:ea typeface="Cambria Math" panose="02040503050406030204" pitchFamily="18" charset="0"/>
              </a:rPr>
              <a:t>Permutations</a:t>
            </a:r>
          </a:p>
        </p:txBody>
      </p:sp>
      <p:sp>
        <p:nvSpPr>
          <p:cNvPr id="3" name="Content Placeholder 2"/>
          <p:cNvSpPr>
            <a:spLocks noGrp="1"/>
          </p:cNvSpPr>
          <p:nvPr>
            <p:ph idx="1"/>
          </p:nvPr>
        </p:nvSpPr>
        <p:spPr>
          <a:xfrm>
            <a:off x="1018903" y="1121434"/>
            <a:ext cx="10432868" cy="5614217"/>
          </a:xfrm>
        </p:spPr>
        <p:txBody>
          <a:bodyPr>
            <a:normAutofit/>
          </a:bodyPr>
          <a:lstStyle/>
          <a:p>
            <a:pPr marL="0" indent="0">
              <a:buNone/>
            </a:pPr>
            <a:r>
              <a:rPr lang="en-US" sz="2400" dirty="0">
                <a:solidFill>
                  <a:srgbClr val="002060"/>
                </a:solidFill>
                <a:latin typeface="Cambria Math" panose="02040503050406030204" pitchFamily="18" charset="0"/>
                <a:ea typeface="Cambria Math" panose="02040503050406030204" pitchFamily="18" charset="0"/>
              </a:rPr>
              <a:t>A permutation of a set of distinct objects is an ordered arrangement of these objects.</a:t>
            </a:r>
          </a:p>
          <a:p>
            <a:pPr marL="0" indent="0">
              <a:buNone/>
            </a:pPr>
            <a:endParaRPr lang="en-US" sz="2400" dirty="0">
              <a:solidFill>
                <a:srgbClr val="002060"/>
              </a:solidFill>
              <a:latin typeface="Cambria Math" panose="02040503050406030204" pitchFamily="18" charset="0"/>
              <a:ea typeface="Cambria Math" panose="02040503050406030204" pitchFamily="18" charset="0"/>
            </a:endParaRPr>
          </a:p>
          <a:p>
            <a:pPr>
              <a:buFont typeface="Wingdings" panose="05000000000000000000" pitchFamily="2" charset="2"/>
              <a:buChar char="ü"/>
            </a:pPr>
            <a:r>
              <a:rPr lang="en-US" sz="2400" dirty="0">
                <a:solidFill>
                  <a:srgbClr val="002060"/>
                </a:solidFill>
                <a:latin typeface="Cambria Math" panose="02040503050406030204" pitchFamily="18" charset="0"/>
                <a:ea typeface="Cambria Math" panose="02040503050406030204" pitchFamily="18" charset="0"/>
              </a:rPr>
              <a:t>We are interested in ordered arrangements of some of the elements of a set. </a:t>
            </a:r>
          </a:p>
          <a:p>
            <a:pPr>
              <a:buFont typeface="Wingdings" panose="05000000000000000000" pitchFamily="2" charset="2"/>
              <a:buChar char="ü"/>
            </a:pPr>
            <a:r>
              <a:rPr lang="en-US" sz="2400" dirty="0">
                <a:solidFill>
                  <a:srgbClr val="002060"/>
                </a:solidFill>
                <a:latin typeface="Cambria Math" panose="02040503050406030204" pitchFamily="18" charset="0"/>
                <a:ea typeface="Cambria Math" panose="02040503050406030204" pitchFamily="18" charset="0"/>
              </a:rPr>
              <a:t>An ordered arrangement of r elements of a set is called an r-permutation. </a:t>
            </a:r>
          </a:p>
          <a:p>
            <a:pPr>
              <a:buFont typeface="Wingdings" panose="05000000000000000000" pitchFamily="2" charset="2"/>
              <a:buChar char="ü"/>
            </a:pPr>
            <a:r>
              <a:rPr lang="en-US" sz="2400" dirty="0">
                <a:solidFill>
                  <a:srgbClr val="002060"/>
                </a:solidFill>
                <a:latin typeface="Cambria Math" panose="02040503050406030204" pitchFamily="18" charset="0"/>
                <a:ea typeface="Cambria Math" panose="02040503050406030204" pitchFamily="18" charset="0"/>
              </a:rPr>
              <a:t>The number of r-permutations of a set with n elements is denoted by P(n, r). We can find P(n, r) using the product rule.</a:t>
            </a:r>
            <a:endParaRPr lang="en-US" sz="2400" dirty="0">
              <a:solidFill>
                <a:srgbClr val="FF0000"/>
              </a:solidFill>
              <a:latin typeface="Cambria Math" panose="02040503050406030204" pitchFamily="18" charset="0"/>
              <a:ea typeface="Cambria Math" panose="02040503050406030204" pitchFamily="18" charset="0"/>
            </a:endParaRPr>
          </a:p>
          <a:p>
            <a:pPr>
              <a:buFont typeface="Wingdings" panose="05000000000000000000" pitchFamily="2" charset="2"/>
              <a:buChar char="ü"/>
            </a:pPr>
            <a:r>
              <a:rPr lang="en-US" sz="2400" dirty="0">
                <a:solidFill>
                  <a:srgbClr val="FF0000"/>
                </a:solidFill>
                <a:latin typeface="Cambria Math" panose="02040503050406030204" pitchFamily="18" charset="0"/>
                <a:ea typeface="Cambria Math" panose="02040503050406030204" pitchFamily="18" charset="0"/>
              </a:rPr>
              <a:t>If n is a positive integer and r is an integer with 1 ≤ r ≤ n, then there are</a:t>
            </a:r>
          </a:p>
          <a:p>
            <a:pPr marL="0" indent="0" algn="ctr">
              <a:buNone/>
            </a:pPr>
            <a:r>
              <a:rPr lang="en-US" sz="2400" dirty="0">
                <a:solidFill>
                  <a:srgbClr val="FF0000"/>
                </a:solidFill>
                <a:latin typeface="Cambria Math" panose="02040503050406030204" pitchFamily="18" charset="0"/>
                <a:ea typeface="Cambria Math" panose="02040503050406030204" pitchFamily="18" charset="0"/>
              </a:rPr>
              <a:t>P(n, r) = n(n − 1)(n − 2) · · · (n − r + 1)</a:t>
            </a:r>
          </a:p>
          <a:p>
            <a:pPr marL="0" indent="0">
              <a:buNone/>
            </a:pPr>
            <a:r>
              <a:rPr lang="en-US" sz="2400" dirty="0">
                <a:solidFill>
                  <a:srgbClr val="FF0000"/>
                </a:solidFill>
                <a:latin typeface="Cambria Math" panose="02040503050406030204" pitchFamily="18" charset="0"/>
                <a:ea typeface="Cambria Math" panose="02040503050406030204" pitchFamily="18" charset="0"/>
              </a:rPr>
              <a:t>r-permutations of a set with n distinct elements.</a:t>
            </a:r>
            <a:endParaRPr lang="en-US" sz="2400" dirty="0">
              <a:solidFill>
                <a:srgbClr val="00206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0206027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456" y="0"/>
            <a:ext cx="10245143" cy="862149"/>
          </a:xfrm>
        </p:spPr>
        <p:txBody>
          <a:bodyPr>
            <a:normAutofit/>
          </a:bodyPr>
          <a:lstStyle/>
          <a:p>
            <a:r>
              <a:rPr lang="en-US" sz="4000" dirty="0">
                <a:latin typeface="Cambria Math" panose="02040503050406030204" pitchFamily="18" charset="0"/>
                <a:ea typeface="Cambria Math" panose="02040503050406030204" pitchFamily="18" charset="0"/>
              </a:rPr>
              <a:t>Permutations</a:t>
            </a:r>
            <a:r>
              <a:rPr lang="en-US" sz="4000" dirty="0">
                <a:solidFill>
                  <a:srgbClr val="0070C0"/>
                </a:solidFill>
                <a:latin typeface="Cambria Math" panose="02040503050406030204" pitchFamily="18" charset="0"/>
                <a:ea typeface="Cambria Math" panose="02040503050406030204" pitchFamily="18" charset="0"/>
              </a:rPr>
              <a:t> … </a:t>
            </a:r>
            <a:r>
              <a:rPr lang="en-US" sz="3600" dirty="0">
                <a:solidFill>
                  <a:srgbClr val="B31591"/>
                </a:solidFill>
                <a:latin typeface="Cambria Math" panose="02040503050406030204" pitchFamily="18" charset="0"/>
                <a:ea typeface="Cambria Math" panose="02040503050406030204" pitchFamily="18" charset="0"/>
              </a:rPr>
              <a:t>Example</a:t>
            </a:r>
            <a:endParaRPr lang="en-US" sz="4000" dirty="0">
              <a:solidFill>
                <a:srgbClr val="B31591"/>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1018903" y="923110"/>
            <a:ext cx="10432868" cy="5812542"/>
          </a:xfrm>
        </p:spPr>
        <p:txBody>
          <a:bodyPr>
            <a:normAutofit/>
          </a:bodyPr>
          <a:lstStyle/>
          <a:p>
            <a:pPr marL="0" indent="0">
              <a:buNone/>
            </a:pPr>
            <a:r>
              <a:rPr lang="en-US" sz="2400" dirty="0">
                <a:solidFill>
                  <a:srgbClr val="002060"/>
                </a:solidFill>
                <a:latin typeface="Cambria Math" panose="02040503050406030204" pitchFamily="18" charset="0"/>
                <a:ea typeface="Cambria Math" panose="02040503050406030204" pitchFamily="18" charset="0"/>
              </a:rPr>
              <a:t>We have to pick a president and a secretary from a group of four candidates. How many different ways we can pick them?</a:t>
            </a:r>
          </a:p>
          <a:p>
            <a:pPr marL="0" indent="0">
              <a:buNone/>
            </a:pPr>
            <a:r>
              <a:rPr lang="en-US" sz="2400" b="1" dirty="0">
                <a:solidFill>
                  <a:srgbClr val="002060"/>
                </a:solidFill>
                <a:latin typeface="Cambria Math" panose="02040503050406030204" pitchFamily="18" charset="0"/>
                <a:ea typeface="Cambria Math" panose="02040503050406030204" pitchFamily="18" charset="0"/>
              </a:rPr>
              <a:t>Solution</a:t>
            </a:r>
            <a:r>
              <a:rPr lang="en-US" sz="2400" dirty="0">
                <a:solidFill>
                  <a:srgbClr val="002060"/>
                </a:solidFill>
                <a:latin typeface="Cambria Math" panose="02040503050406030204" pitchFamily="18" charset="0"/>
                <a:ea typeface="Cambria Math" panose="02040503050406030204" pitchFamily="18" charset="0"/>
              </a:rPr>
              <a:t>:</a:t>
            </a:r>
          </a:p>
          <a:p>
            <a:pPr marL="0" indent="0">
              <a:buNone/>
            </a:pPr>
            <a:r>
              <a:rPr lang="en-US" sz="2400" dirty="0">
                <a:solidFill>
                  <a:srgbClr val="002060"/>
                </a:solidFill>
                <a:latin typeface="Cambria Math" panose="02040503050406030204" pitchFamily="18" charset="0"/>
                <a:ea typeface="Cambria Math" panose="02040503050406030204" pitchFamily="18" charset="0"/>
              </a:rPr>
              <a:t>Group Size = n = 4</a:t>
            </a:r>
          </a:p>
          <a:p>
            <a:pPr marL="0" indent="0">
              <a:buNone/>
            </a:pPr>
            <a:r>
              <a:rPr lang="en-US" sz="2400" dirty="0">
                <a:solidFill>
                  <a:srgbClr val="002060"/>
                </a:solidFill>
                <a:latin typeface="Cambria Math" panose="02040503050406030204" pitchFamily="18" charset="0"/>
                <a:ea typeface="Cambria Math" panose="02040503050406030204" pitchFamily="18" charset="0"/>
              </a:rPr>
              <a:t>To be picked = r = 2</a:t>
            </a:r>
          </a:p>
          <a:p>
            <a:pPr marL="0" indent="0">
              <a:buNone/>
            </a:pPr>
            <a:r>
              <a:rPr lang="en-US" sz="2400" dirty="0">
                <a:solidFill>
                  <a:srgbClr val="002060"/>
                </a:solidFill>
                <a:latin typeface="Cambria Math" panose="02040503050406030204" pitchFamily="18" charset="0"/>
                <a:ea typeface="Cambria Math" panose="02040503050406030204" pitchFamily="18" charset="0"/>
              </a:rPr>
              <a:t>P(4, 2) = n.(n-1).(n-2)…..(n-r+1) = </a:t>
            </a:r>
            <a:r>
              <a:rPr lang="en-US" sz="2400" dirty="0">
                <a:solidFill>
                  <a:srgbClr val="B31591"/>
                </a:solidFill>
                <a:latin typeface="Cambria Math" panose="02040503050406030204" pitchFamily="18" charset="0"/>
                <a:ea typeface="Cambria Math" panose="02040503050406030204" pitchFamily="18" charset="0"/>
              </a:rPr>
              <a:t>4 . 3 = 12</a:t>
            </a:r>
          </a:p>
        </p:txBody>
      </p:sp>
    </p:spTree>
    <p:extLst>
      <p:ext uri="{BB962C8B-B14F-4D97-AF65-F5344CB8AC3E}">
        <p14:creationId xmlns:p14="http://schemas.microsoft.com/office/powerpoint/2010/main" val="11767420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8903" y="0"/>
            <a:ext cx="9496696" cy="862149"/>
          </a:xfrm>
        </p:spPr>
        <p:txBody>
          <a:bodyPr>
            <a:normAutofit/>
          </a:bodyPr>
          <a:lstStyle/>
          <a:p>
            <a:r>
              <a:rPr lang="en-US" sz="4000" dirty="0">
                <a:latin typeface="Cambria Math" panose="02040503050406030204" pitchFamily="18" charset="0"/>
                <a:ea typeface="Cambria Math" panose="02040503050406030204" pitchFamily="18" charset="0"/>
              </a:rPr>
              <a:t>Permutations</a:t>
            </a:r>
            <a:r>
              <a:rPr lang="en-US" sz="4000" dirty="0">
                <a:solidFill>
                  <a:srgbClr val="0070C0"/>
                </a:solidFill>
                <a:latin typeface="Cambria Math" panose="02040503050406030204" pitchFamily="18" charset="0"/>
                <a:ea typeface="Cambria Math" panose="02040503050406030204" pitchFamily="18" charset="0"/>
              </a:rPr>
              <a:t>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solidFill>
                <a:srgbClr val="B31591"/>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1018903" y="923110"/>
            <a:ext cx="10432868" cy="5812542"/>
          </a:xfrm>
        </p:spPr>
        <p:txBody>
          <a:bodyPr>
            <a:normAutofit/>
          </a:bodyPr>
          <a:lstStyle/>
          <a:p>
            <a:pPr marL="457200" indent="-457200" algn="just">
              <a:buFont typeface="+mj-lt"/>
              <a:buAutoNum type="arabicPeriod"/>
            </a:pPr>
            <a:r>
              <a:rPr lang="en-US" sz="2400" dirty="0">
                <a:solidFill>
                  <a:srgbClr val="002060"/>
                </a:solidFill>
                <a:latin typeface="Cambria Math" panose="02040503050406030204" pitchFamily="18" charset="0"/>
                <a:ea typeface="Cambria Math" panose="02040503050406030204" pitchFamily="18" charset="0"/>
              </a:rPr>
              <a:t>How many ways are there to select a first-prize winner, a second-prize winner, and a third-prize winner from 100 different people who have entered a contest?</a:t>
            </a:r>
          </a:p>
          <a:p>
            <a:pPr marL="457200" indent="-457200" algn="just">
              <a:buFont typeface="+mj-lt"/>
              <a:buAutoNum type="arabicPeriod"/>
            </a:pPr>
            <a:r>
              <a:rPr lang="en-US" sz="2400" dirty="0">
                <a:solidFill>
                  <a:srgbClr val="002060"/>
                </a:solidFill>
                <a:latin typeface="Cambria Math" panose="02040503050406030204" pitchFamily="18" charset="0"/>
                <a:ea typeface="Cambria Math" panose="02040503050406030204" pitchFamily="18" charset="0"/>
              </a:rPr>
              <a:t>There are eight runners in a race. The winner receives a gold medal, the second-place finisher receives a silver medal, and the third-place finisher receives a bronze medal. How many different ways are there to award these medals, if all possible outcomes of the race can occur and there are no ties?</a:t>
            </a:r>
          </a:p>
          <a:p>
            <a:pPr marL="457200" indent="-457200" algn="just">
              <a:buFont typeface="+mj-lt"/>
              <a:buAutoNum type="arabicPeriod"/>
            </a:pPr>
            <a:r>
              <a:rPr lang="en-US" sz="2400" dirty="0">
                <a:solidFill>
                  <a:srgbClr val="002060"/>
                </a:solidFill>
                <a:latin typeface="Cambria Math" panose="02040503050406030204" pitchFamily="18" charset="0"/>
                <a:ea typeface="Cambria Math" panose="02040503050406030204" pitchFamily="18" charset="0"/>
              </a:rPr>
              <a:t>A saleswoman has to visit eight different cities. She must begin her trip in a specified city, but she can visit the other seven cities in any order she wishes. How many possible orders can the saleswoman use when visiting these cities?</a:t>
            </a:r>
          </a:p>
          <a:p>
            <a:pPr marL="457200" indent="-457200" algn="just">
              <a:buFont typeface="+mj-lt"/>
              <a:buAutoNum type="arabicPeriod"/>
            </a:pPr>
            <a:r>
              <a:rPr lang="en-US" sz="2400" dirty="0">
                <a:solidFill>
                  <a:srgbClr val="002060"/>
                </a:solidFill>
                <a:latin typeface="Cambria Math" panose="02040503050406030204" pitchFamily="18" charset="0"/>
                <a:ea typeface="Cambria Math" panose="02040503050406030204" pitchFamily="18" charset="0"/>
              </a:rPr>
              <a:t>How many permutations of the letters ABCDEFGH contain the substring ABC?</a:t>
            </a:r>
          </a:p>
        </p:txBody>
      </p:sp>
    </p:spTree>
    <p:extLst>
      <p:ext uri="{BB962C8B-B14F-4D97-AF65-F5344CB8AC3E}">
        <p14:creationId xmlns:p14="http://schemas.microsoft.com/office/powerpoint/2010/main" val="4212394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8903" y="0"/>
            <a:ext cx="9496696" cy="862149"/>
          </a:xfrm>
        </p:spPr>
        <p:txBody>
          <a:bodyPr>
            <a:normAutofit/>
          </a:bodyPr>
          <a:lstStyle/>
          <a:p>
            <a:r>
              <a:rPr lang="en-US" sz="4000" dirty="0">
                <a:latin typeface="Cambria Math" panose="02040503050406030204" pitchFamily="18" charset="0"/>
                <a:ea typeface="Cambria Math" panose="02040503050406030204" pitchFamily="18" charset="0"/>
              </a:rPr>
              <a:t>Permutations</a:t>
            </a:r>
            <a:r>
              <a:rPr lang="en-US" sz="4000" dirty="0">
                <a:solidFill>
                  <a:srgbClr val="0070C0"/>
                </a:solidFill>
                <a:latin typeface="Cambria Math" panose="02040503050406030204" pitchFamily="18" charset="0"/>
                <a:ea typeface="Cambria Math" panose="02040503050406030204" pitchFamily="18" charset="0"/>
              </a:rPr>
              <a:t>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solidFill>
                <a:srgbClr val="B31591"/>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1018903" y="923110"/>
            <a:ext cx="10432868" cy="5812542"/>
          </a:xfrm>
        </p:spPr>
        <p:txBody>
          <a:bodyPr>
            <a:normAutofit lnSpcReduction="10000"/>
          </a:bodyPr>
          <a:lstStyle/>
          <a:p>
            <a:pPr marL="457200" indent="-457200" algn="just">
              <a:buFont typeface="+mj-lt"/>
              <a:buAutoNum type="arabicPeriod"/>
            </a:pPr>
            <a:r>
              <a:rPr lang="en-US" sz="2400" dirty="0">
                <a:solidFill>
                  <a:srgbClr val="002060"/>
                </a:solidFill>
                <a:latin typeface="Cambria Math" panose="02040503050406030204" pitchFamily="18" charset="0"/>
                <a:ea typeface="Cambria Math" panose="02040503050406030204" pitchFamily="18" charset="0"/>
              </a:rPr>
              <a:t>List all permutations of {1, 2, 3, 4}</a:t>
            </a:r>
          </a:p>
          <a:p>
            <a:pPr marL="457200" indent="-457200" algn="just">
              <a:buFont typeface="+mj-lt"/>
              <a:buAutoNum type="arabicPeriod"/>
            </a:pPr>
            <a:r>
              <a:rPr lang="en-US" sz="2400" dirty="0">
                <a:solidFill>
                  <a:srgbClr val="002060"/>
                </a:solidFill>
                <a:latin typeface="Cambria Math" panose="02040503050406030204" pitchFamily="18" charset="0"/>
                <a:ea typeface="Cambria Math" panose="02040503050406030204" pitchFamily="18" charset="0"/>
              </a:rPr>
              <a:t>How many permutations {a, b, c, d, e} end on ‘c’?</a:t>
            </a:r>
          </a:p>
          <a:p>
            <a:pPr marL="457200" indent="-457200" algn="just">
              <a:buFont typeface="+mj-lt"/>
              <a:buAutoNum type="arabicPeriod"/>
            </a:pPr>
            <a:r>
              <a:rPr lang="en-US" sz="2400" dirty="0">
                <a:solidFill>
                  <a:srgbClr val="002060"/>
                </a:solidFill>
                <a:latin typeface="Cambria Math" panose="02040503050406030204" pitchFamily="18" charset="0"/>
                <a:ea typeface="Cambria Math" panose="02040503050406030204" pitchFamily="18" charset="0"/>
              </a:rPr>
              <a:t>List all 3-permutations of {1, 3, 5, 7, 9}.</a:t>
            </a:r>
          </a:p>
          <a:p>
            <a:pPr marL="457200" indent="-457200" algn="just">
              <a:buFont typeface="+mj-lt"/>
              <a:buAutoNum type="arabicPeriod"/>
            </a:pPr>
            <a:r>
              <a:rPr lang="en-US" sz="2400" dirty="0">
                <a:solidFill>
                  <a:srgbClr val="002060"/>
                </a:solidFill>
                <a:latin typeface="Cambria Math" panose="02040503050406030204" pitchFamily="18" charset="0"/>
                <a:ea typeface="Cambria Math" panose="02040503050406030204" pitchFamily="18" charset="0"/>
              </a:rPr>
              <a:t>In how many different orders can five runners finish a race if no ties are allowed?</a:t>
            </a:r>
          </a:p>
          <a:p>
            <a:pPr marL="457200" indent="-457200" algn="just">
              <a:buFont typeface="+mj-lt"/>
              <a:buAutoNum type="arabicPeriod"/>
            </a:pPr>
            <a:r>
              <a:rPr lang="en-US" sz="2400" dirty="0">
                <a:solidFill>
                  <a:srgbClr val="002060"/>
                </a:solidFill>
                <a:latin typeface="Cambria Math" panose="02040503050406030204" pitchFamily="18" charset="0"/>
                <a:ea typeface="Cambria Math" panose="02040503050406030204" pitchFamily="18" charset="0"/>
              </a:rPr>
              <a:t>How many possibilities are there for the win, place, and show (first, second, and third) positions in a horse race with 12 horses if all orders of finish are possible (no ties)?</a:t>
            </a:r>
          </a:p>
          <a:p>
            <a:pPr marL="457200" indent="-457200" algn="just">
              <a:buFont typeface="+mj-lt"/>
              <a:buAutoNum type="arabicPeriod"/>
            </a:pPr>
            <a:r>
              <a:rPr lang="en-US" sz="2400" dirty="0">
                <a:solidFill>
                  <a:srgbClr val="002060"/>
                </a:solidFill>
                <a:latin typeface="Cambria Math" panose="02040503050406030204" pitchFamily="18" charset="0"/>
                <a:ea typeface="Cambria Math" panose="02040503050406030204" pitchFamily="18" charset="0"/>
              </a:rPr>
              <a:t>There are six different candidates for governor of a state. In how many different orders can the names of the candidates be printed on a ballot?</a:t>
            </a:r>
          </a:p>
          <a:p>
            <a:pPr marL="457200" indent="-457200" algn="just">
              <a:buFont typeface="+mj-lt"/>
              <a:buAutoNum type="arabicPeriod"/>
            </a:pPr>
            <a:r>
              <a:rPr lang="en-US" sz="2400" dirty="0">
                <a:solidFill>
                  <a:srgbClr val="002060"/>
                </a:solidFill>
                <a:latin typeface="Cambria Math" panose="02040503050406030204" pitchFamily="18" charset="0"/>
                <a:ea typeface="Cambria Math" panose="02040503050406030204" pitchFamily="18" charset="0"/>
              </a:rPr>
              <a:t>How many bit strings of length 10 contain</a:t>
            </a:r>
          </a:p>
          <a:p>
            <a:pPr marL="914400" lvl="1" indent="-457200" algn="just">
              <a:buFont typeface="+mj-lt"/>
              <a:buAutoNum type="alphaLcParenR"/>
            </a:pPr>
            <a:r>
              <a:rPr lang="en-US" sz="2000" dirty="0">
                <a:solidFill>
                  <a:srgbClr val="B31591"/>
                </a:solidFill>
                <a:latin typeface="Cambria Math" panose="02040503050406030204" pitchFamily="18" charset="0"/>
                <a:ea typeface="Cambria Math" panose="02040503050406030204" pitchFamily="18" charset="0"/>
              </a:rPr>
              <a:t>exactly four 1s?</a:t>
            </a:r>
          </a:p>
          <a:p>
            <a:pPr marL="914400" lvl="1" indent="-457200" algn="just">
              <a:buFont typeface="+mj-lt"/>
              <a:buAutoNum type="alphaLcParenR"/>
            </a:pPr>
            <a:r>
              <a:rPr lang="en-US" sz="2000" dirty="0">
                <a:solidFill>
                  <a:srgbClr val="B31591"/>
                </a:solidFill>
                <a:latin typeface="Cambria Math" panose="02040503050406030204" pitchFamily="18" charset="0"/>
                <a:ea typeface="Cambria Math" panose="02040503050406030204" pitchFamily="18" charset="0"/>
              </a:rPr>
              <a:t>at most four 1s?</a:t>
            </a:r>
          </a:p>
          <a:p>
            <a:pPr marL="914400" lvl="1" indent="-457200" algn="just">
              <a:buFont typeface="+mj-lt"/>
              <a:buAutoNum type="alphaLcParenR"/>
            </a:pPr>
            <a:r>
              <a:rPr lang="en-US" sz="2000" dirty="0">
                <a:solidFill>
                  <a:srgbClr val="B31591"/>
                </a:solidFill>
                <a:latin typeface="Cambria Math" panose="02040503050406030204" pitchFamily="18" charset="0"/>
                <a:ea typeface="Cambria Math" panose="02040503050406030204" pitchFamily="18" charset="0"/>
              </a:rPr>
              <a:t>at least four 1s?</a:t>
            </a:r>
          </a:p>
          <a:p>
            <a:pPr marL="914400" lvl="1" indent="-457200" algn="just">
              <a:buFont typeface="+mj-lt"/>
              <a:buAutoNum type="alphaLcParenR"/>
            </a:pPr>
            <a:r>
              <a:rPr lang="en-US" sz="2000" dirty="0">
                <a:solidFill>
                  <a:srgbClr val="B31591"/>
                </a:solidFill>
                <a:latin typeface="Cambria Math" panose="02040503050406030204" pitchFamily="18" charset="0"/>
                <a:ea typeface="Cambria Math" panose="02040503050406030204" pitchFamily="18" charset="0"/>
              </a:rPr>
              <a:t>an equal number of 0s and 1s?</a:t>
            </a:r>
          </a:p>
        </p:txBody>
      </p:sp>
    </p:spTree>
    <p:extLst>
      <p:ext uri="{BB962C8B-B14F-4D97-AF65-F5344CB8AC3E}">
        <p14:creationId xmlns:p14="http://schemas.microsoft.com/office/powerpoint/2010/main" val="34665902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5248" y="0"/>
            <a:ext cx="9700351" cy="862149"/>
          </a:xfrm>
        </p:spPr>
        <p:txBody>
          <a:bodyPr>
            <a:normAutofit/>
          </a:bodyPr>
          <a:lstStyle/>
          <a:p>
            <a:r>
              <a:rPr lang="en-US" sz="4000" dirty="0">
                <a:latin typeface="Cambria Math" panose="02040503050406030204" pitchFamily="18" charset="0"/>
                <a:ea typeface="Cambria Math" panose="02040503050406030204" pitchFamily="18" charset="0"/>
              </a:rPr>
              <a:t>Permutations</a:t>
            </a:r>
            <a:r>
              <a:rPr lang="en-US" sz="4000" dirty="0">
                <a:solidFill>
                  <a:srgbClr val="0070C0"/>
                </a:solidFill>
                <a:latin typeface="Cambria Math" panose="02040503050406030204" pitchFamily="18" charset="0"/>
                <a:ea typeface="Cambria Math" panose="02040503050406030204" pitchFamily="18" charset="0"/>
              </a:rPr>
              <a:t>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solidFill>
                <a:srgbClr val="B31591"/>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815248" y="740229"/>
            <a:ext cx="10939749" cy="5995423"/>
          </a:xfrm>
        </p:spPr>
        <p:txBody>
          <a:bodyPr>
            <a:normAutofit/>
          </a:bodyPr>
          <a:lstStyle/>
          <a:p>
            <a:pPr marL="457200" indent="-457200" algn="just">
              <a:buFont typeface="+mj-lt"/>
              <a:buAutoNum type="arabicPeriod"/>
            </a:pPr>
            <a:r>
              <a:rPr lang="en-US" sz="2200" dirty="0">
                <a:solidFill>
                  <a:srgbClr val="002060"/>
                </a:solidFill>
                <a:latin typeface="Cambria Math" panose="02040503050406030204" pitchFamily="18" charset="0"/>
                <a:ea typeface="Cambria Math" panose="02040503050406030204" pitchFamily="18" charset="0"/>
              </a:rPr>
              <a:t>A group contains n men and n women. How many ways are there to arrange these people in a row if the men and women alternate?</a:t>
            </a:r>
          </a:p>
          <a:p>
            <a:pPr marL="457200" indent="-457200" algn="just">
              <a:buFont typeface="+mj-lt"/>
              <a:buAutoNum type="arabicPeriod"/>
            </a:pPr>
            <a:r>
              <a:rPr lang="en-US" sz="2200" dirty="0">
                <a:solidFill>
                  <a:srgbClr val="002060"/>
                </a:solidFill>
                <a:latin typeface="Cambria Math" panose="02040503050406030204" pitchFamily="18" charset="0"/>
                <a:ea typeface="Cambria Math" panose="02040503050406030204" pitchFamily="18" charset="0"/>
              </a:rPr>
              <a:t>In how many ways can a set of two positive integers less than 100 be chosen?</a:t>
            </a:r>
          </a:p>
          <a:p>
            <a:pPr marL="457200" indent="-457200" algn="just">
              <a:buFont typeface="+mj-lt"/>
              <a:buAutoNum type="arabicPeriod"/>
            </a:pPr>
            <a:r>
              <a:rPr lang="en-US" sz="2200" dirty="0">
                <a:solidFill>
                  <a:srgbClr val="002060"/>
                </a:solidFill>
                <a:latin typeface="Cambria Math" panose="02040503050406030204" pitchFamily="18" charset="0"/>
                <a:ea typeface="Cambria Math" panose="02040503050406030204" pitchFamily="18" charset="0"/>
              </a:rPr>
              <a:t>In how many ways can a set of five letters be selected from the English alphabet?</a:t>
            </a:r>
          </a:p>
          <a:p>
            <a:pPr marL="457200" indent="-457200" algn="just">
              <a:buFont typeface="+mj-lt"/>
              <a:buAutoNum type="arabicPeriod"/>
            </a:pPr>
            <a:r>
              <a:rPr lang="en-US" sz="2200" dirty="0">
                <a:solidFill>
                  <a:srgbClr val="002060"/>
                </a:solidFill>
                <a:latin typeface="Cambria Math" panose="02040503050406030204" pitchFamily="18" charset="0"/>
                <a:ea typeface="Cambria Math" panose="02040503050406030204" pitchFamily="18" charset="0"/>
              </a:rPr>
              <a:t>A coin is flipped eight times where each flip comes up either heads or tails. How many possible outcomes</a:t>
            </a:r>
          </a:p>
          <a:p>
            <a:pPr marL="914400" lvl="1" indent="-457200" algn="just">
              <a:buFont typeface="+mj-lt"/>
              <a:buAutoNum type="alphaLcParenR"/>
            </a:pPr>
            <a:r>
              <a:rPr lang="en-US" sz="1800" dirty="0">
                <a:solidFill>
                  <a:srgbClr val="B31591"/>
                </a:solidFill>
                <a:latin typeface="Cambria Math" panose="02040503050406030204" pitchFamily="18" charset="0"/>
                <a:ea typeface="Cambria Math" panose="02040503050406030204" pitchFamily="18" charset="0"/>
              </a:rPr>
              <a:t>are there in total?</a:t>
            </a:r>
          </a:p>
          <a:p>
            <a:pPr marL="914400" lvl="1" indent="-457200" algn="just">
              <a:buFont typeface="+mj-lt"/>
              <a:buAutoNum type="alphaLcParenR"/>
            </a:pPr>
            <a:r>
              <a:rPr lang="en-US" sz="1800" dirty="0">
                <a:solidFill>
                  <a:srgbClr val="B31591"/>
                </a:solidFill>
                <a:latin typeface="Cambria Math" panose="02040503050406030204" pitchFamily="18" charset="0"/>
                <a:ea typeface="Cambria Math" panose="02040503050406030204" pitchFamily="18" charset="0"/>
              </a:rPr>
              <a:t>contain exactly three heads?</a:t>
            </a:r>
          </a:p>
          <a:p>
            <a:pPr marL="914400" lvl="1" indent="-457200" algn="just">
              <a:buFont typeface="+mj-lt"/>
              <a:buAutoNum type="alphaLcParenR"/>
            </a:pPr>
            <a:r>
              <a:rPr lang="en-US" sz="1800" dirty="0">
                <a:solidFill>
                  <a:srgbClr val="B31591"/>
                </a:solidFill>
                <a:latin typeface="Cambria Math" panose="02040503050406030204" pitchFamily="18" charset="0"/>
                <a:ea typeface="Cambria Math" panose="02040503050406030204" pitchFamily="18" charset="0"/>
              </a:rPr>
              <a:t>contain at least three heads?</a:t>
            </a:r>
          </a:p>
          <a:p>
            <a:pPr marL="914400" lvl="1" indent="-457200" algn="just">
              <a:buFont typeface="+mj-lt"/>
              <a:buAutoNum type="alphaLcParenR"/>
            </a:pPr>
            <a:r>
              <a:rPr lang="en-US" sz="1800" dirty="0">
                <a:solidFill>
                  <a:srgbClr val="B31591"/>
                </a:solidFill>
                <a:latin typeface="Cambria Math" panose="02040503050406030204" pitchFamily="18" charset="0"/>
                <a:ea typeface="Cambria Math" panose="02040503050406030204" pitchFamily="18" charset="0"/>
              </a:rPr>
              <a:t>contain the same number of heads and tails?</a:t>
            </a:r>
          </a:p>
          <a:p>
            <a:pPr marL="457200" indent="-457200" algn="just">
              <a:lnSpc>
                <a:spcPct val="100000"/>
              </a:lnSpc>
              <a:buFont typeface="+mj-lt"/>
              <a:buAutoNum type="arabicPeriod"/>
            </a:pPr>
            <a:r>
              <a:rPr lang="en-US" sz="2200" dirty="0">
                <a:solidFill>
                  <a:srgbClr val="002060"/>
                </a:solidFill>
                <a:latin typeface="Cambria Math" panose="02040503050406030204" pitchFamily="18" charset="0"/>
                <a:ea typeface="Cambria Math" panose="02040503050406030204" pitchFamily="18" charset="0"/>
              </a:rPr>
              <a:t>How many permutations of the letters ABCDEFG contain</a:t>
            </a:r>
          </a:p>
          <a:p>
            <a:pPr marL="914400" lvl="1" indent="-457200" algn="just">
              <a:buFont typeface="+mj-lt"/>
              <a:buAutoNum type="alphaLcParenR"/>
            </a:pPr>
            <a:r>
              <a:rPr lang="en-US" sz="1800" dirty="0">
                <a:solidFill>
                  <a:srgbClr val="B31591"/>
                </a:solidFill>
                <a:latin typeface="Cambria Math" panose="02040503050406030204" pitchFamily="18" charset="0"/>
                <a:ea typeface="Cambria Math" panose="02040503050406030204" pitchFamily="18" charset="0"/>
              </a:rPr>
              <a:t>the string BCD?</a:t>
            </a:r>
          </a:p>
          <a:p>
            <a:pPr marL="914400" lvl="1" indent="-457200" algn="just">
              <a:buFont typeface="+mj-lt"/>
              <a:buAutoNum type="alphaLcParenR"/>
            </a:pPr>
            <a:r>
              <a:rPr lang="en-US" sz="1800" dirty="0">
                <a:solidFill>
                  <a:srgbClr val="B31591"/>
                </a:solidFill>
                <a:latin typeface="Cambria Math" panose="02040503050406030204" pitchFamily="18" charset="0"/>
                <a:ea typeface="Cambria Math" panose="02040503050406030204" pitchFamily="18" charset="0"/>
              </a:rPr>
              <a:t>the string CFGA?</a:t>
            </a:r>
          </a:p>
          <a:p>
            <a:pPr marL="914400" lvl="1" indent="-457200" algn="just">
              <a:buFont typeface="+mj-lt"/>
              <a:buAutoNum type="alphaLcParenR"/>
            </a:pPr>
            <a:r>
              <a:rPr lang="en-US" sz="1800" dirty="0">
                <a:solidFill>
                  <a:srgbClr val="B31591"/>
                </a:solidFill>
                <a:latin typeface="Cambria Math" panose="02040503050406030204" pitchFamily="18" charset="0"/>
                <a:ea typeface="Cambria Math" panose="02040503050406030204" pitchFamily="18" charset="0"/>
              </a:rPr>
              <a:t>the strings BA and GF?</a:t>
            </a:r>
          </a:p>
          <a:p>
            <a:pPr marL="914400" lvl="1" indent="-457200" algn="just">
              <a:buFont typeface="+mj-lt"/>
              <a:buAutoNum type="alphaLcParenR"/>
            </a:pPr>
            <a:r>
              <a:rPr lang="en-US" sz="1800" dirty="0">
                <a:solidFill>
                  <a:srgbClr val="B31591"/>
                </a:solidFill>
                <a:latin typeface="Cambria Math" panose="02040503050406030204" pitchFamily="18" charset="0"/>
                <a:ea typeface="Cambria Math" panose="02040503050406030204" pitchFamily="18" charset="0"/>
              </a:rPr>
              <a:t>the strings ABC and DE?</a:t>
            </a:r>
          </a:p>
          <a:p>
            <a:pPr marL="914400" lvl="1" indent="-457200" algn="just">
              <a:buFont typeface="+mj-lt"/>
              <a:buAutoNum type="alphaLcParenR"/>
            </a:pPr>
            <a:r>
              <a:rPr lang="en-US" sz="1800" dirty="0">
                <a:solidFill>
                  <a:srgbClr val="B31591"/>
                </a:solidFill>
                <a:latin typeface="Cambria Math" panose="02040503050406030204" pitchFamily="18" charset="0"/>
                <a:ea typeface="Cambria Math" panose="02040503050406030204" pitchFamily="18" charset="0"/>
              </a:rPr>
              <a:t>the strings ABC and CDE?</a:t>
            </a:r>
          </a:p>
          <a:p>
            <a:pPr marL="914400" lvl="1" indent="-457200" algn="just">
              <a:buFont typeface="+mj-lt"/>
              <a:buAutoNum type="alphaLcParenR"/>
            </a:pPr>
            <a:r>
              <a:rPr lang="en-US" sz="1800" dirty="0">
                <a:solidFill>
                  <a:srgbClr val="B31591"/>
                </a:solidFill>
                <a:latin typeface="Cambria Math" panose="02040503050406030204" pitchFamily="18" charset="0"/>
                <a:ea typeface="Cambria Math" panose="02040503050406030204" pitchFamily="18" charset="0"/>
              </a:rPr>
              <a:t>the strings CBA and BED?</a:t>
            </a:r>
            <a:endParaRPr lang="en-US" sz="1600" dirty="0">
              <a:solidFill>
                <a:srgbClr val="B3159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6967675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2BE9D-DA66-D1FA-BE3E-538A74631D2E}"/>
              </a:ext>
            </a:extLst>
          </p:cNvPr>
          <p:cNvSpPr>
            <a:spLocks noGrp="1"/>
          </p:cNvSpPr>
          <p:nvPr>
            <p:ph type="title"/>
          </p:nvPr>
        </p:nvSpPr>
        <p:spPr>
          <a:xfrm>
            <a:off x="833681" y="0"/>
            <a:ext cx="10425228" cy="870266"/>
          </a:xfrm>
        </p:spPr>
        <p:txBody>
          <a:bodyPr/>
          <a:lstStyle/>
          <a:p>
            <a:r>
              <a:rPr lang="en-US" sz="4000" dirty="0">
                <a:latin typeface="Cambria Math" panose="02040503050406030204" pitchFamily="18" charset="0"/>
                <a:ea typeface="Cambria Math" panose="02040503050406030204" pitchFamily="18" charset="0"/>
              </a:rPr>
              <a:t>Permutations with Repetitions</a:t>
            </a:r>
          </a:p>
        </p:txBody>
      </p:sp>
      <p:sp>
        <p:nvSpPr>
          <p:cNvPr id="3" name="Content Placeholder 2">
            <a:extLst>
              <a:ext uri="{FF2B5EF4-FFF2-40B4-BE49-F238E27FC236}">
                <a16:creationId xmlns:a16="http://schemas.microsoft.com/office/drawing/2014/main" id="{EBF5DEBD-EEA3-8568-5C1A-EAF555CF4AB7}"/>
              </a:ext>
            </a:extLst>
          </p:cNvPr>
          <p:cNvSpPr txBox="1">
            <a:spLocks/>
          </p:cNvSpPr>
          <p:nvPr/>
        </p:nvSpPr>
        <p:spPr>
          <a:xfrm>
            <a:off x="833681" y="1130060"/>
            <a:ext cx="10618090" cy="10955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rgbClr val="002060"/>
                </a:solidFill>
                <a:latin typeface="Cambria Math" panose="02040503050406030204" pitchFamily="18" charset="0"/>
                <a:ea typeface="Cambria Math" panose="02040503050406030204" pitchFamily="18" charset="0"/>
              </a:rPr>
              <a:t>The number of r-permutations of a set of n objects with repetition allowed is </a:t>
            </a:r>
            <a:r>
              <a:rPr lang="en-US" sz="2400" b="1" dirty="0">
                <a:solidFill>
                  <a:srgbClr val="B31591"/>
                </a:solidFill>
                <a:latin typeface="Cambria Math" panose="02040503050406030204" pitchFamily="18" charset="0"/>
                <a:ea typeface="Cambria Math" panose="02040503050406030204" pitchFamily="18" charset="0"/>
              </a:rPr>
              <a:t>n</a:t>
            </a:r>
            <a:r>
              <a:rPr lang="en-US" sz="2400" b="1" baseline="30000" dirty="0">
                <a:solidFill>
                  <a:srgbClr val="B31591"/>
                </a:solidFill>
                <a:latin typeface="Cambria Math" panose="02040503050406030204" pitchFamily="18" charset="0"/>
                <a:ea typeface="Cambria Math" panose="02040503050406030204" pitchFamily="18" charset="0"/>
              </a:rPr>
              <a:t>r</a:t>
            </a:r>
            <a:r>
              <a:rPr lang="en-US" sz="2400" dirty="0">
                <a:solidFill>
                  <a:srgbClr val="002060"/>
                </a:solidFill>
                <a:latin typeface="Cambria Math" panose="02040503050406030204" pitchFamily="18" charset="0"/>
                <a:ea typeface="Cambria Math" panose="02040503050406030204" pitchFamily="18" charset="0"/>
              </a:rPr>
              <a:t>.</a:t>
            </a:r>
            <a:endParaRPr lang="en-US" sz="2400" dirty="0">
              <a:solidFill>
                <a:srgbClr val="B3159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0339290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2BE9D-DA66-D1FA-BE3E-538A74631D2E}"/>
              </a:ext>
            </a:extLst>
          </p:cNvPr>
          <p:cNvSpPr>
            <a:spLocks noGrp="1"/>
          </p:cNvSpPr>
          <p:nvPr>
            <p:ph type="title"/>
          </p:nvPr>
        </p:nvSpPr>
        <p:spPr>
          <a:xfrm>
            <a:off x="743309" y="0"/>
            <a:ext cx="10515600" cy="870266"/>
          </a:xfrm>
        </p:spPr>
        <p:txBody>
          <a:bodyPr/>
          <a:lstStyle/>
          <a:p>
            <a:r>
              <a:rPr lang="en-US" sz="4000" dirty="0">
                <a:latin typeface="Cambria Math" panose="02040503050406030204" pitchFamily="18" charset="0"/>
                <a:ea typeface="Cambria Math" panose="02040503050406030204" pitchFamily="18" charset="0"/>
              </a:rPr>
              <a:t>Permutations with Repetitions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solidFill>
                <a:srgbClr val="B31591"/>
              </a:solidFill>
              <a:latin typeface="Cambria Math" panose="02040503050406030204" pitchFamily="18" charset="0"/>
              <a:ea typeface="Cambria Math" panose="02040503050406030204" pitchFamily="18" charset="0"/>
            </a:endParaRPr>
          </a:p>
        </p:txBody>
      </p:sp>
      <p:sp>
        <p:nvSpPr>
          <p:cNvPr id="5" name="Content Placeholder 4">
            <a:extLst>
              <a:ext uri="{FF2B5EF4-FFF2-40B4-BE49-F238E27FC236}">
                <a16:creationId xmlns:a16="http://schemas.microsoft.com/office/drawing/2014/main" id="{5F161019-E3FA-DDC3-6653-60CB367CCF79}"/>
              </a:ext>
            </a:extLst>
          </p:cNvPr>
          <p:cNvSpPr>
            <a:spLocks noGrp="1"/>
          </p:cNvSpPr>
          <p:nvPr>
            <p:ph idx="1"/>
          </p:nvPr>
        </p:nvSpPr>
        <p:spPr>
          <a:xfrm>
            <a:off x="838200" y="931654"/>
            <a:ext cx="10515600" cy="5245310"/>
          </a:xfrm>
        </p:spPr>
        <p:txBody>
          <a:bodyPr>
            <a:normAutofit/>
          </a:bodyPr>
          <a:lstStyle/>
          <a:p>
            <a:pPr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How many strings of length r can be formed using letters A – Z?</a:t>
            </a:r>
          </a:p>
          <a:p>
            <a:pPr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How many ways can we pick 5 fruits from four fruit baskets containing apples, bananas, mangoes and peaches respectively? Each basket contains 10 fruits.</a:t>
            </a:r>
          </a:p>
          <a:p>
            <a:pPr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How many ways can we pick five bills of Rs. 50, Rs. 100, Rs. 500, Rs. 1000 and Rs. 5000? Given that we have more than five currency notes of very denomination. </a:t>
            </a:r>
          </a:p>
        </p:txBody>
      </p:sp>
    </p:spTree>
    <p:extLst>
      <p:ext uri="{BB962C8B-B14F-4D97-AF65-F5344CB8AC3E}">
        <p14:creationId xmlns:p14="http://schemas.microsoft.com/office/powerpoint/2010/main" val="3845677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354" y="1"/>
            <a:ext cx="9749245" cy="949234"/>
          </a:xfrm>
        </p:spPr>
        <p:txBody>
          <a:bodyPr>
            <a:normAutofit/>
          </a:bodyPr>
          <a:lstStyle/>
          <a:p>
            <a:r>
              <a:rPr lang="en-US" sz="4000" dirty="0">
                <a:solidFill>
                  <a:srgbClr val="0070C0"/>
                </a:solidFill>
                <a:latin typeface="Cambria Math" panose="02040503050406030204" pitchFamily="18" charset="0"/>
                <a:ea typeface="Cambria Math" panose="02040503050406030204" pitchFamily="18" charset="0"/>
              </a:rPr>
              <a:t>Combinations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70857" y="1121434"/>
                <a:ext cx="10820400" cy="5614217"/>
              </a:xfrm>
            </p:spPr>
            <p:txBody>
              <a:bodyPr>
                <a:normAutofit/>
              </a:bodyPr>
              <a:lstStyle/>
              <a:p>
                <a:pPr marL="0" indent="0">
                  <a:buNone/>
                </a:pPr>
                <a:r>
                  <a:rPr lang="en-US" dirty="0">
                    <a:solidFill>
                      <a:srgbClr val="002060"/>
                    </a:solidFill>
                    <a:latin typeface="Cambria Math" panose="02040503050406030204" pitchFamily="18" charset="0"/>
                    <a:ea typeface="Cambria Math" panose="02040503050406030204" pitchFamily="18" charset="0"/>
                  </a:rPr>
                  <a:t>When we choose k objects out of n, in how many ways we can choose?</a:t>
                </a:r>
              </a:p>
              <a:p>
                <a:pPr marL="0" indent="0">
                  <a:buNone/>
                </a:pPr>
                <a:endParaRPr lang="en-US" dirty="0">
                  <a:solidFill>
                    <a:srgbClr val="002060"/>
                  </a:solidFill>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ctrlPr>
                            <a:rPr lang="en-US" b="0" i="1" smtClean="0">
                              <a:solidFill>
                                <a:srgbClr val="002060"/>
                              </a:solidFill>
                              <a:latin typeface="Cambria Math" panose="02040503050406030204" pitchFamily="18" charset="0"/>
                              <a:ea typeface="Cambria Math" panose="02040503050406030204" pitchFamily="18" charset="0"/>
                            </a:rPr>
                          </m:ctrlPr>
                        </m:dPr>
                        <m:e>
                          <m:eqArr>
                            <m:eqArrPr>
                              <m:ctrlPr>
                                <a:rPr lang="en-US" b="0" i="1" smtClean="0">
                                  <a:solidFill>
                                    <a:srgbClr val="002060"/>
                                  </a:solidFill>
                                  <a:latin typeface="Cambria Math" panose="02040503050406030204" pitchFamily="18" charset="0"/>
                                  <a:ea typeface="Cambria Math" panose="02040503050406030204" pitchFamily="18" charset="0"/>
                                </a:rPr>
                              </m:ctrlPr>
                            </m:eqArrPr>
                            <m:e>
                              <m:r>
                                <a:rPr lang="en-US" b="0" i="1" smtClean="0">
                                  <a:solidFill>
                                    <a:srgbClr val="002060"/>
                                  </a:solidFill>
                                  <a:latin typeface="Cambria Math" panose="02040503050406030204" pitchFamily="18" charset="0"/>
                                  <a:ea typeface="Cambria Math" panose="02040503050406030204" pitchFamily="18" charset="0"/>
                                </a:rPr>
                                <m:t>𝑛</m:t>
                              </m:r>
                            </m:e>
                            <m:e>
                              <m:r>
                                <a:rPr lang="en-US" b="0" i="1" smtClean="0">
                                  <a:solidFill>
                                    <a:srgbClr val="002060"/>
                                  </a:solidFill>
                                  <a:latin typeface="Cambria Math" panose="02040503050406030204" pitchFamily="18" charset="0"/>
                                  <a:ea typeface="Cambria Math" panose="02040503050406030204" pitchFamily="18" charset="0"/>
                                </a:rPr>
                                <m:t>𝑘</m:t>
                              </m:r>
                            </m:e>
                          </m:eqArr>
                        </m:e>
                      </m:d>
                      <m:r>
                        <a:rPr lang="en-US" b="0" i="1" smtClean="0">
                          <a:solidFill>
                            <a:srgbClr val="002060"/>
                          </a:solidFill>
                          <a:latin typeface="Cambria Math" panose="02040503050406030204" pitchFamily="18" charset="0"/>
                          <a:ea typeface="Cambria Math" panose="02040503050406030204" pitchFamily="18" charset="0"/>
                        </a:rPr>
                        <m:t>=</m:t>
                      </m:r>
                      <m:f>
                        <m:fPr>
                          <m:ctrlPr>
                            <a:rPr lang="en-US" b="0" i="1" smtClean="0">
                              <a:solidFill>
                                <a:srgbClr val="002060"/>
                              </a:solidFill>
                              <a:latin typeface="Cambria Math" panose="02040503050406030204" pitchFamily="18" charset="0"/>
                              <a:ea typeface="Cambria Math" panose="02040503050406030204" pitchFamily="18" charset="0"/>
                            </a:rPr>
                          </m:ctrlPr>
                        </m:fPr>
                        <m:num>
                          <m:r>
                            <a:rPr lang="en-US" b="0" i="1" smtClean="0">
                              <a:solidFill>
                                <a:srgbClr val="002060"/>
                              </a:solidFill>
                              <a:latin typeface="Cambria Math" panose="02040503050406030204" pitchFamily="18" charset="0"/>
                              <a:ea typeface="Cambria Math" panose="02040503050406030204" pitchFamily="18" charset="0"/>
                            </a:rPr>
                            <m:t>𝑛</m:t>
                          </m:r>
                          <m:r>
                            <a:rPr lang="en-US" b="0" i="1" smtClean="0">
                              <a:solidFill>
                                <a:srgbClr val="002060"/>
                              </a:solidFill>
                              <a:latin typeface="Cambria Math" panose="02040503050406030204" pitchFamily="18" charset="0"/>
                              <a:ea typeface="Cambria Math" panose="02040503050406030204" pitchFamily="18" charset="0"/>
                            </a:rPr>
                            <m:t>!</m:t>
                          </m:r>
                        </m:num>
                        <m:den>
                          <m:r>
                            <a:rPr lang="en-US" b="0" i="1" smtClean="0">
                              <a:solidFill>
                                <a:srgbClr val="002060"/>
                              </a:solidFill>
                              <a:latin typeface="Cambria Math" panose="02040503050406030204" pitchFamily="18" charset="0"/>
                              <a:ea typeface="Cambria Math" panose="02040503050406030204" pitchFamily="18" charset="0"/>
                            </a:rPr>
                            <m:t>𝑘</m:t>
                          </m:r>
                          <m:r>
                            <a:rPr lang="en-US" b="0" i="1" smtClean="0">
                              <a:solidFill>
                                <a:srgbClr val="002060"/>
                              </a:solidFill>
                              <a:latin typeface="Cambria Math" panose="02040503050406030204" pitchFamily="18" charset="0"/>
                              <a:ea typeface="Cambria Math" panose="02040503050406030204" pitchFamily="18" charset="0"/>
                            </a:rPr>
                            <m:t>!</m:t>
                          </m:r>
                          <m:d>
                            <m:dPr>
                              <m:ctrlPr>
                                <a:rPr lang="en-US" b="0" i="1" smtClean="0">
                                  <a:solidFill>
                                    <a:srgbClr val="002060"/>
                                  </a:solidFill>
                                  <a:latin typeface="Cambria Math" panose="02040503050406030204" pitchFamily="18" charset="0"/>
                                  <a:ea typeface="Cambria Math" panose="02040503050406030204" pitchFamily="18" charset="0"/>
                                </a:rPr>
                              </m:ctrlPr>
                            </m:dPr>
                            <m:e>
                              <m:r>
                                <a:rPr lang="en-US" b="0" i="1" smtClean="0">
                                  <a:solidFill>
                                    <a:srgbClr val="002060"/>
                                  </a:solidFill>
                                  <a:latin typeface="Cambria Math" panose="02040503050406030204" pitchFamily="18" charset="0"/>
                                  <a:ea typeface="Cambria Math" panose="02040503050406030204" pitchFamily="18" charset="0"/>
                                </a:rPr>
                                <m:t>𝑛</m:t>
                              </m:r>
                              <m:r>
                                <a:rPr lang="en-US" b="0" i="1" smtClean="0">
                                  <a:solidFill>
                                    <a:srgbClr val="002060"/>
                                  </a:solidFill>
                                  <a:latin typeface="Cambria Math" panose="02040503050406030204" pitchFamily="18" charset="0"/>
                                  <a:ea typeface="Cambria Math" panose="02040503050406030204" pitchFamily="18" charset="0"/>
                                </a:rPr>
                                <m:t>−</m:t>
                              </m:r>
                              <m:r>
                                <a:rPr lang="en-US" b="0" i="1" smtClean="0">
                                  <a:solidFill>
                                    <a:srgbClr val="002060"/>
                                  </a:solidFill>
                                  <a:latin typeface="Cambria Math" panose="02040503050406030204" pitchFamily="18" charset="0"/>
                                  <a:ea typeface="Cambria Math" panose="02040503050406030204" pitchFamily="18" charset="0"/>
                                </a:rPr>
                                <m:t>𝑘</m:t>
                              </m:r>
                            </m:e>
                          </m:d>
                          <m:r>
                            <a:rPr lang="en-US" b="0" i="1" smtClean="0">
                              <a:solidFill>
                                <a:srgbClr val="002060"/>
                              </a:solidFill>
                              <a:latin typeface="Cambria Math" panose="02040503050406030204" pitchFamily="18" charset="0"/>
                              <a:ea typeface="Cambria Math" panose="02040503050406030204" pitchFamily="18" charset="0"/>
                            </a:rPr>
                            <m:t>!</m:t>
                          </m:r>
                        </m:den>
                      </m:f>
                    </m:oMath>
                  </m:oMathPara>
                </a14:m>
                <a:endParaRPr lang="en-US" dirty="0">
                  <a:solidFill>
                    <a:srgbClr val="002060"/>
                  </a:solidFill>
                  <a:latin typeface="Cambria Math" panose="02040503050406030204" pitchFamily="18" charset="0"/>
                  <a:ea typeface="Cambria Math" panose="02040503050406030204" pitchFamily="18" charset="0"/>
                </a:endParaRPr>
              </a:p>
              <a:p>
                <a:pPr marL="0" indent="0">
                  <a:buNone/>
                </a:pPr>
                <a:endParaRPr lang="en-US" dirty="0">
                  <a:solidFill>
                    <a:srgbClr val="FF0000"/>
                  </a:solidFill>
                  <a:latin typeface="Cambria Math" panose="02040503050406030204" pitchFamily="18" charset="0"/>
                  <a:ea typeface="Cambria Math" panose="02040503050406030204" pitchFamily="18" charset="0"/>
                </a:endParaRPr>
              </a:p>
              <a:p>
                <a:pPr marL="0" indent="0">
                  <a:buNone/>
                </a:pPr>
                <a:endParaRPr lang="en-US" dirty="0">
                  <a:solidFill>
                    <a:srgbClr val="FF0000"/>
                  </a:solidFill>
                  <a:latin typeface="Cambria Math" panose="02040503050406030204" pitchFamily="18" charset="0"/>
                  <a:ea typeface="Cambria Math" panose="02040503050406030204" pitchFamily="18" charset="0"/>
                </a:endParaRPr>
              </a:p>
              <a:p>
                <a:pPr marL="0" indent="0">
                  <a:buNone/>
                </a:pPr>
                <a:endParaRPr lang="en-US" dirty="0">
                  <a:solidFill>
                    <a:srgbClr val="FF0000"/>
                  </a:solidFill>
                  <a:latin typeface="Cambria Math" panose="02040503050406030204" pitchFamily="18" charset="0"/>
                  <a:ea typeface="Cambria Math" panose="02040503050406030204" pitchFamily="18" charset="0"/>
                </a:endParaRPr>
              </a:p>
              <a:p>
                <a:pPr marL="0" indent="0">
                  <a:buNone/>
                </a:pPr>
                <a:endParaRPr lang="en-US"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70857" y="1121434"/>
                <a:ext cx="10820400" cy="5614217"/>
              </a:xfrm>
              <a:blipFill>
                <a:blip r:embed="rId2"/>
                <a:stretch>
                  <a:fillRect l="-1183" t="-1954" r="-451"/>
                </a:stretch>
              </a:blipFill>
            </p:spPr>
            <p:txBody>
              <a:bodyPr/>
              <a:lstStyle/>
              <a:p>
                <a:r>
                  <a:rPr lang="en-US">
                    <a:noFill/>
                  </a:rPr>
                  <a:t> </a:t>
                </a:r>
              </a:p>
            </p:txBody>
          </p:sp>
        </mc:Fallback>
      </mc:AlternateContent>
    </p:spTree>
    <p:extLst>
      <p:ext uri="{BB962C8B-B14F-4D97-AF65-F5344CB8AC3E}">
        <p14:creationId xmlns:p14="http://schemas.microsoft.com/office/powerpoint/2010/main" val="651713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515600" cy="757646"/>
          </a:xfrm>
        </p:spPr>
        <p:txBody>
          <a:bodyPr>
            <a:normAutofit/>
          </a:bodyPr>
          <a:lstStyle/>
          <a:p>
            <a:r>
              <a:rPr lang="en-US" sz="4000" dirty="0">
                <a:solidFill>
                  <a:srgbClr val="0070C0"/>
                </a:solidFill>
                <a:latin typeface="Cambria Math" panose="02040503050406030204" pitchFamily="18" charset="0"/>
                <a:ea typeface="Cambria Math" panose="02040503050406030204" pitchFamily="18" charset="0"/>
              </a:rPr>
              <a:t>Combinations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70457" y="1325563"/>
                <a:ext cx="11234188" cy="2314784"/>
              </a:xfrm>
            </p:spPr>
            <p:txBody>
              <a:bodyPr>
                <a:normAutofit/>
              </a:bodyPr>
              <a:lstStyle/>
              <a:p>
                <a:pPr marL="0" indent="0">
                  <a:buNone/>
                </a:pPr>
                <a:r>
                  <a:rPr lang="en-US" sz="2400" dirty="0">
                    <a:solidFill>
                      <a:srgbClr val="002060"/>
                    </a:solidFill>
                    <a:latin typeface="Cambria Math" panose="02040503050406030204" pitchFamily="18" charset="0"/>
                    <a:ea typeface="Cambria Math" panose="02040503050406030204" pitchFamily="18" charset="0"/>
                  </a:rPr>
                  <a:t>When we choose k objects out of n, in how many ways we can choose?</a:t>
                </a:r>
              </a:p>
              <a:p>
                <a:pPr marL="0" indent="0">
                  <a:buNone/>
                </a:pPr>
                <a14:m>
                  <m:oMathPara xmlns:m="http://schemas.openxmlformats.org/officeDocument/2006/math">
                    <m:oMathParaPr>
                      <m:jc m:val="centerGroup"/>
                    </m:oMathParaPr>
                    <m:oMath xmlns:m="http://schemas.openxmlformats.org/officeDocument/2006/math">
                      <m:d>
                        <m:dPr>
                          <m:ctrlPr>
                            <a:rPr lang="en-US" sz="2400" b="0" i="1" smtClean="0">
                              <a:solidFill>
                                <a:srgbClr val="002060"/>
                              </a:solidFill>
                              <a:latin typeface="Cambria Math" panose="02040503050406030204" pitchFamily="18" charset="0"/>
                              <a:ea typeface="Cambria Math" panose="02040503050406030204" pitchFamily="18" charset="0"/>
                            </a:rPr>
                          </m:ctrlPr>
                        </m:dPr>
                        <m:e>
                          <m:eqArr>
                            <m:eqArrPr>
                              <m:ctrlPr>
                                <a:rPr lang="en-US" sz="2400" b="0" i="1" smtClean="0">
                                  <a:solidFill>
                                    <a:srgbClr val="002060"/>
                                  </a:solidFill>
                                  <a:latin typeface="Cambria Math" panose="02040503050406030204" pitchFamily="18" charset="0"/>
                                  <a:ea typeface="Cambria Math" panose="02040503050406030204" pitchFamily="18" charset="0"/>
                                </a:rPr>
                              </m:ctrlPr>
                            </m:eqArrPr>
                            <m:e>
                              <m:r>
                                <a:rPr lang="en-US" sz="2400" b="0" i="1" smtClean="0">
                                  <a:solidFill>
                                    <a:srgbClr val="002060"/>
                                  </a:solidFill>
                                  <a:latin typeface="Cambria Math" panose="02040503050406030204" pitchFamily="18" charset="0"/>
                                  <a:ea typeface="Cambria Math" panose="02040503050406030204" pitchFamily="18" charset="0"/>
                                </a:rPr>
                                <m:t>𝑛</m:t>
                              </m:r>
                            </m:e>
                            <m:e>
                              <m:r>
                                <a:rPr lang="en-US" sz="2400" b="0" i="1" smtClean="0">
                                  <a:solidFill>
                                    <a:srgbClr val="002060"/>
                                  </a:solidFill>
                                  <a:latin typeface="Cambria Math" panose="02040503050406030204" pitchFamily="18" charset="0"/>
                                  <a:ea typeface="Cambria Math" panose="02040503050406030204" pitchFamily="18" charset="0"/>
                                </a:rPr>
                                <m:t>𝑘</m:t>
                              </m:r>
                            </m:e>
                          </m:eqArr>
                        </m:e>
                      </m:d>
                      <m:r>
                        <a:rPr lang="en-US" sz="2400" b="0" i="1" smtClean="0">
                          <a:solidFill>
                            <a:srgbClr val="002060"/>
                          </a:solidFill>
                          <a:latin typeface="Cambria Math" panose="02040503050406030204" pitchFamily="18" charset="0"/>
                          <a:ea typeface="Cambria Math" panose="02040503050406030204" pitchFamily="18" charset="0"/>
                        </a:rPr>
                        <m:t>=</m:t>
                      </m:r>
                      <m:f>
                        <m:fPr>
                          <m:ctrlPr>
                            <a:rPr lang="en-US" sz="2400" b="0" i="1" smtClean="0">
                              <a:solidFill>
                                <a:srgbClr val="002060"/>
                              </a:solidFill>
                              <a:latin typeface="Cambria Math" panose="02040503050406030204" pitchFamily="18" charset="0"/>
                              <a:ea typeface="Cambria Math" panose="02040503050406030204" pitchFamily="18" charset="0"/>
                            </a:rPr>
                          </m:ctrlPr>
                        </m:fPr>
                        <m:num>
                          <m:r>
                            <a:rPr lang="en-US" sz="2400" b="0" i="1" smtClean="0">
                              <a:solidFill>
                                <a:srgbClr val="002060"/>
                              </a:solidFill>
                              <a:latin typeface="Cambria Math" panose="02040503050406030204" pitchFamily="18" charset="0"/>
                              <a:ea typeface="Cambria Math" panose="02040503050406030204" pitchFamily="18" charset="0"/>
                            </a:rPr>
                            <m:t>𝑛</m:t>
                          </m:r>
                          <m:r>
                            <a:rPr lang="en-US" sz="2400" b="0" i="1" smtClean="0">
                              <a:solidFill>
                                <a:srgbClr val="002060"/>
                              </a:solidFill>
                              <a:latin typeface="Cambria Math" panose="02040503050406030204" pitchFamily="18" charset="0"/>
                              <a:ea typeface="Cambria Math" panose="02040503050406030204" pitchFamily="18" charset="0"/>
                            </a:rPr>
                            <m:t>!</m:t>
                          </m:r>
                        </m:num>
                        <m:den>
                          <m:r>
                            <a:rPr lang="en-US" sz="2400" b="0" i="1" smtClean="0">
                              <a:solidFill>
                                <a:srgbClr val="002060"/>
                              </a:solidFill>
                              <a:latin typeface="Cambria Math" panose="02040503050406030204" pitchFamily="18" charset="0"/>
                              <a:ea typeface="Cambria Math" panose="02040503050406030204" pitchFamily="18" charset="0"/>
                            </a:rPr>
                            <m:t>𝑘</m:t>
                          </m:r>
                          <m:r>
                            <a:rPr lang="en-US" sz="2400" b="0" i="1" smtClean="0">
                              <a:solidFill>
                                <a:srgbClr val="002060"/>
                              </a:solidFill>
                              <a:latin typeface="Cambria Math" panose="02040503050406030204" pitchFamily="18" charset="0"/>
                              <a:ea typeface="Cambria Math" panose="02040503050406030204" pitchFamily="18" charset="0"/>
                            </a:rPr>
                            <m:t>!</m:t>
                          </m:r>
                          <m:d>
                            <m:dPr>
                              <m:ctrlPr>
                                <a:rPr lang="en-US" sz="2400" b="0" i="1" smtClean="0">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𝑛</m:t>
                              </m:r>
                              <m:r>
                                <a:rPr lang="en-US" sz="2400" b="0" i="1" smtClean="0">
                                  <a:solidFill>
                                    <a:srgbClr val="002060"/>
                                  </a:solidFill>
                                  <a:latin typeface="Cambria Math" panose="02040503050406030204" pitchFamily="18" charset="0"/>
                                  <a:ea typeface="Cambria Math" panose="02040503050406030204" pitchFamily="18" charset="0"/>
                                </a:rPr>
                                <m:t>−</m:t>
                              </m:r>
                              <m:r>
                                <a:rPr lang="en-US" sz="2400" b="0" i="1" smtClean="0">
                                  <a:solidFill>
                                    <a:srgbClr val="002060"/>
                                  </a:solidFill>
                                  <a:latin typeface="Cambria Math" panose="02040503050406030204" pitchFamily="18" charset="0"/>
                                  <a:ea typeface="Cambria Math" panose="02040503050406030204" pitchFamily="18" charset="0"/>
                                </a:rPr>
                                <m:t>𝑘</m:t>
                              </m:r>
                            </m:e>
                          </m:d>
                          <m:r>
                            <a:rPr lang="en-US" sz="2400" b="0" i="1" smtClean="0">
                              <a:solidFill>
                                <a:srgbClr val="002060"/>
                              </a:solidFill>
                              <a:latin typeface="Cambria Math" panose="02040503050406030204" pitchFamily="18" charset="0"/>
                              <a:ea typeface="Cambria Math" panose="02040503050406030204" pitchFamily="18" charset="0"/>
                            </a:rPr>
                            <m:t>!</m:t>
                          </m:r>
                        </m:den>
                      </m:f>
                    </m:oMath>
                  </m:oMathPara>
                </a14:m>
                <a:endParaRPr lang="en-US" sz="2400" dirty="0">
                  <a:solidFill>
                    <a:srgbClr val="002060"/>
                  </a:solidFill>
                  <a:latin typeface="Cambria Math" panose="02040503050406030204" pitchFamily="18" charset="0"/>
                  <a:ea typeface="Cambria Math" panose="02040503050406030204" pitchFamily="18" charset="0"/>
                </a:endParaRPr>
              </a:p>
              <a:p>
                <a:pPr marL="0" indent="0">
                  <a:buNone/>
                </a:pPr>
                <a:endParaRPr lang="en-US" sz="2400" dirty="0">
                  <a:solidFill>
                    <a:srgbClr val="002060"/>
                  </a:solidFill>
                  <a:latin typeface="Cambria Math" panose="02040503050406030204" pitchFamily="18" charset="0"/>
                  <a:ea typeface="Cambria Math" panose="02040503050406030204" pitchFamily="18" charset="0"/>
                </a:endParaRPr>
              </a:p>
              <a:p>
                <a:pPr marL="0" indent="0">
                  <a:buNone/>
                </a:pPr>
                <a:r>
                  <a:rPr lang="en-US" sz="2400" dirty="0">
                    <a:solidFill>
                      <a:schemeClr val="accent6">
                        <a:lumMod val="50000"/>
                      </a:schemeClr>
                    </a:solidFill>
                    <a:latin typeface="Cambria Math" panose="02040503050406030204" pitchFamily="18" charset="0"/>
                    <a:ea typeface="Cambria Math" panose="02040503050406030204" pitchFamily="18" charset="0"/>
                  </a:rPr>
                  <a:t>Also, </a:t>
                </a:r>
                <a14:m>
                  <m:oMath xmlns:m="http://schemas.openxmlformats.org/officeDocument/2006/math">
                    <m:d>
                      <m:dPr>
                        <m:ctrlPr>
                          <a:rPr lang="en-US" sz="2400" b="0" i="1" smtClean="0">
                            <a:solidFill>
                              <a:schemeClr val="accent6">
                                <a:lumMod val="50000"/>
                              </a:schemeClr>
                            </a:solidFill>
                            <a:latin typeface="Cambria Math" panose="02040503050406030204" pitchFamily="18" charset="0"/>
                            <a:ea typeface="Cambria Math" panose="02040503050406030204" pitchFamily="18" charset="0"/>
                          </a:rPr>
                        </m:ctrlPr>
                      </m:dPr>
                      <m:e>
                        <m:eqArr>
                          <m:eqArrPr>
                            <m:ctrlPr>
                              <a:rPr lang="en-US" sz="2400" b="0" i="1" smtClean="0">
                                <a:solidFill>
                                  <a:schemeClr val="accent6">
                                    <a:lumMod val="50000"/>
                                  </a:schemeClr>
                                </a:solidFill>
                                <a:latin typeface="Cambria Math" panose="02040503050406030204" pitchFamily="18" charset="0"/>
                                <a:ea typeface="Cambria Math" panose="02040503050406030204" pitchFamily="18" charset="0"/>
                              </a:rPr>
                            </m:ctrlPr>
                          </m:eqArrPr>
                          <m:e>
                            <m:r>
                              <a:rPr lang="en-US" sz="2400" b="0" i="1" smtClean="0">
                                <a:solidFill>
                                  <a:schemeClr val="accent6">
                                    <a:lumMod val="50000"/>
                                  </a:schemeClr>
                                </a:solidFill>
                                <a:latin typeface="Cambria Math" panose="02040503050406030204" pitchFamily="18" charset="0"/>
                                <a:ea typeface="Cambria Math" panose="02040503050406030204" pitchFamily="18" charset="0"/>
                              </a:rPr>
                              <m:t>𝑛</m:t>
                            </m:r>
                          </m:e>
                          <m:e>
                            <m:r>
                              <a:rPr lang="en-US" sz="2400" b="0" i="1" smtClean="0">
                                <a:solidFill>
                                  <a:schemeClr val="accent6">
                                    <a:lumMod val="50000"/>
                                  </a:schemeClr>
                                </a:solidFill>
                                <a:latin typeface="Cambria Math" panose="02040503050406030204" pitchFamily="18" charset="0"/>
                                <a:ea typeface="Cambria Math" panose="02040503050406030204" pitchFamily="18" charset="0"/>
                              </a:rPr>
                              <m:t>0</m:t>
                            </m:r>
                          </m:e>
                        </m:eqArr>
                      </m:e>
                    </m:d>
                    <m:r>
                      <a:rPr lang="en-US" sz="2400" b="0" i="1" smtClean="0">
                        <a:solidFill>
                          <a:schemeClr val="accent6">
                            <a:lumMod val="50000"/>
                          </a:schemeClr>
                        </a:solidFill>
                        <a:latin typeface="Cambria Math" panose="02040503050406030204" pitchFamily="18" charset="0"/>
                        <a:ea typeface="Cambria Math" panose="02040503050406030204" pitchFamily="18" charset="0"/>
                      </a:rPr>
                      <m:t>=1</m:t>
                    </m:r>
                  </m:oMath>
                </a14:m>
                <a:r>
                  <a:rPr lang="en-US" sz="2400" dirty="0">
                    <a:solidFill>
                      <a:schemeClr val="accent6">
                        <a:lumMod val="50000"/>
                      </a:schemeClr>
                    </a:solidFill>
                    <a:latin typeface="Cambria Math" panose="02040503050406030204" pitchFamily="18" charset="0"/>
                    <a:ea typeface="Cambria Math" panose="02040503050406030204" pitchFamily="18" charset="0"/>
                  </a:rPr>
                  <a:t>, </a:t>
                </a:r>
                <a14:m>
                  <m:oMath xmlns:m="http://schemas.openxmlformats.org/officeDocument/2006/math">
                    <m:d>
                      <m:dPr>
                        <m:ctrlPr>
                          <a:rPr lang="en-US" sz="2400" b="0" i="1" smtClean="0">
                            <a:solidFill>
                              <a:schemeClr val="accent6">
                                <a:lumMod val="50000"/>
                              </a:schemeClr>
                            </a:solidFill>
                            <a:latin typeface="Cambria Math" panose="02040503050406030204" pitchFamily="18" charset="0"/>
                            <a:ea typeface="Cambria Math" panose="02040503050406030204" pitchFamily="18" charset="0"/>
                          </a:rPr>
                        </m:ctrlPr>
                      </m:dPr>
                      <m:e>
                        <m:eqArr>
                          <m:eqArrPr>
                            <m:ctrlPr>
                              <a:rPr lang="en-US" sz="2400" b="0" i="1" smtClean="0">
                                <a:solidFill>
                                  <a:schemeClr val="accent6">
                                    <a:lumMod val="50000"/>
                                  </a:schemeClr>
                                </a:solidFill>
                                <a:latin typeface="Cambria Math" panose="02040503050406030204" pitchFamily="18" charset="0"/>
                                <a:ea typeface="Cambria Math" panose="02040503050406030204" pitchFamily="18" charset="0"/>
                              </a:rPr>
                            </m:ctrlPr>
                          </m:eqArrPr>
                          <m:e>
                            <m:r>
                              <a:rPr lang="en-US" sz="2400" b="0" i="1" smtClean="0">
                                <a:solidFill>
                                  <a:schemeClr val="accent6">
                                    <a:lumMod val="50000"/>
                                  </a:schemeClr>
                                </a:solidFill>
                                <a:latin typeface="Cambria Math" panose="02040503050406030204" pitchFamily="18" charset="0"/>
                                <a:ea typeface="Cambria Math" panose="02040503050406030204" pitchFamily="18" charset="0"/>
                              </a:rPr>
                              <m:t>𝑛</m:t>
                            </m:r>
                          </m:e>
                          <m:e>
                            <m:r>
                              <a:rPr lang="en-US" sz="2400" b="0" i="1" smtClean="0">
                                <a:solidFill>
                                  <a:schemeClr val="accent6">
                                    <a:lumMod val="50000"/>
                                  </a:schemeClr>
                                </a:solidFill>
                                <a:latin typeface="Cambria Math" panose="02040503050406030204" pitchFamily="18" charset="0"/>
                                <a:ea typeface="Cambria Math" panose="02040503050406030204" pitchFamily="18" charset="0"/>
                              </a:rPr>
                              <m:t>𝑛</m:t>
                            </m:r>
                          </m:e>
                        </m:eqArr>
                      </m:e>
                    </m:d>
                    <m:r>
                      <a:rPr lang="en-US" sz="2400" b="0" i="1" smtClean="0">
                        <a:solidFill>
                          <a:schemeClr val="accent6">
                            <a:lumMod val="50000"/>
                          </a:schemeClr>
                        </a:solidFill>
                        <a:latin typeface="Cambria Math" panose="02040503050406030204" pitchFamily="18" charset="0"/>
                        <a:ea typeface="Cambria Math" panose="02040503050406030204" pitchFamily="18" charset="0"/>
                      </a:rPr>
                      <m:t>=1</m:t>
                    </m:r>
                  </m:oMath>
                </a14:m>
                <a:r>
                  <a:rPr lang="en-US" sz="2400" dirty="0">
                    <a:solidFill>
                      <a:schemeClr val="accent6">
                        <a:lumMod val="50000"/>
                      </a:schemeClr>
                    </a:solidFill>
                    <a:latin typeface="Cambria Math" panose="02040503050406030204" pitchFamily="18" charset="0"/>
                    <a:ea typeface="Cambria Math" panose="02040503050406030204" pitchFamily="18" charset="0"/>
                  </a:rPr>
                  <a:t>, </a:t>
                </a:r>
                <a14:m>
                  <m:oMath xmlns:m="http://schemas.openxmlformats.org/officeDocument/2006/math">
                    <m:d>
                      <m:dPr>
                        <m:ctrlPr>
                          <a:rPr lang="en-US" sz="2400" b="0" i="1" smtClean="0">
                            <a:solidFill>
                              <a:schemeClr val="accent6">
                                <a:lumMod val="50000"/>
                              </a:schemeClr>
                            </a:solidFill>
                            <a:latin typeface="Cambria Math" panose="02040503050406030204" pitchFamily="18" charset="0"/>
                            <a:ea typeface="Cambria Math" panose="02040503050406030204" pitchFamily="18" charset="0"/>
                          </a:rPr>
                        </m:ctrlPr>
                      </m:dPr>
                      <m:e>
                        <m:eqArr>
                          <m:eqArrPr>
                            <m:ctrlPr>
                              <a:rPr lang="en-US" sz="2400" b="0" i="1" smtClean="0">
                                <a:solidFill>
                                  <a:schemeClr val="accent6">
                                    <a:lumMod val="50000"/>
                                  </a:schemeClr>
                                </a:solidFill>
                                <a:latin typeface="Cambria Math" panose="02040503050406030204" pitchFamily="18" charset="0"/>
                                <a:ea typeface="Cambria Math" panose="02040503050406030204" pitchFamily="18" charset="0"/>
                              </a:rPr>
                            </m:ctrlPr>
                          </m:eqArrPr>
                          <m:e>
                            <m:r>
                              <a:rPr lang="en-US" sz="2400" b="0" i="1" smtClean="0">
                                <a:solidFill>
                                  <a:schemeClr val="accent6">
                                    <a:lumMod val="50000"/>
                                  </a:schemeClr>
                                </a:solidFill>
                                <a:latin typeface="Cambria Math" panose="02040503050406030204" pitchFamily="18" charset="0"/>
                                <a:ea typeface="Cambria Math" panose="02040503050406030204" pitchFamily="18" charset="0"/>
                              </a:rPr>
                              <m:t>𝑛</m:t>
                            </m:r>
                          </m:e>
                          <m:e>
                            <m:r>
                              <a:rPr lang="en-US" sz="2400" b="0" i="1" smtClean="0">
                                <a:solidFill>
                                  <a:schemeClr val="accent6">
                                    <a:lumMod val="50000"/>
                                  </a:schemeClr>
                                </a:solidFill>
                                <a:latin typeface="Cambria Math" panose="02040503050406030204" pitchFamily="18" charset="0"/>
                                <a:ea typeface="Cambria Math" panose="02040503050406030204" pitchFamily="18" charset="0"/>
                              </a:rPr>
                              <m:t>1</m:t>
                            </m:r>
                          </m:e>
                        </m:eqArr>
                      </m:e>
                    </m:d>
                    <m:r>
                      <a:rPr lang="en-US" sz="2400" b="0" i="1" smtClean="0">
                        <a:solidFill>
                          <a:schemeClr val="accent6">
                            <a:lumMod val="50000"/>
                          </a:schemeClr>
                        </a:solidFill>
                        <a:latin typeface="Cambria Math" panose="02040503050406030204" pitchFamily="18" charset="0"/>
                        <a:ea typeface="Cambria Math" panose="02040503050406030204" pitchFamily="18" charset="0"/>
                      </a:rPr>
                      <m:t>=</m:t>
                    </m:r>
                    <m:r>
                      <a:rPr lang="en-US" sz="2400" b="0" i="1" smtClean="0">
                        <a:solidFill>
                          <a:schemeClr val="accent6">
                            <a:lumMod val="50000"/>
                          </a:schemeClr>
                        </a:solidFill>
                        <a:latin typeface="Cambria Math" panose="02040503050406030204" pitchFamily="18" charset="0"/>
                        <a:ea typeface="Cambria Math" panose="02040503050406030204" pitchFamily="18" charset="0"/>
                      </a:rPr>
                      <m:t>𝑛</m:t>
                    </m:r>
                  </m:oMath>
                </a14:m>
                <a:r>
                  <a:rPr lang="en-US" sz="2400" dirty="0">
                    <a:solidFill>
                      <a:schemeClr val="accent6">
                        <a:lumMod val="50000"/>
                      </a:schemeClr>
                    </a:solidFill>
                    <a:latin typeface="Cambria Math" panose="02040503050406030204" pitchFamily="18" charset="0"/>
                    <a:ea typeface="Cambria Math" panose="02040503050406030204" pitchFamily="18" charset="0"/>
                  </a:rPr>
                  <a:t> etc.</a:t>
                </a:r>
              </a:p>
              <a:p>
                <a:pPr marL="0" indent="0">
                  <a:buNone/>
                </a:pPr>
                <a:endParaRPr lang="en-US" sz="2400" dirty="0">
                  <a:solidFill>
                    <a:srgbClr val="FF0000"/>
                  </a:solidFill>
                  <a:latin typeface="Cambria Math" panose="02040503050406030204" pitchFamily="18" charset="0"/>
                  <a:ea typeface="Cambria Math" panose="02040503050406030204" pitchFamily="18" charset="0"/>
                </a:endParaRPr>
              </a:p>
              <a:p>
                <a:pPr marL="0" indent="0">
                  <a:buNone/>
                </a:pPr>
                <a:endParaRPr lang="en-US" sz="2400"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70457" y="1325563"/>
                <a:ext cx="11234188" cy="2314784"/>
              </a:xfrm>
              <a:blipFill>
                <a:blip r:embed="rId2"/>
                <a:stretch>
                  <a:fillRect l="-814" t="-36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17F168B-083A-F741-A313-E1E0B620BB6E}"/>
                  </a:ext>
                </a:extLst>
              </p:cNvPr>
              <p:cNvSpPr txBox="1"/>
              <p:nvPr/>
            </p:nvSpPr>
            <p:spPr>
              <a:xfrm>
                <a:off x="485192" y="4954555"/>
                <a:ext cx="7154587" cy="1016176"/>
              </a:xfrm>
              <a:prstGeom prst="rect">
                <a:avLst/>
              </a:prstGeom>
              <a:noFill/>
            </p:spPr>
            <p:txBody>
              <a:bodyPr wrap="none" rtlCol="0">
                <a:spAutoFit/>
              </a:bodyPr>
              <a:lstStyle/>
              <a:p>
                <a:pPr marL="0" indent="0">
                  <a:buNone/>
                </a:pPr>
                <a:r>
                  <a:rPr lang="en-US" sz="2400" dirty="0">
                    <a:solidFill>
                      <a:srgbClr val="009664"/>
                    </a:solidFill>
                    <a:latin typeface="Cambria Math" panose="02040503050406030204" pitchFamily="18" charset="0"/>
                    <a:ea typeface="Cambria Math" panose="02040503050406030204" pitchFamily="18" charset="0"/>
                  </a:rPr>
                  <a:t>Most importantly, these combinations are </a:t>
                </a:r>
                <a:r>
                  <a:rPr lang="en-US" sz="2400" b="1" dirty="0">
                    <a:solidFill>
                      <a:srgbClr val="FF0000"/>
                    </a:solidFill>
                    <a:latin typeface="Cambria Math" panose="02040503050406030204" pitchFamily="18" charset="0"/>
                    <a:ea typeface="Cambria Math" panose="02040503050406030204" pitchFamily="18" charset="0"/>
                  </a:rPr>
                  <a:t>symmetric</a:t>
                </a:r>
                <a:r>
                  <a:rPr lang="en-US" sz="2400" dirty="0">
                    <a:solidFill>
                      <a:srgbClr val="009664"/>
                    </a:solidFill>
                    <a:latin typeface="Cambria Math" panose="02040503050406030204" pitchFamily="18" charset="0"/>
                    <a:ea typeface="Cambria Math" panose="02040503050406030204" pitchFamily="18" charset="0"/>
                  </a:rPr>
                  <a:t>:</a:t>
                </a:r>
              </a:p>
              <a:p>
                <a:pPr marL="0" indent="0">
                  <a:buNone/>
                </a:pPr>
                <a14:m>
                  <m:oMathPara xmlns:m="http://schemas.openxmlformats.org/officeDocument/2006/math">
                    <m:oMathParaPr>
                      <m:jc m:val="centerGroup"/>
                    </m:oMathParaPr>
                    <m:oMath xmlns:m="http://schemas.openxmlformats.org/officeDocument/2006/math">
                      <m:d>
                        <m:dPr>
                          <m:ctrlPr>
                            <a:rPr lang="en-US" sz="2400" b="0" i="1" smtClean="0">
                              <a:solidFill>
                                <a:srgbClr val="009664"/>
                              </a:solidFill>
                              <a:latin typeface="Cambria Math" panose="02040503050406030204" pitchFamily="18" charset="0"/>
                              <a:ea typeface="Cambria Math" panose="02040503050406030204" pitchFamily="18" charset="0"/>
                            </a:rPr>
                          </m:ctrlPr>
                        </m:dPr>
                        <m:e>
                          <m:eqArr>
                            <m:eqArrPr>
                              <m:ctrlPr>
                                <a:rPr lang="en-US" sz="2400" b="0" i="1" smtClean="0">
                                  <a:solidFill>
                                    <a:srgbClr val="009664"/>
                                  </a:solidFill>
                                  <a:latin typeface="Cambria Math" panose="02040503050406030204" pitchFamily="18" charset="0"/>
                                  <a:ea typeface="Cambria Math" panose="02040503050406030204" pitchFamily="18" charset="0"/>
                                </a:rPr>
                              </m:ctrlPr>
                            </m:eqArrPr>
                            <m:e>
                              <m:r>
                                <a:rPr lang="en-US" sz="2400" b="0" i="1" smtClean="0">
                                  <a:solidFill>
                                    <a:srgbClr val="009664"/>
                                  </a:solidFill>
                                  <a:latin typeface="Cambria Math" panose="02040503050406030204" pitchFamily="18" charset="0"/>
                                  <a:ea typeface="Cambria Math" panose="02040503050406030204" pitchFamily="18" charset="0"/>
                                </a:rPr>
                                <m:t>𝑛</m:t>
                              </m:r>
                            </m:e>
                            <m:e>
                              <m:r>
                                <a:rPr lang="en-US" sz="2400" b="0" i="1" smtClean="0">
                                  <a:solidFill>
                                    <a:srgbClr val="009664"/>
                                  </a:solidFill>
                                  <a:latin typeface="Cambria Math" panose="02040503050406030204" pitchFamily="18" charset="0"/>
                                  <a:ea typeface="Cambria Math" panose="02040503050406030204" pitchFamily="18" charset="0"/>
                                </a:rPr>
                                <m:t>𝑘</m:t>
                              </m:r>
                            </m:e>
                          </m:eqArr>
                        </m:e>
                      </m:d>
                      <m:r>
                        <a:rPr lang="en-US" sz="2400" b="0" i="1" smtClean="0">
                          <a:solidFill>
                            <a:srgbClr val="009664"/>
                          </a:solidFill>
                          <a:latin typeface="Cambria Math" panose="02040503050406030204" pitchFamily="18" charset="0"/>
                          <a:ea typeface="Cambria Math" panose="02040503050406030204" pitchFamily="18" charset="0"/>
                        </a:rPr>
                        <m:t>=</m:t>
                      </m:r>
                      <m:d>
                        <m:dPr>
                          <m:ctrlPr>
                            <a:rPr lang="en-US" sz="2400" b="0" i="1" smtClean="0">
                              <a:solidFill>
                                <a:srgbClr val="009664"/>
                              </a:solidFill>
                              <a:latin typeface="Cambria Math" panose="02040503050406030204" pitchFamily="18" charset="0"/>
                              <a:ea typeface="Cambria Math" panose="02040503050406030204" pitchFamily="18" charset="0"/>
                            </a:rPr>
                          </m:ctrlPr>
                        </m:dPr>
                        <m:e>
                          <m:eqArr>
                            <m:eqArrPr>
                              <m:ctrlPr>
                                <a:rPr lang="en-US" sz="2400" b="0" i="1" smtClean="0">
                                  <a:solidFill>
                                    <a:srgbClr val="009664"/>
                                  </a:solidFill>
                                  <a:latin typeface="Cambria Math" panose="02040503050406030204" pitchFamily="18" charset="0"/>
                                  <a:ea typeface="Cambria Math" panose="02040503050406030204" pitchFamily="18" charset="0"/>
                                </a:rPr>
                              </m:ctrlPr>
                            </m:eqArrPr>
                            <m:e>
                              <m:r>
                                <a:rPr lang="en-US" sz="2400" b="0" i="1" smtClean="0">
                                  <a:solidFill>
                                    <a:srgbClr val="009664"/>
                                  </a:solidFill>
                                  <a:latin typeface="Cambria Math" panose="02040503050406030204" pitchFamily="18" charset="0"/>
                                  <a:ea typeface="Cambria Math" panose="02040503050406030204" pitchFamily="18" charset="0"/>
                                </a:rPr>
                                <m:t>𝑛</m:t>
                              </m:r>
                            </m:e>
                            <m:e>
                              <m:r>
                                <a:rPr lang="en-US" sz="2400" b="0" i="1" smtClean="0">
                                  <a:solidFill>
                                    <a:srgbClr val="009664"/>
                                  </a:solidFill>
                                  <a:latin typeface="Cambria Math" panose="02040503050406030204" pitchFamily="18" charset="0"/>
                                  <a:ea typeface="Cambria Math" panose="02040503050406030204" pitchFamily="18" charset="0"/>
                                </a:rPr>
                                <m:t>𝑛</m:t>
                              </m:r>
                              <m:r>
                                <a:rPr lang="en-US" sz="2400" b="0" i="1" smtClean="0">
                                  <a:solidFill>
                                    <a:srgbClr val="009664"/>
                                  </a:solidFill>
                                  <a:latin typeface="Cambria Math" panose="02040503050406030204" pitchFamily="18" charset="0"/>
                                  <a:ea typeface="Cambria Math" panose="02040503050406030204" pitchFamily="18" charset="0"/>
                                </a:rPr>
                                <m:t>−</m:t>
                              </m:r>
                              <m:r>
                                <a:rPr lang="en-US" sz="2400" b="0" i="1" smtClean="0">
                                  <a:solidFill>
                                    <a:srgbClr val="009664"/>
                                  </a:solidFill>
                                  <a:latin typeface="Cambria Math" panose="02040503050406030204" pitchFamily="18" charset="0"/>
                                  <a:ea typeface="Cambria Math" panose="02040503050406030204" pitchFamily="18" charset="0"/>
                                </a:rPr>
                                <m:t>𝑘</m:t>
                              </m:r>
                            </m:e>
                          </m:eqArr>
                        </m:e>
                      </m:d>
                    </m:oMath>
                  </m:oMathPara>
                </a14:m>
                <a:endParaRPr lang="en-US" sz="2400" dirty="0">
                  <a:latin typeface="Cambria Math" panose="02040503050406030204" pitchFamily="18" charset="0"/>
                  <a:ea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E17F168B-083A-F741-A313-E1E0B620BB6E}"/>
                  </a:ext>
                </a:extLst>
              </p:cNvPr>
              <p:cNvSpPr txBox="1">
                <a:spLocks noRot="1" noChangeAspect="1" noMove="1" noResize="1" noEditPoints="1" noAdjustHandles="1" noChangeArrowheads="1" noChangeShapeType="1" noTextEdit="1"/>
              </p:cNvSpPr>
              <p:nvPr/>
            </p:nvSpPr>
            <p:spPr>
              <a:xfrm>
                <a:off x="485192" y="4954555"/>
                <a:ext cx="7154587" cy="1016176"/>
              </a:xfrm>
              <a:prstGeom prst="rect">
                <a:avLst/>
              </a:prstGeom>
              <a:blipFill>
                <a:blip r:embed="rId3"/>
                <a:stretch>
                  <a:fillRect l="-1364" t="-4819" r="-597"/>
                </a:stretch>
              </a:blipFill>
            </p:spPr>
            <p:txBody>
              <a:bodyPr/>
              <a:lstStyle/>
              <a:p>
                <a:r>
                  <a:rPr lang="en-US">
                    <a:noFill/>
                  </a:rPr>
                  <a:t> </a:t>
                </a:r>
              </a:p>
            </p:txBody>
          </p:sp>
        </mc:Fallback>
      </mc:AlternateContent>
    </p:spTree>
    <p:extLst>
      <p:ext uri="{BB962C8B-B14F-4D97-AF65-F5344CB8AC3E}">
        <p14:creationId xmlns:p14="http://schemas.microsoft.com/office/powerpoint/2010/main" val="3721621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8903" y="0"/>
            <a:ext cx="9496696" cy="862149"/>
          </a:xfrm>
        </p:spPr>
        <p:txBody>
          <a:bodyPr>
            <a:normAutofit/>
          </a:bodyPr>
          <a:lstStyle/>
          <a:p>
            <a:r>
              <a:rPr lang="en-US" sz="4000" dirty="0">
                <a:latin typeface="Cambria Math" panose="02040503050406030204" pitchFamily="18" charset="0"/>
                <a:ea typeface="Cambria Math" panose="02040503050406030204" pitchFamily="18" charset="0"/>
              </a:rPr>
              <a:t>Combinations</a:t>
            </a:r>
            <a:r>
              <a:rPr lang="en-US" sz="4000" dirty="0">
                <a:solidFill>
                  <a:srgbClr val="0070C0"/>
                </a:solidFill>
                <a:latin typeface="Cambria Math" panose="02040503050406030204" pitchFamily="18" charset="0"/>
                <a:ea typeface="Cambria Math" panose="02040503050406030204" pitchFamily="18" charset="0"/>
              </a:rPr>
              <a:t> … </a:t>
            </a:r>
            <a:r>
              <a:rPr lang="en-US" sz="3600" dirty="0">
                <a:solidFill>
                  <a:srgbClr val="B31591"/>
                </a:solidFill>
                <a:latin typeface="Cambria Math" panose="02040503050406030204" pitchFamily="18" charset="0"/>
                <a:ea typeface="Cambria Math" panose="02040503050406030204" pitchFamily="18" charset="0"/>
              </a:rPr>
              <a:t>Example</a:t>
            </a:r>
            <a:endParaRPr lang="en-US" sz="4000" dirty="0">
              <a:solidFill>
                <a:srgbClr val="B31591"/>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18903" y="923110"/>
                <a:ext cx="10432868" cy="5812542"/>
              </a:xfrm>
            </p:spPr>
            <p:txBody>
              <a:bodyPr>
                <a:normAutofit/>
              </a:bodyPr>
              <a:lstStyle/>
              <a:p>
                <a:pPr marL="0" indent="0" algn="just">
                  <a:buNone/>
                </a:pPr>
                <a:r>
                  <a:rPr lang="en-US" sz="2400" dirty="0">
                    <a:solidFill>
                      <a:srgbClr val="002060"/>
                    </a:solidFill>
                    <a:latin typeface="Cambria Math" panose="02040503050406030204" pitchFamily="18" charset="0"/>
                    <a:ea typeface="Cambria Math" panose="02040503050406030204" pitchFamily="18" charset="0"/>
                  </a:rPr>
                  <a:t>For a cricket match, in how many different ways can we pick a playing-eleven from a group of 15 players?</a:t>
                </a:r>
              </a:p>
              <a:p>
                <a:pPr marL="0" indent="0">
                  <a:buNone/>
                </a:pPr>
                <a:r>
                  <a:rPr lang="en-US" sz="2400" b="1" dirty="0">
                    <a:solidFill>
                      <a:srgbClr val="002060"/>
                    </a:solidFill>
                    <a:latin typeface="Cambria Math" panose="02040503050406030204" pitchFamily="18" charset="0"/>
                    <a:ea typeface="Cambria Math" panose="02040503050406030204" pitchFamily="18" charset="0"/>
                  </a:rPr>
                  <a:t>Solution</a:t>
                </a:r>
                <a:r>
                  <a:rPr lang="en-US" sz="2400" dirty="0">
                    <a:solidFill>
                      <a:srgbClr val="002060"/>
                    </a:solidFill>
                    <a:latin typeface="Cambria Math" panose="02040503050406030204" pitchFamily="18" charset="0"/>
                    <a:ea typeface="Cambria Math" panose="02040503050406030204" pitchFamily="18" charset="0"/>
                  </a:rPr>
                  <a:t>:</a:t>
                </a:r>
              </a:p>
              <a:p>
                <a:pPr marL="0" indent="0">
                  <a:buNone/>
                </a:pPr>
                <a:r>
                  <a:rPr lang="en-US" sz="2400" dirty="0">
                    <a:solidFill>
                      <a:srgbClr val="002060"/>
                    </a:solidFill>
                    <a:latin typeface="Cambria Math" panose="02040503050406030204" pitchFamily="18" charset="0"/>
                    <a:ea typeface="Cambria Math" panose="02040503050406030204" pitchFamily="18" charset="0"/>
                  </a:rPr>
                  <a:t>Group Size = n = 15</a:t>
                </a:r>
              </a:p>
              <a:p>
                <a:pPr marL="0" indent="0">
                  <a:buNone/>
                </a:pPr>
                <a:r>
                  <a:rPr lang="en-US" sz="2400" dirty="0">
                    <a:solidFill>
                      <a:srgbClr val="002060"/>
                    </a:solidFill>
                    <a:latin typeface="Cambria Math" panose="02040503050406030204" pitchFamily="18" charset="0"/>
                    <a:ea typeface="Cambria Math" panose="02040503050406030204" pitchFamily="18" charset="0"/>
                  </a:rPr>
                  <a:t>To be picked = r = 11</a:t>
                </a:r>
              </a:p>
              <a:p>
                <a:pPr marL="0" indent="0">
                  <a:buNone/>
                </a:pPr>
                <a:r>
                  <a:rPr lang="en-US" sz="2400" dirty="0">
                    <a:solidFill>
                      <a:srgbClr val="002060"/>
                    </a:solidFill>
                    <a:latin typeface="Cambria Math" panose="02040503050406030204" pitchFamily="18" charset="0"/>
                    <a:ea typeface="Cambria Math" panose="02040503050406030204" pitchFamily="18" charset="0"/>
                  </a:rPr>
                  <a:t>C(15, 11) = n!/r!(n-r)! </a:t>
                </a:r>
                <a14:m>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002060"/>
                            </a:solidFill>
                            <a:latin typeface="Cambria Math" panose="02040503050406030204" pitchFamily="18" charset="0"/>
                            <a:ea typeface="Cambria Math" panose="02040503050406030204" pitchFamily="18" charset="0"/>
                          </a:rPr>
                        </m:ctrlPr>
                      </m:fPr>
                      <m:num>
                        <m:r>
                          <a:rPr lang="en-US" sz="2400" b="0" i="1" smtClean="0">
                            <a:solidFill>
                              <a:srgbClr val="002060"/>
                            </a:solidFill>
                            <a:latin typeface="Cambria Math" panose="02040503050406030204" pitchFamily="18" charset="0"/>
                            <a:ea typeface="Cambria Math" panose="02040503050406030204" pitchFamily="18" charset="0"/>
                          </a:rPr>
                          <m:t>15!</m:t>
                        </m:r>
                      </m:num>
                      <m:den>
                        <m:r>
                          <a:rPr lang="en-US" sz="2400" b="0" i="1" smtClean="0">
                            <a:solidFill>
                              <a:srgbClr val="002060"/>
                            </a:solidFill>
                            <a:latin typeface="Cambria Math" panose="02040503050406030204" pitchFamily="18" charset="0"/>
                            <a:ea typeface="Cambria Math" panose="02040503050406030204" pitchFamily="18" charset="0"/>
                          </a:rPr>
                          <m:t>11!</m:t>
                        </m:r>
                        <m:d>
                          <m:dPr>
                            <m:ctrlPr>
                              <a:rPr lang="en-US" sz="2400" b="0" i="1" smtClean="0">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15−11</m:t>
                            </m:r>
                          </m:e>
                        </m:d>
                        <m:r>
                          <a:rPr lang="en-US" sz="2400" b="0" i="1" smtClean="0">
                            <a:solidFill>
                              <a:srgbClr val="002060"/>
                            </a:solidFill>
                            <a:latin typeface="Cambria Math" panose="02040503050406030204" pitchFamily="18" charset="0"/>
                            <a:ea typeface="Cambria Math" panose="02040503050406030204" pitchFamily="18" charset="0"/>
                          </a:rPr>
                          <m:t>!</m:t>
                        </m:r>
                      </m:den>
                    </m:f>
                  </m:oMath>
                </a14:m>
                <a:r>
                  <a:rPr lang="en-US" sz="2400" dirty="0">
                    <a:solidFill>
                      <a:srgbClr val="002060"/>
                    </a:solidFill>
                    <a:ea typeface="Cambria Math" panose="02040503050406030204" pitchFamily="18" charset="0"/>
                  </a:rPr>
                  <a:t> </a:t>
                </a:r>
                <a14:m>
                  <m:oMath xmlns:m="http://schemas.openxmlformats.org/officeDocument/2006/math">
                    <m:r>
                      <a:rPr lang="en-US" sz="2400" i="1">
                        <a:solidFill>
                          <a:srgbClr val="002060"/>
                        </a:solidFill>
                        <a:latin typeface="Cambria Math" panose="02040503050406030204" pitchFamily="18" charset="0"/>
                        <a:ea typeface="Cambria Math" panose="02040503050406030204" pitchFamily="18" charset="0"/>
                      </a:rPr>
                      <m:t>=</m:t>
                    </m:r>
                    <m:f>
                      <m:fPr>
                        <m:ctrlPr>
                          <a:rPr lang="en-US" sz="2400" i="1">
                            <a:solidFill>
                              <a:srgbClr val="002060"/>
                            </a:solidFill>
                            <a:latin typeface="Cambria Math" panose="02040503050406030204" pitchFamily="18" charset="0"/>
                            <a:ea typeface="Cambria Math" panose="02040503050406030204" pitchFamily="18" charset="0"/>
                          </a:rPr>
                        </m:ctrlPr>
                      </m:fPr>
                      <m:num>
                        <m:r>
                          <a:rPr lang="en-US" sz="2400" i="1">
                            <a:solidFill>
                              <a:srgbClr val="002060"/>
                            </a:solidFill>
                            <a:latin typeface="Cambria Math" panose="02040503050406030204" pitchFamily="18" charset="0"/>
                            <a:ea typeface="Cambria Math" panose="02040503050406030204" pitchFamily="18" charset="0"/>
                          </a:rPr>
                          <m:t>15!</m:t>
                        </m:r>
                      </m:num>
                      <m:den>
                        <m:r>
                          <a:rPr lang="en-US" sz="2400" i="1">
                            <a:solidFill>
                              <a:srgbClr val="002060"/>
                            </a:solidFill>
                            <a:latin typeface="Cambria Math" panose="02040503050406030204" pitchFamily="18" charset="0"/>
                            <a:ea typeface="Cambria Math" panose="02040503050406030204" pitchFamily="18" charset="0"/>
                          </a:rPr>
                          <m:t>11!</m:t>
                        </m:r>
                        <m:d>
                          <m:dPr>
                            <m:ctrlPr>
                              <a:rPr lang="en-US" sz="2400" i="1">
                                <a:solidFill>
                                  <a:srgbClr val="002060"/>
                                </a:solidFill>
                                <a:latin typeface="Cambria Math" panose="02040503050406030204" pitchFamily="18" charset="0"/>
                                <a:ea typeface="Cambria Math" panose="02040503050406030204" pitchFamily="18" charset="0"/>
                              </a:rPr>
                            </m:ctrlPr>
                          </m:dPr>
                          <m:e>
                            <m:r>
                              <a:rPr lang="en-US" sz="2400" b="0" i="1" smtClean="0">
                                <a:solidFill>
                                  <a:srgbClr val="002060"/>
                                </a:solidFill>
                                <a:latin typeface="Cambria Math" panose="02040503050406030204" pitchFamily="18" charset="0"/>
                                <a:ea typeface="Cambria Math" panose="02040503050406030204" pitchFamily="18" charset="0"/>
                              </a:rPr>
                              <m:t>4</m:t>
                            </m:r>
                          </m:e>
                        </m:d>
                        <m:r>
                          <a:rPr lang="en-US" sz="2400" i="1">
                            <a:solidFill>
                              <a:srgbClr val="002060"/>
                            </a:solidFill>
                            <a:latin typeface="Cambria Math" panose="02040503050406030204" pitchFamily="18" charset="0"/>
                            <a:ea typeface="Cambria Math" panose="02040503050406030204" pitchFamily="18" charset="0"/>
                          </a:rPr>
                          <m:t>!</m:t>
                        </m:r>
                      </m:den>
                    </m:f>
                  </m:oMath>
                </a14:m>
                <a:r>
                  <a:rPr lang="en-US" sz="2400" dirty="0">
                    <a:solidFill>
                      <a:srgbClr val="002060"/>
                    </a:solidFill>
                    <a:ea typeface="Cambria Math" panose="02040503050406030204" pitchFamily="18" charset="0"/>
                  </a:rPr>
                  <a:t> </a:t>
                </a:r>
              </a:p>
              <a:p>
                <a:pPr marL="0" indent="0">
                  <a:buNone/>
                </a:pPr>
                <a:endParaRPr lang="en-US" sz="2400" dirty="0">
                  <a:solidFill>
                    <a:srgbClr val="002060"/>
                  </a:solidFill>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i="1">
                          <a:solidFill>
                            <a:srgbClr val="002060"/>
                          </a:solidFill>
                          <a:latin typeface="Cambria Math" panose="02040503050406030204" pitchFamily="18" charset="0"/>
                          <a:ea typeface="Cambria Math" panose="02040503050406030204" pitchFamily="18" charset="0"/>
                        </a:rPr>
                        <m:t>=</m:t>
                      </m:r>
                      <m:f>
                        <m:fPr>
                          <m:ctrlPr>
                            <a:rPr lang="en-US" sz="2400" i="1" smtClean="0">
                              <a:solidFill>
                                <a:srgbClr val="B31591"/>
                              </a:solidFill>
                              <a:latin typeface="Cambria Math" panose="02040503050406030204" pitchFamily="18" charset="0"/>
                              <a:ea typeface="Cambria Math" panose="02040503050406030204" pitchFamily="18" charset="0"/>
                            </a:rPr>
                          </m:ctrlPr>
                        </m:fPr>
                        <m:num>
                          <m:r>
                            <a:rPr lang="en-US" sz="2400" i="1">
                              <a:solidFill>
                                <a:srgbClr val="B31591"/>
                              </a:solidFill>
                              <a:latin typeface="Cambria Math" panose="02040503050406030204" pitchFamily="18" charset="0"/>
                              <a:ea typeface="Cambria Math" panose="02040503050406030204" pitchFamily="18" charset="0"/>
                            </a:rPr>
                            <m:t>15</m:t>
                          </m:r>
                          <m:r>
                            <a:rPr lang="en-US" sz="2400" b="0" i="1" smtClean="0">
                              <a:solidFill>
                                <a:srgbClr val="B31591"/>
                              </a:solidFill>
                              <a:latin typeface="Cambria Math" panose="02040503050406030204" pitchFamily="18" charset="0"/>
                              <a:ea typeface="Cambria Math" panose="02040503050406030204" pitchFamily="18" charset="0"/>
                            </a:rPr>
                            <m:t> . 14 . 13 . 12. 11!</m:t>
                          </m:r>
                        </m:num>
                        <m:den>
                          <m:r>
                            <a:rPr lang="en-US" sz="2400" i="1">
                              <a:solidFill>
                                <a:srgbClr val="B31591"/>
                              </a:solidFill>
                              <a:latin typeface="Cambria Math" panose="02040503050406030204" pitchFamily="18" charset="0"/>
                              <a:ea typeface="Cambria Math" panose="02040503050406030204" pitchFamily="18" charset="0"/>
                            </a:rPr>
                            <m:t>11! </m:t>
                          </m:r>
                          <m:r>
                            <a:rPr lang="en-US" sz="2400" b="0" i="1" smtClean="0">
                              <a:solidFill>
                                <a:srgbClr val="B31591"/>
                              </a:solidFill>
                              <a:latin typeface="Cambria Math" panose="02040503050406030204" pitchFamily="18" charset="0"/>
                              <a:ea typeface="Cambria Math" panose="02040503050406030204" pitchFamily="18" charset="0"/>
                            </a:rPr>
                            <m:t>4.3.2.1</m:t>
                          </m:r>
                        </m:den>
                      </m:f>
                      <m:r>
                        <a:rPr lang="en-US" sz="2400" i="1">
                          <a:solidFill>
                            <a:srgbClr val="B31591"/>
                          </a:solidFill>
                          <a:latin typeface="Cambria Math" panose="02040503050406030204" pitchFamily="18" charset="0"/>
                          <a:ea typeface="Cambria Math" panose="02040503050406030204" pitchFamily="18" charset="0"/>
                        </a:rPr>
                        <m:t>=</m:t>
                      </m:r>
                      <m:r>
                        <a:rPr lang="en-US" sz="2400" b="0" i="1" smtClean="0">
                          <a:solidFill>
                            <a:srgbClr val="B31591"/>
                          </a:solidFill>
                          <a:latin typeface="Cambria Math" panose="02040503050406030204" pitchFamily="18" charset="0"/>
                          <a:ea typeface="Cambria Math" panose="02040503050406030204" pitchFamily="18" charset="0"/>
                        </a:rPr>
                        <m:t>15 . 13 . 7=1365</m:t>
                      </m:r>
                    </m:oMath>
                  </m:oMathPara>
                </a14:m>
                <a:endParaRPr lang="en-US" sz="2400" dirty="0">
                  <a:solidFill>
                    <a:srgbClr val="B31591"/>
                  </a:solidFill>
                  <a:latin typeface="Cambria Math" panose="02040503050406030204" pitchFamily="18" charset="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18903" y="923110"/>
                <a:ext cx="10432868" cy="5812542"/>
              </a:xfrm>
              <a:blipFill>
                <a:blip r:embed="rId2"/>
                <a:stretch>
                  <a:fillRect l="-876" t="-1468" r="-876"/>
                </a:stretch>
              </a:blipFill>
            </p:spPr>
            <p:txBody>
              <a:bodyPr/>
              <a:lstStyle/>
              <a:p>
                <a:r>
                  <a:rPr lang="en-US">
                    <a:noFill/>
                  </a:rPr>
                  <a:t> </a:t>
                </a:r>
              </a:p>
            </p:txBody>
          </p:sp>
        </mc:Fallback>
      </mc:AlternateContent>
    </p:spTree>
    <p:extLst>
      <p:ext uri="{BB962C8B-B14F-4D97-AF65-F5344CB8AC3E}">
        <p14:creationId xmlns:p14="http://schemas.microsoft.com/office/powerpoint/2010/main" val="12199827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8903" y="0"/>
            <a:ext cx="9496696" cy="862149"/>
          </a:xfrm>
        </p:spPr>
        <p:txBody>
          <a:bodyPr>
            <a:normAutofit/>
          </a:bodyPr>
          <a:lstStyle/>
          <a:p>
            <a:r>
              <a:rPr lang="en-US" sz="4000" dirty="0">
                <a:latin typeface="Cambria Math" panose="02040503050406030204" pitchFamily="18" charset="0"/>
                <a:ea typeface="Cambria Math" panose="02040503050406030204" pitchFamily="18" charset="0"/>
              </a:rPr>
              <a:t>Combinations</a:t>
            </a:r>
            <a:r>
              <a:rPr lang="en-US" sz="4000" dirty="0">
                <a:solidFill>
                  <a:srgbClr val="0070C0"/>
                </a:solidFill>
                <a:latin typeface="Cambria Math" panose="02040503050406030204" pitchFamily="18" charset="0"/>
                <a:ea typeface="Cambria Math" panose="02040503050406030204" pitchFamily="18" charset="0"/>
              </a:rPr>
              <a:t>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solidFill>
                <a:srgbClr val="B31591"/>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1018903" y="923110"/>
            <a:ext cx="10432868" cy="5812542"/>
          </a:xfrm>
        </p:spPr>
        <p:txBody>
          <a:bodyPr>
            <a:normAutofit/>
          </a:bodyPr>
          <a:lstStyle/>
          <a:p>
            <a:pPr marL="457200" indent="-457200" algn="just">
              <a:buFont typeface="+mj-lt"/>
              <a:buAutoNum type="arabicPeriod"/>
            </a:pPr>
            <a:r>
              <a:rPr lang="en-US" sz="2400" dirty="0">
                <a:solidFill>
                  <a:srgbClr val="002060"/>
                </a:solidFill>
                <a:latin typeface="Cambria Math" panose="02040503050406030204" pitchFamily="18" charset="0"/>
                <a:ea typeface="Cambria Math" panose="02040503050406030204" pitchFamily="18" charset="0"/>
              </a:rPr>
              <a:t>For a cricket match, in how many different ways can we pick a playing-eleven from a group of 15 players? Given that there is only one wicket keeper among the 15 players and he must be chosen.</a:t>
            </a:r>
          </a:p>
          <a:p>
            <a:pPr marL="457200" indent="-457200" algn="just">
              <a:buFont typeface="+mj-lt"/>
              <a:buAutoNum type="arabicPeriod"/>
            </a:pPr>
            <a:r>
              <a:rPr lang="en-US" sz="2400" dirty="0">
                <a:solidFill>
                  <a:srgbClr val="002060"/>
                </a:solidFill>
                <a:latin typeface="Cambria Math" panose="02040503050406030204" pitchFamily="18" charset="0"/>
                <a:ea typeface="Cambria Math" panose="02040503050406030204" pitchFamily="18" charset="0"/>
              </a:rPr>
              <a:t> We have to choose 5 members of a trade committee from the house of representatives containing 100 members. How many different ways we can do it?</a:t>
            </a:r>
          </a:p>
          <a:p>
            <a:pPr marL="457200" indent="-457200" algn="just">
              <a:buFont typeface="+mj-lt"/>
              <a:buAutoNum type="arabicPeriod"/>
            </a:pPr>
            <a:r>
              <a:rPr lang="en-US" sz="2400" dirty="0">
                <a:solidFill>
                  <a:srgbClr val="002060"/>
                </a:solidFill>
                <a:latin typeface="Cambria Math" panose="02040503050406030204" pitchFamily="18" charset="0"/>
                <a:ea typeface="Cambria Math" panose="02040503050406030204" pitchFamily="18" charset="0"/>
              </a:rPr>
              <a:t>There are ten women and 12 men available in a party. They are going to play a game with five players. At least two women must play the game. How many different ways can we choose players?</a:t>
            </a:r>
          </a:p>
          <a:p>
            <a:pPr marL="457200" indent="-457200" algn="just">
              <a:buFont typeface="+mj-lt"/>
              <a:buAutoNum type="arabicPeriod"/>
            </a:pPr>
            <a:r>
              <a:rPr lang="en-US" sz="2400" dirty="0" err="1">
                <a:solidFill>
                  <a:srgbClr val="002060"/>
                </a:solidFill>
                <a:latin typeface="Cambria Math" panose="02040503050406030204" pitchFamily="18" charset="0"/>
                <a:ea typeface="Cambria Math" panose="02040503050406030204" pitchFamily="18" charset="0"/>
              </a:rPr>
              <a:t>Alika</a:t>
            </a:r>
            <a:r>
              <a:rPr lang="en-US" sz="2400" dirty="0">
                <a:solidFill>
                  <a:srgbClr val="002060"/>
                </a:solidFill>
                <a:latin typeface="Cambria Math" panose="02040503050406030204" pitchFamily="18" charset="0"/>
                <a:ea typeface="Cambria Math" panose="02040503050406030204" pitchFamily="18" charset="0"/>
              </a:rPr>
              <a:t> must pick two elective courses out of eight that are offered. In how many ways can she pick two courses when she will not pick a course named </a:t>
            </a:r>
            <a:r>
              <a:rPr lang="en-US" sz="2400" dirty="0">
                <a:solidFill>
                  <a:srgbClr val="B31591"/>
                </a:solidFill>
                <a:latin typeface="Cambria Math" panose="02040503050406030204" pitchFamily="18" charset="0"/>
                <a:ea typeface="Cambria Math" panose="02040503050406030204" pitchFamily="18" charset="0"/>
              </a:rPr>
              <a:t>UI/UX Design</a:t>
            </a:r>
            <a:r>
              <a:rPr lang="en-US" sz="2400" dirty="0">
                <a:solidFill>
                  <a:srgbClr val="002060"/>
                </a:solidFill>
                <a:latin typeface="Cambria Math" panose="02040503050406030204" pitchFamily="18" charset="0"/>
                <a:ea typeface="Cambria Math" panose="02040503050406030204" pitchFamily="18" charset="0"/>
              </a:rPr>
              <a:t>?</a:t>
            </a:r>
          </a:p>
        </p:txBody>
      </p:sp>
    </p:spTree>
    <p:extLst>
      <p:ext uri="{BB962C8B-B14F-4D97-AF65-F5344CB8AC3E}">
        <p14:creationId xmlns:p14="http://schemas.microsoft.com/office/powerpoint/2010/main" val="37283973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2BE9D-DA66-D1FA-BE3E-538A74631D2E}"/>
              </a:ext>
            </a:extLst>
          </p:cNvPr>
          <p:cNvSpPr>
            <a:spLocks noGrp="1"/>
          </p:cNvSpPr>
          <p:nvPr>
            <p:ph type="title"/>
          </p:nvPr>
        </p:nvSpPr>
        <p:spPr>
          <a:xfrm>
            <a:off x="743309" y="0"/>
            <a:ext cx="10515600" cy="870266"/>
          </a:xfrm>
        </p:spPr>
        <p:txBody>
          <a:bodyPr/>
          <a:lstStyle/>
          <a:p>
            <a:r>
              <a:rPr lang="en-US" sz="4000" dirty="0">
                <a:latin typeface="Cambria Math" panose="02040503050406030204" pitchFamily="18" charset="0"/>
                <a:ea typeface="Cambria Math" panose="02040503050406030204" pitchFamily="18" charset="0"/>
              </a:rPr>
              <a:t>Combinations with Repetitions</a:t>
            </a:r>
          </a:p>
        </p:txBody>
      </p:sp>
      <p:pic>
        <p:nvPicPr>
          <p:cNvPr id="6" name="Content Placeholder 5">
            <a:extLst>
              <a:ext uri="{FF2B5EF4-FFF2-40B4-BE49-F238E27FC236}">
                <a16:creationId xmlns:a16="http://schemas.microsoft.com/office/drawing/2014/main" id="{23CB50C0-139B-97E3-E74C-0AFAF63B972D}"/>
              </a:ext>
            </a:extLst>
          </p:cNvPr>
          <p:cNvPicPr>
            <a:picLocks noGrp="1" noChangeAspect="1"/>
          </p:cNvPicPr>
          <p:nvPr>
            <p:ph idx="1"/>
          </p:nvPr>
        </p:nvPicPr>
        <p:blipFill>
          <a:blip r:embed="rId2"/>
          <a:stretch>
            <a:fillRect/>
          </a:stretch>
        </p:blipFill>
        <p:spPr>
          <a:xfrm>
            <a:off x="1060330" y="1004153"/>
            <a:ext cx="9810260" cy="870265"/>
          </a:xfrm>
          <a:prstGeom prst="rect">
            <a:avLst/>
          </a:prstGeom>
          <a:ln w="88900" cap="sq" cmpd="thickThin">
            <a:solidFill>
              <a:srgbClr val="FF3399"/>
            </a:solidFill>
            <a:prstDash val="solid"/>
            <a:miter lim="800000"/>
          </a:ln>
          <a:effectLst>
            <a:innerShdw blurRad="76200">
              <a:srgbClr val="000000"/>
            </a:innerShdw>
          </a:effectLst>
        </p:spPr>
      </p:pic>
      <p:sp>
        <p:nvSpPr>
          <p:cNvPr id="7" name="Content Placeholder 2">
            <a:extLst>
              <a:ext uri="{FF2B5EF4-FFF2-40B4-BE49-F238E27FC236}">
                <a16:creationId xmlns:a16="http://schemas.microsoft.com/office/drawing/2014/main" id="{D0D90CFC-3CD1-C180-93BA-9A7F5A3AB0CD}"/>
              </a:ext>
            </a:extLst>
          </p:cNvPr>
          <p:cNvSpPr txBox="1">
            <a:spLocks/>
          </p:cNvSpPr>
          <p:nvPr/>
        </p:nvSpPr>
        <p:spPr>
          <a:xfrm>
            <a:off x="1018903" y="2087592"/>
            <a:ext cx="10432868" cy="457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2400" b="1" dirty="0">
                <a:solidFill>
                  <a:srgbClr val="002060"/>
                </a:solidFill>
                <a:latin typeface="Cambria Math" panose="02040503050406030204" pitchFamily="18" charset="0"/>
                <a:ea typeface="Cambria Math" panose="02040503050406030204" pitchFamily="18" charset="0"/>
              </a:rPr>
              <a:t>Example:</a:t>
            </a:r>
          </a:p>
          <a:p>
            <a:pPr marL="0" indent="0" algn="just">
              <a:buFont typeface="Arial" panose="020B0604020202020204" pitchFamily="34" charset="0"/>
              <a:buNone/>
            </a:pPr>
            <a:endParaRPr lang="en-US" sz="2400" dirty="0">
              <a:solidFill>
                <a:srgbClr val="B31591"/>
              </a:solidFill>
              <a:latin typeface="Cambria Math" panose="02040503050406030204" pitchFamily="18" charset="0"/>
              <a:ea typeface="Cambria Math" panose="02040503050406030204" pitchFamily="18" charset="0"/>
            </a:endParaRPr>
          </a:p>
          <a:p>
            <a:pPr marL="0" indent="0" algn="just">
              <a:buFont typeface="Arial" panose="020B0604020202020204" pitchFamily="34" charset="0"/>
              <a:buNone/>
            </a:pPr>
            <a:endParaRPr lang="en-US" sz="2400" dirty="0">
              <a:solidFill>
                <a:srgbClr val="B31591"/>
              </a:solidFill>
              <a:latin typeface="Cambria Math" panose="02040503050406030204" pitchFamily="18" charset="0"/>
              <a:ea typeface="Cambria Math" panose="02040503050406030204" pitchFamily="18" charset="0"/>
            </a:endParaRPr>
          </a:p>
        </p:txBody>
      </p:sp>
      <p:pic>
        <p:nvPicPr>
          <p:cNvPr id="8" name="Picture 7">
            <a:extLst>
              <a:ext uri="{FF2B5EF4-FFF2-40B4-BE49-F238E27FC236}">
                <a16:creationId xmlns:a16="http://schemas.microsoft.com/office/drawing/2014/main" id="{98A8CD4E-974F-AB89-7788-5EB2EF5BDBEC}"/>
              </a:ext>
            </a:extLst>
          </p:cNvPr>
          <p:cNvPicPr>
            <a:picLocks noChangeAspect="1"/>
          </p:cNvPicPr>
          <p:nvPr/>
        </p:nvPicPr>
        <p:blipFill>
          <a:blip r:embed="rId3"/>
          <a:stretch>
            <a:fillRect/>
          </a:stretch>
        </p:blipFill>
        <p:spPr>
          <a:xfrm>
            <a:off x="1018903" y="2544792"/>
            <a:ext cx="10240006" cy="1443793"/>
          </a:xfrm>
          <a:prstGeom prst="rect">
            <a:avLst/>
          </a:prstGeom>
        </p:spPr>
      </p:pic>
      <p:sp>
        <p:nvSpPr>
          <p:cNvPr id="9" name="Content Placeholder 2">
            <a:extLst>
              <a:ext uri="{FF2B5EF4-FFF2-40B4-BE49-F238E27FC236}">
                <a16:creationId xmlns:a16="http://schemas.microsoft.com/office/drawing/2014/main" id="{D5DE89B1-1D6A-B793-B039-3C0C4196817A}"/>
              </a:ext>
            </a:extLst>
          </p:cNvPr>
          <p:cNvSpPr txBox="1">
            <a:spLocks/>
          </p:cNvSpPr>
          <p:nvPr/>
        </p:nvSpPr>
        <p:spPr>
          <a:xfrm>
            <a:off x="1018903" y="4011588"/>
            <a:ext cx="10432868" cy="9831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2400" b="1" dirty="0">
                <a:solidFill>
                  <a:srgbClr val="002060"/>
                </a:solidFill>
                <a:latin typeface="Cambria Math" panose="02040503050406030204" pitchFamily="18" charset="0"/>
                <a:ea typeface="Cambria Math" panose="02040503050406030204" pitchFamily="18" charset="0"/>
              </a:rPr>
              <a:t>Solution:</a:t>
            </a:r>
          </a:p>
          <a:p>
            <a:pPr marL="0" indent="0" algn="just">
              <a:buFont typeface="Arial" panose="020B0604020202020204" pitchFamily="34" charset="0"/>
              <a:buNone/>
            </a:pPr>
            <a:r>
              <a:rPr lang="en-US" sz="2400" b="1" dirty="0">
                <a:solidFill>
                  <a:srgbClr val="002060"/>
                </a:solidFill>
                <a:latin typeface="Cambria Math" panose="02040503050406030204" pitchFamily="18" charset="0"/>
                <a:ea typeface="Cambria Math" panose="02040503050406030204" pitchFamily="18" charset="0"/>
              </a:rPr>
              <a:t>n = </a:t>
            </a:r>
            <a:r>
              <a:rPr lang="en-US" sz="2400" b="1" dirty="0">
                <a:solidFill>
                  <a:srgbClr val="B31591"/>
                </a:solidFill>
                <a:latin typeface="Cambria Math" panose="02040503050406030204" pitchFamily="18" charset="0"/>
                <a:ea typeface="Cambria Math" panose="02040503050406030204" pitchFamily="18" charset="0"/>
              </a:rPr>
              <a:t>7</a:t>
            </a:r>
            <a:r>
              <a:rPr lang="en-US" sz="2400" b="1" dirty="0">
                <a:solidFill>
                  <a:srgbClr val="002060"/>
                </a:solidFill>
                <a:latin typeface="Cambria Math" panose="02040503050406030204" pitchFamily="18" charset="0"/>
                <a:ea typeface="Cambria Math" panose="02040503050406030204" pitchFamily="18" charset="0"/>
              </a:rPr>
              <a:t>, r = </a:t>
            </a:r>
            <a:r>
              <a:rPr lang="en-US" sz="2400" b="1" dirty="0">
                <a:solidFill>
                  <a:srgbClr val="B31591"/>
                </a:solidFill>
                <a:latin typeface="Cambria Math" panose="02040503050406030204" pitchFamily="18" charset="0"/>
                <a:ea typeface="Cambria Math" panose="02040503050406030204" pitchFamily="18" charset="0"/>
              </a:rPr>
              <a:t>5</a:t>
            </a:r>
          </a:p>
          <a:p>
            <a:pPr marL="0" indent="0" algn="just">
              <a:buFont typeface="Arial" panose="020B0604020202020204" pitchFamily="34" charset="0"/>
              <a:buNone/>
            </a:pPr>
            <a:endParaRPr lang="en-US" sz="2400" b="1" dirty="0">
              <a:solidFill>
                <a:srgbClr val="002060"/>
              </a:solidFill>
              <a:latin typeface="Cambria Math" panose="02040503050406030204" pitchFamily="18" charset="0"/>
              <a:ea typeface="Cambria Math" panose="02040503050406030204" pitchFamily="18" charset="0"/>
            </a:endParaRPr>
          </a:p>
          <a:p>
            <a:pPr marL="0" indent="0" algn="just">
              <a:buFont typeface="Arial" panose="020B0604020202020204" pitchFamily="34" charset="0"/>
              <a:buNone/>
            </a:pPr>
            <a:endParaRPr lang="en-US" sz="2400" dirty="0">
              <a:solidFill>
                <a:srgbClr val="B31591"/>
              </a:solidFill>
              <a:latin typeface="Cambria Math" panose="02040503050406030204" pitchFamily="18" charset="0"/>
              <a:ea typeface="Cambria Math" panose="02040503050406030204" pitchFamily="18" charset="0"/>
            </a:endParaRPr>
          </a:p>
          <a:p>
            <a:pPr marL="0" indent="0" algn="just">
              <a:buFont typeface="Arial" panose="020B0604020202020204" pitchFamily="34" charset="0"/>
              <a:buNone/>
            </a:pPr>
            <a:endParaRPr lang="en-US" sz="2400" dirty="0">
              <a:solidFill>
                <a:srgbClr val="B31591"/>
              </a:solidFill>
              <a:latin typeface="Cambria Math" panose="02040503050406030204" pitchFamily="18" charset="0"/>
              <a:ea typeface="Cambria Math" panose="02040503050406030204" pitchFamily="18" charset="0"/>
            </a:endParaRPr>
          </a:p>
        </p:txBody>
      </p:sp>
      <p:pic>
        <p:nvPicPr>
          <p:cNvPr id="10" name="Picture 9">
            <a:extLst>
              <a:ext uri="{FF2B5EF4-FFF2-40B4-BE49-F238E27FC236}">
                <a16:creationId xmlns:a16="http://schemas.microsoft.com/office/drawing/2014/main" id="{B3E3B552-C325-4F05-DB1A-9F09F8E71C6D}"/>
              </a:ext>
            </a:extLst>
          </p:cNvPr>
          <p:cNvPicPr>
            <a:picLocks noChangeAspect="1"/>
          </p:cNvPicPr>
          <p:nvPr/>
        </p:nvPicPr>
        <p:blipFill>
          <a:blip r:embed="rId4"/>
          <a:stretch>
            <a:fillRect/>
          </a:stretch>
        </p:blipFill>
        <p:spPr>
          <a:xfrm>
            <a:off x="630715" y="4839560"/>
            <a:ext cx="4081365" cy="1231641"/>
          </a:xfrm>
          <a:prstGeom prst="rect">
            <a:avLst/>
          </a:prstGeom>
        </p:spPr>
      </p:pic>
    </p:spTree>
    <p:extLst>
      <p:ext uri="{BB962C8B-B14F-4D97-AF65-F5344CB8AC3E}">
        <p14:creationId xmlns:p14="http://schemas.microsoft.com/office/powerpoint/2010/main" val="14761101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2BE9D-DA66-D1FA-BE3E-538A74631D2E}"/>
              </a:ext>
            </a:extLst>
          </p:cNvPr>
          <p:cNvSpPr>
            <a:spLocks noGrp="1"/>
          </p:cNvSpPr>
          <p:nvPr>
            <p:ph type="title"/>
          </p:nvPr>
        </p:nvSpPr>
        <p:spPr>
          <a:xfrm>
            <a:off x="743309" y="0"/>
            <a:ext cx="10515600" cy="870266"/>
          </a:xfrm>
        </p:spPr>
        <p:txBody>
          <a:bodyPr/>
          <a:lstStyle/>
          <a:p>
            <a:r>
              <a:rPr lang="en-US" sz="4000" dirty="0">
                <a:latin typeface="Cambria Math" panose="02040503050406030204" pitchFamily="18" charset="0"/>
                <a:ea typeface="Cambria Math" panose="02040503050406030204" pitchFamily="18" charset="0"/>
              </a:rPr>
              <a:t>Permutations with Repetitions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solidFill>
                <a:srgbClr val="B31591"/>
              </a:solidFill>
              <a:latin typeface="Cambria Math" panose="02040503050406030204" pitchFamily="18" charset="0"/>
              <a:ea typeface="Cambria Math" panose="02040503050406030204" pitchFamily="18" charset="0"/>
            </a:endParaRPr>
          </a:p>
        </p:txBody>
      </p:sp>
      <p:sp>
        <p:nvSpPr>
          <p:cNvPr id="5" name="Content Placeholder 4">
            <a:extLst>
              <a:ext uri="{FF2B5EF4-FFF2-40B4-BE49-F238E27FC236}">
                <a16:creationId xmlns:a16="http://schemas.microsoft.com/office/drawing/2014/main" id="{5F161019-E3FA-DDC3-6653-60CB367CCF79}"/>
              </a:ext>
            </a:extLst>
          </p:cNvPr>
          <p:cNvSpPr>
            <a:spLocks noGrp="1"/>
          </p:cNvSpPr>
          <p:nvPr>
            <p:ph idx="1"/>
          </p:nvPr>
        </p:nvSpPr>
        <p:spPr>
          <a:xfrm>
            <a:off x="838200" y="931654"/>
            <a:ext cx="10515600" cy="5245310"/>
          </a:xfrm>
        </p:spPr>
        <p:txBody>
          <a:bodyPr>
            <a:normAutofit/>
          </a:bodyPr>
          <a:lstStyle/>
          <a:p>
            <a:pPr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A bakery has four types of cookies. In how many ways can we pick six cookies? Assume that there are more than six cookies available for each type of cookies. </a:t>
            </a:r>
            <a:r>
              <a:rPr lang="en-US" sz="2400" dirty="0">
                <a:solidFill>
                  <a:srgbClr val="B31591"/>
                </a:solidFill>
                <a:latin typeface="Cambria Math" panose="02040503050406030204" pitchFamily="18" charset="0"/>
                <a:ea typeface="Cambria Math" panose="02040503050406030204" pitchFamily="18" charset="0"/>
              </a:rPr>
              <a:t>Moreover, the cookies of one type are indistinguishable.</a:t>
            </a:r>
          </a:p>
          <a:p>
            <a:pPr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How many solutions of the equation </a:t>
            </a:r>
            <a:r>
              <a:rPr lang="en-US" sz="2400" b="1" i="1" dirty="0">
                <a:solidFill>
                  <a:srgbClr val="B31591"/>
                </a:solidFill>
                <a:latin typeface="Cambria Math" panose="02040503050406030204" pitchFamily="18" charset="0"/>
                <a:ea typeface="Cambria Math" panose="02040503050406030204" pitchFamily="18" charset="0"/>
              </a:rPr>
              <a:t>x + y + z = 11</a:t>
            </a:r>
            <a:r>
              <a:rPr lang="en-US" sz="2400" dirty="0">
                <a:latin typeface="Cambria Math" panose="02040503050406030204" pitchFamily="18" charset="0"/>
                <a:ea typeface="Cambria Math" panose="02040503050406030204" pitchFamily="18" charset="0"/>
              </a:rPr>
              <a:t> are possible where x, y and z are non-negative integers?</a:t>
            </a:r>
          </a:p>
          <a:p>
            <a:pPr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How many solutions of the equation </a:t>
            </a:r>
            <a:r>
              <a:rPr lang="en-US" sz="2400" b="1" i="1" dirty="0">
                <a:solidFill>
                  <a:srgbClr val="B31591"/>
                </a:solidFill>
                <a:latin typeface="Cambria Math" panose="02040503050406030204" pitchFamily="18" charset="0"/>
                <a:ea typeface="Cambria Math" panose="02040503050406030204" pitchFamily="18" charset="0"/>
              </a:rPr>
              <a:t>x + y + z = 11</a:t>
            </a:r>
            <a:r>
              <a:rPr lang="en-US" sz="2400" dirty="0">
                <a:latin typeface="Cambria Math" panose="02040503050406030204" pitchFamily="18" charset="0"/>
                <a:ea typeface="Cambria Math" panose="02040503050406030204" pitchFamily="18" charset="0"/>
              </a:rPr>
              <a:t> are possible where x, y and z are non-negative integers? Given that </a:t>
            </a:r>
            <a:r>
              <a:rPr lang="en-US" sz="2400" dirty="0">
                <a:solidFill>
                  <a:srgbClr val="B31591"/>
                </a:solidFill>
                <a:latin typeface="Cambria Math" panose="02040503050406030204" pitchFamily="18" charset="0"/>
                <a:ea typeface="Cambria Math" panose="02040503050406030204" pitchFamily="18" charset="0"/>
              </a:rPr>
              <a:t>x </a:t>
            </a:r>
            <a:r>
              <a:rPr lang="en-US" sz="2400" dirty="0">
                <a:solidFill>
                  <a:srgbClr val="B31591"/>
                </a:solidFill>
                <a:effectLst/>
                <a:latin typeface="Cambria Math" panose="02040503050406030204" pitchFamily="18" charset="0"/>
                <a:ea typeface="Calibri" panose="020F0502020204030204" pitchFamily="34" charset="0"/>
                <a:cs typeface="Calibri" panose="020F0502020204030204" pitchFamily="34" charset="0"/>
              </a:rPr>
              <a:t>≥ 1, y ≥ 2 and z ≥ 3</a:t>
            </a:r>
            <a:r>
              <a:rPr lang="en-US" sz="2400" dirty="0">
                <a:effectLst/>
                <a:latin typeface="Cambria Math" panose="02040503050406030204" pitchFamily="18" charset="0"/>
                <a:ea typeface="Calibri" panose="020F0502020204030204" pitchFamily="34" charset="0"/>
                <a:cs typeface="Calibri" panose="020F0502020204030204" pitchFamily="34" charset="0"/>
              </a:rPr>
              <a:t>.</a:t>
            </a:r>
            <a:endParaRPr lang="en-US" sz="2400" dirty="0">
              <a:latin typeface="Cambria Math" panose="02040503050406030204" pitchFamily="18" charset="0"/>
              <a:ea typeface="Cambria Math" panose="02040503050406030204" pitchFamily="18" charset="0"/>
            </a:endParaRPr>
          </a:p>
          <a:p>
            <a:pPr algn="just">
              <a:buFont typeface="Wingdings" panose="05000000000000000000" pitchFamily="2" charset="2"/>
              <a:buChar char="ü"/>
            </a:pPr>
            <a:endParaRPr lang="en-US"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180909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7" name="Table 7">
                <a:extLst>
                  <a:ext uri="{FF2B5EF4-FFF2-40B4-BE49-F238E27FC236}">
                    <a16:creationId xmlns:a16="http://schemas.microsoft.com/office/drawing/2014/main" id="{47C64309-61B8-0247-9EAD-810928CDE168}"/>
                  </a:ext>
                </a:extLst>
              </p:cNvPr>
              <p:cNvGraphicFramePr>
                <a:graphicFrameLocks noGrp="1"/>
              </p:cNvGraphicFramePr>
              <p:nvPr>
                <p:ph idx="1"/>
              </p:nvPr>
            </p:nvGraphicFramePr>
            <p:xfrm>
              <a:off x="838200" y="1825625"/>
              <a:ext cx="10515597" cy="3651695"/>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791636195"/>
                        </a:ext>
                      </a:extLst>
                    </a:gridCol>
                    <a:gridCol w="3505199">
                      <a:extLst>
                        <a:ext uri="{9D8B030D-6E8A-4147-A177-3AD203B41FA5}">
                          <a16:colId xmlns:a16="http://schemas.microsoft.com/office/drawing/2014/main" val="1315599495"/>
                        </a:ext>
                      </a:extLst>
                    </a:gridCol>
                    <a:gridCol w="3505199">
                      <a:extLst>
                        <a:ext uri="{9D8B030D-6E8A-4147-A177-3AD203B41FA5}">
                          <a16:colId xmlns:a16="http://schemas.microsoft.com/office/drawing/2014/main" val="1285699670"/>
                        </a:ext>
                      </a:extLst>
                    </a:gridCol>
                  </a:tblGrid>
                  <a:tr h="370840">
                    <a:tc gridSpan="3">
                      <a:txBody>
                        <a:bodyPr/>
                        <a:lstStyle/>
                        <a:p>
                          <a:pPr algn="ctr"/>
                          <a:r>
                            <a:rPr lang="en-US" sz="2400" dirty="0">
                              <a:latin typeface="Cambria Math" panose="02040503050406030204" pitchFamily="18" charset="0"/>
                              <a:ea typeface="Cambria Math" panose="02040503050406030204" pitchFamily="18" charset="0"/>
                            </a:rPr>
                            <a:t>Permutations and Combinations with / without repetitions </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222679483"/>
                      </a:ext>
                    </a:extLst>
                  </a:tr>
                  <a:tr h="370840">
                    <a:tc>
                      <a:txBody>
                        <a:bodyPr/>
                        <a:lstStyle/>
                        <a:p>
                          <a:pPr algn="ctr"/>
                          <a:r>
                            <a:rPr lang="en-US" sz="2400" b="1" dirty="0">
                              <a:solidFill>
                                <a:srgbClr val="B31591"/>
                              </a:solidFill>
                              <a:latin typeface="Cambria Math" panose="02040503050406030204" pitchFamily="18" charset="0"/>
                              <a:ea typeface="Cambria Math" panose="02040503050406030204" pitchFamily="18" charset="0"/>
                            </a:rPr>
                            <a:t>Type</a:t>
                          </a:r>
                        </a:p>
                      </a:txBody>
                      <a:tcPr/>
                    </a:tc>
                    <a:tc>
                      <a:txBody>
                        <a:bodyPr/>
                        <a:lstStyle/>
                        <a:p>
                          <a:pPr algn="ctr"/>
                          <a:r>
                            <a:rPr lang="en-US" sz="2400" b="1" dirty="0">
                              <a:solidFill>
                                <a:srgbClr val="B31591"/>
                              </a:solidFill>
                              <a:latin typeface="Cambria Math" panose="02040503050406030204" pitchFamily="18" charset="0"/>
                              <a:ea typeface="Cambria Math" panose="02040503050406030204" pitchFamily="18" charset="0"/>
                            </a:rPr>
                            <a:t>Repetition Allowed</a:t>
                          </a:r>
                        </a:p>
                      </a:txBody>
                      <a:tcPr/>
                    </a:tc>
                    <a:tc>
                      <a:txBody>
                        <a:bodyPr/>
                        <a:lstStyle/>
                        <a:p>
                          <a:pPr algn="ctr"/>
                          <a:r>
                            <a:rPr lang="en-US" sz="2400" b="1" dirty="0">
                              <a:solidFill>
                                <a:srgbClr val="B31591"/>
                              </a:solidFill>
                              <a:latin typeface="Cambria Math" panose="02040503050406030204" pitchFamily="18" charset="0"/>
                              <a:ea typeface="Cambria Math" panose="02040503050406030204" pitchFamily="18" charset="0"/>
                            </a:rPr>
                            <a:t>Formula</a:t>
                          </a:r>
                        </a:p>
                      </a:txBody>
                      <a:tcPr/>
                    </a:tc>
                    <a:extLst>
                      <a:ext uri="{0D108BD9-81ED-4DB2-BD59-A6C34878D82A}">
                        <a16:rowId xmlns:a16="http://schemas.microsoft.com/office/drawing/2014/main" val="3977327269"/>
                      </a:ext>
                    </a:extLst>
                  </a:tr>
                  <a:tr h="370840">
                    <a:tc>
                      <a:txBody>
                        <a:bodyPr/>
                        <a:lstStyle/>
                        <a:p>
                          <a:pPr algn="ctr"/>
                          <a:r>
                            <a:rPr lang="en-US" dirty="0">
                              <a:latin typeface="Cambria Math" panose="02040503050406030204" pitchFamily="18" charset="0"/>
                              <a:ea typeface="Cambria Math" panose="02040503050406030204" pitchFamily="18" charset="0"/>
                            </a:rPr>
                            <a:t>R-permutation</a:t>
                          </a:r>
                        </a:p>
                      </a:txBody>
                      <a:tcPr/>
                    </a:tc>
                    <a:tc>
                      <a:txBody>
                        <a:bodyPr/>
                        <a:lstStyle/>
                        <a:p>
                          <a:pPr algn="ctr"/>
                          <a:r>
                            <a:rPr lang="en-US" dirty="0">
                              <a:latin typeface="Cambria Math" panose="02040503050406030204" pitchFamily="18" charset="0"/>
                              <a:ea typeface="Cambria Math" panose="02040503050406030204" pitchFamily="18" charset="0"/>
                            </a:rPr>
                            <a:t>No</a:t>
                          </a:r>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sz="220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𝑛</m:t>
                                    </m:r>
                                    <m:r>
                                      <a:rPr lang="en-US" sz="2200" b="0" i="1" smtClean="0">
                                        <a:latin typeface="Cambria Math" panose="02040503050406030204" pitchFamily="18" charset="0"/>
                                        <a:ea typeface="Cambria Math" panose="02040503050406030204" pitchFamily="18" charset="0"/>
                                      </a:rPr>
                                      <m:t>!</m:t>
                                    </m:r>
                                  </m:num>
                                  <m:den>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𝑛</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𝑟</m:t>
                                        </m:r>
                                      </m:e>
                                    </m:d>
                                    <m:r>
                                      <a:rPr lang="en-US" sz="2200" b="0" i="1" smtClean="0">
                                        <a:latin typeface="Cambria Math" panose="02040503050406030204" pitchFamily="18" charset="0"/>
                                        <a:ea typeface="Cambria Math" panose="02040503050406030204" pitchFamily="18" charset="0"/>
                                      </a:rPr>
                                      <m:t>!</m:t>
                                    </m:r>
                                  </m:den>
                                </m:f>
                              </m:oMath>
                            </m:oMathPara>
                          </a14:m>
                          <a:endParaRPr lang="en-US" sz="22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970138974"/>
                      </a:ext>
                    </a:extLst>
                  </a:tr>
                  <a:tr h="370840">
                    <a:tc>
                      <a:txBody>
                        <a:bodyPr/>
                        <a:lstStyle/>
                        <a:p>
                          <a:pPr algn="ctr"/>
                          <a:r>
                            <a:rPr lang="en-US" dirty="0">
                              <a:latin typeface="Cambria Math" panose="02040503050406030204" pitchFamily="18" charset="0"/>
                              <a:ea typeface="Cambria Math" panose="02040503050406030204" pitchFamily="18" charset="0"/>
                            </a:rPr>
                            <a:t>R-combination</a:t>
                          </a:r>
                        </a:p>
                      </a:txBody>
                      <a:tcPr/>
                    </a:tc>
                    <a:tc>
                      <a:txBody>
                        <a:bodyPr/>
                        <a:lstStyle/>
                        <a:p>
                          <a:pPr algn="ctr"/>
                          <a:r>
                            <a:rPr lang="en-US" dirty="0">
                              <a:latin typeface="Cambria Math" panose="02040503050406030204" pitchFamily="18" charset="0"/>
                              <a:ea typeface="Cambria Math" panose="02040503050406030204" pitchFamily="18" charset="0"/>
                            </a:rPr>
                            <a:t>No</a:t>
                          </a:r>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sz="220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𝑛</m:t>
                                    </m:r>
                                    <m:r>
                                      <a:rPr lang="en-US" sz="2200" b="0" i="1" smtClean="0">
                                        <a:latin typeface="Cambria Math" panose="02040503050406030204" pitchFamily="18" charset="0"/>
                                        <a:ea typeface="Cambria Math" panose="02040503050406030204" pitchFamily="18" charset="0"/>
                                      </a:rPr>
                                      <m:t>!</m:t>
                                    </m:r>
                                  </m:num>
                                  <m:den>
                                    <m:r>
                                      <a:rPr lang="en-US" sz="2200" b="0" i="1" smtClean="0">
                                        <a:latin typeface="Cambria Math" panose="02040503050406030204" pitchFamily="18" charset="0"/>
                                        <a:ea typeface="Cambria Math" panose="02040503050406030204" pitchFamily="18" charset="0"/>
                                      </a:rPr>
                                      <m:t>𝑟</m:t>
                                    </m:r>
                                    <m:r>
                                      <a:rPr lang="en-US" sz="2200" b="0" i="1" smtClean="0">
                                        <a:latin typeface="Cambria Math" panose="02040503050406030204" pitchFamily="18" charset="0"/>
                                        <a:ea typeface="Cambria Math" panose="02040503050406030204" pitchFamily="18" charset="0"/>
                                      </a:rPr>
                                      <m:t>! </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𝑛</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𝑟</m:t>
                                        </m:r>
                                      </m:e>
                                    </m:d>
                                    <m:r>
                                      <a:rPr lang="en-US" sz="2200" b="0" i="1" smtClean="0">
                                        <a:latin typeface="Cambria Math" panose="02040503050406030204" pitchFamily="18" charset="0"/>
                                        <a:ea typeface="Cambria Math" panose="02040503050406030204" pitchFamily="18" charset="0"/>
                                      </a:rPr>
                                      <m:t>!</m:t>
                                    </m:r>
                                  </m:den>
                                </m:f>
                              </m:oMath>
                            </m:oMathPara>
                          </a14:m>
                          <a:endParaRPr lang="en-US" sz="22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555033740"/>
                      </a:ext>
                    </a:extLst>
                  </a:tr>
                  <a:tr h="370840">
                    <a:tc>
                      <a:txBody>
                        <a:bodyPr/>
                        <a:lstStyle/>
                        <a:p>
                          <a:pPr algn="ctr"/>
                          <a:r>
                            <a:rPr lang="en-US" dirty="0">
                              <a:latin typeface="Cambria Math" panose="02040503050406030204" pitchFamily="18" charset="0"/>
                              <a:ea typeface="Cambria Math" panose="02040503050406030204" pitchFamily="18" charset="0"/>
                            </a:rPr>
                            <a:t>R-permutation</a:t>
                          </a:r>
                        </a:p>
                      </a:txBody>
                      <a:tcPr/>
                    </a:tc>
                    <a:tc>
                      <a:txBody>
                        <a:bodyPr/>
                        <a:lstStyle/>
                        <a:p>
                          <a:pPr algn="ctr"/>
                          <a:r>
                            <a:rPr lang="en-US" dirty="0">
                              <a:latin typeface="Cambria Math" panose="02040503050406030204" pitchFamily="18" charset="0"/>
                              <a:ea typeface="Cambria Math" panose="02040503050406030204" pitchFamily="18" charset="0"/>
                            </a:rPr>
                            <a:t>Yes</a:t>
                          </a:r>
                        </a:p>
                      </a:txBody>
                      <a:tcPr/>
                    </a:tc>
                    <a:tc>
                      <a:txBody>
                        <a:bodyPr/>
                        <a:lstStyle/>
                        <a:p>
                          <a:pPr algn="ctr"/>
                          <a:r>
                            <a:rPr lang="en-US" sz="2200" dirty="0">
                              <a:latin typeface="Cambria Math" panose="02040503050406030204" pitchFamily="18" charset="0"/>
                              <a:ea typeface="Cambria Math" panose="02040503050406030204" pitchFamily="18" charset="0"/>
                            </a:rPr>
                            <a:t>n</a:t>
                          </a:r>
                          <a:r>
                            <a:rPr lang="en-US" sz="2200" baseline="30000" dirty="0">
                              <a:latin typeface="Cambria Math" panose="02040503050406030204" pitchFamily="18" charset="0"/>
                              <a:ea typeface="Cambria Math" panose="02040503050406030204" pitchFamily="18" charset="0"/>
                            </a:rPr>
                            <a:t>r</a:t>
                          </a:r>
                        </a:p>
                      </a:txBody>
                      <a:tcPr/>
                    </a:tc>
                    <a:extLst>
                      <a:ext uri="{0D108BD9-81ED-4DB2-BD59-A6C34878D82A}">
                        <a16:rowId xmlns:a16="http://schemas.microsoft.com/office/drawing/2014/main" val="2763899907"/>
                      </a:ext>
                    </a:extLst>
                  </a:tr>
                  <a:tr h="370840">
                    <a:tc>
                      <a:txBody>
                        <a:bodyPr/>
                        <a:lstStyle/>
                        <a:p>
                          <a:pPr algn="ctr"/>
                          <a:r>
                            <a:rPr lang="en-US" dirty="0">
                              <a:latin typeface="Cambria Math" panose="02040503050406030204" pitchFamily="18" charset="0"/>
                              <a:ea typeface="Cambria Math" panose="02040503050406030204" pitchFamily="18" charset="0"/>
                            </a:rPr>
                            <a:t>R-combination</a:t>
                          </a:r>
                        </a:p>
                      </a:txBody>
                      <a:tcPr/>
                    </a:tc>
                    <a:tc>
                      <a:txBody>
                        <a:bodyPr/>
                        <a:lstStyle/>
                        <a:p>
                          <a:pPr algn="ctr"/>
                          <a:r>
                            <a:rPr lang="en-US" dirty="0">
                              <a:latin typeface="Cambria Math" panose="02040503050406030204" pitchFamily="18" charset="0"/>
                              <a:ea typeface="Cambria Math" panose="02040503050406030204" pitchFamily="18" charset="0"/>
                            </a:rPr>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220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𝑛</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𝑟</m:t>
                                    </m:r>
                                    <m:r>
                                      <a:rPr lang="en-US" sz="2200" b="0" i="1" smtClean="0">
                                        <a:latin typeface="Cambria Math" panose="02040503050406030204" pitchFamily="18" charset="0"/>
                                        <a:ea typeface="Cambria Math" panose="02040503050406030204" pitchFamily="18" charset="0"/>
                                      </a:rPr>
                                      <m:t>−1)!</m:t>
                                    </m:r>
                                  </m:num>
                                  <m:den>
                                    <m:r>
                                      <a:rPr lang="en-US" sz="2200" b="0" i="1" smtClean="0">
                                        <a:latin typeface="Cambria Math" panose="02040503050406030204" pitchFamily="18" charset="0"/>
                                        <a:ea typeface="Cambria Math" panose="02040503050406030204" pitchFamily="18" charset="0"/>
                                      </a:rPr>
                                      <m:t>𝑟</m:t>
                                    </m:r>
                                    <m:r>
                                      <a:rPr lang="en-US" sz="2200" b="0" i="1" smtClean="0">
                                        <a:latin typeface="Cambria Math" panose="02040503050406030204" pitchFamily="18" charset="0"/>
                                        <a:ea typeface="Cambria Math" panose="02040503050406030204" pitchFamily="18" charset="0"/>
                                      </a:rPr>
                                      <m:t>! </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𝑛</m:t>
                                        </m:r>
                                        <m:r>
                                          <a:rPr lang="en-US" sz="2200" b="0" i="1" smtClean="0">
                                            <a:latin typeface="Cambria Math" panose="02040503050406030204" pitchFamily="18" charset="0"/>
                                            <a:ea typeface="Cambria Math" panose="02040503050406030204" pitchFamily="18" charset="0"/>
                                          </a:rPr>
                                          <m:t>−1</m:t>
                                        </m:r>
                                      </m:e>
                                    </m:d>
                                    <m:r>
                                      <a:rPr lang="en-US" sz="2200" b="0" i="1" smtClean="0">
                                        <a:latin typeface="Cambria Math" panose="02040503050406030204" pitchFamily="18" charset="0"/>
                                        <a:ea typeface="Cambria Math" panose="02040503050406030204" pitchFamily="18" charset="0"/>
                                      </a:rPr>
                                      <m:t>!</m:t>
                                    </m:r>
                                  </m:den>
                                </m:f>
                              </m:oMath>
                            </m:oMathPara>
                          </a14:m>
                          <a:endParaRPr lang="en-US" sz="2200"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786200831"/>
                      </a:ext>
                    </a:extLst>
                  </a:tr>
                </a:tbl>
              </a:graphicData>
            </a:graphic>
          </p:graphicFrame>
        </mc:Choice>
        <mc:Fallback xmlns="">
          <p:graphicFrame>
            <p:nvGraphicFramePr>
              <p:cNvPr id="7" name="Table 7">
                <a:extLst>
                  <a:ext uri="{FF2B5EF4-FFF2-40B4-BE49-F238E27FC236}">
                    <a16:creationId xmlns:a16="http://schemas.microsoft.com/office/drawing/2014/main" id="{47C64309-61B8-0247-9EAD-810928CDE168}"/>
                  </a:ext>
                </a:extLst>
              </p:cNvPr>
              <p:cNvGraphicFramePr>
                <a:graphicFrameLocks noGrp="1"/>
              </p:cNvGraphicFramePr>
              <p:nvPr>
                <p:ph idx="1"/>
                <p:extLst>
                  <p:ext uri="{D42A27DB-BD31-4B8C-83A1-F6EECF244321}">
                    <p14:modId xmlns:p14="http://schemas.microsoft.com/office/powerpoint/2010/main" val="475320308"/>
                  </p:ext>
                </p:extLst>
              </p:nvPr>
            </p:nvGraphicFramePr>
            <p:xfrm>
              <a:off x="838200" y="1825625"/>
              <a:ext cx="10515597" cy="3651695"/>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791636195"/>
                        </a:ext>
                      </a:extLst>
                    </a:gridCol>
                    <a:gridCol w="3505199">
                      <a:extLst>
                        <a:ext uri="{9D8B030D-6E8A-4147-A177-3AD203B41FA5}">
                          <a16:colId xmlns:a16="http://schemas.microsoft.com/office/drawing/2014/main" val="1315599495"/>
                        </a:ext>
                      </a:extLst>
                    </a:gridCol>
                    <a:gridCol w="3505199">
                      <a:extLst>
                        <a:ext uri="{9D8B030D-6E8A-4147-A177-3AD203B41FA5}">
                          <a16:colId xmlns:a16="http://schemas.microsoft.com/office/drawing/2014/main" val="1285699670"/>
                        </a:ext>
                      </a:extLst>
                    </a:gridCol>
                  </a:tblGrid>
                  <a:tr h="457200">
                    <a:tc gridSpan="3">
                      <a:txBody>
                        <a:bodyPr/>
                        <a:lstStyle/>
                        <a:p>
                          <a:pPr algn="ctr"/>
                          <a:r>
                            <a:rPr lang="en-US" sz="2400" dirty="0">
                              <a:latin typeface="Cambria Math" panose="02040503050406030204" pitchFamily="18" charset="0"/>
                              <a:ea typeface="Cambria Math" panose="02040503050406030204" pitchFamily="18" charset="0"/>
                            </a:rPr>
                            <a:t>Permutations and Combinations with / without repetitions </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222679483"/>
                      </a:ext>
                    </a:extLst>
                  </a:tr>
                  <a:tr h="457200">
                    <a:tc>
                      <a:txBody>
                        <a:bodyPr/>
                        <a:lstStyle/>
                        <a:p>
                          <a:pPr algn="ctr"/>
                          <a:r>
                            <a:rPr lang="en-US" sz="2400" b="1" dirty="0">
                              <a:solidFill>
                                <a:srgbClr val="B31591"/>
                              </a:solidFill>
                              <a:latin typeface="Cambria Math" panose="02040503050406030204" pitchFamily="18" charset="0"/>
                              <a:ea typeface="Cambria Math" panose="02040503050406030204" pitchFamily="18" charset="0"/>
                            </a:rPr>
                            <a:t>Type</a:t>
                          </a:r>
                        </a:p>
                      </a:txBody>
                      <a:tcPr/>
                    </a:tc>
                    <a:tc>
                      <a:txBody>
                        <a:bodyPr/>
                        <a:lstStyle/>
                        <a:p>
                          <a:pPr algn="ctr"/>
                          <a:r>
                            <a:rPr lang="en-US" sz="2400" b="1" dirty="0">
                              <a:solidFill>
                                <a:srgbClr val="B31591"/>
                              </a:solidFill>
                              <a:latin typeface="Cambria Math" panose="02040503050406030204" pitchFamily="18" charset="0"/>
                              <a:ea typeface="Cambria Math" panose="02040503050406030204" pitchFamily="18" charset="0"/>
                            </a:rPr>
                            <a:t>Repetition Allowed</a:t>
                          </a:r>
                        </a:p>
                      </a:txBody>
                      <a:tcPr/>
                    </a:tc>
                    <a:tc>
                      <a:txBody>
                        <a:bodyPr/>
                        <a:lstStyle/>
                        <a:p>
                          <a:pPr algn="ctr"/>
                          <a:r>
                            <a:rPr lang="en-US" sz="2400" b="1" dirty="0">
                              <a:solidFill>
                                <a:srgbClr val="B31591"/>
                              </a:solidFill>
                              <a:latin typeface="Cambria Math" panose="02040503050406030204" pitchFamily="18" charset="0"/>
                              <a:ea typeface="Cambria Math" panose="02040503050406030204" pitchFamily="18" charset="0"/>
                            </a:rPr>
                            <a:t>Formula</a:t>
                          </a:r>
                        </a:p>
                      </a:txBody>
                      <a:tcPr/>
                    </a:tc>
                    <a:extLst>
                      <a:ext uri="{0D108BD9-81ED-4DB2-BD59-A6C34878D82A}">
                        <a16:rowId xmlns:a16="http://schemas.microsoft.com/office/drawing/2014/main" val="3977327269"/>
                      </a:ext>
                    </a:extLst>
                  </a:tr>
                  <a:tr h="766572">
                    <a:tc>
                      <a:txBody>
                        <a:bodyPr/>
                        <a:lstStyle/>
                        <a:p>
                          <a:pPr algn="ctr"/>
                          <a:r>
                            <a:rPr lang="en-US" dirty="0">
                              <a:latin typeface="Cambria Math" panose="02040503050406030204" pitchFamily="18" charset="0"/>
                              <a:ea typeface="Cambria Math" panose="02040503050406030204" pitchFamily="18" charset="0"/>
                            </a:rPr>
                            <a:t>R-permutation</a:t>
                          </a:r>
                        </a:p>
                      </a:txBody>
                      <a:tcPr/>
                    </a:tc>
                    <a:tc>
                      <a:txBody>
                        <a:bodyPr/>
                        <a:lstStyle/>
                        <a:p>
                          <a:pPr algn="ctr"/>
                          <a:r>
                            <a:rPr lang="en-US" dirty="0">
                              <a:latin typeface="Cambria Math" panose="02040503050406030204" pitchFamily="18" charset="0"/>
                              <a:ea typeface="Cambria Math" panose="02040503050406030204" pitchFamily="18" charset="0"/>
                            </a:rPr>
                            <a:t>No</a:t>
                          </a:r>
                        </a:p>
                      </a:txBody>
                      <a:tcPr/>
                    </a:tc>
                    <a:tc>
                      <a:txBody>
                        <a:bodyPr/>
                        <a:lstStyle/>
                        <a:p>
                          <a:endParaRPr lang="en-US"/>
                        </a:p>
                      </a:txBody>
                      <a:tcPr>
                        <a:blipFill>
                          <a:blip r:embed="rId2"/>
                          <a:stretch>
                            <a:fillRect l="-200348" t="-125397" r="-696" b="-258730"/>
                          </a:stretch>
                        </a:blipFill>
                      </a:tcPr>
                    </a:tc>
                    <a:extLst>
                      <a:ext uri="{0D108BD9-81ED-4DB2-BD59-A6C34878D82A}">
                        <a16:rowId xmlns:a16="http://schemas.microsoft.com/office/drawing/2014/main" val="970138974"/>
                      </a:ext>
                    </a:extLst>
                  </a:tr>
                  <a:tr h="766572">
                    <a:tc>
                      <a:txBody>
                        <a:bodyPr/>
                        <a:lstStyle/>
                        <a:p>
                          <a:pPr algn="ctr"/>
                          <a:r>
                            <a:rPr lang="en-US" dirty="0">
                              <a:latin typeface="Cambria Math" panose="02040503050406030204" pitchFamily="18" charset="0"/>
                              <a:ea typeface="Cambria Math" panose="02040503050406030204" pitchFamily="18" charset="0"/>
                            </a:rPr>
                            <a:t>R-combination</a:t>
                          </a:r>
                        </a:p>
                      </a:txBody>
                      <a:tcPr/>
                    </a:tc>
                    <a:tc>
                      <a:txBody>
                        <a:bodyPr/>
                        <a:lstStyle/>
                        <a:p>
                          <a:pPr algn="ctr"/>
                          <a:r>
                            <a:rPr lang="en-US" dirty="0">
                              <a:latin typeface="Cambria Math" panose="02040503050406030204" pitchFamily="18" charset="0"/>
                              <a:ea typeface="Cambria Math" panose="02040503050406030204" pitchFamily="18" charset="0"/>
                            </a:rPr>
                            <a:t>No</a:t>
                          </a:r>
                        </a:p>
                      </a:txBody>
                      <a:tcPr/>
                    </a:tc>
                    <a:tc>
                      <a:txBody>
                        <a:bodyPr/>
                        <a:lstStyle/>
                        <a:p>
                          <a:endParaRPr lang="en-US"/>
                        </a:p>
                      </a:txBody>
                      <a:tcPr>
                        <a:blipFill>
                          <a:blip r:embed="rId2"/>
                          <a:stretch>
                            <a:fillRect l="-200348" t="-225397" r="-696" b="-158730"/>
                          </a:stretch>
                        </a:blipFill>
                      </a:tcPr>
                    </a:tc>
                    <a:extLst>
                      <a:ext uri="{0D108BD9-81ED-4DB2-BD59-A6C34878D82A}">
                        <a16:rowId xmlns:a16="http://schemas.microsoft.com/office/drawing/2014/main" val="555033740"/>
                      </a:ext>
                    </a:extLst>
                  </a:tr>
                  <a:tr h="426720">
                    <a:tc>
                      <a:txBody>
                        <a:bodyPr/>
                        <a:lstStyle/>
                        <a:p>
                          <a:pPr algn="ctr"/>
                          <a:r>
                            <a:rPr lang="en-US" dirty="0">
                              <a:latin typeface="Cambria Math" panose="02040503050406030204" pitchFamily="18" charset="0"/>
                              <a:ea typeface="Cambria Math" panose="02040503050406030204" pitchFamily="18" charset="0"/>
                            </a:rPr>
                            <a:t>R-permutation</a:t>
                          </a:r>
                        </a:p>
                      </a:txBody>
                      <a:tcPr/>
                    </a:tc>
                    <a:tc>
                      <a:txBody>
                        <a:bodyPr/>
                        <a:lstStyle/>
                        <a:p>
                          <a:pPr algn="ctr"/>
                          <a:r>
                            <a:rPr lang="en-US" dirty="0">
                              <a:latin typeface="Cambria Math" panose="02040503050406030204" pitchFamily="18" charset="0"/>
                              <a:ea typeface="Cambria Math" panose="02040503050406030204" pitchFamily="18" charset="0"/>
                            </a:rPr>
                            <a:t>Yes</a:t>
                          </a:r>
                        </a:p>
                      </a:txBody>
                      <a:tcPr/>
                    </a:tc>
                    <a:tc>
                      <a:txBody>
                        <a:bodyPr/>
                        <a:lstStyle/>
                        <a:p>
                          <a:pPr algn="ctr"/>
                          <a:r>
                            <a:rPr lang="en-US" sz="2200" dirty="0">
                              <a:latin typeface="Cambria Math" panose="02040503050406030204" pitchFamily="18" charset="0"/>
                              <a:ea typeface="Cambria Math" panose="02040503050406030204" pitchFamily="18" charset="0"/>
                            </a:rPr>
                            <a:t>n</a:t>
                          </a:r>
                          <a:r>
                            <a:rPr lang="en-US" sz="2200" baseline="30000" dirty="0">
                              <a:latin typeface="Cambria Math" panose="02040503050406030204" pitchFamily="18" charset="0"/>
                              <a:ea typeface="Cambria Math" panose="02040503050406030204" pitchFamily="18" charset="0"/>
                            </a:rPr>
                            <a:t>r</a:t>
                          </a:r>
                        </a:p>
                      </a:txBody>
                      <a:tcPr/>
                    </a:tc>
                    <a:extLst>
                      <a:ext uri="{0D108BD9-81ED-4DB2-BD59-A6C34878D82A}">
                        <a16:rowId xmlns:a16="http://schemas.microsoft.com/office/drawing/2014/main" val="2763899907"/>
                      </a:ext>
                    </a:extLst>
                  </a:tr>
                  <a:tr h="777431">
                    <a:tc>
                      <a:txBody>
                        <a:bodyPr/>
                        <a:lstStyle/>
                        <a:p>
                          <a:pPr algn="ctr"/>
                          <a:r>
                            <a:rPr lang="en-US" dirty="0">
                              <a:latin typeface="Cambria Math" panose="02040503050406030204" pitchFamily="18" charset="0"/>
                              <a:ea typeface="Cambria Math" panose="02040503050406030204" pitchFamily="18" charset="0"/>
                            </a:rPr>
                            <a:t>R-combination</a:t>
                          </a:r>
                        </a:p>
                      </a:txBody>
                      <a:tcPr/>
                    </a:tc>
                    <a:tc>
                      <a:txBody>
                        <a:bodyPr/>
                        <a:lstStyle/>
                        <a:p>
                          <a:pPr algn="ctr"/>
                          <a:r>
                            <a:rPr lang="en-US" dirty="0">
                              <a:latin typeface="Cambria Math" panose="02040503050406030204" pitchFamily="18" charset="0"/>
                              <a:ea typeface="Cambria Math" panose="02040503050406030204" pitchFamily="18" charset="0"/>
                            </a:rPr>
                            <a:t>Yes</a:t>
                          </a:r>
                        </a:p>
                      </a:txBody>
                      <a:tcPr/>
                    </a:tc>
                    <a:tc>
                      <a:txBody>
                        <a:bodyPr/>
                        <a:lstStyle/>
                        <a:p>
                          <a:endParaRPr lang="en-US"/>
                        </a:p>
                      </a:txBody>
                      <a:tcPr>
                        <a:blipFill>
                          <a:blip r:embed="rId2"/>
                          <a:stretch>
                            <a:fillRect l="-200348" t="-375000" r="-696" b="-1563"/>
                          </a:stretch>
                        </a:blipFill>
                      </a:tcPr>
                    </a:tc>
                    <a:extLst>
                      <a:ext uri="{0D108BD9-81ED-4DB2-BD59-A6C34878D82A}">
                        <a16:rowId xmlns:a16="http://schemas.microsoft.com/office/drawing/2014/main" val="786200831"/>
                      </a:ext>
                    </a:extLst>
                  </a:tr>
                </a:tbl>
              </a:graphicData>
            </a:graphic>
          </p:graphicFrame>
        </mc:Fallback>
      </mc:AlternateContent>
      <p:sp>
        <p:nvSpPr>
          <p:cNvPr id="6" name="Title 1">
            <a:extLst>
              <a:ext uri="{FF2B5EF4-FFF2-40B4-BE49-F238E27FC236}">
                <a16:creationId xmlns:a16="http://schemas.microsoft.com/office/drawing/2014/main" id="{FD991FEB-8155-751B-F0C5-774FD039F122}"/>
              </a:ext>
            </a:extLst>
          </p:cNvPr>
          <p:cNvSpPr>
            <a:spLocks noGrp="1"/>
          </p:cNvSpPr>
          <p:nvPr>
            <p:ph type="title"/>
          </p:nvPr>
        </p:nvSpPr>
        <p:spPr>
          <a:xfrm>
            <a:off x="743309" y="0"/>
            <a:ext cx="10515600" cy="870266"/>
          </a:xfrm>
        </p:spPr>
        <p:txBody>
          <a:bodyPr/>
          <a:lstStyle/>
          <a:p>
            <a:r>
              <a:rPr lang="en-US" sz="4000" dirty="0">
                <a:latin typeface="Cambria Math" panose="02040503050406030204" pitchFamily="18" charset="0"/>
                <a:ea typeface="Cambria Math" panose="02040503050406030204" pitchFamily="18" charset="0"/>
              </a:rPr>
              <a:t>Permutations and Combinations … </a:t>
            </a:r>
            <a:r>
              <a:rPr lang="en-US" sz="3600" dirty="0">
                <a:solidFill>
                  <a:srgbClr val="B31591"/>
                </a:solidFill>
                <a:latin typeface="Cambria Math" panose="02040503050406030204" pitchFamily="18" charset="0"/>
                <a:ea typeface="Cambria Math" panose="02040503050406030204" pitchFamily="18" charset="0"/>
              </a:rPr>
              <a:t>Summary</a:t>
            </a:r>
            <a:endParaRPr lang="en-US" sz="4000" dirty="0">
              <a:solidFill>
                <a:srgbClr val="B3159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5182704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C8BA007-143D-5203-7BB6-1AC9D7EF0646}"/>
              </a:ext>
            </a:extLst>
          </p:cNvPr>
          <p:cNvSpPr>
            <a:spLocks noGrp="1"/>
          </p:cNvSpPr>
          <p:nvPr>
            <p:ph idx="1"/>
          </p:nvPr>
        </p:nvSpPr>
        <p:spPr>
          <a:xfrm>
            <a:off x="701086" y="1256212"/>
            <a:ext cx="6393662" cy="2708569"/>
          </a:xfrm>
        </p:spPr>
        <p:txBody>
          <a:bodyPr>
            <a:normAutofit/>
          </a:bodyPr>
          <a:lstStyle/>
          <a:p>
            <a:r>
              <a:rPr lang="en-US" sz="2400" dirty="0"/>
              <a:t>The topics we covered:</a:t>
            </a:r>
          </a:p>
          <a:p>
            <a:pPr marL="457200" indent="-457200">
              <a:buFont typeface="Arial" panose="020B0604020202020204" pitchFamily="34" charset="0"/>
              <a:buChar char="•"/>
            </a:pPr>
            <a:r>
              <a:rPr lang="en-US" sz="2400" dirty="0"/>
              <a:t>Pigeonhole Principle</a:t>
            </a:r>
          </a:p>
          <a:p>
            <a:pPr marL="457200" indent="-457200">
              <a:buFont typeface="Arial" panose="020B0604020202020204" pitchFamily="34" charset="0"/>
              <a:buChar char="•"/>
            </a:pPr>
            <a:r>
              <a:rPr lang="en-US" sz="2400" dirty="0"/>
              <a:t>Ceiling and floor function</a:t>
            </a:r>
          </a:p>
          <a:p>
            <a:pPr marL="457200" indent="-457200">
              <a:buFont typeface="Arial" panose="020B0604020202020204" pitchFamily="34" charset="0"/>
              <a:buChar char="•"/>
            </a:pPr>
            <a:r>
              <a:rPr lang="en-US" sz="2400" dirty="0"/>
              <a:t>Practice Questions</a:t>
            </a:r>
            <a:endParaRPr lang="en-PK" sz="2400" dirty="0"/>
          </a:p>
        </p:txBody>
      </p:sp>
      <p:sp>
        <p:nvSpPr>
          <p:cNvPr id="25" name="Oval 24">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Graphic 8" descr="Books">
            <a:extLst>
              <a:ext uri="{FF2B5EF4-FFF2-40B4-BE49-F238E27FC236}">
                <a16:creationId xmlns:a16="http://schemas.microsoft.com/office/drawing/2014/main" id="{15422CC9-DE1C-CDFA-10C5-EC1FEBB1DA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27" name="Freeform: Shape 26">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1" name="Freeform: Shape 30">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itle 3">
            <a:extLst>
              <a:ext uri="{FF2B5EF4-FFF2-40B4-BE49-F238E27FC236}">
                <a16:creationId xmlns:a16="http://schemas.microsoft.com/office/drawing/2014/main" id="{32344EE1-CFFD-57AA-4D75-9BBE96554682}"/>
              </a:ext>
            </a:extLst>
          </p:cNvPr>
          <p:cNvSpPr txBox="1">
            <a:spLocks/>
          </p:cNvSpPr>
          <p:nvPr/>
        </p:nvSpPr>
        <p:spPr>
          <a:xfrm>
            <a:off x="841248" y="365760"/>
            <a:ext cx="5120640" cy="132588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u="sng" dirty="0">
                <a:solidFill>
                  <a:schemeClr val="tx1"/>
                </a:solidFill>
              </a:rPr>
              <a:t>Summary</a:t>
            </a:r>
          </a:p>
        </p:txBody>
      </p:sp>
    </p:spTree>
    <p:extLst>
      <p:ext uri="{BB962C8B-B14F-4D97-AF65-F5344CB8AC3E}">
        <p14:creationId xmlns:p14="http://schemas.microsoft.com/office/powerpoint/2010/main" val="2062828042"/>
      </p:ext>
    </p:extLst>
  </p:cSld>
  <p:clrMapOvr>
    <a:masterClrMapping/>
  </p:clrMapOvr>
</p:sld>
</file>

<file path=ppt/theme/theme1.xml><?xml version="1.0" encoding="utf-8"?>
<a:theme xmlns:a="http://schemas.openxmlformats.org/drawingml/2006/main" name="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449C04-64B3-4403-94B7-8D2284C38D1B}">
  <ds:schemaRefs>
    <ds:schemaRef ds:uri="http://schemas.microsoft.com/sharepoint/v3/contenttype/forms"/>
  </ds:schemaRefs>
</ds:datastoreItem>
</file>

<file path=customXml/itemProps2.xml><?xml version="1.0" encoding="utf-8"?>
<ds:datastoreItem xmlns:ds="http://schemas.openxmlformats.org/officeDocument/2006/customXml" ds:itemID="{FBDEF148-1770-458F-8F5B-C3D0A278AA97}">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8413533D-8C39-401E-8B75-B1AEEEC56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29622</TotalTime>
  <Words>3874</Words>
  <Application>Microsoft Office PowerPoint</Application>
  <PresentationFormat>Widescreen</PresentationFormat>
  <Paragraphs>331</Paragraphs>
  <Slides>56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Arial</vt:lpstr>
      <vt:lpstr>Calibri</vt:lpstr>
      <vt:lpstr>Cambria</vt:lpstr>
      <vt:lpstr>Cambria Math</vt:lpstr>
      <vt:lpstr>Century Gothic</vt:lpstr>
      <vt:lpstr>Comic Sans MS</vt:lpstr>
      <vt:lpstr>Wingdings</vt:lpstr>
      <vt:lpstr>ShapesVTI</vt:lpstr>
      <vt:lpstr>PowerPoint Presentation</vt:lpstr>
      <vt:lpstr>Section 6.2   The Pigeonhole Principle</vt:lpstr>
      <vt:lpstr>THE PIGEONHOLE PRINCIPLE</vt:lpstr>
      <vt:lpstr>PowerPoint Presentation</vt:lpstr>
      <vt:lpstr>REVISION OF FUNCTIONS</vt:lpstr>
      <vt:lpstr>PowerPoint Presentation</vt:lpstr>
      <vt:lpstr>PIGEONHOLE PRINCIPLE</vt:lpstr>
      <vt:lpstr>PIGEONHOLE PRINCIPLE</vt:lpstr>
      <vt:lpstr>EXAMPLES</vt:lpstr>
      <vt:lpstr>EXERCISE</vt:lpstr>
      <vt:lpstr>PowerPoint Presentation</vt:lpstr>
      <vt:lpstr>EXERCISE</vt:lpstr>
      <vt:lpstr>EXERCISE</vt:lpstr>
      <vt:lpstr>EXERCISE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GENERALIZED PIGEONHOLE PRINCIPLE</vt:lpstr>
      <vt:lpstr>EXERCISE</vt:lpstr>
      <vt:lpstr>SOLUTION</vt:lpstr>
      <vt:lpstr>A Pair of Socks</vt:lpstr>
      <vt:lpstr>Let’s Play Cards …</vt:lpstr>
      <vt:lpstr>FLOOR &amp; CEILING FUNCTIONS</vt:lpstr>
      <vt:lpstr>EXAMPLE</vt:lpstr>
      <vt:lpstr>PIGEONHOLE PRINCIPLE</vt:lpstr>
      <vt:lpstr>EXAMPLE</vt:lpstr>
      <vt:lpstr>EXERCISE</vt:lpstr>
      <vt:lpstr>Practice Questions</vt:lpstr>
      <vt:lpstr>PowerPoint Presentation</vt:lpstr>
      <vt:lpstr>Example:</vt:lpstr>
      <vt:lpstr>Pythagorous theorem:  √(10^2+10^2 )=√200=14.1&lt;15cm</vt:lpstr>
      <vt:lpstr>PowerPoint Presentation</vt:lpstr>
      <vt:lpstr>PowerPoint Presentation</vt:lpstr>
      <vt:lpstr>PowerPoint Presentation</vt:lpstr>
      <vt:lpstr>PowerPoint Presentation</vt:lpstr>
      <vt:lpstr>Section 6.3   Permutations &amp; Combinations</vt:lpstr>
      <vt:lpstr>Permutations</vt:lpstr>
      <vt:lpstr>Permutations … Example</vt:lpstr>
      <vt:lpstr>Permutations … Exercises</vt:lpstr>
      <vt:lpstr>Permutations … Exercises</vt:lpstr>
      <vt:lpstr>Permutations … Exercises</vt:lpstr>
      <vt:lpstr>Permutations with Repetitions</vt:lpstr>
      <vt:lpstr>Permutations with Repetitions … Exercises</vt:lpstr>
      <vt:lpstr>Combinations</vt:lpstr>
      <vt:lpstr>Combinations</vt:lpstr>
      <vt:lpstr>Combinations … Example</vt:lpstr>
      <vt:lpstr>Combinations … Exercises</vt:lpstr>
      <vt:lpstr>Combinations with Repetitions</vt:lpstr>
      <vt:lpstr>Permutations with Repetitions … Exercises</vt:lpstr>
      <vt:lpstr>Permutations and Combinations … Summary</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CC2031  Digital Logic Design Section – V11</dc:title>
  <dc:creator>IQRA JAVED</dc:creator>
  <cp:lastModifiedBy>IQRA JAVED</cp:lastModifiedBy>
  <cp:revision>108</cp:revision>
  <cp:lastPrinted>2024-03-28T06:21:38Z</cp:lastPrinted>
  <dcterms:created xsi:type="dcterms:W3CDTF">2023-10-03T05:27:31Z</dcterms:created>
  <dcterms:modified xsi:type="dcterms:W3CDTF">2025-06-10T08:13:19Z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