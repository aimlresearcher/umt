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81"/>
  </p:notesMasterIdLst>
  <p:sldIdLst>
    <p:sldId id="3894" r:id="rId5"/>
    <p:sldId id="3885" r:id="rId6"/>
    <p:sldId id="3886" r:id="rId7"/>
    <p:sldId id="3889" r:id="rId8"/>
    <p:sldId id="258" r:id="rId9"/>
    <p:sldId id="429" r:id="rId10"/>
    <p:sldId id="257" r:id="rId11"/>
    <p:sldId id="3892" r:id="rId12"/>
    <p:sldId id="260" r:id="rId13"/>
    <p:sldId id="277" r:id="rId14"/>
    <p:sldId id="261" r:id="rId15"/>
    <p:sldId id="312" r:id="rId16"/>
    <p:sldId id="275" r:id="rId17"/>
    <p:sldId id="3888" r:id="rId18"/>
    <p:sldId id="264" r:id="rId19"/>
    <p:sldId id="3864" r:id="rId20"/>
    <p:sldId id="3891" r:id="rId21"/>
    <p:sldId id="3865" r:id="rId22"/>
    <p:sldId id="281" r:id="rId23"/>
    <p:sldId id="267" r:id="rId24"/>
    <p:sldId id="362" r:id="rId25"/>
    <p:sldId id="3893" r:id="rId26"/>
    <p:sldId id="313" r:id="rId27"/>
    <p:sldId id="304" r:id="rId28"/>
    <p:sldId id="354" r:id="rId29"/>
    <p:sldId id="363" r:id="rId30"/>
    <p:sldId id="364" r:id="rId31"/>
    <p:sldId id="268" r:id="rId32"/>
    <p:sldId id="269" r:id="rId33"/>
    <p:sldId id="270" r:id="rId34"/>
    <p:sldId id="314" r:id="rId35"/>
    <p:sldId id="3868" r:id="rId36"/>
    <p:sldId id="431" r:id="rId37"/>
    <p:sldId id="315" r:id="rId38"/>
    <p:sldId id="432" r:id="rId39"/>
    <p:sldId id="434" r:id="rId40"/>
    <p:sldId id="435" r:id="rId41"/>
    <p:sldId id="3869" r:id="rId42"/>
    <p:sldId id="316" r:id="rId43"/>
    <p:sldId id="3870" r:id="rId44"/>
    <p:sldId id="3873" r:id="rId45"/>
    <p:sldId id="3872" r:id="rId46"/>
    <p:sldId id="436" r:id="rId47"/>
    <p:sldId id="3895" r:id="rId48"/>
    <p:sldId id="407" r:id="rId49"/>
    <p:sldId id="3896" r:id="rId50"/>
    <p:sldId id="408" r:id="rId51"/>
    <p:sldId id="3897" r:id="rId52"/>
    <p:sldId id="409" r:id="rId53"/>
    <p:sldId id="3898" r:id="rId54"/>
    <p:sldId id="3874" r:id="rId55"/>
    <p:sldId id="280" r:id="rId56"/>
    <p:sldId id="3875" r:id="rId57"/>
    <p:sldId id="282" r:id="rId58"/>
    <p:sldId id="283" r:id="rId59"/>
    <p:sldId id="333" r:id="rId60"/>
    <p:sldId id="334" r:id="rId61"/>
    <p:sldId id="335" r:id="rId62"/>
    <p:sldId id="339" r:id="rId63"/>
    <p:sldId id="340" r:id="rId64"/>
    <p:sldId id="341" r:id="rId65"/>
    <p:sldId id="342" r:id="rId66"/>
    <p:sldId id="343" r:id="rId67"/>
    <p:sldId id="369" r:id="rId68"/>
    <p:sldId id="413" r:id="rId69"/>
    <p:sldId id="414" r:id="rId70"/>
    <p:sldId id="344" r:id="rId71"/>
    <p:sldId id="437" r:id="rId72"/>
    <p:sldId id="438" r:id="rId73"/>
    <p:sldId id="439" r:id="rId74"/>
    <p:sldId id="440" r:id="rId75"/>
    <p:sldId id="3899" r:id="rId76"/>
    <p:sldId id="442" r:id="rId77"/>
    <p:sldId id="449" r:id="rId78"/>
    <p:sldId id="349" r:id="rId79"/>
    <p:sldId id="3855"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0" autoAdjust="0"/>
    <p:restoredTop sz="94660"/>
  </p:normalViewPr>
  <p:slideViewPr>
    <p:cSldViewPr snapToGrid="0">
      <p:cViewPr varScale="1">
        <p:scale>
          <a:sx n="71" d="100"/>
          <a:sy n="71" d="100"/>
        </p:scale>
        <p:origin x="576" y="66"/>
      </p:cViewPr>
      <p:guideLst>
        <p:guide orient="horz" pos="1200"/>
        <p:guide orient="horz" pos="3408"/>
        <p:guide pos="6936"/>
        <p:guide pos="7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3/23/2025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a:t>Spring 2003</a:t>
            </a:r>
            <a:endParaRPr lang="en-US" dirty="0"/>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fr-FR"/>
              <a:t>CMSC 203 - Discrete Structures</a:t>
            </a:r>
            <a:endParaRPr lang="en-US" dirty="0"/>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fr-FR">
                <a:solidFill>
                  <a:prstClr val="black">
                    <a:tint val="75000"/>
                  </a:prstClr>
                </a:solidFill>
              </a:rPr>
              <a:t>CMSC 203 - Discrete Structures</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a:solidFill>
                  <a:prstClr val="black">
                    <a:tint val="75000"/>
                  </a:prstClr>
                </a:solidFill>
              </a:rPr>
              <a:t>Spring 2003</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fr-FR">
                <a:solidFill>
                  <a:prstClr val="black">
                    <a:tint val="75000"/>
                  </a:prstClr>
                </a:solidFill>
              </a:rPr>
              <a:t>CMSC 203 - Discrete Structures</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0.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BB25E70-F951-4043-8895-D1EFDDA97DDE}"/>
              </a:ext>
            </a:extLst>
          </p:cNvPr>
          <p:cNvSpPr txBox="1">
            <a:spLocks/>
          </p:cNvSpPr>
          <p:nvPr/>
        </p:nvSpPr>
        <p:spPr>
          <a:xfrm>
            <a:off x="460375" y="1948069"/>
            <a:ext cx="11594776" cy="407377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solidFill>
                  <a:srgbClr val="C00000"/>
                </a:solidFill>
                <a:latin typeface="Cambria Math" panose="02040503050406030204" pitchFamily="18" charset="0"/>
                <a:ea typeface="Cambria Math" panose="02040503050406030204" pitchFamily="18" charset="0"/>
              </a:rPr>
              <a:t>CC 141 </a:t>
            </a:r>
            <a:br>
              <a:rPr lang="en-US" sz="4800" dirty="0">
                <a:solidFill>
                  <a:srgbClr val="C00000"/>
                </a:solidFill>
                <a:latin typeface="Cambria Math" panose="02040503050406030204" pitchFamily="18" charset="0"/>
                <a:ea typeface="Cambria Math" panose="02040503050406030204" pitchFamily="18" charset="0"/>
              </a:rPr>
            </a:br>
            <a:r>
              <a:rPr lang="en-US" sz="4800" dirty="0">
                <a:solidFill>
                  <a:srgbClr val="C00000"/>
                </a:solidFill>
                <a:latin typeface="Cambria Math" panose="02040503050406030204" pitchFamily="18" charset="0"/>
                <a:ea typeface="Cambria Math" panose="02040503050406030204" pitchFamily="18" charset="0"/>
              </a:rPr>
              <a:t>Discrete Structures</a:t>
            </a:r>
            <a:br>
              <a:rPr lang="en-US" sz="4800" dirty="0">
                <a:solidFill>
                  <a:srgbClr val="C00000"/>
                </a:solidFill>
                <a:latin typeface="Cambria Math" panose="02040503050406030204" pitchFamily="18" charset="0"/>
                <a:ea typeface="Cambria Math" panose="02040503050406030204" pitchFamily="18" charset="0"/>
              </a:rPr>
            </a:br>
            <a:br>
              <a:rPr lang="en-US" dirty="0">
                <a:solidFill>
                  <a:srgbClr val="C00000"/>
                </a:solidFill>
                <a:latin typeface="Cambria Math" panose="02040503050406030204" pitchFamily="18"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Department of Computer Science</a:t>
            </a:r>
            <a:br>
              <a:rPr lang="en-US" sz="3200" dirty="0">
                <a:solidFill>
                  <a:schemeClr val="accent5">
                    <a:lumMod val="50000"/>
                  </a:schemeClr>
                </a:solidFill>
                <a:latin typeface="Century Gothic" panose="020B0502020202020204" pitchFamily="34"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School of Systems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University of Management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Lahore, Pakistan</a:t>
            </a:r>
          </a:p>
        </p:txBody>
      </p:sp>
      <p:pic>
        <p:nvPicPr>
          <p:cNvPr id="6" name="Picture 5">
            <a:extLst>
              <a:ext uri="{FF2B5EF4-FFF2-40B4-BE49-F238E27FC236}">
                <a16:creationId xmlns:a16="http://schemas.microsoft.com/office/drawing/2014/main" id="{C01BB6BA-659C-4C58-A7BC-E779ADA85127}"/>
              </a:ext>
            </a:extLst>
          </p:cNvPr>
          <p:cNvPicPr>
            <a:picLocks noChangeAspect="1"/>
          </p:cNvPicPr>
          <p:nvPr/>
        </p:nvPicPr>
        <p:blipFill>
          <a:blip r:embed="rId2"/>
          <a:stretch>
            <a:fillRect/>
          </a:stretch>
        </p:blipFill>
        <p:spPr>
          <a:xfrm>
            <a:off x="460375" y="223319"/>
            <a:ext cx="2220849" cy="2228277"/>
          </a:xfrm>
          <a:prstGeom prst="rect">
            <a:avLst/>
          </a:prstGeom>
        </p:spPr>
      </p:pic>
    </p:spTree>
    <p:extLst>
      <p:ext uri="{BB962C8B-B14F-4D97-AF65-F5344CB8AC3E}">
        <p14:creationId xmlns:p14="http://schemas.microsoft.com/office/powerpoint/2010/main" val="381578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2F2B-2D78-EB56-E02E-F61CF209E0F3}"/>
              </a:ext>
            </a:extLst>
          </p:cNvPr>
          <p:cNvSpPr>
            <a:spLocks noGrp="1"/>
          </p:cNvSpPr>
          <p:nvPr>
            <p:ph type="title"/>
          </p:nvPr>
        </p:nvSpPr>
        <p:spPr>
          <a:xfrm>
            <a:off x="3232248" y="1492898"/>
            <a:ext cx="5559552" cy="3652748"/>
          </a:xfrm>
        </p:spPr>
        <p:txBody>
          <a:bodyPr>
            <a:normAutofit fontScale="90000"/>
          </a:bodyPr>
          <a:lstStyle/>
          <a:p>
            <a:r>
              <a:rPr lang="en-US" sz="4800" dirty="0">
                <a:latin typeface="Cambria Math" panose="02040503050406030204" pitchFamily="18" charset="0"/>
                <a:ea typeface="Cambria Math" panose="02040503050406030204" pitchFamily="18" charset="0"/>
              </a:rPr>
              <a:t>Section 1.4</a:t>
            </a:r>
            <a:br>
              <a:rPr lang="en-US" sz="4800"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PREDICATES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and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QUANTIFIERS</a:t>
            </a:r>
            <a:endParaRPr lang="en-PK"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8743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3872447-6453-F117-BF47-6C27B893AA31}"/>
              </a:ext>
            </a:extLst>
          </p:cNvPr>
          <p:cNvSpPr>
            <a:spLocks noGrp="1" noChangeArrowheads="1"/>
          </p:cNvSpPr>
          <p:nvPr>
            <p:ph type="title"/>
          </p:nvPr>
        </p:nvSpPr>
        <p:spPr/>
        <p:txBody>
          <a:bodyPr/>
          <a:lstStyle/>
          <a:p>
            <a:r>
              <a:rPr lang="en-US" altLang="en-PK" dirty="0">
                <a:latin typeface="Cambria Math" panose="02040503050406030204" pitchFamily="18" charset="0"/>
                <a:ea typeface="Cambria Math" panose="02040503050406030204" pitchFamily="18" charset="0"/>
              </a:rPr>
              <a:t>Propositions</a:t>
            </a:r>
            <a:endParaRPr lang="en-US" altLang="en-PK" dirty="0"/>
          </a:p>
        </p:txBody>
      </p:sp>
      <p:sp>
        <p:nvSpPr>
          <p:cNvPr id="7171" name="Rectangle 3">
            <a:extLst>
              <a:ext uri="{FF2B5EF4-FFF2-40B4-BE49-F238E27FC236}">
                <a16:creationId xmlns:a16="http://schemas.microsoft.com/office/drawing/2014/main" id="{2C1939B4-D065-8581-0CC6-F4E2DA9005E7}"/>
              </a:ext>
            </a:extLst>
          </p:cNvPr>
          <p:cNvSpPr>
            <a:spLocks noGrp="1" noChangeArrowheads="1"/>
          </p:cNvSpPr>
          <p:nvPr>
            <p:ph type="body" idx="1"/>
          </p:nvPr>
        </p:nvSpPr>
        <p:spPr>
          <a:xfrm>
            <a:off x="819812" y="2093648"/>
            <a:ext cx="10857526" cy="3859742"/>
          </a:xfrm>
        </p:spPr>
        <p:txBody>
          <a:bodyPr/>
          <a:lstStyle/>
          <a:p>
            <a:r>
              <a:rPr lang="en-US" altLang="en-PK" dirty="0">
                <a:latin typeface="Cambria Math" panose="02040503050406030204" pitchFamily="18" charset="0"/>
                <a:ea typeface="Cambria Math" panose="02040503050406030204" pitchFamily="18" charset="0"/>
              </a:rPr>
              <a:t>Proposition: a declarative statement that is either true or false</a:t>
            </a:r>
          </a:p>
          <a:p>
            <a:pPr marL="457200" lvl="1" indent="0">
              <a:buNone/>
            </a:pPr>
            <a:r>
              <a:rPr lang="en-US" altLang="en-PK" dirty="0">
                <a:latin typeface="Cambria Math" panose="02040503050406030204" pitchFamily="18" charset="0"/>
                <a:ea typeface="Cambria Math" panose="02040503050406030204" pitchFamily="18" charset="0"/>
              </a:rPr>
              <a:t>Example: </a:t>
            </a:r>
          </a:p>
          <a:p>
            <a:pPr lvl="2"/>
            <a:r>
              <a:rPr lang="en-US" altLang="en-PK" dirty="0">
                <a:latin typeface="Cambria Math" panose="02040503050406030204" pitchFamily="18" charset="0"/>
                <a:ea typeface="Cambria Math" panose="02040503050406030204" pitchFamily="18" charset="0"/>
              </a:rPr>
              <a:t>The sky is red</a:t>
            </a:r>
          </a:p>
          <a:p>
            <a:pPr lvl="2"/>
            <a:r>
              <a:rPr lang="en-US" altLang="en-PK" dirty="0">
                <a:latin typeface="Cambria Math" panose="02040503050406030204" pitchFamily="18" charset="0"/>
                <a:ea typeface="Cambria Math" panose="02040503050406030204" pitchFamily="18" charset="0"/>
              </a:rPr>
              <a:t>ALLAH is one</a:t>
            </a:r>
          </a:p>
          <a:p>
            <a:pPr marL="914400" lvl="2" indent="0">
              <a:buNone/>
            </a:pPr>
            <a:endParaRPr lang="en-US" altLang="en-PK" dirty="0">
              <a:latin typeface="Cambria Math" panose="02040503050406030204" pitchFamily="18" charset="0"/>
              <a:ea typeface="Cambria Math" panose="02040503050406030204" pitchFamily="18" charset="0"/>
            </a:endParaRPr>
          </a:p>
          <a:p>
            <a:r>
              <a:rPr lang="en-US" altLang="en-PK" dirty="0">
                <a:latin typeface="Cambria Math" panose="02040503050406030204" pitchFamily="18" charset="0"/>
                <a:ea typeface="Cambria Math" panose="02040503050406030204" pitchFamily="18" charset="0"/>
              </a:rPr>
              <a:t>Boolean variable: A variable (usually p, q, r, etc.) that represents a proposition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3872447-6453-F117-BF47-6C27B893AA31}"/>
              </a:ext>
            </a:extLst>
          </p:cNvPr>
          <p:cNvSpPr>
            <a:spLocks noGrp="1" noChangeArrowheads="1"/>
          </p:cNvSpPr>
          <p:nvPr>
            <p:ph type="title"/>
          </p:nvPr>
        </p:nvSpPr>
        <p:spPr/>
        <p:txBody>
          <a:bodyPr/>
          <a:lstStyle/>
          <a:p>
            <a:r>
              <a:rPr lang="en-US" altLang="en-PK" dirty="0">
                <a:latin typeface="Cambria Math" panose="02040503050406030204" pitchFamily="18" charset="0"/>
                <a:ea typeface="Cambria Math" panose="02040503050406030204" pitchFamily="18" charset="0"/>
              </a:rPr>
              <a:t>Propositions</a:t>
            </a:r>
            <a:endParaRPr lang="en-US" altLang="en-PK" dirty="0"/>
          </a:p>
        </p:txBody>
      </p:sp>
      <p:sp>
        <p:nvSpPr>
          <p:cNvPr id="7171" name="Rectangle 3">
            <a:extLst>
              <a:ext uri="{FF2B5EF4-FFF2-40B4-BE49-F238E27FC236}">
                <a16:creationId xmlns:a16="http://schemas.microsoft.com/office/drawing/2014/main" id="{2C1939B4-D065-8581-0CC6-F4E2DA9005E7}"/>
              </a:ext>
            </a:extLst>
          </p:cNvPr>
          <p:cNvSpPr>
            <a:spLocks noGrp="1" noChangeArrowheads="1"/>
          </p:cNvSpPr>
          <p:nvPr>
            <p:ph type="body" idx="1"/>
          </p:nvPr>
        </p:nvSpPr>
        <p:spPr>
          <a:xfrm>
            <a:off x="3740659" y="1931181"/>
            <a:ext cx="5147847" cy="1325563"/>
          </a:xfrm>
        </p:spPr>
        <p:txBody>
          <a:bodyPr vert="horz" lIns="91440" tIns="45720" rIns="91440" bIns="45720" rtlCol="0">
            <a:normAutofit/>
          </a:bodyPr>
          <a:lstStyle/>
          <a:p>
            <a:pPr marL="0" indent="0">
              <a:buNone/>
            </a:pPr>
            <a:r>
              <a:rPr lang="en-US" altLang="en-PK" dirty="0">
                <a:solidFill>
                  <a:schemeClr val="accent1">
                    <a:lumMod val="75000"/>
                  </a:schemeClr>
                </a:solidFill>
                <a:latin typeface="Cambria Math" panose="02040503050406030204" pitchFamily="18" charset="0"/>
                <a:ea typeface="Cambria Math" panose="02040503050406030204" pitchFamily="18" charset="0"/>
              </a:rPr>
              <a:t>X+3 &gt; 4 </a:t>
            </a:r>
            <a:r>
              <a:rPr lang="en-US" altLang="en-PK" dirty="0">
                <a:latin typeface="Cambria Math" panose="02040503050406030204" pitchFamily="18" charset="0"/>
                <a:ea typeface="Cambria Math" panose="02040503050406030204" pitchFamily="18" charset="0"/>
              </a:rPr>
              <a:t>is a PROPOSITION?</a:t>
            </a:r>
          </a:p>
        </p:txBody>
      </p:sp>
      <p:sp>
        <p:nvSpPr>
          <p:cNvPr id="2" name="Rectangle 3">
            <a:extLst>
              <a:ext uri="{FF2B5EF4-FFF2-40B4-BE49-F238E27FC236}">
                <a16:creationId xmlns:a16="http://schemas.microsoft.com/office/drawing/2014/main" id="{32A2E716-079A-405E-BC91-62F7B5809DE4}"/>
              </a:ext>
            </a:extLst>
          </p:cNvPr>
          <p:cNvSpPr txBox="1">
            <a:spLocks noChangeArrowheads="1"/>
          </p:cNvSpPr>
          <p:nvPr/>
        </p:nvSpPr>
        <p:spPr>
          <a:xfrm>
            <a:off x="1988483" y="3845124"/>
            <a:ext cx="7617626" cy="209098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ltLang="en-PK" sz="3600" dirty="0">
                <a:latin typeface="Cambria Math" panose="02040503050406030204" pitchFamily="18" charset="0"/>
                <a:ea typeface="Cambria Math" panose="02040503050406030204" pitchFamily="18" charset="0"/>
              </a:rPr>
              <a:t>NO</a:t>
            </a:r>
          </a:p>
          <a:p>
            <a:pPr marL="0" indent="0" algn="ctr">
              <a:buFont typeface="Arial" panose="020B0604020202020204" pitchFamily="34" charset="0"/>
              <a:buNone/>
            </a:pPr>
            <a:r>
              <a:rPr lang="en-US" altLang="en-PK" sz="3600" dirty="0">
                <a:latin typeface="Cambria Math" panose="02040503050406030204" pitchFamily="18" charset="0"/>
                <a:ea typeface="Cambria Math" panose="02040503050406030204" pitchFamily="18" charset="0"/>
              </a:rPr>
              <a:t>Open Statement </a:t>
            </a:r>
          </a:p>
          <a:p>
            <a:pPr marL="0" indent="0" algn="ctr">
              <a:buFont typeface="Arial" panose="020B0604020202020204" pitchFamily="34" charset="0"/>
              <a:buNone/>
            </a:pPr>
            <a:r>
              <a:rPr lang="en-US" altLang="en-PK" sz="3600" dirty="0">
                <a:latin typeface="Cambria Math" panose="02040503050406030204" pitchFamily="18" charset="0"/>
                <a:ea typeface="Cambria Math" panose="02040503050406030204" pitchFamily="18" charset="0"/>
              </a:rPr>
              <a:t>because value of X is unknown</a:t>
            </a:r>
          </a:p>
        </p:txBody>
      </p:sp>
    </p:spTree>
    <p:custDataLst>
      <p:tags r:id="rId1"/>
    </p:custDataLst>
    <p:extLst>
      <p:ext uri="{BB962C8B-B14F-4D97-AF65-F5344CB8AC3E}">
        <p14:creationId xmlns:p14="http://schemas.microsoft.com/office/powerpoint/2010/main" val="2020981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9411" y="461899"/>
            <a:ext cx="6410964" cy="696595"/>
          </a:xfrm>
          <a:prstGeom prst="rect">
            <a:avLst/>
          </a:prstGeom>
        </p:spPr>
        <p:txBody>
          <a:bodyPr vert="horz" wrap="square" lIns="0" tIns="13335" rIns="0" bIns="0" rtlCol="0" anchor="ctr">
            <a:spAutoFit/>
          </a:bodyPr>
          <a:lstStyle/>
          <a:p>
            <a:pPr marL="12700">
              <a:lnSpc>
                <a:spcPct val="100000"/>
              </a:lnSpc>
              <a:spcBef>
                <a:spcPts val="105"/>
              </a:spcBef>
            </a:pPr>
            <a:r>
              <a:rPr lang="en-US" altLang="en-PK" dirty="0">
                <a:latin typeface="Cambria Math" panose="02040503050406030204" pitchFamily="18" charset="0"/>
                <a:ea typeface="Cambria Math" panose="02040503050406030204" pitchFamily="18" charset="0"/>
              </a:rPr>
              <a:t>Propositions ?</a:t>
            </a:r>
            <a:endParaRPr lang="en-US" dirty="0">
              <a:latin typeface="Cambria Math" panose="02040503050406030204" pitchFamily="18" charset="0"/>
              <a:ea typeface="Cambria Math" panose="02040503050406030204" pitchFamily="18" charset="0"/>
            </a:endParaRPr>
          </a:p>
        </p:txBody>
      </p:sp>
      <p:sp>
        <p:nvSpPr>
          <p:cNvPr id="3" name="object 3"/>
          <p:cNvSpPr txBox="1"/>
          <p:nvPr/>
        </p:nvSpPr>
        <p:spPr>
          <a:xfrm>
            <a:off x="1969998" y="1609896"/>
            <a:ext cx="8133371" cy="3272691"/>
          </a:xfrm>
          <a:prstGeom prst="rect">
            <a:avLst/>
          </a:prstGeom>
        </p:spPr>
        <p:txBody>
          <a:bodyPr vert="horz" wrap="square" lIns="0" tIns="60960" rIns="0" bIns="0" rtlCol="0">
            <a:spAutoFit/>
          </a:bodyPr>
          <a:lstStyle/>
          <a:p>
            <a:pPr marL="927100">
              <a:spcBef>
                <a:spcPts val="480"/>
              </a:spcBef>
            </a:pPr>
            <a:r>
              <a:rPr sz="3200" spc="-15" dirty="0">
                <a:latin typeface="Cambria Math" panose="02040503050406030204" pitchFamily="18" charset="0"/>
                <a:ea typeface="Cambria Math" panose="02040503050406030204" pitchFamily="18" charset="0"/>
                <a:cs typeface="Calibri"/>
              </a:rPr>
              <a:t>Statements </a:t>
            </a:r>
            <a:r>
              <a:rPr sz="3200" spc="-10" dirty="0">
                <a:latin typeface="Cambria Math" panose="02040503050406030204" pitchFamily="18" charset="0"/>
                <a:ea typeface="Cambria Math" panose="02040503050406030204" pitchFamily="18" charset="0"/>
                <a:cs typeface="Calibri"/>
              </a:rPr>
              <a:t>involving</a:t>
            </a:r>
            <a:r>
              <a:rPr sz="3200" spc="5"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variables.</a:t>
            </a:r>
            <a:endParaRPr sz="3200" dirty="0">
              <a:latin typeface="Cambria Math" panose="02040503050406030204" pitchFamily="18" charset="0"/>
              <a:ea typeface="Cambria Math" panose="02040503050406030204" pitchFamily="18" charset="0"/>
              <a:cs typeface="Calibri"/>
            </a:endParaRPr>
          </a:p>
          <a:p>
            <a:pPr marL="12700">
              <a:spcBef>
                <a:spcPts val="380"/>
              </a:spcBef>
            </a:pPr>
            <a:r>
              <a:rPr sz="3200" b="1" spc="-10" dirty="0">
                <a:latin typeface="Cambria Math" panose="02040503050406030204" pitchFamily="18" charset="0"/>
                <a:ea typeface="Cambria Math" panose="02040503050406030204" pitchFamily="18" charset="0"/>
                <a:cs typeface="Calibri"/>
              </a:rPr>
              <a:t>Example</a:t>
            </a:r>
            <a:r>
              <a:rPr sz="3200" spc="-10" dirty="0">
                <a:latin typeface="Cambria Math" panose="02040503050406030204" pitchFamily="18" charset="0"/>
                <a:ea typeface="Cambria Math" panose="02040503050406030204" pitchFamily="18" charset="0"/>
                <a:cs typeface="Calibri"/>
              </a:rPr>
              <a:t>:</a:t>
            </a:r>
            <a:endParaRPr sz="3200" dirty="0">
              <a:latin typeface="Cambria Math" panose="02040503050406030204" pitchFamily="18" charset="0"/>
              <a:ea typeface="Cambria Math" panose="02040503050406030204" pitchFamily="18" charset="0"/>
              <a:cs typeface="Calibri"/>
            </a:endParaRPr>
          </a:p>
          <a:p>
            <a:pPr marL="12700">
              <a:spcBef>
                <a:spcPts val="380"/>
              </a:spcBef>
              <a:tabLst>
                <a:tab pos="527685" algn="l"/>
              </a:tabLst>
            </a:pPr>
            <a:r>
              <a:rPr sz="3200" i="1" spc="-5" dirty="0">
                <a:latin typeface="Cambria Math" panose="02040503050406030204" pitchFamily="18" charset="0"/>
                <a:ea typeface="Cambria Math" panose="02040503050406030204" pitchFamily="18" charset="0"/>
                <a:cs typeface="Calibri"/>
              </a:rPr>
              <a:t>1.	</a:t>
            </a:r>
            <a:r>
              <a:rPr sz="3200" i="1" dirty="0">
                <a:latin typeface="Cambria Math" panose="02040503050406030204" pitchFamily="18" charset="0"/>
                <a:ea typeface="Cambria Math" panose="02040503050406030204" pitchFamily="18" charset="0"/>
                <a:cs typeface="Calibri"/>
              </a:rPr>
              <a:t>x &gt; </a:t>
            </a:r>
            <a:r>
              <a:rPr sz="3200" dirty="0">
                <a:latin typeface="Cambria Math" panose="02040503050406030204" pitchFamily="18" charset="0"/>
                <a:ea typeface="Cambria Math" panose="02040503050406030204" pitchFamily="18" charset="0"/>
                <a:cs typeface="Calibri"/>
              </a:rPr>
              <a:t>3</a:t>
            </a:r>
          </a:p>
          <a:p>
            <a:pPr marL="12700">
              <a:spcBef>
                <a:spcPts val="380"/>
              </a:spcBef>
              <a:tabLst>
                <a:tab pos="527685" algn="l"/>
              </a:tabLst>
            </a:pPr>
            <a:r>
              <a:rPr sz="3200" i="1" spc="-5" dirty="0">
                <a:latin typeface="Cambria Math" panose="02040503050406030204" pitchFamily="18" charset="0"/>
                <a:ea typeface="Cambria Math" panose="02040503050406030204" pitchFamily="18" charset="0"/>
                <a:cs typeface="Calibri"/>
              </a:rPr>
              <a:t>2.	</a:t>
            </a:r>
            <a:r>
              <a:rPr sz="3200" i="1"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 </a:t>
            </a:r>
            <a:r>
              <a:rPr sz="3200" i="1" dirty="0">
                <a:latin typeface="Cambria Math" panose="02040503050406030204" pitchFamily="18" charset="0"/>
                <a:ea typeface="Cambria Math" panose="02040503050406030204" pitchFamily="18" charset="0"/>
                <a:cs typeface="Calibri"/>
              </a:rPr>
              <a:t>y </a:t>
            </a:r>
            <a:r>
              <a:rPr sz="3200" dirty="0">
                <a:latin typeface="Cambria Math" panose="02040503050406030204" pitchFamily="18" charset="0"/>
                <a:ea typeface="Cambria Math" panose="02040503050406030204" pitchFamily="18" charset="0"/>
                <a:cs typeface="Calibri"/>
              </a:rPr>
              <a:t>+</a:t>
            </a:r>
            <a:r>
              <a:rPr sz="3200" spc="-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3</a:t>
            </a:r>
          </a:p>
          <a:p>
            <a:pPr marL="527685" indent="-514984">
              <a:spcBef>
                <a:spcPts val="380"/>
              </a:spcBef>
              <a:buAutoNum type="arabicPeriod" startAt="3"/>
              <a:tabLst>
                <a:tab pos="527685" algn="l"/>
                <a:tab pos="528320" algn="l"/>
              </a:tabLst>
            </a:pPr>
            <a:r>
              <a:rPr sz="3200" i="1"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 </a:t>
            </a:r>
            <a:r>
              <a:rPr sz="3200" i="1" dirty="0">
                <a:latin typeface="Cambria Math" panose="02040503050406030204" pitchFamily="18" charset="0"/>
                <a:ea typeface="Cambria Math" panose="02040503050406030204" pitchFamily="18" charset="0"/>
                <a:cs typeface="Calibri"/>
              </a:rPr>
              <a:t>y </a:t>
            </a:r>
            <a:r>
              <a:rPr sz="3200" dirty="0">
                <a:latin typeface="Cambria Math" panose="02040503050406030204" pitchFamily="18" charset="0"/>
                <a:ea typeface="Cambria Math" panose="02040503050406030204" pitchFamily="18" charset="0"/>
                <a:cs typeface="Calibri"/>
              </a:rPr>
              <a:t>=</a:t>
            </a:r>
            <a:r>
              <a:rPr sz="3200" spc="-5" dirty="0">
                <a:latin typeface="Cambria Math" panose="02040503050406030204" pitchFamily="18" charset="0"/>
                <a:ea typeface="Cambria Math" panose="02040503050406030204" pitchFamily="18" charset="0"/>
                <a:cs typeface="Calibri"/>
              </a:rPr>
              <a:t> </a:t>
            </a:r>
            <a:r>
              <a:rPr sz="3200" i="1" dirty="0">
                <a:latin typeface="Cambria Math" panose="02040503050406030204" pitchFamily="18" charset="0"/>
                <a:ea typeface="Cambria Math" panose="02040503050406030204" pitchFamily="18" charset="0"/>
                <a:cs typeface="Calibri"/>
              </a:rPr>
              <a:t>z</a:t>
            </a:r>
            <a:endParaRPr sz="3200" dirty="0">
              <a:latin typeface="Cambria Math" panose="02040503050406030204" pitchFamily="18" charset="0"/>
              <a:ea typeface="Cambria Math" panose="02040503050406030204" pitchFamily="18" charset="0"/>
              <a:cs typeface="Calibri"/>
            </a:endParaRPr>
          </a:p>
          <a:p>
            <a:pPr marL="527685" indent="-514984">
              <a:spcBef>
                <a:spcPts val="384"/>
              </a:spcBef>
              <a:buAutoNum type="arabicPeriod" startAt="3"/>
              <a:tabLst>
                <a:tab pos="527685" algn="l"/>
                <a:tab pos="528320" algn="l"/>
              </a:tabLst>
            </a:pPr>
            <a:r>
              <a:rPr sz="3200" spc="-10" dirty="0">
                <a:latin typeface="Cambria Math" panose="02040503050406030204" pitchFamily="18" charset="0"/>
                <a:ea typeface="Cambria Math" panose="02040503050406030204" pitchFamily="18" charset="0"/>
                <a:cs typeface="Calibri"/>
              </a:rPr>
              <a:t>computer </a:t>
            </a:r>
            <a:r>
              <a:rPr sz="3200" i="1"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is </a:t>
            </a:r>
            <a:r>
              <a:rPr sz="3200" spc="-5" dirty="0">
                <a:latin typeface="Cambria Math" panose="02040503050406030204" pitchFamily="18" charset="0"/>
                <a:ea typeface="Cambria Math" panose="02040503050406030204" pitchFamily="18" charset="0"/>
                <a:cs typeface="Calibri"/>
              </a:rPr>
              <a:t>under </a:t>
            </a:r>
            <a:r>
              <a:rPr sz="3200" spc="-20" dirty="0">
                <a:latin typeface="Cambria Math" panose="02040503050406030204" pitchFamily="18" charset="0"/>
                <a:ea typeface="Cambria Math" panose="02040503050406030204" pitchFamily="18" charset="0"/>
                <a:cs typeface="Calibri"/>
              </a:rPr>
              <a:t>attack </a:t>
            </a:r>
            <a:r>
              <a:rPr sz="3200" spc="-10" dirty="0">
                <a:latin typeface="Cambria Math" panose="02040503050406030204" pitchFamily="18" charset="0"/>
                <a:ea typeface="Cambria Math" panose="02040503050406030204" pitchFamily="18" charset="0"/>
                <a:cs typeface="Calibri"/>
              </a:rPr>
              <a:t>by </a:t>
            </a:r>
            <a:r>
              <a:rPr sz="3200" spc="-5" dirty="0">
                <a:latin typeface="Cambria Math" panose="02040503050406030204" pitchFamily="18" charset="0"/>
                <a:ea typeface="Cambria Math" panose="02040503050406030204" pitchFamily="18" charset="0"/>
                <a:cs typeface="Calibri"/>
              </a:rPr>
              <a:t>an</a:t>
            </a:r>
            <a:r>
              <a:rPr sz="3200" spc="10"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intruder</a:t>
            </a:r>
            <a:endParaRPr sz="3200" dirty="0">
              <a:latin typeface="Cambria Math" panose="02040503050406030204" pitchFamily="18" charset="0"/>
              <a:ea typeface="Cambria Math" panose="02040503050406030204" pitchFamily="18" charset="0"/>
              <a:cs typeface="Calibri"/>
            </a:endParaRPr>
          </a:p>
        </p:txBody>
      </p:sp>
      <p:sp>
        <p:nvSpPr>
          <p:cNvPr id="6" name="TextBox 5">
            <a:extLst>
              <a:ext uri="{FF2B5EF4-FFF2-40B4-BE49-F238E27FC236}">
                <a16:creationId xmlns:a16="http://schemas.microsoft.com/office/drawing/2014/main" id="{F35EB9B4-50A2-82EA-BAA5-ED77A48D20DD}"/>
              </a:ext>
            </a:extLst>
          </p:cNvPr>
          <p:cNvSpPr txBox="1"/>
          <p:nvPr/>
        </p:nvSpPr>
        <p:spPr>
          <a:xfrm>
            <a:off x="4686800" y="5752021"/>
            <a:ext cx="5161738" cy="523220"/>
          </a:xfrm>
          <a:prstGeom prst="rect">
            <a:avLst/>
          </a:prstGeom>
        </p:spPr>
        <p:txBody>
          <a:bodyPr wrap="square" rtlCol="0">
            <a:spAutoFit/>
          </a:bodyPr>
          <a:lstStyle/>
          <a:p>
            <a:r>
              <a:rPr lang="en-US" sz="2800" b="1" dirty="0">
                <a:solidFill>
                  <a:srgbClr val="C00000"/>
                </a:solidFill>
                <a:latin typeface="Cambria Math" panose="02040503050406030204" pitchFamily="18" charset="0"/>
                <a:ea typeface="Cambria Math" panose="02040503050406030204" pitchFamily="18" charset="0"/>
              </a:rPr>
              <a:t>Need for additional rules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6871-2D16-47FB-F470-E0400171C088}"/>
              </a:ext>
            </a:extLst>
          </p:cNvPr>
          <p:cNvSpPr>
            <a:spLocks noGrp="1"/>
          </p:cNvSpPr>
          <p:nvPr>
            <p:ph type="title"/>
          </p:nvPr>
        </p:nvSpPr>
        <p:spPr>
          <a:xfrm>
            <a:off x="777815" y="71828"/>
            <a:ext cx="10515600" cy="825320"/>
          </a:xfrm>
        </p:spPr>
        <p:txBody>
          <a:bodyPr/>
          <a:lstStyle/>
          <a:p>
            <a:r>
              <a:rPr lang="en-US" dirty="0">
                <a:latin typeface="Cambria Math" panose="02040503050406030204" pitchFamily="18" charset="0"/>
                <a:ea typeface="Cambria Math" panose="02040503050406030204" pitchFamily="18" charset="0"/>
              </a:rPr>
              <a:t>Propositional Function - </a:t>
            </a:r>
            <a:r>
              <a:rPr lang="en-US" sz="3600" dirty="0">
                <a:solidFill>
                  <a:srgbClr val="C00000"/>
                </a:solidFill>
                <a:latin typeface="Cambria Math" panose="02040503050406030204" pitchFamily="18" charset="0"/>
                <a:ea typeface="Cambria Math" panose="02040503050406030204" pitchFamily="18" charset="0"/>
              </a:rPr>
              <a:t>Predicate</a:t>
            </a:r>
            <a:endParaRPr lang="en-US" dirty="0">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23A5883F-F141-879E-218F-80A3BCDBC623}"/>
              </a:ext>
            </a:extLst>
          </p:cNvPr>
          <p:cNvSpPr>
            <a:spLocks noGrp="1"/>
          </p:cNvSpPr>
          <p:nvPr>
            <p:ph idx="1"/>
          </p:nvPr>
        </p:nvSpPr>
        <p:spPr>
          <a:xfrm>
            <a:off x="838200" y="897148"/>
            <a:ext cx="10515600" cy="2829463"/>
          </a:xfrm>
        </p:spPr>
        <p:txBody>
          <a:bodyPr/>
          <a:lstStyle/>
          <a:p>
            <a:pPr marL="0" indent="0">
              <a:buNone/>
            </a:pPr>
            <a:r>
              <a:rPr lang="en-US" dirty="0">
                <a:latin typeface="Cambria Math" panose="02040503050406030204" pitchFamily="18" charset="0"/>
                <a:ea typeface="Cambria Math" panose="02040503050406030204" pitchFamily="18" charset="0"/>
              </a:rPr>
              <a:t>A predicate in Discrete Structures is a function with one or more parameters:</a:t>
            </a:r>
          </a:p>
          <a:p>
            <a:pPr marL="514350" indent="-514350" algn="just">
              <a:lnSpc>
                <a:spcPct val="80000"/>
              </a:lnSpc>
              <a:buFont typeface="+mj-lt"/>
              <a:buAutoNum type="arabicPeriod"/>
            </a:pPr>
            <a:r>
              <a:rPr lang="en-US" sz="2400" dirty="0">
                <a:solidFill>
                  <a:schemeClr val="bg2">
                    <a:lumMod val="25000"/>
                  </a:schemeClr>
                </a:solidFill>
                <a:latin typeface="Cambria Math" panose="02040503050406030204" pitchFamily="18" charset="0"/>
                <a:ea typeface="Cambria Math" panose="02040503050406030204" pitchFamily="18" charset="0"/>
              </a:rPr>
              <a:t>Its truth value can be True / False</a:t>
            </a:r>
          </a:p>
          <a:p>
            <a:pPr marL="514350" indent="-514350" algn="just">
              <a:lnSpc>
                <a:spcPct val="80000"/>
              </a:lnSpc>
              <a:buFont typeface="+mj-lt"/>
              <a:buAutoNum type="arabicPeriod"/>
            </a:pPr>
            <a:r>
              <a:rPr lang="en-US" sz="2400" dirty="0">
                <a:solidFill>
                  <a:schemeClr val="bg2">
                    <a:lumMod val="25000"/>
                  </a:schemeClr>
                </a:solidFill>
                <a:latin typeface="Cambria Math" panose="02040503050406030204" pitchFamily="18" charset="0"/>
                <a:ea typeface="Cambria Math" panose="02040503050406030204" pitchFamily="18" charset="0"/>
              </a:rPr>
              <a:t>Its value depends upon its variables’ values</a:t>
            </a:r>
          </a:p>
          <a:p>
            <a:pPr marL="514350" indent="-514350" algn="just">
              <a:lnSpc>
                <a:spcPct val="80000"/>
              </a:lnSpc>
              <a:buFont typeface="+mj-lt"/>
              <a:buAutoNum type="arabicPeriod"/>
            </a:pPr>
            <a:r>
              <a:rPr lang="en-US" sz="2400" dirty="0">
                <a:solidFill>
                  <a:schemeClr val="bg2">
                    <a:lumMod val="25000"/>
                  </a:schemeClr>
                </a:solidFill>
                <a:latin typeface="Cambria Math" panose="02040503050406030204" pitchFamily="18" charset="0"/>
                <a:ea typeface="Cambria Math" panose="02040503050406030204" pitchFamily="18" charset="0"/>
              </a:rPr>
              <a:t>Variables can have Boolean values</a:t>
            </a:r>
          </a:p>
        </p:txBody>
      </p:sp>
      <p:sp>
        <p:nvSpPr>
          <p:cNvPr id="4" name="Content Placeholder 2">
            <a:extLst>
              <a:ext uri="{FF2B5EF4-FFF2-40B4-BE49-F238E27FC236}">
                <a16:creationId xmlns:a16="http://schemas.microsoft.com/office/drawing/2014/main" id="{3FDDCCDD-46B2-1B0E-B6B3-2DEBA6218DE1}"/>
              </a:ext>
            </a:extLst>
          </p:cNvPr>
          <p:cNvSpPr txBox="1">
            <a:spLocks/>
          </p:cNvSpPr>
          <p:nvPr/>
        </p:nvSpPr>
        <p:spPr>
          <a:xfrm>
            <a:off x="838200" y="3217654"/>
            <a:ext cx="10515600" cy="11128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Example:</a:t>
            </a:r>
          </a:p>
          <a:p>
            <a:pPr marL="0" indent="0">
              <a:buFont typeface="Arial" panose="020B0604020202020204" pitchFamily="34" charset="0"/>
              <a:buNone/>
            </a:pPr>
            <a:r>
              <a:rPr lang="en-US" sz="2400" dirty="0">
                <a:solidFill>
                  <a:schemeClr val="bg2">
                    <a:lumMod val="25000"/>
                  </a:schemeClr>
                </a:solidFill>
                <a:latin typeface="Cambria Math" panose="02040503050406030204" pitchFamily="18" charset="0"/>
                <a:ea typeface="Cambria Math" panose="02040503050406030204" pitchFamily="18" charset="0"/>
              </a:rPr>
              <a:t>P(x) = x</a:t>
            </a:r>
            <a:r>
              <a:rPr lang="en-US" sz="2400" baseline="30000" dirty="0">
                <a:solidFill>
                  <a:schemeClr val="bg2">
                    <a:lumMod val="25000"/>
                  </a:schemeClr>
                </a:solidFill>
                <a:latin typeface="Cambria Math" panose="02040503050406030204" pitchFamily="18" charset="0"/>
                <a:ea typeface="Cambria Math" panose="02040503050406030204" pitchFamily="18" charset="0"/>
              </a:rPr>
              <a:t>2</a:t>
            </a:r>
            <a:r>
              <a:rPr lang="en-US" sz="2400" dirty="0">
                <a:solidFill>
                  <a:schemeClr val="bg2">
                    <a:lumMod val="25000"/>
                  </a:schemeClr>
                </a:solidFill>
                <a:latin typeface="Cambria Math" panose="02040503050406030204" pitchFamily="18" charset="0"/>
                <a:ea typeface="Cambria Math" panose="02040503050406030204" pitchFamily="18" charset="0"/>
              </a:rPr>
              <a:t> &gt; 10</a:t>
            </a:r>
          </a:p>
        </p:txBody>
      </p:sp>
      <p:graphicFrame>
        <p:nvGraphicFramePr>
          <p:cNvPr id="5" name="Table 5">
            <a:extLst>
              <a:ext uri="{FF2B5EF4-FFF2-40B4-BE49-F238E27FC236}">
                <a16:creationId xmlns:a16="http://schemas.microsoft.com/office/drawing/2014/main" id="{B217CE9B-DB01-F3E4-03C9-81A52683D21B}"/>
              </a:ext>
            </a:extLst>
          </p:cNvPr>
          <p:cNvGraphicFramePr>
            <a:graphicFrameLocks noGrp="1"/>
          </p:cNvGraphicFramePr>
          <p:nvPr>
            <p:extLst>
              <p:ext uri="{D42A27DB-BD31-4B8C-83A1-F6EECF244321}">
                <p14:modId xmlns:p14="http://schemas.microsoft.com/office/powerpoint/2010/main" val="1881276359"/>
              </p:ext>
            </p:extLst>
          </p:nvPr>
        </p:nvGraphicFramePr>
        <p:xfrm>
          <a:off x="1773207" y="4319017"/>
          <a:ext cx="8127999" cy="22860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822649273"/>
                    </a:ext>
                  </a:extLst>
                </a:gridCol>
                <a:gridCol w="2709333">
                  <a:extLst>
                    <a:ext uri="{9D8B030D-6E8A-4147-A177-3AD203B41FA5}">
                      <a16:colId xmlns:a16="http://schemas.microsoft.com/office/drawing/2014/main" val="914130843"/>
                    </a:ext>
                  </a:extLst>
                </a:gridCol>
                <a:gridCol w="2709333">
                  <a:extLst>
                    <a:ext uri="{9D8B030D-6E8A-4147-A177-3AD203B41FA5}">
                      <a16:colId xmlns:a16="http://schemas.microsoft.com/office/drawing/2014/main" val="4127680304"/>
                    </a:ext>
                  </a:extLst>
                </a:gridCol>
              </a:tblGrid>
              <a:tr h="370840">
                <a:tc>
                  <a:txBody>
                    <a:bodyPr/>
                    <a:lstStyle/>
                    <a:p>
                      <a:pPr algn="ctr"/>
                      <a:r>
                        <a:rPr lang="en-US" sz="2400" dirty="0">
                          <a:latin typeface="Cambria Math" panose="02040503050406030204" pitchFamily="18" charset="0"/>
                          <a:ea typeface="Cambria Math" panose="02040503050406030204" pitchFamily="18" charset="0"/>
                        </a:rPr>
                        <a:t>P (x)</a:t>
                      </a:r>
                    </a:p>
                  </a:txBody>
                  <a:tcPr/>
                </a:tc>
                <a:tc>
                  <a:txBody>
                    <a:bodyPr/>
                    <a:lstStyle/>
                    <a:p>
                      <a:pPr algn="ctr"/>
                      <a:r>
                        <a:rPr lang="en-US" sz="2400" dirty="0">
                          <a:latin typeface="Cambria Math" panose="02040503050406030204" pitchFamily="18" charset="0"/>
                          <a:ea typeface="Cambria Math" panose="02040503050406030204" pitchFamily="18" charset="0"/>
                        </a:rPr>
                        <a:t>x</a:t>
                      </a:r>
                    </a:p>
                  </a:txBody>
                  <a:tcPr/>
                </a:tc>
                <a:tc>
                  <a:txBody>
                    <a:bodyPr/>
                    <a:lstStyle/>
                    <a:p>
                      <a:pPr algn="ctr"/>
                      <a:r>
                        <a:rPr lang="en-US" sz="2400" dirty="0">
                          <a:latin typeface="Cambria Math" panose="02040503050406030204" pitchFamily="18" charset="0"/>
                          <a:ea typeface="Cambria Math" panose="02040503050406030204" pitchFamily="18" charset="0"/>
                        </a:rPr>
                        <a:t>Truth Value</a:t>
                      </a:r>
                    </a:p>
                  </a:txBody>
                  <a:tcPr/>
                </a:tc>
                <a:extLst>
                  <a:ext uri="{0D108BD9-81ED-4DB2-BD59-A6C34878D82A}">
                    <a16:rowId xmlns:a16="http://schemas.microsoft.com/office/drawing/2014/main" val="3224716413"/>
                  </a:ext>
                </a:extLst>
              </a:tr>
              <a:tr h="370840">
                <a:tc>
                  <a:txBody>
                    <a:bodyPr/>
                    <a:lstStyle/>
                    <a:p>
                      <a:pPr algn="ctr"/>
                      <a:r>
                        <a:rPr lang="en-US" sz="2400" dirty="0">
                          <a:solidFill>
                            <a:schemeClr val="bg2">
                              <a:lumMod val="25000"/>
                            </a:schemeClr>
                          </a:solidFill>
                          <a:latin typeface="Cambria Math" panose="02040503050406030204" pitchFamily="18" charset="0"/>
                          <a:ea typeface="Cambria Math" panose="02040503050406030204" pitchFamily="18" charset="0"/>
                        </a:rPr>
                        <a:t>x</a:t>
                      </a:r>
                      <a:r>
                        <a:rPr lang="en-US" sz="2400" baseline="30000" dirty="0">
                          <a:solidFill>
                            <a:schemeClr val="bg2">
                              <a:lumMod val="25000"/>
                            </a:schemeClr>
                          </a:solidFill>
                          <a:latin typeface="Cambria Math" panose="02040503050406030204" pitchFamily="18" charset="0"/>
                          <a:ea typeface="Cambria Math" panose="02040503050406030204" pitchFamily="18" charset="0"/>
                        </a:rPr>
                        <a:t>2</a:t>
                      </a:r>
                      <a:r>
                        <a:rPr lang="en-US" sz="2400" dirty="0">
                          <a:solidFill>
                            <a:schemeClr val="bg2">
                              <a:lumMod val="25000"/>
                            </a:schemeClr>
                          </a:solidFill>
                          <a:latin typeface="Cambria Math" panose="02040503050406030204" pitchFamily="18" charset="0"/>
                          <a:ea typeface="Cambria Math" panose="02040503050406030204" pitchFamily="18" charset="0"/>
                        </a:rPr>
                        <a:t> &gt; 10</a:t>
                      </a:r>
                      <a:endParaRPr lang="en-US" sz="2400" dirty="0">
                        <a:latin typeface="Cambria Math" panose="02040503050406030204" pitchFamily="18" charset="0"/>
                        <a:ea typeface="Cambria Math" panose="02040503050406030204" pitchFamily="18" charset="0"/>
                      </a:endParaRPr>
                    </a:p>
                  </a:txBody>
                  <a:tcPr/>
                </a:tc>
                <a:tc>
                  <a:txBody>
                    <a:bodyPr/>
                    <a:lstStyle/>
                    <a:p>
                      <a:pPr algn="ctr"/>
                      <a:r>
                        <a:rPr lang="en-US" sz="2400" dirty="0">
                          <a:latin typeface="Cambria Math" panose="02040503050406030204" pitchFamily="18" charset="0"/>
                          <a:ea typeface="Cambria Math" panose="02040503050406030204" pitchFamily="18" charset="0"/>
                        </a:rPr>
                        <a:t>1</a:t>
                      </a:r>
                    </a:p>
                  </a:txBody>
                  <a:tcPr/>
                </a:tc>
                <a:tc>
                  <a:txBody>
                    <a:bodyPr/>
                    <a:lstStyle/>
                    <a:p>
                      <a:pPr algn="ctr"/>
                      <a:endParaRPr lang="en-US" sz="2400" dirty="0">
                        <a:solidFill>
                          <a:srgbClr val="C00000"/>
                        </a:solidFill>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062952619"/>
                  </a:ext>
                </a:extLst>
              </a:tr>
              <a:tr h="370840">
                <a:tc>
                  <a:txBody>
                    <a:bodyPr/>
                    <a:lstStyle/>
                    <a:p>
                      <a:pPr algn="ctr"/>
                      <a:r>
                        <a:rPr lang="en-US" sz="2400" dirty="0">
                          <a:solidFill>
                            <a:schemeClr val="bg2">
                              <a:lumMod val="25000"/>
                            </a:schemeClr>
                          </a:solidFill>
                          <a:latin typeface="Cambria Math" panose="02040503050406030204" pitchFamily="18" charset="0"/>
                          <a:ea typeface="Cambria Math" panose="02040503050406030204" pitchFamily="18" charset="0"/>
                        </a:rPr>
                        <a:t>x</a:t>
                      </a:r>
                      <a:r>
                        <a:rPr lang="en-US" sz="2400" baseline="30000" dirty="0">
                          <a:solidFill>
                            <a:schemeClr val="bg2">
                              <a:lumMod val="25000"/>
                            </a:schemeClr>
                          </a:solidFill>
                          <a:latin typeface="Cambria Math" panose="02040503050406030204" pitchFamily="18" charset="0"/>
                          <a:ea typeface="Cambria Math" panose="02040503050406030204" pitchFamily="18" charset="0"/>
                        </a:rPr>
                        <a:t>2</a:t>
                      </a:r>
                      <a:r>
                        <a:rPr lang="en-US" sz="2400" dirty="0">
                          <a:solidFill>
                            <a:schemeClr val="bg2">
                              <a:lumMod val="25000"/>
                            </a:schemeClr>
                          </a:solidFill>
                          <a:latin typeface="Cambria Math" panose="02040503050406030204" pitchFamily="18" charset="0"/>
                          <a:ea typeface="Cambria Math" panose="02040503050406030204" pitchFamily="18" charset="0"/>
                        </a:rPr>
                        <a:t> &gt; 10</a:t>
                      </a:r>
                      <a:endParaRPr lang="en-US" sz="2400" dirty="0">
                        <a:latin typeface="Cambria Math" panose="02040503050406030204" pitchFamily="18" charset="0"/>
                        <a:ea typeface="Cambria Math" panose="02040503050406030204" pitchFamily="18" charset="0"/>
                      </a:endParaRPr>
                    </a:p>
                  </a:txBody>
                  <a:tcPr/>
                </a:tc>
                <a:tc>
                  <a:txBody>
                    <a:bodyPr/>
                    <a:lstStyle/>
                    <a:p>
                      <a:pPr algn="ctr"/>
                      <a:r>
                        <a:rPr lang="en-US" sz="2400" dirty="0">
                          <a:latin typeface="Cambria Math" panose="02040503050406030204" pitchFamily="18" charset="0"/>
                          <a:ea typeface="Cambria Math" panose="02040503050406030204" pitchFamily="18" charset="0"/>
                        </a:rPr>
                        <a:t>2</a:t>
                      </a:r>
                    </a:p>
                  </a:txBody>
                  <a:tcPr/>
                </a:tc>
                <a:tc>
                  <a:txBody>
                    <a:bodyPr/>
                    <a:lstStyle/>
                    <a:p>
                      <a:pPr algn="ctr"/>
                      <a:endParaRPr lang="en-US" sz="2400" dirty="0">
                        <a:solidFill>
                          <a:srgbClr val="C00000"/>
                        </a:solidFill>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51968816"/>
                  </a:ext>
                </a:extLst>
              </a:tr>
              <a:tr h="370840">
                <a:tc>
                  <a:txBody>
                    <a:bodyPr/>
                    <a:lstStyle/>
                    <a:p>
                      <a:pPr algn="ctr"/>
                      <a:r>
                        <a:rPr lang="en-US" sz="2400" dirty="0">
                          <a:solidFill>
                            <a:schemeClr val="bg2">
                              <a:lumMod val="25000"/>
                            </a:schemeClr>
                          </a:solidFill>
                          <a:latin typeface="Cambria Math" panose="02040503050406030204" pitchFamily="18" charset="0"/>
                          <a:ea typeface="Cambria Math" panose="02040503050406030204" pitchFamily="18" charset="0"/>
                        </a:rPr>
                        <a:t>x</a:t>
                      </a:r>
                      <a:r>
                        <a:rPr lang="en-US" sz="2400" baseline="30000" dirty="0">
                          <a:solidFill>
                            <a:schemeClr val="bg2">
                              <a:lumMod val="25000"/>
                            </a:schemeClr>
                          </a:solidFill>
                          <a:latin typeface="Cambria Math" panose="02040503050406030204" pitchFamily="18" charset="0"/>
                          <a:ea typeface="Cambria Math" panose="02040503050406030204" pitchFamily="18" charset="0"/>
                        </a:rPr>
                        <a:t>2</a:t>
                      </a:r>
                      <a:r>
                        <a:rPr lang="en-US" sz="2400" dirty="0">
                          <a:solidFill>
                            <a:schemeClr val="bg2">
                              <a:lumMod val="25000"/>
                            </a:schemeClr>
                          </a:solidFill>
                          <a:latin typeface="Cambria Math" panose="02040503050406030204" pitchFamily="18" charset="0"/>
                          <a:ea typeface="Cambria Math" panose="02040503050406030204" pitchFamily="18" charset="0"/>
                        </a:rPr>
                        <a:t> &gt; 10</a:t>
                      </a:r>
                      <a:endParaRPr lang="en-US" sz="2400" dirty="0">
                        <a:latin typeface="Cambria Math" panose="02040503050406030204" pitchFamily="18" charset="0"/>
                        <a:ea typeface="Cambria Math" panose="02040503050406030204" pitchFamily="18" charset="0"/>
                      </a:endParaRPr>
                    </a:p>
                  </a:txBody>
                  <a:tcPr/>
                </a:tc>
                <a:tc>
                  <a:txBody>
                    <a:bodyPr/>
                    <a:lstStyle/>
                    <a:p>
                      <a:pPr algn="ctr"/>
                      <a:r>
                        <a:rPr lang="en-US" sz="2400" dirty="0">
                          <a:latin typeface="Cambria Math" panose="02040503050406030204" pitchFamily="18" charset="0"/>
                          <a:ea typeface="Cambria Math" panose="02040503050406030204" pitchFamily="18" charset="0"/>
                        </a:rPr>
                        <a:t>3</a:t>
                      </a:r>
                    </a:p>
                  </a:txBody>
                  <a:tcPr/>
                </a:tc>
                <a:tc>
                  <a:txBody>
                    <a:bodyPr/>
                    <a:lstStyle/>
                    <a:p>
                      <a:pPr algn="ctr"/>
                      <a:endParaRPr lang="en-US" sz="2400" dirty="0">
                        <a:solidFill>
                          <a:srgbClr val="C00000"/>
                        </a:solidFill>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302811386"/>
                  </a:ext>
                </a:extLst>
              </a:tr>
              <a:tr h="370840">
                <a:tc>
                  <a:txBody>
                    <a:bodyPr/>
                    <a:lstStyle/>
                    <a:p>
                      <a:pPr algn="ctr"/>
                      <a:r>
                        <a:rPr lang="en-US" sz="2400" dirty="0">
                          <a:solidFill>
                            <a:schemeClr val="bg2">
                              <a:lumMod val="25000"/>
                            </a:schemeClr>
                          </a:solidFill>
                          <a:latin typeface="Cambria Math" panose="02040503050406030204" pitchFamily="18" charset="0"/>
                          <a:ea typeface="Cambria Math" panose="02040503050406030204" pitchFamily="18" charset="0"/>
                        </a:rPr>
                        <a:t>x</a:t>
                      </a:r>
                      <a:r>
                        <a:rPr lang="en-US" sz="2400" baseline="30000" dirty="0">
                          <a:solidFill>
                            <a:schemeClr val="bg2">
                              <a:lumMod val="25000"/>
                            </a:schemeClr>
                          </a:solidFill>
                          <a:latin typeface="Cambria Math" panose="02040503050406030204" pitchFamily="18" charset="0"/>
                          <a:ea typeface="Cambria Math" panose="02040503050406030204" pitchFamily="18" charset="0"/>
                        </a:rPr>
                        <a:t>2</a:t>
                      </a:r>
                      <a:r>
                        <a:rPr lang="en-US" sz="2400" dirty="0">
                          <a:solidFill>
                            <a:schemeClr val="bg2">
                              <a:lumMod val="25000"/>
                            </a:schemeClr>
                          </a:solidFill>
                          <a:latin typeface="Cambria Math" panose="02040503050406030204" pitchFamily="18" charset="0"/>
                          <a:ea typeface="Cambria Math" panose="02040503050406030204" pitchFamily="18" charset="0"/>
                        </a:rPr>
                        <a:t> &gt; 10</a:t>
                      </a:r>
                      <a:endParaRPr lang="en-US" sz="2400" dirty="0">
                        <a:latin typeface="Cambria Math" panose="02040503050406030204" pitchFamily="18" charset="0"/>
                        <a:ea typeface="Cambria Math" panose="02040503050406030204" pitchFamily="18" charset="0"/>
                      </a:endParaRPr>
                    </a:p>
                  </a:txBody>
                  <a:tcPr/>
                </a:tc>
                <a:tc>
                  <a:txBody>
                    <a:bodyPr/>
                    <a:lstStyle/>
                    <a:p>
                      <a:pPr algn="ctr"/>
                      <a:r>
                        <a:rPr lang="en-US" sz="2400" dirty="0">
                          <a:latin typeface="Cambria Math" panose="02040503050406030204" pitchFamily="18" charset="0"/>
                          <a:ea typeface="Cambria Math" panose="02040503050406030204" pitchFamily="18" charset="0"/>
                        </a:rPr>
                        <a:t>4</a:t>
                      </a:r>
                    </a:p>
                  </a:txBody>
                  <a:tcPr/>
                </a:tc>
                <a:tc>
                  <a:txBody>
                    <a:bodyPr/>
                    <a:lstStyle/>
                    <a:p>
                      <a:pPr algn="ctr"/>
                      <a:endParaRPr lang="en-US" sz="2400" dirty="0">
                        <a:solidFill>
                          <a:srgbClr val="007A37"/>
                        </a:solidFill>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464371925"/>
                  </a:ext>
                </a:extLst>
              </a:tr>
            </a:tbl>
          </a:graphicData>
        </a:graphic>
      </p:graphicFrame>
      <p:graphicFrame>
        <p:nvGraphicFramePr>
          <p:cNvPr id="6" name="Table 5">
            <a:extLst>
              <a:ext uri="{FF2B5EF4-FFF2-40B4-BE49-F238E27FC236}">
                <a16:creationId xmlns:a16="http://schemas.microsoft.com/office/drawing/2014/main" id="{4E033F67-E0A3-4F86-A620-D7F7D31D2BC6}"/>
              </a:ext>
            </a:extLst>
          </p:cNvPr>
          <p:cNvGraphicFramePr>
            <a:graphicFrameLocks noGrp="1"/>
          </p:cNvGraphicFramePr>
          <p:nvPr>
            <p:extLst>
              <p:ext uri="{D42A27DB-BD31-4B8C-83A1-F6EECF244321}">
                <p14:modId xmlns:p14="http://schemas.microsoft.com/office/powerpoint/2010/main" val="2209536201"/>
              </p:ext>
            </p:extLst>
          </p:nvPr>
        </p:nvGraphicFramePr>
        <p:xfrm>
          <a:off x="7191873" y="4776217"/>
          <a:ext cx="2709333" cy="182880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3433476874"/>
                    </a:ext>
                  </a:extLst>
                </a:gridCol>
              </a:tblGrid>
              <a:tr h="370840">
                <a:tc>
                  <a:txBody>
                    <a:bodyPr/>
                    <a:lstStyle/>
                    <a:p>
                      <a:pPr algn="ctr"/>
                      <a:r>
                        <a:rPr lang="en-US" sz="2400" dirty="0">
                          <a:solidFill>
                            <a:srgbClr val="C00000"/>
                          </a:solidFill>
                          <a:latin typeface="Cambria Math" panose="02040503050406030204" pitchFamily="18" charset="0"/>
                          <a:ea typeface="Cambria Math" panose="02040503050406030204" pitchFamily="18" charset="0"/>
                        </a:rPr>
                        <a:t>False</a:t>
                      </a:r>
                    </a:p>
                  </a:txBody>
                  <a:tcPr/>
                </a:tc>
                <a:extLst>
                  <a:ext uri="{0D108BD9-81ED-4DB2-BD59-A6C34878D82A}">
                    <a16:rowId xmlns:a16="http://schemas.microsoft.com/office/drawing/2014/main" val="763780175"/>
                  </a:ext>
                </a:extLst>
              </a:tr>
              <a:tr h="370840">
                <a:tc>
                  <a:txBody>
                    <a:bodyPr/>
                    <a:lstStyle/>
                    <a:p>
                      <a:pPr algn="ctr"/>
                      <a:r>
                        <a:rPr lang="en-US" sz="2400" dirty="0">
                          <a:solidFill>
                            <a:srgbClr val="C00000"/>
                          </a:solidFill>
                          <a:latin typeface="Cambria Math" panose="02040503050406030204" pitchFamily="18" charset="0"/>
                          <a:ea typeface="Cambria Math" panose="02040503050406030204" pitchFamily="18" charset="0"/>
                        </a:rPr>
                        <a:t>False</a:t>
                      </a:r>
                    </a:p>
                  </a:txBody>
                  <a:tcPr/>
                </a:tc>
                <a:extLst>
                  <a:ext uri="{0D108BD9-81ED-4DB2-BD59-A6C34878D82A}">
                    <a16:rowId xmlns:a16="http://schemas.microsoft.com/office/drawing/2014/main" val="3823765964"/>
                  </a:ext>
                </a:extLst>
              </a:tr>
              <a:tr h="370840">
                <a:tc>
                  <a:txBody>
                    <a:bodyPr/>
                    <a:lstStyle/>
                    <a:p>
                      <a:pPr algn="ctr"/>
                      <a:r>
                        <a:rPr lang="en-US" sz="2400" dirty="0">
                          <a:solidFill>
                            <a:srgbClr val="C00000"/>
                          </a:solidFill>
                          <a:latin typeface="Cambria Math" panose="02040503050406030204" pitchFamily="18" charset="0"/>
                          <a:ea typeface="Cambria Math" panose="02040503050406030204" pitchFamily="18" charset="0"/>
                        </a:rPr>
                        <a:t>False</a:t>
                      </a:r>
                    </a:p>
                  </a:txBody>
                  <a:tcPr/>
                </a:tc>
                <a:extLst>
                  <a:ext uri="{0D108BD9-81ED-4DB2-BD59-A6C34878D82A}">
                    <a16:rowId xmlns:a16="http://schemas.microsoft.com/office/drawing/2014/main" val="355984947"/>
                  </a:ext>
                </a:extLst>
              </a:tr>
              <a:tr h="370840">
                <a:tc>
                  <a:txBody>
                    <a:bodyPr/>
                    <a:lstStyle/>
                    <a:p>
                      <a:pPr algn="ctr"/>
                      <a:r>
                        <a:rPr lang="en-US" sz="2400" dirty="0">
                          <a:solidFill>
                            <a:srgbClr val="007A37"/>
                          </a:solidFill>
                          <a:latin typeface="Cambria Math" panose="02040503050406030204" pitchFamily="18" charset="0"/>
                          <a:ea typeface="Cambria Math" panose="02040503050406030204" pitchFamily="18" charset="0"/>
                        </a:rPr>
                        <a:t>True</a:t>
                      </a:r>
                    </a:p>
                  </a:txBody>
                  <a:tcPr/>
                </a:tc>
                <a:extLst>
                  <a:ext uri="{0D108BD9-81ED-4DB2-BD59-A6C34878D82A}">
                    <a16:rowId xmlns:a16="http://schemas.microsoft.com/office/drawing/2014/main" val="236273044"/>
                  </a:ext>
                </a:extLst>
              </a:tr>
            </a:tbl>
          </a:graphicData>
        </a:graphic>
      </p:graphicFrame>
    </p:spTree>
    <p:extLst>
      <p:ext uri="{BB962C8B-B14F-4D97-AF65-F5344CB8AC3E}">
        <p14:creationId xmlns:p14="http://schemas.microsoft.com/office/powerpoint/2010/main" val="27717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33062" y="464910"/>
            <a:ext cx="6265680" cy="690574"/>
          </a:xfrm>
          <a:prstGeom prst="rect">
            <a:avLst/>
          </a:prstGeom>
        </p:spPr>
        <p:txBody>
          <a:bodyPr vert="horz" wrap="square" lIns="0" tIns="13335" rIns="0" bIns="0" rtlCol="0" anchor="ctr">
            <a:spAutoFit/>
          </a:bodyPr>
          <a:lstStyle/>
          <a:p>
            <a:pPr marL="12700">
              <a:lnSpc>
                <a:spcPct val="100000"/>
              </a:lnSpc>
              <a:spcBef>
                <a:spcPts val="105"/>
              </a:spcBef>
            </a:pPr>
            <a:r>
              <a:rPr lang="en-US" altLang="en-PK" dirty="0">
                <a:latin typeface="Cambria Math" panose="02040503050406030204" pitchFamily="18" charset="0"/>
                <a:ea typeface="Cambria Math" panose="02040503050406030204" pitchFamily="18" charset="0"/>
              </a:rPr>
              <a:t>Predicates</a:t>
            </a:r>
            <a:endParaRPr b="1" dirty="0">
              <a:latin typeface="Cambria Math" panose="02040503050406030204" pitchFamily="18" charset="0"/>
              <a:ea typeface="Cambria Math" panose="02040503050406030204" pitchFamily="18" charset="0"/>
              <a:cs typeface="Calibri"/>
            </a:endParaRPr>
          </a:p>
        </p:txBody>
      </p:sp>
      <p:sp>
        <p:nvSpPr>
          <p:cNvPr id="3" name="object 3"/>
          <p:cNvSpPr txBox="1"/>
          <p:nvPr/>
        </p:nvSpPr>
        <p:spPr>
          <a:xfrm>
            <a:off x="1240972" y="1933834"/>
            <a:ext cx="9563877" cy="3157916"/>
          </a:xfrm>
          <a:prstGeom prst="rect">
            <a:avLst/>
          </a:prstGeom>
        </p:spPr>
        <p:txBody>
          <a:bodyPr vert="horz" wrap="square" lIns="0" tIns="13335" rIns="0" bIns="0" rtlCol="0">
            <a:spAutoFit/>
          </a:bodyPr>
          <a:lstStyle/>
          <a:p>
            <a:pPr marL="12700" algn="ctr">
              <a:spcBef>
                <a:spcPts val="105"/>
              </a:spcBef>
              <a:tabLst>
                <a:tab pos="354965" algn="l"/>
                <a:tab pos="355600" algn="l"/>
              </a:tabLst>
            </a:pPr>
            <a:r>
              <a:rPr lang="en-US" sz="2800" dirty="0">
                <a:latin typeface="Cambria Math" panose="02040503050406030204" pitchFamily="18" charset="0"/>
                <a:ea typeface="Cambria Math" panose="02040503050406030204" pitchFamily="18" charset="0"/>
                <a:cs typeface="Calibri"/>
              </a:rPr>
              <a:t>Hence</a:t>
            </a:r>
          </a:p>
          <a:p>
            <a:pPr marL="12700" algn="ctr">
              <a:spcBef>
                <a:spcPts val="105"/>
              </a:spcBef>
              <a:tabLst>
                <a:tab pos="354965" algn="l"/>
                <a:tab pos="355600" algn="l"/>
              </a:tabLst>
            </a:pPr>
            <a:endParaRPr lang="en-US" sz="2800" dirty="0">
              <a:latin typeface="Cambria Math" panose="02040503050406030204" pitchFamily="18" charset="0"/>
              <a:ea typeface="Cambria Math" panose="02040503050406030204" pitchFamily="18" charset="0"/>
              <a:cs typeface="Calibri"/>
            </a:endParaRPr>
          </a:p>
          <a:p>
            <a:pPr marL="12700" algn="ctr">
              <a:spcBef>
                <a:spcPts val="105"/>
              </a:spcBef>
              <a:tabLst>
                <a:tab pos="354965" algn="l"/>
                <a:tab pos="355600" algn="l"/>
              </a:tabLst>
            </a:pPr>
            <a:r>
              <a:rPr lang="en-US" sz="2800" dirty="0">
                <a:latin typeface="Cambria Math" panose="02040503050406030204" pitchFamily="18" charset="0"/>
                <a:ea typeface="Cambria Math" panose="02040503050406030204" pitchFamily="18" charset="0"/>
                <a:cs typeface="Calibri"/>
              </a:rPr>
              <a:t>	A</a:t>
            </a:r>
            <a:r>
              <a:rPr sz="2800" dirty="0">
                <a:latin typeface="Cambria Math" panose="02040503050406030204" pitchFamily="18" charset="0"/>
                <a:ea typeface="Cambria Math" panose="02040503050406030204" pitchFamily="18" charset="0"/>
              </a:rPr>
              <a:t> declarative sentence which contains one or</a:t>
            </a:r>
          </a:p>
          <a:p>
            <a:pPr marL="355600" algn="ctr"/>
            <a:r>
              <a:rPr sz="2800" dirty="0">
                <a:latin typeface="Cambria Math" panose="02040503050406030204" pitchFamily="18" charset="0"/>
                <a:ea typeface="Cambria Math" panose="02040503050406030204" pitchFamily="18" charset="0"/>
              </a:rPr>
              <a:t>more variables,</a:t>
            </a:r>
            <a:r>
              <a:rPr lang="en-US" sz="2800" dirty="0">
                <a:latin typeface="Cambria Math" panose="02040503050406030204" pitchFamily="18" charset="0"/>
                <a:ea typeface="Cambria Math" panose="02040503050406030204" pitchFamily="18" charset="0"/>
              </a:rPr>
              <a:t> </a:t>
            </a:r>
            <a:r>
              <a:rPr sz="2800" dirty="0">
                <a:latin typeface="Cambria Math" panose="02040503050406030204" pitchFamily="18" charset="0"/>
                <a:ea typeface="Cambria Math" panose="02040503050406030204" pitchFamily="18" charset="0"/>
              </a:rPr>
              <a:t>and is </a:t>
            </a:r>
            <a:r>
              <a:rPr sz="2800" spc="-5" dirty="0">
                <a:solidFill>
                  <a:srgbClr val="FF0000"/>
                </a:solidFill>
                <a:latin typeface="Cambria Math" panose="02040503050406030204" pitchFamily="18" charset="0"/>
                <a:ea typeface="Cambria Math" panose="02040503050406030204" pitchFamily="18" charset="0"/>
                <a:cs typeface="Calibri"/>
              </a:rPr>
              <a:t>not </a:t>
            </a:r>
            <a:r>
              <a:rPr sz="2800" dirty="0">
                <a:latin typeface="Cambria Math" panose="02040503050406030204" pitchFamily="18" charset="0"/>
                <a:ea typeface="Cambria Math" panose="02040503050406030204" pitchFamily="18" charset="0"/>
                <a:cs typeface="Calibri"/>
              </a:rPr>
              <a:t>a</a:t>
            </a:r>
            <a:r>
              <a:rPr sz="2800" spc="25" dirty="0">
                <a:latin typeface="Cambria Math" panose="02040503050406030204" pitchFamily="18" charset="0"/>
                <a:ea typeface="Cambria Math" panose="02040503050406030204" pitchFamily="18" charset="0"/>
                <a:cs typeface="Calibri"/>
              </a:rPr>
              <a:t> </a:t>
            </a:r>
            <a:r>
              <a:rPr sz="2800" spc="-10" dirty="0">
                <a:latin typeface="Cambria Math" panose="02040503050406030204" pitchFamily="18" charset="0"/>
                <a:ea typeface="Cambria Math" panose="02040503050406030204" pitchFamily="18" charset="0"/>
                <a:cs typeface="Calibri"/>
              </a:rPr>
              <a:t>proposition,</a:t>
            </a:r>
            <a:endParaRPr lang="en-US" sz="2800" spc="-10" dirty="0">
              <a:latin typeface="Cambria Math" panose="02040503050406030204" pitchFamily="18" charset="0"/>
              <a:ea typeface="Cambria Math" panose="02040503050406030204" pitchFamily="18" charset="0"/>
              <a:cs typeface="Calibri"/>
            </a:endParaRPr>
          </a:p>
          <a:p>
            <a:pPr marL="355600" algn="ctr"/>
            <a:endParaRPr sz="2800" dirty="0">
              <a:latin typeface="Cambria Math" panose="02040503050406030204" pitchFamily="18" charset="0"/>
              <a:ea typeface="Cambria Math" panose="02040503050406030204" pitchFamily="18" charset="0"/>
              <a:cs typeface="Calibri"/>
            </a:endParaRPr>
          </a:p>
          <a:p>
            <a:pPr marL="12700" algn="ctr">
              <a:spcBef>
                <a:spcPts val="765"/>
              </a:spcBef>
              <a:tabLst>
                <a:tab pos="354965" algn="l"/>
                <a:tab pos="355600" algn="l"/>
              </a:tabLst>
            </a:pPr>
            <a:r>
              <a:rPr lang="en-US" sz="2800" spc="-5" dirty="0">
                <a:latin typeface="Cambria Math" panose="02040503050406030204" pitchFamily="18" charset="0"/>
                <a:ea typeface="Cambria Math" panose="02040503050406030204" pitchFamily="18" charset="0"/>
                <a:cs typeface="Calibri"/>
              </a:rPr>
              <a:t>	</a:t>
            </a:r>
            <a:r>
              <a:rPr sz="2800" spc="-5" dirty="0">
                <a:latin typeface="Cambria Math" panose="02040503050406030204" pitchFamily="18" charset="0"/>
                <a:ea typeface="Cambria Math" panose="02040503050406030204" pitchFamily="18" charset="0"/>
                <a:cs typeface="Calibri"/>
              </a:rPr>
              <a:t>but </a:t>
            </a:r>
            <a:r>
              <a:rPr sz="2800" spc="-10" dirty="0">
                <a:solidFill>
                  <a:srgbClr val="FF0000"/>
                </a:solidFill>
                <a:latin typeface="Cambria Math" panose="02040503050406030204" pitchFamily="18" charset="0"/>
                <a:ea typeface="Cambria Math" panose="02040503050406030204" pitchFamily="18" charset="0"/>
                <a:cs typeface="Calibri"/>
              </a:rPr>
              <a:t>becomes </a:t>
            </a:r>
            <a:r>
              <a:rPr sz="2800" dirty="0">
                <a:solidFill>
                  <a:srgbClr val="FF0000"/>
                </a:solidFill>
                <a:latin typeface="Cambria Math" panose="02040503050406030204" pitchFamily="18" charset="0"/>
                <a:ea typeface="Cambria Math" panose="02040503050406030204" pitchFamily="18" charset="0"/>
                <a:cs typeface="Calibri"/>
              </a:rPr>
              <a:t>a </a:t>
            </a:r>
            <a:r>
              <a:rPr sz="2800" spc="-10" dirty="0">
                <a:solidFill>
                  <a:srgbClr val="FF0000"/>
                </a:solidFill>
                <a:latin typeface="Cambria Math" panose="02040503050406030204" pitchFamily="18" charset="0"/>
                <a:ea typeface="Cambria Math" panose="02040503050406030204" pitchFamily="18" charset="0"/>
                <a:cs typeface="Calibri"/>
              </a:rPr>
              <a:t>proposition </a:t>
            </a:r>
            <a:r>
              <a:rPr sz="2800" dirty="0">
                <a:latin typeface="Cambria Math" panose="02040503050406030204" pitchFamily="18" charset="0"/>
                <a:ea typeface="Cambria Math" panose="02040503050406030204" pitchFamily="18" charset="0"/>
                <a:cs typeface="Calibri"/>
              </a:rPr>
              <a:t>when </a:t>
            </a:r>
            <a:r>
              <a:rPr sz="2800" spc="-5" dirty="0">
                <a:latin typeface="Cambria Math" panose="02040503050406030204" pitchFamily="18" charset="0"/>
                <a:ea typeface="Cambria Math" panose="02040503050406030204" pitchFamily="18" charset="0"/>
                <a:cs typeface="Calibri"/>
              </a:rPr>
              <a:t>the</a:t>
            </a:r>
            <a:r>
              <a:rPr sz="2800" spc="85" dirty="0">
                <a:latin typeface="Cambria Math" panose="02040503050406030204" pitchFamily="18" charset="0"/>
                <a:ea typeface="Cambria Math" panose="02040503050406030204" pitchFamily="18" charset="0"/>
                <a:cs typeface="Calibri"/>
              </a:rPr>
              <a:t> </a:t>
            </a:r>
            <a:r>
              <a:rPr sz="2800" spc="-10" dirty="0">
                <a:latin typeface="Cambria Math" panose="02040503050406030204" pitchFamily="18" charset="0"/>
                <a:ea typeface="Cambria Math" panose="02040503050406030204" pitchFamily="18" charset="0"/>
                <a:cs typeface="Calibri"/>
              </a:rPr>
              <a:t>variables</a:t>
            </a:r>
            <a:endParaRPr sz="2800" dirty="0">
              <a:latin typeface="Cambria Math" panose="02040503050406030204" pitchFamily="18" charset="0"/>
              <a:ea typeface="Cambria Math" panose="02040503050406030204" pitchFamily="18" charset="0"/>
              <a:cs typeface="Calibri"/>
            </a:endParaRPr>
          </a:p>
          <a:p>
            <a:pPr marL="355600" algn="ctr"/>
            <a:r>
              <a:rPr sz="2800" dirty="0">
                <a:latin typeface="Cambria Math" panose="02040503050406030204" pitchFamily="18" charset="0"/>
                <a:ea typeface="Cambria Math" panose="02040503050406030204" pitchFamily="18" charset="0"/>
                <a:cs typeface="Calibri"/>
              </a:rPr>
              <a:t>in it </a:t>
            </a:r>
            <a:r>
              <a:rPr sz="2800" spc="-15" dirty="0">
                <a:latin typeface="Cambria Math" panose="02040503050406030204" pitchFamily="18" charset="0"/>
                <a:ea typeface="Cambria Math" panose="02040503050406030204" pitchFamily="18" charset="0"/>
                <a:cs typeface="Calibri"/>
              </a:rPr>
              <a:t>are </a:t>
            </a:r>
            <a:r>
              <a:rPr sz="2800" spc="-5" dirty="0">
                <a:latin typeface="Cambria Math" panose="02040503050406030204" pitchFamily="18" charset="0"/>
                <a:ea typeface="Cambria Math" panose="02040503050406030204" pitchFamily="18" charset="0"/>
                <a:cs typeface="Calibri"/>
              </a:rPr>
              <a:t>replaced </a:t>
            </a:r>
            <a:r>
              <a:rPr sz="2800" spc="-10" dirty="0">
                <a:latin typeface="Cambria Math" panose="02040503050406030204" pitchFamily="18" charset="0"/>
                <a:ea typeface="Cambria Math" panose="02040503050406030204" pitchFamily="18" charset="0"/>
                <a:cs typeface="Calibri"/>
              </a:rPr>
              <a:t>by </a:t>
            </a:r>
            <a:r>
              <a:rPr sz="2800" spc="-5" dirty="0">
                <a:latin typeface="Cambria Math" panose="02040503050406030204" pitchFamily="18" charset="0"/>
                <a:ea typeface="Cambria Math" panose="02040503050406030204" pitchFamily="18" charset="0"/>
                <a:cs typeface="Calibri"/>
              </a:rPr>
              <a:t>certain </a:t>
            </a:r>
            <a:r>
              <a:rPr sz="2800" spc="-10" dirty="0">
                <a:latin typeface="Cambria Math" panose="02040503050406030204" pitchFamily="18" charset="0"/>
                <a:ea typeface="Cambria Math" panose="02040503050406030204" pitchFamily="18" charset="0"/>
                <a:cs typeface="Calibri"/>
              </a:rPr>
              <a:t>allowable</a:t>
            </a:r>
            <a:r>
              <a:rPr sz="2800" spc="55" dirty="0">
                <a:latin typeface="Cambria Math" panose="02040503050406030204" pitchFamily="18" charset="0"/>
                <a:ea typeface="Cambria Math" panose="02040503050406030204" pitchFamily="18" charset="0"/>
                <a:cs typeface="Calibri"/>
              </a:rPr>
              <a:t> </a:t>
            </a:r>
            <a:r>
              <a:rPr sz="2800" dirty="0">
                <a:latin typeface="Cambria Math" panose="02040503050406030204" pitchFamily="18" charset="0"/>
                <a:ea typeface="Cambria Math" panose="02040503050406030204" pitchFamily="18" charset="0"/>
                <a:cs typeface="Calibri"/>
              </a:rPr>
              <a:t>choices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Content Placeholder 1"/>
          <p:cNvSpPr>
            <a:spLocks noGrp="1"/>
          </p:cNvSpPr>
          <p:nvPr>
            <p:ph idx="1"/>
          </p:nvPr>
        </p:nvSpPr>
        <p:spPr/>
        <p:txBody>
          <a:bodyPr>
            <a:normAutofit/>
          </a:bodyPr>
          <a:lstStyle/>
          <a:p>
            <a:pPr marL="0" indent="0">
              <a:buNone/>
            </a:pPr>
            <a:r>
              <a:rPr lang="en-US" dirty="0">
                <a:latin typeface="Cambria Math" panose="02040503050406030204" pitchFamily="18" charset="0"/>
                <a:ea typeface="Cambria Math" panose="02040503050406030204" pitchFamily="18" charset="0"/>
              </a:rPr>
              <a:t>P(x):= word x contains the letter </a:t>
            </a:r>
            <a:r>
              <a:rPr lang="en-US" i="1" dirty="0">
                <a:latin typeface="Cambria Math" panose="02040503050406030204" pitchFamily="18" charset="0"/>
                <a:ea typeface="Cambria Math" panose="02040503050406030204" pitchFamily="18" charset="0"/>
              </a:rPr>
              <a:t>n</a:t>
            </a:r>
          </a:p>
          <a:p>
            <a:endParaRPr lang="zh-CN" altLang="en-US" dirty="0">
              <a:latin typeface="Cambria Math" panose="02040503050406030204" pitchFamily="18" charset="0"/>
            </a:endParaRPr>
          </a:p>
          <a:p>
            <a:pPr lvl="1"/>
            <a:r>
              <a:rPr lang="en-US" dirty="0">
                <a:latin typeface="Cambria Math" panose="02040503050406030204" pitchFamily="18" charset="0"/>
                <a:ea typeface="Cambria Math" panose="02040503050406030204" pitchFamily="18" charset="0"/>
              </a:rPr>
              <a:t>P(panama)		  T/F?</a:t>
            </a:r>
            <a:endParaRPr lang="zh-CN" altLang="en-US" dirty="0">
              <a:latin typeface="Cambria Math" panose="02040503050406030204" pitchFamily="18" charset="0"/>
            </a:endParaRPr>
          </a:p>
          <a:p>
            <a:pPr lvl="1"/>
            <a:endParaRPr lang="zh-CN" altLang="en-US" dirty="0">
              <a:latin typeface="Cambria Math" panose="02040503050406030204" pitchFamily="18" charset="0"/>
            </a:endParaRPr>
          </a:p>
          <a:p>
            <a:pPr lvl="1"/>
            <a:r>
              <a:rPr lang="en-US" dirty="0">
                <a:latin typeface="Cambria Math" panose="02040503050406030204" pitchFamily="18" charset="0"/>
                <a:ea typeface="Cambria Math" panose="02040503050406030204" pitchFamily="18" charset="0"/>
              </a:rPr>
              <a:t>P(</a:t>
            </a:r>
            <a:r>
              <a:rPr lang="en-US" dirty="0" err="1">
                <a:latin typeface="Cambria Math" panose="02040503050406030204" pitchFamily="18" charset="0"/>
                <a:ea typeface="Cambria Math" panose="02040503050406030204" pitchFamily="18" charset="0"/>
              </a:rPr>
              <a:t>swiss</a:t>
            </a:r>
            <a:r>
              <a:rPr lang="en-US" dirty="0">
                <a:latin typeface="Cambria Math" panose="02040503050406030204" pitchFamily="18" charset="0"/>
                <a:ea typeface="Cambria Math" panose="02040503050406030204" pitchFamily="18" charset="0"/>
              </a:rPr>
              <a:t>)		  	  T/F?</a:t>
            </a:r>
            <a:endParaRPr lang="zh-CN" altLang="en-US" dirty="0">
              <a:latin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pPr lvl="1"/>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p:txBody>
      </p:sp>
      <p:sp>
        <p:nvSpPr>
          <p:cNvPr id="1048640" name="Title 2"/>
          <p:cNvSpPr>
            <a:spLocks noGrp="1"/>
          </p:cNvSpPr>
          <p:nvPr>
            <p:ph type="title"/>
          </p:nvPr>
        </p:nvSpPr>
        <p:spPr/>
        <p:txBody>
          <a:bodyPr>
            <a:normAutofit/>
          </a:bodyPr>
          <a:lstStyle/>
          <a:p>
            <a:r>
              <a:rPr lang="en-US" dirty="0">
                <a:latin typeface="Cambria Math" panose="02040503050406030204" pitchFamily="18" charset="0"/>
                <a:ea typeface="Cambria Math" panose="02040503050406030204" pitchFamily="18" charset="0"/>
              </a:rPr>
              <a:t>PREDICATES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07569" y="505250"/>
            <a:ext cx="4497705" cy="690574"/>
          </a:xfrm>
          <a:prstGeom prst="rect">
            <a:avLst/>
          </a:prstGeom>
        </p:spPr>
        <p:txBody>
          <a:bodyPr vert="horz" wrap="square" lIns="0" tIns="13335" rIns="0" bIns="0" rtlCol="0" anchor="ctr">
            <a:spAutoFit/>
          </a:bodyPr>
          <a:lstStyle/>
          <a:p>
            <a:pPr marL="12700">
              <a:lnSpc>
                <a:spcPct val="100000"/>
              </a:lnSpc>
              <a:spcBef>
                <a:spcPts val="105"/>
              </a:spcBef>
            </a:pPr>
            <a:r>
              <a:rPr spc="-15" dirty="0">
                <a:latin typeface="Cambria Math" panose="02040503050406030204" pitchFamily="18" charset="0"/>
                <a:ea typeface="Cambria Math" panose="02040503050406030204" pitchFamily="18" charset="0"/>
              </a:rPr>
              <a:t>Example</a:t>
            </a:r>
          </a:p>
        </p:txBody>
      </p:sp>
      <p:sp>
        <p:nvSpPr>
          <p:cNvPr id="3" name="object 3"/>
          <p:cNvSpPr txBox="1"/>
          <p:nvPr/>
        </p:nvSpPr>
        <p:spPr>
          <a:xfrm>
            <a:off x="816429" y="1607261"/>
            <a:ext cx="10129477" cy="3378489"/>
          </a:xfrm>
          <a:prstGeom prst="rect">
            <a:avLst/>
          </a:prstGeom>
        </p:spPr>
        <p:txBody>
          <a:bodyPr vert="horz" wrap="square" lIns="0" tIns="13335" rIns="0" bIns="0" rtlCol="0">
            <a:spAutoFit/>
          </a:bodyPr>
          <a:lstStyle/>
          <a:p>
            <a:pPr marL="12701" marR="5080" algn="ctr">
              <a:spcBef>
                <a:spcPts val="765"/>
              </a:spcBef>
              <a:tabLst>
                <a:tab pos="527685" algn="l"/>
                <a:tab pos="528320" algn="l"/>
              </a:tabLst>
            </a:pPr>
            <a:r>
              <a:rPr sz="3200" spc="-5" dirty="0">
                <a:latin typeface="Cambria Math" panose="02040503050406030204" pitchFamily="18" charset="0"/>
                <a:ea typeface="Cambria Math" panose="02040503050406030204" pitchFamily="18" charset="0"/>
                <a:cs typeface="Calibri"/>
              </a:rPr>
              <a:t>Let </a:t>
            </a:r>
            <a:r>
              <a:rPr sz="3200" i="1" dirty="0">
                <a:solidFill>
                  <a:schemeClr val="accent1">
                    <a:lumMod val="75000"/>
                  </a:schemeClr>
                </a:solidFill>
                <a:latin typeface="Cambria Math" panose="02040503050406030204" pitchFamily="18" charset="0"/>
                <a:ea typeface="Cambria Math" panose="02040503050406030204" pitchFamily="18" charset="0"/>
                <a:cs typeface="Calibri"/>
              </a:rPr>
              <a:t>A(x) </a:t>
            </a:r>
            <a:r>
              <a:rPr sz="3200" spc="-10" dirty="0">
                <a:latin typeface="Cambria Math" panose="02040503050406030204" pitchFamily="18" charset="0"/>
                <a:ea typeface="Cambria Math" panose="02040503050406030204" pitchFamily="18" charset="0"/>
                <a:cs typeface="Calibri"/>
              </a:rPr>
              <a:t>denote </a:t>
            </a:r>
            <a:r>
              <a:rPr sz="3200" dirty="0">
                <a:latin typeface="Cambria Math" panose="02040503050406030204" pitchFamily="18" charset="0"/>
                <a:ea typeface="Cambria Math" panose="02040503050406030204" pitchFamily="18" charset="0"/>
                <a:cs typeface="Calibri"/>
              </a:rPr>
              <a:t>the </a:t>
            </a:r>
            <a:r>
              <a:rPr sz="3200" spc="-20" dirty="0">
                <a:latin typeface="Cambria Math" panose="02040503050406030204" pitchFamily="18" charset="0"/>
                <a:ea typeface="Cambria Math" panose="02040503050406030204" pitchFamily="18" charset="0"/>
                <a:cs typeface="Calibri"/>
              </a:rPr>
              <a:t>statement </a:t>
            </a:r>
            <a:endParaRPr lang="en-US" sz="3200" spc="-20" dirty="0">
              <a:latin typeface="Cambria Math" panose="02040503050406030204" pitchFamily="18" charset="0"/>
              <a:ea typeface="Cambria Math" panose="02040503050406030204" pitchFamily="18" charset="0"/>
              <a:cs typeface="Calibri"/>
            </a:endParaRPr>
          </a:p>
          <a:p>
            <a:pPr marL="12701" marR="5080" algn="ctr">
              <a:spcBef>
                <a:spcPts val="765"/>
              </a:spcBef>
              <a:tabLst>
                <a:tab pos="527685" algn="l"/>
                <a:tab pos="528320" algn="l"/>
              </a:tabLst>
            </a:pPr>
            <a:r>
              <a:rPr sz="3200" spc="-10" dirty="0">
                <a:solidFill>
                  <a:schemeClr val="accent1">
                    <a:lumMod val="75000"/>
                  </a:schemeClr>
                </a:solidFill>
                <a:latin typeface="Cambria Math" panose="02040503050406030204" pitchFamily="18" charset="0"/>
                <a:ea typeface="Cambria Math" panose="02040503050406030204" pitchFamily="18" charset="0"/>
                <a:cs typeface="Calibri"/>
              </a:rPr>
              <a:t>“Computer </a:t>
            </a:r>
            <a:r>
              <a:rPr sz="3200" i="1" dirty="0">
                <a:solidFill>
                  <a:schemeClr val="accent1">
                    <a:lumMod val="75000"/>
                  </a:schemeClr>
                </a:solidFill>
                <a:latin typeface="Cambria Math" panose="02040503050406030204" pitchFamily="18" charset="0"/>
                <a:ea typeface="Cambria Math" panose="02040503050406030204" pitchFamily="18" charset="0"/>
                <a:cs typeface="Calibri"/>
              </a:rPr>
              <a:t>x </a:t>
            </a:r>
            <a:r>
              <a:rPr sz="3200" spc="-5" dirty="0">
                <a:solidFill>
                  <a:schemeClr val="accent1">
                    <a:lumMod val="75000"/>
                  </a:schemeClr>
                </a:solidFill>
                <a:latin typeface="Cambria Math" panose="02040503050406030204" pitchFamily="18" charset="0"/>
                <a:ea typeface="Cambria Math" panose="02040503050406030204" pitchFamily="18" charset="0"/>
                <a:cs typeface="Calibri"/>
              </a:rPr>
              <a:t>is  under </a:t>
            </a:r>
            <a:r>
              <a:rPr sz="3200" spc="-20" dirty="0">
                <a:solidFill>
                  <a:schemeClr val="accent1">
                    <a:lumMod val="75000"/>
                  </a:schemeClr>
                </a:solidFill>
                <a:latin typeface="Cambria Math" panose="02040503050406030204" pitchFamily="18" charset="0"/>
                <a:ea typeface="Cambria Math" panose="02040503050406030204" pitchFamily="18" charset="0"/>
                <a:cs typeface="Calibri"/>
              </a:rPr>
              <a:t>attack </a:t>
            </a:r>
            <a:r>
              <a:rPr sz="3200" spc="-10" dirty="0">
                <a:solidFill>
                  <a:schemeClr val="accent1">
                    <a:lumMod val="75000"/>
                  </a:schemeClr>
                </a:solidFill>
                <a:latin typeface="Cambria Math" panose="02040503050406030204" pitchFamily="18" charset="0"/>
                <a:ea typeface="Cambria Math" panose="02040503050406030204" pitchFamily="18" charset="0"/>
                <a:cs typeface="Calibri"/>
              </a:rPr>
              <a:t>by </a:t>
            </a:r>
            <a:r>
              <a:rPr sz="3200" dirty="0">
                <a:solidFill>
                  <a:schemeClr val="accent1">
                    <a:lumMod val="75000"/>
                  </a:schemeClr>
                </a:solidFill>
                <a:latin typeface="Cambria Math" panose="02040503050406030204" pitchFamily="18" charset="0"/>
                <a:ea typeface="Cambria Math" panose="02040503050406030204" pitchFamily="18" charset="0"/>
                <a:cs typeface="Calibri"/>
              </a:rPr>
              <a:t>an </a:t>
            </a:r>
            <a:r>
              <a:rPr sz="3200" spc="-65" dirty="0">
                <a:solidFill>
                  <a:schemeClr val="accent1">
                    <a:lumMod val="75000"/>
                  </a:schemeClr>
                </a:solidFill>
                <a:latin typeface="Cambria Math" panose="02040503050406030204" pitchFamily="18" charset="0"/>
                <a:ea typeface="Cambria Math" panose="02040503050406030204" pitchFamily="18" charset="0"/>
                <a:cs typeface="Calibri"/>
              </a:rPr>
              <a:t>intruder.”</a:t>
            </a:r>
            <a:r>
              <a:rPr sz="3200" spc="-65" dirty="0">
                <a:latin typeface="Cambria Math" panose="02040503050406030204" pitchFamily="18" charset="0"/>
                <a:ea typeface="Cambria Math" panose="02040503050406030204" pitchFamily="18" charset="0"/>
                <a:cs typeface="Calibri"/>
              </a:rPr>
              <a:t> </a:t>
            </a:r>
            <a:endParaRPr lang="en-US" sz="3200" spc="-65" dirty="0">
              <a:latin typeface="Cambria Math" panose="02040503050406030204" pitchFamily="18" charset="0"/>
              <a:ea typeface="Cambria Math" panose="02040503050406030204" pitchFamily="18" charset="0"/>
              <a:cs typeface="Calibri"/>
            </a:endParaRPr>
          </a:p>
          <a:p>
            <a:pPr marL="12701" marR="5080" algn="ctr">
              <a:spcBef>
                <a:spcPts val="765"/>
              </a:spcBef>
              <a:tabLst>
                <a:tab pos="527685" algn="l"/>
                <a:tab pos="528320" algn="l"/>
              </a:tabLst>
            </a:pPr>
            <a:r>
              <a:rPr sz="3200" spc="-5" dirty="0">
                <a:latin typeface="Cambria Math" panose="02040503050406030204" pitchFamily="18" charset="0"/>
                <a:ea typeface="Cambria Math" panose="02040503050406030204" pitchFamily="18" charset="0"/>
                <a:cs typeface="Calibri"/>
              </a:rPr>
              <a:t>Suppose that of  </a:t>
            </a:r>
            <a:r>
              <a:rPr sz="3200" dirty="0">
                <a:latin typeface="Cambria Math" panose="02040503050406030204" pitchFamily="18" charset="0"/>
                <a:ea typeface="Cambria Math" panose="02040503050406030204" pitchFamily="18" charset="0"/>
                <a:cs typeface="Calibri"/>
              </a:rPr>
              <a:t>the </a:t>
            </a:r>
            <a:r>
              <a:rPr sz="3200" spc="-20" dirty="0">
                <a:latin typeface="Cambria Math" panose="02040503050406030204" pitchFamily="18" charset="0"/>
                <a:ea typeface="Cambria Math" panose="02040503050406030204" pitchFamily="18" charset="0"/>
                <a:cs typeface="Calibri"/>
              </a:rPr>
              <a:t>computers </a:t>
            </a:r>
            <a:r>
              <a:rPr sz="3200" spc="-5" dirty="0">
                <a:latin typeface="Cambria Math" panose="02040503050406030204" pitchFamily="18" charset="0"/>
                <a:ea typeface="Cambria Math" panose="02040503050406030204" pitchFamily="18" charset="0"/>
                <a:cs typeface="Calibri"/>
              </a:rPr>
              <a:t>on </a:t>
            </a:r>
            <a:r>
              <a:rPr sz="3200" spc="-10" dirty="0">
                <a:latin typeface="Cambria Math" panose="02040503050406030204" pitchFamily="18" charset="0"/>
                <a:ea typeface="Cambria Math" panose="02040503050406030204" pitchFamily="18" charset="0"/>
                <a:cs typeface="Calibri"/>
              </a:rPr>
              <a:t>campus, </a:t>
            </a:r>
            <a:r>
              <a:rPr sz="3200" spc="-5" dirty="0">
                <a:latin typeface="Cambria Math" panose="02040503050406030204" pitchFamily="18" charset="0"/>
                <a:ea typeface="Cambria Math" panose="02040503050406030204" pitchFamily="18" charset="0"/>
                <a:cs typeface="Calibri"/>
              </a:rPr>
              <a:t>only CS2 and  </a:t>
            </a:r>
            <a:r>
              <a:rPr sz="3200" spc="-55" dirty="0">
                <a:latin typeface="Cambria Math" panose="02040503050406030204" pitchFamily="18" charset="0"/>
                <a:ea typeface="Cambria Math" panose="02040503050406030204" pitchFamily="18" charset="0"/>
                <a:cs typeface="Calibri"/>
              </a:rPr>
              <a:t>MATH1 </a:t>
            </a:r>
            <a:r>
              <a:rPr sz="3200" spc="-15" dirty="0">
                <a:latin typeface="Cambria Math" panose="02040503050406030204" pitchFamily="18" charset="0"/>
                <a:ea typeface="Cambria Math" panose="02040503050406030204" pitchFamily="18" charset="0"/>
                <a:cs typeface="Calibri"/>
              </a:rPr>
              <a:t>are </a:t>
            </a:r>
            <a:r>
              <a:rPr sz="3200" spc="-10" dirty="0">
                <a:latin typeface="Cambria Math" panose="02040503050406030204" pitchFamily="18" charset="0"/>
                <a:ea typeface="Cambria Math" panose="02040503050406030204" pitchFamily="18" charset="0"/>
                <a:cs typeface="Calibri"/>
              </a:rPr>
              <a:t>currently </a:t>
            </a:r>
            <a:r>
              <a:rPr sz="3200" spc="-5" dirty="0">
                <a:latin typeface="Cambria Math" panose="02040503050406030204" pitchFamily="18" charset="0"/>
                <a:ea typeface="Cambria Math" panose="02040503050406030204" pitchFamily="18" charset="0"/>
                <a:cs typeface="Calibri"/>
              </a:rPr>
              <a:t>under </a:t>
            </a:r>
            <a:r>
              <a:rPr sz="3200" spc="-20" dirty="0">
                <a:latin typeface="Cambria Math" panose="02040503050406030204" pitchFamily="18" charset="0"/>
                <a:ea typeface="Cambria Math" panose="02040503050406030204" pitchFamily="18" charset="0"/>
                <a:cs typeface="Calibri"/>
              </a:rPr>
              <a:t>attack </a:t>
            </a:r>
            <a:r>
              <a:rPr sz="3200" spc="-10" dirty="0">
                <a:latin typeface="Cambria Math" panose="02040503050406030204" pitchFamily="18" charset="0"/>
                <a:ea typeface="Cambria Math" panose="02040503050406030204" pitchFamily="18" charset="0"/>
                <a:cs typeface="Calibri"/>
              </a:rPr>
              <a:t>by  </a:t>
            </a:r>
            <a:r>
              <a:rPr sz="3200" spc="-15" dirty="0">
                <a:latin typeface="Cambria Math" panose="02040503050406030204" pitchFamily="18" charset="0"/>
                <a:ea typeface="Cambria Math" panose="02040503050406030204" pitchFamily="18" charset="0"/>
                <a:cs typeface="Calibri"/>
              </a:rPr>
              <a:t>intruders. </a:t>
            </a:r>
            <a:endParaRPr lang="en-US" sz="3200" spc="-15" dirty="0">
              <a:latin typeface="Cambria Math" panose="02040503050406030204" pitchFamily="18" charset="0"/>
              <a:ea typeface="Cambria Math" panose="02040503050406030204" pitchFamily="18" charset="0"/>
              <a:cs typeface="Calibri"/>
            </a:endParaRPr>
          </a:p>
          <a:p>
            <a:pPr marL="12701" marR="5080" algn="ctr">
              <a:spcBef>
                <a:spcPts val="765"/>
              </a:spcBef>
              <a:tabLst>
                <a:tab pos="527685" algn="l"/>
                <a:tab pos="528320" algn="l"/>
              </a:tabLst>
            </a:pPr>
            <a:endParaRPr lang="en-US" sz="3200" spc="-15" dirty="0">
              <a:latin typeface="Cambria Math" panose="02040503050406030204" pitchFamily="18" charset="0"/>
              <a:ea typeface="Cambria Math" panose="02040503050406030204" pitchFamily="18" charset="0"/>
              <a:cs typeface="Calibri"/>
            </a:endParaRPr>
          </a:p>
          <a:p>
            <a:pPr marL="12701" marR="5080" algn="ctr">
              <a:spcBef>
                <a:spcPts val="765"/>
              </a:spcBef>
              <a:tabLst>
                <a:tab pos="527685" algn="l"/>
                <a:tab pos="528320" algn="l"/>
              </a:tabLst>
            </a:pPr>
            <a:r>
              <a:rPr sz="3200" spc="-5" dirty="0">
                <a:latin typeface="Cambria Math" panose="02040503050406030204" pitchFamily="18" charset="0"/>
                <a:ea typeface="Cambria Math" panose="02040503050406030204" pitchFamily="18" charset="0"/>
                <a:cs typeface="Calibri"/>
              </a:rPr>
              <a:t>What </a:t>
            </a:r>
            <a:r>
              <a:rPr sz="3200" spc="-15" dirty="0">
                <a:latin typeface="Cambria Math" panose="02040503050406030204" pitchFamily="18" charset="0"/>
                <a:ea typeface="Cambria Math" panose="02040503050406030204" pitchFamily="18" charset="0"/>
                <a:cs typeface="Calibri"/>
              </a:rPr>
              <a:t>are </a:t>
            </a:r>
            <a:r>
              <a:rPr sz="3200" spc="-5" dirty="0">
                <a:latin typeface="Cambria Math" panose="02040503050406030204" pitchFamily="18" charset="0"/>
                <a:ea typeface="Cambria Math" panose="02040503050406030204" pitchFamily="18" charset="0"/>
                <a:cs typeface="Calibri"/>
              </a:rPr>
              <a:t>truth </a:t>
            </a:r>
            <a:r>
              <a:rPr sz="3200" spc="-10" dirty="0">
                <a:latin typeface="Cambria Math" panose="02040503050406030204" pitchFamily="18" charset="0"/>
                <a:ea typeface="Cambria Math" panose="02040503050406030204" pitchFamily="18" charset="0"/>
                <a:cs typeface="Calibri"/>
              </a:rPr>
              <a:t>values </a:t>
            </a:r>
            <a:r>
              <a:rPr sz="3200" dirty="0">
                <a:latin typeface="Cambria Math" panose="02040503050406030204" pitchFamily="18" charset="0"/>
                <a:ea typeface="Cambria Math" panose="02040503050406030204" pitchFamily="18" charset="0"/>
                <a:cs typeface="Calibri"/>
              </a:rPr>
              <a:t>of </a:t>
            </a:r>
            <a:r>
              <a:rPr sz="3200" b="1" i="1" spc="-5" dirty="0">
                <a:solidFill>
                  <a:schemeClr val="accent1">
                    <a:lumMod val="75000"/>
                  </a:schemeClr>
                </a:solidFill>
                <a:latin typeface="Cambria Math" panose="02040503050406030204" pitchFamily="18" charset="0"/>
                <a:ea typeface="Cambria Math" panose="02040503050406030204" pitchFamily="18" charset="0"/>
                <a:cs typeface="Calibri"/>
              </a:rPr>
              <a:t>A</a:t>
            </a:r>
            <a:r>
              <a:rPr sz="3200" b="1" spc="-5" dirty="0">
                <a:solidFill>
                  <a:schemeClr val="accent1">
                    <a:lumMod val="75000"/>
                  </a:schemeClr>
                </a:solidFill>
                <a:latin typeface="Cambria Math" panose="02040503050406030204" pitchFamily="18" charset="0"/>
                <a:ea typeface="Cambria Math" panose="02040503050406030204" pitchFamily="18" charset="0"/>
                <a:cs typeface="Calibri"/>
              </a:rPr>
              <a:t>(CS1),  </a:t>
            </a:r>
            <a:r>
              <a:rPr sz="3200" b="1" i="1" spc="-5" dirty="0">
                <a:solidFill>
                  <a:schemeClr val="accent1">
                    <a:lumMod val="75000"/>
                  </a:schemeClr>
                </a:solidFill>
                <a:latin typeface="Cambria Math" panose="02040503050406030204" pitchFamily="18" charset="0"/>
                <a:ea typeface="Cambria Math" panose="02040503050406030204" pitchFamily="18" charset="0"/>
                <a:cs typeface="Calibri"/>
              </a:rPr>
              <a:t>A</a:t>
            </a:r>
            <a:r>
              <a:rPr sz="3200" b="1" spc="-5" dirty="0">
                <a:solidFill>
                  <a:schemeClr val="accent1">
                    <a:lumMod val="75000"/>
                  </a:schemeClr>
                </a:solidFill>
                <a:latin typeface="Cambria Math" panose="02040503050406030204" pitchFamily="18" charset="0"/>
                <a:ea typeface="Cambria Math" panose="02040503050406030204" pitchFamily="18" charset="0"/>
                <a:cs typeface="Calibri"/>
              </a:rPr>
              <a:t>(CS2), </a:t>
            </a:r>
            <a:r>
              <a:rPr sz="3200" spc="-5" dirty="0">
                <a:solidFill>
                  <a:schemeClr val="accent1">
                    <a:lumMod val="75000"/>
                  </a:schemeClr>
                </a:solidFill>
                <a:latin typeface="Cambria Math" panose="02040503050406030204" pitchFamily="18" charset="0"/>
                <a:ea typeface="Cambria Math" panose="02040503050406030204" pitchFamily="18" charset="0"/>
                <a:cs typeface="Calibri"/>
              </a:rPr>
              <a:t>and</a:t>
            </a:r>
            <a:r>
              <a:rPr sz="3200" spc="35" dirty="0">
                <a:solidFill>
                  <a:schemeClr val="accent1">
                    <a:lumMod val="75000"/>
                  </a:schemeClr>
                </a:solidFill>
                <a:latin typeface="Cambria Math" panose="02040503050406030204" pitchFamily="18" charset="0"/>
                <a:ea typeface="Cambria Math" panose="02040503050406030204" pitchFamily="18" charset="0"/>
                <a:cs typeface="Calibri"/>
              </a:rPr>
              <a:t> </a:t>
            </a:r>
            <a:r>
              <a:rPr sz="3200" b="1" i="1" spc="-35" dirty="0">
                <a:solidFill>
                  <a:schemeClr val="accent1">
                    <a:lumMod val="75000"/>
                  </a:schemeClr>
                </a:solidFill>
                <a:latin typeface="Cambria Math" panose="02040503050406030204" pitchFamily="18" charset="0"/>
                <a:ea typeface="Cambria Math" panose="02040503050406030204" pitchFamily="18" charset="0"/>
                <a:cs typeface="Calibri"/>
              </a:rPr>
              <a:t>A</a:t>
            </a:r>
            <a:r>
              <a:rPr sz="3200" b="1" spc="-35" dirty="0">
                <a:solidFill>
                  <a:schemeClr val="accent1">
                    <a:lumMod val="75000"/>
                  </a:schemeClr>
                </a:solidFill>
                <a:latin typeface="Cambria Math" panose="02040503050406030204" pitchFamily="18" charset="0"/>
                <a:ea typeface="Cambria Math" panose="02040503050406030204" pitchFamily="18" charset="0"/>
                <a:cs typeface="Calibri"/>
              </a:rPr>
              <a:t>(MATH1)?</a:t>
            </a:r>
            <a:endParaRPr sz="3200" b="1" dirty="0">
              <a:solidFill>
                <a:schemeClr val="accent1">
                  <a:lumMod val="75000"/>
                </a:schemeClr>
              </a:solidFill>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Content Placeholder 1"/>
          <p:cNvSpPr>
            <a:spLocks noGrp="1"/>
          </p:cNvSpPr>
          <p:nvPr>
            <p:ph idx="1"/>
          </p:nvPr>
        </p:nvSpPr>
        <p:spPr>
          <a:xfrm>
            <a:off x="1179575" y="1911096"/>
            <a:ext cx="10827545" cy="3859742"/>
          </a:xfrm>
        </p:spPr>
        <p:txBody>
          <a:bodyPr>
            <a:normAutofit/>
          </a:bodyPr>
          <a:lstStyle/>
          <a:p>
            <a:r>
              <a:rPr lang="en-US" sz="3600" dirty="0">
                <a:latin typeface="Cambria Math" panose="02040503050406030204" pitchFamily="18" charset="0"/>
                <a:ea typeface="Cambria Math" panose="02040503050406030204" pitchFamily="18" charset="0"/>
              </a:rPr>
              <a:t>A predicate may involve more than one variables</a:t>
            </a:r>
          </a:p>
          <a:p>
            <a:pPr lvl="1"/>
            <a:r>
              <a:rPr lang="en-US" sz="3200" i="1" dirty="0">
                <a:latin typeface="Cambria Math" panose="02040503050406030204" pitchFamily="18" charset="0"/>
                <a:ea typeface="Cambria Math" panose="02040503050406030204" pitchFamily="18" charset="0"/>
              </a:rPr>
              <a:t>n</a:t>
            </a:r>
            <a:r>
              <a:rPr lang="en-US" sz="3200" dirty="0">
                <a:latin typeface="Cambria Math" panose="02040503050406030204" pitchFamily="18" charset="0"/>
                <a:ea typeface="Cambria Math" panose="02040503050406030204" pitchFamily="18" charset="0"/>
              </a:rPr>
              <a:t>-</a:t>
            </a:r>
            <a:r>
              <a:rPr lang="en-US" sz="3200" dirty="0" err="1">
                <a:latin typeface="Cambria Math" panose="02040503050406030204" pitchFamily="18" charset="0"/>
                <a:ea typeface="Cambria Math" panose="02040503050406030204" pitchFamily="18" charset="0"/>
              </a:rPr>
              <a:t>ary</a:t>
            </a:r>
            <a:r>
              <a:rPr lang="en-US" sz="3200" dirty="0">
                <a:latin typeface="Cambria Math" panose="02040503050406030204" pitchFamily="18" charset="0"/>
                <a:ea typeface="Cambria Math" panose="02040503050406030204" pitchFamily="18" charset="0"/>
              </a:rPr>
              <a:t> Predicate</a:t>
            </a:r>
          </a:p>
          <a:p>
            <a:endParaRPr sz="3600" dirty="0">
              <a:latin typeface="Cambria Math" panose="02040503050406030204" pitchFamily="18" charset="0"/>
              <a:ea typeface="Cambria Math" panose="02040503050406030204" pitchFamily="18" charset="0"/>
            </a:endParaRPr>
          </a:p>
          <a:p>
            <a:r>
              <a:rPr lang="en-US" sz="3600" dirty="0">
                <a:latin typeface="Cambria Math" panose="02040503050406030204" pitchFamily="18" charset="0"/>
                <a:ea typeface="Cambria Math" panose="02040503050406030204" pitchFamily="18" charset="0"/>
              </a:rPr>
              <a:t>Value of a Propositional Function</a:t>
            </a:r>
            <a:endParaRPr lang="zh-CN" altLang="en-US" sz="3600" dirty="0">
              <a:latin typeface="Cambria Math" panose="02040503050406030204" pitchFamily="18" charset="0"/>
            </a:endParaRPr>
          </a:p>
          <a:p>
            <a:pPr lvl="1"/>
            <a:r>
              <a:rPr lang="en-US" sz="3200" dirty="0">
                <a:latin typeface="Cambria Math" panose="02040503050406030204" pitchFamily="18" charset="0"/>
                <a:ea typeface="Cambria Math" panose="02040503050406030204" pitchFamily="18" charset="0"/>
              </a:rPr>
              <a:t>(True/False)</a:t>
            </a:r>
          </a:p>
          <a:p>
            <a:pPr lvl="1"/>
            <a:endParaRPr lang="en-US" sz="3200" dirty="0">
              <a:latin typeface="Cambria Math" panose="02040503050406030204" pitchFamily="18" charset="0"/>
              <a:ea typeface="Cambria Math" panose="02040503050406030204" pitchFamily="18" charset="0"/>
            </a:endParaRPr>
          </a:p>
          <a:p>
            <a:endParaRPr lang="en-US" sz="3600" dirty="0">
              <a:latin typeface="Cambria Math" panose="02040503050406030204" pitchFamily="18" charset="0"/>
              <a:ea typeface="Cambria Math" panose="02040503050406030204" pitchFamily="18" charset="0"/>
            </a:endParaRPr>
          </a:p>
        </p:txBody>
      </p:sp>
      <p:sp>
        <p:nvSpPr>
          <p:cNvPr id="1048656" name="Title 2"/>
          <p:cNvSpPr>
            <a:spLocks noGrp="1"/>
          </p:cNvSpPr>
          <p:nvPr>
            <p:ph type="title"/>
          </p:nvPr>
        </p:nvSpPr>
        <p:spPr/>
        <p:txBody>
          <a:bodyPr>
            <a:normAutofit/>
          </a:bodyPr>
          <a:lstStyle/>
          <a:p>
            <a:r>
              <a:rPr lang="en-US" dirty="0">
                <a:latin typeface="Cambria Math" panose="02040503050406030204" pitchFamily="18" charset="0"/>
                <a:ea typeface="Cambria Math" panose="02040503050406030204" pitchFamily="18" charset="0"/>
              </a:rPr>
              <a:t>PREDICATES</a:t>
            </a:r>
            <a:endParaRPr lang="en-US" sz="4800" dirty="0">
              <a:latin typeface="Cambria Math" panose="02040503050406030204" pitchFamily="18" charset="0"/>
              <a:ea typeface="Cambria Math"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4253" y="464910"/>
            <a:ext cx="8051975" cy="690574"/>
          </a:xfrm>
          <a:prstGeom prst="rect">
            <a:avLst/>
          </a:prstGeom>
        </p:spPr>
        <p:txBody>
          <a:bodyPr vert="horz" wrap="square" lIns="0" tIns="13335" rIns="0" bIns="0" rtlCol="0" anchor="ctr">
            <a:spAutoFit/>
          </a:bodyPr>
          <a:lstStyle/>
          <a:p>
            <a:pPr marL="12700">
              <a:lnSpc>
                <a:spcPct val="100000"/>
              </a:lnSpc>
              <a:spcBef>
                <a:spcPts val="105"/>
              </a:spcBef>
            </a:pPr>
            <a:r>
              <a:rPr spc="-15" dirty="0"/>
              <a:t>Example</a:t>
            </a:r>
            <a:r>
              <a:rPr lang="en-US" spc="-15" dirty="0"/>
              <a:t> </a:t>
            </a:r>
            <a:r>
              <a:rPr spc="-15" dirty="0"/>
              <a:t>(more </a:t>
            </a:r>
            <a:r>
              <a:rPr dirty="0"/>
              <a:t>than1</a:t>
            </a:r>
            <a:r>
              <a:rPr spc="-15" dirty="0"/>
              <a:t>variable)</a:t>
            </a:r>
          </a:p>
        </p:txBody>
      </p:sp>
      <p:sp>
        <p:nvSpPr>
          <p:cNvPr id="3" name="object 3"/>
          <p:cNvSpPr txBox="1"/>
          <p:nvPr/>
        </p:nvSpPr>
        <p:spPr>
          <a:xfrm>
            <a:off x="1380930" y="1703771"/>
            <a:ext cx="9471949" cy="3308854"/>
          </a:xfrm>
          <a:prstGeom prst="rect">
            <a:avLst/>
          </a:prstGeom>
        </p:spPr>
        <p:txBody>
          <a:bodyPr vert="horz" wrap="square" lIns="0" tIns="104139" rIns="0" bIns="0" rtlCol="0">
            <a:spAutoFit/>
          </a:bodyPr>
          <a:lstStyle/>
          <a:p>
            <a:pPr marL="12701" marR="386715" algn="ctr">
              <a:lnSpc>
                <a:spcPct val="80000"/>
              </a:lnSpc>
              <a:spcBef>
                <a:spcPts val="819"/>
              </a:spcBef>
              <a:tabLst>
                <a:tab pos="527685" algn="l"/>
                <a:tab pos="528320" algn="l"/>
              </a:tabLst>
            </a:pPr>
            <a:r>
              <a:rPr sz="3000" spc="-10" dirty="0">
                <a:latin typeface="Cambria Math" panose="02040503050406030204" pitchFamily="18" charset="0"/>
                <a:ea typeface="Cambria Math" panose="02040503050406030204" pitchFamily="18" charset="0"/>
                <a:cs typeface="Calibri"/>
              </a:rPr>
              <a:t>Let </a:t>
            </a:r>
            <a:r>
              <a:rPr sz="3000" spc="-5" dirty="0">
                <a:solidFill>
                  <a:schemeClr val="accent1">
                    <a:lumMod val="75000"/>
                  </a:schemeClr>
                </a:solidFill>
                <a:latin typeface="Cambria Math" panose="02040503050406030204" pitchFamily="18" charset="0"/>
                <a:ea typeface="Cambria Math" panose="02040503050406030204" pitchFamily="18" charset="0"/>
                <a:cs typeface="Calibri"/>
              </a:rPr>
              <a:t>Q(x, y)</a:t>
            </a:r>
            <a:r>
              <a:rPr sz="3000" spc="-5" dirty="0">
                <a:latin typeface="Cambria Math" panose="02040503050406030204" pitchFamily="18" charset="0"/>
                <a:ea typeface="Cambria Math" panose="02040503050406030204" pitchFamily="18" charset="0"/>
                <a:cs typeface="Calibri"/>
              </a:rPr>
              <a:t> </a:t>
            </a:r>
            <a:r>
              <a:rPr sz="3000" spc="-15" dirty="0">
                <a:latin typeface="Cambria Math" panose="02040503050406030204" pitchFamily="18" charset="0"/>
                <a:ea typeface="Cambria Math" panose="02040503050406030204" pitchFamily="18" charset="0"/>
                <a:cs typeface="Calibri"/>
              </a:rPr>
              <a:t>denote </a:t>
            </a:r>
            <a:r>
              <a:rPr sz="3000" dirty="0">
                <a:latin typeface="Cambria Math" panose="02040503050406030204" pitchFamily="18" charset="0"/>
                <a:ea typeface="Cambria Math" panose="02040503050406030204" pitchFamily="18" charset="0"/>
                <a:cs typeface="Calibri"/>
              </a:rPr>
              <a:t>the </a:t>
            </a:r>
            <a:r>
              <a:rPr sz="3000" spc="-20" dirty="0">
                <a:latin typeface="Cambria Math" panose="02040503050406030204" pitchFamily="18" charset="0"/>
                <a:ea typeface="Cambria Math" panose="02040503050406030204" pitchFamily="18" charset="0"/>
                <a:cs typeface="Calibri"/>
              </a:rPr>
              <a:t>statement </a:t>
            </a:r>
            <a:r>
              <a:rPr sz="3000" dirty="0">
                <a:solidFill>
                  <a:schemeClr val="accent1">
                    <a:lumMod val="75000"/>
                  </a:schemeClr>
                </a:solidFill>
                <a:latin typeface="Cambria Math" panose="02040503050406030204" pitchFamily="18" charset="0"/>
                <a:ea typeface="Cambria Math" panose="02040503050406030204" pitchFamily="18" charset="0"/>
                <a:cs typeface="Calibri"/>
              </a:rPr>
              <a:t>“x = y + </a:t>
            </a:r>
            <a:r>
              <a:rPr sz="3000" spc="-70" dirty="0">
                <a:solidFill>
                  <a:schemeClr val="accent1">
                    <a:lumMod val="75000"/>
                  </a:schemeClr>
                </a:solidFill>
                <a:latin typeface="Cambria Math" panose="02040503050406030204" pitchFamily="18" charset="0"/>
                <a:ea typeface="Cambria Math" panose="02040503050406030204" pitchFamily="18" charset="0"/>
                <a:cs typeface="Calibri"/>
              </a:rPr>
              <a:t>3.” </a:t>
            </a:r>
            <a:endParaRPr lang="en-US" sz="3000" spc="-70" dirty="0">
              <a:solidFill>
                <a:schemeClr val="accent1">
                  <a:lumMod val="75000"/>
                </a:schemeClr>
              </a:solidFill>
              <a:latin typeface="Cambria Math" panose="02040503050406030204" pitchFamily="18" charset="0"/>
              <a:ea typeface="Cambria Math" panose="02040503050406030204" pitchFamily="18" charset="0"/>
              <a:cs typeface="Calibri"/>
            </a:endParaRPr>
          </a:p>
          <a:p>
            <a:pPr marL="12701" marR="386715" algn="ctr">
              <a:lnSpc>
                <a:spcPct val="80000"/>
              </a:lnSpc>
              <a:spcBef>
                <a:spcPts val="819"/>
              </a:spcBef>
              <a:tabLst>
                <a:tab pos="527685" algn="l"/>
                <a:tab pos="528320" algn="l"/>
              </a:tabLst>
            </a:pPr>
            <a:endParaRPr lang="en-US" sz="3000" spc="-70" dirty="0">
              <a:latin typeface="Cambria Math" panose="02040503050406030204" pitchFamily="18" charset="0"/>
              <a:ea typeface="Cambria Math" panose="02040503050406030204" pitchFamily="18" charset="0"/>
              <a:cs typeface="Calibri"/>
            </a:endParaRPr>
          </a:p>
          <a:p>
            <a:pPr marL="12701" marR="386715" algn="ctr">
              <a:lnSpc>
                <a:spcPct val="80000"/>
              </a:lnSpc>
              <a:spcBef>
                <a:spcPts val="819"/>
              </a:spcBef>
              <a:tabLst>
                <a:tab pos="527685" algn="l"/>
                <a:tab pos="528320" algn="l"/>
              </a:tabLst>
            </a:pPr>
            <a:r>
              <a:rPr sz="3000" spc="-70" dirty="0">
                <a:latin typeface="Cambria Math" panose="02040503050406030204" pitchFamily="18" charset="0"/>
                <a:ea typeface="Cambria Math" panose="02040503050406030204" pitchFamily="18" charset="0"/>
                <a:cs typeface="Calibri"/>
              </a:rPr>
              <a:t> </a:t>
            </a:r>
            <a:r>
              <a:rPr sz="3000" spc="-10" dirty="0">
                <a:latin typeface="Cambria Math" panose="02040503050406030204" pitchFamily="18" charset="0"/>
                <a:ea typeface="Cambria Math" panose="02040503050406030204" pitchFamily="18" charset="0"/>
                <a:cs typeface="Calibri"/>
              </a:rPr>
              <a:t>What </a:t>
            </a:r>
            <a:r>
              <a:rPr sz="3000" spc="-15" dirty="0">
                <a:latin typeface="Cambria Math" panose="02040503050406030204" pitchFamily="18" charset="0"/>
                <a:ea typeface="Cambria Math" panose="02040503050406030204" pitchFamily="18" charset="0"/>
                <a:cs typeface="Calibri"/>
              </a:rPr>
              <a:t>are </a:t>
            </a:r>
            <a:r>
              <a:rPr sz="3000" dirty="0">
                <a:latin typeface="Cambria Math" panose="02040503050406030204" pitchFamily="18" charset="0"/>
                <a:ea typeface="Cambria Math" panose="02040503050406030204" pitchFamily="18" charset="0"/>
                <a:cs typeface="Calibri"/>
              </a:rPr>
              <a:t>the truth </a:t>
            </a:r>
            <a:r>
              <a:rPr sz="3000" spc="-15" dirty="0">
                <a:latin typeface="Cambria Math" panose="02040503050406030204" pitchFamily="18" charset="0"/>
                <a:ea typeface="Cambria Math" panose="02040503050406030204" pitchFamily="18" charset="0"/>
                <a:cs typeface="Calibri"/>
              </a:rPr>
              <a:t>values </a:t>
            </a:r>
            <a:r>
              <a:rPr sz="3000" spc="-5" dirty="0">
                <a:latin typeface="Cambria Math" panose="02040503050406030204" pitchFamily="18" charset="0"/>
                <a:ea typeface="Cambria Math" panose="02040503050406030204" pitchFamily="18" charset="0"/>
                <a:cs typeface="Calibri"/>
              </a:rPr>
              <a:t>of </a:t>
            </a:r>
            <a:r>
              <a:rPr sz="3000" dirty="0">
                <a:latin typeface="Cambria Math" panose="02040503050406030204" pitchFamily="18" charset="0"/>
                <a:ea typeface="Cambria Math" panose="02040503050406030204" pitchFamily="18" charset="0"/>
                <a:cs typeface="Calibri"/>
              </a:rPr>
              <a:t>the </a:t>
            </a:r>
            <a:r>
              <a:rPr sz="3000" spc="-10" dirty="0">
                <a:latin typeface="Cambria Math" panose="02040503050406030204" pitchFamily="18" charset="0"/>
                <a:ea typeface="Cambria Math" panose="02040503050406030204" pitchFamily="18" charset="0"/>
                <a:cs typeface="Calibri"/>
              </a:rPr>
              <a:t>propositions  </a:t>
            </a:r>
            <a:endParaRPr lang="en-US" sz="3000" spc="-10" dirty="0">
              <a:latin typeface="Cambria Math" panose="02040503050406030204" pitchFamily="18" charset="0"/>
              <a:ea typeface="Cambria Math" panose="02040503050406030204" pitchFamily="18" charset="0"/>
              <a:cs typeface="Calibri"/>
            </a:endParaRPr>
          </a:p>
          <a:p>
            <a:pPr marL="12701" marR="386715" algn="ctr">
              <a:lnSpc>
                <a:spcPct val="80000"/>
              </a:lnSpc>
              <a:spcBef>
                <a:spcPts val="819"/>
              </a:spcBef>
              <a:tabLst>
                <a:tab pos="527685" algn="l"/>
                <a:tab pos="528320" algn="l"/>
              </a:tabLst>
            </a:pPr>
            <a:r>
              <a:rPr sz="3000" spc="-5" dirty="0">
                <a:solidFill>
                  <a:schemeClr val="accent1">
                    <a:lumMod val="75000"/>
                  </a:schemeClr>
                </a:solidFill>
                <a:latin typeface="Cambria Math" panose="02040503050406030204" pitchFamily="18" charset="0"/>
                <a:ea typeface="Cambria Math" panose="02040503050406030204" pitchFamily="18" charset="0"/>
                <a:cs typeface="Calibri"/>
              </a:rPr>
              <a:t>Q(1, </a:t>
            </a:r>
            <a:r>
              <a:rPr sz="3000" dirty="0">
                <a:solidFill>
                  <a:schemeClr val="accent1">
                    <a:lumMod val="75000"/>
                  </a:schemeClr>
                </a:solidFill>
                <a:latin typeface="Cambria Math" panose="02040503050406030204" pitchFamily="18" charset="0"/>
                <a:ea typeface="Cambria Math" panose="02040503050406030204" pitchFamily="18" charset="0"/>
                <a:cs typeface="Calibri"/>
              </a:rPr>
              <a:t>2) </a:t>
            </a:r>
            <a:r>
              <a:rPr sz="3000" spc="-5" dirty="0">
                <a:latin typeface="Cambria Math" panose="02040503050406030204" pitchFamily="18" charset="0"/>
                <a:ea typeface="Cambria Math" panose="02040503050406030204" pitchFamily="18" charset="0"/>
                <a:cs typeface="Calibri"/>
              </a:rPr>
              <a:t>and </a:t>
            </a:r>
            <a:r>
              <a:rPr sz="3000" dirty="0">
                <a:solidFill>
                  <a:schemeClr val="accent1">
                    <a:lumMod val="75000"/>
                  </a:schemeClr>
                </a:solidFill>
                <a:latin typeface="Cambria Math" panose="02040503050406030204" pitchFamily="18" charset="0"/>
                <a:ea typeface="Cambria Math" panose="02040503050406030204" pitchFamily="18" charset="0"/>
                <a:cs typeface="Calibri"/>
              </a:rPr>
              <a:t>Q(3,</a:t>
            </a:r>
            <a:r>
              <a:rPr sz="3000" spc="-25" dirty="0">
                <a:solidFill>
                  <a:schemeClr val="accent1">
                    <a:lumMod val="75000"/>
                  </a:schemeClr>
                </a:solidFill>
                <a:latin typeface="Cambria Math" panose="02040503050406030204" pitchFamily="18" charset="0"/>
                <a:ea typeface="Cambria Math" panose="02040503050406030204" pitchFamily="18" charset="0"/>
                <a:cs typeface="Calibri"/>
              </a:rPr>
              <a:t> </a:t>
            </a:r>
            <a:r>
              <a:rPr sz="3000" dirty="0">
                <a:solidFill>
                  <a:schemeClr val="accent1">
                    <a:lumMod val="75000"/>
                  </a:schemeClr>
                </a:solidFill>
                <a:latin typeface="Cambria Math" panose="02040503050406030204" pitchFamily="18" charset="0"/>
                <a:ea typeface="Cambria Math" panose="02040503050406030204" pitchFamily="18" charset="0"/>
                <a:cs typeface="Calibri"/>
              </a:rPr>
              <a:t>0)?</a:t>
            </a:r>
            <a:endParaRPr lang="en-US" sz="3000" dirty="0">
              <a:solidFill>
                <a:schemeClr val="accent1">
                  <a:lumMod val="75000"/>
                </a:schemeClr>
              </a:solidFill>
              <a:latin typeface="Cambria Math" panose="02040503050406030204" pitchFamily="18" charset="0"/>
              <a:ea typeface="Cambria Math" panose="02040503050406030204" pitchFamily="18" charset="0"/>
              <a:cs typeface="Calibri"/>
            </a:endParaRPr>
          </a:p>
          <a:p>
            <a:pPr marL="527685" marR="386715" indent="-514984">
              <a:lnSpc>
                <a:spcPct val="80000"/>
              </a:lnSpc>
              <a:spcBef>
                <a:spcPts val="819"/>
              </a:spcBef>
              <a:buAutoNum type="arabicPeriod"/>
              <a:tabLst>
                <a:tab pos="527685" algn="l"/>
                <a:tab pos="528320" algn="l"/>
              </a:tabLst>
            </a:pPr>
            <a:endParaRPr lang="en-US" sz="3000" dirty="0">
              <a:latin typeface="Cambria Math" panose="02040503050406030204" pitchFamily="18" charset="0"/>
              <a:ea typeface="Cambria Math" panose="02040503050406030204" pitchFamily="18" charset="0"/>
              <a:cs typeface="Calibri"/>
            </a:endParaRPr>
          </a:p>
          <a:p>
            <a:pPr marL="527685" marR="386715" indent="-514984">
              <a:lnSpc>
                <a:spcPct val="80000"/>
              </a:lnSpc>
              <a:spcBef>
                <a:spcPts val="819"/>
              </a:spcBef>
              <a:tabLst>
                <a:tab pos="527685" algn="l"/>
                <a:tab pos="528320" algn="l"/>
              </a:tabLst>
            </a:pPr>
            <a:r>
              <a:rPr lang="en-US" sz="3000" spc="-5" dirty="0">
                <a:latin typeface="Cambria Math" panose="02040503050406030204" pitchFamily="18" charset="0"/>
                <a:ea typeface="Cambria Math" panose="02040503050406030204" pitchFamily="18" charset="0"/>
                <a:cs typeface="Calibri"/>
              </a:rPr>
              <a:t>	Q(1, </a:t>
            </a:r>
            <a:r>
              <a:rPr lang="en-US" sz="3000" dirty="0">
                <a:latin typeface="Cambria Math" panose="02040503050406030204" pitchFamily="18" charset="0"/>
                <a:ea typeface="Cambria Math" panose="02040503050406030204" pitchFamily="18" charset="0"/>
                <a:cs typeface="Calibri"/>
              </a:rPr>
              <a:t>2) : 1=2+3, 	</a:t>
            </a:r>
            <a:r>
              <a:rPr lang="en-US" sz="3000" b="1" dirty="0">
                <a:solidFill>
                  <a:schemeClr val="accent1">
                    <a:lumMod val="75000"/>
                  </a:schemeClr>
                </a:solidFill>
                <a:latin typeface="Cambria Math" panose="02040503050406030204" pitchFamily="18" charset="0"/>
                <a:ea typeface="Cambria Math" panose="02040503050406030204" pitchFamily="18" charset="0"/>
                <a:cs typeface="Calibri"/>
              </a:rPr>
              <a:t>False</a:t>
            </a:r>
          </a:p>
          <a:p>
            <a:pPr marL="527685" marR="386715" indent="-514984">
              <a:lnSpc>
                <a:spcPct val="80000"/>
              </a:lnSpc>
              <a:spcBef>
                <a:spcPts val="819"/>
              </a:spcBef>
              <a:tabLst>
                <a:tab pos="527685" algn="l"/>
                <a:tab pos="528320" algn="l"/>
              </a:tabLst>
            </a:pPr>
            <a:r>
              <a:rPr lang="en-US" sz="3000" dirty="0">
                <a:latin typeface="Cambria Math" panose="02040503050406030204" pitchFamily="18" charset="0"/>
                <a:ea typeface="Cambria Math" panose="02040503050406030204" pitchFamily="18" charset="0"/>
                <a:cs typeface="Calibri"/>
              </a:rPr>
              <a:t>	Q(3,</a:t>
            </a:r>
            <a:r>
              <a:rPr lang="en-US" sz="3000" spc="-25" dirty="0">
                <a:latin typeface="Cambria Math" panose="02040503050406030204" pitchFamily="18" charset="0"/>
                <a:ea typeface="Cambria Math" panose="02040503050406030204" pitchFamily="18" charset="0"/>
                <a:cs typeface="Calibri"/>
              </a:rPr>
              <a:t> </a:t>
            </a:r>
            <a:r>
              <a:rPr lang="en-US" sz="3000" dirty="0">
                <a:latin typeface="Cambria Math" panose="02040503050406030204" pitchFamily="18" charset="0"/>
                <a:ea typeface="Cambria Math" panose="02040503050406030204" pitchFamily="18" charset="0"/>
                <a:cs typeface="Calibri"/>
              </a:rPr>
              <a:t>0): 3=0+3 	</a:t>
            </a:r>
            <a:r>
              <a:rPr lang="en-US" sz="3000" b="1" dirty="0">
                <a:solidFill>
                  <a:schemeClr val="accent1">
                    <a:lumMod val="75000"/>
                  </a:schemeClr>
                </a:solidFill>
                <a:latin typeface="Cambria Math" panose="02040503050406030204" pitchFamily="18" charset="0"/>
                <a:ea typeface="Cambria Math" panose="02040503050406030204" pitchFamily="18" charset="0"/>
                <a:cs typeface="Calibri"/>
              </a:rPr>
              <a:t>True</a:t>
            </a:r>
            <a:endParaRPr sz="3000" b="1" dirty="0">
              <a:solidFill>
                <a:schemeClr val="accent1">
                  <a:lumMod val="75000"/>
                </a:schemeClr>
              </a:solidFill>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5371" y="464910"/>
            <a:ext cx="9785617" cy="690574"/>
          </a:xfrm>
          <a:prstGeom prst="rect">
            <a:avLst/>
          </a:prstGeom>
        </p:spPr>
        <p:txBody>
          <a:bodyPr vert="horz" wrap="square" lIns="0" tIns="13335" rIns="0" bIns="0" rtlCol="0" anchor="ctr">
            <a:spAutoFit/>
          </a:bodyPr>
          <a:lstStyle/>
          <a:p>
            <a:pPr marL="12700">
              <a:lnSpc>
                <a:spcPct val="100000"/>
              </a:lnSpc>
              <a:spcBef>
                <a:spcPts val="105"/>
              </a:spcBef>
            </a:pPr>
            <a:r>
              <a:rPr spc="-15" dirty="0">
                <a:latin typeface="Cambria Math" panose="02040503050406030204" pitchFamily="18" charset="0"/>
                <a:ea typeface="Cambria Math" panose="02040503050406030204" pitchFamily="18" charset="0"/>
              </a:rPr>
              <a:t>Example</a:t>
            </a:r>
            <a:r>
              <a:rPr lang="en-US" spc="-15" dirty="0">
                <a:latin typeface="Cambria Math" panose="02040503050406030204" pitchFamily="18" charset="0"/>
                <a:ea typeface="Cambria Math" panose="02040503050406030204" pitchFamily="18" charset="0"/>
              </a:rPr>
              <a:t> </a:t>
            </a:r>
            <a:r>
              <a:rPr spc="-15" dirty="0">
                <a:latin typeface="Cambria Math" panose="02040503050406030204" pitchFamily="18" charset="0"/>
                <a:ea typeface="Cambria Math" panose="02040503050406030204" pitchFamily="18" charset="0"/>
              </a:rPr>
              <a:t>(more </a:t>
            </a:r>
            <a:r>
              <a:rPr dirty="0">
                <a:latin typeface="Cambria Math" panose="02040503050406030204" pitchFamily="18" charset="0"/>
                <a:ea typeface="Cambria Math" panose="02040503050406030204" pitchFamily="18" charset="0"/>
              </a:rPr>
              <a:t>than 1</a:t>
            </a:r>
            <a:r>
              <a:rPr spc="-20" dirty="0">
                <a:latin typeface="Cambria Math" panose="02040503050406030204" pitchFamily="18" charset="0"/>
                <a:ea typeface="Cambria Math" panose="02040503050406030204" pitchFamily="18" charset="0"/>
              </a:rPr>
              <a:t> </a:t>
            </a:r>
            <a:r>
              <a:rPr spc="-15" dirty="0">
                <a:latin typeface="Cambria Math" panose="02040503050406030204" pitchFamily="18" charset="0"/>
                <a:ea typeface="Cambria Math" panose="02040503050406030204" pitchFamily="18" charset="0"/>
              </a:rPr>
              <a:t>variable)</a:t>
            </a:r>
          </a:p>
        </p:txBody>
      </p:sp>
      <p:sp>
        <p:nvSpPr>
          <p:cNvPr id="3" name="object 3"/>
          <p:cNvSpPr txBox="1"/>
          <p:nvPr/>
        </p:nvSpPr>
        <p:spPr>
          <a:xfrm>
            <a:off x="1069503" y="1496509"/>
            <a:ext cx="10547874" cy="4701286"/>
          </a:xfrm>
          <a:prstGeom prst="rect">
            <a:avLst/>
          </a:prstGeom>
        </p:spPr>
        <p:txBody>
          <a:bodyPr vert="horz" wrap="square" lIns="0" tIns="104139" rIns="0" bIns="0" rtlCol="0">
            <a:spAutoFit/>
          </a:bodyPr>
          <a:lstStyle/>
          <a:p>
            <a:pPr marL="12701" marR="5080" algn="ctr">
              <a:spcBef>
                <a:spcPts val="715"/>
              </a:spcBef>
              <a:tabLst>
                <a:tab pos="527685" algn="l"/>
                <a:tab pos="528320" algn="l"/>
              </a:tabLst>
            </a:pPr>
            <a:r>
              <a:rPr sz="2800" spc="-10" dirty="0">
                <a:latin typeface="Cambria Math" panose="02040503050406030204" pitchFamily="18" charset="0"/>
                <a:ea typeface="Cambria Math" panose="02040503050406030204" pitchFamily="18" charset="0"/>
                <a:cs typeface="Calibri"/>
              </a:rPr>
              <a:t>Let </a:t>
            </a:r>
            <a:r>
              <a:rPr sz="2800" i="1" dirty="0">
                <a:latin typeface="Cambria Math" panose="02040503050406030204" pitchFamily="18" charset="0"/>
                <a:ea typeface="Cambria Math" panose="02040503050406030204" pitchFamily="18" charset="0"/>
                <a:cs typeface="Calibri"/>
              </a:rPr>
              <a:t>A(c, n) </a:t>
            </a:r>
            <a:r>
              <a:rPr sz="2800" spc="-15" dirty="0">
                <a:latin typeface="Cambria Math" panose="02040503050406030204" pitchFamily="18" charset="0"/>
                <a:ea typeface="Cambria Math" panose="02040503050406030204" pitchFamily="18" charset="0"/>
                <a:cs typeface="Calibri"/>
              </a:rPr>
              <a:t>denote </a:t>
            </a:r>
            <a:r>
              <a:rPr sz="2800" dirty="0">
                <a:latin typeface="Cambria Math" panose="02040503050406030204" pitchFamily="18" charset="0"/>
                <a:ea typeface="Cambria Math" panose="02040503050406030204" pitchFamily="18" charset="0"/>
                <a:cs typeface="Calibri"/>
              </a:rPr>
              <a:t>the </a:t>
            </a:r>
            <a:r>
              <a:rPr sz="2800" spc="-20" dirty="0">
                <a:latin typeface="Cambria Math" panose="02040503050406030204" pitchFamily="18" charset="0"/>
                <a:ea typeface="Cambria Math" panose="02040503050406030204" pitchFamily="18" charset="0"/>
                <a:cs typeface="Calibri"/>
              </a:rPr>
              <a:t>statement</a:t>
            </a:r>
            <a:endParaRPr lang="en-US" sz="2800" spc="-20" dirty="0">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r>
              <a:rPr sz="2800" spc="-20" dirty="0">
                <a:latin typeface="Cambria Math" panose="02040503050406030204" pitchFamily="18" charset="0"/>
                <a:ea typeface="Cambria Math" panose="02040503050406030204" pitchFamily="18" charset="0"/>
                <a:cs typeface="Calibri"/>
              </a:rPr>
              <a:t> </a:t>
            </a:r>
            <a:r>
              <a:rPr sz="2800" spc="-10" dirty="0">
                <a:solidFill>
                  <a:schemeClr val="accent1">
                    <a:lumMod val="75000"/>
                  </a:schemeClr>
                </a:solidFill>
                <a:latin typeface="Cambria Math" panose="02040503050406030204" pitchFamily="18" charset="0"/>
                <a:ea typeface="Cambria Math" panose="02040503050406030204" pitchFamily="18" charset="0"/>
                <a:cs typeface="Calibri"/>
              </a:rPr>
              <a:t>“Computer </a:t>
            </a:r>
            <a:r>
              <a:rPr sz="2800" i="1" dirty="0">
                <a:solidFill>
                  <a:schemeClr val="accent1">
                    <a:lumMod val="75000"/>
                  </a:schemeClr>
                </a:solidFill>
                <a:latin typeface="Cambria Math" panose="02040503050406030204" pitchFamily="18" charset="0"/>
                <a:ea typeface="Cambria Math" panose="02040503050406030204" pitchFamily="18" charset="0"/>
                <a:cs typeface="Calibri"/>
              </a:rPr>
              <a:t>c </a:t>
            </a:r>
            <a:r>
              <a:rPr sz="2800" dirty="0">
                <a:solidFill>
                  <a:schemeClr val="accent1">
                    <a:lumMod val="75000"/>
                  </a:schemeClr>
                </a:solidFill>
                <a:latin typeface="Cambria Math" panose="02040503050406030204" pitchFamily="18" charset="0"/>
                <a:ea typeface="Cambria Math" panose="02040503050406030204" pitchFamily="18" charset="0"/>
                <a:cs typeface="Calibri"/>
              </a:rPr>
              <a:t>is  </a:t>
            </a:r>
            <a:r>
              <a:rPr sz="2800" spc="-10" dirty="0">
                <a:solidFill>
                  <a:schemeClr val="accent1">
                    <a:lumMod val="75000"/>
                  </a:schemeClr>
                </a:solidFill>
                <a:latin typeface="Cambria Math" panose="02040503050406030204" pitchFamily="18" charset="0"/>
                <a:ea typeface="Cambria Math" panose="02040503050406030204" pitchFamily="18" charset="0"/>
                <a:cs typeface="Calibri"/>
              </a:rPr>
              <a:t>connected </a:t>
            </a:r>
            <a:r>
              <a:rPr sz="2800" spc="-15" dirty="0">
                <a:solidFill>
                  <a:schemeClr val="accent1">
                    <a:lumMod val="75000"/>
                  </a:schemeClr>
                </a:solidFill>
                <a:latin typeface="Cambria Math" panose="02040503050406030204" pitchFamily="18" charset="0"/>
                <a:ea typeface="Cambria Math" panose="02040503050406030204" pitchFamily="18" charset="0"/>
                <a:cs typeface="Calibri"/>
              </a:rPr>
              <a:t>to </a:t>
            </a:r>
            <a:r>
              <a:rPr sz="2800" spc="-10" dirty="0">
                <a:solidFill>
                  <a:schemeClr val="accent1">
                    <a:lumMod val="75000"/>
                  </a:schemeClr>
                </a:solidFill>
                <a:latin typeface="Cambria Math" panose="02040503050406030204" pitchFamily="18" charset="0"/>
                <a:ea typeface="Cambria Math" panose="02040503050406030204" pitchFamily="18" charset="0"/>
                <a:cs typeface="Calibri"/>
              </a:rPr>
              <a:t>network </a:t>
            </a:r>
            <a:r>
              <a:rPr sz="2800" i="1" spc="-70" dirty="0">
                <a:solidFill>
                  <a:schemeClr val="accent1">
                    <a:lumMod val="75000"/>
                  </a:schemeClr>
                </a:solidFill>
                <a:latin typeface="Cambria Math" panose="02040503050406030204" pitchFamily="18" charset="0"/>
                <a:ea typeface="Cambria Math" panose="02040503050406030204" pitchFamily="18" charset="0"/>
                <a:cs typeface="Calibri"/>
              </a:rPr>
              <a:t>n</a:t>
            </a:r>
            <a:r>
              <a:rPr sz="2800" spc="-70" dirty="0">
                <a:solidFill>
                  <a:schemeClr val="accent1">
                    <a:lumMod val="75000"/>
                  </a:schemeClr>
                </a:solidFill>
                <a:latin typeface="Cambria Math" panose="02040503050406030204" pitchFamily="18" charset="0"/>
                <a:ea typeface="Cambria Math" panose="02040503050406030204" pitchFamily="18" charset="0"/>
                <a:cs typeface="Calibri"/>
              </a:rPr>
              <a:t>,” </a:t>
            </a:r>
            <a:endParaRPr lang="en-US" sz="2800" spc="-70" dirty="0">
              <a:solidFill>
                <a:schemeClr val="accent1">
                  <a:lumMod val="75000"/>
                </a:schemeClr>
              </a:solidFill>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r>
              <a:rPr sz="2800" spc="-10" dirty="0">
                <a:latin typeface="Cambria Math" panose="02040503050406030204" pitchFamily="18" charset="0"/>
                <a:ea typeface="Cambria Math" panose="02040503050406030204" pitchFamily="18" charset="0"/>
                <a:cs typeface="Calibri"/>
              </a:rPr>
              <a:t>where </a:t>
            </a:r>
            <a:r>
              <a:rPr sz="2800" i="1" dirty="0">
                <a:latin typeface="Cambria Math" panose="02040503050406030204" pitchFamily="18" charset="0"/>
                <a:ea typeface="Cambria Math" panose="02040503050406030204" pitchFamily="18" charset="0"/>
                <a:cs typeface="Calibri"/>
              </a:rPr>
              <a:t>c </a:t>
            </a:r>
            <a:r>
              <a:rPr sz="2800" spc="-15" dirty="0">
                <a:latin typeface="Cambria Math" panose="02040503050406030204" pitchFamily="18" charset="0"/>
                <a:ea typeface="Cambria Math" panose="02040503050406030204" pitchFamily="18" charset="0"/>
                <a:cs typeface="Calibri"/>
              </a:rPr>
              <a:t>represents </a:t>
            </a:r>
            <a:r>
              <a:rPr sz="2800" dirty="0">
                <a:latin typeface="Cambria Math" panose="02040503050406030204" pitchFamily="18" charset="0"/>
                <a:ea typeface="Cambria Math" panose="02040503050406030204" pitchFamily="18" charset="0"/>
                <a:cs typeface="Calibri"/>
              </a:rPr>
              <a:t>a  </a:t>
            </a:r>
            <a:r>
              <a:rPr sz="2800" spc="-15" dirty="0">
                <a:latin typeface="Cambria Math" panose="02040503050406030204" pitchFamily="18" charset="0"/>
                <a:ea typeface="Cambria Math" panose="02040503050406030204" pitchFamily="18" charset="0"/>
                <a:cs typeface="Calibri"/>
              </a:rPr>
              <a:t>computer </a:t>
            </a:r>
            <a:r>
              <a:rPr sz="2800" spc="-5" dirty="0">
                <a:latin typeface="Cambria Math" panose="02040503050406030204" pitchFamily="18" charset="0"/>
                <a:ea typeface="Cambria Math" panose="02040503050406030204" pitchFamily="18" charset="0"/>
                <a:cs typeface="Calibri"/>
              </a:rPr>
              <a:t>and</a:t>
            </a:r>
            <a:endParaRPr lang="en-US" sz="2800" spc="-5" dirty="0">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r>
              <a:rPr sz="2800" spc="-5" dirty="0">
                <a:latin typeface="Cambria Math" panose="02040503050406030204" pitchFamily="18" charset="0"/>
                <a:ea typeface="Cambria Math" panose="02040503050406030204" pitchFamily="18" charset="0"/>
                <a:cs typeface="Calibri"/>
              </a:rPr>
              <a:t> </a:t>
            </a:r>
            <a:r>
              <a:rPr sz="2800" i="1" dirty="0">
                <a:latin typeface="Cambria Math" panose="02040503050406030204" pitchFamily="18" charset="0"/>
                <a:ea typeface="Cambria Math" panose="02040503050406030204" pitchFamily="18" charset="0"/>
                <a:cs typeface="Calibri"/>
              </a:rPr>
              <a:t>n </a:t>
            </a:r>
            <a:r>
              <a:rPr sz="2800" spc="-15" dirty="0">
                <a:latin typeface="Cambria Math" panose="02040503050406030204" pitchFamily="18" charset="0"/>
                <a:ea typeface="Cambria Math" panose="02040503050406030204" pitchFamily="18" charset="0"/>
                <a:cs typeface="Calibri"/>
              </a:rPr>
              <a:t>represents </a:t>
            </a:r>
            <a:r>
              <a:rPr sz="2800" spc="-10" dirty="0">
                <a:latin typeface="Cambria Math" panose="02040503050406030204" pitchFamily="18" charset="0"/>
                <a:ea typeface="Cambria Math" panose="02040503050406030204" pitchFamily="18" charset="0"/>
                <a:cs typeface="Calibri"/>
              </a:rPr>
              <a:t>network. </a:t>
            </a:r>
            <a:endParaRPr lang="en-US" sz="2800" spc="-10" dirty="0">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r>
              <a:rPr sz="2800" spc="-10" dirty="0">
                <a:latin typeface="Cambria Math" panose="02040503050406030204" pitchFamily="18" charset="0"/>
                <a:ea typeface="Cambria Math" panose="02040503050406030204" pitchFamily="18" charset="0"/>
                <a:cs typeface="Calibri"/>
              </a:rPr>
              <a:t>Suppose  that computer </a:t>
            </a:r>
            <a:r>
              <a:rPr sz="2800" spc="-50" dirty="0">
                <a:latin typeface="Cambria Math" panose="02040503050406030204" pitchFamily="18" charset="0"/>
                <a:ea typeface="Cambria Math" panose="02040503050406030204" pitchFamily="18" charset="0"/>
                <a:cs typeface="Calibri"/>
              </a:rPr>
              <a:t>MATH1 </a:t>
            </a:r>
            <a:r>
              <a:rPr sz="2800" dirty="0">
                <a:latin typeface="Cambria Math" panose="02040503050406030204" pitchFamily="18" charset="0"/>
                <a:ea typeface="Cambria Math" panose="02040503050406030204" pitchFamily="18" charset="0"/>
                <a:cs typeface="Calibri"/>
              </a:rPr>
              <a:t>is </a:t>
            </a:r>
            <a:r>
              <a:rPr sz="2800" spc="-10" dirty="0">
                <a:latin typeface="Cambria Math" panose="02040503050406030204" pitchFamily="18" charset="0"/>
                <a:ea typeface="Cambria Math" panose="02040503050406030204" pitchFamily="18" charset="0"/>
                <a:cs typeface="Calibri"/>
              </a:rPr>
              <a:t>connected </a:t>
            </a:r>
            <a:r>
              <a:rPr sz="2800" spc="-15" dirty="0">
                <a:latin typeface="Cambria Math" panose="02040503050406030204" pitchFamily="18" charset="0"/>
                <a:ea typeface="Cambria Math" panose="02040503050406030204" pitchFamily="18" charset="0"/>
                <a:cs typeface="Calibri"/>
              </a:rPr>
              <a:t>to </a:t>
            </a:r>
            <a:r>
              <a:rPr sz="2800" spc="-10" dirty="0">
                <a:latin typeface="Cambria Math" panose="02040503050406030204" pitchFamily="18" charset="0"/>
                <a:ea typeface="Cambria Math" panose="02040503050406030204" pitchFamily="18" charset="0"/>
                <a:cs typeface="Calibri"/>
              </a:rPr>
              <a:t>network  </a:t>
            </a:r>
            <a:r>
              <a:rPr sz="2800" spc="-5" dirty="0">
                <a:latin typeface="Cambria Math" panose="02040503050406030204" pitchFamily="18" charset="0"/>
                <a:ea typeface="Cambria Math" panose="02040503050406030204" pitchFamily="18" charset="0"/>
                <a:cs typeface="Calibri"/>
              </a:rPr>
              <a:t>CAMPUS2, </a:t>
            </a:r>
            <a:endParaRPr lang="en-US" sz="2800" spc="-5" dirty="0">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r>
              <a:rPr sz="2800" spc="-5" dirty="0">
                <a:latin typeface="Cambria Math" panose="02040503050406030204" pitchFamily="18" charset="0"/>
                <a:ea typeface="Cambria Math" panose="02040503050406030204" pitchFamily="18" charset="0"/>
                <a:cs typeface="Calibri"/>
              </a:rPr>
              <a:t>but </a:t>
            </a:r>
            <a:r>
              <a:rPr sz="2800" spc="-10" dirty="0">
                <a:latin typeface="Cambria Math" panose="02040503050406030204" pitchFamily="18" charset="0"/>
                <a:ea typeface="Cambria Math" panose="02040503050406030204" pitchFamily="18" charset="0"/>
                <a:cs typeface="Calibri"/>
              </a:rPr>
              <a:t>not </a:t>
            </a:r>
            <a:r>
              <a:rPr sz="2800" spc="-15" dirty="0">
                <a:latin typeface="Cambria Math" panose="02040503050406030204" pitchFamily="18" charset="0"/>
                <a:ea typeface="Cambria Math" panose="02040503050406030204" pitchFamily="18" charset="0"/>
                <a:cs typeface="Calibri"/>
              </a:rPr>
              <a:t>to </a:t>
            </a:r>
            <a:r>
              <a:rPr sz="2800" spc="-10" dirty="0">
                <a:latin typeface="Cambria Math" panose="02040503050406030204" pitchFamily="18" charset="0"/>
                <a:ea typeface="Cambria Math" panose="02040503050406030204" pitchFamily="18" charset="0"/>
                <a:cs typeface="Calibri"/>
              </a:rPr>
              <a:t>network </a:t>
            </a:r>
            <a:r>
              <a:rPr sz="2800" spc="-5" dirty="0">
                <a:latin typeface="Cambria Math" panose="02040503050406030204" pitchFamily="18" charset="0"/>
                <a:ea typeface="Cambria Math" panose="02040503050406030204" pitchFamily="18" charset="0"/>
                <a:cs typeface="Calibri"/>
              </a:rPr>
              <a:t>CAMPUS1. </a:t>
            </a:r>
            <a:endParaRPr lang="en-US" sz="2800" spc="-5" dirty="0">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endParaRPr lang="en-US" sz="2800" spc="-5" dirty="0">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r>
              <a:rPr sz="2800" spc="-10" dirty="0">
                <a:latin typeface="Cambria Math" panose="02040503050406030204" pitchFamily="18" charset="0"/>
                <a:ea typeface="Cambria Math" panose="02040503050406030204" pitchFamily="18" charset="0"/>
                <a:cs typeface="Calibri"/>
              </a:rPr>
              <a:t>What  </a:t>
            </a:r>
            <a:r>
              <a:rPr sz="2800" spc="-15" dirty="0">
                <a:latin typeface="Cambria Math" panose="02040503050406030204" pitchFamily="18" charset="0"/>
                <a:ea typeface="Cambria Math" panose="02040503050406030204" pitchFamily="18" charset="0"/>
                <a:cs typeface="Calibri"/>
              </a:rPr>
              <a:t>are </a:t>
            </a:r>
            <a:r>
              <a:rPr sz="2800" dirty="0">
                <a:latin typeface="Cambria Math" panose="02040503050406030204" pitchFamily="18" charset="0"/>
                <a:ea typeface="Cambria Math" panose="02040503050406030204" pitchFamily="18" charset="0"/>
                <a:cs typeface="Calibri"/>
              </a:rPr>
              <a:t>the </a:t>
            </a:r>
            <a:r>
              <a:rPr sz="2800" spc="-15" dirty="0">
                <a:latin typeface="Cambria Math" panose="02040503050406030204" pitchFamily="18" charset="0"/>
                <a:ea typeface="Cambria Math" panose="02040503050406030204" pitchFamily="18" charset="0"/>
                <a:cs typeface="Calibri"/>
              </a:rPr>
              <a:t>values </a:t>
            </a:r>
            <a:r>
              <a:rPr sz="2800" spc="-5" dirty="0">
                <a:latin typeface="Cambria Math" panose="02040503050406030204" pitchFamily="18" charset="0"/>
                <a:ea typeface="Cambria Math" panose="02040503050406030204" pitchFamily="18" charset="0"/>
                <a:cs typeface="Calibri"/>
              </a:rPr>
              <a:t>of </a:t>
            </a:r>
            <a:r>
              <a:rPr sz="2800" b="1" i="1" spc="-35" dirty="0">
                <a:solidFill>
                  <a:schemeClr val="accent1">
                    <a:lumMod val="75000"/>
                  </a:schemeClr>
                </a:solidFill>
                <a:latin typeface="Cambria Math" panose="02040503050406030204" pitchFamily="18" charset="0"/>
                <a:ea typeface="Cambria Math" panose="02040503050406030204" pitchFamily="18" charset="0"/>
                <a:cs typeface="Calibri"/>
              </a:rPr>
              <a:t>A</a:t>
            </a:r>
            <a:r>
              <a:rPr sz="2800" b="1" spc="-35" dirty="0">
                <a:solidFill>
                  <a:schemeClr val="accent1">
                    <a:lumMod val="75000"/>
                  </a:schemeClr>
                </a:solidFill>
                <a:latin typeface="Cambria Math" panose="02040503050406030204" pitchFamily="18" charset="0"/>
                <a:ea typeface="Cambria Math" panose="02040503050406030204" pitchFamily="18" charset="0"/>
                <a:cs typeface="Calibri"/>
              </a:rPr>
              <a:t>(MATH1, </a:t>
            </a:r>
            <a:r>
              <a:rPr sz="2800" b="1" spc="-5" dirty="0">
                <a:solidFill>
                  <a:schemeClr val="accent1">
                    <a:lumMod val="75000"/>
                  </a:schemeClr>
                </a:solidFill>
                <a:latin typeface="Cambria Math" panose="02040503050406030204" pitchFamily="18" charset="0"/>
                <a:ea typeface="Cambria Math" panose="02040503050406030204" pitchFamily="18" charset="0"/>
                <a:cs typeface="Calibri"/>
              </a:rPr>
              <a:t>CAMPUS1) </a:t>
            </a:r>
            <a:r>
              <a:rPr sz="2800" spc="-5" dirty="0">
                <a:latin typeface="Cambria Math" panose="02040503050406030204" pitchFamily="18" charset="0"/>
                <a:ea typeface="Cambria Math" panose="02040503050406030204" pitchFamily="18" charset="0"/>
                <a:cs typeface="Calibri"/>
              </a:rPr>
              <a:t>and  </a:t>
            </a:r>
            <a:endParaRPr lang="en-US" sz="2800" spc="-5" dirty="0">
              <a:latin typeface="Cambria Math" panose="02040503050406030204" pitchFamily="18" charset="0"/>
              <a:ea typeface="Cambria Math" panose="02040503050406030204" pitchFamily="18" charset="0"/>
              <a:cs typeface="Calibri"/>
            </a:endParaRPr>
          </a:p>
          <a:p>
            <a:pPr marL="12701" marR="5080" algn="ctr">
              <a:spcBef>
                <a:spcPts val="715"/>
              </a:spcBef>
              <a:tabLst>
                <a:tab pos="527685" algn="l"/>
                <a:tab pos="528320" algn="l"/>
              </a:tabLst>
            </a:pPr>
            <a:r>
              <a:rPr sz="2800" b="1" i="1" spc="-35" dirty="0">
                <a:solidFill>
                  <a:schemeClr val="accent1">
                    <a:lumMod val="75000"/>
                  </a:schemeClr>
                </a:solidFill>
                <a:latin typeface="Cambria Math" panose="02040503050406030204" pitchFamily="18" charset="0"/>
                <a:ea typeface="Cambria Math" panose="02040503050406030204" pitchFamily="18" charset="0"/>
                <a:cs typeface="Calibri"/>
              </a:rPr>
              <a:t>A</a:t>
            </a:r>
            <a:r>
              <a:rPr sz="2800" b="1" spc="-35" dirty="0">
                <a:solidFill>
                  <a:schemeClr val="accent1">
                    <a:lumMod val="75000"/>
                  </a:schemeClr>
                </a:solidFill>
                <a:latin typeface="Cambria Math" panose="02040503050406030204" pitchFamily="18" charset="0"/>
                <a:ea typeface="Cambria Math" panose="02040503050406030204" pitchFamily="18" charset="0"/>
                <a:cs typeface="Calibri"/>
              </a:rPr>
              <a:t>(MATH1,</a:t>
            </a:r>
            <a:r>
              <a:rPr sz="2800" b="1" spc="-10" dirty="0">
                <a:solidFill>
                  <a:schemeClr val="accent1">
                    <a:lumMod val="75000"/>
                  </a:schemeClr>
                </a:solidFill>
                <a:latin typeface="Cambria Math" panose="02040503050406030204" pitchFamily="18" charset="0"/>
                <a:ea typeface="Cambria Math" panose="02040503050406030204" pitchFamily="18" charset="0"/>
                <a:cs typeface="Calibri"/>
              </a:rPr>
              <a:t> </a:t>
            </a:r>
            <a:r>
              <a:rPr sz="2800" b="1" spc="-5" dirty="0">
                <a:solidFill>
                  <a:schemeClr val="accent1">
                    <a:lumMod val="75000"/>
                  </a:schemeClr>
                </a:solidFill>
                <a:latin typeface="Cambria Math" panose="02040503050406030204" pitchFamily="18" charset="0"/>
                <a:ea typeface="Cambria Math" panose="02040503050406030204" pitchFamily="18" charset="0"/>
                <a:cs typeface="Calibri"/>
              </a:rPr>
              <a:t>CAMPUS2)</a:t>
            </a:r>
            <a:r>
              <a:rPr sz="2800" spc="-5" dirty="0">
                <a:latin typeface="Cambria Math" panose="02040503050406030204" pitchFamily="18" charset="0"/>
                <a:ea typeface="Cambria Math" panose="02040503050406030204" pitchFamily="18" charset="0"/>
                <a:cs typeface="Calibri"/>
              </a:rPr>
              <a:t>?</a:t>
            </a:r>
            <a:endParaRPr sz="2800" dirty="0">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Content Placeholder 1"/>
          <p:cNvSpPr>
            <a:spLocks noGrp="1"/>
          </p:cNvSpPr>
          <p:nvPr>
            <p:ph idx="1"/>
          </p:nvPr>
        </p:nvSpPr>
        <p:spPr>
          <a:xfrm>
            <a:off x="1179576" y="1911096"/>
            <a:ext cx="10332870" cy="3859742"/>
          </a:xfrm>
        </p:spPr>
        <p:txBody>
          <a:bodyPr>
            <a:normAutofit/>
          </a:bodyPr>
          <a:lstStyle/>
          <a:p>
            <a:r>
              <a:rPr lang="en-US" sz="3600" dirty="0">
                <a:latin typeface="Cambria Math" panose="02040503050406030204" pitchFamily="18" charset="0"/>
                <a:ea typeface="Cambria Math" panose="02040503050406030204" pitchFamily="18" charset="0"/>
              </a:rPr>
              <a:t>Let R(x, y, z) denote the statement</a:t>
            </a:r>
          </a:p>
          <a:p>
            <a:pPr lvl="1"/>
            <a:r>
              <a:rPr lang="en-US" sz="3200" dirty="0">
                <a:latin typeface="Cambria Math" panose="02040503050406030204" pitchFamily="18" charset="0"/>
                <a:ea typeface="Cambria Math" panose="02040503050406030204" pitchFamily="18" charset="0"/>
              </a:rPr>
              <a:t>“x + y = z.”</a:t>
            </a:r>
          </a:p>
          <a:p>
            <a:r>
              <a:rPr lang="en-US" sz="3600" dirty="0">
                <a:latin typeface="Cambria Math" panose="02040503050406030204" pitchFamily="18" charset="0"/>
                <a:ea typeface="Cambria Math" panose="02040503050406030204" pitchFamily="18" charset="0"/>
              </a:rPr>
              <a:t>What are the truth values of the </a:t>
            </a:r>
            <a:r>
              <a:rPr lang="en-US" sz="3600" b="1" dirty="0">
                <a:latin typeface="Cambria Math" panose="02040503050406030204" pitchFamily="18" charset="0"/>
                <a:ea typeface="Cambria Math" panose="02040503050406030204" pitchFamily="18" charset="0"/>
              </a:rPr>
              <a:t>propositions</a:t>
            </a:r>
            <a:r>
              <a:rPr lang="en-US" sz="3600" dirty="0">
                <a:latin typeface="Cambria Math" panose="02040503050406030204" pitchFamily="18" charset="0"/>
                <a:ea typeface="Cambria Math" panose="02040503050406030204" pitchFamily="18" charset="0"/>
              </a:rPr>
              <a:t> </a:t>
            </a:r>
          </a:p>
          <a:p>
            <a:pPr lvl="1"/>
            <a:r>
              <a:rPr lang="en-US" sz="3200" dirty="0">
                <a:latin typeface="Cambria Math" panose="02040503050406030204" pitchFamily="18" charset="0"/>
                <a:ea typeface="Cambria Math" panose="02040503050406030204" pitchFamily="18" charset="0"/>
              </a:rPr>
              <a:t>R(1, 2, 3)  </a:t>
            </a:r>
          </a:p>
          <a:p>
            <a:pPr lvl="1"/>
            <a:r>
              <a:rPr lang="en-US" sz="3200" dirty="0">
                <a:latin typeface="Cambria Math" panose="02040503050406030204" pitchFamily="18" charset="0"/>
                <a:ea typeface="Cambria Math" panose="02040503050406030204" pitchFamily="18" charset="0"/>
              </a:rPr>
              <a:t>R(0, 0, 1)</a:t>
            </a:r>
          </a:p>
        </p:txBody>
      </p:sp>
      <p:sp>
        <p:nvSpPr>
          <p:cNvPr id="1048650" name="Title 2"/>
          <p:cNvSpPr>
            <a:spLocks noGrp="1"/>
          </p:cNvSpPr>
          <p:nvPr>
            <p:ph type="title"/>
          </p:nvPr>
        </p:nvSpPr>
        <p:spPr/>
        <p:txBody>
          <a:bodyPr/>
          <a:lstStyle/>
          <a:p>
            <a:r>
              <a:rPr lang="en-US" dirty="0"/>
              <a:t>PREDICATES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ADD2845-CA45-79A6-BCDA-E7609F438449}"/>
              </a:ext>
            </a:extLst>
          </p:cNvPr>
          <p:cNvSpPr>
            <a:spLocks noGrp="1" noChangeArrowheads="1"/>
          </p:cNvSpPr>
          <p:nvPr>
            <p:ph type="title"/>
          </p:nvPr>
        </p:nvSpPr>
        <p:spPr/>
        <p:txBody>
          <a:bodyPr/>
          <a:lstStyle/>
          <a:p>
            <a:r>
              <a:rPr lang="en-US" altLang="en-PK" dirty="0">
                <a:latin typeface="Cambria Math" panose="02040503050406030204" pitchFamily="18" charset="0"/>
                <a:ea typeface="Cambria Math" panose="02040503050406030204" pitchFamily="18" charset="0"/>
              </a:rPr>
              <a:t>Propositional functions</a:t>
            </a:r>
          </a:p>
        </p:txBody>
      </p:sp>
      <p:sp>
        <p:nvSpPr>
          <p:cNvPr id="9219" name="Rectangle 3">
            <a:extLst>
              <a:ext uri="{FF2B5EF4-FFF2-40B4-BE49-F238E27FC236}">
                <a16:creationId xmlns:a16="http://schemas.microsoft.com/office/drawing/2014/main" id="{7B7913FF-6D8A-50F6-D316-1F9AD2048084}"/>
              </a:ext>
            </a:extLst>
          </p:cNvPr>
          <p:cNvSpPr>
            <a:spLocks noGrp="1" noChangeArrowheads="1"/>
          </p:cNvSpPr>
          <p:nvPr>
            <p:ph type="body" idx="1"/>
          </p:nvPr>
        </p:nvSpPr>
        <p:spPr/>
        <p:txBody>
          <a:bodyPr/>
          <a:lstStyle/>
          <a:p>
            <a:r>
              <a:rPr lang="en-US" altLang="en-PK" dirty="0">
                <a:latin typeface="Cambria Math" panose="02040503050406030204" pitchFamily="18" charset="0"/>
                <a:ea typeface="Cambria Math" panose="02040503050406030204" pitchFamily="18" charset="0"/>
              </a:rPr>
              <a:t>Let P(x) = “x is a multiple of 5”</a:t>
            </a:r>
          </a:p>
          <a:p>
            <a:pPr lvl="1"/>
            <a:r>
              <a:rPr lang="en-US" altLang="en-PK" dirty="0">
                <a:latin typeface="Cambria Math" panose="02040503050406030204" pitchFamily="18" charset="0"/>
                <a:ea typeface="Cambria Math" panose="02040503050406030204" pitchFamily="18" charset="0"/>
              </a:rPr>
              <a:t>For what values of x is P(x) true?</a:t>
            </a:r>
          </a:p>
          <a:p>
            <a:pPr lvl="1"/>
            <a:endParaRPr lang="en-US" altLang="en-PK" dirty="0">
              <a:latin typeface="Cambria Math" panose="02040503050406030204" pitchFamily="18" charset="0"/>
              <a:ea typeface="Cambria Math" panose="02040503050406030204" pitchFamily="18" charset="0"/>
            </a:endParaRPr>
          </a:p>
          <a:p>
            <a:r>
              <a:rPr lang="en-US" altLang="en-PK" dirty="0">
                <a:latin typeface="Cambria Math" panose="02040503050406030204" pitchFamily="18" charset="0"/>
                <a:ea typeface="Cambria Math" panose="02040503050406030204" pitchFamily="18" charset="0"/>
              </a:rPr>
              <a:t>Let P(x) = x+1 &gt; x</a:t>
            </a:r>
          </a:p>
          <a:p>
            <a:pPr lvl="1"/>
            <a:r>
              <a:rPr lang="en-US" altLang="en-PK" dirty="0">
                <a:latin typeface="Cambria Math" panose="02040503050406030204" pitchFamily="18" charset="0"/>
                <a:ea typeface="Cambria Math" panose="02040503050406030204" pitchFamily="18" charset="0"/>
              </a:rPr>
              <a:t>For what values of x is P(x) true?</a:t>
            </a:r>
          </a:p>
          <a:p>
            <a:pPr lvl="1"/>
            <a:endParaRPr lang="en-US" altLang="en-PK" dirty="0">
              <a:latin typeface="Cambria Math" panose="02040503050406030204" pitchFamily="18" charset="0"/>
              <a:ea typeface="Cambria Math" panose="02040503050406030204" pitchFamily="18" charset="0"/>
            </a:endParaRPr>
          </a:p>
          <a:p>
            <a:r>
              <a:rPr lang="en-US" altLang="en-PK" dirty="0">
                <a:latin typeface="Cambria Math" panose="02040503050406030204" pitchFamily="18" charset="0"/>
                <a:ea typeface="Cambria Math" panose="02040503050406030204" pitchFamily="18" charset="0"/>
              </a:rPr>
              <a:t>Let P(x) = x + 3</a:t>
            </a:r>
          </a:p>
          <a:p>
            <a:pPr lvl="1"/>
            <a:r>
              <a:rPr lang="en-US" altLang="en-PK" dirty="0">
                <a:latin typeface="Cambria Math" panose="02040503050406030204" pitchFamily="18" charset="0"/>
                <a:ea typeface="Cambria Math" panose="02040503050406030204" pitchFamily="18" charset="0"/>
              </a:rPr>
              <a:t>For what values of x is P(x) true?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21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1763" y="464910"/>
            <a:ext cx="7747655" cy="690574"/>
          </a:xfrm>
          <a:prstGeom prst="rect">
            <a:avLst/>
          </a:prstGeom>
        </p:spPr>
        <p:txBody>
          <a:bodyPr vert="horz" wrap="square" lIns="0" tIns="13335" rIns="0" bIns="0" rtlCol="0" anchor="ctr">
            <a:spAutoFit/>
          </a:bodyPr>
          <a:lstStyle/>
          <a:p>
            <a:pPr marL="12700">
              <a:lnSpc>
                <a:spcPct val="100000"/>
              </a:lnSpc>
              <a:spcBef>
                <a:spcPts val="105"/>
              </a:spcBef>
            </a:pPr>
            <a:r>
              <a:rPr spc="-15" dirty="0">
                <a:latin typeface="Cambria Math" panose="02040503050406030204" pitchFamily="18" charset="0"/>
                <a:ea typeface="Cambria Math" panose="02040503050406030204" pitchFamily="18" charset="0"/>
              </a:rPr>
              <a:t>Universe </a:t>
            </a:r>
            <a:r>
              <a:rPr spc="-5" dirty="0">
                <a:latin typeface="Cambria Math" panose="02040503050406030204" pitchFamily="18" charset="0"/>
                <a:ea typeface="Cambria Math" panose="02040503050406030204" pitchFamily="18" charset="0"/>
              </a:rPr>
              <a:t>of</a:t>
            </a:r>
            <a:r>
              <a:rPr spc="-60" dirty="0">
                <a:latin typeface="Cambria Math" panose="02040503050406030204" pitchFamily="18" charset="0"/>
                <a:ea typeface="Cambria Math" panose="02040503050406030204" pitchFamily="18" charset="0"/>
              </a:rPr>
              <a:t> </a:t>
            </a:r>
            <a:r>
              <a:rPr spc="-15" dirty="0">
                <a:latin typeface="Cambria Math" panose="02040503050406030204" pitchFamily="18" charset="0"/>
                <a:ea typeface="Cambria Math" panose="02040503050406030204" pitchFamily="18" charset="0"/>
              </a:rPr>
              <a:t>Discourse</a:t>
            </a:r>
          </a:p>
        </p:txBody>
      </p:sp>
      <p:sp>
        <p:nvSpPr>
          <p:cNvPr id="3" name="object 3"/>
          <p:cNvSpPr txBox="1"/>
          <p:nvPr/>
        </p:nvSpPr>
        <p:spPr>
          <a:xfrm>
            <a:off x="1574255" y="1579269"/>
            <a:ext cx="9043489" cy="888064"/>
          </a:xfrm>
          <a:prstGeom prst="rect">
            <a:avLst/>
          </a:prstGeom>
        </p:spPr>
        <p:txBody>
          <a:bodyPr vert="horz" wrap="square" lIns="0" tIns="13335" rIns="0" bIns="0" rtlCol="0">
            <a:spAutoFit/>
          </a:bodyPr>
          <a:lstStyle/>
          <a:p>
            <a:pPr marL="12700">
              <a:spcBef>
                <a:spcPts val="105"/>
              </a:spcBef>
              <a:tabLst>
                <a:tab pos="354965" algn="l"/>
                <a:tab pos="355600" algn="l"/>
              </a:tabLst>
            </a:pPr>
            <a:r>
              <a:rPr sz="2800" spc="-5" dirty="0">
                <a:latin typeface="Cambria Math" panose="02040503050406030204" pitchFamily="18" charset="0"/>
                <a:ea typeface="Cambria Math" panose="02040503050406030204" pitchFamily="18" charset="0"/>
                <a:cs typeface="Calibri"/>
              </a:rPr>
              <a:t>Consider </a:t>
            </a:r>
            <a:r>
              <a:rPr sz="2800" dirty="0">
                <a:latin typeface="Cambria Math" panose="02040503050406030204" pitchFamily="18" charset="0"/>
                <a:ea typeface="Cambria Math" panose="02040503050406030204" pitchFamily="18" charset="0"/>
                <a:cs typeface="Calibri"/>
              </a:rPr>
              <a:t>the </a:t>
            </a:r>
            <a:r>
              <a:rPr sz="2800" spc="-15" dirty="0">
                <a:latin typeface="Cambria Math" panose="02040503050406030204" pitchFamily="18" charset="0"/>
                <a:ea typeface="Cambria Math" panose="02040503050406030204" pitchFamily="18" charset="0"/>
                <a:cs typeface="Calibri"/>
              </a:rPr>
              <a:t>example </a:t>
            </a:r>
            <a:r>
              <a:rPr sz="2800" i="1" dirty="0">
                <a:latin typeface="Cambria Math" panose="02040503050406030204" pitchFamily="18" charset="0"/>
                <a:ea typeface="Cambria Math" panose="02040503050406030204" pitchFamily="18" charset="0"/>
                <a:cs typeface="Calibri"/>
              </a:rPr>
              <a:t>x &gt; </a:t>
            </a:r>
            <a:r>
              <a:rPr sz="2800" spc="-5" dirty="0">
                <a:latin typeface="Cambria Math" panose="02040503050406030204" pitchFamily="18" charset="0"/>
                <a:ea typeface="Cambria Math" panose="02040503050406030204" pitchFamily="18" charset="0"/>
                <a:cs typeface="Calibri"/>
              </a:rPr>
              <a:t>3. </a:t>
            </a:r>
            <a:endParaRPr lang="en-US" sz="2800" spc="-5" dirty="0">
              <a:latin typeface="Cambria Math" panose="02040503050406030204" pitchFamily="18" charset="0"/>
              <a:ea typeface="Cambria Math" panose="02040503050406030204" pitchFamily="18" charset="0"/>
              <a:cs typeface="Calibri"/>
            </a:endParaRPr>
          </a:p>
          <a:p>
            <a:pPr marL="12700">
              <a:spcBef>
                <a:spcPts val="105"/>
              </a:spcBef>
              <a:tabLst>
                <a:tab pos="354965" algn="l"/>
                <a:tab pos="355600" algn="l"/>
              </a:tabLst>
            </a:pPr>
            <a:r>
              <a:rPr sz="2800" spc="-5" dirty="0">
                <a:latin typeface="Cambria Math" panose="02040503050406030204" pitchFamily="18" charset="0"/>
                <a:ea typeface="Cambria Math" panose="02040503050406030204" pitchFamily="18" charset="0"/>
                <a:cs typeface="Calibri"/>
              </a:rPr>
              <a:t>Does </a:t>
            </a:r>
            <a:r>
              <a:rPr sz="2800" spc="-10" dirty="0">
                <a:latin typeface="Cambria Math" panose="02040503050406030204" pitchFamily="18" charset="0"/>
                <a:ea typeface="Cambria Math" panose="02040503050406030204" pitchFamily="18" charset="0"/>
                <a:cs typeface="Calibri"/>
              </a:rPr>
              <a:t>it</a:t>
            </a:r>
            <a:r>
              <a:rPr sz="2800" dirty="0">
                <a:latin typeface="Cambria Math" panose="02040503050406030204" pitchFamily="18" charset="0"/>
                <a:ea typeface="Cambria Math" panose="02040503050406030204" pitchFamily="18" charset="0"/>
                <a:cs typeface="Calibri"/>
              </a:rPr>
              <a:t> </a:t>
            </a:r>
            <a:r>
              <a:rPr sz="2800" spc="-30" dirty="0">
                <a:latin typeface="Cambria Math" panose="02040503050406030204" pitchFamily="18" charset="0"/>
                <a:ea typeface="Cambria Math" panose="02040503050406030204" pitchFamily="18" charset="0"/>
                <a:cs typeface="Calibri"/>
              </a:rPr>
              <a:t>make</a:t>
            </a:r>
            <a:r>
              <a:rPr lang="en-US" sz="2800" spc="-30" dirty="0">
                <a:latin typeface="Cambria Math" panose="02040503050406030204" pitchFamily="18" charset="0"/>
                <a:ea typeface="Cambria Math" panose="02040503050406030204" pitchFamily="18" charset="0"/>
                <a:cs typeface="Calibri"/>
              </a:rPr>
              <a:t> </a:t>
            </a:r>
            <a:r>
              <a:rPr sz="2800" spc="-5" dirty="0">
                <a:latin typeface="Cambria Math" panose="02040503050406030204" pitchFamily="18" charset="0"/>
                <a:ea typeface="Cambria Math" panose="02040503050406030204" pitchFamily="18" charset="0"/>
                <a:cs typeface="Calibri"/>
              </a:rPr>
              <a:t>sense </a:t>
            </a:r>
            <a:r>
              <a:rPr sz="2800" spc="-20" dirty="0">
                <a:latin typeface="Cambria Math" panose="02040503050406030204" pitchFamily="18" charset="0"/>
                <a:ea typeface="Cambria Math" panose="02040503050406030204" pitchFamily="18" charset="0"/>
                <a:cs typeface="Calibri"/>
              </a:rPr>
              <a:t>to </a:t>
            </a:r>
            <a:r>
              <a:rPr sz="2800" spc="-5" dirty="0">
                <a:latin typeface="Cambria Math" panose="02040503050406030204" pitchFamily="18" charset="0"/>
                <a:ea typeface="Cambria Math" panose="02040503050406030204" pitchFamily="18" charset="0"/>
                <a:cs typeface="Calibri"/>
              </a:rPr>
              <a:t>assign </a:t>
            </a:r>
            <a:r>
              <a:rPr sz="2800" spc="-20" dirty="0">
                <a:latin typeface="Cambria Math" panose="02040503050406030204" pitchFamily="18" charset="0"/>
                <a:ea typeface="Cambria Math" panose="02040503050406030204" pitchFamily="18" charset="0"/>
                <a:cs typeface="Calibri"/>
              </a:rPr>
              <a:t>to </a:t>
            </a:r>
            <a:r>
              <a:rPr sz="2800" dirty="0">
                <a:latin typeface="Cambria Math" panose="02040503050406030204" pitchFamily="18" charset="0"/>
                <a:ea typeface="Cambria Math" panose="02040503050406030204" pitchFamily="18" charset="0"/>
                <a:cs typeface="Calibri"/>
              </a:rPr>
              <a:t>x the </a:t>
            </a:r>
            <a:r>
              <a:rPr sz="2800" spc="-15" dirty="0">
                <a:latin typeface="Cambria Math" panose="02040503050406030204" pitchFamily="18" charset="0"/>
                <a:ea typeface="Cambria Math" panose="02040503050406030204" pitchFamily="18" charset="0"/>
                <a:cs typeface="Calibri"/>
              </a:rPr>
              <a:t>value</a:t>
            </a:r>
            <a:r>
              <a:rPr sz="2800" spc="100" dirty="0">
                <a:latin typeface="Cambria Math" panose="02040503050406030204" pitchFamily="18" charset="0"/>
                <a:ea typeface="Cambria Math" panose="02040503050406030204" pitchFamily="18" charset="0"/>
                <a:cs typeface="Calibri"/>
              </a:rPr>
              <a:t> </a:t>
            </a:r>
            <a:r>
              <a:rPr sz="2800" spc="-5" dirty="0">
                <a:latin typeface="Cambria Math" panose="02040503050406030204" pitchFamily="18" charset="0"/>
                <a:ea typeface="Cambria Math" panose="02040503050406030204" pitchFamily="18" charset="0"/>
                <a:cs typeface="Calibri"/>
              </a:rPr>
              <a:t>“blue”?</a:t>
            </a:r>
            <a:endParaRPr sz="2800" dirty="0">
              <a:latin typeface="Cambria Math" panose="02040503050406030204" pitchFamily="18" charset="0"/>
              <a:ea typeface="Cambria Math" panose="02040503050406030204" pitchFamily="18" charset="0"/>
              <a:cs typeface="Calibri"/>
            </a:endParaRPr>
          </a:p>
        </p:txBody>
      </p:sp>
      <p:sp>
        <p:nvSpPr>
          <p:cNvPr id="4" name="object 3">
            <a:extLst>
              <a:ext uri="{FF2B5EF4-FFF2-40B4-BE49-F238E27FC236}">
                <a16:creationId xmlns:a16="http://schemas.microsoft.com/office/drawing/2014/main" id="{D5486731-4CF2-54EE-5A70-5C9B5B8FF0B3}"/>
              </a:ext>
            </a:extLst>
          </p:cNvPr>
          <p:cNvSpPr txBox="1"/>
          <p:nvPr/>
        </p:nvSpPr>
        <p:spPr>
          <a:xfrm>
            <a:off x="1426336" y="3436213"/>
            <a:ext cx="9043489" cy="1306127"/>
          </a:xfrm>
          <a:prstGeom prst="rect">
            <a:avLst/>
          </a:prstGeom>
        </p:spPr>
        <p:txBody>
          <a:bodyPr vert="horz" wrap="square" lIns="0" tIns="13335" rIns="0" bIns="0" rtlCol="0">
            <a:spAutoFit/>
          </a:bodyPr>
          <a:lstStyle/>
          <a:p>
            <a:pPr marL="12700" algn="ctr"/>
            <a:r>
              <a:rPr sz="2800" spc="-15" dirty="0">
                <a:latin typeface="Cambria Math" panose="02040503050406030204" pitchFamily="18" charset="0"/>
                <a:ea typeface="Cambria Math" panose="02040503050406030204" pitchFamily="18" charset="0"/>
                <a:cs typeface="Calibri"/>
              </a:rPr>
              <a:t>Predicates </a:t>
            </a:r>
            <a:r>
              <a:rPr sz="2800" spc="-10" dirty="0">
                <a:latin typeface="Cambria Math" panose="02040503050406030204" pitchFamily="18" charset="0"/>
                <a:ea typeface="Cambria Math" panose="02040503050406030204" pitchFamily="18" charset="0"/>
                <a:cs typeface="Calibri"/>
              </a:rPr>
              <a:t>become propositions </a:t>
            </a:r>
            <a:r>
              <a:rPr sz="2800" spc="-5" dirty="0">
                <a:latin typeface="Cambria Math" panose="02040503050406030204" pitchFamily="18" charset="0"/>
                <a:ea typeface="Cambria Math" panose="02040503050406030204" pitchFamily="18" charset="0"/>
                <a:cs typeface="Calibri"/>
              </a:rPr>
              <a:t>once</a:t>
            </a:r>
            <a:r>
              <a:rPr sz="2800" spc="-10" dirty="0">
                <a:latin typeface="Cambria Math" panose="02040503050406030204" pitchFamily="18" charset="0"/>
                <a:ea typeface="Cambria Math" panose="02040503050406030204" pitchFamily="18" charset="0"/>
                <a:cs typeface="Calibri"/>
              </a:rPr>
              <a:t> every</a:t>
            </a:r>
            <a:endParaRPr sz="2800" dirty="0">
              <a:latin typeface="Cambria Math" panose="02040503050406030204" pitchFamily="18" charset="0"/>
              <a:ea typeface="Cambria Math" panose="02040503050406030204" pitchFamily="18" charset="0"/>
              <a:cs typeface="Calibri"/>
            </a:endParaRPr>
          </a:p>
          <a:p>
            <a:pPr marL="12700" algn="ctr"/>
            <a:r>
              <a:rPr sz="2800" spc="-10" dirty="0">
                <a:latin typeface="Cambria Math" panose="02040503050406030204" pitchFamily="18" charset="0"/>
                <a:ea typeface="Cambria Math" panose="02040503050406030204" pitchFamily="18" charset="0"/>
                <a:cs typeface="Calibri"/>
              </a:rPr>
              <a:t>variable </a:t>
            </a:r>
            <a:r>
              <a:rPr sz="2800" dirty="0">
                <a:latin typeface="Cambria Math" panose="02040503050406030204" pitchFamily="18" charset="0"/>
                <a:ea typeface="Cambria Math" panose="02040503050406030204" pitchFamily="18" charset="0"/>
                <a:cs typeface="Calibri"/>
              </a:rPr>
              <a:t>is </a:t>
            </a:r>
            <a:r>
              <a:rPr sz="2800" spc="-5" dirty="0">
                <a:latin typeface="Cambria Math" panose="02040503050406030204" pitchFamily="18" charset="0"/>
                <a:ea typeface="Cambria Math" panose="02040503050406030204" pitchFamily="18" charset="0"/>
                <a:cs typeface="Calibri"/>
              </a:rPr>
              <a:t>bound</a:t>
            </a:r>
            <a:r>
              <a:rPr lang="en-US" sz="2800" spc="-5" dirty="0">
                <a:latin typeface="Cambria Math" panose="02040503050406030204" pitchFamily="18" charset="0"/>
                <a:ea typeface="Cambria Math" panose="02040503050406030204" pitchFamily="18" charset="0"/>
                <a:cs typeface="Calibri"/>
              </a:rPr>
              <a:t> </a:t>
            </a:r>
            <a:r>
              <a:rPr sz="2800" spc="-10" dirty="0">
                <a:latin typeface="Cambria Math" panose="02040503050406030204" pitchFamily="18" charset="0"/>
                <a:ea typeface="Cambria Math" panose="02040503050406030204" pitchFamily="18" charset="0"/>
                <a:cs typeface="Calibri"/>
              </a:rPr>
              <a:t>by</a:t>
            </a:r>
            <a:r>
              <a:rPr lang="en-US" sz="2800" spc="-10" dirty="0">
                <a:latin typeface="Cambria Math" panose="02040503050406030204" pitchFamily="18" charset="0"/>
                <a:ea typeface="Cambria Math" panose="02040503050406030204" pitchFamily="18" charset="0"/>
                <a:cs typeface="Calibri"/>
              </a:rPr>
              <a:t> </a:t>
            </a:r>
            <a:r>
              <a:rPr sz="2800" spc="-5" dirty="0">
                <a:latin typeface="Cambria Math" panose="02040503050406030204" pitchFamily="18" charset="0"/>
                <a:ea typeface="Cambria Math" panose="02040503050406030204" pitchFamily="18" charset="0"/>
                <a:cs typeface="Calibri"/>
              </a:rPr>
              <a:t>assigning </a:t>
            </a:r>
            <a:r>
              <a:rPr sz="2800" dirty="0">
                <a:latin typeface="Cambria Math" panose="02040503050406030204" pitchFamily="18" charset="0"/>
                <a:ea typeface="Cambria Math" panose="02040503050406030204" pitchFamily="18" charset="0"/>
                <a:cs typeface="Calibri"/>
              </a:rPr>
              <a:t>it a </a:t>
            </a:r>
            <a:r>
              <a:rPr sz="2800" spc="-15" dirty="0">
                <a:latin typeface="Cambria Math" panose="02040503050406030204" pitchFamily="18" charset="0"/>
                <a:ea typeface="Cambria Math" panose="02040503050406030204" pitchFamily="18" charset="0"/>
                <a:cs typeface="Calibri"/>
              </a:rPr>
              <a:t>value </a:t>
            </a:r>
            <a:r>
              <a:rPr sz="2800" spc="-20" dirty="0">
                <a:latin typeface="Cambria Math" panose="02040503050406030204" pitchFamily="18" charset="0"/>
                <a:ea typeface="Cambria Math" panose="02040503050406030204" pitchFamily="18" charset="0"/>
                <a:cs typeface="Calibri"/>
              </a:rPr>
              <a:t>from </a:t>
            </a:r>
            <a:endParaRPr lang="en-US" sz="2800" spc="-20" dirty="0">
              <a:latin typeface="Cambria Math" panose="02040503050406030204" pitchFamily="18" charset="0"/>
              <a:ea typeface="Cambria Math" panose="02040503050406030204" pitchFamily="18" charset="0"/>
              <a:cs typeface="Calibri"/>
            </a:endParaRPr>
          </a:p>
          <a:p>
            <a:pPr marL="12700" algn="ctr"/>
            <a:r>
              <a:rPr sz="2800" dirty="0">
                <a:latin typeface="Cambria Math" panose="02040503050406030204" pitchFamily="18" charset="0"/>
                <a:ea typeface="Cambria Math" panose="02040503050406030204" pitchFamily="18" charset="0"/>
                <a:cs typeface="Calibri"/>
              </a:rPr>
              <a:t>the </a:t>
            </a:r>
            <a:r>
              <a:rPr sz="2800" b="1" spc="-15" dirty="0">
                <a:solidFill>
                  <a:srgbClr val="FF0000"/>
                </a:solidFill>
                <a:latin typeface="Cambria Math" panose="02040503050406030204" pitchFamily="18" charset="0"/>
                <a:ea typeface="Cambria Math" panose="02040503050406030204" pitchFamily="18" charset="0"/>
                <a:cs typeface="Calibri"/>
              </a:rPr>
              <a:t>Universe</a:t>
            </a:r>
            <a:r>
              <a:rPr sz="2800" b="1" spc="50" dirty="0">
                <a:solidFill>
                  <a:srgbClr val="FF0000"/>
                </a:solidFill>
                <a:latin typeface="Cambria Math" panose="02040503050406030204" pitchFamily="18" charset="0"/>
                <a:ea typeface="Cambria Math" panose="02040503050406030204" pitchFamily="18" charset="0"/>
                <a:cs typeface="Calibri"/>
              </a:rPr>
              <a:t> </a:t>
            </a:r>
            <a:r>
              <a:rPr sz="2800" b="1" spc="-5" dirty="0">
                <a:solidFill>
                  <a:srgbClr val="FF0000"/>
                </a:solidFill>
                <a:latin typeface="Cambria Math" panose="02040503050406030204" pitchFamily="18" charset="0"/>
                <a:ea typeface="Cambria Math" panose="02040503050406030204" pitchFamily="18" charset="0"/>
                <a:cs typeface="Calibri"/>
              </a:rPr>
              <a:t>of</a:t>
            </a:r>
            <a:r>
              <a:rPr lang="en-US" sz="2800" b="1" spc="-5" dirty="0">
                <a:solidFill>
                  <a:srgbClr val="FF0000"/>
                </a:solidFill>
                <a:latin typeface="Cambria Math" panose="02040503050406030204" pitchFamily="18" charset="0"/>
                <a:ea typeface="Cambria Math" panose="02040503050406030204" pitchFamily="18" charset="0"/>
                <a:cs typeface="Calibri"/>
              </a:rPr>
              <a:t> </a:t>
            </a:r>
            <a:r>
              <a:rPr sz="2800" b="1" spc="-15" dirty="0">
                <a:solidFill>
                  <a:srgbClr val="FF0000"/>
                </a:solidFill>
                <a:latin typeface="Cambria Math" panose="02040503050406030204" pitchFamily="18" charset="0"/>
                <a:ea typeface="Cambria Math" panose="02040503050406030204" pitchFamily="18" charset="0"/>
                <a:cs typeface="Calibri"/>
              </a:rPr>
              <a:t>Discourse </a:t>
            </a:r>
            <a:r>
              <a:rPr sz="2800" dirty="0">
                <a:latin typeface="Cambria Math" panose="02040503050406030204" pitchFamily="18" charset="0"/>
                <a:ea typeface="Cambria Math" panose="02040503050406030204" pitchFamily="18" charset="0"/>
                <a:cs typeface="Calibri"/>
              </a:rPr>
              <a:t>“U” </a:t>
            </a:r>
            <a:r>
              <a:rPr sz="2800" spc="-15" dirty="0">
                <a:latin typeface="Cambria Math" panose="02040503050406030204" pitchFamily="18" charset="0"/>
                <a:ea typeface="Cambria Math" panose="02040503050406030204" pitchFamily="18" charset="0"/>
                <a:cs typeface="Calibri"/>
              </a:rPr>
              <a:t>(aka</a:t>
            </a:r>
            <a:r>
              <a:rPr sz="2800" spc="-20" dirty="0">
                <a:latin typeface="Cambria Math" panose="02040503050406030204" pitchFamily="18" charset="0"/>
                <a:ea typeface="Cambria Math" panose="02040503050406030204" pitchFamily="18" charset="0"/>
                <a:cs typeface="Calibri"/>
              </a:rPr>
              <a:t> </a:t>
            </a:r>
            <a:r>
              <a:rPr sz="2800" b="1" dirty="0">
                <a:solidFill>
                  <a:srgbClr val="FF0000"/>
                </a:solidFill>
                <a:latin typeface="Cambria Math" panose="02040503050406030204" pitchFamily="18" charset="0"/>
                <a:ea typeface="Cambria Math" panose="02040503050406030204" pitchFamily="18" charset="0"/>
                <a:cs typeface="Calibri"/>
              </a:rPr>
              <a:t>domain</a:t>
            </a:r>
            <a:r>
              <a:rPr sz="2800" dirty="0">
                <a:latin typeface="Cambria Math" panose="02040503050406030204" pitchFamily="18" charset="0"/>
                <a:ea typeface="Cambria Math" panose="02040503050406030204" pitchFamily="18" charset="0"/>
                <a:cs typeface="Calibri"/>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505337"/>
            <a:ext cx="10515600" cy="690574"/>
          </a:xfrm>
          <a:prstGeom prst="rect">
            <a:avLst/>
          </a:prstGeom>
        </p:spPr>
        <p:txBody>
          <a:bodyPr vert="horz" wrap="square" lIns="0" tIns="13335" rIns="0" bIns="0" rtlCol="0" anchor="ctr">
            <a:spAutoFit/>
          </a:bodyPr>
          <a:lstStyle/>
          <a:p>
            <a:pPr marL="12700">
              <a:lnSpc>
                <a:spcPct val="100000"/>
              </a:lnSpc>
              <a:spcBef>
                <a:spcPts val="105"/>
              </a:spcBef>
            </a:pPr>
            <a:r>
              <a:rPr spc="-5" dirty="0">
                <a:latin typeface="Cambria Math" panose="02040503050406030204" pitchFamily="18" charset="0"/>
                <a:ea typeface="Cambria Math" panose="02040503050406030204" pitchFamily="18" charset="0"/>
              </a:rPr>
              <a:t>E</a:t>
            </a:r>
            <a:r>
              <a:rPr spc="-85" dirty="0">
                <a:latin typeface="Cambria Math" panose="02040503050406030204" pitchFamily="18" charset="0"/>
                <a:ea typeface="Cambria Math" panose="02040503050406030204" pitchFamily="18" charset="0"/>
              </a:rPr>
              <a:t>x</a:t>
            </a:r>
            <a:r>
              <a:rPr spc="-5" dirty="0">
                <a:latin typeface="Cambria Math" panose="02040503050406030204" pitchFamily="18" charset="0"/>
                <a:ea typeface="Cambria Math" panose="02040503050406030204" pitchFamily="18" charset="0"/>
              </a:rPr>
              <a:t>ample</a:t>
            </a:r>
          </a:p>
        </p:txBody>
      </p:sp>
      <p:sp>
        <p:nvSpPr>
          <p:cNvPr id="3" name="object 3"/>
          <p:cNvSpPr txBox="1"/>
          <p:nvPr/>
        </p:nvSpPr>
        <p:spPr>
          <a:xfrm>
            <a:off x="2059941" y="1607262"/>
            <a:ext cx="9293859" cy="3973524"/>
          </a:xfrm>
          <a:prstGeom prst="rect">
            <a:avLst/>
          </a:prstGeom>
        </p:spPr>
        <p:txBody>
          <a:bodyPr vert="horz" wrap="square" lIns="0" tIns="13335" rIns="0" bIns="0" rtlCol="0">
            <a:spAutoFit/>
          </a:bodyPr>
          <a:lstStyle/>
          <a:p>
            <a:pPr marL="12700">
              <a:spcBef>
                <a:spcPts val="105"/>
              </a:spcBef>
              <a:tabLst>
                <a:tab pos="354965" algn="l"/>
                <a:tab pos="355600" algn="l"/>
              </a:tabLst>
            </a:pPr>
            <a:r>
              <a:rPr sz="3200" spc="-5" dirty="0">
                <a:latin typeface="Cambria Math" panose="02040503050406030204" pitchFamily="18" charset="0"/>
                <a:ea typeface="Cambria Math" panose="02040503050406030204" pitchFamily="18" charset="0"/>
                <a:cs typeface="Calibri"/>
              </a:rPr>
              <a:t>Let U= Z, </a:t>
            </a:r>
            <a:r>
              <a:rPr sz="3200" dirty="0">
                <a:latin typeface="Cambria Math" panose="02040503050406030204" pitchFamily="18" charset="0"/>
                <a:ea typeface="Cambria Math" panose="02040503050406030204" pitchFamily="18" charset="0"/>
                <a:cs typeface="Calibri"/>
              </a:rPr>
              <a:t>the </a:t>
            </a:r>
            <a:r>
              <a:rPr sz="3200" spc="-20" dirty="0">
                <a:latin typeface="Cambria Math" panose="02040503050406030204" pitchFamily="18" charset="0"/>
                <a:ea typeface="Cambria Math" panose="02040503050406030204" pitchFamily="18" charset="0"/>
                <a:cs typeface="Calibri"/>
              </a:rPr>
              <a:t>integers </a:t>
            </a:r>
            <a:r>
              <a:rPr sz="3200" dirty="0">
                <a:latin typeface="Cambria Math" panose="02040503050406030204" pitchFamily="18" charset="0"/>
                <a:ea typeface="Cambria Math" panose="02040503050406030204" pitchFamily="18" charset="0"/>
                <a:cs typeface="Calibri"/>
              </a:rPr>
              <a:t>= { . . -2, -1, 0 , </a:t>
            </a:r>
            <a:r>
              <a:rPr sz="3200" spc="-5" dirty="0">
                <a:latin typeface="Cambria Math" panose="02040503050406030204" pitchFamily="18" charset="0"/>
                <a:ea typeface="Cambria Math" panose="02040503050406030204" pitchFamily="18" charset="0"/>
                <a:cs typeface="Calibri"/>
              </a:rPr>
              <a:t>1, </a:t>
            </a:r>
            <a:r>
              <a:rPr sz="3200" dirty="0">
                <a:latin typeface="Cambria Math" panose="02040503050406030204" pitchFamily="18" charset="0"/>
                <a:ea typeface="Cambria Math" panose="02040503050406030204" pitchFamily="18" charset="0"/>
                <a:cs typeface="Calibri"/>
              </a:rPr>
              <a:t>2, . .</a:t>
            </a:r>
            <a:r>
              <a:rPr sz="3200" spc="-1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a:t>
            </a:r>
            <a:endParaRPr sz="3200" dirty="0">
              <a:latin typeface="Cambria Math" panose="02040503050406030204" pitchFamily="18" charset="0"/>
              <a:ea typeface="Cambria Math" panose="02040503050406030204" pitchFamily="18" charset="0"/>
              <a:cs typeface="Calibri"/>
            </a:endParaRPr>
          </a:p>
          <a:p>
            <a:pPr marL="650875" lvl="1" indent="-295275">
              <a:buChar char="•"/>
              <a:tabLst>
                <a:tab pos="651510" algn="l"/>
              </a:tabLst>
            </a:pPr>
            <a:r>
              <a:rPr sz="3200" dirty="0">
                <a:latin typeface="Cambria Math" panose="02040503050406030204" pitchFamily="18" charset="0"/>
                <a:ea typeface="Cambria Math" panose="02040503050406030204" pitchFamily="18" charset="0"/>
                <a:cs typeface="Calibri"/>
              </a:rPr>
              <a:t>P(x): x &gt; 0 is the</a:t>
            </a:r>
            <a:r>
              <a:rPr sz="3200" spc="5" dirty="0">
                <a:latin typeface="Cambria Math" panose="02040503050406030204" pitchFamily="18" charset="0"/>
                <a:ea typeface="Cambria Math" panose="02040503050406030204" pitchFamily="18" charset="0"/>
                <a:cs typeface="Calibri"/>
              </a:rPr>
              <a:t> </a:t>
            </a:r>
            <a:r>
              <a:rPr sz="3200" spc="-15" dirty="0">
                <a:latin typeface="Cambria Math" panose="02040503050406030204" pitchFamily="18" charset="0"/>
                <a:ea typeface="Cambria Math" panose="02040503050406030204" pitchFamily="18" charset="0"/>
                <a:cs typeface="Calibri"/>
              </a:rPr>
              <a:t>predicate.</a:t>
            </a:r>
            <a:endParaRPr sz="3200" dirty="0">
              <a:latin typeface="Cambria Math" panose="02040503050406030204" pitchFamily="18" charset="0"/>
              <a:ea typeface="Cambria Math" panose="02040503050406030204" pitchFamily="18" charset="0"/>
              <a:cs typeface="Calibri"/>
            </a:endParaRPr>
          </a:p>
          <a:p>
            <a:pPr marL="12700">
              <a:spcBef>
                <a:spcPts val="765"/>
              </a:spcBef>
            </a:pPr>
            <a:endParaRPr lang="en-US" sz="3200" spc="-10" dirty="0">
              <a:latin typeface="Cambria Math" panose="02040503050406030204" pitchFamily="18" charset="0"/>
              <a:ea typeface="Cambria Math" panose="02040503050406030204" pitchFamily="18" charset="0"/>
              <a:cs typeface="Calibri"/>
            </a:endParaRPr>
          </a:p>
          <a:p>
            <a:pPr marL="12700">
              <a:spcBef>
                <a:spcPts val="765"/>
              </a:spcBef>
            </a:pPr>
            <a:r>
              <a:rPr sz="3200" spc="-10" dirty="0">
                <a:latin typeface="Cambria Math" panose="02040503050406030204" pitchFamily="18" charset="0"/>
                <a:ea typeface="Cambria Math" panose="02040503050406030204" pitchFamily="18" charset="0"/>
                <a:cs typeface="Calibri"/>
              </a:rPr>
              <a:t>propositions where </a:t>
            </a:r>
            <a:r>
              <a:rPr sz="3200" dirty="0">
                <a:latin typeface="Cambria Math" panose="02040503050406030204" pitchFamily="18" charset="0"/>
                <a:ea typeface="Cambria Math" panose="02040503050406030204" pitchFamily="18" charset="0"/>
                <a:cs typeface="Calibri"/>
              </a:rPr>
              <a:t>x is </a:t>
            </a:r>
            <a:r>
              <a:rPr sz="3200" spc="-5" dirty="0">
                <a:latin typeface="Cambria Math" panose="02040503050406030204" pitchFamily="18" charset="0"/>
                <a:ea typeface="Cambria Math" panose="02040503050406030204" pitchFamily="18" charset="0"/>
                <a:cs typeface="Calibri"/>
              </a:rPr>
              <a:t>assigned </a:t>
            </a:r>
            <a:r>
              <a:rPr sz="3200" dirty="0">
                <a:latin typeface="Cambria Math" panose="02040503050406030204" pitchFamily="18" charset="0"/>
                <a:ea typeface="Cambria Math" panose="02040503050406030204" pitchFamily="18" charset="0"/>
                <a:cs typeface="Calibri"/>
              </a:rPr>
              <a:t>a</a:t>
            </a:r>
            <a:r>
              <a:rPr sz="3200" spc="35" dirty="0">
                <a:latin typeface="Cambria Math" panose="02040503050406030204" pitchFamily="18" charset="0"/>
                <a:ea typeface="Cambria Math" panose="02040503050406030204" pitchFamily="18" charset="0"/>
                <a:cs typeface="Calibri"/>
              </a:rPr>
              <a:t> </a:t>
            </a:r>
            <a:r>
              <a:rPr sz="3200" spc="-15" dirty="0">
                <a:latin typeface="Cambria Math" panose="02040503050406030204" pitchFamily="18" charset="0"/>
                <a:ea typeface="Cambria Math" panose="02040503050406030204" pitchFamily="18" charset="0"/>
                <a:cs typeface="Calibri"/>
              </a:rPr>
              <a:t>value:</a:t>
            </a:r>
            <a:endParaRPr sz="3200" dirty="0">
              <a:latin typeface="Cambria Math" panose="02040503050406030204" pitchFamily="18" charset="0"/>
              <a:ea typeface="Cambria Math" panose="02040503050406030204" pitchFamily="18" charset="0"/>
              <a:cs typeface="Calibri"/>
            </a:endParaRPr>
          </a:p>
          <a:p>
            <a:pPr marL="307340" indent="-294640">
              <a:spcBef>
                <a:spcPts val="765"/>
              </a:spcBef>
              <a:buChar char="•"/>
              <a:tabLst>
                <a:tab pos="307975" algn="l"/>
              </a:tabLst>
            </a:pPr>
            <a:r>
              <a:rPr sz="3200" dirty="0">
                <a:latin typeface="Cambria Math" panose="02040503050406030204" pitchFamily="18" charset="0"/>
                <a:ea typeface="Cambria Math" panose="02040503050406030204" pitchFamily="18" charset="0"/>
                <a:cs typeface="Calibri"/>
              </a:rPr>
              <a:t>P(-3)</a:t>
            </a:r>
          </a:p>
          <a:p>
            <a:pPr marL="306705" indent="-294005">
              <a:spcBef>
                <a:spcPts val="765"/>
              </a:spcBef>
              <a:buChar char="•"/>
              <a:tabLst>
                <a:tab pos="307340" algn="l"/>
              </a:tabLst>
            </a:pPr>
            <a:r>
              <a:rPr sz="3200" dirty="0">
                <a:latin typeface="Cambria Math" panose="02040503050406030204" pitchFamily="18" charset="0"/>
                <a:ea typeface="Cambria Math" panose="02040503050406030204" pitchFamily="18" charset="0"/>
                <a:cs typeface="Calibri"/>
              </a:rPr>
              <a:t>P(0)</a:t>
            </a:r>
          </a:p>
          <a:p>
            <a:pPr marL="306705" indent="-294005">
              <a:spcBef>
                <a:spcPts val="765"/>
              </a:spcBef>
              <a:buChar char="•"/>
              <a:tabLst>
                <a:tab pos="307340" algn="l"/>
              </a:tabLst>
            </a:pPr>
            <a:r>
              <a:rPr sz="3200" dirty="0">
                <a:latin typeface="Cambria Math" panose="02040503050406030204" pitchFamily="18" charset="0"/>
                <a:ea typeface="Cambria Math" panose="02040503050406030204" pitchFamily="18" charset="0"/>
                <a:cs typeface="Calibri"/>
              </a:rPr>
              <a:t>P(3)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Content Placeholder 1"/>
          <p:cNvSpPr>
            <a:spLocks noGrp="1"/>
          </p:cNvSpPr>
          <p:nvPr>
            <p:ph idx="1"/>
          </p:nvPr>
        </p:nvSpPr>
        <p:spPr/>
        <p:txBody>
          <a:bodyPr>
            <a:normAutofit/>
          </a:bodyPr>
          <a:lstStyle/>
          <a:p>
            <a:r>
              <a:rPr lang="en-US" dirty="0">
                <a:latin typeface="Cambria Math" panose="02040503050406030204" pitchFamily="18" charset="0"/>
                <a:ea typeface="Cambria Math" panose="02040503050406030204" pitchFamily="18" charset="0"/>
              </a:rPr>
              <a:t>Every student of this class is a bright student </a:t>
            </a:r>
          </a:p>
          <a:p>
            <a:pPr lvl="1"/>
            <a:r>
              <a:rPr lang="en-US" b="0" i="1" dirty="0">
                <a:latin typeface="Cambria Math" panose="02040503050406030204" pitchFamily="18" charset="0"/>
                <a:ea typeface="Cambria Math" panose="02040503050406030204" pitchFamily="18" charset="0"/>
              </a:rPr>
              <a:t>Ahmad is a student of this class</a:t>
            </a:r>
          </a:p>
          <a:p>
            <a:pPr lvl="1"/>
            <a:endParaRPr lang="zh-CN" altLang="en-US" dirty="0">
              <a:latin typeface="Cambria Math" panose="02040503050406030204" pitchFamily="18" charset="0"/>
            </a:endParaRPr>
          </a:p>
          <a:p>
            <a:pPr lvl="0"/>
            <a:r>
              <a:rPr lang="en-US" dirty="0">
                <a:latin typeface="Cambria Math" panose="02040503050406030204" pitchFamily="18" charset="0"/>
                <a:ea typeface="Cambria Math" panose="02040503050406030204" pitchFamily="18" charset="0"/>
              </a:rPr>
              <a:t>Ahmad is a bright student </a:t>
            </a:r>
          </a:p>
          <a:p>
            <a:pPr lvl="1"/>
            <a:r>
              <a:rPr lang="en-US" b="1" dirty="0">
                <a:latin typeface="Cambria Math" panose="02040503050406030204" pitchFamily="18" charset="0"/>
                <a:ea typeface="Cambria Math" panose="02040503050406030204" pitchFamily="18" charset="0"/>
              </a:rPr>
              <a:t>T / F ?</a:t>
            </a:r>
            <a:endParaRPr lang="zh-CN" altLang="en-US" b="1" dirty="0">
              <a:latin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pPr lvl="1"/>
            <a:endParaRPr lang="en-US" dirty="0">
              <a:latin typeface="Cambria Math" panose="02040503050406030204" pitchFamily="18" charset="0"/>
              <a:ea typeface="Cambria Math" panose="02040503050406030204" pitchFamily="18" charset="0"/>
            </a:endParaRPr>
          </a:p>
        </p:txBody>
      </p:sp>
      <p:sp>
        <p:nvSpPr>
          <p:cNvPr id="1048614" name="Title 2"/>
          <p:cNvSpPr>
            <a:spLocks noGrp="1"/>
          </p:cNvSpPr>
          <p:nvPr>
            <p:ph type="title"/>
          </p:nvPr>
        </p:nvSpPr>
        <p:spPr/>
        <p:txBody>
          <a:bodyPr>
            <a:noAutofit/>
          </a:bodyPr>
          <a:lstStyle/>
          <a:p>
            <a:r>
              <a:rPr lang="en-US" dirty="0">
                <a:latin typeface="Cambria Math" panose="02040503050406030204" pitchFamily="18" charset="0"/>
                <a:ea typeface="Cambria Math" panose="02040503050406030204" pitchFamily="18" charset="0"/>
              </a:rPr>
              <a:t>PREDICATES</a:t>
            </a:r>
          </a:p>
        </p:txBody>
      </p:sp>
      <p:sp>
        <p:nvSpPr>
          <p:cNvPr id="1048615" name="TextBox 1048614"/>
          <p:cNvSpPr txBox="1"/>
          <p:nvPr/>
        </p:nvSpPr>
        <p:spPr>
          <a:xfrm>
            <a:off x="5446059" y="5526741"/>
            <a:ext cx="5806659" cy="523220"/>
          </a:xfrm>
          <a:prstGeom prst="rect">
            <a:avLst/>
          </a:prstGeom>
        </p:spPr>
        <p:txBody>
          <a:bodyPr wrap="square" rtlCol="0">
            <a:spAutoFit/>
          </a:bodyPr>
          <a:lstStyle/>
          <a:p>
            <a:r>
              <a:rPr lang="en-US" sz="2800" b="1" i="1" dirty="0">
                <a:solidFill>
                  <a:srgbClr val="C00000"/>
                </a:solidFill>
              </a:rPr>
              <a:t>Need for additional rules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8851" y="545994"/>
            <a:ext cx="4475947" cy="690574"/>
          </a:xfrm>
          <a:prstGeom prst="rect">
            <a:avLst/>
          </a:prstGeom>
        </p:spPr>
        <p:txBody>
          <a:bodyPr vert="horz" wrap="square" lIns="0" tIns="13335" rIns="0" bIns="0" rtlCol="0" anchor="ctr">
            <a:spAutoFit/>
          </a:bodyPr>
          <a:lstStyle/>
          <a:p>
            <a:pPr marL="12700" algn="just">
              <a:lnSpc>
                <a:spcPct val="100000"/>
              </a:lnSpc>
              <a:spcBef>
                <a:spcPts val="105"/>
              </a:spcBef>
            </a:pPr>
            <a:r>
              <a:rPr spc="-10" dirty="0">
                <a:latin typeface="Cambria Math" panose="02040503050406030204" pitchFamily="18" charset="0"/>
                <a:ea typeface="Cambria Math" panose="02040503050406030204" pitchFamily="18" charset="0"/>
                <a:cs typeface="Calibri"/>
              </a:rPr>
              <a:t>Quantifiers</a:t>
            </a:r>
          </a:p>
        </p:txBody>
      </p:sp>
      <p:sp>
        <p:nvSpPr>
          <p:cNvPr id="3" name="object 3"/>
          <p:cNvSpPr txBox="1"/>
          <p:nvPr/>
        </p:nvSpPr>
        <p:spPr>
          <a:xfrm>
            <a:off x="634366" y="1308052"/>
            <a:ext cx="11299916" cy="4927696"/>
          </a:xfrm>
          <a:prstGeom prst="rect">
            <a:avLst/>
          </a:prstGeom>
        </p:spPr>
        <p:txBody>
          <a:bodyPr vert="horz" wrap="square" lIns="0" tIns="62230" rIns="0" bIns="0" rtlCol="0">
            <a:spAutoFit/>
          </a:bodyPr>
          <a:lstStyle/>
          <a:p>
            <a:pPr marL="12700" marR="5080" algn="just">
              <a:lnSpc>
                <a:spcPct val="90000"/>
              </a:lnSpc>
              <a:spcBef>
                <a:spcPts val="490"/>
              </a:spcBef>
            </a:pPr>
            <a:r>
              <a:rPr lang="en-US" sz="2800" dirty="0">
                <a:latin typeface="Cambria Math" panose="02040503050406030204" pitchFamily="18" charset="0"/>
                <a:ea typeface="Cambria Math" panose="02040503050406030204" pitchFamily="18" charset="0"/>
              </a:rPr>
              <a:t>A predicate is transformed into a proposition when we assign a fixed set of values to its variables. The predicate then can have a truth value as either </a:t>
            </a:r>
            <a:r>
              <a:rPr lang="en-US" sz="2800" dirty="0">
                <a:solidFill>
                  <a:srgbClr val="007A37"/>
                </a:solidFill>
                <a:latin typeface="Cambria Math" panose="02040503050406030204" pitchFamily="18" charset="0"/>
                <a:ea typeface="Cambria Math" panose="02040503050406030204" pitchFamily="18" charset="0"/>
              </a:rPr>
              <a:t>True</a:t>
            </a:r>
            <a:r>
              <a:rPr lang="en-US" sz="2800" dirty="0">
                <a:latin typeface="Cambria Math" panose="02040503050406030204" pitchFamily="18" charset="0"/>
                <a:ea typeface="Cambria Math" panose="02040503050406030204" pitchFamily="18" charset="0"/>
              </a:rPr>
              <a:t> or </a:t>
            </a:r>
            <a:r>
              <a:rPr lang="en-US" sz="2800" dirty="0">
                <a:solidFill>
                  <a:srgbClr val="C00000"/>
                </a:solidFill>
                <a:latin typeface="Cambria Math" panose="02040503050406030204" pitchFamily="18" charset="0"/>
                <a:ea typeface="Cambria Math" panose="02040503050406030204" pitchFamily="18" charset="0"/>
              </a:rPr>
              <a:t>False</a:t>
            </a:r>
            <a:r>
              <a:rPr lang="en-US" sz="2800" dirty="0">
                <a:latin typeface="Cambria Math" panose="02040503050406030204" pitchFamily="18" charset="0"/>
                <a:ea typeface="Cambria Math" panose="02040503050406030204" pitchFamily="18" charset="0"/>
              </a:rPr>
              <a:t>. </a:t>
            </a:r>
          </a:p>
          <a:p>
            <a:pPr marL="12700" marR="5080" algn="just">
              <a:lnSpc>
                <a:spcPct val="90000"/>
              </a:lnSpc>
              <a:spcBef>
                <a:spcPts val="490"/>
              </a:spcBef>
            </a:pPr>
            <a:endParaRPr lang="en-US" sz="2800" spc="-5" dirty="0">
              <a:latin typeface="Cambria Math" panose="02040503050406030204" pitchFamily="18" charset="0"/>
              <a:ea typeface="Cambria Math" panose="02040503050406030204" pitchFamily="18" charset="0"/>
              <a:cs typeface="Calibri"/>
            </a:endParaRPr>
          </a:p>
          <a:p>
            <a:pPr marL="12700" marR="5080" algn="just">
              <a:lnSpc>
                <a:spcPct val="90000"/>
              </a:lnSpc>
              <a:spcBef>
                <a:spcPts val="490"/>
              </a:spcBef>
            </a:pPr>
            <a:r>
              <a:rPr sz="2800" spc="-5" dirty="0">
                <a:latin typeface="Cambria Math" panose="02040503050406030204" pitchFamily="18" charset="0"/>
                <a:ea typeface="Cambria Math" panose="02040503050406030204" pitchFamily="18" charset="0"/>
                <a:cs typeface="Calibri"/>
              </a:rPr>
              <a:t>Another </a:t>
            </a:r>
            <a:r>
              <a:rPr sz="2800" spc="-30" dirty="0">
                <a:latin typeface="Cambria Math" panose="02040503050406030204" pitchFamily="18" charset="0"/>
                <a:ea typeface="Cambria Math" panose="02040503050406030204" pitchFamily="18" charset="0"/>
                <a:cs typeface="Calibri"/>
              </a:rPr>
              <a:t>way </a:t>
            </a:r>
            <a:r>
              <a:rPr sz="2800" spc="-25" dirty="0">
                <a:latin typeface="Cambria Math" panose="02040503050406030204" pitchFamily="18" charset="0"/>
                <a:ea typeface="Cambria Math" panose="02040503050406030204" pitchFamily="18" charset="0"/>
                <a:cs typeface="Calibri"/>
              </a:rPr>
              <a:t>to </a:t>
            </a:r>
            <a:r>
              <a:rPr sz="2800" spc="-30" dirty="0">
                <a:latin typeface="Cambria Math" panose="02040503050406030204" pitchFamily="18" charset="0"/>
                <a:ea typeface="Cambria Math" panose="02040503050406030204" pitchFamily="18" charset="0"/>
                <a:cs typeface="Calibri"/>
              </a:rPr>
              <a:t>make </a:t>
            </a:r>
            <a:r>
              <a:rPr sz="2800" dirty="0">
                <a:latin typeface="Cambria Math" panose="02040503050406030204" pitchFamily="18" charset="0"/>
                <a:ea typeface="Cambria Math" panose="02040503050406030204" pitchFamily="18" charset="0"/>
                <a:cs typeface="Calibri"/>
              </a:rPr>
              <a:t>a </a:t>
            </a:r>
            <a:r>
              <a:rPr sz="2800" spc="-20" dirty="0">
                <a:latin typeface="Cambria Math" panose="02040503050406030204" pitchFamily="18" charset="0"/>
                <a:ea typeface="Cambria Math" panose="02040503050406030204" pitchFamily="18" charset="0"/>
                <a:cs typeface="Calibri"/>
              </a:rPr>
              <a:t>predicate into </a:t>
            </a:r>
            <a:r>
              <a:rPr sz="2800" dirty="0">
                <a:latin typeface="Cambria Math" panose="02040503050406030204" pitchFamily="18" charset="0"/>
                <a:ea typeface="Cambria Math" panose="02040503050406030204" pitchFamily="18" charset="0"/>
                <a:cs typeface="Calibri"/>
              </a:rPr>
              <a:t>a  </a:t>
            </a:r>
            <a:r>
              <a:rPr sz="2800" spc="-10" dirty="0">
                <a:latin typeface="Cambria Math" panose="02040503050406030204" pitchFamily="18" charset="0"/>
                <a:ea typeface="Cambria Math" panose="02040503050406030204" pitchFamily="18" charset="0"/>
                <a:cs typeface="Calibri"/>
              </a:rPr>
              <a:t>proposition </a:t>
            </a:r>
            <a:r>
              <a:rPr sz="2800" dirty="0">
                <a:latin typeface="Cambria Math" panose="02040503050406030204" pitchFamily="18" charset="0"/>
                <a:ea typeface="Cambria Math" panose="02040503050406030204" pitchFamily="18" charset="0"/>
                <a:cs typeface="Calibri"/>
              </a:rPr>
              <a:t>is </a:t>
            </a:r>
            <a:r>
              <a:rPr sz="2800" spc="-20" dirty="0">
                <a:latin typeface="Cambria Math" panose="02040503050406030204" pitchFamily="18" charset="0"/>
                <a:ea typeface="Cambria Math" panose="02040503050406030204" pitchFamily="18" charset="0"/>
                <a:cs typeface="Calibri"/>
              </a:rPr>
              <a:t>to </a:t>
            </a:r>
            <a:r>
              <a:rPr sz="2800" spc="-10" dirty="0">
                <a:solidFill>
                  <a:srgbClr val="FF0000"/>
                </a:solidFill>
                <a:latin typeface="Cambria Math" panose="02040503050406030204" pitchFamily="18" charset="0"/>
                <a:ea typeface="Cambria Math" panose="02040503050406030204" pitchFamily="18" charset="0"/>
                <a:cs typeface="Calibri"/>
              </a:rPr>
              <a:t>quantify </a:t>
            </a:r>
            <a:r>
              <a:rPr sz="2800" spc="-5" dirty="0">
                <a:solidFill>
                  <a:srgbClr val="FF0000"/>
                </a:solidFill>
                <a:latin typeface="Cambria Math" panose="02040503050406030204" pitchFamily="18" charset="0"/>
                <a:ea typeface="Cambria Math" panose="02040503050406030204" pitchFamily="18" charset="0"/>
                <a:cs typeface="Calibri"/>
              </a:rPr>
              <a:t>it. </a:t>
            </a:r>
            <a:endParaRPr lang="en-US" sz="2800" spc="-5" dirty="0">
              <a:solidFill>
                <a:srgbClr val="FF0000"/>
              </a:solidFill>
              <a:latin typeface="Cambria Math" panose="02040503050406030204" pitchFamily="18" charset="0"/>
              <a:ea typeface="Cambria Math" panose="02040503050406030204" pitchFamily="18" charset="0"/>
              <a:cs typeface="Calibri"/>
            </a:endParaRPr>
          </a:p>
          <a:p>
            <a:pPr marL="12700" marR="5080" algn="just">
              <a:lnSpc>
                <a:spcPct val="90000"/>
              </a:lnSpc>
              <a:spcBef>
                <a:spcPts val="490"/>
              </a:spcBef>
            </a:pPr>
            <a:r>
              <a:rPr sz="2800" spc="-10" dirty="0">
                <a:latin typeface="Cambria Math" panose="02040503050406030204" pitchFamily="18" charset="0"/>
                <a:ea typeface="Cambria Math" panose="02040503050406030204" pitchFamily="18" charset="0"/>
                <a:cs typeface="Calibri"/>
              </a:rPr>
              <a:t>That </a:t>
            </a:r>
            <a:r>
              <a:rPr sz="2800" dirty="0">
                <a:latin typeface="Cambria Math" panose="02040503050406030204" pitchFamily="18" charset="0"/>
                <a:ea typeface="Cambria Math" panose="02040503050406030204" pitchFamily="18" charset="0"/>
                <a:cs typeface="Calibri"/>
              </a:rPr>
              <a:t>is, the  </a:t>
            </a:r>
            <a:r>
              <a:rPr sz="2800" spc="-15" dirty="0">
                <a:latin typeface="Cambria Math" panose="02040503050406030204" pitchFamily="18" charset="0"/>
                <a:ea typeface="Cambria Math" panose="02040503050406030204" pitchFamily="18" charset="0"/>
                <a:cs typeface="Calibri"/>
              </a:rPr>
              <a:t>predicate </a:t>
            </a:r>
            <a:r>
              <a:rPr sz="2800" dirty="0">
                <a:latin typeface="Cambria Math" panose="02040503050406030204" pitchFamily="18" charset="0"/>
                <a:ea typeface="Cambria Math" panose="02040503050406030204" pitchFamily="18" charset="0"/>
                <a:cs typeface="Calibri"/>
              </a:rPr>
              <a:t>is true </a:t>
            </a:r>
            <a:r>
              <a:rPr sz="2800" spc="-5" dirty="0">
                <a:latin typeface="Cambria Math" panose="02040503050406030204" pitchFamily="18" charset="0"/>
                <a:ea typeface="Cambria Math" panose="02040503050406030204" pitchFamily="18" charset="0"/>
                <a:cs typeface="Calibri"/>
              </a:rPr>
              <a:t>(or </a:t>
            </a:r>
            <a:r>
              <a:rPr sz="2800" spc="-15" dirty="0">
                <a:latin typeface="Cambria Math" panose="02040503050406030204" pitchFamily="18" charset="0"/>
                <a:ea typeface="Cambria Math" panose="02040503050406030204" pitchFamily="18" charset="0"/>
                <a:cs typeface="Calibri"/>
              </a:rPr>
              <a:t>false) </a:t>
            </a:r>
            <a:r>
              <a:rPr sz="2800" spc="-30" dirty="0">
                <a:latin typeface="Cambria Math" panose="02040503050406030204" pitchFamily="18" charset="0"/>
                <a:ea typeface="Cambria Math" panose="02040503050406030204" pitchFamily="18" charset="0"/>
                <a:cs typeface="Calibri"/>
              </a:rPr>
              <a:t>for </a:t>
            </a:r>
            <a:r>
              <a:rPr sz="2800" spc="-5" dirty="0">
                <a:latin typeface="Cambria Math" panose="02040503050406030204" pitchFamily="18" charset="0"/>
                <a:ea typeface="Cambria Math" panose="02040503050406030204" pitchFamily="18" charset="0"/>
                <a:cs typeface="Calibri"/>
              </a:rPr>
              <a:t>all possible </a:t>
            </a:r>
            <a:r>
              <a:rPr sz="2800" spc="-10" dirty="0">
                <a:latin typeface="Cambria Math" panose="02040503050406030204" pitchFamily="18" charset="0"/>
                <a:ea typeface="Cambria Math" panose="02040503050406030204" pitchFamily="18" charset="0"/>
                <a:cs typeface="Calibri"/>
              </a:rPr>
              <a:t>values  </a:t>
            </a:r>
            <a:r>
              <a:rPr sz="2800" dirty="0">
                <a:latin typeface="Cambria Math" panose="02040503050406030204" pitchFamily="18" charset="0"/>
                <a:ea typeface="Cambria Math" panose="02040503050406030204" pitchFamily="18" charset="0"/>
                <a:cs typeface="Calibri"/>
              </a:rPr>
              <a:t>in the </a:t>
            </a:r>
            <a:r>
              <a:rPr sz="2800" spc="-15" dirty="0">
                <a:latin typeface="Cambria Math" panose="02040503050406030204" pitchFamily="18" charset="0"/>
                <a:ea typeface="Cambria Math" panose="02040503050406030204" pitchFamily="18" charset="0"/>
                <a:cs typeface="Calibri"/>
              </a:rPr>
              <a:t>universe </a:t>
            </a:r>
            <a:r>
              <a:rPr sz="2800" spc="-5" dirty="0">
                <a:latin typeface="Cambria Math" panose="02040503050406030204" pitchFamily="18" charset="0"/>
                <a:ea typeface="Cambria Math" panose="02040503050406030204" pitchFamily="18" charset="0"/>
                <a:cs typeface="Calibri"/>
              </a:rPr>
              <a:t>of </a:t>
            </a:r>
            <a:r>
              <a:rPr sz="2800" spc="-15" dirty="0">
                <a:latin typeface="Cambria Math" panose="02040503050406030204" pitchFamily="18" charset="0"/>
                <a:ea typeface="Cambria Math" panose="02040503050406030204" pitchFamily="18" charset="0"/>
                <a:cs typeface="Calibri"/>
              </a:rPr>
              <a:t>discourse </a:t>
            </a:r>
            <a:r>
              <a:rPr sz="2800" spc="-5" dirty="0">
                <a:latin typeface="Cambria Math" panose="02040503050406030204" pitchFamily="18" charset="0"/>
                <a:ea typeface="Cambria Math" panose="02040503050406030204" pitchFamily="18" charset="0"/>
                <a:cs typeface="Calibri"/>
              </a:rPr>
              <a:t>or </a:t>
            </a:r>
            <a:r>
              <a:rPr sz="2800" spc="-30" dirty="0">
                <a:latin typeface="Cambria Math" panose="02040503050406030204" pitchFamily="18" charset="0"/>
                <a:ea typeface="Cambria Math" panose="02040503050406030204" pitchFamily="18" charset="0"/>
                <a:cs typeface="Calibri"/>
              </a:rPr>
              <a:t>for </a:t>
            </a:r>
            <a:r>
              <a:rPr sz="2800" spc="-5" dirty="0">
                <a:latin typeface="Cambria Math" panose="02040503050406030204" pitchFamily="18" charset="0"/>
                <a:ea typeface="Cambria Math" panose="02040503050406030204" pitchFamily="18" charset="0"/>
                <a:cs typeface="Calibri"/>
              </a:rPr>
              <a:t>some </a:t>
            </a:r>
            <a:r>
              <a:rPr sz="2800" spc="-10" dirty="0">
                <a:latin typeface="Cambria Math" panose="02040503050406030204" pitchFamily="18" charset="0"/>
                <a:ea typeface="Cambria Math" panose="02040503050406030204" pitchFamily="18" charset="0"/>
                <a:cs typeface="Calibri"/>
              </a:rPr>
              <a:t>value(s)  </a:t>
            </a:r>
            <a:r>
              <a:rPr sz="2800" dirty="0">
                <a:latin typeface="Cambria Math" panose="02040503050406030204" pitchFamily="18" charset="0"/>
                <a:ea typeface="Cambria Math" panose="02040503050406030204" pitchFamily="18" charset="0"/>
                <a:cs typeface="Calibri"/>
              </a:rPr>
              <a:t>in </a:t>
            </a:r>
            <a:r>
              <a:rPr sz="2800" spc="-5" dirty="0">
                <a:latin typeface="Cambria Math" panose="02040503050406030204" pitchFamily="18" charset="0"/>
                <a:ea typeface="Cambria Math" panose="02040503050406030204" pitchFamily="18" charset="0"/>
                <a:cs typeface="Calibri"/>
              </a:rPr>
              <a:t>the </a:t>
            </a:r>
            <a:r>
              <a:rPr sz="2800" spc="-15" dirty="0">
                <a:latin typeface="Cambria Math" panose="02040503050406030204" pitchFamily="18" charset="0"/>
                <a:ea typeface="Cambria Math" panose="02040503050406030204" pitchFamily="18" charset="0"/>
                <a:cs typeface="Calibri"/>
              </a:rPr>
              <a:t>universe </a:t>
            </a:r>
            <a:r>
              <a:rPr sz="2800" dirty="0">
                <a:latin typeface="Cambria Math" panose="02040503050406030204" pitchFamily="18" charset="0"/>
                <a:ea typeface="Cambria Math" panose="02040503050406030204" pitchFamily="18" charset="0"/>
                <a:cs typeface="Calibri"/>
              </a:rPr>
              <a:t>of</a:t>
            </a:r>
            <a:r>
              <a:rPr sz="2800" spc="15" dirty="0">
                <a:latin typeface="Cambria Math" panose="02040503050406030204" pitchFamily="18" charset="0"/>
                <a:ea typeface="Cambria Math" panose="02040503050406030204" pitchFamily="18" charset="0"/>
                <a:cs typeface="Calibri"/>
              </a:rPr>
              <a:t> </a:t>
            </a:r>
            <a:r>
              <a:rPr sz="2800" spc="-15" dirty="0">
                <a:latin typeface="Cambria Math" panose="02040503050406030204" pitchFamily="18" charset="0"/>
                <a:ea typeface="Cambria Math" panose="02040503050406030204" pitchFamily="18" charset="0"/>
                <a:cs typeface="Calibri"/>
              </a:rPr>
              <a:t>discourse</a:t>
            </a:r>
            <a:endParaRPr sz="2800" dirty="0">
              <a:latin typeface="Cambria Math" panose="02040503050406030204" pitchFamily="18" charset="0"/>
              <a:ea typeface="Cambria Math" panose="02040503050406030204" pitchFamily="18" charset="0"/>
              <a:cs typeface="Calibri"/>
            </a:endParaRPr>
          </a:p>
          <a:p>
            <a:pPr marL="355600" marR="654685" indent="-342900" algn="just">
              <a:lnSpc>
                <a:spcPts val="3460"/>
              </a:lnSpc>
              <a:spcBef>
                <a:spcPts val="815"/>
              </a:spcBef>
              <a:buFont typeface="Arial"/>
              <a:buChar char="•"/>
              <a:tabLst>
                <a:tab pos="354965" algn="l"/>
                <a:tab pos="355600" algn="l"/>
              </a:tabLst>
            </a:pPr>
            <a:r>
              <a:rPr sz="2800" dirty="0">
                <a:latin typeface="Cambria Math" panose="02040503050406030204" pitchFamily="18" charset="0"/>
                <a:ea typeface="Cambria Math" panose="02040503050406030204" pitchFamily="18" charset="0"/>
                <a:cs typeface="Calibri"/>
              </a:rPr>
              <a:t>A </a:t>
            </a:r>
            <a:r>
              <a:rPr sz="2800" spc="-10" dirty="0">
                <a:solidFill>
                  <a:srgbClr val="FF0000"/>
                </a:solidFill>
                <a:latin typeface="Cambria Math" panose="02040503050406030204" pitchFamily="18" charset="0"/>
                <a:ea typeface="Cambria Math" panose="02040503050406030204" pitchFamily="18" charset="0"/>
                <a:cs typeface="Calibri"/>
              </a:rPr>
              <a:t>quantifier </a:t>
            </a:r>
            <a:r>
              <a:rPr sz="2800" dirty="0">
                <a:latin typeface="Cambria Math" panose="02040503050406030204" pitchFamily="18" charset="0"/>
                <a:ea typeface="Cambria Math" panose="02040503050406030204" pitchFamily="18" charset="0"/>
                <a:cs typeface="Calibri"/>
              </a:rPr>
              <a:t>is </a:t>
            </a:r>
            <a:r>
              <a:rPr sz="2800" spc="-25" dirty="0">
                <a:solidFill>
                  <a:schemeClr val="accent2">
                    <a:lumMod val="50000"/>
                  </a:schemeClr>
                </a:solidFill>
                <a:latin typeface="Cambria Math" panose="02040503050406030204" pitchFamily="18" charset="0"/>
                <a:ea typeface="Cambria Math" panose="02040503050406030204" pitchFamily="18" charset="0"/>
                <a:cs typeface="Calibri"/>
              </a:rPr>
              <a:t>“an </a:t>
            </a:r>
            <a:r>
              <a:rPr sz="2800" spc="-20" dirty="0">
                <a:solidFill>
                  <a:schemeClr val="accent2">
                    <a:lumMod val="50000"/>
                  </a:schemeClr>
                </a:solidFill>
                <a:latin typeface="Cambria Math" panose="02040503050406030204" pitchFamily="18" charset="0"/>
                <a:ea typeface="Cambria Math" panose="02040503050406030204" pitchFamily="18" charset="0"/>
                <a:cs typeface="Calibri"/>
              </a:rPr>
              <a:t>operator </a:t>
            </a:r>
            <a:r>
              <a:rPr sz="2800" spc="-5" dirty="0">
                <a:solidFill>
                  <a:schemeClr val="accent2">
                    <a:lumMod val="50000"/>
                  </a:schemeClr>
                </a:solidFill>
                <a:latin typeface="Cambria Math" panose="02040503050406030204" pitchFamily="18" charset="0"/>
                <a:ea typeface="Cambria Math" panose="02040503050406030204" pitchFamily="18" charset="0"/>
                <a:cs typeface="Calibri"/>
              </a:rPr>
              <a:t>that limits </a:t>
            </a:r>
            <a:r>
              <a:rPr sz="2800" dirty="0">
                <a:solidFill>
                  <a:schemeClr val="accent2">
                    <a:lumMod val="50000"/>
                  </a:schemeClr>
                </a:solidFill>
                <a:latin typeface="Cambria Math" panose="02040503050406030204" pitchFamily="18" charset="0"/>
                <a:ea typeface="Cambria Math" panose="02040503050406030204" pitchFamily="18" charset="0"/>
                <a:cs typeface="Calibri"/>
              </a:rPr>
              <a:t>the  </a:t>
            </a:r>
            <a:r>
              <a:rPr sz="2800" spc="-10" dirty="0">
                <a:solidFill>
                  <a:schemeClr val="accent2">
                    <a:lumMod val="50000"/>
                  </a:schemeClr>
                </a:solidFill>
                <a:latin typeface="Cambria Math" panose="02040503050406030204" pitchFamily="18" charset="0"/>
                <a:ea typeface="Cambria Math" panose="02040503050406030204" pitchFamily="18" charset="0"/>
                <a:cs typeface="Calibri"/>
              </a:rPr>
              <a:t>variables </a:t>
            </a:r>
            <a:r>
              <a:rPr sz="2800" spc="-5" dirty="0">
                <a:solidFill>
                  <a:schemeClr val="accent2">
                    <a:lumMod val="50000"/>
                  </a:schemeClr>
                </a:solidFill>
                <a:latin typeface="Cambria Math" panose="02040503050406030204" pitchFamily="18" charset="0"/>
                <a:ea typeface="Cambria Math" panose="02040503050406030204" pitchFamily="18" charset="0"/>
                <a:cs typeface="Calibri"/>
              </a:rPr>
              <a:t>of </a:t>
            </a:r>
            <a:r>
              <a:rPr sz="2800" dirty="0">
                <a:solidFill>
                  <a:schemeClr val="accent2">
                    <a:lumMod val="50000"/>
                  </a:schemeClr>
                </a:solidFill>
                <a:latin typeface="Cambria Math" panose="02040503050406030204" pitchFamily="18" charset="0"/>
                <a:ea typeface="Cambria Math" panose="02040503050406030204" pitchFamily="18" charset="0"/>
                <a:cs typeface="Calibri"/>
              </a:rPr>
              <a:t>a</a:t>
            </a:r>
            <a:r>
              <a:rPr lang="en-US" sz="2800" dirty="0">
                <a:solidFill>
                  <a:schemeClr val="accent2">
                    <a:lumMod val="50000"/>
                  </a:schemeClr>
                </a:solidFill>
                <a:latin typeface="Cambria Math" panose="02040503050406030204" pitchFamily="18" charset="0"/>
                <a:ea typeface="Cambria Math" panose="02040503050406030204" pitchFamily="18" charset="0"/>
                <a:cs typeface="Calibri"/>
              </a:rPr>
              <a:t> </a:t>
            </a:r>
            <a:r>
              <a:rPr sz="2800" spc="-10" dirty="0">
                <a:solidFill>
                  <a:schemeClr val="accent2">
                    <a:lumMod val="50000"/>
                  </a:schemeClr>
                </a:solidFill>
                <a:latin typeface="Cambria Math" panose="02040503050406030204" pitchFamily="18" charset="0"/>
                <a:ea typeface="Cambria Math" panose="02040503050406030204" pitchFamily="18" charset="0"/>
                <a:cs typeface="Calibri"/>
              </a:rPr>
              <a:t>proposition”</a:t>
            </a:r>
            <a:endParaRPr sz="2800" dirty="0">
              <a:solidFill>
                <a:schemeClr val="accent2">
                  <a:lumMod val="50000"/>
                </a:schemeClr>
              </a:solidFill>
              <a:latin typeface="Cambria Math" panose="02040503050406030204" pitchFamily="18" charset="0"/>
              <a:ea typeface="Cambria Math" panose="02040503050406030204" pitchFamily="18" charset="0"/>
              <a:cs typeface="Calibri"/>
            </a:endParaRPr>
          </a:p>
          <a:p>
            <a:pPr marL="355600" indent="-342900" algn="just">
              <a:lnSpc>
                <a:spcPts val="3650"/>
              </a:lnSpc>
              <a:spcBef>
                <a:spcPts val="330"/>
              </a:spcBef>
              <a:buFont typeface="Arial"/>
              <a:buChar char="•"/>
              <a:tabLst>
                <a:tab pos="354965" algn="l"/>
                <a:tab pos="355600" algn="l"/>
              </a:tabLst>
            </a:pPr>
            <a:r>
              <a:rPr sz="2800" spc="-10" dirty="0">
                <a:solidFill>
                  <a:schemeClr val="accent2">
                    <a:lumMod val="50000"/>
                  </a:schemeClr>
                </a:solidFill>
                <a:latin typeface="Cambria Math" panose="02040503050406030204" pitchFamily="18" charset="0"/>
                <a:ea typeface="Cambria Math" panose="02040503050406030204" pitchFamily="18" charset="0"/>
                <a:cs typeface="Calibri"/>
              </a:rPr>
              <a:t>Area </a:t>
            </a:r>
            <a:r>
              <a:rPr sz="2800" dirty="0">
                <a:solidFill>
                  <a:schemeClr val="accent2">
                    <a:lumMod val="50000"/>
                  </a:schemeClr>
                </a:solidFill>
                <a:latin typeface="Cambria Math" panose="02040503050406030204" pitchFamily="18" charset="0"/>
                <a:ea typeface="Cambria Math" panose="02040503050406030204" pitchFamily="18" charset="0"/>
                <a:cs typeface="Calibri"/>
              </a:rPr>
              <a:t>of logic </a:t>
            </a:r>
            <a:r>
              <a:rPr sz="2800" spc="-5" dirty="0">
                <a:solidFill>
                  <a:schemeClr val="accent2">
                    <a:lumMod val="50000"/>
                  </a:schemeClr>
                </a:solidFill>
                <a:latin typeface="Cambria Math" panose="02040503050406030204" pitchFamily="18" charset="0"/>
                <a:ea typeface="Cambria Math" panose="02040503050406030204" pitchFamily="18" charset="0"/>
                <a:cs typeface="Calibri"/>
              </a:rPr>
              <a:t>that deal </a:t>
            </a:r>
            <a:r>
              <a:rPr sz="2800" dirty="0">
                <a:solidFill>
                  <a:schemeClr val="accent2">
                    <a:lumMod val="50000"/>
                  </a:schemeClr>
                </a:solidFill>
                <a:latin typeface="Cambria Math" panose="02040503050406030204" pitchFamily="18" charset="0"/>
                <a:ea typeface="Cambria Math" panose="02040503050406030204" pitchFamily="18" charset="0"/>
                <a:cs typeface="Calibri"/>
              </a:rPr>
              <a:t>with </a:t>
            </a:r>
            <a:r>
              <a:rPr sz="2800" spc="-15" dirty="0">
                <a:solidFill>
                  <a:schemeClr val="accent2">
                    <a:lumMod val="50000"/>
                  </a:schemeClr>
                </a:solidFill>
                <a:latin typeface="Cambria Math" panose="02040503050406030204" pitchFamily="18" charset="0"/>
                <a:ea typeface="Cambria Math" panose="02040503050406030204" pitchFamily="18" charset="0"/>
                <a:cs typeface="Calibri"/>
              </a:rPr>
              <a:t>predicate</a:t>
            </a:r>
            <a:r>
              <a:rPr sz="2800" spc="25" dirty="0">
                <a:solidFill>
                  <a:schemeClr val="accent2">
                    <a:lumMod val="50000"/>
                  </a:schemeClr>
                </a:solidFill>
                <a:latin typeface="Cambria Math" panose="02040503050406030204" pitchFamily="18" charset="0"/>
                <a:ea typeface="Cambria Math" panose="02040503050406030204" pitchFamily="18" charset="0"/>
                <a:cs typeface="Calibri"/>
              </a:rPr>
              <a:t> </a:t>
            </a:r>
            <a:r>
              <a:rPr sz="2800" spc="-5" dirty="0">
                <a:solidFill>
                  <a:schemeClr val="accent2">
                    <a:lumMod val="50000"/>
                  </a:schemeClr>
                </a:solidFill>
                <a:latin typeface="Cambria Math" panose="02040503050406030204" pitchFamily="18" charset="0"/>
                <a:ea typeface="Cambria Math" panose="02040503050406030204" pitchFamily="18" charset="0"/>
                <a:cs typeface="Calibri"/>
              </a:rPr>
              <a:t>and</a:t>
            </a:r>
            <a:r>
              <a:rPr lang="en-US" sz="2800" spc="-5" dirty="0">
                <a:solidFill>
                  <a:schemeClr val="accent2">
                    <a:lumMod val="50000"/>
                  </a:schemeClr>
                </a:solidFill>
                <a:latin typeface="Cambria Math" panose="02040503050406030204" pitchFamily="18" charset="0"/>
                <a:ea typeface="Cambria Math" panose="02040503050406030204" pitchFamily="18" charset="0"/>
                <a:cs typeface="Calibri"/>
              </a:rPr>
              <a:t> </a:t>
            </a:r>
            <a:r>
              <a:rPr sz="2800" spc="-10" dirty="0">
                <a:solidFill>
                  <a:schemeClr val="accent2">
                    <a:lumMod val="50000"/>
                  </a:schemeClr>
                </a:solidFill>
                <a:latin typeface="Cambria Math" panose="02040503050406030204" pitchFamily="18" charset="0"/>
                <a:ea typeface="Cambria Math" panose="02040503050406030204" pitchFamily="18" charset="0"/>
                <a:cs typeface="Calibri"/>
              </a:rPr>
              <a:t>quantifiers</a:t>
            </a:r>
            <a:r>
              <a:rPr sz="2800" spc="-10" dirty="0">
                <a:latin typeface="Cambria Math" panose="02040503050406030204" pitchFamily="18" charset="0"/>
                <a:ea typeface="Cambria Math" panose="02040503050406030204" pitchFamily="18" charset="0"/>
                <a:cs typeface="Calibri"/>
              </a:rPr>
              <a:t> </a:t>
            </a:r>
            <a:r>
              <a:rPr sz="2800" dirty="0">
                <a:latin typeface="Cambria Math" panose="02040503050406030204" pitchFamily="18" charset="0"/>
                <a:ea typeface="Cambria Math" panose="02040503050406030204" pitchFamily="18" charset="0"/>
                <a:cs typeface="Calibri"/>
              </a:rPr>
              <a:t>is </a:t>
            </a:r>
            <a:r>
              <a:rPr sz="2800" spc="-10" dirty="0">
                <a:latin typeface="Cambria Math" panose="02040503050406030204" pitchFamily="18" charset="0"/>
                <a:ea typeface="Cambria Math" panose="02040503050406030204" pitchFamily="18" charset="0"/>
                <a:cs typeface="Calibri"/>
              </a:rPr>
              <a:t>called </a:t>
            </a:r>
            <a:r>
              <a:rPr sz="2800" spc="-15" dirty="0">
                <a:solidFill>
                  <a:srgbClr val="FF0000"/>
                </a:solidFill>
                <a:latin typeface="Cambria Math" panose="02040503050406030204" pitchFamily="18" charset="0"/>
                <a:ea typeface="Cambria Math" panose="02040503050406030204" pitchFamily="18" charset="0"/>
                <a:cs typeface="Calibri"/>
              </a:rPr>
              <a:t>predicate</a:t>
            </a:r>
            <a:r>
              <a:rPr sz="2800" dirty="0">
                <a:solidFill>
                  <a:srgbClr val="FF0000"/>
                </a:solidFill>
                <a:latin typeface="Cambria Math" panose="02040503050406030204" pitchFamily="18" charset="0"/>
                <a:ea typeface="Cambria Math" panose="02040503050406030204" pitchFamily="18" charset="0"/>
                <a:cs typeface="Calibri"/>
              </a:rPr>
              <a:t> </a:t>
            </a:r>
            <a:r>
              <a:rPr sz="2800" spc="-10" dirty="0">
                <a:solidFill>
                  <a:srgbClr val="FF0000"/>
                </a:solidFill>
                <a:latin typeface="Cambria Math" panose="02040503050406030204" pitchFamily="18" charset="0"/>
                <a:ea typeface="Cambria Math" panose="02040503050406030204" pitchFamily="18" charset="0"/>
                <a:cs typeface="Calibri"/>
              </a:rPr>
              <a:t>calculus.</a:t>
            </a:r>
            <a:endParaRPr sz="2800" dirty="0">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Content Placeholder 1"/>
          <p:cNvSpPr>
            <a:spLocks noGrp="1"/>
          </p:cNvSpPr>
          <p:nvPr>
            <p:ph idx="1"/>
          </p:nvPr>
        </p:nvSpPr>
        <p:spPr>
          <a:xfrm>
            <a:off x="1179576" y="1911096"/>
            <a:ext cx="9829800" cy="1881415"/>
          </a:xfrm>
        </p:spPr>
        <p:txBody>
          <a:bodyPr>
            <a:normAutofit/>
          </a:bodyPr>
          <a:lstStyle/>
          <a:p>
            <a:pPr lvl="1"/>
            <a:r>
              <a:rPr lang="en-US" sz="3600" b="1" i="1" dirty="0">
                <a:latin typeface="Cambria Math" panose="02040503050406030204" pitchFamily="18" charset="0"/>
                <a:ea typeface="Cambria Math" panose="02040503050406030204" pitchFamily="18" charset="0"/>
              </a:rPr>
              <a:t>Universal</a:t>
            </a:r>
            <a:r>
              <a:rPr lang="en-US" sz="3600" dirty="0">
                <a:latin typeface="Cambria Math" panose="02040503050406030204" pitchFamily="18" charset="0"/>
                <a:ea typeface="Cambria Math" panose="02040503050406030204" pitchFamily="18" charset="0"/>
              </a:rPr>
              <a:t> Quantifier</a:t>
            </a:r>
          </a:p>
          <a:p>
            <a:pPr marL="457200" lvl="1" indent="0">
              <a:buNone/>
            </a:pPr>
            <a:endParaRPr lang="en-US" sz="3600" dirty="0">
              <a:latin typeface="Cambria Math" panose="02040503050406030204" pitchFamily="18" charset="0"/>
              <a:ea typeface="Cambria Math" panose="02040503050406030204" pitchFamily="18" charset="0"/>
            </a:endParaRPr>
          </a:p>
          <a:p>
            <a:pPr lvl="1"/>
            <a:r>
              <a:rPr lang="en-US" sz="3600" b="1" i="1" dirty="0">
                <a:latin typeface="Cambria Math" panose="02040503050406030204" pitchFamily="18" charset="0"/>
                <a:ea typeface="Cambria Math" panose="02040503050406030204" pitchFamily="18" charset="0"/>
              </a:rPr>
              <a:t>Existential</a:t>
            </a:r>
            <a:r>
              <a:rPr lang="en-US" sz="3600" dirty="0">
                <a:latin typeface="Cambria Math" panose="02040503050406030204" pitchFamily="18" charset="0"/>
                <a:ea typeface="Cambria Math" panose="02040503050406030204" pitchFamily="18" charset="0"/>
              </a:rPr>
              <a:t> Quantifier</a:t>
            </a:r>
          </a:p>
          <a:p>
            <a:pPr lvl="1"/>
            <a:endParaRPr lang="en-US" sz="3600" dirty="0">
              <a:latin typeface="Cambria Math" panose="02040503050406030204" pitchFamily="18" charset="0"/>
              <a:ea typeface="Cambria Math" panose="02040503050406030204" pitchFamily="18" charset="0"/>
            </a:endParaRPr>
          </a:p>
        </p:txBody>
      </p:sp>
      <p:sp>
        <p:nvSpPr>
          <p:cNvPr id="1048664" name="Title 2"/>
          <p:cNvSpPr>
            <a:spLocks noGrp="1"/>
          </p:cNvSpPr>
          <p:nvPr>
            <p:ph type="title"/>
          </p:nvPr>
        </p:nvSpPr>
        <p:spPr>
          <a:xfrm>
            <a:off x="1179576" y="365125"/>
            <a:ext cx="7758684" cy="1325563"/>
          </a:xfrm>
        </p:spPr>
        <p:txBody>
          <a:bodyPr>
            <a:normAutofit/>
          </a:bodyPr>
          <a:lstStyle/>
          <a:p>
            <a:r>
              <a:rPr lang="en-US" dirty="0">
                <a:latin typeface="Cambria Math" panose="02040503050406030204" pitchFamily="18" charset="0"/>
                <a:ea typeface="Cambria Math" panose="02040503050406030204" pitchFamily="18" charset="0"/>
              </a:rPr>
              <a:t>Quantifiers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1270" y="469774"/>
            <a:ext cx="7465509" cy="690574"/>
          </a:xfrm>
          <a:prstGeom prst="rect">
            <a:avLst/>
          </a:prstGeom>
        </p:spPr>
        <p:txBody>
          <a:bodyPr vert="horz" wrap="square" lIns="0" tIns="13335" rIns="0" bIns="0" rtlCol="0" anchor="ctr">
            <a:spAutoFit/>
          </a:bodyPr>
          <a:lstStyle/>
          <a:p>
            <a:pPr marL="12700">
              <a:lnSpc>
                <a:spcPct val="100000"/>
              </a:lnSpc>
              <a:spcBef>
                <a:spcPts val="105"/>
              </a:spcBef>
            </a:pPr>
            <a:r>
              <a:rPr lang="en-US" spc="-10" dirty="0">
                <a:latin typeface="Cambria Math" panose="02040503050406030204" pitchFamily="18" charset="0"/>
                <a:ea typeface="Cambria Math" panose="02040503050406030204" pitchFamily="18" charset="0"/>
                <a:cs typeface="Calibri"/>
              </a:rPr>
              <a:t>Universal</a:t>
            </a:r>
            <a:r>
              <a:rPr lang="en-US" spc="-100" dirty="0">
                <a:latin typeface="Cambria Math" panose="02040503050406030204" pitchFamily="18" charset="0"/>
                <a:ea typeface="Cambria Math" panose="02040503050406030204" pitchFamily="18" charset="0"/>
                <a:cs typeface="Calibri"/>
              </a:rPr>
              <a:t> </a:t>
            </a:r>
            <a:r>
              <a:rPr lang="en-US" spc="-10" dirty="0">
                <a:latin typeface="Cambria Math" panose="02040503050406030204" pitchFamily="18" charset="0"/>
                <a:ea typeface="Cambria Math" panose="02040503050406030204" pitchFamily="18" charset="0"/>
                <a:cs typeface="Calibri"/>
              </a:rPr>
              <a:t>Quantifier </a:t>
            </a:r>
            <a:r>
              <a:rPr lang="en-US" sz="4400" dirty="0">
                <a:latin typeface="Cambria Math" panose="02040503050406030204" pitchFamily="18" charset="0"/>
                <a:ea typeface="Cambria Math" panose="02040503050406030204" pitchFamily="18" charset="0"/>
              </a:rPr>
              <a:t>… </a:t>
            </a:r>
            <a:r>
              <a:rPr lang="en-US" sz="3600" b="1" dirty="0">
                <a:solidFill>
                  <a:srgbClr val="00B050"/>
                </a:solidFill>
                <a:latin typeface="Cambria Math" panose="02040503050406030204" pitchFamily="18" charset="0"/>
                <a:ea typeface="Cambria Math" panose="02040503050406030204" pitchFamily="18" charset="0"/>
                <a:cs typeface="+mn-cs"/>
              </a:rPr>
              <a:t>∀</a:t>
            </a:r>
            <a:endParaRPr spc="-10" dirty="0">
              <a:latin typeface="Cambria Math" panose="02040503050406030204" pitchFamily="18" charset="0"/>
              <a:ea typeface="Cambria Math" panose="02040503050406030204" pitchFamily="18" charset="0"/>
              <a:cs typeface="Calibri"/>
            </a:endParaRPr>
          </a:p>
        </p:txBody>
      </p:sp>
      <p:sp>
        <p:nvSpPr>
          <p:cNvPr id="3" name="object 3"/>
          <p:cNvSpPr txBox="1"/>
          <p:nvPr/>
        </p:nvSpPr>
        <p:spPr>
          <a:xfrm>
            <a:off x="1061271" y="1739955"/>
            <a:ext cx="10419371" cy="3830151"/>
          </a:xfrm>
          <a:prstGeom prst="rect">
            <a:avLst/>
          </a:prstGeom>
        </p:spPr>
        <p:txBody>
          <a:bodyPr vert="horz" wrap="square" lIns="0" tIns="88265" rIns="0" bIns="0" rtlCol="0">
            <a:spAutoFit/>
          </a:bodyPr>
          <a:lstStyle/>
          <a:p>
            <a:pPr marL="355600" marR="5080" indent="-342900">
              <a:lnSpc>
                <a:spcPct val="80000"/>
              </a:lnSpc>
              <a:spcBef>
                <a:spcPts val="695"/>
              </a:spcBef>
              <a:buFont typeface="Arial"/>
              <a:buChar char="•"/>
              <a:tabLst>
                <a:tab pos="354965" algn="l"/>
                <a:tab pos="355600" algn="l"/>
              </a:tabLst>
            </a:pPr>
            <a:r>
              <a:rPr sz="3200" spc="-10" dirty="0">
                <a:latin typeface="Cambria Math" panose="02040503050406030204" pitchFamily="18" charset="0"/>
                <a:ea typeface="Cambria Math" panose="02040503050406030204" pitchFamily="18" charset="0"/>
                <a:cs typeface="Calibri"/>
              </a:rPr>
              <a:t>The </a:t>
            </a:r>
            <a:r>
              <a:rPr sz="3200" spc="-15" dirty="0">
                <a:latin typeface="Cambria Math" panose="02040503050406030204" pitchFamily="18" charset="0"/>
                <a:ea typeface="Cambria Math" panose="02040503050406030204" pitchFamily="18" charset="0"/>
                <a:cs typeface="Calibri"/>
              </a:rPr>
              <a:t>universal </a:t>
            </a:r>
            <a:r>
              <a:rPr sz="3200" spc="-10" dirty="0">
                <a:latin typeface="Cambria Math" panose="02040503050406030204" pitchFamily="18" charset="0"/>
                <a:ea typeface="Cambria Math" panose="02040503050406030204" pitchFamily="18" charset="0"/>
                <a:cs typeface="Calibri"/>
              </a:rPr>
              <a:t>quantification </a:t>
            </a:r>
            <a:r>
              <a:rPr sz="3200" spc="-5" dirty="0">
                <a:latin typeface="Cambria Math" panose="02040503050406030204" pitchFamily="18" charset="0"/>
                <a:ea typeface="Cambria Math" panose="02040503050406030204" pitchFamily="18" charset="0"/>
                <a:cs typeface="Calibri"/>
              </a:rPr>
              <a:t>of a </a:t>
            </a:r>
            <a:r>
              <a:rPr sz="3200" spc="-15" dirty="0">
                <a:latin typeface="Cambria Math" panose="02040503050406030204" pitchFamily="18" charset="0"/>
                <a:ea typeface="Cambria Math" panose="02040503050406030204" pitchFamily="18" charset="0"/>
                <a:cs typeface="Calibri"/>
              </a:rPr>
              <a:t>predicate </a:t>
            </a:r>
            <a:r>
              <a:rPr sz="3200" spc="-5" dirty="0">
                <a:latin typeface="Cambria Math" panose="02040503050406030204" pitchFamily="18" charset="0"/>
                <a:ea typeface="Cambria Math" panose="02040503050406030204" pitchFamily="18" charset="0"/>
                <a:cs typeface="Calibri"/>
              </a:rPr>
              <a:t>P(x) is the </a:t>
            </a:r>
            <a:r>
              <a:rPr sz="3200" spc="-10" dirty="0">
                <a:latin typeface="Cambria Math" panose="02040503050406030204" pitchFamily="18" charset="0"/>
                <a:ea typeface="Cambria Math" panose="02040503050406030204" pitchFamily="18" charset="0"/>
                <a:cs typeface="Calibri"/>
              </a:rPr>
              <a:t>proposition </a:t>
            </a:r>
            <a:endParaRPr lang="en-US" sz="3200" spc="-10" dirty="0">
              <a:latin typeface="Cambria Math" panose="02040503050406030204" pitchFamily="18" charset="0"/>
              <a:ea typeface="Cambria Math" panose="02040503050406030204" pitchFamily="18" charset="0"/>
              <a:cs typeface="Calibri"/>
            </a:endParaRPr>
          </a:p>
          <a:p>
            <a:pPr marL="12700" marR="5080">
              <a:lnSpc>
                <a:spcPct val="80000"/>
              </a:lnSpc>
              <a:spcBef>
                <a:spcPts val="695"/>
              </a:spcBef>
              <a:tabLst>
                <a:tab pos="354965" algn="l"/>
                <a:tab pos="355600" algn="l"/>
              </a:tabLst>
            </a:pPr>
            <a:endParaRPr lang="en-US" sz="3200" spc="-10" dirty="0">
              <a:latin typeface="Cambria Math" panose="02040503050406030204" pitchFamily="18" charset="0"/>
              <a:ea typeface="Cambria Math" panose="02040503050406030204" pitchFamily="18" charset="0"/>
              <a:cs typeface="Calibri"/>
            </a:endParaRPr>
          </a:p>
          <a:p>
            <a:pPr marL="12700" marR="5080">
              <a:lnSpc>
                <a:spcPct val="80000"/>
              </a:lnSpc>
              <a:spcBef>
                <a:spcPts val="695"/>
              </a:spcBef>
              <a:tabLst>
                <a:tab pos="354965" algn="l"/>
                <a:tab pos="355600" algn="l"/>
              </a:tabLst>
            </a:pPr>
            <a:r>
              <a:rPr sz="3200" spc="-10" dirty="0">
                <a:latin typeface="Cambria Math" panose="02040503050406030204" pitchFamily="18" charset="0"/>
                <a:ea typeface="Cambria Math" panose="02040503050406030204" pitchFamily="18" charset="0"/>
                <a:cs typeface="Calibri"/>
              </a:rPr>
              <a:t> “P(x) </a:t>
            </a:r>
            <a:r>
              <a:rPr sz="3200" spc="-5" dirty="0">
                <a:latin typeface="Cambria Math" panose="02040503050406030204" pitchFamily="18" charset="0"/>
                <a:ea typeface="Cambria Math" panose="02040503050406030204" pitchFamily="18" charset="0"/>
                <a:cs typeface="Calibri"/>
              </a:rPr>
              <a:t>is true </a:t>
            </a:r>
            <a:r>
              <a:rPr sz="3200" spc="-25" dirty="0">
                <a:latin typeface="Cambria Math" panose="02040503050406030204" pitchFamily="18" charset="0"/>
                <a:ea typeface="Cambria Math" panose="02040503050406030204" pitchFamily="18" charset="0"/>
                <a:cs typeface="Calibri"/>
              </a:rPr>
              <a:t>for </a:t>
            </a:r>
            <a:r>
              <a:rPr sz="3200" spc="-5" dirty="0">
                <a:solidFill>
                  <a:schemeClr val="accent1">
                    <a:lumMod val="75000"/>
                  </a:schemeClr>
                </a:solidFill>
                <a:latin typeface="Cambria Math" panose="02040503050406030204" pitchFamily="18" charset="0"/>
                <a:ea typeface="Cambria Math" panose="02040503050406030204" pitchFamily="18" charset="0"/>
                <a:cs typeface="Calibri"/>
              </a:rPr>
              <a:t>all </a:t>
            </a:r>
            <a:r>
              <a:rPr sz="3200" spc="-15" dirty="0">
                <a:solidFill>
                  <a:schemeClr val="accent1">
                    <a:lumMod val="75000"/>
                  </a:schemeClr>
                </a:solidFill>
                <a:latin typeface="Cambria Math" panose="02040503050406030204" pitchFamily="18" charset="0"/>
                <a:ea typeface="Cambria Math" panose="02040503050406030204" pitchFamily="18" charset="0"/>
                <a:cs typeface="Calibri"/>
              </a:rPr>
              <a:t>values </a:t>
            </a:r>
            <a:r>
              <a:rPr sz="3200" spc="-5" dirty="0">
                <a:solidFill>
                  <a:schemeClr val="accent1">
                    <a:lumMod val="75000"/>
                  </a:schemeClr>
                </a:solidFill>
                <a:latin typeface="Cambria Math" panose="02040503050406030204" pitchFamily="18" charset="0"/>
                <a:ea typeface="Cambria Math" panose="02040503050406030204" pitchFamily="18" charset="0"/>
                <a:cs typeface="Calibri"/>
              </a:rPr>
              <a:t>of x </a:t>
            </a:r>
            <a:r>
              <a:rPr sz="3200" spc="-5" dirty="0">
                <a:latin typeface="Cambria Math" panose="02040503050406030204" pitchFamily="18" charset="0"/>
                <a:ea typeface="Cambria Math" panose="02040503050406030204" pitchFamily="18" charset="0"/>
                <a:cs typeface="Calibri"/>
              </a:rPr>
              <a:t>in the </a:t>
            </a:r>
            <a:r>
              <a:rPr sz="3200" spc="-15" dirty="0">
                <a:latin typeface="Cambria Math" panose="02040503050406030204" pitchFamily="18" charset="0"/>
                <a:ea typeface="Cambria Math" panose="02040503050406030204" pitchFamily="18" charset="0"/>
                <a:cs typeface="Calibri"/>
              </a:rPr>
              <a:t>universe </a:t>
            </a:r>
            <a:r>
              <a:rPr sz="3200" spc="-5" dirty="0">
                <a:latin typeface="Cambria Math" panose="02040503050406030204" pitchFamily="18" charset="0"/>
                <a:ea typeface="Cambria Math" panose="02040503050406030204" pitchFamily="18" charset="0"/>
                <a:cs typeface="Calibri"/>
              </a:rPr>
              <a:t>of </a:t>
            </a:r>
            <a:r>
              <a:rPr sz="3200" spc="-15" dirty="0">
                <a:latin typeface="Cambria Math" panose="02040503050406030204" pitchFamily="18" charset="0"/>
                <a:ea typeface="Cambria Math" panose="02040503050406030204" pitchFamily="18" charset="0"/>
                <a:cs typeface="Calibri"/>
              </a:rPr>
              <a:t>discourse  </a:t>
            </a:r>
            <a:r>
              <a:rPr sz="3200" spc="-10" dirty="0">
                <a:latin typeface="Cambria Math" panose="02040503050406030204" pitchFamily="18" charset="0"/>
                <a:ea typeface="Cambria Math" panose="02040503050406030204" pitchFamily="18" charset="0"/>
                <a:cs typeface="Calibri"/>
              </a:rPr>
              <a:t>(domain)”</a:t>
            </a:r>
            <a:endParaRPr lang="en-US" sz="3200" spc="-10" dirty="0">
              <a:latin typeface="Cambria Math" panose="02040503050406030204" pitchFamily="18" charset="0"/>
              <a:ea typeface="Cambria Math" panose="02040503050406030204" pitchFamily="18" charset="0"/>
              <a:cs typeface="Calibri"/>
            </a:endParaRPr>
          </a:p>
          <a:p>
            <a:pPr marL="12700" marR="5080">
              <a:lnSpc>
                <a:spcPct val="80000"/>
              </a:lnSpc>
              <a:spcBef>
                <a:spcPts val="695"/>
              </a:spcBef>
              <a:tabLst>
                <a:tab pos="354965" algn="l"/>
                <a:tab pos="355600" algn="l"/>
              </a:tabLst>
            </a:pPr>
            <a:endParaRPr sz="3200" dirty="0">
              <a:latin typeface="Cambria Math" panose="02040503050406030204" pitchFamily="18" charset="0"/>
              <a:ea typeface="Cambria Math" panose="02040503050406030204" pitchFamily="18" charset="0"/>
              <a:cs typeface="Calibri"/>
            </a:endParaRPr>
          </a:p>
          <a:p>
            <a:pPr marL="355600" indent="-342900">
              <a:buFont typeface="Arial"/>
              <a:buChar char="•"/>
              <a:tabLst>
                <a:tab pos="354965" algn="l"/>
                <a:tab pos="355600" algn="l"/>
              </a:tabLst>
            </a:pPr>
            <a:r>
              <a:rPr sz="3200" spc="-10" dirty="0">
                <a:latin typeface="Cambria Math" panose="02040503050406030204" pitchFamily="18" charset="0"/>
                <a:ea typeface="Cambria Math" panose="02040503050406030204" pitchFamily="18" charset="0"/>
                <a:cs typeface="Calibri"/>
              </a:rPr>
              <a:t>notation </a:t>
            </a:r>
            <a:r>
              <a:rPr sz="3200" b="1" spc="-5" dirty="0">
                <a:solidFill>
                  <a:schemeClr val="accent1">
                    <a:lumMod val="75000"/>
                  </a:schemeClr>
                </a:solidFill>
                <a:latin typeface="Cambria Math" panose="02040503050406030204" pitchFamily="18" charset="0"/>
                <a:ea typeface="Cambria Math" panose="02040503050406030204" pitchFamily="18" charset="0"/>
                <a:cs typeface="Cambria Math"/>
              </a:rPr>
              <a:t>∀</a:t>
            </a:r>
            <a:r>
              <a:rPr sz="3200" b="1" spc="-5" dirty="0">
                <a:solidFill>
                  <a:schemeClr val="accent1">
                    <a:lumMod val="75000"/>
                  </a:schemeClr>
                </a:solidFill>
                <a:latin typeface="Cambria Math" panose="02040503050406030204" pitchFamily="18" charset="0"/>
                <a:ea typeface="Cambria Math" panose="02040503050406030204" pitchFamily="18" charset="0"/>
                <a:cs typeface="Calibri"/>
              </a:rPr>
              <a:t>x P(x)</a:t>
            </a:r>
            <a:r>
              <a:rPr sz="3200" spc="-5" dirty="0">
                <a:latin typeface="Cambria Math" panose="02040503050406030204" pitchFamily="18" charset="0"/>
                <a:ea typeface="Cambria Math" panose="02040503050406030204" pitchFamily="18" charset="0"/>
                <a:cs typeface="Calibri"/>
              </a:rPr>
              <a:t> which </a:t>
            </a:r>
            <a:r>
              <a:rPr sz="3200" spc="-15" dirty="0">
                <a:latin typeface="Cambria Math" panose="02040503050406030204" pitchFamily="18" charset="0"/>
                <a:ea typeface="Cambria Math" panose="02040503050406030204" pitchFamily="18" charset="0"/>
                <a:cs typeface="Calibri"/>
              </a:rPr>
              <a:t>can </a:t>
            </a:r>
            <a:r>
              <a:rPr sz="3200" spc="-5" dirty="0">
                <a:latin typeface="Cambria Math" panose="02040503050406030204" pitchFamily="18" charset="0"/>
                <a:ea typeface="Cambria Math" panose="02040503050406030204" pitchFamily="18" charset="0"/>
                <a:cs typeface="Calibri"/>
              </a:rPr>
              <a:t>be </a:t>
            </a:r>
            <a:r>
              <a:rPr sz="3200" spc="-10" dirty="0">
                <a:latin typeface="Cambria Math" panose="02040503050406030204" pitchFamily="18" charset="0"/>
                <a:ea typeface="Cambria Math" panose="02040503050406030204" pitchFamily="18" charset="0"/>
                <a:cs typeface="Calibri"/>
              </a:rPr>
              <a:t>read </a:t>
            </a:r>
            <a:r>
              <a:rPr sz="3200" b="1" spc="-20" dirty="0">
                <a:solidFill>
                  <a:schemeClr val="accent1">
                    <a:lumMod val="75000"/>
                  </a:schemeClr>
                </a:solidFill>
                <a:latin typeface="Cambria Math" panose="02040503050406030204" pitchFamily="18" charset="0"/>
                <a:ea typeface="Cambria Math" panose="02040503050406030204" pitchFamily="18" charset="0"/>
                <a:cs typeface="Calibri"/>
              </a:rPr>
              <a:t>“for </a:t>
            </a:r>
            <a:r>
              <a:rPr sz="3200" b="1" spc="-5" dirty="0">
                <a:solidFill>
                  <a:schemeClr val="accent1">
                    <a:lumMod val="75000"/>
                  </a:schemeClr>
                </a:solidFill>
                <a:latin typeface="Cambria Math" panose="02040503050406030204" pitchFamily="18" charset="0"/>
                <a:ea typeface="Cambria Math" panose="02040503050406030204" pitchFamily="18" charset="0"/>
                <a:cs typeface="Calibri"/>
              </a:rPr>
              <a:t>all</a:t>
            </a:r>
            <a:r>
              <a:rPr sz="3200" b="1" spc="100" dirty="0">
                <a:solidFill>
                  <a:schemeClr val="accent1">
                    <a:lumMod val="75000"/>
                  </a:schemeClr>
                </a:solidFill>
                <a:latin typeface="Cambria Math" panose="02040503050406030204" pitchFamily="18" charset="0"/>
                <a:ea typeface="Cambria Math" panose="02040503050406030204" pitchFamily="18" charset="0"/>
                <a:cs typeface="Calibri"/>
              </a:rPr>
              <a:t> </a:t>
            </a:r>
            <a:r>
              <a:rPr sz="3200" b="1" spc="15" dirty="0">
                <a:solidFill>
                  <a:schemeClr val="accent1">
                    <a:lumMod val="75000"/>
                  </a:schemeClr>
                </a:solidFill>
                <a:latin typeface="Cambria Math" panose="02040503050406030204" pitchFamily="18" charset="0"/>
                <a:ea typeface="Cambria Math" panose="02040503050406030204" pitchFamily="18" charset="0"/>
                <a:cs typeface="Calibri"/>
              </a:rPr>
              <a:t>x”</a:t>
            </a:r>
            <a:endParaRPr sz="3200" b="1" dirty="0">
              <a:solidFill>
                <a:schemeClr val="accent1">
                  <a:lumMod val="75000"/>
                </a:schemeClr>
              </a:solidFill>
              <a:latin typeface="Cambria Math" panose="02040503050406030204" pitchFamily="18" charset="0"/>
              <a:ea typeface="Cambria Math" panose="02040503050406030204" pitchFamily="18" charset="0"/>
              <a:cs typeface="Calibri"/>
            </a:endParaRPr>
          </a:p>
          <a:p>
            <a:pPr>
              <a:spcBef>
                <a:spcPts val="10"/>
              </a:spcBef>
            </a:pPr>
            <a:endParaRPr sz="3600" dirty="0">
              <a:latin typeface="Cambria Math" panose="02040503050406030204" pitchFamily="18" charset="0"/>
              <a:ea typeface="Cambria Math" panose="02040503050406030204" pitchFamily="18" charset="0"/>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9246" y="281493"/>
            <a:ext cx="9601196" cy="769395"/>
          </a:xfrm>
        </p:spPr>
        <p:txBody>
          <a:bodyPr>
            <a:normAutofit/>
          </a:bodyPr>
          <a:lstStyle/>
          <a:p>
            <a:r>
              <a:rPr lang="en-US" dirty="0">
                <a:latin typeface="Cambria Math" panose="02040503050406030204" pitchFamily="18" charset="0"/>
                <a:ea typeface="Cambria Math" panose="02040503050406030204" pitchFamily="18" charset="0"/>
              </a:rPr>
              <a:t>Universal Quantifiers </a:t>
            </a:r>
            <a:r>
              <a:rPr lang="en-US" sz="4800" dirty="0">
                <a:latin typeface="Cambria Math" panose="02040503050406030204" pitchFamily="18" charset="0"/>
                <a:ea typeface="Cambria Math" panose="02040503050406030204" pitchFamily="18" charset="0"/>
              </a:rPr>
              <a:t>… </a:t>
            </a:r>
            <a:r>
              <a:rPr lang="en-US" sz="4000" b="1" dirty="0">
                <a:solidFill>
                  <a:srgbClr val="00B050"/>
                </a:solidFill>
                <a:latin typeface="Cambria Math" panose="02040503050406030204" pitchFamily="18" charset="0"/>
                <a:ea typeface="Cambria Math" panose="02040503050406030204" pitchFamily="18" charset="0"/>
                <a:cs typeface="+mn-cs"/>
              </a:rPr>
              <a:t>∀</a:t>
            </a:r>
            <a:endParaRPr lang="en-US" sz="3600" b="1" dirty="0">
              <a:solidFill>
                <a:srgbClr val="00B050"/>
              </a:solidFill>
              <a:latin typeface="Cambria Math" panose="02040503050406030204" pitchFamily="18" charset="0"/>
              <a:ea typeface="Cambria Math" panose="02040503050406030204" pitchFamily="18" charset="0"/>
              <a:cs typeface="+mn-cs"/>
            </a:endParaRPr>
          </a:p>
        </p:txBody>
      </p:sp>
      <p:sp>
        <p:nvSpPr>
          <p:cNvPr id="5" name="Content Placeholder 2">
            <a:extLst>
              <a:ext uri="{FF2B5EF4-FFF2-40B4-BE49-F238E27FC236}">
                <a16:creationId xmlns:a16="http://schemas.microsoft.com/office/drawing/2014/main" id="{9EE155D5-9D92-AA4C-AEFB-586C784CF2FA}"/>
              </a:ext>
            </a:extLst>
          </p:cNvPr>
          <p:cNvSpPr txBox="1">
            <a:spLocks/>
          </p:cNvSpPr>
          <p:nvPr/>
        </p:nvSpPr>
        <p:spPr>
          <a:xfrm>
            <a:off x="650228" y="1457960"/>
            <a:ext cx="10693508" cy="29311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3200" dirty="0">
                <a:solidFill>
                  <a:schemeClr val="bg2">
                    <a:lumMod val="25000"/>
                  </a:schemeClr>
                </a:solidFill>
                <a:latin typeface="Cambria Math" panose="02040503050406030204" pitchFamily="18" charset="0"/>
                <a:ea typeface="Cambria Math" panose="02040503050406030204" pitchFamily="18" charset="0"/>
              </a:rPr>
              <a:t>If the universe of discourse is finite i.e., </a:t>
            </a:r>
          </a:p>
          <a:p>
            <a:pPr marL="0" indent="0" algn="ctr">
              <a:buFont typeface="Arial" panose="020B0604020202020204" pitchFamily="34" charset="0"/>
              <a:buNone/>
            </a:pPr>
            <a:r>
              <a:rPr lang="en-US" sz="3200" dirty="0">
                <a:solidFill>
                  <a:srgbClr val="FF0000"/>
                </a:solidFill>
                <a:latin typeface="Cambria Math" panose="02040503050406030204" pitchFamily="18" charset="0"/>
                <a:ea typeface="Cambria Math" panose="02040503050406030204" pitchFamily="18" charset="0"/>
              </a:rPr>
              <a:t>n ∈ {n</a:t>
            </a:r>
            <a:r>
              <a:rPr lang="en-US" sz="3200" baseline="-25000" dirty="0">
                <a:solidFill>
                  <a:srgbClr val="FF0000"/>
                </a:solidFill>
                <a:latin typeface="Cambria Math" panose="02040503050406030204" pitchFamily="18" charset="0"/>
                <a:ea typeface="Cambria Math" panose="02040503050406030204" pitchFamily="18" charset="0"/>
              </a:rPr>
              <a:t>1</a:t>
            </a:r>
            <a:r>
              <a:rPr lang="en-US" sz="3200" dirty="0">
                <a:solidFill>
                  <a:srgbClr val="FF0000"/>
                </a:solidFill>
                <a:latin typeface="Cambria Math" panose="02040503050406030204" pitchFamily="18" charset="0"/>
                <a:ea typeface="Cambria Math" panose="02040503050406030204" pitchFamily="18" charset="0"/>
              </a:rPr>
              <a:t>, n</a:t>
            </a:r>
            <a:r>
              <a:rPr lang="en-US" sz="3200" baseline="-25000" dirty="0">
                <a:solidFill>
                  <a:srgbClr val="FF0000"/>
                </a:solidFill>
                <a:latin typeface="Cambria Math" panose="02040503050406030204" pitchFamily="18" charset="0"/>
                <a:ea typeface="Cambria Math" panose="02040503050406030204" pitchFamily="18" charset="0"/>
              </a:rPr>
              <a:t>2</a:t>
            </a:r>
            <a:r>
              <a:rPr lang="en-US" sz="3200" dirty="0">
                <a:solidFill>
                  <a:srgbClr val="FF0000"/>
                </a:solidFill>
                <a:latin typeface="Cambria Math" panose="02040503050406030204" pitchFamily="18" charset="0"/>
                <a:ea typeface="Cambria Math" panose="02040503050406030204" pitchFamily="18" charset="0"/>
              </a:rPr>
              <a:t>, n</a:t>
            </a:r>
            <a:r>
              <a:rPr lang="en-US" sz="3200" baseline="-25000" dirty="0">
                <a:solidFill>
                  <a:srgbClr val="FF0000"/>
                </a:solidFill>
                <a:latin typeface="Cambria Math" panose="02040503050406030204" pitchFamily="18" charset="0"/>
                <a:ea typeface="Cambria Math" panose="02040503050406030204" pitchFamily="18" charset="0"/>
              </a:rPr>
              <a:t>3</a:t>
            </a:r>
            <a:r>
              <a:rPr lang="en-US" sz="3200" dirty="0">
                <a:solidFill>
                  <a:srgbClr val="FF0000"/>
                </a:solidFill>
                <a:latin typeface="Cambria Math" panose="02040503050406030204" pitchFamily="18" charset="0"/>
                <a:ea typeface="Cambria Math" panose="02040503050406030204" pitchFamily="18" charset="0"/>
              </a:rPr>
              <a:t>, …., </a:t>
            </a:r>
            <a:r>
              <a:rPr lang="en-US" sz="3200" dirty="0" err="1">
                <a:solidFill>
                  <a:srgbClr val="FF0000"/>
                </a:solidFill>
                <a:latin typeface="Cambria Math" panose="02040503050406030204" pitchFamily="18" charset="0"/>
                <a:ea typeface="Cambria Math" panose="02040503050406030204" pitchFamily="18" charset="0"/>
              </a:rPr>
              <a:t>n</a:t>
            </a:r>
            <a:r>
              <a:rPr lang="en-US" sz="3200" baseline="-25000" dirty="0" err="1">
                <a:solidFill>
                  <a:srgbClr val="FF0000"/>
                </a:solidFill>
                <a:latin typeface="Cambria Math" panose="02040503050406030204" pitchFamily="18" charset="0"/>
                <a:ea typeface="Cambria Math" panose="02040503050406030204" pitchFamily="18" charset="0"/>
              </a:rPr>
              <a:t>k</a:t>
            </a:r>
            <a:r>
              <a:rPr lang="en-US" sz="3200" dirty="0">
                <a:solidFill>
                  <a:srgbClr val="FF0000"/>
                </a:solidFill>
                <a:latin typeface="Cambria Math" panose="02040503050406030204" pitchFamily="18" charset="0"/>
                <a:ea typeface="Cambria Math" panose="02040503050406030204" pitchFamily="18" charset="0"/>
              </a:rPr>
              <a:t>} </a:t>
            </a:r>
          </a:p>
          <a:p>
            <a:pPr marL="0" indent="0" algn="ctr">
              <a:buFont typeface="Arial" panose="020B0604020202020204" pitchFamily="34" charset="0"/>
              <a:buNone/>
            </a:pPr>
            <a:endParaRPr lang="en-US" sz="3200" dirty="0">
              <a:latin typeface="Cambria Math" panose="02040503050406030204" pitchFamily="18" charset="0"/>
              <a:ea typeface="Cambria Math" panose="02040503050406030204" pitchFamily="18" charset="0"/>
            </a:endParaRPr>
          </a:p>
          <a:p>
            <a:pPr marL="0" indent="0" algn="just">
              <a:buFont typeface="Arial" panose="020B0604020202020204" pitchFamily="34" charset="0"/>
              <a:buNone/>
            </a:pPr>
            <a:r>
              <a:rPr lang="en-US" sz="3200" dirty="0">
                <a:latin typeface="Cambria Math" panose="02040503050406030204" pitchFamily="18" charset="0"/>
                <a:ea typeface="Cambria Math" panose="02040503050406030204" pitchFamily="18" charset="0"/>
              </a:rPr>
              <a:t>then the universal quantification is nothing but the </a:t>
            </a:r>
            <a:r>
              <a:rPr lang="en-US" sz="3200" dirty="0">
                <a:solidFill>
                  <a:srgbClr val="FF0000"/>
                </a:solidFill>
                <a:latin typeface="Cambria Math" panose="02040503050406030204" pitchFamily="18" charset="0"/>
                <a:ea typeface="Cambria Math" panose="02040503050406030204" pitchFamily="18" charset="0"/>
              </a:rPr>
              <a:t>conjunction of P(x) </a:t>
            </a:r>
            <a:r>
              <a:rPr lang="en-US" sz="3200" dirty="0">
                <a:latin typeface="Cambria Math" panose="02040503050406030204" pitchFamily="18" charset="0"/>
                <a:ea typeface="Cambria Math" panose="02040503050406030204" pitchFamily="18" charset="0"/>
              </a:rPr>
              <a:t>for all values of x.  </a:t>
            </a:r>
            <a:endParaRPr lang="en-US" sz="32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6" name="Content Placeholder 2">
            <a:extLst>
              <a:ext uri="{FF2B5EF4-FFF2-40B4-BE49-F238E27FC236}">
                <a16:creationId xmlns:a16="http://schemas.microsoft.com/office/drawing/2014/main" id="{2704B1A0-9C3B-E523-FC94-7D2E791DA4FF}"/>
              </a:ext>
            </a:extLst>
          </p:cNvPr>
          <p:cNvSpPr txBox="1">
            <a:spLocks/>
          </p:cNvSpPr>
          <p:nvPr/>
        </p:nvSpPr>
        <p:spPr>
          <a:xfrm>
            <a:off x="749246" y="4663776"/>
            <a:ext cx="10693508" cy="14725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3600" b="1" dirty="0">
                <a:solidFill>
                  <a:srgbClr val="00B050"/>
                </a:solidFill>
                <a:latin typeface="Cambria Math" panose="02040503050406030204" pitchFamily="18" charset="0"/>
                <a:ea typeface="Cambria Math" panose="02040503050406030204" pitchFamily="18" charset="0"/>
              </a:rPr>
              <a:t>∀</a:t>
            </a:r>
            <a:r>
              <a:rPr lang="en-US" sz="3600" b="1" dirty="0" err="1">
                <a:solidFill>
                  <a:srgbClr val="00B050"/>
                </a:solidFill>
                <a:latin typeface="Cambria Math" panose="02040503050406030204" pitchFamily="18" charset="0"/>
                <a:ea typeface="Cambria Math" panose="02040503050406030204" pitchFamily="18" charset="0"/>
              </a:rPr>
              <a:t>xP</a:t>
            </a:r>
            <a:r>
              <a:rPr lang="en-US" sz="3600" b="1" dirty="0">
                <a:solidFill>
                  <a:srgbClr val="00B050"/>
                </a:solidFill>
                <a:latin typeface="Cambria Math" panose="02040503050406030204" pitchFamily="18" charset="0"/>
                <a:ea typeface="Cambria Math" panose="02040503050406030204" pitchFamily="18" charset="0"/>
              </a:rPr>
              <a:t>(x) </a:t>
            </a:r>
            <a:r>
              <a:rPr lang="en-US" sz="3600" dirty="0">
                <a:solidFill>
                  <a:schemeClr val="accent5">
                    <a:lumMod val="75000"/>
                  </a:schemeClr>
                </a:solidFill>
                <a:latin typeface="Cambria Math" panose="02040503050406030204" pitchFamily="18" charset="0"/>
                <a:ea typeface="Cambria Math" panose="02040503050406030204" pitchFamily="18" charset="0"/>
              </a:rPr>
              <a:t>↔ P(</a:t>
            </a:r>
            <a:r>
              <a:rPr lang="en-US" sz="3600" dirty="0">
                <a:latin typeface="Cambria Math" panose="02040503050406030204" pitchFamily="18" charset="0"/>
                <a:ea typeface="Cambria Math" panose="02040503050406030204" pitchFamily="18" charset="0"/>
              </a:rPr>
              <a:t>n</a:t>
            </a:r>
            <a:r>
              <a:rPr lang="en-US" sz="3600" baseline="-25000" dirty="0">
                <a:latin typeface="Cambria Math" panose="02040503050406030204" pitchFamily="18" charset="0"/>
                <a:ea typeface="Cambria Math" panose="02040503050406030204" pitchFamily="18" charset="0"/>
              </a:rPr>
              <a:t>1</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latin typeface="Cambria Math" panose="02040503050406030204" pitchFamily="18" charset="0"/>
                <a:ea typeface="Cambria Math" panose="02040503050406030204" pitchFamily="18" charset="0"/>
              </a:rPr>
              <a:t>∧</a:t>
            </a:r>
            <a:r>
              <a:rPr lang="en-US" sz="3600" dirty="0">
                <a:latin typeface="Cambria Math" panose="02040503050406030204" pitchFamily="18" charset="0"/>
                <a:ea typeface="Cambria Math" panose="02040503050406030204" pitchFamily="18" charset="0"/>
              </a:rPr>
              <a:t> </a:t>
            </a:r>
            <a:r>
              <a:rPr lang="en-US" sz="3600" dirty="0">
                <a:solidFill>
                  <a:schemeClr val="accent5">
                    <a:lumMod val="75000"/>
                  </a:schemeClr>
                </a:solidFill>
                <a:latin typeface="Cambria Math" panose="02040503050406030204" pitchFamily="18" charset="0"/>
                <a:ea typeface="Cambria Math" panose="02040503050406030204" pitchFamily="18" charset="0"/>
              </a:rPr>
              <a:t>P(</a:t>
            </a:r>
            <a:r>
              <a:rPr lang="en-US" sz="3600" dirty="0">
                <a:latin typeface="Cambria Math" panose="02040503050406030204" pitchFamily="18" charset="0"/>
                <a:ea typeface="Cambria Math" panose="02040503050406030204" pitchFamily="18" charset="0"/>
              </a:rPr>
              <a:t>n</a:t>
            </a:r>
            <a:r>
              <a:rPr lang="en-US" sz="3600" baseline="-25000" dirty="0">
                <a:latin typeface="Cambria Math" panose="02040503050406030204" pitchFamily="18" charset="0"/>
                <a:ea typeface="Cambria Math" panose="02040503050406030204" pitchFamily="18" charset="0"/>
              </a:rPr>
              <a:t>2</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latin typeface="Cambria Math" panose="02040503050406030204" pitchFamily="18" charset="0"/>
                <a:ea typeface="Cambria Math" panose="02040503050406030204" pitchFamily="18" charset="0"/>
              </a:rPr>
              <a:t>∧</a:t>
            </a:r>
            <a:r>
              <a:rPr lang="en-US" sz="3600" dirty="0">
                <a:latin typeface="Cambria Math" panose="02040503050406030204" pitchFamily="18" charset="0"/>
                <a:ea typeface="Cambria Math" panose="02040503050406030204" pitchFamily="18" charset="0"/>
              </a:rPr>
              <a:t> </a:t>
            </a:r>
            <a:r>
              <a:rPr lang="en-US" sz="3600" dirty="0">
                <a:solidFill>
                  <a:schemeClr val="accent5">
                    <a:lumMod val="75000"/>
                  </a:schemeClr>
                </a:solidFill>
                <a:latin typeface="Cambria Math" panose="02040503050406030204" pitchFamily="18" charset="0"/>
                <a:ea typeface="Cambria Math" panose="02040503050406030204" pitchFamily="18" charset="0"/>
              </a:rPr>
              <a:t>P(</a:t>
            </a:r>
            <a:r>
              <a:rPr lang="en-US" sz="3600" dirty="0">
                <a:latin typeface="Cambria Math" panose="02040503050406030204" pitchFamily="18" charset="0"/>
                <a:ea typeface="Cambria Math" panose="02040503050406030204" pitchFamily="18" charset="0"/>
              </a:rPr>
              <a:t>n</a:t>
            </a:r>
            <a:r>
              <a:rPr lang="en-US" sz="3600" baseline="-25000" dirty="0">
                <a:latin typeface="Cambria Math" panose="02040503050406030204" pitchFamily="18" charset="0"/>
                <a:ea typeface="Cambria Math" panose="02040503050406030204" pitchFamily="18" charset="0"/>
              </a:rPr>
              <a:t>3</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latin typeface="Cambria Math" panose="02040503050406030204" pitchFamily="18" charset="0"/>
                <a:ea typeface="Cambria Math" panose="02040503050406030204" pitchFamily="18" charset="0"/>
              </a:rPr>
              <a:t>∧</a:t>
            </a:r>
            <a:r>
              <a:rPr lang="en-US" sz="3600" dirty="0">
                <a:latin typeface="Cambria Math" panose="02040503050406030204" pitchFamily="18" charset="0"/>
                <a:ea typeface="Cambria Math" panose="02040503050406030204" pitchFamily="18" charset="0"/>
              </a:rPr>
              <a:t> </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latin typeface="Cambria Math" panose="02040503050406030204" pitchFamily="18" charset="0"/>
                <a:ea typeface="Cambria Math" panose="02040503050406030204" pitchFamily="18" charset="0"/>
              </a:rPr>
              <a:t>∧</a:t>
            </a:r>
            <a:r>
              <a:rPr lang="en-US" sz="3600" dirty="0">
                <a:latin typeface="Cambria Math" panose="02040503050406030204" pitchFamily="18" charset="0"/>
                <a:ea typeface="Cambria Math" panose="02040503050406030204" pitchFamily="18" charset="0"/>
              </a:rPr>
              <a:t> </a:t>
            </a:r>
            <a:r>
              <a:rPr lang="en-US" sz="3600" dirty="0">
                <a:solidFill>
                  <a:schemeClr val="accent5">
                    <a:lumMod val="75000"/>
                  </a:schemeClr>
                </a:solidFill>
                <a:latin typeface="Cambria Math" panose="02040503050406030204" pitchFamily="18" charset="0"/>
                <a:ea typeface="Cambria Math" panose="02040503050406030204" pitchFamily="18" charset="0"/>
              </a:rPr>
              <a:t>P(</a:t>
            </a:r>
            <a:r>
              <a:rPr lang="en-US" sz="3600" dirty="0" err="1">
                <a:latin typeface="Cambria Math" panose="02040503050406030204" pitchFamily="18" charset="0"/>
                <a:ea typeface="Cambria Math" panose="02040503050406030204" pitchFamily="18" charset="0"/>
              </a:rPr>
              <a:t>n</a:t>
            </a:r>
            <a:r>
              <a:rPr lang="en-US" sz="3600" baseline="-25000" dirty="0" err="1">
                <a:latin typeface="Cambria Math" panose="02040503050406030204" pitchFamily="18" charset="0"/>
                <a:ea typeface="Cambria Math" panose="02040503050406030204" pitchFamily="18" charset="0"/>
              </a:rPr>
              <a:t>k</a:t>
            </a:r>
            <a:r>
              <a:rPr lang="en-US" sz="3600" dirty="0">
                <a:solidFill>
                  <a:schemeClr val="accent5">
                    <a:lumMod val="75000"/>
                  </a:schemeClr>
                </a:solidFill>
                <a:latin typeface="Cambria Math" panose="02040503050406030204" pitchFamily="18" charset="0"/>
                <a:ea typeface="Cambria Math" panose="02040503050406030204" pitchFamily="18" charset="0"/>
              </a:rPr>
              <a:t>)</a:t>
            </a:r>
          </a:p>
        </p:txBody>
      </p:sp>
    </p:spTree>
    <p:extLst>
      <p:ext uri="{BB962C8B-B14F-4D97-AF65-F5344CB8AC3E}">
        <p14:creationId xmlns:p14="http://schemas.microsoft.com/office/powerpoint/2010/main" val="248596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1270" y="469774"/>
            <a:ext cx="7465509" cy="690574"/>
          </a:xfrm>
          <a:prstGeom prst="rect">
            <a:avLst/>
          </a:prstGeom>
        </p:spPr>
        <p:txBody>
          <a:bodyPr vert="horz" wrap="square" lIns="0" tIns="13335" rIns="0" bIns="0" rtlCol="0" anchor="ctr">
            <a:spAutoFit/>
          </a:bodyPr>
          <a:lstStyle/>
          <a:p>
            <a:pPr marL="12700">
              <a:lnSpc>
                <a:spcPct val="100000"/>
              </a:lnSpc>
              <a:spcBef>
                <a:spcPts val="105"/>
              </a:spcBef>
            </a:pPr>
            <a:r>
              <a:rPr lang="en-US" spc="-10" dirty="0">
                <a:latin typeface="Cambria Math" panose="02040503050406030204" pitchFamily="18" charset="0"/>
                <a:ea typeface="Cambria Math" panose="02040503050406030204" pitchFamily="18" charset="0"/>
                <a:cs typeface="Calibri"/>
              </a:rPr>
              <a:t>Universal</a:t>
            </a:r>
            <a:r>
              <a:rPr lang="en-US" spc="-100" dirty="0">
                <a:latin typeface="Cambria Math" panose="02040503050406030204" pitchFamily="18" charset="0"/>
                <a:ea typeface="Cambria Math" panose="02040503050406030204" pitchFamily="18" charset="0"/>
                <a:cs typeface="Calibri"/>
              </a:rPr>
              <a:t> </a:t>
            </a:r>
            <a:r>
              <a:rPr lang="en-US" spc="-10" dirty="0">
                <a:latin typeface="Cambria Math" panose="02040503050406030204" pitchFamily="18" charset="0"/>
                <a:ea typeface="Cambria Math" panose="02040503050406030204" pitchFamily="18" charset="0"/>
                <a:cs typeface="Calibri"/>
              </a:rPr>
              <a:t>Quantifier</a:t>
            </a:r>
          </a:p>
        </p:txBody>
      </p:sp>
      <p:sp>
        <p:nvSpPr>
          <p:cNvPr id="3" name="object 3"/>
          <p:cNvSpPr txBox="1"/>
          <p:nvPr/>
        </p:nvSpPr>
        <p:spPr>
          <a:xfrm>
            <a:off x="914400" y="1545082"/>
            <a:ext cx="10373193" cy="1589346"/>
          </a:xfrm>
          <a:prstGeom prst="rect">
            <a:avLst/>
          </a:prstGeom>
        </p:spPr>
        <p:txBody>
          <a:bodyPr vert="horz" wrap="square" lIns="0" tIns="88265" rIns="0" bIns="0" rtlCol="0">
            <a:spAutoFit/>
          </a:bodyPr>
          <a:lstStyle/>
          <a:p>
            <a:pPr algn="ctr">
              <a:spcBef>
                <a:spcPts val="10"/>
              </a:spcBef>
            </a:pPr>
            <a:endParaRPr sz="3600" dirty="0">
              <a:latin typeface="Cambria Math" panose="02040503050406030204" pitchFamily="18" charset="0"/>
              <a:ea typeface="Cambria Math" panose="02040503050406030204" pitchFamily="18" charset="0"/>
              <a:cs typeface="Times New Roman"/>
            </a:endParaRPr>
          </a:p>
          <a:p>
            <a:pPr marL="12700" marR="107950" algn="ctr">
              <a:lnSpc>
                <a:spcPts val="2400"/>
              </a:lnSpc>
            </a:pPr>
            <a:r>
              <a:rPr sz="3200" spc="-5" dirty="0">
                <a:latin typeface="Cambria Math" panose="02040503050406030204" pitchFamily="18" charset="0"/>
                <a:ea typeface="Cambria Math" panose="02040503050406030204" pitchFamily="18" charset="0"/>
                <a:cs typeface="Calibri"/>
              </a:rPr>
              <a:t>An element </a:t>
            </a:r>
            <a:r>
              <a:rPr sz="3200" spc="-25" dirty="0">
                <a:latin typeface="Cambria Math" panose="02040503050406030204" pitchFamily="18" charset="0"/>
                <a:ea typeface="Cambria Math" panose="02040503050406030204" pitchFamily="18" charset="0"/>
                <a:cs typeface="Calibri"/>
              </a:rPr>
              <a:t>for </a:t>
            </a:r>
            <a:r>
              <a:rPr sz="3200" spc="-5" dirty="0">
                <a:latin typeface="Cambria Math" panose="02040503050406030204" pitchFamily="18" charset="0"/>
                <a:ea typeface="Cambria Math" panose="02040503050406030204" pitchFamily="18" charset="0"/>
                <a:cs typeface="Calibri"/>
              </a:rPr>
              <a:t>which </a:t>
            </a:r>
            <a:r>
              <a:rPr sz="3200" i="1" spc="-5" dirty="0">
                <a:latin typeface="Cambria Math" panose="02040503050406030204" pitchFamily="18" charset="0"/>
                <a:ea typeface="Cambria Math" panose="02040503050406030204" pitchFamily="18" charset="0"/>
                <a:cs typeface="Calibri"/>
              </a:rPr>
              <a:t>P(x) </a:t>
            </a:r>
            <a:r>
              <a:rPr sz="3200" spc="-5" dirty="0">
                <a:latin typeface="Cambria Math" panose="02040503050406030204" pitchFamily="18" charset="0"/>
                <a:ea typeface="Cambria Math" panose="02040503050406030204" pitchFamily="18" charset="0"/>
                <a:cs typeface="Calibri"/>
              </a:rPr>
              <a:t>is </a:t>
            </a:r>
            <a:r>
              <a:rPr sz="3200" spc="-20" dirty="0">
                <a:latin typeface="Cambria Math" panose="02040503050406030204" pitchFamily="18" charset="0"/>
                <a:ea typeface="Cambria Math" panose="02040503050406030204" pitchFamily="18" charset="0"/>
                <a:cs typeface="Calibri"/>
              </a:rPr>
              <a:t>false </a:t>
            </a:r>
            <a:r>
              <a:rPr sz="3200" spc="-5" dirty="0">
                <a:latin typeface="Cambria Math" panose="02040503050406030204" pitchFamily="18" charset="0"/>
                <a:ea typeface="Cambria Math" panose="02040503050406030204" pitchFamily="18" charset="0"/>
                <a:cs typeface="Calibri"/>
              </a:rPr>
              <a:t>is </a:t>
            </a:r>
            <a:r>
              <a:rPr sz="3200" spc="-10" dirty="0">
                <a:latin typeface="Cambria Math" panose="02040503050406030204" pitchFamily="18" charset="0"/>
                <a:ea typeface="Cambria Math" panose="02040503050406030204" pitchFamily="18" charset="0"/>
                <a:cs typeface="Calibri"/>
              </a:rPr>
              <a:t>called</a:t>
            </a:r>
            <a:endParaRPr lang="en-US" sz="3200" spc="-10" dirty="0">
              <a:latin typeface="Cambria Math" panose="02040503050406030204" pitchFamily="18" charset="0"/>
              <a:ea typeface="Cambria Math" panose="02040503050406030204" pitchFamily="18" charset="0"/>
              <a:cs typeface="Calibri"/>
            </a:endParaRPr>
          </a:p>
          <a:p>
            <a:pPr marL="12700" marR="107950" algn="ctr">
              <a:lnSpc>
                <a:spcPts val="2400"/>
              </a:lnSpc>
            </a:pPr>
            <a:r>
              <a:rPr sz="3200" spc="-10" dirty="0">
                <a:latin typeface="Cambria Math" panose="02040503050406030204" pitchFamily="18" charset="0"/>
                <a:ea typeface="Cambria Math" panose="02040503050406030204" pitchFamily="18" charset="0"/>
                <a:cs typeface="Calibri"/>
              </a:rPr>
              <a:t> </a:t>
            </a:r>
            <a:endParaRPr lang="en-US" sz="3200" spc="-10" dirty="0">
              <a:latin typeface="Cambria Math" panose="02040503050406030204" pitchFamily="18" charset="0"/>
              <a:ea typeface="Cambria Math" panose="02040503050406030204" pitchFamily="18" charset="0"/>
              <a:cs typeface="Calibri"/>
            </a:endParaRPr>
          </a:p>
          <a:p>
            <a:pPr marL="12700" marR="107950" algn="ctr">
              <a:lnSpc>
                <a:spcPts val="2400"/>
              </a:lnSpc>
            </a:pPr>
            <a:r>
              <a:rPr sz="3200" spc="-5" dirty="0">
                <a:latin typeface="Cambria Math" panose="02040503050406030204" pitchFamily="18" charset="0"/>
                <a:ea typeface="Cambria Math" panose="02040503050406030204" pitchFamily="18" charset="0"/>
                <a:cs typeface="Calibri"/>
              </a:rPr>
              <a:t>a </a:t>
            </a:r>
            <a:r>
              <a:rPr sz="3200" b="1" spc="-15" dirty="0">
                <a:solidFill>
                  <a:srgbClr val="FF0000"/>
                </a:solidFill>
                <a:latin typeface="Cambria Math" panose="02040503050406030204" pitchFamily="18" charset="0"/>
                <a:ea typeface="Cambria Math" panose="02040503050406030204" pitchFamily="18" charset="0"/>
                <a:cs typeface="Calibri"/>
              </a:rPr>
              <a:t>counterexample</a:t>
            </a:r>
            <a:r>
              <a:rPr sz="3200" b="1" spc="-1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of </a:t>
            </a:r>
            <a:r>
              <a:rPr sz="3200" spc="-5" dirty="0">
                <a:latin typeface="Cambria Math" panose="02040503050406030204" pitchFamily="18" charset="0"/>
                <a:ea typeface="Cambria Math" panose="02040503050406030204" pitchFamily="18" charset="0"/>
                <a:cs typeface="Cambria Math"/>
              </a:rPr>
              <a:t>∀</a:t>
            </a:r>
            <a:r>
              <a:rPr sz="3200" i="1" spc="-5" dirty="0">
                <a:latin typeface="Cambria Math" panose="02040503050406030204" pitchFamily="18" charset="0"/>
                <a:ea typeface="Cambria Math" panose="02040503050406030204" pitchFamily="18" charset="0"/>
                <a:cs typeface="Calibri"/>
              </a:rPr>
              <a:t>x P(x)</a:t>
            </a:r>
            <a:endParaRPr sz="3200" dirty="0">
              <a:latin typeface="Cambria Math" panose="02040503050406030204" pitchFamily="18" charset="0"/>
              <a:ea typeface="Cambria Math" panose="02040503050406030204" pitchFamily="18" charset="0"/>
              <a:cs typeface="Calibri"/>
            </a:endParaRPr>
          </a:p>
        </p:txBody>
      </p:sp>
      <p:sp>
        <p:nvSpPr>
          <p:cNvPr id="4" name="object 3"/>
          <p:cNvSpPr txBox="1"/>
          <p:nvPr/>
        </p:nvSpPr>
        <p:spPr>
          <a:xfrm>
            <a:off x="2012428" y="3924924"/>
            <a:ext cx="8754631" cy="1737270"/>
          </a:xfrm>
          <a:prstGeom prst="rect">
            <a:avLst/>
          </a:prstGeom>
        </p:spPr>
        <p:txBody>
          <a:bodyPr vert="horz" wrap="square" lIns="0" tIns="88265" rIns="0" bIns="0" rtlCol="0">
            <a:spAutoFit/>
          </a:bodyPr>
          <a:lstStyle/>
          <a:p>
            <a:pPr marL="355600" marR="128270" indent="-342900">
              <a:lnSpc>
                <a:spcPct val="80000"/>
              </a:lnSpc>
              <a:spcBef>
                <a:spcPts val="695"/>
              </a:spcBef>
              <a:buFont typeface="Arial"/>
              <a:buChar char="•"/>
              <a:tabLst>
                <a:tab pos="354965" algn="l"/>
                <a:tab pos="355600" algn="l"/>
              </a:tabLst>
            </a:pPr>
            <a:r>
              <a:rPr lang="en-US" sz="2800" dirty="0">
                <a:solidFill>
                  <a:srgbClr val="FF0000"/>
                </a:solidFill>
                <a:latin typeface="Cambria Math" panose="02040503050406030204" pitchFamily="18" charset="0"/>
                <a:ea typeface="Cambria Math" panose="02040503050406030204" pitchFamily="18" charset="0"/>
                <a:cs typeface="Calibri"/>
              </a:rPr>
              <a:t>True</a:t>
            </a:r>
          </a:p>
          <a:p>
            <a:pPr marL="1270000" marR="128270" lvl="2" indent="-342900">
              <a:lnSpc>
                <a:spcPct val="80000"/>
              </a:lnSpc>
              <a:spcBef>
                <a:spcPts val="695"/>
              </a:spcBef>
              <a:buFont typeface="Arial"/>
              <a:buChar char="•"/>
              <a:tabLst>
                <a:tab pos="354965" algn="l"/>
                <a:tab pos="355600" algn="l"/>
              </a:tabLst>
            </a:pPr>
            <a:r>
              <a:rPr lang="en-US" sz="2800" dirty="0">
                <a:latin typeface="Cambria Math" panose="02040503050406030204" pitchFamily="18" charset="0"/>
                <a:ea typeface="Cambria Math" panose="02040503050406030204" pitchFamily="18" charset="0"/>
                <a:cs typeface="Calibri"/>
              </a:rPr>
              <a:t>When No False example found</a:t>
            </a:r>
          </a:p>
          <a:p>
            <a:pPr marL="355600" marR="128270" indent="-342900">
              <a:lnSpc>
                <a:spcPct val="80000"/>
              </a:lnSpc>
              <a:spcBef>
                <a:spcPts val="695"/>
              </a:spcBef>
              <a:buFont typeface="Arial"/>
              <a:buChar char="•"/>
              <a:tabLst>
                <a:tab pos="354965" algn="l"/>
                <a:tab pos="355600" algn="l"/>
              </a:tabLst>
            </a:pPr>
            <a:r>
              <a:rPr lang="en-US" sz="2800" dirty="0">
                <a:solidFill>
                  <a:srgbClr val="FF0000"/>
                </a:solidFill>
                <a:latin typeface="Cambria Math" panose="02040503050406030204" pitchFamily="18" charset="0"/>
                <a:ea typeface="Cambria Math" panose="02040503050406030204" pitchFamily="18" charset="0"/>
                <a:cs typeface="Calibri"/>
              </a:rPr>
              <a:t>False</a:t>
            </a:r>
          </a:p>
          <a:p>
            <a:pPr marL="1270000" marR="128270" lvl="2" indent="-342900">
              <a:lnSpc>
                <a:spcPct val="80000"/>
              </a:lnSpc>
              <a:spcBef>
                <a:spcPts val="695"/>
              </a:spcBef>
              <a:buFont typeface="Arial"/>
              <a:buChar char="•"/>
              <a:tabLst>
                <a:tab pos="354965" algn="l"/>
                <a:tab pos="355600" algn="l"/>
              </a:tabLst>
            </a:pPr>
            <a:r>
              <a:rPr lang="en-US" sz="2800" dirty="0">
                <a:latin typeface="Cambria Math" panose="02040503050406030204" pitchFamily="18" charset="0"/>
                <a:ea typeface="Cambria Math" panose="02040503050406030204" pitchFamily="18" charset="0"/>
                <a:cs typeface="Calibri"/>
              </a:rPr>
              <a:t>When 1 False example found</a:t>
            </a:r>
          </a:p>
        </p:txBody>
      </p:sp>
    </p:spTree>
    <p:extLst>
      <p:ext uri="{BB962C8B-B14F-4D97-AF65-F5344CB8AC3E}">
        <p14:creationId xmlns:p14="http://schemas.microsoft.com/office/powerpoint/2010/main" val="1268687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0" dirty="0">
                <a:latin typeface="Cambria Math" panose="02040503050406030204" pitchFamily="18" charset="0"/>
                <a:ea typeface="Cambria Math" panose="02040503050406030204" pitchFamily="18" charset="0"/>
                <a:cs typeface="Calibri"/>
              </a:rPr>
              <a:t>Expressing </a:t>
            </a:r>
            <a:r>
              <a:rPr lang="en-US" spc="-15" dirty="0">
                <a:latin typeface="Cambria Math" panose="02040503050406030204" pitchFamily="18" charset="0"/>
                <a:ea typeface="Cambria Math" panose="02040503050406030204" pitchFamily="18" charset="0"/>
                <a:cs typeface="Calibri"/>
              </a:rPr>
              <a:t>words</a:t>
            </a:r>
            <a:endParaRPr lang="en-US"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263550" y="1612516"/>
            <a:ext cx="10515599" cy="4433720"/>
          </a:xfrm>
        </p:spPr>
        <p:txBody>
          <a:bodyPr>
            <a:normAutofit/>
          </a:bodyPr>
          <a:lstStyle/>
          <a:p>
            <a:pPr marL="0" indent="0">
              <a:lnSpc>
                <a:spcPct val="100000"/>
              </a:lnSpc>
              <a:buNone/>
            </a:pPr>
            <a:r>
              <a:rPr lang="en-US" spc="-55" dirty="0">
                <a:latin typeface="Cambria Math" panose="02040503050406030204" pitchFamily="18" charset="0"/>
                <a:ea typeface="Cambria Math" panose="02040503050406030204" pitchFamily="18" charset="0"/>
                <a:cs typeface="Calibri"/>
              </a:rPr>
              <a:t>We </a:t>
            </a:r>
            <a:r>
              <a:rPr lang="en-US" spc="-15" dirty="0">
                <a:latin typeface="Cambria Math" panose="02040503050406030204" pitchFamily="18" charset="0"/>
                <a:ea typeface="Cambria Math" panose="02040503050406030204" pitchFamily="18" charset="0"/>
                <a:cs typeface="Calibri"/>
              </a:rPr>
              <a:t>can </a:t>
            </a:r>
            <a:r>
              <a:rPr lang="en-US" spc="-25" dirty="0">
                <a:latin typeface="Cambria Math" panose="02040503050406030204" pitchFamily="18" charset="0"/>
                <a:ea typeface="Cambria Math" panose="02040503050406030204" pitchFamily="18" charset="0"/>
                <a:cs typeface="Calibri"/>
              </a:rPr>
              <a:t>state </a:t>
            </a:r>
            <a:r>
              <a:rPr lang="en-US" spc="-5" dirty="0">
                <a:latin typeface="Cambria Math" panose="02040503050406030204" pitchFamily="18" charset="0"/>
                <a:ea typeface="Cambria Math" panose="02040503050406030204" pitchFamily="18" charset="0"/>
                <a:cs typeface="Calibri"/>
              </a:rPr>
              <a:t>in </a:t>
            </a:r>
            <a:r>
              <a:rPr lang="en-US" spc="-15" dirty="0">
                <a:latin typeface="Cambria Math" panose="02040503050406030204" pitchFamily="18" charset="0"/>
                <a:ea typeface="Cambria Math" panose="02040503050406030204" pitchFamily="18" charset="0"/>
                <a:cs typeface="Calibri"/>
              </a:rPr>
              <a:t>following </a:t>
            </a:r>
            <a:r>
              <a:rPr lang="en-US" spc="-25" dirty="0">
                <a:latin typeface="Cambria Math" panose="02040503050406030204" pitchFamily="18" charset="0"/>
                <a:ea typeface="Cambria Math" panose="02040503050406030204" pitchFamily="18" charset="0"/>
                <a:cs typeface="Calibri"/>
              </a:rPr>
              <a:t>ways:</a:t>
            </a:r>
            <a:r>
              <a:rPr lang="en-US" spc="130" dirty="0">
                <a:latin typeface="Cambria Math" panose="02040503050406030204" pitchFamily="18" charset="0"/>
                <a:ea typeface="Cambria Math" panose="02040503050406030204" pitchFamily="18" charset="0"/>
                <a:cs typeface="Calibri"/>
              </a:rPr>
              <a:t> </a:t>
            </a:r>
            <a:r>
              <a:rPr lang="en-US" spc="-5" dirty="0">
                <a:latin typeface="Cambria Math" panose="02040503050406030204" pitchFamily="18" charset="0"/>
                <a:ea typeface="Cambria Math" panose="02040503050406030204" pitchFamily="18" charset="0"/>
                <a:cs typeface="Calibri"/>
              </a:rPr>
              <a:t>–</a:t>
            </a:r>
            <a:endParaRPr lang="en-US" dirty="0">
              <a:latin typeface="Cambria Math" panose="02040503050406030204" pitchFamily="18" charset="0"/>
              <a:ea typeface="Cambria Math" panose="02040503050406030204" pitchFamily="18" charset="0"/>
              <a:cs typeface="Calibri"/>
            </a:endParaRPr>
          </a:p>
          <a:p>
            <a:pPr marL="127000" indent="0">
              <a:buNone/>
              <a:tabLst>
                <a:tab pos="354965" algn="l"/>
                <a:tab pos="355600" algn="l"/>
              </a:tabLst>
            </a:pPr>
            <a:r>
              <a:rPr lang="en-US" spc="-5" dirty="0">
                <a:latin typeface="Cambria Math" panose="02040503050406030204" pitchFamily="18" charset="0"/>
                <a:ea typeface="Cambria Math" panose="02040503050406030204" pitchFamily="18" charset="0"/>
                <a:cs typeface="Cambria Math"/>
              </a:rPr>
              <a:t>	</a:t>
            </a:r>
            <a:r>
              <a:rPr lang="en-US" spc="-5" dirty="0">
                <a:solidFill>
                  <a:srgbClr val="FF0000"/>
                </a:solidFill>
                <a:latin typeface="Cambria Math" panose="02040503050406030204" pitchFamily="18" charset="0"/>
                <a:ea typeface="Cambria Math" panose="02040503050406030204" pitchFamily="18" charset="0"/>
                <a:cs typeface="Cambria Math"/>
              </a:rPr>
              <a:t>∀</a:t>
            </a:r>
            <a:r>
              <a:rPr lang="en-US" spc="-5" dirty="0">
                <a:solidFill>
                  <a:srgbClr val="FF0000"/>
                </a:solidFill>
                <a:latin typeface="Cambria Math" panose="02040503050406030204" pitchFamily="18" charset="0"/>
                <a:ea typeface="Cambria Math" panose="02040503050406030204" pitchFamily="18" charset="0"/>
                <a:cs typeface="Calibri"/>
              </a:rPr>
              <a:t>x</a:t>
            </a:r>
            <a:r>
              <a:rPr lang="en-US" dirty="0">
                <a:solidFill>
                  <a:srgbClr val="FF0000"/>
                </a:solidFill>
                <a:latin typeface="Cambria Math" panose="02040503050406030204" pitchFamily="18" charset="0"/>
                <a:ea typeface="Cambria Math" panose="02040503050406030204" pitchFamily="18" charset="0"/>
                <a:cs typeface="Calibri"/>
              </a:rPr>
              <a:t> </a:t>
            </a:r>
            <a:r>
              <a:rPr lang="en-US" spc="-5" dirty="0">
                <a:solidFill>
                  <a:srgbClr val="FF0000"/>
                </a:solidFill>
                <a:latin typeface="Cambria Math" panose="02040503050406030204" pitchFamily="18" charset="0"/>
                <a:ea typeface="Cambria Math" panose="02040503050406030204" pitchFamily="18" charset="0"/>
                <a:cs typeface="Calibri"/>
              </a:rPr>
              <a:t>P(x) : x+1 &gt; x</a:t>
            </a:r>
            <a:endParaRPr lang="en-US" dirty="0">
              <a:solidFill>
                <a:srgbClr val="FF0000"/>
              </a:solidFill>
              <a:latin typeface="Cambria Math" panose="02040503050406030204" pitchFamily="18" charset="0"/>
              <a:ea typeface="Cambria Math" panose="02040503050406030204" pitchFamily="18" charset="0"/>
              <a:cs typeface="Calibri"/>
            </a:endParaRPr>
          </a:p>
          <a:p>
            <a:pPr marL="355600">
              <a:buFont typeface="Arial"/>
              <a:buChar char="•"/>
              <a:tabLst>
                <a:tab pos="354965" algn="l"/>
                <a:tab pos="355600" algn="l"/>
              </a:tabLst>
            </a:pPr>
            <a:r>
              <a:rPr lang="en-US" spc="-20" dirty="0">
                <a:latin typeface="Cambria Math" panose="02040503050406030204" pitchFamily="18" charset="0"/>
                <a:ea typeface="Cambria Math" panose="02040503050406030204" pitchFamily="18" charset="0"/>
                <a:cs typeface="Calibri"/>
              </a:rPr>
              <a:t>“for </a:t>
            </a:r>
            <a:r>
              <a:rPr lang="en-US" spc="-5" dirty="0">
                <a:latin typeface="Cambria Math" panose="02040503050406030204" pitchFamily="18" charset="0"/>
                <a:ea typeface="Cambria Math" panose="02040503050406030204" pitchFamily="18" charset="0"/>
                <a:cs typeface="Calibri"/>
              </a:rPr>
              <a:t>all </a:t>
            </a:r>
            <a:r>
              <a:rPr lang="en-US" spc="-10" dirty="0">
                <a:latin typeface="Cambria Math" panose="02040503050406030204" pitchFamily="18" charset="0"/>
                <a:ea typeface="Cambria Math" panose="02040503050406030204" pitchFamily="18" charset="0"/>
                <a:cs typeface="Calibri"/>
              </a:rPr>
              <a:t>values </a:t>
            </a:r>
            <a:r>
              <a:rPr lang="en-US" spc="-5" dirty="0">
                <a:latin typeface="Cambria Math" panose="02040503050406030204" pitchFamily="18" charset="0"/>
                <a:ea typeface="Cambria Math" panose="02040503050406030204" pitchFamily="18" charset="0"/>
                <a:cs typeface="Calibri"/>
              </a:rPr>
              <a:t>of x, </a:t>
            </a:r>
            <a:r>
              <a:rPr lang="en-US" spc="-10" dirty="0">
                <a:latin typeface="Cambria Math" panose="02040503050406030204" pitchFamily="18" charset="0"/>
                <a:ea typeface="Cambria Math" panose="02040503050406030204" pitchFamily="18" charset="0"/>
                <a:cs typeface="Calibri"/>
              </a:rPr>
              <a:t>P(x) </a:t>
            </a:r>
            <a:r>
              <a:rPr lang="en-US" spc="-5" dirty="0">
                <a:latin typeface="Cambria Math" panose="02040503050406030204" pitchFamily="18" charset="0"/>
                <a:ea typeface="Cambria Math" panose="02040503050406030204" pitchFamily="18" charset="0"/>
                <a:cs typeface="Calibri"/>
              </a:rPr>
              <a:t>is</a:t>
            </a:r>
            <a:r>
              <a:rPr lang="en-US" spc="50" dirty="0">
                <a:latin typeface="Cambria Math" panose="02040503050406030204" pitchFamily="18" charset="0"/>
                <a:ea typeface="Cambria Math" panose="02040503050406030204" pitchFamily="18" charset="0"/>
                <a:cs typeface="Calibri"/>
              </a:rPr>
              <a:t> </a:t>
            </a:r>
            <a:r>
              <a:rPr lang="en-US" spc="-5" dirty="0">
                <a:latin typeface="Cambria Math" panose="02040503050406030204" pitchFamily="18" charset="0"/>
                <a:ea typeface="Cambria Math" panose="02040503050406030204" pitchFamily="18" charset="0"/>
                <a:cs typeface="Calibri"/>
              </a:rPr>
              <a:t>true”</a:t>
            </a:r>
            <a:endParaRPr lang="en-US" dirty="0">
              <a:latin typeface="Cambria Math" panose="02040503050406030204" pitchFamily="18" charset="0"/>
              <a:ea typeface="Cambria Math" panose="02040503050406030204" pitchFamily="18" charset="0"/>
              <a:cs typeface="Calibri"/>
            </a:endParaRPr>
          </a:p>
          <a:p>
            <a:pPr marL="355600">
              <a:buFont typeface="Arial"/>
              <a:buChar char="•"/>
              <a:tabLst>
                <a:tab pos="354965" algn="l"/>
                <a:tab pos="355600" algn="l"/>
              </a:tabLst>
            </a:pPr>
            <a:r>
              <a:rPr lang="en-US" spc="-20" dirty="0">
                <a:latin typeface="Cambria Math" panose="02040503050406030204" pitchFamily="18" charset="0"/>
                <a:ea typeface="Cambria Math" panose="02040503050406030204" pitchFamily="18" charset="0"/>
                <a:cs typeface="Calibri"/>
              </a:rPr>
              <a:t>“for </a:t>
            </a:r>
            <a:r>
              <a:rPr lang="en-US" spc="-5" dirty="0">
                <a:latin typeface="Cambria Math" panose="02040503050406030204" pitchFamily="18" charset="0"/>
                <a:ea typeface="Cambria Math" panose="02040503050406030204" pitchFamily="18" charset="0"/>
                <a:cs typeface="Calibri"/>
              </a:rPr>
              <a:t>all </a:t>
            </a:r>
            <a:r>
              <a:rPr lang="en-US" spc="-10" dirty="0">
                <a:latin typeface="Cambria Math" panose="02040503050406030204" pitchFamily="18" charset="0"/>
                <a:ea typeface="Cambria Math" panose="02040503050406030204" pitchFamily="18" charset="0"/>
                <a:cs typeface="Calibri"/>
              </a:rPr>
              <a:t>values </a:t>
            </a:r>
            <a:r>
              <a:rPr lang="en-US" spc="-5" dirty="0">
                <a:latin typeface="Cambria Math" panose="02040503050406030204" pitchFamily="18" charset="0"/>
                <a:ea typeface="Cambria Math" panose="02040503050406030204" pitchFamily="18" charset="0"/>
                <a:cs typeface="Calibri"/>
              </a:rPr>
              <a:t>of x, </a:t>
            </a:r>
            <a:r>
              <a:rPr lang="en-US" spc="-10" dirty="0">
                <a:latin typeface="Cambria Math" panose="02040503050406030204" pitchFamily="18" charset="0"/>
                <a:ea typeface="Cambria Math" panose="02040503050406030204" pitchFamily="18" charset="0"/>
                <a:cs typeface="Calibri"/>
              </a:rPr>
              <a:t>x+1&gt;x </a:t>
            </a:r>
            <a:r>
              <a:rPr lang="en-US" spc="-5" dirty="0">
                <a:latin typeface="Cambria Math" panose="02040503050406030204" pitchFamily="18" charset="0"/>
                <a:ea typeface="Cambria Math" panose="02040503050406030204" pitchFamily="18" charset="0"/>
                <a:cs typeface="Calibri"/>
              </a:rPr>
              <a:t>is</a:t>
            </a:r>
            <a:r>
              <a:rPr lang="en-US" spc="50" dirty="0">
                <a:latin typeface="Cambria Math" panose="02040503050406030204" pitchFamily="18" charset="0"/>
                <a:ea typeface="Cambria Math" panose="02040503050406030204" pitchFamily="18" charset="0"/>
                <a:cs typeface="Calibri"/>
              </a:rPr>
              <a:t> </a:t>
            </a:r>
            <a:r>
              <a:rPr lang="en-US" spc="-5" dirty="0">
                <a:latin typeface="Cambria Math" panose="02040503050406030204" pitchFamily="18" charset="0"/>
                <a:ea typeface="Cambria Math" panose="02040503050406030204" pitchFamily="18" charset="0"/>
                <a:cs typeface="Calibri"/>
              </a:rPr>
              <a:t>true”</a:t>
            </a:r>
            <a:endParaRPr lang="en-US" dirty="0">
              <a:latin typeface="Cambria Math" panose="02040503050406030204" pitchFamily="18" charset="0"/>
              <a:ea typeface="Cambria Math" panose="02040503050406030204" pitchFamily="18" charset="0"/>
              <a:cs typeface="Calibri"/>
            </a:endParaRPr>
          </a:p>
          <a:p>
            <a:pPr marL="12700">
              <a:lnSpc>
                <a:spcPts val="2700"/>
              </a:lnSpc>
              <a:buNone/>
            </a:pPr>
            <a:endParaRPr lang="en-US" b="1" spc="-10" dirty="0">
              <a:latin typeface="Cambria Math" panose="02040503050406030204" pitchFamily="18" charset="0"/>
              <a:ea typeface="Cambria Math" panose="02040503050406030204" pitchFamily="18" charset="0"/>
              <a:cs typeface="Calibri"/>
            </a:endParaRPr>
          </a:p>
          <a:p>
            <a:pPr marL="12700">
              <a:lnSpc>
                <a:spcPts val="2700"/>
              </a:lnSpc>
              <a:buNone/>
            </a:pPr>
            <a:r>
              <a:rPr lang="en-US" b="1" spc="-10" dirty="0">
                <a:latin typeface="Cambria Math" panose="02040503050406030204" pitchFamily="18" charset="0"/>
                <a:ea typeface="Cambria Math" panose="02040503050406030204" pitchFamily="18" charset="0"/>
                <a:cs typeface="Calibri"/>
              </a:rPr>
              <a:t>Expressing </a:t>
            </a:r>
            <a:r>
              <a:rPr lang="en-US" b="1" spc="-15" dirty="0">
                <a:latin typeface="Cambria Math" panose="02040503050406030204" pitchFamily="18" charset="0"/>
                <a:ea typeface="Cambria Math" panose="02040503050406030204" pitchFamily="18" charset="0"/>
                <a:cs typeface="Calibri"/>
              </a:rPr>
              <a:t>words:</a:t>
            </a:r>
          </a:p>
          <a:p>
            <a:pPr marL="12700">
              <a:lnSpc>
                <a:spcPts val="2700"/>
              </a:lnSpc>
              <a:buNone/>
            </a:pPr>
            <a:r>
              <a:rPr lang="en-US" b="1" spc="-15" dirty="0">
                <a:latin typeface="Cambria Math" panose="02040503050406030204" pitchFamily="18" charset="0"/>
                <a:ea typeface="Cambria Math" panose="02040503050406030204" pitchFamily="18" charset="0"/>
                <a:cs typeface="Calibri"/>
              </a:rPr>
              <a:t> 	</a:t>
            </a:r>
            <a:r>
              <a:rPr lang="en-US" spc="-20" dirty="0">
                <a:latin typeface="Cambria Math" panose="02040503050406030204" pitchFamily="18" charset="0"/>
                <a:ea typeface="Cambria Math" panose="02040503050406030204" pitchFamily="18" charset="0"/>
                <a:cs typeface="Calibri"/>
              </a:rPr>
              <a:t>“for </a:t>
            </a:r>
            <a:r>
              <a:rPr lang="en-US" spc="-35" dirty="0">
                <a:latin typeface="Cambria Math" panose="02040503050406030204" pitchFamily="18" charset="0"/>
                <a:ea typeface="Cambria Math" panose="02040503050406030204" pitchFamily="18" charset="0"/>
                <a:cs typeface="Calibri"/>
              </a:rPr>
              <a:t>all,” 		</a:t>
            </a:r>
            <a:r>
              <a:rPr lang="en-US" spc="-20" dirty="0">
                <a:latin typeface="Cambria Math" panose="02040503050406030204" pitchFamily="18" charset="0"/>
                <a:ea typeface="Cambria Math" panose="02040503050406030204" pitchFamily="18" charset="0"/>
                <a:cs typeface="Calibri"/>
              </a:rPr>
              <a:t>“for </a:t>
            </a:r>
            <a:r>
              <a:rPr lang="en-US" spc="-55" dirty="0">
                <a:latin typeface="Cambria Math" panose="02040503050406030204" pitchFamily="18" charset="0"/>
                <a:ea typeface="Cambria Math" panose="02040503050406030204" pitchFamily="18" charset="0"/>
                <a:cs typeface="Calibri"/>
              </a:rPr>
              <a:t>every,” 			</a:t>
            </a:r>
            <a:r>
              <a:rPr lang="en-US" spc="-20" dirty="0">
                <a:latin typeface="Cambria Math" panose="02040503050406030204" pitchFamily="18" charset="0"/>
                <a:ea typeface="Cambria Math" panose="02040503050406030204" pitchFamily="18" charset="0"/>
                <a:cs typeface="Calibri"/>
              </a:rPr>
              <a:t>“all </a:t>
            </a:r>
            <a:r>
              <a:rPr lang="en-US" spc="-85" dirty="0">
                <a:latin typeface="Cambria Math" panose="02040503050406030204" pitchFamily="18" charset="0"/>
                <a:ea typeface="Cambria Math" panose="02040503050406030204" pitchFamily="18" charset="0"/>
                <a:cs typeface="Calibri"/>
              </a:rPr>
              <a:t>of,” </a:t>
            </a:r>
          </a:p>
          <a:p>
            <a:pPr marL="12700">
              <a:lnSpc>
                <a:spcPts val="2700"/>
              </a:lnSpc>
              <a:buNone/>
            </a:pPr>
            <a:r>
              <a:rPr lang="en-US" spc="-20" dirty="0">
                <a:latin typeface="Cambria Math" panose="02040503050406030204" pitchFamily="18" charset="0"/>
                <a:ea typeface="Cambria Math" panose="02040503050406030204" pitchFamily="18" charset="0"/>
                <a:cs typeface="Calibri"/>
              </a:rPr>
              <a:t>		“for </a:t>
            </a:r>
            <a:r>
              <a:rPr lang="en-US" spc="-30" dirty="0">
                <a:latin typeface="Cambria Math" panose="02040503050406030204" pitchFamily="18" charset="0"/>
                <a:ea typeface="Cambria Math" panose="02040503050406030204" pitchFamily="18" charset="0"/>
                <a:cs typeface="Calibri"/>
              </a:rPr>
              <a:t>each,”</a:t>
            </a:r>
            <a:r>
              <a:rPr lang="en-US" spc="300" dirty="0">
                <a:latin typeface="Cambria Math" panose="02040503050406030204" pitchFamily="18" charset="0"/>
                <a:ea typeface="Cambria Math" panose="02040503050406030204" pitchFamily="18" charset="0"/>
                <a:cs typeface="Calibri"/>
              </a:rPr>
              <a:t> 		</a:t>
            </a:r>
            <a:r>
              <a:rPr lang="en-US" spc="-25" dirty="0">
                <a:latin typeface="Cambria Math" panose="02040503050406030204" pitchFamily="18" charset="0"/>
                <a:ea typeface="Cambria Math" panose="02040503050406030204" pitchFamily="18" charset="0"/>
                <a:cs typeface="Calibri"/>
              </a:rPr>
              <a:t>“given </a:t>
            </a:r>
            <a:r>
              <a:rPr lang="en-US" spc="-85" dirty="0">
                <a:latin typeface="Cambria Math" panose="02040503050406030204" pitchFamily="18" charset="0"/>
                <a:ea typeface="Cambria Math" panose="02040503050406030204" pitchFamily="18" charset="0"/>
                <a:cs typeface="Calibri"/>
              </a:rPr>
              <a:t>any,” 		</a:t>
            </a:r>
            <a:r>
              <a:rPr lang="en-US" spc="-20" dirty="0">
                <a:latin typeface="Cambria Math" panose="02040503050406030204" pitchFamily="18" charset="0"/>
                <a:ea typeface="Cambria Math" panose="02040503050406030204" pitchFamily="18" charset="0"/>
                <a:cs typeface="Calibri"/>
              </a:rPr>
              <a:t>“for </a:t>
            </a:r>
            <a:r>
              <a:rPr lang="en-US" spc="-40" dirty="0">
                <a:latin typeface="Cambria Math" panose="02040503050406030204" pitchFamily="18" charset="0"/>
                <a:ea typeface="Cambria Math" panose="02040503050406030204" pitchFamily="18" charset="0"/>
                <a:cs typeface="Calibri"/>
              </a:rPr>
              <a:t>arbitrary,” </a:t>
            </a:r>
          </a:p>
          <a:p>
            <a:pPr marL="12700">
              <a:lnSpc>
                <a:spcPts val="2700"/>
              </a:lnSpc>
              <a:buNone/>
            </a:pPr>
            <a:r>
              <a:rPr lang="en-US" spc="-20" dirty="0">
                <a:latin typeface="Cambria Math" panose="02040503050406030204" pitchFamily="18" charset="0"/>
                <a:ea typeface="Cambria Math" panose="02040503050406030204" pitchFamily="18" charset="0"/>
                <a:cs typeface="Calibri"/>
              </a:rPr>
              <a:t>		“for</a:t>
            </a:r>
            <a:r>
              <a:rPr lang="en-US" spc="235" dirty="0">
                <a:latin typeface="Cambria Math" panose="02040503050406030204" pitchFamily="18" charset="0"/>
                <a:ea typeface="Cambria Math" panose="02040503050406030204" pitchFamily="18" charset="0"/>
                <a:cs typeface="Calibri"/>
              </a:rPr>
              <a:t> </a:t>
            </a:r>
            <a:r>
              <a:rPr lang="en-US" spc="-80" dirty="0">
                <a:latin typeface="Cambria Math" panose="02040503050406030204" pitchFamily="18" charset="0"/>
                <a:ea typeface="Cambria Math" panose="02040503050406030204" pitchFamily="18" charset="0"/>
                <a:cs typeface="Calibri"/>
              </a:rPr>
              <a:t>any.”</a:t>
            </a:r>
            <a:endParaRPr lang="en-US" dirty="0">
              <a:latin typeface="Cambria Math" panose="02040503050406030204" pitchFamily="18" charset="0"/>
              <a:ea typeface="Cambria Math" panose="02040503050406030204" pitchFamily="18" charset="0"/>
              <a:cs typeface="Calibri"/>
            </a:endParaRPr>
          </a:p>
          <a:p>
            <a:endParaRPr lang="en-US" dirty="0">
              <a:latin typeface="Cambria Math" panose="02040503050406030204" pitchFamily="18" charset="0"/>
              <a:ea typeface="Cambria Math" panose="020405030504060302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Content Placeholder 1"/>
          <p:cNvSpPr>
            <a:spLocks noGrp="1"/>
          </p:cNvSpPr>
          <p:nvPr>
            <p:ph idx="1"/>
          </p:nvPr>
        </p:nvSpPr>
        <p:spPr>
          <a:xfrm>
            <a:off x="882396" y="1631696"/>
            <a:ext cx="9829800" cy="3168904"/>
          </a:xfrm>
        </p:spPr>
        <p:txBody>
          <a:bodyPr>
            <a:normAutofit/>
          </a:bodyPr>
          <a:lstStyle/>
          <a:p>
            <a:r>
              <a:rPr lang="en-US" dirty="0">
                <a:latin typeface="Cambria Math" panose="02040503050406030204" pitchFamily="18" charset="0"/>
                <a:ea typeface="Cambria Math" panose="02040503050406030204" pitchFamily="18" charset="0"/>
              </a:rPr>
              <a:t>What does the statement </a:t>
            </a:r>
          </a:p>
          <a:p>
            <a:pPr marL="457200" lvl="1" indent="0" algn="ctr">
              <a:buNone/>
            </a:pPr>
            <a:r>
              <a:rPr lang="en-US" b="1" dirty="0">
                <a:solidFill>
                  <a:srgbClr val="FF0000"/>
                </a:solidFill>
                <a:latin typeface="Cambria Math" panose="02040503050406030204" pitchFamily="18" charset="0"/>
                <a:ea typeface="Cambria Math" panose="02040503050406030204" pitchFamily="18" charset="0"/>
              </a:rPr>
              <a:t>∀x N(x) </a:t>
            </a:r>
          </a:p>
          <a:p>
            <a:pPr marL="0" indent="0">
              <a:buNone/>
            </a:pPr>
            <a:r>
              <a:rPr lang="en-US" dirty="0">
                <a:latin typeface="Cambria Math" panose="02040503050406030204" pitchFamily="18" charset="0"/>
                <a:ea typeface="Cambria Math" panose="02040503050406030204" pitchFamily="18" charset="0"/>
              </a:rPr>
              <a:t>mean if </a:t>
            </a:r>
          </a:p>
          <a:p>
            <a:pPr marL="0" indent="0">
              <a:buNone/>
            </a:pPr>
            <a:r>
              <a:rPr lang="en-US" dirty="0">
                <a:latin typeface="Cambria Math" panose="02040503050406030204" pitchFamily="18" charset="0"/>
                <a:ea typeface="Cambria Math" panose="02040503050406030204" pitchFamily="18" charset="0"/>
              </a:rPr>
              <a:t>N(x) is “Computer x is connected to the network” </a:t>
            </a:r>
          </a:p>
          <a:p>
            <a:pPr marL="0" indent="0">
              <a:buNone/>
            </a:pPr>
            <a:r>
              <a:rPr lang="en-US" dirty="0">
                <a:latin typeface="Cambria Math" panose="02040503050406030204" pitchFamily="18" charset="0"/>
                <a:ea typeface="Cambria Math" panose="02040503050406030204" pitchFamily="18" charset="0"/>
              </a:rPr>
              <a:t>and </a:t>
            </a:r>
          </a:p>
          <a:p>
            <a:pPr marL="0" indent="0">
              <a:buNone/>
            </a:pPr>
            <a:r>
              <a:rPr lang="en-US" dirty="0">
                <a:latin typeface="Cambria Math" panose="02040503050406030204" pitchFamily="18" charset="0"/>
                <a:ea typeface="Cambria Math" panose="02040503050406030204" pitchFamily="18" charset="0"/>
              </a:rPr>
              <a:t>the </a:t>
            </a:r>
            <a:r>
              <a:rPr lang="en-US" i="1" dirty="0">
                <a:latin typeface="Cambria Math" panose="02040503050406030204" pitchFamily="18" charset="0"/>
                <a:ea typeface="Cambria Math" panose="02040503050406030204" pitchFamily="18" charset="0"/>
              </a:rPr>
              <a:t>domain</a:t>
            </a:r>
            <a:r>
              <a:rPr lang="en-US" dirty="0">
                <a:latin typeface="Cambria Math" panose="02040503050406030204" pitchFamily="18" charset="0"/>
                <a:ea typeface="Cambria Math" panose="02040503050406030204" pitchFamily="18" charset="0"/>
              </a:rPr>
              <a:t> consists of all computers on campus?</a:t>
            </a:r>
          </a:p>
        </p:txBody>
      </p:sp>
      <p:sp>
        <p:nvSpPr>
          <p:cNvPr id="1048713" name="Title 2"/>
          <p:cNvSpPr>
            <a:spLocks noGrp="1"/>
          </p:cNvSpPr>
          <p:nvPr>
            <p:ph type="title"/>
          </p:nvPr>
        </p:nvSpPr>
        <p:spPr/>
        <p:txBody>
          <a:bodyPr/>
          <a:lstStyle/>
          <a:p>
            <a:r>
              <a:rPr lang="en-US" dirty="0">
                <a:latin typeface="Cambria Math" panose="02040503050406030204" pitchFamily="18" charset="0"/>
                <a:ea typeface="Cambria Math" panose="02040503050406030204" pitchFamily="18" charset="0"/>
              </a:rPr>
              <a:t>Universal Quantifier</a:t>
            </a:r>
          </a:p>
        </p:txBody>
      </p:sp>
      <p:sp>
        <p:nvSpPr>
          <p:cNvPr id="3" name="TextBox 2">
            <a:extLst>
              <a:ext uri="{FF2B5EF4-FFF2-40B4-BE49-F238E27FC236}">
                <a16:creationId xmlns:a16="http://schemas.microsoft.com/office/drawing/2014/main" id="{CD828F59-4410-D5D7-FC92-FF76BB71215F}"/>
              </a:ext>
            </a:extLst>
          </p:cNvPr>
          <p:cNvSpPr txBox="1"/>
          <p:nvPr/>
        </p:nvSpPr>
        <p:spPr>
          <a:xfrm>
            <a:off x="1750664" y="4554585"/>
            <a:ext cx="8859065" cy="954107"/>
          </a:xfrm>
          <a:prstGeom prst="rect">
            <a:avLst/>
          </a:prstGeom>
          <a:noFill/>
        </p:spPr>
        <p:txBody>
          <a:bodyPr wrap="square">
            <a:spAutoFit/>
          </a:bodyPr>
          <a:lstStyle/>
          <a:p>
            <a:endParaRPr lang="en-US" sz="2800" b="1" dirty="0">
              <a:solidFill>
                <a:srgbClr val="FF0000"/>
              </a:solidFill>
              <a:latin typeface="Cambria Math" panose="02040503050406030204" pitchFamily="18" charset="0"/>
              <a:ea typeface="Cambria Math" panose="02040503050406030204" pitchFamily="18" charset="0"/>
            </a:endParaRPr>
          </a:p>
          <a:p>
            <a:r>
              <a:rPr lang="en-US" sz="2800" b="1" dirty="0">
                <a:solidFill>
                  <a:srgbClr val="FF0000"/>
                </a:solidFill>
                <a:latin typeface="Cambria Math" panose="02040503050406030204" pitchFamily="18" charset="0"/>
                <a:ea typeface="Cambria Math" panose="02040503050406030204" pitchFamily="18" charset="0"/>
              </a:rPr>
              <a:t>“Every computer on campus is connected to the network.”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260" y="230453"/>
            <a:ext cx="10515600" cy="1604316"/>
          </a:xfrm>
        </p:spPr>
        <p:txBody>
          <a:bodyPr>
            <a:normAutofit fontScale="90000"/>
          </a:bodyPr>
          <a:lstStyle/>
          <a:p>
            <a:r>
              <a:rPr lang="en-US" b="1" dirty="0">
                <a:solidFill>
                  <a:schemeClr val="tx2"/>
                </a:solidFill>
                <a:latin typeface="Cambria Math" panose="02040503050406030204" pitchFamily="18" charset="0"/>
                <a:ea typeface="Cambria Math" panose="02040503050406030204" pitchFamily="18" charset="0"/>
              </a:rPr>
              <a:t>Translation from English to Logical Expressions</a:t>
            </a:r>
            <a:br>
              <a:rPr lang="en-US" b="1" dirty="0">
                <a:solidFill>
                  <a:schemeClr val="tx2"/>
                </a:solidFill>
                <a:latin typeface="Cambria Math" panose="02040503050406030204" pitchFamily="18" charset="0"/>
                <a:ea typeface="Cambria Math" panose="02040503050406030204" pitchFamily="18" charset="0"/>
              </a:rPr>
            </a:br>
            <a:br>
              <a:rPr lang="en-US" b="1" dirty="0">
                <a:solidFill>
                  <a:schemeClr val="tx2"/>
                </a:solidFill>
                <a:latin typeface="Cambria Math" panose="02040503050406030204" pitchFamily="18" charset="0"/>
                <a:ea typeface="Cambria Math" panose="02040503050406030204" pitchFamily="18" charset="0"/>
              </a:rPr>
            </a:br>
            <a:r>
              <a:rPr lang="en-US" dirty="0">
                <a:solidFill>
                  <a:schemeClr val="tx2"/>
                </a:solidFill>
                <a:latin typeface="Cambria Math" panose="02040503050406030204" pitchFamily="18" charset="0"/>
                <a:ea typeface="Cambria Math" panose="02040503050406030204" pitchFamily="18" charset="0"/>
              </a:rPr>
              <a:t>Example1 …</a:t>
            </a:r>
          </a:p>
        </p:txBody>
      </p:sp>
      <p:sp>
        <p:nvSpPr>
          <p:cNvPr id="3" name="Content Placeholder 2"/>
          <p:cNvSpPr>
            <a:spLocks noGrp="1"/>
          </p:cNvSpPr>
          <p:nvPr>
            <p:ph idx="1"/>
          </p:nvPr>
        </p:nvSpPr>
        <p:spPr>
          <a:xfrm>
            <a:off x="838200" y="1834769"/>
            <a:ext cx="10515600" cy="2861511"/>
          </a:xfrm>
        </p:spPr>
        <p:txBody>
          <a:bodyPr>
            <a:normAutofit/>
          </a:bodyPr>
          <a:lstStyle/>
          <a:p>
            <a:pPr marL="0" indent="0">
              <a:buNone/>
            </a:pPr>
            <a:r>
              <a:rPr lang="en-US" dirty="0">
                <a:latin typeface="Cambria Math" panose="02040503050406030204" pitchFamily="18" charset="0"/>
                <a:ea typeface="Cambria Math" panose="02040503050406030204" pitchFamily="18" charset="0"/>
              </a:rPr>
              <a:t>Let x = a student</a:t>
            </a:r>
          </a:p>
          <a:p>
            <a:pPr marL="0" indent="0">
              <a:buNone/>
            </a:pPr>
            <a:r>
              <a:rPr lang="en-US" dirty="0">
                <a:latin typeface="Cambria Math" panose="02040503050406030204" pitchFamily="18" charset="0"/>
                <a:ea typeface="Cambria Math" panose="02040503050406030204" pitchFamily="18" charset="0"/>
              </a:rPr>
              <a:t>P(x) = “x must take Discrete Mathematics course”, </a:t>
            </a:r>
          </a:p>
          <a:p>
            <a:pPr marL="0" indent="0">
              <a:buNone/>
            </a:pPr>
            <a:r>
              <a:rPr lang="en-US" dirty="0">
                <a:latin typeface="Cambria Math" panose="02040503050406030204" pitchFamily="18" charset="0"/>
                <a:ea typeface="Cambria Math" panose="02040503050406030204" pitchFamily="18" charset="0"/>
              </a:rPr>
              <a:t>The Universe of discourse is all UMT students.</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Express the statement mathematically: </a:t>
            </a:r>
            <a:r>
              <a:rPr lang="en-US" dirty="0">
                <a:solidFill>
                  <a:srgbClr val="C00000"/>
                </a:solidFill>
                <a:latin typeface="Cambria Math" panose="02040503050406030204" pitchFamily="18" charset="0"/>
                <a:ea typeface="Cambria Math" panose="02040503050406030204" pitchFamily="18" charset="0"/>
              </a:rPr>
              <a:t>“Every student must take discrete mathematics course”</a:t>
            </a:r>
          </a:p>
        </p:txBody>
      </p:sp>
      <p:sp>
        <p:nvSpPr>
          <p:cNvPr id="5" name="TextBox 4">
            <a:extLst>
              <a:ext uri="{FF2B5EF4-FFF2-40B4-BE49-F238E27FC236}">
                <a16:creationId xmlns:a16="http://schemas.microsoft.com/office/drawing/2014/main" id="{EB88F75D-CEBD-A3AB-2B20-23D181D2DEE1}"/>
              </a:ext>
            </a:extLst>
          </p:cNvPr>
          <p:cNvSpPr txBox="1"/>
          <p:nvPr/>
        </p:nvSpPr>
        <p:spPr>
          <a:xfrm>
            <a:off x="3435470" y="4546628"/>
            <a:ext cx="2266590" cy="830997"/>
          </a:xfrm>
          <a:prstGeom prst="rect">
            <a:avLst/>
          </a:prstGeom>
          <a:noFill/>
        </p:spPr>
        <p:txBody>
          <a:bodyPr wrap="square">
            <a:spAutoFit/>
          </a:bodyPr>
          <a:lstStyle/>
          <a:p>
            <a:r>
              <a:rPr lang="en-US" sz="4800" b="1" dirty="0">
                <a:solidFill>
                  <a:srgbClr val="00B050"/>
                </a:solidFill>
                <a:latin typeface="Cambria Math" panose="02040503050406030204" pitchFamily="18" charset="0"/>
                <a:ea typeface="Cambria Math" panose="02040503050406030204" pitchFamily="18" charset="0"/>
              </a:rPr>
              <a:t>∀x P(x) </a:t>
            </a:r>
            <a:endParaRPr lang="en-US" sz="4800" dirty="0"/>
          </a:p>
        </p:txBody>
      </p:sp>
      <p:sp>
        <p:nvSpPr>
          <p:cNvPr id="6" name="TextBox 5">
            <a:extLst>
              <a:ext uri="{FF2B5EF4-FFF2-40B4-BE49-F238E27FC236}">
                <a16:creationId xmlns:a16="http://schemas.microsoft.com/office/drawing/2014/main" id="{68C36CD1-9D3C-1EC5-4CAF-DFC7CA36E3ED}"/>
              </a:ext>
            </a:extLst>
          </p:cNvPr>
          <p:cNvSpPr txBox="1"/>
          <p:nvPr/>
        </p:nvSpPr>
        <p:spPr>
          <a:xfrm>
            <a:off x="920318" y="5439160"/>
            <a:ext cx="10144329" cy="892552"/>
          </a:xfrm>
          <a:prstGeom prst="rect">
            <a:avLst/>
          </a:prstGeom>
          <a:noFill/>
        </p:spPr>
        <p:txBody>
          <a:bodyPr wrap="square">
            <a:spAutoFit/>
          </a:bodyPr>
          <a:lstStyle/>
          <a:p>
            <a:r>
              <a:rPr lang="en-US" sz="2600" dirty="0">
                <a:latin typeface="Cambria Math" panose="02040503050406030204" pitchFamily="18" charset="0"/>
                <a:ea typeface="Cambria Math" panose="02040503050406030204" pitchFamily="18" charset="0"/>
              </a:rPr>
              <a:t>The above proposition with have its Truth value equal to True only if P(x) is True for all values of x. </a:t>
            </a:r>
          </a:p>
        </p:txBody>
      </p:sp>
    </p:spTree>
    <p:extLst>
      <p:ext uri="{BB962C8B-B14F-4D97-AF65-F5344CB8AC3E}">
        <p14:creationId xmlns:p14="http://schemas.microsoft.com/office/powerpoint/2010/main" val="199552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9905" y="0"/>
            <a:ext cx="10515600" cy="1325563"/>
          </a:xfrm>
        </p:spPr>
        <p:txBody>
          <a:bodyPr>
            <a:normAutofit/>
          </a:bodyPr>
          <a:lstStyle/>
          <a:p>
            <a:r>
              <a:rPr lang="en-US" dirty="0">
                <a:solidFill>
                  <a:schemeClr val="tx2"/>
                </a:solidFill>
                <a:latin typeface="Cambria Math" panose="02040503050406030204" pitchFamily="18" charset="0"/>
                <a:ea typeface="Cambria Math" panose="02040503050406030204" pitchFamily="18" charset="0"/>
              </a:rPr>
              <a:t>Example2…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734683" y="1151324"/>
                <a:ext cx="10515600" cy="2505087"/>
              </a:xfrm>
            </p:spPr>
            <p:txBody>
              <a:bodyPr>
                <a:normAutofit fontScale="92500" lnSpcReduction="10000"/>
              </a:bodyPr>
              <a:lstStyle/>
              <a:p>
                <a:pPr marL="0" indent="0">
                  <a:buNone/>
                </a:pPr>
                <a:r>
                  <a:rPr lang="en-US" dirty="0">
                    <a:latin typeface="Cambria Math" panose="02040503050406030204" pitchFamily="18" charset="0"/>
                    <a:ea typeface="Cambria Math" panose="02040503050406030204" pitchFamily="18" charset="0"/>
                  </a:rPr>
                  <a:t>Let x = a student</a:t>
                </a:r>
              </a:p>
              <a:p>
                <a:pPr marL="0" indent="0">
                  <a:buNone/>
                </a:pPr>
                <a14:m>
                  <m:oMath xmlns:m="http://schemas.openxmlformats.org/officeDocument/2006/math">
                    <m:r>
                      <a:rPr lang="en-US" i="1" dirty="0" smtClean="0">
                        <a:latin typeface="Cambria Math" panose="02040503050406030204" pitchFamily="18" charset="0"/>
                        <a:ea typeface="Cambria Math" panose="02040503050406030204" pitchFamily="18" charset="0"/>
                      </a:rPr>
                      <m:t>𝑃</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𝑥</m:t>
                    </m:r>
                    <m:r>
                      <a:rPr lang="en-US" i="1" dirty="0" smtClean="0">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be “x must take Discrete Mathematics course”, </a:t>
                </a:r>
              </a:p>
              <a:p>
                <a:pPr marL="0" indent="0">
                  <a:buNone/>
                </a:pPr>
                <a:r>
                  <a:rPr lang="en-US" dirty="0">
                    <a:latin typeface="Cambria Math" panose="02040503050406030204" pitchFamily="18" charset="0"/>
                    <a:ea typeface="Cambria Math" panose="02040503050406030204" pitchFamily="18" charset="0"/>
                  </a:rPr>
                  <a:t>And let </a:t>
                </a:r>
                <a14:m>
                  <m:oMath xmlns:m="http://schemas.openxmlformats.org/officeDocument/2006/math">
                    <m:r>
                      <a:rPr lang="en-US" i="1" dirty="0" smtClean="0">
                        <a:latin typeface="Cambria Math" panose="02040503050406030204" pitchFamily="18" charset="0"/>
                        <a:ea typeface="Cambria Math" panose="02040503050406030204" pitchFamily="18" charset="0"/>
                      </a:rPr>
                      <m:t>𝑄</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ea typeface="Cambria Math" panose="02040503050406030204" pitchFamily="18" charset="0"/>
                      </a:rPr>
                      <m:t>𝑥</m:t>
                    </m:r>
                    <m:r>
                      <a:rPr lang="en-US" i="1" dirty="0" smtClean="0">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be “x is a Computer Science student”. </a:t>
                </a:r>
              </a:p>
              <a:p>
                <a:pPr marL="0" indent="0">
                  <a:buNone/>
                </a:pPr>
                <a:r>
                  <a:rPr lang="en-US" dirty="0">
                    <a:latin typeface="Cambria Math" panose="02040503050406030204" pitchFamily="18" charset="0"/>
                    <a:ea typeface="Cambria Math" panose="02040503050406030204" pitchFamily="18" charset="0"/>
                  </a:rPr>
                  <a:t>The Universe of discourse is all UMT students (</a:t>
                </a:r>
                <a14:m>
                  <m:oMath xmlns:m="http://schemas.openxmlformats.org/officeDocument/2006/math">
                    <m:r>
                      <a:rPr lang="en-US" i="1" dirty="0" smtClean="0">
                        <a:latin typeface="Cambria Math" panose="02040503050406030204" pitchFamily="18" charset="0"/>
                        <a:ea typeface="Cambria Math" panose="02040503050406030204" pitchFamily="18" charset="0"/>
                      </a:rPr>
                      <m:t>𝑥</m:t>
                    </m:r>
                  </m:oMath>
                </a14:m>
                <a:r>
                  <a:rPr lang="en-US" dirty="0">
                    <a:latin typeface="Cambria Math" panose="02040503050406030204" pitchFamily="18" charset="0"/>
                    <a:ea typeface="Cambria Math" panose="02040503050406030204" pitchFamily="18" charset="0"/>
                  </a:rPr>
                  <a:t>).</a:t>
                </a:r>
              </a:p>
              <a:p>
                <a:pPr marL="0" indent="0">
                  <a:buNone/>
                </a:pPr>
                <a:r>
                  <a:rPr lang="en-US" dirty="0">
                    <a:latin typeface="Cambria Math" panose="02040503050406030204" pitchFamily="18" charset="0"/>
                    <a:ea typeface="Cambria Math" panose="02040503050406030204" pitchFamily="18" charset="0"/>
                  </a:rPr>
                  <a:t>Express the statement: </a:t>
                </a:r>
                <a:r>
                  <a:rPr lang="en-US" dirty="0">
                    <a:solidFill>
                      <a:srgbClr val="C00000"/>
                    </a:solidFill>
                    <a:latin typeface="Cambria Math" panose="02040503050406030204" pitchFamily="18" charset="0"/>
                    <a:ea typeface="Cambria Math" panose="02040503050406030204" pitchFamily="18" charset="0"/>
                  </a:rPr>
                  <a:t>“Every computer science student in UMT must take discrete mathematics course”</a:t>
                </a:r>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734683" y="1151324"/>
                <a:ext cx="10515600" cy="2505087"/>
              </a:xfrm>
              <a:blipFill>
                <a:blip r:embed="rId2"/>
                <a:stretch>
                  <a:fillRect l="-1043" t="-5353" b="-583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14DF3EC-6750-659F-0B84-DE74814133F2}"/>
              </a:ext>
            </a:extLst>
          </p:cNvPr>
          <p:cNvSpPr txBox="1"/>
          <p:nvPr/>
        </p:nvSpPr>
        <p:spPr>
          <a:xfrm>
            <a:off x="2801093" y="3730622"/>
            <a:ext cx="6710583" cy="830997"/>
          </a:xfrm>
          <a:prstGeom prst="rect">
            <a:avLst/>
          </a:prstGeom>
          <a:noFill/>
        </p:spPr>
        <p:txBody>
          <a:bodyPr wrap="square">
            <a:spAutoFit/>
          </a:bodyPr>
          <a:lstStyle/>
          <a:p>
            <a:r>
              <a:rPr lang="en-US" sz="4800" b="1" dirty="0">
                <a:solidFill>
                  <a:srgbClr val="00B050"/>
                </a:solidFill>
                <a:latin typeface="Cambria Math" panose="02040503050406030204" pitchFamily="18" charset="0"/>
                <a:ea typeface="Cambria Math" panose="02040503050406030204" pitchFamily="18" charset="0"/>
              </a:rPr>
              <a:t>∀x(Q(x) </a:t>
            </a:r>
            <a:r>
              <a:rPr lang="en-US" sz="4800" b="1" dirty="0">
                <a:solidFill>
                  <a:schemeClr val="accent5">
                    <a:lumMod val="75000"/>
                  </a:schemeClr>
                </a:solidFill>
                <a:latin typeface="Cambria Math" panose="02040503050406030204" pitchFamily="18" charset="0"/>
                <a:ea typeface="Cambria Math" panose="02040503050406030204" pitchFamily="18" charset="0"/>
                <a:sym typeface="Wingdings" panose="05000000000000000000" pitchFamily="2" charset="2"/>
              </a:rPr>
              <a:t></a:t>
            </a:r>
            <a:r>
              <a:rPr lang="en-US" sz="4800" b="1" dirty="0">
                <a:solidFill>
                  <a:srgbClr val="00B050"/>
                </a:solidFill>
                <a:latin typeface="Cambria Math" panose="02040503050406030204" pitchFamily="18" charset="0"/>
                <a:ea typeface="Cambria Math" panose="02040503050406030204" pitchFamily="18" charset="0"/>
                <a:sym typeface="Wingdings" panose="05000000000000000000" pitchFamily="2" charset="2"/>
              </a:rPr>
              <a:t> </a:t>
            </a:r>
            <a:r>
              <a:rPr lang="en-US" sz="4800" b="1" dirty="0">
                <a:solidFill>
                  <a:srgbClr val="00B050"/>
                </a:solidFill>
                <a:latin typeface="Cambria Math" panose="02040503050406030204" pitchFamily="18" charset="0"/>
                <a:ea typeface="Cambria Math" panose="02040503050406030204" pitchFamily="18" charset="0"/>
              </a:rPr>
              <a:t>P(x)) </a:t>
            </a:r>
            <a:endParaRPr lang="en-US" sz="4800" dirty="0"/>
          </a:p>
        </p:txBody>
      </p:sp>
      <p:sp>
        <p:nvSpPr>
          <p:cNvPr id="6" name="TextBox 5">
            <a:extLst>
              <a:ext uri="{FF2B5EF4-FFF2-40B4-BE49-F238E27FC236}">
                <a16:creationId xmlns:a16="http://schemas.microsoft.com/office/drawing/2014/main" id="{99FC99A4-732C-B113-8233-B3684B7990E2}"/>
              </a:ext>
            </a:extLst>
          </p:cNvPr>
          <p:cNvSpPr txBox="1"/>
          <p:nvPr/>
        </p:nvSpPr>
        <p:spPr>
          <a:xfrm>
            <a:off x="920318" y="4739913"/>
            <a:ext cx="10144329" cy="892552"/>
          </a:xfrm>
          <a:prstGeom prst="rect">
            <a:avLst/>
          </a:prstGeom>
          <a:noFill/>
        </p:spPr>
        <p:txBody>
          <a:bodyPr wrap="square">
            <a:spAutoFit/>
          </a:bodyPr>
          <a:lstStyle/>
          <a:p>
            <a:r>
              <a:rPr lang="en-US" sz="2600" dirty="0">
                <a:latin typeface="Cambria Math" panose="02040503050406030204" pitchFamily="18" charset="0"/>
                <a:ea typeface="Cambria Math" panose="02040503050406030204" pitchFamily="18" charset="0"/>
              </a:rPr>
              <a:t>The above proposition with have its Truth value equal to True only if it is True for all values of x. </a:t>
            </a:r>
          </a:p>
        </p:txBody>
      </p:sp>
      <p:sp>
        <p:nvSpPr>
          <p:cNvPr id="7" name="TextBox 6">
            <a:extLst>
              <a:ext uri="{FF2B5EF4-FFF2-40B4-BE49-F238E27FC236}">
                <a16:creationId xmlns:a16="http://schemas.microsoft.com/office/drawing/2014/main" id="{1F279D06-05F8-A9B1-DC5D-F3F39A69B21D}"/>
              </a:ext>
            </a:extLst>
          </p:cNvPr>
          <p:cNvSpPr txBox="1"/>
          <p:nvPr/>
        </p:nvSpPr>
        <p:spPr>
          <a:xfrm>
            <a:off x="920317" y="5706676"/>
            <a:ext cx="10144329" cy="892552"/>
          </a:xfrm>
          <a:prstGeom prst="rect">
            <a:avLst/>
          </a:prstGeom>
          <a:noFill/>
        </p:spPr>
        <p:txBody>
          <a:bodyPr wrap="square">
            <a:spAutoFit/>
          </a:bodyPr>
          <a:lstStyle/>
          <a:p>
            <a:r>
              <a:rPr lang="en-US" sz="2600" dirty="0">
                <a:latin typeface="Cambria Math" panose="02040503050406030204" pitchFamily="18" charset="0"/>
                <a:ea typeface="Cambria Math" panose="02040503050406030204" pitchFamily="18" charset="0"/>
              </a:rPr>
              <a:t>In what scenario, the above proposition will have False as its truth value?</a:t>
            </a:r>
          </a:p>
        </p:txBody>
      </p:sp>
    </p:spTree>
    <p:extLst>
      <p:ext uri="{BB962C8B-B14F-4D97-AF65-F5344CB8AC3E}">
        <p14:creationId xmlns:p14="http://schemas.microsoft.com/office/powerpoint/2010/main" val="70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222" y="416860"/>
            <a:ext cx="10515600" cy="856446"/>
          </a:xfrm>
        </p:spPr>
        <p:txBody>
          <a:bodyPr>
            <a:normAutofit/>
          </a:bodyPr>
          <a:lstStyle/>
          <a:p>
            <a:r>
              <a:rPr lang="en-US" dirty="0">
                <a:solidFill>
                  <a:schemeClr val="tx2"/>
                </a:solidFill>
                <a:latin typeface="Cambria Math" panose="02040503050406030204" pitchFamily="18" charset="0"/>
                <a:ea typeface="Cambria Math" panose="02040503050406030204" pitchFamily="18" charset="0"/>
              </a:rPr>
              <a:t>Example3</a:t>
            </a:r>
          </a:p>
        </p:txBody>
      </p:sp>
      <p:sp>
        <p:nvSpPr>
          <p:cNvPr id="3" name="Content Placeholder 2"/>
          <p:cNvSpPr>
            <a:spLocks noGrp="1"/>
          </p:cNvSpPr>
          <p:nvPr>
            <p:ph idx="1"/>
          </p:nvPr>
        </p:nvSpPr>
        <p:spPr>
          <a:xfrm>
            <a:off x="827407" y="1621538"/>
            <a:ext cx="10943252" cy="2866963"/>
          </a:xfrm>
        </p:spPr>
        <p:txBody>
          <a:bodyPr>
            <a:normAutofit lnSpcReduction="10000"/>
          </a:bodyPr>
          <a:lstStyle/>
          <a:p>
            <a:pPr marL="0" indent="0">
              <a:buNone/>
            </a:pPr>
            <a:r>
              <a:rPr lang="en-US" dirty="0">
                <a:latin typeface="Cambria Math" panose="02040503050406030204" pitchFamily="18" charset="0"/>
                <a:ea typeface="Cambria Math" panose="02040503050406030204" pitchFamily="18" charset="0"/>
              </a:rPr>
              <a:t>Let x = a student in UMT</a:t>
            </a:r>
          </a:p>
          <a:p>
            <a:pPr marL="0" indent="0">
              <a:buNone/>
            </a:pPr>
            <a:r>
              <a:rPr lang="en-US" dirty="0">
                <a:latin typeface="Cambria Math" panose="02040503050406030204" pitchFamily="18" charset="0"/>
                <a:ea typeface="Cambria Math" panose="02040503050406030204" pitchFamily="18" charset="0"/>
              </a:rPr>
              <a:t>Let P(x) be “x must take Discrete Mathematics course”, </a:t>
            </a:r>
          </a:p>
          <a:p>
            <a:pPr marL="0" indent="0">
              <a:buNone/>
            </a:pPr>
            <a:r>
              <a:rPr lang="en-US" dirty="0">
                <a:latin typeface="Cambria Math" panose="02040503050406030204" pitchFamily="18" charset="0"/>
                <a:ea typeface="Cambria Math" panose="02040503050406030204" pitchFamily="18" charset="0"/>
              </a:rPr>
              <a:t>And let Q(x) = “x is a Computer Science student”. </a:t>
            </a:r>
          </a:p>
          <a:p>
            <a:pPr marL="0" indent="0">
              <a:buNone/>
            </a:pPr>
            <a:r>
              <a:rPr lang="en-US" dirty="0">
                <a:latin typeface="Cambria Math" panose="02040503050406030204" pitchFamily="18" charset="0"/>
                <a:ea typeface="Cambria Math" panose="02040503050406030204" pitchFamily="18" charset="0"/>
              </a:rPr>
              <a:t>The Universe of discourse is all UMT students.</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Express the statement: </a:t>
            </a:r>
            <a:r>
              <a:rPr lang="en-US" dirty="0">
                <a:solidFill>
                  <a:srgbClr val="C00000"/>
                </a:solidFill>
                <a:latin typeface="Cambria Math" panose="02040503050406030204" pitchFamily="18" charset="0"/>
                <a:ea typeface="Cambria Math" panose="02040503050406030204" pitchFamily="18" charset="0"/>
              </a:rPr>
              <a:t>“Every student must take a discrete mathematics course or be a computer science student”</a:t>
            </a:r>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p:txBody>
      </p:sp>
      <p:sp>
        <p:nvSpPr>
          <p:cNvPr id="5" name="TextBox 4">
            <a:extLst>
              <a:ext uri="{FF2B5EF4-FFF2-40B4-BE49-F238E27FC236}">
                <a16:creationId xmlns:a16="http://schemas.microsoft.com/office/drawing/2014/main" id="{55F9E2B0-4287-9F1C-CC96-3CA310A84D2F}"/>
              </a:ext>
            </a:extLst>
          </p:cNvPr>
          <p:cNvSpPr txBox="1"/>
          <p:nvPr/>
        </p:nvSpPr>
        <p:spPr>
          <a:xfrm>
            <a:off x="2740708" y="4607171"/>
            <a:ext cx="6710583" cy="830997"/>
          </a:xfrm>
          <a:prstGeom prst="rect">
            <a:avLst/>
          </a:prstGeom>
          <a:noFill/>
        </p:spPr>
        <p:txBody>
          <a:bodyPr wrap="square">
            <a:spAutoFit/>
          </a:bodyPr>
          <a:lstStyle/>
          <a:p>
            <a:r>
              <a:rPr lang="en-US" sz="4800" b="1" dirty="0">
                <a:solidFill>
                  <a:srgbClr val="00B050"/>
                </a:solidFill>
                <a:latin typeface="Cambria Math" panose="02040503050406030204" pitchFamily="18" charset="0"/>
                <a:ea typeface="Cambria Math" panose="02040503050406030204" pitchFamily="18" charset="0"/>
              </a:rPr>
              <a:t>∀x(Q(x) </a:t>
            </a:r>
            <a:r>
              <a:rPr lang="en-US" sz="4800" b="1" dirty="0">
                <a:solidFill>
                  <a:schemeClr val="accent5">
                    <a:lumMod val="75000"/>
                  </a:schemeClr>
                </a:solidFill>
                <a:latin typeface="Cambria Math" panose="02040503050406030204" pitchFamily="18" charset="0"/>
                <a:ea typeface="Cambria Math" panose="02040503050406030204" pitchFamily="18" charset="0"/>
                <a:sym typeface="Wingdings" panose="05000000000000000000" pitchFamily="2" charset="2"/>
              </a:rPr>
              <a:t>∨</a:t>
            </a:r>
            <a:r>
              <a:rPr lang="en-US" sz="4800" b="1" dirty="0">
                <a:solidFill>
                  <a:srgbClr val="00B050"/>
                </a:solidFill>
                <a:latin typeface="Cambria Math" panose="02040503050406030204" pitchFamily="18" charset="0"/>
                <a:ea typeface="Cambria Math" panose="02040503050406030204" pitchFamily="18" charset="0"/>
                <a:sym typeface="Wingdings" panose="05000000000000000000" pitchFamily="2" charset="2"/>
              </a:rPr>
              <a:t> </a:t>
            </a:r>
            <a:r>
              <a:rPr lang="en-US" sz="4800" b="1" dirty="0">
                <a:solidFill>
                  <a:srgbClr val="00B050"/>
                </a:solidFill>
                <a:latin typeface="Cambria Math" panose="02040503050406030204" pitchFamily="18" charset="0"/>
                <a:ea typeface="Cambria Math" panose="02040503050406030204" pitchFamily="18" charset="0"/>
              </a:rPr>
              <a:t>P(x)) </a:t>
            </a:r>
            <a:endParaRPr lang="en-US" sz="4800" dirty="0"/>
          </a:p>
        </p:txBody>
      </p:sp>
    </p:spTree>
    <p:extLst>
      <p:ext uri="{BB962C8B-B14F-4D97-AF65-F5344CB8AC3E}">
        <p14:creationId xmlns:p14="http://schemas.microsoft.com/office/powerpoint/2010/main" val="14586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5765" y="262105"/>
            <a:ext cx="9455385" cy="1860125"/>
          </a:xfrm>
          <a:prstGeom prst="rect">
            <a:avLst/>
          </a:prstGeom>
        </p:spPr>
        <p:txBody>
          <a:bodyPr vert="horz" wrap="square" lIns="0" tIns="13335" rIns="0" bIns="0" rtlCol="0" anchor="ctr">
            <a:spAutoFit/>
          </a:bodyPr>
          <a:lstStyle/>
          <a:p>
            <a:pPr marL="12700">
              <a:lnSpc>
                <a:spcPct val="100000"/>
              </a:lnSpc>
              <a:spcBef>
                <a:spcPts val="105"/>
              </a:spcBef>
            </a:pPr>
            <a:r>
              <a:rPr lang="en-US" sz="4000" spc="-15" dirty="0">
                <a:latin typeface="Cambria Math" panose="02040503050406030204" pitchFamily="18" charset="0"/>
                <a:ea typeface="Cambria Math" panose="02040503050406030204" pitchFamily="18" charset="0"/>
              </a:rPr>
              <a:t>Universal Quantifier …. Truth Value …</a:t>
            </a:r>
            <a:br>
              <a:rPr lang="en-US" sz="4000" spc="-15" dirty="0">
                <a:latin typeface="Cambria Math" panose="02040503050406030204" pitchFamily="18" charset="0"/>
                <a:ea typeface="Cambria Math" panose="02040503050406030204" pitchFamily="18" charset="0"/>
              </a:rPr>
            </a:br>
            <a:br>
              <a:rPr lang="en-US" sz="4000" spc="-15" dirty="0">
                <a:latin typeface="Cambria Math" panose="02040503050406030204" pitchFamily="18" charset="0"/>
                <a:ea typeface="Cambria Math" panose="02040503050406030204" pitchFamily="18" charset="0"/>
              </a:rPr>
            </a:br>
            <a:r>
              <a:rPr sz="3600" spc="-15" dirty="0">
                <a:latin typeface="Cambria Math" panose="02040503050406030204" pitchFamily="18" charset="0"/>
                <a:ea typeface="Cambria Math" panose="02040503050406030204" pitchFamily="18" charset="0"/>
              </a:rPr>
              <a:t>Example</a:t>
            </a:r>
            <a:r>
              <a:rPr sz="3600" spc="-80" dirty="0">
                <a:latin typeface="Cambria Math" panose="02040503050406030204" pitchFamily="18" charset="0"/>
                <a:ea typeface="Cambria Math" panose="02040503050406030204" pitchFamily="18" charset="0"/>
              </a:rPr>
              <a:t> </a:t>
            </a:r>
            <a:r>
              <a:rPr sz="3600" dirty="0">
                <a:latin typeface="Cambria Math" panose="02040503050406030204" pitchFamily="18" charset="0"/>
                <a:ea typeface="Cambria Math" panose="02040503050406030204" pitchFamily="18" charset="0"/>
              </a:rPr>
              <a:t>1</a:t>
            </a:r>
            <a:endParaRPr sz="4000" dirty="0">
              <a:latin typeface="Cambria Math" panose="02040503050406030204" pitchFamily="18" charset="0"/>
              <a:ea typeface="Cambria Math" panose="02040503050406030204" pitchFamily="18" charset="0"/>
            </a:endParaRPr>
          </a:p>
        </p:txBody>
      </p:sp>
      <p:sp>
        <p:nvSpPr>
          <p:cNvPr id="3" name="object 3"/>
          <p:cNvSpPr txBox="1"/>
          <p:nvPr/>
        </p:nvSpPr>
        <p:spPr>
          <a:xfrm>
            <a:off x="554824" y="2407298"/>
            <a:ext cx="11119694" cy="2796278"/>
          </a:xfrm>
          <a:prstGeom prst="rect">
            <a:avLst/>
          </a:prstGeom>
        </p:spPr>
        <p:txBody>
          <a:bodyPr vert="horz" wrap="square" lIns="0" tIns="13335" rIns="0" bIns="0" rtlCol="0">
            <a:spAutoFit/>
          </a:bodyPr>
          <a:lstStyle/>
          <a:p>
            <a:pPr marL="355600" marR="5080" indent="-342900">
              <a:spcBef>
                <a:spcPts val="105"/>
              </a:spcBef>
              <a:buFont typeface="Arial"/>
              <a:buChar char="•"/>
              <a:tabLst>
                <a:tab pos="354965" algn="l"/>
                <a:tab pos="355600" algn="l"/>
              </a:tabLst>
            </a:pPr>
            <a:r>
              <a:rPr sz="2800" spc="-5" dirty="0">
                <a:latin typeface="Cambria Math" panose="02040503050406030204" pitchFamily="18" charset="0"/>
                <a:ea typeface="Cambria Math" panose="02040503050406030204" pitchFamily="18" charset="0"/>
                <a:cs typeface="Calibri"/>
              </a:rPr>
              <a:t>Let </a:t>
            </a:r>
            <a:r>
              <a:rPr sz="2800" i="1" dirty="0">
                <a:latin typeface="Cambria Math" panose="02040503050406030204" pitchFamily="18" charset="0"/>
                <a:ea typeface="Cambria Math" panose="02040503050406030204" pitchFamily="18" charset="0"/>
                <a:cs typeface="Calibri"/>
              </a:rPr>
              <a:t>P(x) </a:t>
            </a:r>
            <a:r>
              <a:rPr sz="2800" spc="-5" dirty="0">
                <a:latin typeface="Cambria Math" panose="02040503050406030204" pitchFamily="18" charset="0"/>
                <a:ea typeface="Cambria Math" panose="02040503050406030204" pitchFamily="18" charset="0"/>
                <a:cs typeface="Calibri"/>
              </a:rPr>
              <a:t>be </a:t>
            </a:r>
            <a:r>
              <a:rPr sz="2800" dirty="0">
                <a:latin typeface="Cambria Math" panose="02040503050406030204" pitchFamily="18" charset="0"/>
                <a:ea typeface="Cambria Math" panose="02040503050406030204" pitchFamily="18" charset="0"/>
                <a:cs typeface="Calibri"/>
              </a:rPr>
              <a:t>the </a:t>
            </a:r>
            <a:r>
              <a:rPr sz="2800" spc="-20" dirty="0">
                <a:latin typeface="Cambria Math" panose="02040503050406030204" pitchFamily="18" charset="0"/>
                <a:ea typeface="Cambria Math" panose="02040503050406030204" pitchFamily="18" charset="0"/>
                <a:cs typeface="Calibri"/>
              </a:rPr>
              <a:t>statement </a:t>
            </a:r>
            <a:r>
              <a:rPr sz="2800" dirty="0">
                <a:solidFill>
                  <a:srgbClr val="FF0000"/>
                </a:solidFill>
                <a:latin typeface="Cambria Math" panose="02040503050406030204" pitchFamily="18" charset="0"/>
                <a:ea typeface="Cambria Math" panose="02040503050406030204" pitchFamily="18" charset="0"/>
                <a:cs typeface="Calibri"/>
              </a:rPr>
              <a:t>“</a:t>
            </a:r>
            <a:r>
              <a:rPr sz="2800" i="1" dirty="0">
                <a:solidFill>
                  <a:srgbClr val="FF0000"/>
                </a:solidFill>
                <a:latin typeface="Cambria Math" panose="02040503050406030204" pitchFamily="18" charset="0"/>
                <a:ea typeface="Cambria Math" panose="02040503050406030204" pitchFamily="18" charset="0"/>
                <a:cs typeface="Calibri"/>
              </a:rPr>
              <a:t>x </a:t>
            </a:r>
            <a:r>
              <a:rPr sz="2800" dirty="0">
                <a:solidFill>
                  <a:srgbClr val="FF0000"/>
                </a:solidFill>
                <a:latin typeface="Cambria Math" panose="02040503050406030204" pitchFamily="18" charset="0"/>
                <a:ea typeface="Cambria Math" panose="02040503050406030204" pitchFamily="18" charset="0"/>
                <a:cs typeface="Calibri"/>
              </a:rPr>
              <a:t>+ 1 </a:t>
            </a:r>
            <a:r>
              <a:rPr sz="2800" i="1" dirty="0">
                <a:solidFill>
                  <a:srgbClr val="FF0000"/>
                </a:solidFill>
                <a:latin typeface="Cambria Math" panose="02040503050406030204" pitchFamily="18" charset="0"/>
                <a:ea typeface="Cambria Math" panose="02040503050406030204" pitchFamily="18" charset="0"/>
                <a:cs typeface="Calibri"/>
              </a:rPr>
              <a:t>&gt; </a:t>
            </a:r>
            <a:r>
              <a:rPr sz="2800" i="1" spc="-80" dirty="0">
                <a:solidFill>
                  <a:srgbClr val="FF0000"/>
                </a:solidFill>
                <a:latin typeface="Cambria Math" panose="02040503050406030204" pitchFamily="18" charset="0"/>
                <a:ea typeface="Cambria Math" panose="02040503050406030204" pitchFamily="18" charset="0"/>
                <a:cs typeface="Calibri"/>
              </a:rPr>
              <a:t>x</a:t>
            </a:r>
            <a:r>
              <a:rPr sz="2800" spc="-80" dirty="0">
                <a:solidFill>
                  <a:srgbClr val="FF0000"/>
                </a:solidFill>
                <a:latin typeface="Cambria Math" panose="02040503050406030204" pitchFamily="18" charset="0"/>
                <a:ea typeface="Cambria Math" panose="02040503050406030204" pitchFamily="18" charset="0"/>
                <a:cs typeface="Calibri"/>
              </a:rPr>
              <a:t>.” </a:t>
            </a:r>
            <a:endParaRPr lang="en-US" sz="2800" spc="-80" dirty="0">
              <a:solidFill>
                <a:srgbClr val="FF0000"/>
              </a:solidFill>
              <a:latin typeface="Cambria Math" panose="02040503050406030204" pitchFamily="18" charset="0"/>
              <a:ea typeface="Cambria Math" panose="02040503050406030204" pitchFamily="18" charset="0"/>
              <a:cs typeface="Calibri"/>
            </a:endParaRPr>
          </a:p>
          <a:p>
            <a:pPr marL="12700" marR="5080">
              <a:spcBef>
                <a:spcPts val="105"/>
              </a:spcBef>
              <a:tabLst>
                <a:tab pos="354965" algn="l"/>
                <a:tab pos="355600" algn="l"/>
              </a:tabLst>
            </a:pPr>
            <a:r>
              <a:rPr sz="2800" spc="-5" dirty="0">
                <a:latin typeface="Cambria Math" panose="02040503050406030204" pitchFamily="18" charset="0"/>
                <a:ea typeface="Cambria Math" panose="02040503050406030204" pitchFamily="18" charset="0"/>
                <a:cs typeface="Calibri"/>
              </a:rPr>
              <a:t>What </a:t>
            </a:r>
            <a:r>
              <a:rPr sz="2800" dirty="0">
                <a:latin typeface="Cambria Math" panose="02040503050406030204" pitchFamily="18" charset="0"/>
                <a:ea typeface="Cambria Math" panose="02040503050406030204" pitchFamily="18" charset="0"/>
                <a:cs typeface="Calibri"/>
              </a:rPr>
              <a:t>is  the truth </a:t>
            </a:r>
            <a:r>
              <a:rPr sz="2800" spc="-15" dirty="0">
                <a:latin typeface="Cambria Math" panose="02040503050406030204" pitchFamily="18" charset="0"/>
                <a:ea typeface="Cambria Math" panose="02040503050406030204" pitchFamily="18" charset="0"/>
                <a:cs typeface="Calibri"/>
              </a:rPr>
              <a:t>value </a:t>
            </a:r>
            <a:r>
              <a:rPr sz="2800" spc="-5" dirty="0">
                <a:latin typeface="Cambria Math" panose="02040503050406030204" pitchFamily="18" charset="0"/>
                <a:ea typeface="Cambria Math" panose="02040503050406030204" pitchFamily="18" charset="0"/>
                <a:cs typeface="Calibri"/>
              </a:rPr>
              <a:t>of </a:t>
            </a:r>
            <a:r>
              <a:rPr sz="2800" dirty="0">
                <a:latin typeface="Cambria Math" panose="02040503050406030204" pitchFamily="18" charset="0"/>
                <a:ea typeface="Cambria Math" panose="02040503050406030204" pitchFamily="18" charset="0"/>
                <a:cs typeface="Calibri"/>
              </a:rPr>
              <a:t>the </a:t>
            </a:r>
            <a:r>
              <a:rPr sz="2800" spc="-10" dirty="0">
                <a:latin typeface="Cambria Math" panose="02040503050406030204" pitchFamily="18" charset="0"/>
                <a:ea typeface="Cambria Math" panose="02040503050406030204" pitchFamily="18" charset="0"/>
                <a:cs typeface="Calibri"/>
              </a:rPr>
              <a:t>quantification </a:t>
            </a:r>
            <a:r>
              <a:rPr sz="2800" dirty="0">
                <a:latin typeface="Cambria Math" panose="02040503050406030204" pitchFamily="18" charset="0"/>
                <a:ea typeface="Cambria Math" panose="02040503050406030204" pitchFamily="18" charset="0"/>
                <a:cs typeface="Cambria Math"/>
              </a:rPr>
              <a:t>∀</a:t>
            </a:r>
            <a:r>
              <a:rPr sz="2800" i="1" dirty="0">
                <a:latin typeface="Cambria Math" panose="02040503050406030204" pitchFamily="18" charset="0"/>
                <a:ea typeface="Cambria Math" panose="02040503050406030204" pitchFamily="18" charset="0"/>
                <a:cs typeface="Calibri"/>
              </a:rPr>
              <a:t>x P(x)</a:t>
            </a:r>
            <a:r>
              <a:rPr sz="2800" dirty="0">
                <a:latin typeface="Cambria Math" panose="02040503050406030204" pitchFamily="18" charset="0"/>
                <a:ea typeface="Cambria Math" panose="02040503050406030204" pitchFamily="18" charset="0"/>
                <a:cs typeface="Calibri"/>
              </a:rPr>
              <a:t>,  </a:t>
            </a:r>
            <a:r>
              <a:rPr sz="2800" spc="-5" dirty="0">
                <a:latin typeface="Cambria Math" panose="02040503050406030204" pitchFamily="18" charset="0"/>
                <a:ea typeface="Cambria Math" panose="02040503050406030204" pitchFamily="18" charset="0"/>
                <a:cs typeface="Calibri"/>
              </a:rPr>
              <a:t>where </a:t>
            </a:r>
            <a:r>
              <a:rPr sz="2800" dirty="0">
                <a:latin typeface="Cambria Math" panose="02040503050406030204" pitchFamily="18" charset="0"/>
                <a:ea typeface="Cambria Math" panose="02040503050406030204" pitchFamily="18" charset="0"/>
                <a:cs typeface="Calibri"/>
              </a:rPr>
              <a:t>the domain </a:t>
            </a:r>
            <a:r>
              <a:rPr sz="2800" spc="-10" dirty="0">
                <a:latin typeface="Cambria Math" panose="02040503050406030204" pitchFamily="18" charset="0"/>
                <a:ea typeface="Cambria Math" panose="02040503050406030204" pitchFamily="18" charset="0"/>
                <a:cs typeface="Calibri"/>
              </a:rPr>
              <a:t>consists </a:t>
            </a:r>
            <a:r>
              <a:rPr sz="2800" dirty="0">
                <a:latin typeface="Cambria Math" panose="02040503050406030204" pitchFamily="18" charset="0"/>
                <a:ea typeface="Cambria Math" panose="02040503050406030204" pitchFamily="18" charset="0"/>
                <a:cs typeface="Calibri"/>
              </a:rPr>
              <a:t>of </a:t>
            </a:r>
            <a:r>
              <a:rPr sz="2800" spc="-5" dirty="0">
                <a:latin typeface="Cambria Math" panose="02040503050406030204" pitchFamily="18" charset="0"/>
                <a:ea typeface="Cambria Math" panose="02040503050406030204" pitchFamily="18" charset="0"/>
                <a:cs typeface="Calibri"/>
              </a:rPr>
              <a:t>all </a:t>
            </a:r>
            <a:r>
              <a:rPr sz="2800" spc="-10" dirty="0">
                <a:latin typeface="Cambria Math" panose="02040503050406030204" pitchFamily="18" charset="0"/>
                <a:ea typeface="Cambria Math" panose="02040503050406030204" pitchFamily="18" charset="0"/>
                <a:cs typeface="Calibri"/>
              </a:rPr>
              <a:t>real  numbers?</a:t>
            </a:r>
            <a:endParaRPr sz="2800" dirty="0">
              <a:latin typeface="Cambria Math" panose="02040503050406030204" pitchFamily="18" charset="0"/>
              <a:ea typeface="Cambria Math" panose="02040503050406030204" pitchFamily="18" charset="0"/>
              <a:cs typeface="Calibri"/>
            </a:endParaRPr>
          </a:p>
          <a:p>
            <a:pPr>
              <a:spcBef>
                <a:spcPts val="25"/>
              </a:spcBef>
              <a:buChar char="•"/>
            </a:pPr>
            <a:endParaRPr sz="4400" dirty="0">
              <a:latin typeface="Cambria Math" panose="02040503050406030204" pitchFamily="18" charset="0"/>
              <a:ea typeface="Cambria Math" panose="02040503050406030204" pitchFamily="18" charset="0"/>
              <a:cs typeface="Times New Roman"/>
            </a:endParaRPr>
          </a:p>
          <a:p>
            <a:pPr marL="12700" algn="ctr">
              <a:spcBef>
                <a:spcPts val="5"/>
              </a:spcBef>
              <a:tabLst>
                <a:tab pos="354965" algn="l"/>
                <a:tab pos="355600" algn="l"/>
              </a:tabLst>
            </a:pPr>
            <a:r>
              <a:rPr sz="2800" spc="-50" dirty="0">
                <a:solidFill>
                  <a:srgbClr val="FF0000"/>
                </a:solidFill>
                <a:latin typeface="Cambria Math" panose="02040503050406030204" pitchFamily="18" charset="0"/>
                <a:ea typeface="Cambria Math" panose="02040503050406030204" pitchFamily="18" charset="0"/>
                <a:cs typeface="Calibri"/>
              </a:rPr>
              <a:t>True</a:t>
            </a:r>
            <a:r>
              <a:rPr lang="en-US" sz="2800" spc="-50" dirty="0">
                <a:solidFill>
                  <a:srgbClr val="FF0000"/>
                </a:solidFill>
                <a:latin typeface="Cambria Math" panose="02040503050406030204" pitchFamily="18" charset="0"/>
                <a:ea typeface="Cambria Math" panose="02040503050406030204" pitchFamily="18" charset="0"/>
                <a:cs typeface="Calibri"/>
              </a:rPr>
              <a:t> </a:t>
            </a:r>
          </a:p>
          <a:p>
            <a:pPr marL="12700" algn="ctr">
              <a:spcBef>
                <a:spcPts val="5"/>
              </a:spcBef>
              <a:tabLst>
                <a:tab pos="354965" algn="l"/>
                <a:tab pos="355600" algn="l"/>
              </a:tabLst>
            </a:pPr>
            <a:r>
              <a:rPr lang="en-US" sz="2400" spc="-50" dirty="0">
                <a:solidFill>
                  <a:srgbClr val="FF0000"/>
                </a:solidFill>
                <a:latin typeface="Cambria Math" panose="02040503050406030204" pitchFamily="18" charset="0"/>
                <a:ea typeface="Cambria Math" panose="02040503050406030204" pitchFamily="18" charset="0"/>
                <a:cs typeface="Calibri"/>
              </a:rPr>
              <a:t>(no value of x found for which propositional function is false)</a:t>
            </a:r>
            <a:endParaRPr sz="2400" dirty="0">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8601" y="431120"/>
            <a:ext cx="3235324" cy="690574"/>
          </a:xfrm>
          <a:prstGeom prst="rect">
            <a:avLst/>
          </a:prstGeom>
        </p:spPr>
        <p:txBody>
          <a:bodyPr vert="horz" wrap="square" lIns="0" tIns="13335" rIns="0" bIns="0" rtlCol="0" anchor="ctr">
            <a:spAutoFit/>
          </a:bodyPr>
          <a:lstStyle/>
          <a:p>
            <a:pPr marL="12700">
              <a:lnSpc>
                <a:spcPct val="100000"/>
              </a:lnSpc>
              <a:spcBef>
                <a:spcPts val="105"/>
              </a:spcBef>
            </a:pPr>
            <a:r>
              <a:rPr spc="-15" dirty="0">
                <a:latin typeface="Cambria Math" panose="02040503050406030204" pitchFamily="18" charset="0"/>
                <a:ea typeface="Cambria Math" panose="02040503050406030204" pitchFamily="18" charset="0"/>
              </a:rPr>
              <a:t>Example</a:t>
            </a:r>
            <a:r>
              <a:rPr spc="-80" dirty="0">
                <a:latin typeface="Cambria Math" panose="02040503050406030204" pitchFamily="18" charset="0"/>
                <a:ea typeface="Cambria Math" panose="02040503050406030204" pitchFamily="18" charset="0"/>
              </a:rPr>
              <a:t> </a:t>
            </a:r>
            <a:r>
              <a:rPr dirty="0">
                <a:latin typeface="Cambria Math" panose="02040503050406030204" pitchFamily="18" charset="0"/>
                <a:ea typeface="Cambria Math" panose="02040503050406030204" pitchFamily="18" charset="0"/>
              </a:rPr>
              <a:t>2</a:t>
            </a:r>
          </a:p>
        </p:txBody>
      </p:sp>
      <p:sp>
        <p:nvSpPr>
          <p:cNvPr id="3" name="object 3"/>
          <p:cNvSpPr txBox="1"/>
          <p:nvPr/>
        </p:nvSpPr>
        <p:spPr>
          <a:xfrm>
            <a:off x="1082351" y="1558494"/>
            <a:ext cx="10664890" cy="3823867"/>
          </a:xfrm>
          <a:prstGeom prst="rect">
            <a:avLst/>
          </a:prstGeom>
        </p:spPr>
        <p:txBody>
          <a:bodyPr vert="horz" wrap="square" lIns="0" tIns="62230" rIns="0" bIns="0" rtlCol="0">
            <a:spAutoFit/>
          </a:bodyPr>
          <a:lstStyle/>
          <a:p>
            <a:pPr marL="355600" marR="5080" indent="-342900">
              <a:lnSpc>
                <a:spcPct val="90000"/>
              </a:lnSpc>
              <a:spcBef>
                <a:spcPts val="490"/>
              </a:spcBef>
              <a:buFont typeface="Arial"/>
              <a:buChar char="•"/>
              <a:tabLst>
                <a:tab pos="354965" algn="l"/>
                <a:tab pos="355600" algn="l"/>
              </a:tabLst>
            </a:pPr>
            <a:r>
              <a:rPr sz="2800" spc="-5" dirty="0">
                <a:latin typeface="Cambria Math" panose="02040503050406030204" pitchFamily="18" charset="0"/>
                <a:ea typeface="Cambria Math" panose="02040503050406030204" pitchFamily="18" charset="0"/>
                <a:cs typeface="Calibri"/>
              </a:rPr>
              <a:t>Let </a:t>
            </a:r>
            <a:r>
              <a:rPr sz="2800" i="1" spc="-5" dirty="0">
                <a:latin typeface="Cambria Math" panose="02040503050406030204" pitchFamily="18" charset="0"/>
                <a:ea typeface="Cambria Math" panose="02040503050406030204" pitchFamily="18" charset="0"/>
                <a:cs typeface="Calibri"/>
              </a:rPr>
              <a:t>Q(x) </a:t>
            </a:r>
            <a:r>
              <a:rPr sz="2800" dirty="0">
                <a:latin typeface="Cambria Math" panose="02040503050406030204" pitchFamily="18" charset="0"/>
                <a:ea typeface="Cambria Math" panose="02040503050406030204" pitchFamily="18" charset="0"/>
                <a:cs typeface="Calibri"/>
              </a:rPr>
              <a:t>be </a:t>
            </a:r>
            <a:r>
              <a:rPr sz="2800" spc="-10" dirty="0">
                <a:latin typeface="Cambria Math" panose="02040503050406030204" pitchFamily="18" charset="0"/>
                <a:ea typeface="Cambria Math" panose="02040503050406030204" pitchFamily="18" charset="0"/>
                <a:cs typeface="Calibri"/>
              </a:rPr>
              <a:t>the </a:t>
            </a:r>
            <a:r>
              <a:rPr sz="2800" spc="-20" dirty="0">
                <a:latin typeface="Cambria Math" panose="02040503050406030204" pitchFamily="18" charset="0"/>
                <a:ea typeface="Cambria Math" panose="02040503050406030204" pitchFamily="18" charset="0"/>
                <a:cs typeface="Calibri"/>
              </a:rPr>
              <a:t>statement </a:t>
            </a:r>
            <a:r>
              <a:rPr sz="2800" dirty="0">
                <a:solidFill>
                  <a:srgbClr val="FF0000"/>
                </a:solidFill>
                <a:latin typeface="Cambria Math" panose="02040503050406030204" pitchFamily="18" charset="0"/>
                <a:ea typeface="Cambria Math" panose="02040503050406030204" pitchFamily="18" charset="0"/>
                <a:cs typeface="Calibri"/>
              </a:rPr>
              <a:t>“</a:t>
            </a:r>
            <a:r>
              <a:rPr sz="2800" i="1" dirty="0">
                <a:solidFill>
                  <a:srgbClr val="FF0000"/>
                </a:solidFill>
                <a:latin typeface="Cambria Math" panose="02040503050406030204" pitchFamily="18" charset="0"/>
                <a:ea typeface="Cambria Math" panose="02040503050406030204" pitchFamily="18" charset="0"/>
                <a:cs typeface="Calibri"/>
              </a:rPr>
              <a:t>x &lt; </a:t>
            </a:r>
            <a:r>
              <a:rPr sz="2800" spc="-85" dirty="0">
                <a:solidFill>
                  <a:srgbClr val="FF0000"/>
                </a:solidFill>
                <a:latin typeface="Cambria Math" panose="02040503050406030204" pitchFamily="18" charset="0"/>
                <a:ea typeface="Cambria Math" panose="02040503050406030204" pitchFamily="18" charset="0"/>
                <a:cs typeface="Calibri"/>
              </a:rPr>
              <a:t>2.” </a:t>
            </a:r>
            <a:r>
              <a:rPr sz="2800" spc="-5" dirty="0">
                <a:latin typeface="Cambria Math" panose="02040503050406030204" pitchFamily="18" charset="0"/>
                <a:ea typeface="Cambria Math" panose="02040503050406030204" pitchFamily="18" charset="0"/>
                <a:cs typeface="Calibri"/>
              </a:rPr>
              <a:t>What </a:t>
            </a:r>
            <a:r>
              <a:rPr sz="2800" dirty="0">
                <a:latin typeface="Cambria Math" panose="02040503050406030204" pitchFamily="18" charset="0"/>
                <a:ea typeface="Cambria Math" panose="02040503050406030204" pitchFamily="18" charset="0"/>
                <a:cs typeface="Calibri"/>
              </a:rPr>
              <a:t>is the  truth </a:t>
            </a:r>
            <a:r>
              <a:rPr sz="2800" spc="-15" dirty="0">
                <a:latin typeface="Cambria Math" panose="02040503050406030204" pitchFamily="18" charset="0"/>
                <a:ea typeface="Cambria Math" panose="02040503050406030204" pitchFamily="18" charset="0"/>
                <a:cs typeface="Calibri"/>
              </a:rPr>
              <a:t>value </a:t>
            </a:r>
            <a:r>
              <a:rPr sz="2800" spc="-5" dirty="0">
                <a:latin typeface="Cambria Math" panose="02040503050406030204" pitchFamily="18" charset="0"/>
                <a:ea typeface="Cambria Math" panose="02040503050406030204" pitchFamily="18" charset="0"/>
                <a:cs typeface="Calibri"/>
              </a:rPr>
              <a:t>of </a:t>
            </a:r>
            <a:r>
              <a:rPr sz="2800" dirty="0">
                <a:latin typeface="Cambria Math" panose="02040503050406030204" pitchFamily="18" charset="0"/>
                <a:ea typeface="Cambria Math" panose="02040503050406030204" pitchFamily="18" charset="0"/>
                <a:cs typeface="Calibri"/>
              </a:rPr>
              <a:t>the </a:t>
            </a:r>
            <a:r>
              <a:rPr sz="2800" spc="-10" dirty="0">
                <a:latin typeface="Cambria Math" panose="02040503050406030204" pitchFamily="18" charset="0"/>
                <a:ea typeface="Cambria Math" panose="02040503050406030204" pitchFamily="18" charset="0"/>
                <a:cs typeface="Calibri"/>
              </a:rPr>
              <a:t>quantification </a:t>
            </a:r>
            <a:r>
              <a:rPr sz="2800" dirty="0">
                <a:latin typeface="Cambria Math" panose="02040503050406030204" pitchFamily="18" charset="0"/>
                <a:ea typeface="Cambria Math" panose="02040503050406030204" pitchFamily="18" charset="0"/>
                <a:cs typeface="Cambria Math"/>
              </a:rPr>
              <a:t>∀</a:t>
            </a:r>
            <a:r>
              <a:rPr sz="2800" i="1" dirty="0">
                <a:latin typeface="Cambria Math" panose="02040503050406030204" pitchFamily="18" charset="0"/>
                <a:ea typeface="Cambria Math" panose="02040503050406030204" pitchFamily="18" charset="0"/>
                <a:cs typeface="Calibri"/>
              </a:rPr>
              <a:t>x </a:t>
            </a:r>
            <a:r>
              <a:rPr sz="2800" i="1" spc="-5" dirty="0">
                <a:latin typeface="Cambria Math" panose="02040503050406030204" pitchFamily="18" charset="0"/>
                <a:ea typeface="Cambria Math" panose="02040503050406030204" pitchFamily="18" charset="0"/>
                <a:cs typeface="Calibri"/>
              </a:rPr>
              <a:t>Q(x)</a:t>
            </a:r>
            <a:r>
              <a:rPr sz="2800" spc="-5" dirty="0">
                <a:latin typeface="Cambria Math" panose="02040503050406030204" pitchFamily="18" charset="0"/>
                <a:ea typeface="Cambria Math" panose="02040503050406030204" pitchFamily="18" charset="0"/>
                <a:cs typeface="Calibri"/>
              </a:rPr>
              <a:t>,  where </a:t>
            </a:r>
            <a:r>
              <a:rPr sz="2800" dirty="0">
                <a:latin typeface="Cambria Math" panose="02040503050406030204" pitchFamily="18" charset="0"/>
                <a:ea typeface="Cambria Math" panose="02040503050406030204" pitchFamily="18" charset="0"/>
                <a:cs typeface="Calibri"/>
              </a:rPr>
              <a:t>the </a:t>
            </a:r>
            <a:r>
              <a:rPr sz="2800" spc="-5" dirty="0">
                <a:latin typeface="Cambria Math" panose="02040503050406030204" pitchFamily="18" charset="0"/>
                <a:ea typeface="Cambria Math" panose="02040503050406030204" pitchFamily="18" charset="0"/>
                <a:cs typeface="Calibri"/>
              </a:rPr>
              <a:t>domain </a:t>
            </a:r>
            <a:r>
              <a:rPr sz="2800" spc="-10" dirty="0">
                <a:latin typeface="Cambria Math" panose="02040503050406030204" pitchFamily="18" charset="0"/>
                <a:ea typeface="Cambria Math" panose="02040503050406030204" pitchFamily="18" charset="0"/>
                <a:cs typeface="Calibri"/>
              </a:rPr>
              <a:t>consists </a:t>
            </a:r>
            <a:r>
              <a:rPr sz="2800" dirty="0">
                <a:latin typeface="Cambria Math" panose="02040503050406030204" pitchFamily="18" charset="0"/>
                <a:ea typeface="Cambria Math" panose="02040503050406030204" pitchFamily="18" charset="0"/>
                <a:cs typeface="Calibri"/>
              </a:rPr>
              <a:t>of all </a:t>
            </a:r>
            <a:r>
              <a:rPr sz="2800" spc="-10" dirty="0">
                <a:latin typeface="Cambria Math" panose="02040503050406030204" pitchFamily="18" charset="0"/>
                <a:ea typeface="Cambria Math" panose="02040503050406030204" pitchFamily="18" charset="0"/>
                <a:cs typeface="Calibri"/>
              </a:rPr>
              <a:t>real  numbers?</a:t>
            </a:r>
            <a:endParaRPr sz="2800" dirty="0">
              <a:latin typeface="Cambria Math" panose="02040503050406030204" pitchFamily="18" charset="0"/>
              <a:ea typeface="Cambria Math" panose="02040503050406030204" pitchFamily="18" charset="0"/>
              <a:cs typeface="Calibri"/>
            </a:endParaRPr>
          </a:p>
          <a:p>
            <a:pPr marL="469900" lvl="1" algn="ctr">
              <a:lnSpc>
                <a:spcPts val="3650"/>
              </a:lnSpc>
              <a:spcBef>
                <a:spcPts val="380"/>
              </a:spcBef>
            </a:pPr>
            <a:r>
              <a:rPr lang="en-US" sz="2800" spc="-50" dirty="0">
                <a:solidFill>
                  <a:srgbClr val="FF0000"/>
                </a:solidFill>
                <a:latin typeface="Cambria Math" panose="02040503050406030204" pitchFamily="18" charset="0"/>
                <a:ea typeface="Cambria Math" panose="02040503050406030204" pitchFamily="18" charset="0"/>
                <a:cs typeface="Calibri"/>
              </a:rPr>
              <a:t>False</a:t>
            </a:r>
          </a:p>
          <a:p>
            <a:pPr marL="469900" lvl="1">
              <a:lnSpc>
                <a:spcPts val="3650"/>
              </a:lnSpc>
              <a:spcBef>
                <a:spcPts val="380"/>
              </a:spcBef>
            </a:pPr>
            <a:endParaRPr lang="en-US" sz="2800" spc="-50" dirty="0">
              <a:solidFill>
                <a:srgbClr val="FF0000"/>
              </a:solidFill>
              <a:latin typeface="Cambria Math" panose="02040503050406030204" pitchFamily="18" charset="0"/>
              <a:ea typeface="Cambria Math" panose="02040503050406030204" pitchFamily="18" charset="0"/>
              <a:cs typeface="Calibri"/>
            </a:endParaRPr>
          </a:p>
          <a:p>
            <a:pPr marL="12700">
              <a:lnSpc>
                <a:spcPts val="3650"/>
              </a:lnSpc>
              <a:spcBef>
                <a:spcPts val="380"/>
              </a:spcBef>
            </a:pPr>
            <a:r>
              <a:rPr lang="en-US" sz="2800" spc="-20" dirty="0">
                <a:latin typeface="Cambria Math" panose="02040503050406030204" pitchFamily="18" charset="0"/>
                <a:ea typeface="Cambria Math" panose="02040503050406030204" pitchFamily="18" charset="0"/>
                <a:cs typeface="Calibri"/>
              </a:rPr>
              <a:t>Counter example</a:t>
            </a:r>
          </a:p>
          <a:p>
            <a:pPr marL="469900" lvl="1">
              <a:lnSpc>
                <a:spcPts val="3650"/>
              </a:lnSpc>
              <a:spcBef>
                <a:spcPts val="380"/>
              </a:spcBef>
            </a:pPr>
            <a:r>
              <a:rPr lang="en-US" sz="2800" i="1" spc="-5" dirty="0">
                <a:latin typeface="Cambria Math" panose="02040503050406030204" pitchFamily="18" charset="0"/>
                <a:ea typeface="Cambria Math" panose="02040503050406030204" pitchFamily="18" charset="0"/>
                <a:cs typeface="Calibri"/>
              </a:rPr>
              <a:t>Q(3) : 3&lt;2 , false.</a:t>
            </a:r>
            <a:endParaRPr lang="en-US" sz="2800" spc="-20" dirty="0">
              <a:latin typeface="Cambria Math" panose="02040503050406030204" pitchFamily="18" charset="0"/>
              <a:ea typeface="Cambria Math" panose="02040503050406030204" pitchFamily="18" charset="0"/>
              <a:cs typeface="Calibri"/>
            </a:endParaRPr>
          </a:p>
          <a:p>
            <a:pPr marL="469900" lvl="1">
              <a:lnSpc>
                <a:spcPts val="3650"/>
              </a:lnSpc>
              <a:spcBef>
                <a:spcPts val="380"/>
              </a:spcBef>
            </a:pPr>
            <a:r>
              <a:rPr lang="en-US" sz="2800" i="1" spc="-5" dirty="0">
                <a:latin typeface="Cambria Math" panose="02040503050406030204" pitchFamily="18" charset="0"/>
                <a:ea typeface="Cambria Math" panose="02040503050406030204" pitchFamily="18" charset="0"/>
                <a:cs typeface="Calibri"/>
              </a:rPr>
              <a:t>If you found any false example then </a:t>
            </a:r>
            <a:r>
              <a:rPr sz="2800" dirty="0">
                <a:latin typeface="Cambria Math" panose="02040503050406030204" pitchFamily="18" charset="0"/>
                <a:ea typeface="Cambria Math" panose="02040503050406030204" pitchFamily="18" charset="0"/>
                <a:cs typeface="Cambria Math"/>
              </a:rPr>
              <a:t>∀</a:t>
            </a:r>
            <a:r>
              <a:rPr sz="2800" i="1" dirty="0">
                <a:latin typeface="Cambria Math" panose="02040503050406030204" pitchFamily="18" charset="0"/>
                <a:ea typeface="Cambria Math" panose="02040503050406030204" pitchFamily="18" charset="0"/>
                <a:cs typeface="Calibri"/>
              </a:rPr>
              <a:t>x </a:t>
            </a:r>
            <a:r>
              <a:rPr sz="2800" i="1" spc="-5" dirty="0">
                <a:latin typeface="Cambria Math" panose="02040503050406030204" pitchFamily="18" charset="0"/>
                <a:ea typeface="Cambria Math" panose="02040503050406030204" pitchFamily="18" charset="0"/>
                <a:cs typeface="Calibri"/>
              </a:rPr>
              <a:t>Q(x) </a:t>
            </a:r>
            <a:r>
              <a:rPr sz="2800" dirty="0">
                <a:latin typeface="Cambria Math" panose="02040503050406030204" pitchFamily="18" charset="0"/>
                <a:ea typeface="Cambria Math" panose="02040503050406030204" pitchFamily="18" charset="0"/>
                <a:cs typeface="Calibri"/>
              </a:rPr>
              <a:t>is</a:t>
            </a:r>
            <a:r>
              <a:rPr sz="2800" spc="5" dirty="0">
                <a:latin typeface="Cambria Math" panose="02040503050406030204" pitchFamily="18" charset="0"/>
                <a:ea typeface="Cambria Math" panose="02040503050406030204" pitchFamily="18" charset="0"/>
                <a:cs typeface="Calibri"/>
              </a:rPr>
              <a:t> </a:t>
            </a:r>
            <a:r>
              <a:rPr sz="2800" spc="-15" dirty="0">
                <a:latin typeface="Cambria Math" panose="02040503050406030204" pitchFamily="18" charset="0"/>
                <a:ea typeface="Cambria Math" panose="02040503050406030204" pitchFamily="18" charset="0"/>
                <a:cs typeface="Calibri"/>
              </a:rPr>
              <a:t>false.</a:t>
            </a:r>
            <a:endParaRPr sz="2800" dirty="0">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625767"/>
            <a:ext cx="2745818" cy="627736"/>
          </a:xfrm>
          <a:prstGeom prst="rect">
            <a:avLst/>
          </a:prstGeom>
        </p:spPr>
        <p:txBody>
          <a:bodyPr vert="horz" wrap="square" lIns="0" tIns="12065" rIns="0" bIns="0" rtlCol="0" anchor="ctr">
            <a:spAutoFit/>
          </a:bodyPr>
          <a:lstStyle/>
          <a:p>
            <a:pPr marL="12700">
              <a:lnSpc>
                <a:spcPct val="100000"/>
              </a:lnSpc>
              <a:spcBef>
                <a:spcPts val="95"/>
              </a:spcBef>
            </a:pPr>
            <a:r>
              <a:rPr sz="4000" spc="-20" dirty="0">
                <a:latin typeface="Cambria Math" panose="02040503050406030204" pitchFamily="18" charset="0"/>
                <a:ea typeface="Cambria Math" panose="02040503050406030204" pitchFamily="18" charset="0"/>
              </a:rPr>
              <a:t>Example</a:t>
            </a:r>
            <a:r>
              <a:rPr lang="en-US" sz="4000" spc="-20" dirty="0">
                <a:latin typeface="Cambria Math" panose="02040503050406030204" pitchFamily="18" charset="0"/>
                <a:ea typeface="Cambria Math" panose="02040503050406030204" pitchFamily="18" charset="0"/>
              </a:rPr>
              <a:t> 3</a:t>
            </a:r>
            <a:endParaRPr sz="4000" dirty="0">
              <a:latin typeface="Cambria Math" panose="02040503050406030204" pitchFamily="18" charset="0"/>
              <a:ea typeface="Cambria Math" panose="02040503050406030204" pitchFamily="18" charset="0"/>
            </a:endParaRPr>
          </a:p>
        </p:txBody>
      </p:sp>
      <p:sp>
        <p:nvSpPr>
          <p:cNvPr id="3" name="object 3"/>
          <p:cNvSpPr txBox="1"/>
          <p:nvPr/>
        </p:nvSpPr>
        <p:spPr>
          <a:xfrm>
            <a:off x="1285501" y="1691237"/>
            <a:ext cx="9929346" cy="2662908"/>
          </a:xfrm>
          <a:prstGeom prst="rect">
            <a:avLst/>
          </a:prstGeom>
        </p:spPr>
        <p:txBody>
          <a:bodyPr vert="horz" wrap="square" lIns="0" tIns="13335" rIns="0" bIns="0" rtlCol="0">
            <a:spAutoFit/>
          </a:bodyPr>
          <a:lstStyle/>
          <a:p>
            <a:pPr marL="12700">
              <a:spcBef>
                <a:spcPts val="105"/>
              </a:spcBef>
              <a:tabLst>
                <a:tab pos="354965" algn="l"/>
                <a:tab pos="355600" algn="l"/>
              </a:tabLst>
            </a:pPr>
            <a:r>
              <a:rPr sz="3200" spc="-5" dirty="0">
                <a:latin typeface="Cambria Math" panose="02040503050406030204" pitchFamily="18" charset="0"/>
                <a:ea typeface="Cambria Math" panose="02040503050406030204" pitchFamily="18" charset="0"/>
                <a:cs typeface="Calibri"/>
              </a:rPr>
              <a:t>Suppose that </a:t>
            </a:r>
            <a:r>
              <a:rPr sz="3200" i="1" dirty="0">
                <a:latin typeface="Cambria Math" panose="02040503050406030204" pitchFamily="18" charset="0"/>
                <a:ea typeface="Cambria Math" panose="02040503050406030204" pitchFamily="18" charset="0"/>
                <a:cs typeface="Calibri"/>
              </a:rPr>
              <a:t>P(x) </a:t>
            </a:r>
            <a:r>
              <a:rPr sz="3200" dirty="0">
                <a:latin typeface="Cambria Math" panose="02040503050406030204" pitchFamily="18" charset="0"/>
                <a:ea typeface="Cambria Math" panose="02040503050406030204" pitchFamily="18" charset="0"/>
                <a:cs typeface="Calibri"/>
              </a:rPr>
              <a:t>is “</a:t>
            </a:r>
            <a:r>
              <a:rPr sz="3200" i="1" dirty="0">
                <a:latin typeface="Cambria Math" panose="02040503050406030204" pitchFamily="18" charset="0"/>
                <a:ea typeface="Cambria Math" panose="02040503050406030204" pitchFamily="18" charset="0"/>
                <a:cs typeface="Calibri"/>
              </a:rPr>
              <a:t>x</a:t>
            </a:r>
            <a:r>
              <a:rPr sz="3150" baseline="25132" dirty="0">
                <a:latin typeface="Cambria Math" panose="02040503050406030204" pitchFamily="18" charset="0"/>
                <a:ea typeface="Cambria Math" panose="02040503050406030204" pitchFamily="18" charset="0"/>
                <a:cs typeface="Calibri"/>
              </a:rPr>
              <a:t>2 </a:t>
            </a:r>
            <a:r>
              <a:rPr sz="3200" i="1" dirty="0">
                <a:latin typeface="Cambria Math" panose="02040503050406030204" pitchFamily="18" charset="0"/>
                <a:ea typeface="Cambria Math" panose="02040503050406030204" pitchFamily="18" charset="0"/>
                <a:cs typeface="Calibri"/>
              </a:rPr>
              <a:t>&gt; </a:t>
            </a:r>
            <a:r>
              <a:rPr sz="3200" spc="-85" dirty="0">
                <a:latin typeface="Cambria Math" panose="02040503050406030204" pitchFamily="18" charset="0"/>
                <a:ea typeface="Cambria Math" panose="02040503050406030204" pitchFamily="18" charset="0"/>
                <a:cs typeface="Calibri"/>
              </a:rPr>
              <a:t>0.” </a:t>
            </a:r>
            <a:r>
              <a:rPr sz="3200" spc="-5" dirty="0">
                <a:latin typeface="Cambria Math" panose="02040503050406030204" pitchFamily="18" charset="0"/>
                <a:ea typeface="Cambria Math" panose="02040503050406030204" pitchFamily="18" charset="0"/>
                <a:cs typeface="Calibri"/>
              </a:rPr>
              <a:t>show</a:t>
            </a:r>
            <a:r>
              <a:rPr sz="3200" spc="-150" dirty="0">
                <a:latin typeface="Cambria Math" panose="02040503050406030204" pitchFamily="18" charset="0"/>
                <a:ea typeface="Cambria Math" panose="02040503050406030204" pitchFamily="18" charset="0"/>
                <a:cs typeface="Calibri"/>
              </a:rPr>
              <a:t> </a:t>
            </a:r>
            <a:r>
              <a:rPr sz="3200" spc="-20" dirty="0">
                <a:latin typeface="Cambria Math" panose="02040503050406030204" pitchFamily="18" charset="0"/>
                <a:ea typeface="Cambria Math" panose="02040503050406030204" pitchFamily="18" charset="0"/>
                <a:cs typeface="Calibri"/>
              </a:rPr>
              <a:t>statement</a:t>
            </a:r>
            <a:endParaRPr lang="en-US" sz="3200" dirty="0">
              <a:latin typeface="Cambria Math" panose="02040503050406030204" pitchFamily="18" charset="0"/>
              <a:ea typeface="Cambria Math" panose="02040503050406030204" pitchFamily="18" charset="0"/>
              <a:cs typeface="Calibri"/>
            </a:endParaRPr>
          </a:p>
          <a:p>
            <a:pPr marL="12700">
              <a:spcBef>
                <a:spcPts val="105"/>
              </a:spcBef>
              <a:tabLst>
                <a:tab pos="354965" algn="l"/>
                <a:tab pos="355600" algn="l"/>
              </a:tabLst>
            </a:pP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x P(x) </a:t>
            </a:r>
            <a:r>
              <a:rPr sz="3200" dirty="0">
                <a:latin typeface="Cambria Math" panose="02040503050406030204" pitchFamily="18" charset="0"/>
                <a:ea typeface="Cambria Math" panose="02040503050406030204" pitchFamily="18" charset="0"/>
                <a:cs typeface="Calibri"/>
              </a:rPr>
              <a:t>is </a:t>
            </a:r>
            <a:r>
              <a:rPr sz="3200" spc="-15" dirty="0">
                <a:latin typeface="Cambria Math" panose="02040503050406030204" pitchFamily="18" charset="0"/>
                <a:ea typeface="Cambria Math" panose="02040503050406030204" pitchFamily="18" charset="0"/>
                <a:cs typeface="Calibri"/>
              </a:rPr>
              <a:t>false </a:t>
            </a:r>
            <a:r>
              <a:rPr sz="3200" spc="-10" dirty="0">
                <a:latin typeface="Cambria Math" panose="02040503050406030204" pitchFamily="18" charset="0"/>
                <a:ea typeface="Cambria Math" panose="02040503050406030204" pitchFamily="18" charset="0"/>
                <a:cs typeface="Calibri"/>
              </a:rPr>
              <a:t>where </a:t>
            </a:r>
            <a:r>
              <a:rPr sz="3200" dirty="0">
                <a:latin typeface="Cambria Math" panose="02040503050406030204" pitchFamily="18" charset="0"/>
                <a:ea typeface="Cambria Math" panose="02040503050406030204" pitchFamily="18" charset="0"/>
                <a:cs typeface="Calibri"/>
              </a:rPr>
              <a:t>the </a:t>
            </a:r>
            <a:r>
              <a:rPr sz="3200" spc="-5" dirty="0">
                <a:latin typeface="Cambria Math" panose="02040503050406030204" pitchFamily="18" charset="0"/>
                <a:ea typeface="Cambria Math" panose="02040503050406030204" pitchFamily="18" charset="0"/>
                <a:cs typeface="Calibri"/>
              </a:rPr>
              <a:t>domain </a:t>
            </a:r>
            <a:r>
              <a:rPr sz="3200" spc="-15" dirty="0">
                <a:latin typeface="Cambria Math" panose="02040503050406030204" pitchFamily="18" charset="0"/>
                <a:ea typeface="Cambria Math" panose="02040503050406030204" pitchFamily="18" charset="0"/>
                <a:cs typeface="Calibri"/>
              </a:rPr>
              <a:t>consists </a:t>
            </a:r>
            <a:r>
              <a:rPr sz="3200" spc="-5" dirty="0">
                <a:latin typeface="Cambria Math" panose="02040503050406030204" pitchFamily="18" charset="0"/>
                <a:ea typeface="Cambria Math" panose="02040503050406030204" pitchFamily="18" charset="0"/>
                <a:cs typeface="Calibri"/>
              </a:rPr>
              <a:t>of  all </a:t>
            </a:r>
            <a:r>
              <a:rPr sz="3200" spc="-15" dirty="0">
                <a:latin typeface="Cambria Math" panose="02040503050406030204" pitchFamily="18" charset="0"/>
                <a:ea typeface="Cambria Math" panose="02040503050406030204" pitchFamily="18" charset="0"/>
                <a:cs typeface="Calibri"/>
              </a:rPr>
              <a:t>integers.</a:t>
            </a:r>
            <a:endParaRPr lang="en-US" sz="3200" spc="-15" dirty="0">
              <a:latin typeface="Cambria Math" panose="02040503050406030204" pitchFamily="18" charset="0"/>
              <a:ea typeface="Cambria Math" panose="02040503050406030204" pitchFamily="18" charset="0"/>
              <a:cs typeface="Calibri"/>
            </a:endParaRPr>
          </a:p>
          <a:p>
            <a:pPr marL="355600" marR="102235">
              <a:lnSpc>
                <a:spcPts val="3820"/>
              </a:lnSpc>
              <a:spcBef>
                <a:spcPts val="170"/>
              </a:spcBef>
            </a:pPr>
            <a:endParaRPr sz="3200" dirty="0">
              <a:latin typeface="Cambria Math" panose="02040503050406030204" pitchFamily="18" charset="0"/>
              <a:ea typeface="Cambria Math" panose="02040503050406030204" pitchFamily="18" charset="0"/>
              <a:cs typeface="Calibri"/>
            </a:endParaRPr>
          </a:p>
          <a:p>
            <a:pPr marL="12700">
              <a:spcBef>
                <a:spcPts val="645"/>
              </a:spcBef>
            </a:pPr>
            <a:r>
              <a:rPr lang="en-US" sz="3200" i="1" dirty="0">
                <a:solidFill>
                  <a:srgbClr val="FF0000"/>
                </a:solidFill>
                <a:latin typeface="Cambria Math" panose="02040503050406030204" pitchFamily="18" charset="0"/>
                <a:ea typeface="Cambria Math" panose="02040503050406030204" pitchFamily="18" charset="0"/>
                <a:cs typeface="Calibri"/>
              </a:rPr>
              <a:t>False</a:t>
            </a:r>
          </a:p>
          <a:p>
            <a:pPr marL="12700">
              <a:spcBef>
                <a:spcPts val="645"/>
              </a:spcBef>
            </a:pPr>
            <a:r>
              <a:rPr sz="3200" i="1"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 0 is a</a:t>
            </a:r>
            <a:r>
              <a:rPr sz="3200" spc="-30" dirty="0">
                <a:latin typeface="Cambria Math" panose="02040503050406030204" pitchFamily="18" charset="0"/>
                <a:ea typeface="Cambria Math" panose="02040503050406030204" pitchFamily="18" charset="0"/>
                <a:cs typeface="Calibri"/>
              </a:rPr>
              <a:t> </a:t>
            </a:r>
            <a:r>
              <a:rPr sz="3200" spc="-20" dirty="0">
                <a:latin typeface="Cambria Math" panose="02040503050406030204" pitchFamily="18" charset="0"/>
                <a:ea typeface="Cambria Math" panose="02040503050406030204" pitchFamily="18" charset="0"/>
                <a:cs typeface="Calibri"/>
              </a:rPr>
              <a:t>counterexample.</a:t>
            </a:r>
            <a:endParaRPr sz="3200" dirty="0">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2941" y="802939"/>
            <a:ext cx="8229600" cy="690574"/>
          </a:xfrm>
          <a:prstGeom prst="rect">
            <a:avLst/>
          </a:prstGeom>
        </p:spPr>
        <p:txBody>
          <a:bodyPr vert="horz" wrap="square" lIns="0" tIns="13335" rIns="0" bIns="0" rtlCol="0" anchor="ctr">
            <a:spAutoFit/>
          </a:bodyPr>
          <a:lstStyle/>
          <a:p>
            <a:pPr marL="12700" algn="ctr">
              <a:lnSpc>
                <a:spcPct val="100000"/>
              </a:lnSpc>
              <a:spcBef>
                <a:spcPts val="105"/>
              </a:spcBef>
            </a:pPr>
            <a:r>
              <a:rPr spc="-5" dirty="0">
                <a:latin typeface="Cambria Math" panose="02040503050406030204" pitchFamily="18" charset="0"/>
                <a:ea typeface="Cambria Math" panose="02040503050406030204" pitchFamily="18" charset="0"/>
              </a:rPr>
              <a:t>E</a:t>
            </a:r>
            <a:r>
              <a:rPr spc="-85" dirty="0">
                <a:latin typeface="Cambria Math" panose="02040503050406030204" pitchFamily="18" charset="0"/>
                <a:ea typeface="Cambria Math" panose="02040503050406030204" pitchFamily="18" charset="0"/>
              </a:rPr>
              <a:t>x</a:t>
            </a:r>
            <a:r>
              <a:rPr spc="-5" dirty="0">
                <a:latin typeface="Cambria Math" panose="02040503050406030204" pitchFamily="18" charset="0"/>
                <a:ea typeface="Cambria Math" panose="02040503050406030204" pitchFamily="18" charset="0"/>
              </a:rPr>
              <a:t>ample</a:t>
            </a:r>
            <a:r>
              <a:rPr lang="en-US" spc="-5" dirty="0">
                <a:latin typeface="Cambria Math" panose="02040503050406030204" pitchFamily="18" charset="0"/>
                <a:ea typeface="Cambria Math" panose="02040503050406030204" pitchFamily="18" charset="0"/>
              </a:rPr>
              <a:t> 4</a:t>
            </a:r>
            <a:endParaRPr spc="-5" dirty="0">
              <a:latin typeface="Cambria Math" panose="02040503050406030204" pitchFamily="18" charset="0"/>
              <a:ea typeface="Cambria Math" panose="02040503050406030204" pitchFamily="18" charset="0"/>
            </a:endParaRPr>
          </a:p>
        </p:txBody>
      </p:sp>
      <p:sp>
        <p:nvSpPr>
          <p:cNvPr id="3" name="object 3"/>
          <p:cNvSpPr txBox="1"/>
          <p:nvPr/>
        </p:nvSpPr>
        <p:spPr>
          <a:xfrm>
            <a:off x="1331660" y="1840007"/>
            <a:ext cx="9528680" cy="3651640"/>
          </a:xfrm>
          <a:prstGeom prst="rect">
            <a:avLst/>
          </a:prstGeom>
        </p:spPr>
        <p:txBody>
          <a:bodyPr vert="horz" wrap="square" lIns="0" tIns="14604" rIns="0" bIns="0" rtlCol="0">
            <a:spAutoFit/>
          </a:bodyPr>
          <a:lstStyle/>
          <a:p>
            <a:pPr marL="12700" marR="5080" algn="just">
              <a:lnSpc>
                <a:spcPct val="99700"/>
              </a:lnSpc>
              <a:spcBef>
                <a:spcPts val="114"/>
              </a:spcBef>
              <a:tabLst>
                <a:tab pos="355600" algn="l"/>
              </a:tabLst>
            </a:pPr>
            <a:r>
              <a:rPr sz="2800" spc="-5" dirty="0">
                <a:latin typeface="Cambria Math" panose="02040503050406030204" pitchFamily="18" charset="0"/>
                <a:ea typeface="Cambria Math" panose="02040503050406030204" pitchFamily="18" charset="0"/>
                <a:cs typeface="Calibri"/>
              </a:rPr>
              <a:t>What </a:t>
            </a:r>
            <a:r>
              <a:rPr sz="2800" dirty="0">
                <a:latin typeface="Cambria Math" panose="02040503050406030204" pitchFamily="18" charset="0"/>
                <a:ea typeface="Cambria Math" panose="02040503050406030204" pitchFamily="18" charset="0"/>
                <a:cs typeface="Calibri"/>
              </a:rPr>
              <a:t>is the truth </a:t>
            </a:r>
            <a:r>
              <a:rPr sz="2800" spc="-10" dirty="0">
                <a:latin typeface="Cambria Math" panose="02040503050406030204" pitchFamily="18" charset="0"/>
                <a:ea typeface="Cambria Math" panose="02040503050406030204" pitchFamily="18" charset="0"/>
                <a:cs typeface="Calibri"/>
              </a:rPr>
              <a:t>value </a:t>
            </a:r>
            <a:r>
              <a:rPr sz="2800" dirty="0">
                <a:latin typeface="Cambria Math" panose="02040503050406030204" pitchFamily="18" charset="0"/>
                <a:ea typeface="Cambria Math" panose="02040503050406030204" pitchFamily="18" charset="0"/>
                <a:cs typeface="Calibri"/>
              </a:rPr>
              <a:t>of </a:t>
            </a:r>
            <a:r>
              <a:rPr sz="2800" dirty="0">
                <a:latin typeface="Cambria Math" panose="02040503050406030204" pitchFamily="18" charset="0"/>
                <a:ea typeface="Cambria Math" panose="02040503050406030204" pitchFamily="18" charset="0"/>
                <a:cs typeface="Cambria Math"/>
              </a:rPr>
              <a:t>∀</a:t>
            </a:r>
            <a:r>
              <a:rPr sz="2800" i="1" dirty="0">
                <a:latin typeface="Cambria Math" panose="02040503050406030204" pitchFamily="18" charset="0"/>
                <a:ea typeface="Cambria Math" panose="02040503050406030204" pitchFamily="18" charset="0"/>
                <a:cs typeface="Calibri"/>
              </a:rPr>
              <a:t>x P(x)</a:t>
            </a:r>
            <a:r>
              <a:rPr sz="2800" dirty="0">
                <a:latin typeface="Cambria Math" panose="02040503050406030204" pitchFamily="18" charset="0"/>
                <a:ea typeface="Cambria Math" panose="02040503050406030204" pitchFamily="18" charset="0"/>
                <a:cs typeface="Calibri"/>
              </a:rPr>
              <a:t>, </a:t>
            </a:r>
            <a:r>
              <a:rPr sz="2800" spc="-10" dirty="0">
                <a:latin typeface="Cambria Math" panose="02040503050406030204" pitchFamily="18" charset="0"/>
                <a:ea typeface="Cambria Math" panose="02040503050406030204" pitchFamily="18" charset="0"/>
                <a:cs typeface="Calibri"/>
              </a:rPr>
              <a:t>where </a:t>
            </a:r>
            <a:r>
              <a:rPr sz="2800" i="1" dirty="0">
                <a:latin typeface="Cambria Math" panose="02040503050406030204" pitchFamily="18" charset="0"/>
                <a:ea typeface="Cambria Math" panose="02040503050406030204" pitchFamily="18" charset="0"/>
                <a:cs typeface="Calibri"/>
              </a:rPr>
              <a:t>P(x)  </a:t>
            </a:r>
            <a:r>
              <a:rPr sz="2800" dirty="0">
                <a:latin typeface="Cambria Math" panose="02040503050406030204" pitchFamily="18" charset="0"/>
                <a:ea typeface="Cambria Math" panose="02040503050406030204" pitchFamily="18" charset="0"/>
                <a:cs typeface="Calibri"/>
              </a:rPr>
              <a:t>is the </a:t>
            </a:r>
            <a:r>
              <a:rPr sz="2800" spc="-20" dirty="0">
                <a:latin typeface="Cambria Math" panose="02040503050406030204" pitchFamily="18" charset="0"/>
                <a:ea typeface="Cambria Math" panose="02040503050406030204" pitchFamily="18" charset="0"/>
                <a:cs typeface="Calibri"/>
              </a:rPr>
              <a:t>statement </a:t>
            </a:r>
            <a:r>
              <a:rPr sz="2800" spc="65" dirty="0">
                <a:latin typeface="Cambria Math" panose="02040503050406030204" pitchFamily="18" charset="0"/>
                <a:ea typeface="Cambria Math" panose="02040503050406030204" pitchFamily="18" charset="0"/>
                <a:cs typeface="Calibri"/>
              </a:rPr>
              <a:t>“</a:t>
            </a:r>
            <a:r>
              <a:rPr sz="2800" spc="65" dirty="0">
                <a:latin typeface="Cambria Math" panose="02040503050406030204" pitchFamily="18" charset="0"/>
                <a:ea typeface="Cambria Math" panose="02040503050406030204" pitchFamily="18" charset="0"/>
                <a:cs typeface="Cambria Math"/>
              </a:rPr>
              <a:t>𝑥</a:t>
            </a:r>
            <a:r>
              <a:rPr sz="3200" spc="97" baseline="28985" dirty="0">
                <a:latin typeface="Cambria Math" panose="02040503050406030204" pitchFamily="18" charset="0"/>
                <a:ea typeface="Cambria Math" panose="02040503050406030204" pitchFamily="18" charset="0"/>
                <a:cs typeface="Cambria Math"/>
              </a:rPr>
              <a:t>2 </a:t>
            </a:r>
            <a:r>
              <a:rPr sz="2800" i="1" dirty="0">
                <a:latin typeface="Cambria Math" panose="02040503050406030204" pitchFamily="18" charset="0"/>
                <a:ea typeface="Cambria Math" panose="02040503050406030204" pitchFamily="18" charset="0"/>
                <a:cs typeface="Calibri"/>
              </a:rPr>
              <a:t>&lt; </a:t>
            </a:r>
            <a:r>
              <a:rPr sz="2800" dirty="0">
                <a:latin typeface="Cambria Math" panose="02040503050406030204" pitchFamily="18" charset="0"/>
                <a:ea typeface="Cambria Math" panose="02040503050406030204" pitchFamily="18" charset="0"/>
                <a:cs typeface="Calibri"/>
              </a:rPr>
              <a:t>10” </a:t>
            </a:r>
            <a:r>
              <a:rPr sz="2800" spc="-5" dirty="0">
                <a:latin typeface="Cambria Math" panose="02040503050406030204" pitchFamily="18" charset="0"/>
                <a:ea typeface="Cambria Math" panose="02040503050406030204" pitchFamily="18" charset="0"/>
                <a:cs typeface="Calibri"/>
              </a:rPr>
              <a:t>and </a:t>
            </a:r>
            <a:r>
              <a:rPr sz="2800" dirty="0">
                <a:latin typeface="Cambria Math" panose="02040503050406030204" pitchFamily="18" charset="0"/>
                <a:ea typeface="Cambria Math" panose="02040503050406030204" pitchFamily="18" charset="0"/>
                <a:cs typeface="Calibri"/>
              </a:rPr>
              <a:t>the </a:t>
            </a:r>
            <a:r>
              <a:rPr sz="2800" spc="-5" dirty="0">
                <a:latin typeface="Cambria Math" panose="02040503050406030204" pitchFamily="18" charset="0"/>
                <a:ea typeface="Cambria Math" panose="02040503050406030204" pitchFamily="18" charset="0"/>
                <a:cs typeface="Calibri"/>
              </a:rPr>
              <a:t>domain </a:t>
            </a:r>
            <a:r>
              <a:rPr sz="2800" dirty="0">
                <a:latin typeface="Cambria Math" panose="02040503050406030204" pitchFamily="18" charset="0"/>
                <a:ea typeface="Cambria Math" panose="02040503050406030204" pitchFamily="18" charset="0"/>
                <a:cs typeface="Calibri"/>
              </a:rPr>
              <a:t>is </a:t>
            </a:r>
            <a:r>
              <a:rPr sz="2800" spc="-10" dirty="0">
                <a:latin typeface="Cambria Math" panose="02040503050406030204" pitchFamily="18" charset="0"/>
                <a:ea typeface="Cambria Math" panose="02040503050406030204" pitchFamily="18" charset="0"/>
                <a:cs typeface="Calibri"/>
              </a:rPr>
              <a:t>positive </a:t>
            </a:r>
            <a:r>
              <a:rPr sz="2800" spc="-20" dirty="0">
                <a:latin typeface="Cambria Math" panose="02040503050406030204" pitchFamily="18" charset="0"/>
                <a:ea typeface="Cambria Math" panose="02040503050406030204" pitchFamily="18" charset="0"/>
                <a:cs typeface="Calibri"/>
              </a:rPr>
              <a:t>integers </a:t>
            </a:r>
            <a:r>
              <a:rPr sz="2800" spc="-5" dirty="0">
                <a:latin typeface="Cambria Math" panose="02040503050406030204" pitchFamily="18" charset="0"/>
                <a:ea typeface="Cambria Math" panose="02040503050406030204" pitchFamily="18" charset="0"/>
                <a:cs typeface="Calibri"/>
              </a:rPr>
              <a:t>not </a:t>
            </a:r>
            <a:r>
              <a:rPr sz="2800" spc="-15" dirty="0">
                <a:latin typeface="Cambria Math" panose="02040503050406030204" pitchFamily="18" charset="0"/>
                <a:ea typeface="Cambria Math" panose="02040503050406030204" pitchFamily="18" charset="0"/>
                <a:cs typeface="Calibri"/>
              </a:rPr>
              <a:t>exceeding</a:t>
            </a:r>
            <a:r>
              <a:rPr sz="2800" spc="65" dirty="0">
                <a:latin typeface="Cambria Math" panose="02040503050406030204" pitchFamily="18" charset="0"/>
                <a:ea typeface="Cambria Math" panose="02040503050406030204" pitchFamily="18" charset="0"/>
                <a:cs typeface="Calibri"/>
              </a:rPr>
              <a:t> </a:t>
            </a:r>
            <a:r>
              <a:rPr sz="2800" dirty="0">
                <a:latin typeface="Cambria Math" panose="02040503050406030204" pitchFamily="18" charset="0"/>
                <a:ea typeface="Cambria Math" panose="02040503050406030204" pitchFamily="18" charset="0"/>
                <a:cs typeface="Calibri"/>
              </a:rPr>
              <a:t>4?</a:t>
            </a:r>
          </a:p>
          <a:p>
            <a:pPr marL="12700">
              <a:spcBef>
                <a:spcPts val="765"/>
              </a:spcBef>
            </a:pPr>
            <a:r>
              <a:rPr sz="2800" i="1" spc="-5" dirty="0">
                <a:latin typeface="Cambria Math" panose="02040503050406030204" pitchFamily="18" charset="0"/>
                <a:ea typeface="Cambria Math" panose="02040503050406030204" pitchFamily="18" charset="0"/>
                <a:cs typeface="Calibri"/>
              </a:rPr>
              <a:t>Solution:</a:t>
            </a:r>
            <a:endParaRPr sz="2800" dirty="0">
              <a:latin typeface="Cambria Math" panose="02040503050406030204" pitchFamily="18" charset="0"/>
              <a:ea typeface="Cambria Math" panose="02040503050406030204" pitchFamily="18" charset="0"/>
              <a:cs typeface="Calibri"/>
            </a:endParaRPr>
          </a:p>
          <a:p>
            <a:pPr marL="469900" lvl="1">
              <a:lnSpc>
                <a:spcPts val="3650"/>
              </a:lnSpc>
              <a:spcBef>
                <a:spcPts val="380"/>
              </a:spcBef>
            </a:pPr>
            <a:r>
              <a:rPr lang="en-US" sz="2800" spc="-50" dirty="0">
                <a:solidFill>
                  <a:srgbClr val="FF0000"/>
                </a:solidFill>
                <a:latin typeface="Cambria Math" panose="02040503050406030204" pitchFamily="18" charset="0"/>
                <a:ea typeface="Cambria Math" panose="02040503050406030204" pitchFamily="18" charset="0"/>
                <a:cs typeface="Calibri"/>
              </a:rPr>
              <a:t>False</a:t>
            </a:r>
          </a:p>
          <a:p>
            <a:pPr marL="12700">
              <a:lnSpc>
                <a:spcPts val="3650"/>
              </a:lnSpc>
              <a:spcBef>
                <a:spcPts val="380"/>
              </a:spcBef>
            </a:pPr>
            <a:r>
              <a:rPr lang="en-US" sz="2800" spc="-20" dirty="0">
                <a:latin typeface="Cambria Math" panose="02040503050406030204" pitchFamily="18" charset="0"/>
                <a:ea typeface="Cambria Math" panose="02040503050406030204" pitchFamily="18" charset="0"/>
                <a:cs typeface="Calibri"/>
              </a:rPr>
              <a:t>Counter example</a:t>
            </a:r>
          </a:p>
          <a:p>
            <a:pPr marL="355600" indent="-342900">
              <a:spcBef>
                <a:spcPts val="790"/>
              </a:spcBef>
              <a:buFont typeface="Arial"/>
              <a:buChar char="•"/>
              <a:tabLst>
                <a:tab pos="354965" algn="l"/>
                <a:tab pos="355600" algn="l"/>
                <a:tab pos="1123315" algn="l"/>
              </a:tabLst>
            </a:pPr>
            <a:r>
              <a:rPr lang="en-US" sz="2800" spc="15" dirty="0">
                <a:latin typeface="Cambria Math" panose="02040503050406030204" pitchFamily="18" charset="0"/>
                <a:ea typeface="Cambria Math" panose="02040503050406030204" pitchFamily="18" charset="0"/>
                <a:cs typeface="Calibri"/>
              </a:rPr>
              <a:t>P(4) : </a:t>
            </a:r>
            <a:r>
              <a:rPr sz="2800" spc="15" dirty="0">
                <a:latin typeface="Cambria Math" panose="02040503050406030204" pitchFamily="18" charset="0"/>
                <a:ea typeface="Cambria Math" panose="02040503050406030204" pitchFamily="18" charset="0"/>
                <a:cs typeface="Cambria Math"/>
              </a:rPr>
              <a:t>4</a:t>
            </a:r>
            <a:r>
              <a:rPr sz="3200" spc="22" baseline="28368" dirty="0">
                <a:latin typeface="Cambria Math" panose="02040503050406030204" pitchFamily="18" charset="0"/>
                <a:ea typeface="Cambria Math" panose="02040503050406030204" pitchFamily="18" charset="0"/>
                <a:cs typeface="Cambria Math"/>
              </a:rPr>
              <a:t>2	</a:t>
            </a:r>
            <a:r>
              <a:rPr sz="2800" i="1" dirty="0">
                <a:latin typeface="Cambria Math" panose="02040503050406030204" pitchFamily="18" charset="0"/>
                <a:ea typeface="Cambria Math" panose="02040503050406030204" pitchFamily="18" charset="0"/>
                <a:cs typeface="Calibri"/>
              </a:rPr>
              <a:t>&lt; </a:t>
            </a:r>
            <a:r>
              <a:rPr sz="2800" spc="-55" dirty="0">
                <a:latin typeface="Cambria Math" panose="02040503050406030204" pitchFamily="18" charset="0"/>
                <a:ea typeface="Cambria Math" panose="02040503050406030204" pitchFamily="18" charset="0"/>
                <a:cs typeface="Calibri"/>
              </a:rPr>
              <a:t>10, </a:t>
            </a:r>
            <a:r>
              <a:rPr sz="2800" dirty="0">
                <a:latin typeface="Cambria Math" panose="02040503050406030204" pitchFamily="18" charset="0"/>
                <a:ea typeface="Cambria Math" panose="02040503050406030204" pitchFamily="18" charset="0"/>
                <a:cs typeface="Calibri"/>
              </a:rPr>
              <a:t>is</a:t>
            </a:r>
            <a:r>
              <a:rPr sz="2800" spc="35" dirty="0">
                <a:latin typeface="Cambria Math" panose="02040503050406030204" pitchFamily="18" charset="0"/>
                <a:ea typeface="Cambria Math" panose="02040503050406030204" pitchFamily="18" charset="0"/>
                <a:cs typeface="Calibri"/>
              </a:rPr>
              <a:t> </a:t>
            </a:r>
            <a:r>
              <a:rPr sz="2800" spc="-15" dirty="0">
                <a:latin typeface="Cambria Math" panose="02040503050406030204" pitchFamily="18" charset="0"/>
                <a:ea typeface="Cambria Math" panose="02040503050406030204" pitchFamily="18" charset="0"/>
                <a:cs typeface="Calibri"/>
              </a:rPr>
              <a:t>false,</a:t>
            </a:r>
            <a:endParaRPr sz="2800" dirty="0">
              <a:latin typeface="Cambria Math" panose="02040503050406030204" pitchFamily="18" charset="0"/>
              <a:ea typeface="Cambria Math" panose="02040503050406030204" pitchFamily="18" charset="0"/>
              <a:cs typeface="Calibri"/>
            </a:endParaRPr>
          </a:p>
          <a:p>
            <a:pPr marL="355600" indent="-342900">
              <a:spcBef>
                <a:spcPts val="765"/>
              </a:spcBef>
              <a:buFont typeface="Arial"/>
              <a:buChar char="•"/>
              <a:tabLst>
                <a:tab pos="354965" algn="l"/>
                <a:tab pos="355600" algn="l"/>
              </a:tabLst>
            </a:pPr>
            <a:r>
              <a:rPr sz="2800" spc="-5" dirty="0">
                <a:latin typeface="Cambria Math" panose="02040503050406030204" pitchFamily="18" charset="0"/>
                <a:ea typeface="Cambria Math" panose="02040503050406030204" pitchFamily="18" charset="0"/>
                <a:cs typeface="Calibri"/>
              </a:rPr>
              <a:t>Thus </a:t>
            </a:r>
            <a:r>
              <a:rPr sz="2800" dirty="0">
                <a:latin typeface="Cambria Math" panose="02040503050406030204" pitchFamily="18" charset="0"/>
                <a:ea typeface="Cambria Math" panose="02040503050406030204" pitchFamily="18" charset="0"/>
                <a:cs typeface="Cambria Math"/>
              </a:rPr>
              <a:t>∀</a:t>
            </a:r>
            <a:r>
              <a:rPr sz="2800" i="1" dirty="0">
                <a:latin typeface="Cambria Math" panose="02040503050406030204" pitchFamily="18" charset="0"/>
                <a:ea typeface="Cambria Math" panose="02040503050406030204" pitchFamily="18" charset="0"/>
                <a:cs typeface="Calibri"/>
              </a:rPr>
              <a:t>x P(x) </a:t>
            </a:r>
            <a:r>
              <a:rPr sz="2800" dirty="0">
                <a:latin typeface="Cambria Math" panose="02040503050406030204" pitchFamily="18" charset="0"/>
                <a:ea typeface="Cambria Math" panose="02040503050406030204" pitchFamily="18" charset="0"/>
                <a:cs typeface="Calibri"/>
              </a:rPr>
              <a:t>is</a:t>
            </a:r>
            <a:r>
              <a:rPr sz="2800" spc="5" dirty="0">
                <a:latin typeface="Cambria Math" panose="02040503050406030204" pitchFamily="18" charset="0"/>
                <a:ea typeface="Cambria Math" panose="02040503050406030204" pitchFamily="18" charset="0"/>
                <a:cs typeface="Calibri"/>
              </a:rPr>
              <a:t> </a:t>
            </a:r>
            <a:r>
              <a:rPr sz="2800" spc="-15" dirty="0">
                <a:latin typeface="Cambria Math" panose="02040503050406030204" pitchFamily="18" charset="0"/>
                <a:ea typeface="Cambria Math" panose="02040503050406030204" pitchFamily="18" charset="0"/>
                <a:cs typeface="Calibri"/>
              </a:rPr>
              <a:t>false.</a:t>
            </a:r>
            <a:endParaRPr sz="2800" dirty="0">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7283" y="463088"/>
            <a:ext cx="8379823" cy="690574"/>
          </a:xfrm>
          <a:prstGeom prst="rect">
            <a:avLst/>
          </a:prstGeom>
        </p:spPr>
        <p:txBody>
          <a:bodyPr vert="horz" wrap="square" lIns="0" tIns="13335" rIns="0" bIns="0" rtlCol="0" anchor="ctr">
            <a:spAutoFit/>
          </a:bodyPr>
          <a:lstStyle/>
          <a:p>
            <a:pPr marL="12700">
              <a:lnSpc>
                <a:spcPct val="100000"/>
              </a:lnSpc>
              <a:spcBef>
                <a:spcPts val="105"/>
              </a:spcBef>
            </a:pPr>
            <a:r>
              <a:rPr lang="en-US" spc="-10" dirty="0">
                <a:latin typeface="Cambria Math" panose="02040503050406030204" pitchFamily="18" charset="0"/>
                <a:ea typeface="Cambria Math" panose="02040503050406030204" pitchFamily="18" charset="0"/>
                <a:cs typeface="Calibri"/>
              </a:rPr>
              <a:t>Existential</a:t>
            </a:r>
            <a:r>
              <a:rPr lang="en-US" spc="-25" dirty="0">
                <a:latin typeface="Cambria Math" panose="02040503050406030204" pitchFamily="18" charset="0"/>
                <a:ea typeface="Cambria Math" panose="02040503050406030204" pitchFamily="18" charset="0"/>
                <a:cs typeface="Calibri"/>
              </a:rPr>
              <a:t> </a:t>
            </a:r>
            <a:r>
              <a:rPr lang="en-US" spc="-15" dirty="0">
                <a:latin typeface="Cambria Math" panose="02040503050406030204" pitchFamily="18" charset="0"/>
                <a:ea typeface="Cambria Math" panose="02040503050406030204" pitchFamily="18" charset="0"/>
                <a:cs typeface="Calibri"/>
              </a:rPr>
              <a:t>Quantifier </a:t>
            </a:r>
            <a:r>
              <a:rPr lang="en-US" dirty="0">
                <a:latin typeface="Cambria Math" panose="02040503050406030204" pitchFamily="18" charset="0"/>
                <a:ea typeface="Cambria Math" panose="02040503050406030204" pitchFamily="18" charset="0"/>
              </a:rPr>
              <a:t>…</a:t>
            </a:r>
            <a:r>
              <a:rPr lang="en-US" dirty="0">
                <a:solidFill>
                  <a:schemeClr val="tx1">
                    <a:lumMod val="65000"/>
                    <a:lumOff val="35000"/>
                  </a:schemeClr>
                </a:solidFill>
                <a:latin typeface="Cambria Math" panose="02040503050406030204" pitchFamily="18" charset="0"/>
                <a:ea typeface="Cambria Math" panose="02040503050406030204" pitchFamily="18" charset="0"/>
              </a:rPr>
              <a:t> </a:t>
            </a:r>
            <a:r>
              <a:rPr lang="en-US" b="1" dirty="0">
                <a:solidFill>
                  <a:srgbClr val="00B050"/>
                </a:solidFill>
              </a:rPr>
              <a:t>∃</a:t>
            </a:r>
            <a:endParaRPr lang="en-US" spc="-15" dirty="0">
              <a:latin typeface="Cambria Math" panose="02040503050406030204" pitchFamily="18" charset="0"/>
              <a:ea typeface="Cambria Math" panose="02040503050406030204" pitchFamily="18" charset="0"/>
              <a:cs typeface="Calibri"/>
            </a:endParaRPr>
          </a:p>
        </p:txBody>
      </p:sp>
      <p:sp>
        <p:nvSpPr>
          <p:cNvPr id="3" name="object 3"/>
          <p:cNvSpPr txBox="1"/>
          <p:nvPr/>
        </p:nvSpPr>
        <p:spPr>
          <a:xfrm>
            <a:off x="737283" y="1545083"/>
            <a:ext cx="10244848" cy="2769348"/>
          </a:xfrm>
          <a:prstGeom prst="rect">
            <a:avLst/>
          </a:prstGeom>
        </p:spPr>
        <p:txBody>
          <a:bodyPr vert="horz" wrap="square" lIns="0" tIns="88265" rIns="0" bIns="0" rtlCol="0">
            <a:spAutoFit/>
          </a:bodyPr>
          <a:lstStyle/>
          <a:p>
            <a:pPr marL="355600" marR="128270" indent="-342900">
              <a:lnSpc>
                <a:spcPct val="80000"/>
              </a:lnSpc>
              <a:spcBef>
                <a:spcPts val="695"/>
              </a:spcBef>
              <a:buFont typeface="Arial"/>
              <a:buChar char="•"/>
              <a:tabLst>
                <a:tab pos="354965" algn="l"/>
                <a:tab pos="355600" algn="l"/>
              </a:tabLst>
            </a:pPr>
            <a:r>
              <a:rPr sz="2500" spc="-10" dirty="0">
                <a:latin typeface="Cambria Math" panose="02040503050406030204" pitchFamily="18" charset="0"/>
                <a:ea typeface="Cambria Math" panose="02040503050406030204" pitchFamily="18" charset="0"/>
                <a:cs typeface="Calibri"/>
              </a:rPr>
              <a:t>The </a:t>
            </a:r>
            <a:r>
              <a:rPr sz="2500" spc="-15" dirty="0">
                <a:latin typeface="Cambria Math" panose="02040503050406030204" pitchFamily="18" charset="0"/>
                <a:ea typeface="Cambria Math" panose="02040503050406030204" pitchFamily="18" charset="0"/>
                <a:cs typeface="Calibri"/>
              </a:rPr>
              <a:t>existential </a:t>
            </a:r>
            <a:r>
              <a:rPr sz="2500" spc="-10" dirty="0">
                <a:latin typeface="Cambria Math" panose="02040503050406030204" pitchFamily="18" charset="0"/>
                <a:ea typeface="Cambria Math" panose="02040503050406030204" pitchFamily="18" charset="0"/>
                <a:cs typeface="Calibri"/>
              </a:rPr>
              <a:t>quantification </a:t>
            </a:r>
            <a:r>
              <a:rPr sz="2500" spc="-5" dirty="0">
                <a:latin typeface="Cambria Math" panose="02040503050406030204" pitchFamily="18" charset="0"/>
                <a:ea typeface="Cambria Math" panose="02040503050406030204" pitchFamily="18" charset="0"/>
                <a:cs typeface="Calibri"/>
              </a:rPr>
              <a:t>of a </a:t>
            </a:r>
            <a:r>
              <a:rPr sz="2500" spc="-15" dirty="0">
                <a:latin typeface="Cambria Math" panose="02040503050406030204" pitchFamily="18" charset="0"/>
                <a:ea typeface="Cambria Math" panose="02040503050406030204" pitchFamily="18" charset="0"/>
                <a:cs typeface="Calibri"/>
              </a:rPr>
              <a:t>predicate </a:t>
            </a:r>
            <a:r>
              <a:rPr sz="2500" spc="-5" dirty="0">
                <a:latin typeface="Cambria Math" panose="02040503050406030204" pitchFamily="18" charset="0"/>
                <a:ea typeface="Cambria Math" panose="02040503050406030204" pitchFamily="18" charset="0"/>
                <a:cs typeface="Calibri"/>
              </a:rPr>
              <a:t>P(x) is the  </a:t>
            </a:r>
            <a:r>
              <a:rPr sz="2500" spc="-10" dirty="0">
                <a:latin typeface="Cambria Math" panose="02040503050406030204" pitchFamily="18" charset="0"/>
                <a:ea typeface="Cambria Math" panose="02040503050406030204" pitchFamily="18" charset="0"/>
                <a:cs typeface="Calibri"/>
              </a:rPr>
              <a:t>proposition</a:t>
            </a:r>
            <a:endParaRPr lang="en-US" sz="2500" spc="-10" dirty="0">
              <a:latin typeface="Cambria Math" panose="02040503050406030204" pitchFamily="18" charset="0"/>
              <a:ea typeface="Cambria Math" panose="02040503050406030204" pitchFamily="18" charset="0"/>
              <a:cs typeface="Calibri"/>
            </a:endParaRPr>
          </a:p>
          <a:p>
            <a:pPr marL="355600" marR="128270" indent="-342900">
              <a:lnSpc>
                <a:spcPct val="80000"/>
              </a:lnSpc>
              <a:spcBef>
                <a:spcPts val="695"/>
              </a:spcBef>
              <a:buFont typeface="Arial"/>
              <a:buChar char="•"/>
              <a:tabLst>
                <a:tab pos="354965" algn="l"/>
                <a:tab pos="355600" algn="l"/>
              </a:tabLst>
            </a:pPr>
            <a:endParaRPr lang="en-US" sz="2500" spc="-10" dirty="0">
              <a:latin typeface="Cambria Math" panose="02040503050406030204" pitchFamily="18" charset="0"/>
              <a:ea typeface="Cambria Math" panose="02040503050406030204" pitchFamily="18" charset="0"/>
              <a:cs typeface="Calibri"/>
            </a:endParaRPr>
          </a:p>
          <a:p>
            <a:pPr marL="12700" marR="128270" algn="ctr">
              <a:lnSpc>
                <a:spcPct val="80000"/>
              </a:lnSpc>
              <a:spcBef>
                <a:spcPts val="695"/>
              </a:spcBef>
              <a:tabLst>
                <a:tab pos="354965" algn="l"/>
                <a:tab pos="355600" algn="l"/>
              </a:tabLst>
            </a:pPr>
            <a:r>
              <a:rPr lang="en-US" sz="2500" spc="-15" dirty="0">
                <a:latin typeface="Cambria Math" panose="02040503050406030204" pitchFamily="18" charset="0"/>
                <a:ea typeface="Cambria Math" panose="02040503050406030204" pitchFamily="18" charset="0"/>
                <a:cs typeface="Calibri"/>
              </a:rPr>
              <a:t>	</a:t>
            </a:r>
            <a:r>
              <a:rPr lang="en-US" sz="2500" spc="-15" dirty="0">
                <a:solidFill>
                  <a:srgbClr val="FF0000"/>
                </a:solidFill>
                <a:latin typeface="Cambria Math" panose="02040503050406030204" pitchFamily="18" charset="0"/>
                <a:ea typeface="Cambria Math" panose="02040503050406030204" pitchFamily="18" charset="0"/>
                <a:cs typeface="Calibri"/>
              </a:rPr>
              <a:t>“P(x) is True for some value of x in the universe of discourse” </a:t>
            </a:r>
          </a:p>
          <a:p>
            <a:pPr marL="12700" marR="128270" algn="ctr">
              <a:lnSpc>
                <a:spcPct val="80000"/>
              </a:lnSpc>
              <a:spcBef>
                <a:spcPts val="695"/>
              </a:spcBef>
              <a:tabLst>
                <a:tab pos="354965" algn="l"/>
                <a:tab pos="355600" algn="l"/>
              </a:tabLst>
            </a:pPr>
            <a:r>
              <a:rPr lang="en-US" sz="2500" spc="-15" dirty="0">
                <a:latin typeface="Cambria Math" panose="02040503050406030204" pitchFamily="18" charset="0"/>
                <a:ea typeface="Cambria Math" panose="02040503050406030204" pitchFamily="18" charset="0"/>
                <a:cs typeface="Calibri"/>
              </a:rPr>
              <a:t>OR</a:t>
            </a:r>
          </a:p>
          <a:p>
            <a:pPr marL="12700" marR="128270">
              <a:lnSpc>
                <a:spcPct val="80000"/>
              </a:lnSpc>
              <a:spcBef>
                <a:spcPts val="695"/>
              </a:spcBef>
              <a:tabLst>
                <a:tab pos="354965" algn="l"/>
                <a:tab pos="355600" algn="l"/>
              </a:tabLst>
            </a:pPr>
            <a:r>
              <a:rPr lang="en-US" sz="2500" spc="-10" dirty="0">
                <a:latin typeface="Cambria Math" panose="02040503050406030204" pitchFamily="18" charset="0"/>
                <a:ea typeface="Cambria Math" panose="02040503050406030204" pitchFamily="18" charset="0"/>
                <a:cs typeface="Calibri"/>
              </a:rPr>
              <a:t>	</a:t>
            </a:r>
            <a:r>
              <a:rPr sz="2500" spc="-10" dirty="0">
                <a:latin typeface="Cambria Math" panose="02040503050406030204" pitchFamily="18" charset="0"/>
                <a:ea typeface="Cambria Math" panose="02040503050406030204" pitchFamily="18" charset="0"/>
                <a:cs typeface="Calibri"/>
              </a:rPr>
              <a:t> </a:t>
            </a:r>
            <a:r>
              <a:rPr sz="2500" dirty="0">
                <a:solidFill>
                  <a:srgbClr val="FF0000"/>
                </a:solidFill>
                <a:latin typeface="Cambria Math" panose="02040503050406030204" pitchFamily="18" charset="0"/>
                <a:ea typeface="Cambria Math" panose="02040503050406030204" pitchFamily="18" charset="0"/>
                <a:cs typeface="Calibri"/>
              </a:rPr>
              <a:t>“There </a:t>
            </a:r>
            <a:r>
              <a:rPr sz="2500" spc="-15" dirty="0">
                <a:solidFill>
                  <a:srgbClr val="FF0000"/>
                </a:solidFill>
                <a:latin typeface="Cambria Math" panose="02040503050406030204" pitchFamily="18" charset="0"/>
                <a:ea typeface="Cambria Math" panose="02040503050406030204" pitchFamily="18" charset="0"/>
                <a:cs typeface="Calibri"/>
              </a:rPr>
              <a:t>exists </a:t>
            </a:r>
            <a:r>
              <a:rPr sz="2500" spc="-5" dirty="0">
                <a:solidFill>
                  <a:srgbClr val="FF0000"/>
                </a:solidFill>
                <a:latin typeface="Cambria Math" panose="02040503050406030204" pitchFamily="18" charset="0"/>
                <a:ea typeface="Cambria Math" panose="02040503050406030204" pitchFamily="18" charset="0"/>
                <a:cs typeface="Calibri"/>
              </a:rPr>
              <a:t>an x in the </a:t>
            </a:r>
            <a:r>
              <a:rPr sz="2500" spc="-15" dirty="0">
                <a:solidFill>
                  <a:srgbClr val="FF0000"/>
                </a:solidFill>
                <a:latin typeface="Cambria Math" panose="02040503050406030204" pitchFamily="18" charset="0"/>
                <a:ea typeface="Cambria Math" panose="02040503050406030204" pitchFamily="18" charset="0"/>
                <a:cs typeface="Calibri"/>
              </a:rPr>
              <a:t>universe </a:t>
            </a:r>
            <a:r>
              <a:rPr sz="2500" spc="-5" dirty="0">
                <a:solidFill>
                  <a:srgbClr val="FF0000"/>
                </a:solidFill>
                <a:latin typeface="Cambria Math" panose="02040503050406030204" pitchFamily="18" charset="0"/>
                <a:ea typeface="Cambria Math" panose="02040503050406030204" pitchFamily="18" charset="0"/>
                <a:cs typeface="Calibri"/>
              </a:rPr>
              <a:t>of </a:t>
            </a:r>
            <a:r>
              <a:rPr sz="2500" spc="-15" dirty="0">
                <a:solidFill>
                  <a:srgbClr val="FF0000"/>
                </a:solidFill>
                <a:latin typeface="Cambria Math" panose="02040503050406030204" pitchFamily="18" charset="0"/>
                <a:ea typeface="Cambria Math" panose="02040503050406030204" pitchFamily="18" charset="0"/>
                <a:cs typeface="Calibri"/>
              </a:rPr>
              <a:t>discourse  </a:t>
            </a:r>
            <a:r>
              <a:rPr sz="2500" spc="-10" dirty="0">
                <a:solidFill>
                  <a:srgbClr val="FF0000"/>
                </a:solidFill>
                <a:latin typeface="Cambria Math" panose="02040503050406030204" pitchFamily="18" charset="0"/>
                <a:ea typeface="Cambria Math" panose="02040503050406030204" pitchFamily="18" charset="0"/>
                <a:cs typeface="Calibri"/>
              </a:rPr>
              <a:t>such </a:t>
            </a:r>
            <a:r>
              <a:rPr sz="2500" spc="-5" dirty="0">
                <a:solidFill>
                  <a:srgbClr val="FF0000"/>
                </a:solidFill>
                <a:latin typeface="Cambria Math" panose="02040503050406030204" pitchFamily="18" charset="0"/>
                <a:ea typeface="Cambria Math" panose="02040503050406030204" pitchFamily="18" charset="0"/>
                <a:cs typeface="Calibri"/>
              </a:rPr>
              <a:t>that P(x) is</a:t>
            </a:r>
            <a:r>
              <a:rPr sz="2500" spc="50" dirty="0">
                <a:solidFill>
                  <a:srgbClr val="FF0000"/>
                </a:solidFill>
                <a:latin typeface="Cambria Math" panose="02040503050406030204" pitchFamily="18" charset="0"/>
                <a:ea typeface="Cambria Math" panose="02040503050406030204" pitchFamily="18" charset="0"/>
                <a:cs typeface="Calibri"/>
              </a:rPr>
              <a:t> </a:t>
            </a:r>
            <a:r>
              <a:rPr sz="2500" spc="-30" dirty="0">
                <a:solidFill>
                  <a:srgbClr val="FF0000"/>
                </a:solidFill>
                <a:latin typeface="Cambria Math" panose="02040503050406030204" pitchFamily="18" charset="0"/>
                <a:ea typeface="Cambria Math" panose="02040503050406030204" pitchFamily="18" charset="0"/>
                <a:cs typeface="Calibri"/>
              </a:rPr>
              <a:t>true.”</a:t>
            </a:r>
            <a:endParaRPr lang="en-US" sz="2500" spc="-30" dirty="0">
              <a:solidFill>
                <a:srgbClr val="FF0000"/>
              </a:solidFill>
              <a:latin typeface="Cambria Math" panose="02040503050406030204" pitchFamily="18" charset="0"/>
              <a:ea typeface="Cambria Math" panose="02040503050406030204" pitchFamily="18" charset="0"/>
              <a:cs typeface="Calibri"/>
            </a:endParaRPr>
          </a:p>
          <a:p>
            <a:pPr marL="355600" marR="128270" indent="-342900">
              <a:lnSpc>
                <a:spcPct val="80000"/>
              </a:lnSpc>
              <a:spcBef>
                <a:spcPts val="695"/>
              </a:spcBef>
              <a:buFont typeface="Arial"/>
              <a:buChar char="•"/>
              <a:tabLst>
                <a:tab pos="354965" algn="l"/>
                <a:tab pos="355600" algn="l"/>
              </a:tabLst>
            </a:pPr>
            <a:endParaRPr sz="2500" dirty="0">
              <a:solidFill>
                <a:srgbClr val="FF0000"/>
              </a:solidFill>
              <a:latin typeface="Cambria Math" panose="02040503050406030204" pitchFamily="18" charset="0"/>
              <a:ea typeface="Cambria Math" panose="02040503050406030204" pitchFamily="18" charset="0"/>
              <a:cs typeface="Calibri"/>
            </a:endParaRPr>
          </a:p>
          <a:p>
            <a:pPr marL="355600" marR="107950" indent="-342900">
              <a:lnSpc>
                <a:spcPts val="2400"/>
              </a:lnSpc>
              <a:spcBef>
                <a:spcPts val="580"/>
              </a:spcBef>
              <a:buFont typeface="Arial"/>
              <a:buChar char="•"/>
              <a:tabLst>
                <a:tab pos="354965" algn="l"/>
                <a:tab pos="355600" algn="l"/>
              </a:tabLst>
            </a:pPr>
            <a:r>
              <a:rPr sz="2500" spc="-10" dirty="0">
                <a:latin typeface="Cambria Math" panose="02040503050406030204" pitchFamily="18" charset="0"/>
                <a:ea typeface="Cambria Math" panose="02040503050406030204" pitchFamily="18" charset="0"/>
                <a:cs typeface="Calibri"/>
              </a:rPr>
              <a:t>notation </a:t>
            </a:r>
            <a:r>
              <a:rPr sz="2500" b="1" spc="-5" dirty="0">
                <a:solidFill>
                  <a:srgbClr val="FF0000"/>
                </a:solidFill>
                <a:latin typeface="Cambria Math" panose="02040503050406030204" pitchFamily="18" charset="0"/>
                <a:ea typeface="Cambria Math" panose="02040503050406030204" pitchFamily="18" charset="0"/>
                <a:cs typeface="Cambria Math"/>
              </a:rPr>
              <a:t>∃</a:t>
            </a:r>
            <a:r>
              <a:rPr sz="2500" b="1" spc="-5" dirty="0">
                <a:solidFill>
                  <a:srgbClr val="FF0000"/>
                </a:solidFill>
                <a:latin typeface="Cambria Math" panose="02040503050406030204" pitchFamily="18" charset="0"/>
                <a:ea typeface="Cambria Math" panose="02040503050406030204" pitchFamily="18" charset="0"/>
                <a:cs typeface="Calibri"/>
              </a:rPr>
              <a:t>x P(x) </a:t>
            </a:r>
            <a:r>
              <a:rPr sz="2500" spc="-15" dirty="0">
                <a:latin typeface="Cambria Math" panose="02040503050406030204" pitchFamily="18" charset="0"/>
                <a:ea typeface="Cambria Math" panose="02040503050406030204" pitchFamily="18" charset="0"/>
                <a:cs typeface="Calibri"/>
              </a:rPr>
              <a:t>existential </a:t>
            </a:r>
            <a:r>
              <a:rPr sz="2500" spc="-10" dirty="0">
                <a:latin typeface="Cambria Math" panose="02040503050406030204" pitchFamily="18" charset="0"/>
                <a:ea typeface="Cambria Math" panose="02040503050406030204" pitchFamily="18" charset="0"/>
                <a:cs typeface="Calibri"/>
              </a:rPr>
              <a:t>quantifier read </a:t>
            </a:r>
            <a:r>
              <a:rPr sz="2500" spc="-5" dirty="0">
                <a:latin typeface="Cambria Math" panose="02040503050406030204" pitchFamily="18" charset="0"/>
                <a:ea typeface="Cambria Math" panose="02040503050406030204" pitchFamily="18" charset="0"/>
                <a:cs typeface="Calibri"/>
              </a:rPr>
              <a:t>as </a:t>
            </a:r>
            <a:r>
              <a:rPr sz="2500" spc="-10" dirty="0">
                <a:latin typeface="Cambria Math" panose="02040503050406030204" pitchFamily="18" charset="0"/>
                <a:ea typeface="Cambria Math" panose="02040503050406030204" pitchFamily="18" charset="0"/>
                <a:cs typeface="Calibri"/>
              </a:rPr>
              <a:t>“there </a:t>
            </a:r>
            <a:r>
              <a:rPr sz="2500" spc="-15" dirty="0">
                <a:latin typeface="Cambria Math" panose="02040503050406030204" pitchFamily="18" charset="0"/>
                <a:ea typeface="Cambria Math" panose="02040503050406030204" pitchFamily="18" charset="0"/>
                <a:cs typeface="Calibri"/>
              </a:rPr>
              <a:t>exists  </a:t>
            </a:r>
            <a:r>
              <a:rPr sz="2500" spc="-5" dirty="0">
                <a:latin typeface="Cambria Math" panose="02040503050406030204" pitchFamily="18" charset="0"/>
                <a:ea typeface="Cambria Math" panose="02040503050406030204" pitchFamily="18" charset="0"/>
                <a:cs typeface="Calibri"/>
              </a:rPr>
              <a:t>an</a:t>
            </a:r>
            <a:r>
              <a:rPr sz="2500" dirty="0">
                <a:latin typeface="Cambria Math" panose="02040503050406030204" pitchFamily="18" charset="0"/>
                <a:ea typeface="Cambria Math" panose="02040503050406030204" pitchFamily="18" charset="0"/>
                <a:cs typeface="Calibri"/>
              </a:rPr>
              <a:t> </a:t>
            </a:r>
            <a:r>
              <a:rPr sz="2500" spc="15" dirty="0">
                <a:latin typeface="Cambria Math" panose="02040503050406030204" pitchFamily="18" charset="0"/>
                <a:ea typeface="Cambria Math" panose="02040503050406030204" pitchFamily="18" charset="0"/>
                <a:cs typeface="Calibri"/>
              </a:rPr>
              <a:t>x”</a:t>
            </a:r>
            <a:endParaRPr sz="2500" dirty="0">
              <a:latin typeface="Cambria Math" panose="02040503050406030204" pitchFamily="18" charset="0"/>
              <a:ea typeface="Cambria Math" panose="02040503050406030204" pitchFamily="18" charset="0"/>
              <a:cs typeface="Calibri"/>
            </a:endParaRPr>
          </a:p>
        </p:txBody>
      </p:sp>
      <p:sp>
        <p:nvSpPr>
          <p:cNvPr id="4" name="object 3"/>
          <p:cNvSpPr txBox="1"/>
          <p:nvPr/>
        </p:nvSpPr>
        <p:spPr>
          <a:xfrm>
            <a:off x="2772198" y="4806703"/>
            <a:ext cx="7937500" cy="1589538"/>
          </a:xfrm>
          <a:prstGeom prst="rect">
            <a:avLst/>
          </a:prstGeom>
        </p:spPr>
        <p:txBody>
          <a:bodyPr vert="horz" wrap="square" lIns="0" tIns="88265" rIns="0" bIns="0" rtlCol="0">
            <a:spAutoFit/>
          </a:bodyPr>
          <a:lstStyle/>
          <a:p>
            <a:pPr marL="355600" marR="128270" indent="-342900">
              <a:lnSpc>
                <a:spcPct val="80000"/>
              </a:lnSpc>
              <a:spcBef>
                <a:spcPts val="695"/>
              </a:spcBef>
              <a:buFont typeface="Arial"/>
              <a:buChar char="•"/>
              <a:tabLst>
                <a:tab pos="354965" algn="l"/>
                <a:tab pos="355600" algn="l"/>
              </a:tabLst>
            </a:pPr>
            <a:r>
              <a:rPr lang="en-US" sz="2500" dirty="0">
                <a:solidFill>
                  <a:srgbClr val="FF0000"/>
                </a:solidFill>
                <a:latin typeface="Cambria Math" panose="02040503050406030204" pitchFamily="18" charset="0"/>
                <a:ea typeface="Cambria Math" panose="02040503050406030204" pitchFamily="18" charset="0"/>
                <a:cs typeface="Calibri"/>
              </a:rPr>
              <a:t>True</a:t>
            </a:r>
          </a:p>
          <a:p>
            <a:pPr marL="812800" marR="128270" lvl="1" indent="-342900">
              <a:lnSpc>
                <a:spcPct val="80000"/>
              </a:lnSpc>
              <a:spcBef>
                <a:spcPts val="695"/>
              </a:spcBef>
              <a:buFont typeface="Arial"/>
              <a:buChar char="•"/>
              <a:tabLst>
                <a:tab pos="354965" algn="l"/>
                <a:tab pos="355600" algn="l"/>
              </a:tabLst>
            </a:pPr>
            <a:r>
              <a:rPr lang="en-US" sz="2500" dirty="0">
                <a:latin typeface="Cambria Math" panose="02040503050406030204" pitchFamily="18" charset="0"/>
                <a:ea typeface="Cambria Math" panose="02040503050406030204" pitchFamily="18" charset="0"/>
                <a:cs typeface="Calibri"/>
              </a:rPr>
              <a:t>When 1 true example found</a:t>
            </a:r>
          </a:p>
          <a:p>
            <a:pPr marL="355600" marR="128270" indent="-342900">
              <a:lnSpc>
                <a:spcPct val="80000"/>
              </a:lnSpc>
              <a:spcBef>
                <a:spcPts val="695"/>
              </a:spcBef>
              <a:buFont typeface="Arial"/>
              <a:buChar char="•"/>
              <a:tabLst>
                <a:tab pos="354965" algn="l"/>
                <a:tab pos="355600" algn="l"/>
              </a:tabLst>
            </a:pPr>
            <a:r>
              <a:rPr lang="en-US" sz="2500" dirty="0">
                <a:solidFill>
                  <a:srgbClr val="FF0000"/>
                </a:solidFill>
                <a:latin typeface="Cambria Math" panose="02040503050406030204" pitchFamily="18" charset="0"/>
                <a:ea typeface="Cambria Math" panose="02040503050406030204" pitchFamily="18" charset="0"/>
                <a:cs typeface="Calibri"/>
              </a:rPr>
              <a:t>False</a:t>
            </a:r>
          </a:p>
          <a:p>
            <a:pPr marL="812800" marR="128270" lvl="1" indent="-342900">
              <a:lnSpc>
                <a:spcPct val="80000"/>
              </a:lnSpc>
              <a:spcBef>
                <a:spcPts val="695"/>
              </a:spcBef>
              <a:buFont typeface="Arial"/>
              <a:buChar char="•"/>
              <a:tabLst>
                <a:tab pos="354965" algn="l"/>
                <a:tab pos="355600" algn="l"/>
              </a:tabLst>
            </a:pPr>
            <a:r>
              <a:rPr lang="en-US" sz="2500" dirty="0">
                <a:latin typeface="Cambria Math" panose="02040503050406030204" pitchFamily="18" charset="0"/>
                <a:ea typeface="Cambria Math" panose="02040503050406030204" pitchFamily="18" charset="0"/>
                <a:cs typeface="Calibri"/>
              </a:rPr>
              <a:t>When No true example found</a:t>
            </a:r>
            <a:endParaRPr sz="2500" dirty="0">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9EE155D5-9D92-AA4C-AEFB-586C784CF2FA}"/>
              </a:ext>
            </a:extLst>
          </p:cNvPr>
          <p:cNvSpPr txBox="1">
            <a:spLocks/>
          </p:cNvSpPr>
          <p:nvPr/>
        </p:nvSpPr>
        <p:spPr>
          <a:xfrm>
            <a:off x="749246" y="1690688"/>
            <a:ext cx="10693508" cy="30250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400" dirty="0">
                <a:solidFill>
                  <a:schemeClr val="bg2">
                    <a:lumMod val="25000"/>
                  </a:schemeClr>
                </a:solidFill>
                <a:latin typeface="Cambria Math" panose="02040503050406030204" pitchFamily="18" charset="0"/>
                <a:ea typeface="Cambria Math" panose="02040503050406030204" pitchFamily="18" charset="0"/>
              </a:rPr>
              <a:t>If the universe of discourse is finite i.e.,</a:t>
            </a:r>
          </a:p>
          <a:p>
            <a:pPr marL="0" indent="0" algn="ctr">
              <a:buFont typeface="Arial" panose="020B0604020202020204" pitchFamily="34" charset="0"/>
              <a:buNone/>
            </a:pPr>
            <a:r>
              <a:rPr lang="en-US" sz="2400" dirty="0">
                <a:solidFill>
                  <a:srgbClr val="FF0000"/>
                </a:solidFill>
                <a:latin typeface="Cambria Math" panose="02040503050406030204" pitchFamily="18" charset="0"/>
                <a:ea typeface="Cambria Math" panose="02040503050406030204" pitchFamily="18" charset="0"/>
              </a:rPr>
              <a:t> n ∈ {n</a:t>
            </a:r>
            <a:r>
              <a:rPr lang="en-US" sz="2400" baseline="-25000" dirty="0">
                <a:solidFill>
                  <a:srgbClr val="FF0000"/>
                </a:solidFill>
                <a:latin typeface="Cambria Math" panose="02040503050406030204" pitchFamily="18" charset="0"/>
                <a:ea typeface="Cambria Math" panose="02040503050406030204" pitchFamily="18" charset="0"/>
              </a:rPr>
              <a:t>1</a:t>
            </a:r>
            <a:r>
              <a:rPr lang="en-US" sz="2400" dirty="0">
                <a:solidFill>
                  <a:srgbClr val="FF0000"/>
                </a:solidFill>
                <a:latin typeface="Cambria Math" panose="02040503050406030204" pitchFamily="18" charset="0"/>
                <a:ea typeface="Cambria Math" panose="02040503050406030204" pitchFamily="18" charset="0"/>
              </a:rPr>
              <a:t>, n</a:t>
            </a:r>
            <a:r>
              <a:rPr lang="en-US" sz="2400" baseline="-25000" dirty="0">
                <a:solidFill>
                  <a:srgbClr val="FF0000"/>
                </a:solidFill>
                <a:latin typeface="Cambria Math" panose="02040503050406030204" pitchFamily="18" charset="0"/>
                <a:ea typeface="Cambria Math" panose="02040503050406030204" pitchFamily="18" charset="0"/>
              </a:rPr>
              <a:t>2</a:t>
            </a:r>
            <a:r>
              <a:rPr lang="en-US" sz="2400" dirty="0">
                <a:solidFill>
                  <a:srgbClr val="FF0000"/>
                </a:solidFill>
                <a:latin typeface="Cambria Math" panose="02040503050406030204" pitchFamily="18" charset="0"/>
                <a:ea typeface="Cambria Math" panose="02040503050406030204" pitchFamily="18" charset="0"/>
              </a:rPr>
              <a:t>, n</a:t>
            </a:r>
            <a:r>
              <a:rPr lang="en-US" sz="2400" baseline="-25000" dirty="0">
                <a:solidFill>
                  <a:srgbClr val="FF0000"/>
                </a:solidFill>
                <a:latin typeface="Cambria Math" panose="02040503050406030204" pitchFamily="18" charset="0"/>
                <a:ea typeface="Cambria Math" panose="02040503050406030204" pitchFamily="18" charset="0"/>
              </a:rPr>
              <a:t>3</a:t>
            </a:r>
            <a:r>
              <a:rPr lang="en-US" sz="2400" dirty="0">
                <a:solidFill>
                  <a:srgbClr val="FF0000"/>
                </a:solidFill>
                <a:latin typeface="Cambria Math" panose="02040503050406030204" pitchFamily="18" charset="0"/>
                <a:ea typeface="Cambria Math" panose="02040503050406030204" pitchFamily="18" charset="0"/>
              </a:rPr>
              <a:t>, …., </a:t>
            </a:r>
            <a:r>
              <a:rPr lang="en-US" sz="2400" dirty="0" err="1">
                <a:solidFill>
                  <a:srgbClr val="FF0000"/>
                </a:solidFill>
                <a:latin typeface="Cambria Math" panose="02040503050406030204" pitchFamily="18" charset="0"/>
                <a:ea typeface="Cambria Math" panose="02040503050406030204" pitchFamily="18" charset="0"/>
              </a:rPr>
              <a:t>n</a:t>
            </a:r>
            <a:r>
              <a:rPr lang="en-US" sz="2400" baseline="-25000" dirty="0" err="1">
                <a:solidFill>
                  <a:srgbClr val="FF0000"/>
                </a:solidFill>
                <a:latin typeface="Cambria Math" panose="02040503050406030204" pitchFamily="18" charset="0"/>
                <a:ea typeface="Cambria Math" panose="02040503050406030204" pitchFamily="18" charset="0"/>
              </a:rPr>
              <a:t>k</a:t>
            </a:r>
            <a:r>
              <a:rPr lang="en-US" sz="2400" dirty="0">
                <a:solidFill>
                  <a:srgbClr val="FF0000"/>
                </a:solidFill>
                <a:latin typeface="Cambria Math" panose="02040503050406030204" pitchFamily="18" charset="0"/>
                <a:ea typeface="Cambria Math" panose="02040503050406030204" pitchFamily="18" charset="0"/>
              </a:rPr>
              <a:t>} </a:t>
            </a:r>
          </a:p>
          <a:p>
            <a:pPr marL="0" indent="0" algn="ctr">
              <a:buFont typeface="Arial" panose="020B0604020202020204" pitchFamily="34" charset="0"/>
              <a:buNone/>
            </a:pPr>
            <a:endParaRPr lang="en-US" sz="2400" dirty="0">
              <a:latin typeface="Cambria Math" panose="02040503050406030204" pitchFamily="18" charset="0"/>
              <a:ea typeface="Cambria Math" panose="02040503050406030204" pitchFamily="18" charset="0"/>
            </a:endParaRPr>
          </a:p>
          <a:p>
            <a:pPr marL="0" indent="0" algn="just">
              <a:buFont typeface="Arial" panose="020B0604020202020204" pitchFamily="34" charset="0"/>
              <a:buNone/>
            </a:pPr>
            <a:r>
              <a:rPr lang="en-US" sz="2400" dirty="0">
                <a:latin typeface="Cambria Math" panose="02040503050406030204" pitchFamily="18" charset="0"/>
                <a:ea typeface="Cambria Math" panose="02040503050406030204" pitchFamily="18" charset="0"/>
              </a:rPr>
              <a:t>then the existential quantification is nothing but the </a:t>
            </a:r>
            <a:r>
              <a:rPr lang="en-US" sz="2400" dirty="0">
                <a:solidFill>
                  <a:srgbClr val="FF0000"/>
                </a:solidFill>
                <a:latin typeface="Cambria Math" panose="02040503050406030204" pitchFamily="18" charset="0"/>
                <a:ea typeface="Cambria Math" panose="02040503050406030204" pitchFamily="18" charset="0"/>
              </a:rPr>
              <a:t>disjunction of P(x) for all values of x.  </a:t>
            </a:r>
          </a:p>
        </p:txBody>
      </p:sp>
      <p:sp>
        <p:nvSpPr>
          <p:cNvPr id="6" name="Content Placeholder 2">
            <a:extLst>
              <a:ext uri="{FF2B5EF4-FFF2-40B4-BE49-F238E27FC236}">
                <a16:creationId xmlns:a16="http://schemas.microsoft.com/office/drawing/2014/main" id="{2704B1A0-9C3B-E523-FC94-7D2E791DA4FF}"/>
              </a:ext>
            </a:extLst>
          </p:cNvPr>
          <p:cNvSpPr txBox="1">
            <a:spLocks/>
          </p:cNvSpPr>
          <p:nvPr/>
        </p:nvSpPr>
        <p:spPr>
          <a:xfrm>
            <a:off x="1498492" y="3945414"/>
            <a:ext cx="10693508" cy="19438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3600" b="1" dirty="0">
                <a:solidFill>
                  <a:srgbClr val="00B050"/>
                </a:solidFill>
              </a:rPr>
              <a:t>∃ </a:t>
            </a:r>
            <a:r>
              <a:rPr lang="en-US" sz="3600" b="1" dirty="0" err="1">
                <a:solidFill>
                  <a:srgbClr val="00B050"/>
                </a:solidFill>
                <a:latin typeface="Cambria Math" panose="02040503050406030204" pitchFamily="18" charset="0"/>
                <a:ea typeface="Cambria Math" panose="02040503050406030204" pitchFamily="18" charset="0"/>
              </a:rPr>
              <a:t>xP</a:t>
            </a:r>
            <a:r>
              <a:rPr lang="en-US" sz="3600" b="1" dirty="0">
                <a:solidFill>
                  <a:srgbClr val="00B050"/>
                </a:solidFill>
                <a:latin typeface="Cambria Math" panose="02040503050406030204" pitchFamily="18" charset="0"/>
                <a:ea typeface="Cambria Math" panose="02040503050406030204" pitchFamily="18" charset="0"/>
              </a:rPr>
              <a:t>(x) </a:t>
            </a:r>
            <a:r>
              <a:rPr lang="en-US" sz="3600" dirty="0">
                <a:solidFill>
                  <a:schemeClr val="accent5">
                    <a:lumMod val="75000"/>
                  </a:schemeClr>
                </a:solidFill>
                <a:latin typeface="Cambria Math" panose="02040503050406030204" pitchFamily="18" charset="0"/>
                <a:ea typeface="Cambria Math" panose="02040503050406030204" pitchFamily="18" charset="0"/>
              </a:rPr>
              <a:t>↔ P(</a:t>
            </a:r>
            <a:r>
              <a:rPr lang="en-US" sz="3600" dirty="0">
                <a:latin typeface="Cambria Math" panose="02040503050406030204" pitchFamily="18" charset="0"/>
                <a:ea typeface="Cambria Math" panose="02040503050406030204" pitchFamily="18" charset="0"/>
              </a:rPr>
              <a:t>n</a:t>
            </a:r>
            <a:r>
              <a:rPr lang="en-US" sz="3600" baseline="-25000" dirty="0">
                <a:latin typeface="Cambria Math" panose="02040503050406030204" pitchFamily="18" charset="0"/>
                <a:ea typeface="Cambria Math" panose="02040503050406030204" pitchFamily="18" charset="0"/>
              </a:rPr>
              <a:t>1</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rPr>
              <a:t>∨</a:t>
            </a:r>
            <a:r>
              <a:rPr lang="en-US" sz="3600" dirty="0"/>
              <a:t> </a:t>
            </a:r>
            <a:r>
              <a:rPr lang="en-US" sz="3600" dirty="0">
                <a:solidFill>
                  <a:schemeClr val="accent5">
                    <a:lumMod val="75000"/>
                  </a:schemeClr>
                </a:solidFill>
                <a:latin typeface="Cambria Math" panose="02040503050406030204" pitchFamily="18" charset="0"/>
                <a:ea typeface="Cambria Math" panose="02040503050406030204" pitchFamily="18" charset="0"/>
              </a:rPr>
              <a:t>P(</a:t>
            </a:r>
            <a:r>
              <a:rPr lang="en-US" sz="3600" dirty="0">
                <a:latin typeface="Cambria Math" panose="02040503050406030204" pitchFamily="18" charset="0"/>
                <a:ea typeface="Cambria Math" panose="02040503050406030204" pitchFamily="18" charset="0"/>
              </a:rPr>
              <a:t>n</a:t>
            </a:r>
            <a:r>
              <a:rPr lang="en-US" sz="3600" baseline="-25000" dirty="0">
                <a:latin typeface="Cambria Math" panose="02040503050406030204" pitchFamily="18" charset="0"/>
                <a:ea typeface="Cambria Math" panose="02040503050406030204" pitchFamily="18" charset="0"/>
              </a:rPr>
              <a:t>2</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rPr>
              <a:t>∨</a:t>
            </a:r>
            <a:r>
              <a:rPr lang="en-US" sz="3600" dirty="0"/>
              <a:t> </a:t>
            </a:r>
            <a:r>
              <a:rPr lang="en-US" sz="3600" dirty="0">
                <a:solidFill>
                  <a:schemeClr val="accent5">
                    <a:lumMod val="75000"/>
                  </a:schemeClr>
                </a:solidFill>
                <a:latin typeface="Cambria Math" panose="02040503050406030204" pitchFamily="18" charset="0"/>
                <a:ea typeface="Cambria Math" panose="02040503050406030204" pitchFamily="18" charset="0"/>
              </a:rPr>
              <a:t>P(</a:t>
            </a:r>
            <a:r>
              <a:rPr lang="en-US" sz="3600" dirty="0">
                <a:latin typeface="Cambria Math" panose="02040503050406030204" pitchFamily="18" charset="0"/>
                <a:ea typeface="Cambria Math" panose="02040503050406030204" pitchFamily="18" charset="0"/>
              </a:rPr>
              <a:t>n</a:t>
            </a:r>
            <a:r>
              <a:rPr lang="en-US" sz="3600" baseline="-25000" dirty="0">
                <a:latin typeface="Cambria Math" panose="02040503050406030204" pitchFamily="18" charset="0"/>
                <a:ea typeface="Cambria Math" panose="02040503050406030204" pitchFamily="18" charset="0"/>
              </a:rPr>
              <a:t>3</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rPr>
              <a:t>∨</a:t>
            </a:r>
            <a:r>
              <a:rPr lang="en-US" sz="3600" dirty="0"/>
              <a:t> </a:t>
            </a:r>
            <a:r>
              <a:rPr lang="en-US" sz="3600" dirty="0">
                <a:solidFill>
                  <a:schemeClr val="accent5">
                    <a:lumMod val="75000"/>
                  </a:schemeClr>
                </a:solidFill>
                <a:latin typeface="Cambria Math" panose="02040503050406030204" pitchFamily="18" charset="0"/>
                <a:ea typeface="Cambria Math" panose="02040503050406030204" pitchFamily="18" charset="0"/>
              </a:rPr>
              <a:t>….. </a:t>
            </a:r>
            <a:r>
              <a:rPr lang="en-US" sz="3600" dirty="0">
                <a:solidFill>
                  <a:srgbClr val="C00000"/>
                </a:solidFill>
              </a:rPr>
              <a:t>∨</a:t>
            </a:r>
            <a:r>
              <a:rPr lang="en-US" sz="3600" dirty="0"/>
              <a:t> </a:t>
            </a:r>
            <a:r>
              <a:rPr lang="en-US" sz="3600" dirty="0">
                <a:solidFill>
                  <a:schemeClr val="accent5">
                    <a:lumMod val="75000"/>
                  </a:schemeClr>
                </a:solidFill>
                <a:latin typeface="Cambria Math" panose="02040503050406030204" pitchFamily="18" charset="0"/>
                <a:ea typeface="Cambria Math" panose="02040503050406030204" pitchFamily="18" charset="0"/>
              </a:rPr>
              <a:t>P(</a:t>
            </a:r>
            <a:r>
              <a:rPr lang="en-US" sz="3600" dirty="0" err="1">
                <a:latin typeface="Cambria Math" panose="02040503050406030204" pitchFamily="18" charset="0"/>
                <a:ea typeface="Cambria Math" panose="02040503050406030204" pitchFamily="18" charset="0"/>
              </a:rPr>
              <a:t>n</a:t>
            </a:r>
            <a:r>
              <a:rPr lang="en-US" sz="3600" baseline="-25000" dirty="0" err="1">
                <a:latin typeface="Cambria Math" panose="02040503050406030204" pitchFamily="18" charset="0"/>
                <a:ea typeface="Cambria Math" panose="02040503050406030204" pitchFamily="18" charset="0"/>
              </a:rPr>
              <a:t>k</a:t>
            </a:r>
            <a:r>
              <a:rPr lang="en-US" sz="3600" dirty="0">
                <a:solidFill>
                  <a:schemeClr val="accent5">
                    <a:lumMod val="75000"/>
                  </a:schemeClr>
                </a:solidFill>
                <a:latin typeface="Cambria Math" panose="02040503050406030204" pitchFamily="18" charset="0"/>
                <a:ea typeface="Cambria Math" panose="02040503050406030204" pitchFamily="18" charset="0"/>
              </a:rPr>
              <a:t>)</a:t>
            </a:r>
          </a:p>
        </p:txBody>
      </p:sp>
      <p:sp>
        <p:nvSpPr>
          <p:cNvPr id="4" name="TextBox 3">
            <a:extLst>
              <a:ext uri="{FF2B5EF4-FFF2-40B4-BE49-F238E27FC236}">
                <a16:creationId xmlns:a16="http://schemas.microsoft.com/office/drawing/2014/main" id="{D8F8DAC9-0627-1F3D-BEAB-BA71251B38B7}"/>
              </a:ext>
            </a:extLst>
          </p:cNvPr>
          <p:cNvSpPr txBox="1"/>
          <p:nvPr/>
        </p:nvSpPr>
        <p:spPr>
          <a:xfrm>
            <a:off x="1107485" y="5167312"/>
            <a:ext cx="9380129" cy="830997"/>
          </a:xfrm>
          <a:prstGeom prst="rect">
            <a:avLst/>
          </a:prstGeom>
          <a:noFill/>
        </p:spPr>
        <p:txBody>
          <a:bodyPr wrap="square">
            <a:spAutoFit/>
          </a:bodyPr>
          <a:lstStyle/>
          <a:p>
            <a:pPr algn="ctr"/>
            <a:r>
              <a:rPr lang="en-US" sz="2400" dirty="0">
                <a:latin typeface="Cambria Math" panose="02040503050406030204" pitchFamily="18" charset="0"/>
                <a:ea typeface="Cambria Math" panose="02040503050406030204" pitchFamily="18" charset="0"/>
              </a:rPr>
              <a:t>The above proposition with have its Truth value equal to True only </a:t>
            </a:r>
          </a:p>
          <a:p>
            <a:pPr algn="ctr"/>
            <a:r>
              <a:rPr lang="en-US" sz="2400" dirty="0">
                <a:latin typeface="Cambria Math" panose="02040503050406030204" pitchFamily="18" charset="0"/>
                <a:ea typeface="Cambria Math" panose="02040503050406030204" pitchFamily="18" charset="0"/>
              </a:rPr>
              <a:t>if P(x) is True for one or more values of x. </a:t>
            </a:r>
          </a:p>
        </p:txBody>
      </p:sp>
      <p:sp>
        <p:nvSpPr>
          <p:cNvPr id="9" name="object 2">
            <a:extLst>
              <a:ext uri="{FF2B5EF4-FFF2-40B4-BE49-F238E27FC236}">
                <a16:creationId xmlns:a16="http://schemas.microsoft.com/office/drawing/2014/main" id="{64D4810B-2EBC-4188-93C0-6A9409D5CEE8}"/>
              </a:ext>
            </a:extLst>
          </p:cNvPr>
          <p:cNvSpPr txBox="1">
            <a:spLocks noGrp="1"/>
          </p:cNvSpPr>
          <p:nvPr>
            <p:ph type="title"/>
          </p:nvPr>
        </p:nvSpPr>
        <p:spPr>
          <a:xfrm>
            <a:off x="539750" y="682619"/>
            <a:ext cx="10515600" cy="690574"/>
          </a:xfrm>
          <a:prstGeom prst="rect">
            <a:avLst/>
          </a:prstGeom>
        </p:spPr>
        <p:txBody>
          <a:bodyPr vert="horz" wrap="square" lIns="0" tIns="13335" rIns="0" bIns="0" rtlCol="0" anchor="ctr">
            <a:spAutoFit/>
          </a:bodyPr>
          <a:lstStyle/>
          <a:p>
            <a:pPr marL="12700">
              <a:lnSpc>
                <a:spcPct val="100000"/>
              </a:lnSpc>
              <a:spcBef>
                <a:spcPts val="105"/>
              </a:spcBef>
            </a:pPr>
            <a:r>
              <a:rPr lang="en-US" spc="-10" dirty="0">
                <a:latin typeface="Cambria Math" panose="02040503050406030204" pitchFamily="18" charset="0"/>
                <a:ea typeface="Cambria Math" panose="02040503050406030204" pitchFamily="18" charset="0"/>
                <a:cs typeface="Calibri"/>
              </a:rPr>
              <a:t>Existential</a:t>
            </a:r>
            <a:r>
              <a:rPr lang="en-US" spc="-25" dirty="0">
                <a:latin typeface="Cambria Math" panose="02040503050406030204" pitchFamily="18" charset="0"/>
                <a:ea typeface="Cambria Math" panose="02040503050406030204" pitchFamily="18" charset="0"/>
                <a:cs typeface="Calibri"/>
              </a:rPr>
              <a:t> </a:t>
            </a:r>
            <a:r>
              <a:rPr lang="en-US" spc="-15" dirty="0">
                <a:latin typeface="Cambria Math" panose="02040503050406030204" pitchFamily="18" charset="0"/>
                <a:ea typeface="Cambria Math" panose="02040503050406030204" pitchFamily="18" charset="0"/>
                <a:cs typeface="Calibri"/>
              </a:rPr>
              <a:t>Quantifier </a:t>
            </a:r>
            <a:r>
              <a:rPr lang="en-US" dirty="0">
                <a:latin typeface="Cambria Math" panose="02040503050406030204" pitchFamily="18" charset="0"/>
                <a:ea typeface="Cambria Math" panose="02040503050406030204" pitchFamily="18" charset="0"/>
              </a:rPr>
              <a:t>…</a:t>
            </a:r>
            <a:r>
              <a:rPr lang="en-US" dirty="0">
                <a:solidFill>
                  <a:schemeClr val="tx1">
                    <a:lumMod val="65000"/>
                    <a:lumOff val="35000"/>
                  </a:schemeClr>
                </a:solidFill>
                <a:latin typeface="Cambria Math" panose="02040503050406030204" pitchFamily="18" charset="0"/>
                <a:ea typeface="Cambria Math" panose="02040503050406030204" pitchFamily="18" charset="0"/>
              </a:rPr>
              <a:t> </a:t>
            </a:r>
            <a:r>
              <a:rPr lang="en-US" b="1" dirty="0">
                <a:solidFill>
                  <a:srgbClr val="00B050"/>
                </a:solidFill>
                <a:latin typeface="Cambria Math" panose="02040503050406030204" pitchFamily="18" charset="0"/>
                <a:ea typeface="Cambria Math" panose="02040503050406030204" pitchFamily="18" charset="0"/>
              </a:rPr>
              <a:t>∃</a:t>
            </a:r>
            <a:endParaRPr lang="en-US" spc="-15" dirty="0">
              <a:latin typeface="Cambria Math" panose="02040503050406030204" pitchFamily="18" charset="0"/>
              <a:ea typeface="Cambria Math" panose="02040503050406030204" pitchFamily="18" charset="0"/>
              <a:cs typeface="Calibri"/>
            </a:endParaRPr>
          </a:p>
        </p:txBody>
      </p:sp>
    </p:spTree>
    <p:extLst>
      <p:ext uri="{BB962C8B-B14F-4D97-AF65-F5344CB8AC3E}">
        <p14:creationId xmlns:p14="http://schemas.microsoft.com/office/powerpoint/2010/main" val="368970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pc="-10" dirty="0">
                <a:latin typeface="Cambria Math" panose="02040503050406030204" pitchFamily="18" charset="0"/>
                <a:ea typeface="Cambria Math" panose="02040503050406030204" pitchFamily="18" charset="0"/>
                <a:cs typeface="Calibri"/>
              </a:rPr>
              <a:t>Expressing </a:t>
            </a:r>
            <a:r>
              <a:rPr lang="en-US" spc="-15" dirty="0">
                <a:latin typeface="Cambria Math" panose="02040503050406030204" pitchFamily="18" charset="0"/>
                <a:ea typeface="Cambria Math" panose="02040503050406030204" pitchFamily="18" charset="0"/>
                <a:cs typeface="Calibri"/>
              </a:rPr>
              <a:t>words</a:t>
            </a:r>
            <a:endParaRPr lang="en-US"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838200" y="1948419"/>
            <a:ext cx="10515600" cy="3859742"/>
          </a:xfrm>
        </p:spPr>
        <p:txBody>
          <a:bodyPr/>
          <a:lstStyle/>
          <a:p>
            <a:pPr marL="355600">
              <a:buFont typeface="Arial"/>
              <a:buChar char="•"/>
              <a:tabLst>
                <a:tab pos="354965" algn="l"/>
                <a:tab pos="355600" algn="l"/>
              </a:tabLst>
            </a:pPr>
            <a:r>
              <a:rPr lang="en-US" sz="2500" spc="-55" dirty="0">
                <a:latin typeface="Cambria Math" panose="02040503050406030204" pitchFamily="18" charset="0"/>
                <a:ea typeface="Cambria Math" panose="02040503050406030204" pitchFamily="18" charset="0"/>
                <a:cs typeface="Calibri"/>
              </a:rPr>
              <a:t>We </a:t>
            </a:r>
            <a:r>
              <a:rPr lang="en-US" sz="2500" spc="-15" dirty="0">
                <a:latin typeface="Cambria Math" panose="02040503050406030204" pitchFamily="18" charset="0"/>
                <a:ea typeface="Cambria Math" panose="02040503050406030204" pitchFamily="18" charset="0"/>
                <a:cs typeface="Calibri"/>
              </a:rPr>
              <a:t>can </a:t>
            </a:r>
            <a:r>
              <a:rPr lang="en-US" sz="2500" spc="-25" dirty="0">
                <a:latin typeface="Cambria Math" panose="02040503050406030204" pitchFamily="18" charset="0"/>
                <a:ea typeface="Cambria Math" panose="02040503050406030204" pitchFamily="18" charset="0"/>
                <a:cs typeface="Calibri"/>
              </a:rPr>
              <a:t>state </a:t>
            </a:r>
            <a:r>
              <a:rPr lang="en-US" sz="2500" spc="-5" dirty="0">
                <a:latin typeface="Cambria Math" panose="02040503050406030204" pitchFamily="18" charset="0"/>
                <a:ea typeface="Cambria Math" panose="02040503050406030204" pitchFamily="18" charset="0"/>
                <a:cs typeface="Calibri"/>
              </a:rPr>
              <a:t>in </a:t>
            </a:r>
            <a:r>
              <a:rPr lang="en-US" sz="2500" spc="-10" dirty="0">
                <a:latin typeface="Cambria Math" panose="02040503050406030204" pitchFamily="18" charset="0"/>
                <a:ea typeface="Cambria Math" panose="02040503050406030204" pitchFamily="18" charset="0"/>
                <a:cs typeface="Calibri"/>
              </a:rPr>
              <a:t>following </a:t>
            </a:r>
            <a:r>
              <a:rPr lang="en-US" sz="2500" spc="-25" dirty="0">
                <a:latin typeface="Cambria Math" panose="02040503050406030204" pitchFamily="18" charset="0"/>
                <a:ea typeface="Cambria Math" panose="02040503050406030204" pitchFamily="18" charset="0"/>
                <a:cs typeface="Calibri"/>
              </a:rPr>
              <a:t>ways:</a:t>
            </a:r>
            <a:r>
              <a:rPr lang="en-US" sz="2500" spc="85" dirty="0">
                <a:latin typeface="Cambria Math" panose="02040503050406030204" pitchFamily="18" charset="0"/>
                <a:ea typeface="Cambria Math" panose="02040503050406030204" pitchFamily="18" charset="0"/>
                <a:cs typeface="Calibri"/>
              </a:rPr>
              <a:t> </a:t>
            </a:r>
            <a:r>
              <a:rPr lang="en-US" sz="2500" spc="-5" dirty="0">
                <a:latin typeface="Cambria Math" panose="02040503050406030204" pitchFamily="18" charset="0"/>
                <a:ea typeface="Cambria Math" panose="02040503050406030204" pitchFamily="18" charset="0"/>
                <a:cs typeface="Calibri"/>
              </a:rPr>
              <a:t>–</a:t>
            </a:r>
            <a:endParaRPr lang="en-US" sz="2500" dirty="0">
              <a:latin typeface="Cambria Math" panose="02040503050406030204" pitchFamily="18" charset="0"/>
              <a:ea typeface="Cambria Math" panose="02040503050406030204" pitchFamily="18" charset="0"/>
              <a:cs typeface="Calibri"/>
            </a:endParaRPr>
          </a:p>
          <a:p>
            <a:pPr marL="820419" lvl="1" indent="-350520">
              <a:lnSpc>
                <a:spcPct val="100000"/>
              </a:lnSpc>
              <a:spcBef>
                <a:spcPts val="10"/>
              </a:spcBef>
              <a:buFont typeface="Arial"/>
              <a:buChar char="–"/>
              <a:tabLst>
                <a:tab pos="820419" algn="l"/>
                <a:tab pos="821055" algn="l"/>
              </a:tabLst>
            </a:pPr>
            <a:r>
              <a:rPr lang="en-US" sz="2200" spc="-5" dirty="0">
                <a:latin typeface="Cambria Math" panose="02040503050406030204" pitchFamily="18" charset="0"/>
                <a:ea typeface="Cambria Math" panose="02040503050406030204" pitchFamily="18" charset="0"/>
                <a:cs typeface="Cambria Math"/>
              </a:rPr>
              <a:t>∃</a:t>
            </a:r>
            <a:r>
              <a:rPr lang="en-US" sz="2200" spc="-5" dirty="0">
                <a:latin typeface="Cambria Math" panose="02040503050406030204" pitchFamily="18" charset="0"/>
                <a:ea typeface="Cambria Math" panose="02040503050406030204" pitchFamily="18" charset="0"/>
                <a:cs typeface="Calibri"/>
              </a:rPr>
              <a:t>x</a:t>
            </a:r>
            <a:r>
              <a:rPr lang="en-US" sz="2200" spc="-10" dirty="0">
                <a:latin typeface="Cambria Math" panose="02040503050406030204" pitchFamily="18" charset="0"/>
                <a:ea typeface="Cambria Math" panose="02040503050406030204" pitchFamily="18" charset="0"/>
                <a:cs typeface="Calibri"/>
              </a:rPr>
              <a:t> P(x)</a:t>
            </a:r>
            <a:endParaRPr lang="en-US" sz="2200" dirty="0">
              <a:latin typeface="Cambria Math" panose="02040503050406030204" pitchFamily="18" charset="0"/>
              <a:ea typeface="Cambria Math" panose="02040503050406030204" pitchFamily="18" charset="0"/>
              <a:cs typeface="Calibri"/>
            </a:endParaRPr>
          </a:p>
          <a:p>
            <a:pPr marL="820419" lvl="1" indent="-350520">
              <a:lnSpc>
                <a:spcPct val="100000"/>
              </a:lnSpc>
              <a:buFont typeface="Arial"/>
              <a:buChar char="–"/>
              <a:tabLst>
                <a:tab pos="820419" algn="l"/>
                <a:tab pos="821055" algn="l"/>
              </a:tabLst>
            </a:pPr>
            <a:r>
              <a:rPr lang="en-US" sz="2200" spc="-10" dirty="0">
                <a:latin typeface="Cambria Math" panose="02040503050406030204" pitchFamily="18" charset="0"/>
                <a:ea typeface="Cambria Math" panose="02040503050406030204" pitchFamily="18" charset="0"/>
                <a:cs typeface="Calibri"/>
              </a:rPr>
              <a:t>“there </a:t>
            </a:r>
            <a:r>
              <a:rPr lang="en-US" sz="2200" spc="-15" dirty="0">
                <a:latin typeface="Cambria Math" panose="02040503050406030204" pitchFamily="18" charset="0"/>
                <a:ea typeface="Cambria Math" panose="02040503050406030204" pitchFamily="18" charset="0"/>
                <a:cs typeface="Calibri"/>
              </a:rPr>
              <a:t>exists </a:t>
            </a:r>
            <a:r>
              <a:rPr lang="en-US" sz="2200" spc="-5" dirty="0">
                <a:latin typeface="Cambria Math" panose="02040503050406030204" pitchFamily="18" charset="0"/>
                <a:ea typeface="Cambria Math" panose="02040503050406030204" pitchFamily="18" charset="0"/>
                <a:cs typeface="Calibri"/>
              </a:rPr>
              <a:t>(a </a:t>
            </a:r>
            <a:r>
              <a:rPr lang="en-US" sz="2200" spc="-15" dirty="0">
                <a:latin typeface="Cambria Math" panose="02040503050406030204" pitchFamily="18" charset="0"/>
                <a:ea typeface="Cambria Math" panose="02040503050406030204" pitchFamily="18" charset="0"/>
                <a:cs typeface="Calibri"/>
              </a:rPr>
              <a:t>value </a:t>
            </a:r>
            <a:r>
              <a:rPr lang="en-US" sz="2200" dirty="0">
                <a:latin typeface="Cambria Math" panose="02040503050406030204" pitchFamily="18" charset="0"/>
                <a:ea typeface="Cambria Math" panose="02040503050406030204" pitchFamily="18" charset="0"/>
                <a:cs typeface="Calibri"/>
              </a:rPr>
              <a:t>of) </a:t>
            </a:r>
            <a:r>
              <a:rPr lang="en-US" sz="2200" spc="-5" dirty="0">
                <a:latin typeface="Cambria Math" panose="02040503050406030204" pitchFamily="18" charset="0"/>
                <a:ea typeface="Cambria Math" panose="02040503050406030204" pitchFamily="18" charset="0"/>
                <a:cs typeface="Calibri"/>
              </a:rPr>
              <a:t>x </a:t>
            </a:r>
            <a:r>
              <a:rPr lang="en-US" sz="2200" spc="-10" dirty="0">
                <a:latin typeface="Cambria Math" panose="02040503050406030204" pitchFamily="18" charset="0"/>
                <a:ea typeface="Cambria Math" panose="02040503050406030204" pitchFamily="18" charset="0"/>
                <a:cs typeface="Calibri"/>
              </a:rPr>
              <a:t>such </a:t>
            </a:r>
            <a:r>
              <a:rPr lang="en-US" sz="2200" spc="-15" dirty="0">
                <a:latin typeface="Cambria Math" panose="02040503050406030204" pitchFamily="18" charset="0"/>
                <a:ea typeface="Cambria Math" panose="02040503050406030204" pitchFamily="18" charset="0"/>
                <a:cs typeface="Calibri"/>
              </a:rPr>
              <a:t>that </a:t>
            </a:r>
            <a:r>
              <a:rPr lang="en-US" sz="2200" spc="-10" dirty="0">
                <a:latin typeface="Cambria Math" panose="02040503050406030204" pitchFamily="18" charset="0"/>
                <a:ea typeface="Cambria Math" panose="02040503050406030204" pitchFamily="18" charset="0"/>
                <a:cs typeface="Calibri"/>
              </a:rPr>
              <a:t>P(x) </a:t>
            </a:r>
            <a:r>
              <a:rPr lang="en-US" sz="2200" spc="-5" dirty="0">
                <a:latin typeface="Cambria Math" panose="02040503050406030204" pitchFamily="18" charset="0"/>
                <a:ea typeface="Cambria Math" panose="02040503050406030204" pitchFamily="18" charset="0"/>
                <a:cs typeface="Calibri"/>
              </a:rPr>
              <a:t>is</a:t>
            </a:r>
            <a:r>
              <a:rPr lang="en-US" sz="2200" spc="60" dirty="0">
                <a:latin typeface="Cambria Math" panose="02040503050406030204" pitchFamily="18" charset="0"/>
                <a:ea typeface="Cambria Math" panose="02040503050406030204" pitchFamily="18" charset="0"/>
                <a:cs typeface="Calibri"/>
              </a:rPr>
              <a:t> </a:t>
            </a:r>
            <a:r>
              <a:rPr lang="en-US" sz="2200" spc="-5" dirty="0">
                <a:latin typeface="Cambria Math" panose="02040503050406030204" pitchFamily="18" charset="0"/>
                <a:ea typeface="Cambria Math" panose="02040503050406030204" pitchFamily="18" charset="0"/>
                <a:cs typeface="Calibri"/>
              </a:rPr>
              <a:t>true”</a:t>
            </a:r>
            <a:endParaRPr lang="en-US" sz="2200" dirty="0">
              <a:latin typeface="Cambria Math" panose="02040503050406030204" pitchFamily="18" charset="0"/>
              <a:ea typeface="Cambria Math" panose="02040503050406030204" pitchFamily="18" charset="0"/>
              <a:cs typeface="Calibri"/>
            </a:endParaRPr>
          </a:p>
          <a:p>
            <a:pPr marL="756285" lvl="1" indent="-286385">
              <a:lnSpc>
                <a:spcPct val="100000"/>
              </a:lnSpc>
              <a:buFont typeface="Arial"/>
              <a:buChar char="–"/>
              <a:tabLst>
                <a:tab pos="756285" algn="l"/>
                <a:tab pos="756920" algn="l"/>
              </a:tabLst>
            </a:pPr>
            <a:r>
              <a:rPr lang="en-US" sz="2200" spc="-15" dirty="0">
                <a:latin typeface="Cambria Math" panose="02040503050406030204" pitchFamily="18" charset="0"/>
                <a:ea typeface="Cambria Math" panose="02040503050406030204" pitchFamily="18" charset="0"/>
                <a:cs typeface="Calibri"/>
              </a:rPr>
              <a:t>“for at </a:t>
            </a:r>
            <a:r>
              <a:rPr lang="en-US" sz="2200" spc="-10" dirty="0">
                <a:latin typeface="Cambria Math" panose="02040503050406030204" pitchFamily="18" charset="0"/>
                <a:ea typeface="Cambria Math" panose="02040503050406030204" pitchFamily="18" charset="0"/>
                <a:cs typeface="Calibri"/>
              </a:rPr>
              <a:t>least </a:t>
            </a:r>
            <a:r>
              <a:rPr lang="en-US" sz="2200" spc="-5" dirty="0">
                <a:latin typeface="Cambria Math" panose="02040503050406030204" pitchFamily="18" charset="0"/>
                <a:ea typeface="Cambria Math" panose="02040503050406030204" pitchFamily="18" charset="0"/>
                <a:cs typeface="Calibri"/>
              </a:rPr>
              <a:t>one </a:t>
            </a:r>
            <a:r>
              <a:rPr lang="en-US" sz="2200" spc="-15" dirty="0">
                <a:latin typeface="Cambria Math" panose="02040503050406030204" pitchFamily="18" charset="0"/>
                <a:ea typeface="Cambria Math" panose="02040503050406030204" pitchFamily="18" charset="0"/>
                <a:cs typeface="Calibri"/>
              </a:rPr>
              <a:t>value </a:t>
            </a:r>
            <a:r>
              <a:rPr lang="en-US" sz="2200" spc="-5" dirty="0">
                <a:latin typeface="Cambria Math" panose="02040503050406030204" pitchFamily="18" charset="0"/>
                <a:ea typeface="Cambria Math" panose="02040503050406030204" pitchFamily="18" charset="0"/>
                <a:cs typeface="Calibri"/>
              </a:rPr>
              <a:t>of x, </a:t>
            </a:r>
            <a:r>
              <a:rPr lang="en-US" sz="2200" spc="-10" dirty="0">
                <a:latin typeface="Cambria Math" panose="02040503050406030204" pitchFamily="18" charset="0"/>
                <a:ea typeface="Cambria Math" panose="02040503050406030204" pitchFamily="18" charset="0"/>
                <a:cs typeface="Calibri"/>
              </a:rPr>
              <a:t>x+1&gt;x </a:t>
            </a:r>
            <a:r>
              <a:rPr lang="en-US" sz="2200" spc="-5" dirty="0">
                <a:latin typeface="Cambria Math" panose="02040503050406030204" pitchFamily="18" charset="0"/>
                <a:ea typeface="Cambria Math" panose="02040503050406030204" pitchFamily="18" charset="0"/>
                <a:cs typeface="Calibri"/>
              </a:rPr>
              <a:t>is</a:t>
            </a:r>
            <a:r>
              <a:rPr lang="en-US" sz="2200" spc="75" dirty="0">
                <a:latin typeface="Cambria Math" panose="02040503050406030204" pitchFamily="18" charset="0"/>
                <a:ea typeface="Cambria Math" panose="02040503050406030204" pitchFamily="18" charset="0"/>
                <a:cs typeface="Calibri"/>
              </a:rPr>
              <a:t> </a:t>
            </a:r>
            <a:r>
              <a:rPr lang="en-US" sz="2200" spc="-5" dirty="0">
                <a:latin typeface="Cambria Math" panose="02040503050406030204" pitchFamily="18" charset="0"/>
                <a:ea typeface="Cambria Math" panose="02040503050406030204" pitchFamily="18" charset="0"/>
                <a:cs typeface="Calibri"/>
              </a:rPr>
              <a:t>true</a:t>
            </a:r>
            <a:endParaRPr lang="en-US" sz="2200" dirty="0">
              <a:latin typeface="Cambria Math" panose="02040503050406030204" pitchFamily="18" charset="0"/>
              <a:ea typeface="Cambria Math" panose="02040503050406030204" pitchFamily="18" charset="0"/>
              <a:cs typeface="Calibri"/>
            </a:endParaRPr>
          </a:p>
          <a:p>
            <a:pPr marL="756285" lvl="1" indent="-286385">
              <a:lnSpc>
                <a:spcPct val="100000"/>
              </a:lnSpc>
              <a:buFont typeface="Arial"/>
              <a:buChar char="–"/>
              <a:tabLst>
                <a:tab pos="756285" algn="l"/>
                <a:tab pos="756920" algn="l"/>
              </a:tabLst>
            </a:pPr>
            <a:r>
              <a:rPr lang="en-US" sz="2200" spc="-15" dirty="0">
                <a:latin typeface="Cambria Math" panose="02040503050406030204" pitchFamily="18" charset="0"/>
                <a:ea typeface="Cambria Math" panose="02040503050406030204" pitchFamily="18" charset="0"/>
                <a:cs typeface="Calibri"/>
              </a:rPr>
              <a:t>For </a:t>
            </a:r>
            <a:r>
              <a:rPr lang="en-US" sz="2200" spc="-5" dirty="0">
                <a:latin typeface="Cambria Math" panose="02040503050406030204" pitchFamily="18" charset="0"/>
                <a:ea typeface="Cambria Math" panose="02040503050406030204" pitchFamily="18" charset="0"/>
                <a:cs typeface="Calibri"/>
              </a:rPr>
              <a:t>some </a:t>
            </a:r>
            <a:r>
              <a:rPr lang="en-US" sz="2200" i="1" spc="-5" dirty="0">
                <a:latin typeface="Cambria Math" panose="02040503050406030204" pitchFamily="18" charset="0"/>
                <a:ea typeface="Cambria Math" panose="02040503050406030204" pitchFamily="18" charset="0"/>
                <a:cs typeface="Calibri"/>
              </a:rPr>
              <a:t>x </a:t>
            </a:r>
            <a:r>
              <a:rPr lang="en-US" sz="2200" i="1" spc="-10" dirty="0">
                <a:latin typeface="Cambria Math" panose="02040503050406030204" pitchFamily="18" charset="0"/>
                <a:ea typeface="Cambria Math" panose="02040503050406030204" pitchFamily="18" charset="0"/>
                <a:cs typeface="Calibri"/>
              </a:rPr>
              <a:t>P(x) </a:t>
            </a:r>
            <a:r>
              <a:rPr lang="en-US" sz="2200" spc="-5" dirty="0">
                <a:latin typeface="Cambria Math" panose="02040503050406030204" pitchFamily="18" charset="0"/>
                <a:ea typeface="Cambria Math" panose="02040503050406030204" pitchFamily="18" charset="0"/>
                <a:cs typeface="Calibri"/>
              </a:rPr>
              <a:t>is</a:t>
            </a:r>
            <a:r>
              <a:rPr lang="en-US" sz="2200" spc="35" dirty="0">
                <a:latin typeface="Cambria Math" panose="02040503050406030204" pitchFamily="18" charset="0"/>
                <a:ea typeface="Cambria Math" panose="02040503050406030204" pitchFamily="18" charset="0"/>
                <a:cs typeface="Calibri"/>
              </a:rPr>
              <a:t> </a:t>
            </a:r>
            <a:r>
              <a:rPr lang="en-US" sz="2200" spc="-5" dirty="0">
                <a:latin typeface="Cambria Math" panose="02040503050406030204" pitchFamily="18" charset="0"/>
                <a:ea typeface="Cambria Math" panose="02040503050406030204" pitchFamily="18" charset="0"/>
                <a:cs typeface="Calibri"/>
              </a:rPr>
              <a:t>true</a:t>
            </a:r>
            <a:endParaRPr lang="en-US" sz="2200" dirty="0">
              <a:latin typeface="Cambria Math" panose="02040503050406030204" pitchFamily="18" charset="0"/>
              <a:ea typeface="Cambria Math" panose="02040503050406030204" pitchFamily="18" charset="0"/>
              <a:cs typeface="Calibri"/>
            </a:endParaRPr>
          </a:p>
          <a:p>
            <a:pPr marL="241300" marR="5080" indent="0">
              <a:lnSpc>
                <a:spcPts val="2110"/>
              </a:lnSpc>
              <a:spcBef>
                <a:spcPts val="515"/>
              </a:spcBef>
              <a:buNone/>
            </a:pPr>
            <a:endParaRPr lang="en-US" sz="2200" b="1" spc="-10" dirty="0">
              <a:latin typeface="Cambria Math" panose="02040503050406030204" pitchFamily="18" charset="0"/>
              <a:ea typeface="Cambria Math" panose="02040503050406030204" pitchFamily="18" charset="0"/>
              <a:cs typeface="Calibri"/>
            </a:endParaRPr>
          </a:p>
          <a:p>
            <a:pPr marL="241300" marR="5080" indent="0">
              <a:lnSpc>
                <a:spcPts val="2110"/>
              </a:lnSpc>
              <a:spcBef>
                <a:spcPts val="515"/>
              </a:spcBef>
              <a:buNone/>
            </a:pPr>
            <a:r>
              <a:rPr lang="en-US" sz="2200" b="1" spc="-10" dirty="0">
                <a:latin typeface="Cambria Math" panose="02040503050406030204" pitchFamily="18" charset="0"/>
                <a:ea typeface="Cambria Math" panose="02040503050406030204" pitchFamily="18" charset="0"/>
                <a:cs typeface="Calibri"/>
              </a:rPr>
              <a:t>Expressing </a:t>
            </a:r>
            <a:r>
              <a:rPr lang="en-US" sz="2200" b="1" spc="-15" dirty="0">
                <a:latin typeface="Cambria Math" panose="02040503050406030204" pitchFamily="18" charset="0"/>
                <a:ea typeface="Cambria Math" panose="02040503050406030204" pitchFamily="18" charset="0"/>
                <a:cs typeface="Calibri"/>
              </a:rPr>
              <a:t>words: </a:t>
            </a:r>
            <a:r>
              <a:rPr lang="en-US" sz="2200" spc="-10" dirty="0">
                <a:latin typeface="Cambria Math" panose="02040503050406030204" pitchFamily="18" charset="0"/>
                <a:ea typeface="Cambria Math" panose="02040503050406030204" pitchFamily="18" charset="0"/>
                <a:cs typeface="Calibri"/>
              </a:rPr>
              <a:t>“there </a:t>
            </a:r>
            <a:r>
              <a:rPr lang="en-US" sz="2200" spc="-30" dirty="0">
                <a:latin typeface="Cambria Math" panose="02040503050406030204" pitchFamily="18" charset="0"/>
                <a:ea typeface="Cambria Math" panose="02040503050406030204" pitchFamily="18" charset="0"/>
                <a:cs typeface="Calibri"/>
              </a:rPr>
              <a:t>exists,” </a:t>
            </a:r>
            <a:r>
              <a:rPr lang="en-US" sz="2200" spc="-15" dirty="0">
                <a:latin typeface="Cambria Math" panose="02040503050406030204" pitchFamily="18" charset="0"/>
                <a:ea typeface="Cambria Math" panose="02040503050406030204" pitchFamily="18" charset="0"/>
                <a:cs typeface="Calibri"/>
              </a:rPr>
              <a:t>“for </a:t>
            </a:r>
            <a:r>
              <a:rPr lang="en-US" sz="2200" spc="-30" dirty="0">
                <a:latin typeface="Cambria Math" panose="02040503050406030204" pitchFamily="18" charset="0"/>
                <a:ea typeface="Cambria Math" panose="02040503050406030204" pitchFamily="18" charset="0"/>
                <a:cs typeface="Calibri"/>
              </a:rPr>
              <a:t>some,” </a:t>
            </a:r>
            <a:r>
              <a:rPr lang="en-US" sz="2200" spc="-15" dirty="0">
                <a:latin typeface="Cambria Math" panose="02040503050406030204" pitchFamily="18" charset="0"/>
                <a:ea typeface="Cambria Math" panose="02040503050406030204" pitchFamily="18" charset="0"/>
                <a:cs typeface="Calibri"/>
              </a:rPr>
              <a:t>“for at </a:t>
            </a:r>
            <a:r>
              <a:rPr lang="en-US" sz="2200" spc="-10" dirty="0">
                <a:latin typeface="Cambria Math" panose="02040503050406030204" pitchFamily="18" charset="0"/>
                <a:ea typeface="Cambria Math" panose="02040503050406030204" pitchFamily="18" charset="0"/>
                <a:cs typeface="Calibri"/>
              </a:rPr>
              <a:t>least </a:t>
            </a:r>
            <a:r>
              <a:rPr lang="en-US" sz="2200" spc="-40" dirty="0">
                <a:latin typeface="Cambria Math" panose="02040503050406030204" pitchFamily="18" charset="0"/>
                <a:ea typeface="Cambria Math" panose="02040503050406030204" pitchFamily="18" charset="0"/>
                <a:cs typeface="Calibri"/>
              </a:rPr>
              <a:t>one,” </a:t>
            </a:r>
            <a:r>
              <a:rPr lang="en-US" sz="2200" spc="-5" dirty="0">
                <a:latin typeface="Cambria Math" panose="02040503050406030204" pitchFamily="18" charset="0"/>
                <a:ea typeface="Cambria Math" panose="02040503050406030204" pitchFamily="18" charset="0"/>
                <a:cs typeface="Calibri"/>
              </a:rPr>
              <a:t>or  </a:t>
            </a:r>
            <a:r>
              <a:rPr lang="en-US" sz="2200" spc="-10" dirty="0">
                <a:latin typeface="Cambria Math" panose="02040503050406030204" pitchFamily="18" charset="0"/>
                <a:ea typeface="Cambria Math" panose="02040503050406030204" pitchFamily="18" charset="0"/>
                <a:cs typeface="Calibri"/>
              </a:rPr>
              <a:t>“there</a:t>
            </a:r>
            <a:r>
              <a:rPr lang="en-US" sz="2200" spc="-5" dirty="0">
                <a:latin typeface="Cambria Math" panose="02040503050406030204" pitchFamily="18" charset="0"/>
                <a:ea typeface="Cambria Math" panose="02040503050406030204" pitchFamily="18" charset="0"/>
                <a:cs typeface="Calibri"/>
              </a:rPr>
              <a:t> is”</a:t>
            </a:r>
            <a:endParaRPr lang="en-US" sz="2200" dirty="0">
              <a:latin typeface="Cambria Math" panose="02040503050406030204" pitchFamily="18" charset="0"/>
              <a:ea typeface="Cambria Math" panose="02040503050406030204" pitchFamily="18" charset="0"/>
              <a:cs typeface="Calibri"/>
            </a:endParaRPr>
          </a:p>
          <a:p>
            <a:endParaRPr lang="en-US" dirty="0">
              <a:latin typeface="Cambria Math" panose="02040503050406030204" pitchFamily="18" charset="0"/>
              <a:ea typeface="Cambria Math" panose="020405030504060302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2" y="0"/>
            <a:ext cx="10515600" cy="905069"/>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Example1 …</a:t>
            </a:r>
          </a:p>
        </p:txBody>
      </p:sp>
      <p:sp>
        <p:nvSpPr>
          <p:cNvPr id="3" name="Content Placeholder 2"/>
          <p:cNvSpPr>
            <a:spLocks noGrp="1"/>
          </p:cNvSpPr>
          <p:nvPr>
            <p:ph idx="1"/>
          </p:nvPr>
        </p:nvSpPr>
        <p:spPr>
          <a:xfrm>
            <a:off x="838200" y="905070"/>
            <a:ext cx="10515600" cy="2942312"/>
          </a:xfrm>
        </p:spPr>
        <p:txBody>
          <a:bodyPr>
            <a:normAutofit/>
          </a:bodyPr>
          <a:lstStyle/>
          <a:p>
            <a:pPr marL="0" indent="0">
              <a:buNone/>
            </a:pPr>
            <a:r>
              <a:rPr lang="en-US" dirty="0">
                <a:latin typeface="Cambria Math" panose="02040503050406030204" pitchFamily="18" charset="0"/>
                <a:ea typeface="Cambria Math" panose="02040503050406030204" pitchFamily="18" charset="0"/>
              </a:rPr>
              <a:t>Let x = a politician</a:t>
            </a:r>
          </a:p>
          <a:p>
            <a:pPr marL="0" indent="0">
              <a:buNone/>
            </a:pPr>
            <a:r>
              <a:rPr lang="en-US" dirty="0">
                <a:latin typeface="Cambria Math" panose="02040503050406030204" pitchFamily="18" charset="0"/>
                <a:ea typeface="Cambria Math" panose="02040503050406030204" pitchFamily="18" charset="0"/>
              </a:rPr>
              <a:t>P(x) = “x is honest”, </a:t>
            </a:r>
          </a:p>
          <a:p>
            <a:pPr marL="0" indent="0">
              <a:buNone/>
            </a:pPr>
            <a:r>
              <a:rPr lang="en-US" dirty="0">
                <a:latin typeface="Cambria Math" panose="02040503050406030204" pitchFamily="18" charset="0"/>
                <a:ea typeface="Cambria Math" panose="02040503050406030204" pitchFamily="18" charset="0"/>
              </a:rPr>
              <a:t>The Universe of discourse is all politicians in our country.</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Express the statement mathematically: </a:t>
            </a:r>
            <a:r>
              <a:rPr lang="en-US" dirty="0">
                <a:solidFill>
                  <a:srgbClr val="C00000"/>
                </a:solidFill>
                <a:latin typeface="Cambria Math" panose="02040503050406030204" pitchFamily="18" charset="0"/>
                <a:ea typeface="Cambria Math" panose="02040503050406030204" pitchFamily="18" charset="0"/>
              </a:rPr>
              <a:t>“Some politicians in our country are honest.”</a:t>
            </a:r>
          </a:p>
        </p:txBody>
      </p:sp>
      <p:sp>
        <p:nvSpPr>
          <p:cNvPr id="5" name="TextBox 4">
            <a:extLst>
              <a:ext uri="{FF2B5EF4-FFF2-40B4-BE49-F238E27FC236}">
                <a16:creationId xmlns:a16="http://schemas.microsoft.com/office/drawing/2014/main" id="{EB88F75D-CEBD-A3AB-2B20-23D181D2DEE1}"/>
              </a:ext>
            </a:extLst>
          </p:cNvPr>
          <p:cNvSpPr txBox="1"/>
          <p:nvPr/>
        </p:nvSpPr>
        <p:spPr>
          <a:xfrm>
            <a:off x="3317746" y="3370328"/>
            <a:ext cx="2266590" cy="830997"/>
          </a:xfrm>
          <a:prstGeom prst="rect">
            <a:avLst/>
          </a:prstGeom>
          <a:noFill/>
        </p:spPr>
        <p:txBody>
          <a:bodyPr wrap="square">
            <a:spAutoFit/>
          </a:bodyPr>
          <a:lstStyle/>
          <a:p>
            <a:r>
              <a:rPr lang="en-US" sz="4800" b="1" dirty="0">
                <a:solidFill>
                  <a:srgbClr val="00B050"/>
                </a:solidFill>
              </a:rPr>
              <a:t>∃</a:t>
            </a:r>
            <a:r>
              <a:rPr lang="en-US" sz="4800" b="1" dirty="0" err="1">
                <a:solidFill>
                  <a:srgbClr val="00B050"/>
                </a:solidFill>
                <a:latin typeface="Cambria Math" panose="02040503050406030204" pitchFamily="18" charset="0"/>
                <a:ea typeface="Cambria Math" panose="02040503050406030204" pitchFamily="18" charset="0"/>
              </a:rPr>
              <a:t>xP</a:t>
            </a:r>
            <a:r>
              <a:rPr lang="en-US" sz="4800" b="1" dirty="0">
                <a:solidFill>
                  <a:srgbClr val="00B050"/>
                </a:solidFill>
                <a:latin typeface="Cambria Math" panose="02040503050406030204" pitchFamily="18" charset="0"/>
                <a:ea typeface="Cambria Math" panose="02040503050406030204" pitchFamily="18" charset="0"/>
              </a:rPr>
              <a:t>(x) </a:t>
            </a:r>
            <a:endParaRPr lang="en-US" sz="4800" dirty="0"/>
          </a:p>
        </p:txBody>
      </p:sp>
      <p:sp>
        <p:nvSpPr>
          <p:cNvPr id="4" name="TextBox 3">
            <a:extLst>
              <a:ext uri="{FF2B5EF4-FFF2-40B4-BE49-F238E27FC236}">
                <a16:creationId xmlns:a16="http://schemas.microsoft.com/office/drawing/2014/main" id="{8A3E548B-215C-92D0-30E3-EB7B334C8AE8}"/>
              </a:ext>
            </a:extLst>
          </p:cNvPr>
          <p:cNvSpPr txBox="1"/>
          <p:nvPr/>
        </p:nvSpPr>
        <p:spPr>
          <a:xfrm>
            <a:off x="893207" y="4378260"/>
            <a:ext cx="10144329" cy="892552"/>
          </a:xfrm>
          <a:prstGeom prst="rect">
            <a:avLst/>
          </a:prstGeom>
          <a:noFill/>
        </p:spPr>
        <p:txBody>
          <a:bodyPr wrap="square">
            <a:spAutoFit/>
          </a:bodyPr>
          <a:lstStyle/>
          <a:p>
            <a:r>
              <a:rPr lang="en-US" sz="2600" dirty="0">
                <a:latin typeface="Cambria Math" panose="02040503050406030204" pitchFamily="18" charset="0"/>
                <a:ea typeface="Cambria Math" panose="02040503050406030204" pitchFamily="18" charset="0"/>
              </a:rPr>
              <a:t>The above proposition with have its Truth value equal to True only if you are able to find at least one honest politician in our country.</a:t>
            </a:r>
          </a:p>
        </p:txBody>
      </p:sp>
      <p:sp>
        <p:nvSpPr>
          <p:cNvPr id="6" name="TextBox 5">
            <a:extLst>
              <a:ext uri="{FF2B5EF4-FFF2-40B4-BE49-F238E27FC236}">
                <a16:creationId xmlns:a16="http://schemas.microsoft.com/office/drawing/2014/main" id="{63157361-6A7B-4AA4-B6BD-42AF0A1938EB}"/>
              </a:ext>
            </a:extLst>
          </p:cNvPr>
          <p:cNvSpPr txBox="1"/>
          <p:nvPr/>
        </p:nvSpPr>
        <p:spPr>
          <a:xfrm>
            <a:off x="2088012" y="5555468"/>
            <a:ext cx="8467929" cy="492443"/>
          </a:xfrm>
          <a:prstGeom prst="rect">
            <a:avLst/>
          </a:prstGeom>
          <a:noFill/>
        </p:spPr>
        <p:txBody>
          <a:bodyPr wrap="square">
            <a:spAutoFit/>
          </a:bodyPr>
          <a:lstStyle/>
          <a:p>
            <a:r>
              <a:rPr lang="en-US" sz="2600" dirty="0">
                <a:latin typeface="Cambria Math" panose="02040503050406030204" pitchFamily="18" charset="0"/>
                <a:ea typeface="Cambria Math" panose="02040503050406030204" pitchFamily="18" charset="0"/>
              </a:rPr>
              <a:t>In what scenario, the above proposition will be False?</a:t>
            </a:r>
          </a:p>
        </p:txBody>
      </p:sp>
    </p:spTree>
    <p:extLst>
      <p:ext uri="{BB962C8B-B14F-4D97-AF65-F5344CB8AC3E}">
        <p14:creationId xmlns:p14="http://schemas.microsoft.com/office/powerpoint/2010/main" val="426180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563" y="1"/>
            <a:ext cx="10515600" cy="856446"/>
          </a:xfrm>
        </p:spPr>
        <p:txBody>
          <a:bodyPr>
            <a:normAutofit/>
          </a:bodyPr>
          <a:lstStyle/>
          <a:p>
            <a:r>
              <a:rPr lang="en-US" dirty="0">
                <a:latin typeface="Cambria Math" panose="02040503050406030204" pitchFamily="18" charset="0"/>
                <a:ea typeface="Cambria Math" panose="02040503050406030204" pitchFamily="18" charset="0"/>
              </a:rPr>
              <a:t>Exercise</a:t>
            </a:r>
          </a:p>
        </p:txBody>
      </p:sp>
      <p:sp>
        <p:nvSpPr>
          <p:cNvPr id="3" name="Content Placeholder 2"/>
          <p:cNvSpPr>
            <a:spLocks noGrp="1"/>
          </p:cNvSpPr>
          <p:nvPr>
            <p:ph idx="1"/>
          </p:nvPr>
        </p:nvSpPr>
        <p:spPr>
          <a:xfrm>
            <a:off x="934441" y="3580518"/>
            <a:ext cx="10943252" cy="2866963"/>
          </a:xfrm>
        </p:spPr>
        <p:txBody>
          <a:bodyPr>
            <a:normAutofit/>
          </a:bodyPr>
          <a:lstStyle/>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All students are honest</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Some students are opportunist</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A few students are opportunist but they do not like to cheat</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Some of the students are opportunist and they like to cheat too</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All students are honest but some of them are opportunists too</a:t>
            </a:r>
          </a:p>
        </p:txBody>
      </p:sp>
      <p:sp>
        <p:nvSpPr>
          <p:cNvPr id="4" name="Content Placeholder 2">
            <a:extLst>
              <a:ext uri="{FF2B5EF4-FFF2-40B4-BE49-F238E27FC236}">
                <a16:creationId xmlns:a16="http://schemas.microsoft.com/office/drawing/2014/main" id="{C076C731-8C43-46D2-FC68-AF4F594AE32F}"/>
              </a:ext>
            </a:extLst>
          </p:cNvPr>
          <p:cNvSpPr txBox="1">
            <a:spLocks/>
          </p:cNvSpPr>
          <p:nvPr/>
        </p:nvSpPr>
        <p:spPr>
          <a:xfrm>
            <a:off x="934441" y="709242"/>
            <a:ext cx="10943252" cy="2866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x = a student</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P(x) = x is honest</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Q(x) = x is an opportunists</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R(x) = x likes to cheat</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The universe of discourse is all students in my class.</a:t>
            </a:r>
          </a:p>
        </p:txBody>
      </p:sp>
    </p:spTree>
    <p:extLst>
      <p:ext uri="{BB962C8B-B14F-4D97-AF65-F5344CB8AC3E}">
        <p14:creationId xmlns:p14="http://schemas.microsoft.com/office/powerpoint/2010/main" val="42605432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563" y="1"/>
            <a:ext cx="10515600" cy="856446"/>
          </a:xfrm>
        </p:spPr>
        <p:txBody>
          <a:bodyPr>
            <a:normAutofit/>
          </a:bodyPr>
          <a:lstStyle/>
          <a:p>
            <a:r>
              <a:rPr lang="en-US" dirty="0">
                <a:latin typeface="Cambria Math" panose="02040503050406030204" pitchFamily="18" charset="0"/>
                <a:ea typeface="Cambria Math" panose="02040503050406030204" pitchFamily="18" charset="0"/>
              </a:rPr>
              <a:t>Exercise</a:t>
            </a:r>
          </a:p>
        </p:txBody>
      </p:sp>
      <p:sp>
        <p:nvSpPr>
          <p:cNvPr id="3" name="Content Placeholder 2"/>
          <p:cNvSpPr>
            <a:spLocks noGrp="1"/>
          </p:cNvSpPr>
          <p:nvPr>
            <p:ph idx="1"/>
          </p:nvPr>
        </p:nvSpPr>
        <p:spPr>
          <a:xfrm>
            <a:off x="934441" y="3580518"/>
            <a:ext cx="10943252" cy="2866963"/>
          </a:xfrm>
        </p:spPr>
        <p:txBody>
          <a:bodyPr>
            <a:normAutofit lnSpcReduction="10000"/>
          </a:bodyPr>
          <a:lstStyle/>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All teachers are honest</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Some teachers are lazy</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A few teachers are lazy and they do not evaluate students tasks on time</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A few teachers are lazy but they evaluate students tasks on time</a:t>
            </a:r>
          </a:p>
          <a:p>
            <a:pPr marL="514350" indent="-514350">
              <a:buFont typeface="+mj-lt"/>
              <a:buAutoNum type="arabicPeriod"/>
            </a:pPr>
            <a:r>
              <a:rPr lang="en-US" dirty="0">
                <a:solidFill>
                  <a:schemeClr val="accent5">
                    <a:lumMod val="75000"/>
                  </a:schemeClr>
                </a:solidFill>
                <a:latin typeface="Cambria Math" panose="02040503050406030204" pitchFamily="18" charset="0"/>
                <a:ea typeface="Cambria Math" panose="02040503050406030204" pitchFamily="18" charset="0"/>
              </a:rPr>
              <a:t>A teacher is not honest and he is lazy too</a:t>
            </a:r>
          </a:p>
        </p:txBody>
      </p:sp>
      <p:sp>
        <p:nvSpPr>
          <p:cNvPr id="4" name="Content Placeholder 2">
            <a:extLst>
              <a:ext uri="{FF2B5EF4-FFF2-40B4-BE49-F238E27FC236}">
                <a16:creationId xmlns:a16="http://schemas.microsoft.com/office/drawing/2014/main" id="{C076C731-8C43-46D2-FC68-AF4F594AE32F}"/>
              </a:ext>
            </a:extLst>
          </p:cNvPr>
          <p:cNvSpPr txBox="1">
            <a:spLocks/>
          </p:cNvSpPr>
          <p:nvPr/>
        </p:nvSpPr>
        <p:spPr>
          <a:xfrm>
            <a:off x="934441" y="709242"/>
            <a:ext cx="10943252" cy="2866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x = a teacher</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P(x) = x is honest</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Q(x) = x is lazy</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R(x) = x evaluates the student tasks on time</a:t>
            </a:r>
          </a:p>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The universe of discourse is all teachers in a University.</a:t>
            </a:r>
          </a:p>
        </p:txBody>
      </p:sp>
    </p:spTree>
    <p:extLst>
      <p:ext uri="{BB962C8B-B14F-4D97-AF65-F5344CB8AC3E}">
        <p14:creationId xmlns:p14="http://schemas.microsoft.com/office/powerpoint/2010/main" val="462492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1445" y="555863"/>
            <a:ext cx="8229600" cy="690574"/>
          </a:xfrm>
          <a:prstGeom prst="rect">
            <a:avLst/>
          </a:prstGeom>
        </p:spPr>
        <p:txBody>
          <a:bodyPr vert="horz" wrap="square" lIns="0" tIns="13335" rIns="0" bIns="0" rtlCol="0" anchor="ctr">
            <a:spAutoFit/>
          </a:bodyPr>
          <a:lstStyle/>
          <a:p>
            <a:pPr marL="12700">
              <a:lnSpc>
                <a:spcPct val="100000"/>
              </a:lnSpc>
              <a:spcBef>
                <a:spcPts val="105"/>
              </a:spcBef>
            </a:pPr>
            <a:r>
              <a:rPr spc="-5" dirty="0">
                <a:latin typeface="Cambria Math" panose="02040503050406030204" pitchFamily="18" charset="0"/>
                <a:ea typeface="Cambria Math" panose="02040503050406030204" pitchFamily="18" charset="0"/>
              </a:rPr>
              <a:t>E</a:t>
            </a:r>
            <a:r>
              <a:rPr spc="-85" dirty="0">
                <a:latin typeface="Cambria Math" panose="02040503050406030204" pitchFamily="18" charset="0"/>
                <a:ea typeface="Cambria Math" panose="02040503050406030204" pitchFamily="18" charset="0"/>
              </a:rPr>
              <a:t>x</a:t>
            </a:r>
            <a:r>
              <a:rPr spc="-5" dirty="0">
                <a:latin typeface="Cambria Math" panose="02040503050406030204" pitchFamily="18" charset="0"/>
                <a:ea typeface="Cambria Math" panose="02040503050406030204" pitchFamily="18" charset="0"/>
              </a:rPr>
              <a:t>ample</a:t>
            </a:r>
            <a:r>
              <a:rPr lang="en-US" spc="-5" dirty="0">
                <a:latin typeface="Cambria Math" panose="02040503050406030204" pitchFamily="18" charset="0"/>
                <a:ea typeface="Cambria Math" panose="02040503050406030204" pitchFamily="18" charset="0"/>
              </a:rPr>
              <a:t> 1</a:t>
            </a:r>
            <a:endParaRPr spc="-5" dirty="0">
              <a:latin typeface="Cambria Math" panose="02040503050406030204" pitchFamily="18" charset="0"/>
              <a:ea typeface="Cambria Math" panose="02040503050406030204" pitchFamily="18" charset="0"/>
            </a:endParaRPr>
          </a:p>
        </p:txBody>
      </p:sp>
      <p:sp>
        <p:nvSpPr>
          <p:cNvPr id="3" name="object 3"/>
          <p:cNvSpPr txBox="1"/>
          <p:nvPr/>
        </p:nvSpPr>
        <p:spPr>
          <a:xfrm>
            <a:off x="1141445" y="1607262"/>
            <a:ext cx="9803363" cy="3511859"/>
          </a:xfrm>
          <a:prstGeom prst="rect">
            <a:avLst/>
          </a:prstGeom>
        </p:spPr>
        <p:txBody>
          <a:bodyPr vert="horz" wrap="square" lIns="0" tIns="13335" rIns="0" bIns="0" rtlCol="0">
            <a:spAutoFit/>
          </a:bodyPr>
          <a:lstStyle/>
          <a:p>
            <a:pPr marL="527685" marR="5080" indent="-514984">
              <a:spcBef>
                <a:spcPts val="105"/>
              </a:spcBef>
              <a:buAutoNum type="arabicPeriod"/>
              <a:tabLst>
                <a:tab pos="527685" algn="l"/>
                <a:tab pos="528320" algn="l"/>
              </a:tabLst>
            </a:pPr>
            <a:r>
              <a:rPr sz="3200" spc="-10" dirty="0">
                <a:latin typeface="Cambria Math" panose="02040503050406030204" pitchFamily="18" charset="0"/>
                <a:ea typeface="Cambria Math" panose="02040503050406030204" pitchFamily="18" charset="0"/>
                <a:cs typeface="Calibri"/>
              </a:rPr>
              <a:t>Let </a:t>
            </a:r>
            <a:r>
              <a:rPr sz="3200" i="1" dirty="0">
                <a:latin typeface="Cambria Math" panose="02040503050406030204" pitchFamily="18" charset="0"/>
                <a:ea typeface="Cambria Math" panose="02040503050406030204" pitchFamily="18" charset="0"/>
                <a:cs typeface="Calibri"/>
              </a:rPr>
              <a:t>P(x) </a:t>
            </a:r>
            <a:r>
              <a:rPr sz="3200" spc="-10" dirty="0">
                <a:latin typeface="Cambria Math" panose="02040503050406030204" pitchFamily="18" charset="0"/>
                <a:ea typeface="Cambria Math" panose="02040503050406030204" pitchFamily="18" charset="0"/>
                <a:cs typeface="Calibri"/>
              </a:rPr>
              <a:t>denote </a:t>
            </a:r>
            <a:r>
              <a:rPr sz="3200" dirty="0">
                <a:latin typeface="Cambria Math" panose="02040503050406030204" pitchFamily="18" charset="0"/>
                <a:ea typeface="Cambria Math" panose="02040503050406030204" pitchFamily="18" charset="0"/>
                <a:cs typeface="Calibri"/>
              </a:rPr>
              <a:t>the </a:t>
            </a:r>
            <a:r>
              <a:rPr sz="3200" spc="-20" dirty="0">
                <a:latin typeface="Cambria Math" panose="02040503050406030204" pitchFamily="18" charset="0"/>
                <a:ea typeface="Cambria Math" panose="02040503050406030204" pitchFamily="18" charset="0"/>
                <a:cs typeface="Calibri"/>
              </a:rPr>
              <a:t>statement </a:t>
            </a:r>
            <a:r>
              <a:rPr sz="3200" dirty="0">
                <a:latin typeface="Cambria Math" panose="02040503050406030204" pitchFamily="18" charset="0"/>
                <a:ea typeface="Cambria Math" panose="02040503050406030204" pitchFamily="18" charset="0"/>
                <a:cs typeface="Calibri"/>
              </a:rPr>
              <a:t>“</a:t>
            </a:r>
            <a:r>
              <a:rPr sz="3200" i="1" dirty="0">
                <a:latin typeface="Cambria Math" panose="02040503050406030204" pitchFamily="18" charset="0"/>
                <a:ea typeface="Cambria Math" panose="02040503050406030204" pitchFamily="18" charset="0"/>
                <a:cs typeface="Calibri"/>
              </a:rPr>
              <a:t>x &gt; </a:t>
            </a:r>
            <a:r>
              <a:rPr sz="3200" spc="-85" dirty="0">
                <a:latin typeface="Cambria Math" panose="02040503050406030204" pitchFamily="18" charset="0"/>
                <a:ea typeface="Cambria Math" panose="02040503050406030204" pitchFamily="18" charset="0"/>
                <a:cs typeface="Calibri"/>
              </a:rPr>
              <a:t>3.” </a:t>
            </a:r>
            <a:r>
              <a:rPr sz="3200" spc="-5" dirty="0">
                <a:latin typeface="Cambria Math" panose="02040503050406030204" pitchFamily="18" charset="0"/>
                <a:ea typeface="Cambria Math" panose="02040503050406030204" pitchFamily="18" charset="0"/>
                <a:cs typeface="Calibri"/>
              </a:rPr>
              <a:t>What  </a:t>
            </a:r>
            <a:r>
              <a:rPr sz="3200" dirty="0">
                <a:latin typeface="Cambria Math" panose="02040503050406030204" pitchFamily="18" charset="0"/>
                <a:ea typeface="Cambria Math" panose="02040503050406030204" pitchFamily="18" charset="0"/>
                <a:cs typeface="Calibri"/>
              </a:rPr>
              <a:t>is the truth </a:t>
            </a:r>
            <a:r>
              <a:rPr sz="3200" spc="-15" dirty="0">
                <a:latin typeface="Cambria Math" panose="02040503050406030204" pitchFamily="18" charset="0"/>
                <a:ea typeface="Cambria Math" panose="02040503050406030204" pitchFamily="18" charset="0"/>
                <a:cs typeface="Calibri"/>
              </a:rPr>
              <a:t>value </a:t>
            </a:r>
            <a:r>
              <a:rPr sz="3200" spc="-5" dirty="0">
                <a:latin typeface="Cambria Math" panose="02040503050406030204" pitchFamily="18" charset="0"/>
                <a:ea typeface="Cambria Math" panose="02040503050406030204" pitchFamily="18" charset="0"/>
                <a:cs typeface="Calibri"/>
              </a:rPr>
              <a:t>of </a:t>
            </a:r>
            <a:r>
              <a:rPr sz="3200" dirty="0">
                <a:latin typeface="Cambria Math" panose="02040503050406030204" pitchFamily="18" charset="0"/>
                <a:ea typeface="Cambria Math" panose="02040503050406030204" pitchFamily="18" charset="0"/>
                <a:cs typeface="Calibri"/>
              </a:rPr>
              <a:t>the </a:t>
            </a:r>
            <a:r>
              <a:rPr sz="3200" spc="-10" dirty="0">
                <a:latin typeface="Cambria Math" panose="02040503050406030204" pitchFamily="18" charset="0"/>
                <a:ea typeface="Cambria Math" panose="02040503050406030204" pitchFamily="18" charset="0"/>
                <a:cs typeface="Calibri"/>
              </a:rPr>
              <a:t>quantification </a:t>
            </a: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x  P(x)</a:t>
            </a:r>
            <a:r>
              <a:rPr sz="3200"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where </a:t>
            </a:r>
            <a:r>
              <a:rPr sz="3200" dirty="0">
                <a:latin typeface="Cambria Math" panose="02040503050406030204" pitchFamily="18" charset="0"/>
                <a:ea typeface="Cambria Math" panose="02040503050406030204" pitchFamily="18" charset="0"/>
                <a:cs typeface="Calibri"/>
              </a:rPr>
              <a:t>the </a:t>
            </a:r>
            <a:r>
              <a:rPr sz="3200" spc="-5" dirty="0">
                <a:latin typeface="Cambria Math" panose="02040503050406030204" pitchFamily="18" charset="0"/>
                <a:ea typeface="Cambria Math" panose="02040503050406030204" pitchFamily="18" charset="0"/>
                <a:cs typeface="Calibri"/>
              </a:rPr>
              <a:t>domain </a:t>
            </a:r>
            <a:r>
              <a:rPr sz="3200" spc="-15" dirty="0">
                <a:latin typeface="Cambria Math" panose="02040503050406030204" pitchFamily="18" charset="0"/>
                <a:ea typeface="Cambria Math" panose="02040503050406030204" pitchFamily="18" charset="0"/>
                <a:cs typeface="Calibri"/>
              </a:rPr>
              <a:t>consists </a:t>
            </a:r>
            <a:r>
              <a:rPr sz="3200" dirty="0">
                <a:latin typeface="Cambria Math" panose="02040503050406030204" pitchFamily="18" charset="0"/>
                <a:ea typeface="Cambria Math" panose="02040503050406030204" pitchFamily="18" charset="0"/>
                <a:cs typeface="Calibri"/>
              </a:rPr>
              <a:t>of </a:t>
            </a:r>
            <a:r>
              <a:rPr sz="3200" spc="-10" dirty="0">
                <a:latin typeface="Cambria Math" panose="02040503050406030204" pitchFamily="18" charset="0"/>
                <a:ea typeface="Cambria Math" panose="02040503050406030204" pitchFamily="18" charset="0"/>
                <a:cs typeface="Calibri"/>
              </a:rPr>
              <a:t>all real  </a:t>
            </a:r>
            <a:r>
              <a:rPr sz="3200" spc="-15" dirty="0">
                <a:latin typeface="Cambria Math" panose="02040503050406030204" pitchFamily="18" charset="0"/>
                <a:ea typeface="Cambria Math" panose="02040503050406030204" pitchFamily="18" charset="0"/>
                <a:cs typeface="Calibri"/>
              </a:rPr>
              <a:t>numbers?</a:t>
            </a:r>
            <a:endParaRPr lang="en-US" sz="3200" spc="-15" dirty="0">
              <a:latin typeface="Cambria Math" panose="02040503050406030204" pitchFamily="18" charset="0"/>
              <a:ea typeface="Cambria Math" panose="02040503050406030204" pitchFamily="18" charset="0"/>
              <a:cs typeface="Calibri"/>
            </a:endParaRPr>
          </a:p>
          <a:p>
            <a:pPr marL="984885" marR="5080" lvl="1" indent="-514984">
              <a:spcBef>
                <a:spcPts val="105"/>
              </a:spcBef>
              <a:tabLst>
                <a:tab pos="527685" algn="l"/>
                <a:tab pos="528320" algn="l"/>
              </a:tabLst>
            </a:pPr>
            <a:endParaRPr lang="en-US" sz="3200" spc="-15" dirty="0">
              <a:solidFill>
                <a:srgbClr val="FF0000"/>
              </a:solidFill>
              <a:latin typeface="Cambria Math" panose="02040503050406030204" pitchFamily="18" charset="0"/>
              <a:ea typeface="Cambria Math" panose="02040503050406030204" pitchFamily="18" charset="0"/>
              <a:cs typeface="Calibri"/>
            </a:endParaRPr>
          </a:p>
          <a:p>
            <a:pPr marL="984885" marR="5080" lvl="1" indent="-514984">
              <a:spcBef>
                <a:spcPts val="105"/>
              </a:spcBef>
              <a:tabLst>
                <a:tab pos="527685" algn="l"/>
                <a:tab pos="528320" algn="l"/>
              </a:tabLst>
            </a:pPr>
            <a:r>
              <a:rPr lang="en-US" sz="3200" spc="-15" dirty="0">
                <a:solidFill>
                  <a:srgbClr val="FF0000"/>
                </a:solidFill>
                <a:latin typeface="Cambria Math" panose="02040503050406030204" pitchFamily="18" charset="0"/>
                <a:ea typeface="Cambria Math" panose="02040503050406030204" pitchFamily="18" charset="0"/>
                <a:cs typeface="Calibri"/>
              </a:rPr>
              <a:t>True</a:t>
            </a:r>
          </a:p>
          <a:p>
            <a:pPr marL="984885" marR="5080" lvl="1" indent="-514984">
              <a:spcBef>
                <a:spcPts val="105"/>
              </a:spcBef>
              <a:tabLst>
                <a:tab pos="527685" algn="l"/>
                <a:tab pos="528320" algn="l"/>
              </a:tabLst>
            </a:pPr>
            <a:r>
              <a:rPr lang="en-US" sz="3200" spc="-15" dirty="0">
                <a:latin typeface="Cambria Math" panose="02040503050406030204" pitchFamily="18" charset="0"/>
                <a:ea typeface="Cambria Math" panose="02040503050406030204" pitchFamily="18" charset="0"/>
                <a:cs typeface="Calibri"/>
              </a:rPr>
              <a:t>Example </a:t>
            </a:r>
          </a:p>
          <a:p>
            <a:pPr marL="984885" marR="5080" lvl="1" indent="-514984">
              <a:spcBef>
                <a:spcPts val="105"/>
              </a:spcBef>
              <a:tabLst>
                <a:tab pos="527685" algn="l"/>
                <a:tab pos="528320" algn="l"/>
              </a:tabLst>
            </a:pPr>
            <a:r>
              <a:rPr lang="en-US" sz="3200" spc="-15" dirty="0">
                <a:latin typeface="Cambria Math" panose="02040503050406030204" pitchFamily="18" charset="0"/>
                <a:ea typeface="Cambria Math" panose="02040503050406030204" pitchFamily="18" charset="0"/>
                <a:cs typeface="Calibri"/>
              </a:rPr>
              <a:t>P(4): 4&gt;3, True</a:t>
            </a:r>
            <a:endParaRPr sz="3200" dirty="0">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8849" y="543054"/>
            <a:ext cx="8229600" cy="690574"/>
          </a:xfrm>
          <a:prstGeom prst="rect">
            <a:avLst/>
          </a:prstGeom>
        </p:spPr>
        <p:txBody>
          <a:bodyPr vert="horz" wrap="square" lIns="0" tIns="13335" rIns="0" bIns="0" rtlCol="0" anchor="ctr">
            <a:spAutoFit/>
          </a:bodyPr>
          <a:lstStyle/>
          <a:p>
            <a:pPr marL="12700">
              <a:lnSpc>
                <a:spcPct val="100000"/>
              </a:lnSpc>
              <a:spcBef>
                <a:spcPts val="105"/>
              </a:spcBef>
            </a:pPr>
            <a:r>
              <a:rPr spc="-5" dirty="0">
                <a:latin typeface="Cambria Math" panose="02040503050406030204" pitchFamily="18" charset="0"/>
                <a:ea typeface="Cambria Math" panose="02040503050406030204" pitchFamily="18" charset="0"/>
              </a:rPr>
              <a:t>E</a:t>
            </a:r>
            <a:r>
              <a:rPr spc="-85" dirty="0">
                <a:latin typeface="Cambria Math" panose="02040503050406030204" pitchFamily="18" charset="0"/>
                <a:ea typeface="Cambria Math" panose="02040503050406030204" pitchFamily="18" charset="0"/>
              </a:rPr>
              <a:t>x</a:t>
            </a:r>
            <a:r>
              <a:rPr spc="-5" dirty="0">
                <a:latin typeface="Cambria Math" panose="02040503050406030204" pitchFamily="18" charset="0"/>
                <a:ea typeface="Cambria Math" panose="02040503050406030204" pitchFamily="18" charset="0"/>
              </a:rPr>
              <a:t>ample</a:t>
            </a:r>
            <a:r>
              <a:rPr lang="en-US" spc="-5" dirty="0">
                <a:latin typeface="Cambria Math" panose="02040503050406030204" pitchFamily="18" charset="0"/>
                <a:ea typeface="Cambria Math" panose="02040503050406030204" pitchFamily="18" charset="0"/>
              </a:rPr>
              <a:t> 2</a:t>
            </a:r>
            <a:endParaRPr spc="-5" dirty="0">
              <a:latin typeface="Cambria Math" panose="02040503050406030204" pitchFamily="18" charset="0"/>
              <a:ea typeface="Cambria Math" panose="02040503050406030204" pitchFamily="18" charset="0"/>
            </a:endParaRPr>
          </a:p>
        </p:txBody>
      </p:sp>
      <p:sp>
        <p:nvSpPr>
          <p:cNvPr id="3" name="object 3"/>
          <p:cNvSpPr txBox="1"/>
          <p:nvPr/>
        </p:nvSpPr>
        <p:spPr>
          <a:xfrm>
            <a:off x="1138334" y="1635253"/>
            <a:ext cx="9666515" cy="4445448"/>
          </a:xfrm>
          <a:prstGeom prst="rect">
            <a:avLst/>
          </a:prstGeom>
        </p:spPr>
        <p:txBody>
          <a:bodyPr vert="horz" wrap="square" lIns="0" tIns="13335" rIns="0" bIns="0" rtlCol="0">
            <a:spAutoFit/>
          </a:bodyPr>
          <a:lstStyle/>
          <a:p>
            <a:pPr marL="12701">
              <a:spcBef>
                <a:spcPts val="765"/>
              </a:spcBef>
              <a:tabLst>
                <a:tab pos="527685" algn="l"/>
                <a:tab pos="528320" algn="l"/>
              </a:tabLst>
            </a:pPr>
            <a:r>
              <a:rPr sz="3200" spc="-5" dirty="0">
                <a:latin typeface="Cambria Math" panose="02040503050406030204" pitchFamily="18" charset="0"/>
                <a:ea typeface="Cambria Math" panose="02040503050406030204" pitchFamily="18" charset="0"/>
                <a:cs typeface="Calibri"/>
              </a:rPr>
              <a:t>Let </a:t>
            </a:r>
            <a:r>
              <a:rPr sz="3200" i="1" spc="-5" dirty="0">
                <a:latin typeface="Cambria Math" panose="02040503050406030204" pitchFamily="18" charset="0"/>
                <a:ea typeface="Cambria Math" panose="02040503050406030204" pitchFamily="18" charset="0"/>
                <a:cs typeface="Calibri"/>
              </a:rPr>
              <a:t>Q(x) </a:t>
            </a:r>
            <a:r>
              <a:rPr sz="3200" spc="-10" dirty="0">
                <a:latin typeface="Cambria Math" panose="02040503050406030204" pitchFamily="18" charset="0"/>
                <a:ea typeface="Cambria Math" panose="02040503050406030204" pitchFamily="18" charset="0"/>
                <a:cs typeface="Calibri"/>
              </a:rPr>
              <a:t>denote </a:t>
            </a:r>
            <a:r>
              <a:rPr sz="3200" dirty="0">
                <a:latin typeface="Cambria Math" panose="02040503050406030204" pitchFamily="18" charset="0"/>
                <a:ea typeface="Cambria Math" panose="02040503050406030204" pitchFamily="18" charset="0"/>
                <a:cs typeface="Calibri"/>
              </a:rPr>
              <a:t>the </a:t>
            </a:r>
            <a:r>
              <a:rPr sz="3200" spc="-20" dirty="0">
                <a:latin typeface="Cambria Math" panose="02040503050406030204" pitchFamily="18" charset="0"/>
                <a:ea typeface="Cambria Math" panose="02040503050406030204" pitchFamily="18" charset="0"/>
                <a:cs typeface="Calibri"/>
              </a:rPr>
              <a:t>statement </a:t>
            </a:r>
            <a:r>
              <a:rPr sz="3200" dirty="0">
                <a:latin typeface="Cambria Math" panose="02040503050406030204" pitchFamily="18" charset="0"/>
                <a:ea typeface="Cambria Math" panose="02040503050406030204" pitchFamily="18" charset="0"/>
                <a:cs typeface="Calibri"/>
              </a:rPr>
              <a:t>“</a:t>
            </a:r>
            <a:r>
              <a:rPr sz="3200" i="1"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a:t>
            </a:r>
            <a:r>
              <a:rPr sz="3200" spc="5" dirty="0">
                <a:latin typeface="Cambria Math" panose="02040503050406030204" pitchFamily="18" charset="0"/>
                <a:ea typeface="Cambria Math" panose="02040503050406030204" pitchFamily="18" charset="0"/>
                <a:cs typeface="Calibri"/>
              </a:rPr>
              <a:t> </a:t>
            </a:r>
            <a:r>
              <a:rPr sz="3200" i="1" dirty="0">
                <a:latin typeface="Cambria Math" panose="02040503050406030204" pitchFamily="18" charset="0"/>
                <a:ea typeface="Cambria Math" panose="02040503050406030204" pitchFamily="18" charset="0"/>
                <a:cs typeface="Calibri"/>
              </a:rPr>
              <a:t>x</a:t>
            </a:r>
            <a:r>
              <a:rPr sz="3200" spc="-35" dirty="0">
                <a:latin typeface="Cambria Math" panose="02040503050406030204" pitchFamily="18" charset="0"/>
                <a:ea typeface="Cambria Math" panose="02040503050406030204" pitchFamily="18" charset="0"/>
                <a:cs typeface="Calibri"/>
              </a:rPr>
              <a:t>+1.”What </a:t>
            </a:r>
            <a:r>
              <a:rPr sz="3200" dirty="0">
                <a:latin typeface="Cambria Math" panose="02040503050406030204" pitchFamily="18" charset="0"/>
                <a:ea typeface="Cambria Math" panose="02040503050406030204" pitchFamily="18" charset="0"/>
                <a:cs typeface="Calibri"/>
              </a:rPr>
              <a:t>is the truth </a:t>
            </a:r>
            <a:r>
              <a:rPr sz="3200" spc="-15" dirty="0">
                <a:latin typeface="Cambria Math" panose="02040503050406030204" pitchFamily="18" charset="0"/>
                <a:ea typeface="Cambria Math" panose="02040503050406030204" pitchFamily="18" charset="0"/>
                <a:cs typeface="Calibri"/>
              </a:rPr>
              <a:t>value </a:t>
            </a:r>
            <a:r>
              <a:rPr sz="3200" spc="-5" dirty="0">
                <a:latin typeface="Cambria Math" panose="02040503050406030204" pitchFamily="18" charset="0"/>
                <a:ea typeface="Cambria Math" panose="02040503050406030204" pitchFamily="18" charset="0"/>
                <a:cs typeface="Calibri"/>
              </a:rPr>
              <a:t>of the  </a:t>
            </a:r>
            <a:r>
              <a:rPr sz="3200" spc="-10" dirty="0">
                <a:latin typeface="Cambria Math" panose="02040503050406030204" pitchFamily="18" charset="0"/>
                <a:ea typeface="Cambria Math" panose="02040503050406030204" pitchFamily="18" charset="0"/>
                <a:cs typeface="Calibri"/>
              </a:rPr>
              <a:t>quantification </a:t>
            </a: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x </a:t>
            </a:r>
            <a:r>
              <a:rPr sz="3200" i="1" spc="-5" dirty="0">
                <a:latin typeface="Cambria Math" panose="02040503050406030204" pitchFamily="18" charset="0"/>
                <a:ea typeface="Cambria Math" panose="02040503050406030204" pitchFamily="18" charset="0"/>
                <a:cs typeface="Calibri"/>
              </a:rPr>
              <a:t>Q(x)</a:t>
            </a:r>
            <a:r>
              <a:rPr sz="3200" spc="-5"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where </a:t>
            </a:r>
            <a:r>
              <a:rPr sz="3200" dirty="0">
                <a:latin typeface="Cambria Math" panose="02040503050406030204" pitchFamily="18" charset="0"/>
                <a:ea typeface="Cambria Math" panose="02040503050406030204" pitchFamily="18" charset="0"/>
                <a:cs typeface="Calibri"/>
              </a:rPr>
              <a:t>the </a:t>
            </a:r>
            <a:r>
              <a:rPr sz="3200" spc="-5" dirty="0">
                <a:latin typeface="Cambria Math" panose="02040503050406030204" pitchFamily="18" charset="0"/>
                <a:ea typeface="Cambria Math" panose="02040503050406030204" pitchFamily="18" charset="0"/>
                <a:cs typeface="Calibri"/>
              </a:rPr>
              <a:t>domain  </a:t>
            </a:r>
            <a:r>
              <a:rPr sz="3200" spc="-15" dirty="0">
                <a:latin typeface="Cambria Math" panose="02040503050406030204" pitchFamily="18" charset="0"/>
                <a:ea typeface="Cambria Math" panose="02040503050406030204" pitchFamily="18" charset="0"/>
                <a:cs typeface="Calibri"/>
              </a:rPr>
              <a:t>consists </a:t>
            </a:r>
            <a:r>
              <a:rPr sz="3200" dirty="0">
                <a:latin typeface="Cambria Math" panose="02040503050406030204" pitchFamily="18" charset="0"/>
                <a:ea typeface="Cambria Math" panose="02040503050406030204" pitchFamily="18" charset="0"/>
                <a:cs typeface="Calibri"/>
              </a:rPr>
              <a:t>of </a:t>
            </a:r>
            <a:r>
              <a:rPr sz="3200" spc="-5" dirty="0">
                <a:latin typeface="Cambria Math" panose="02040503050406030204" pitchFamily="18" charset="0"/>
                <a:ea typeface="Cambria Math" panose="02040503050406030204" pitchFamily="18" charset="0"/>
                <a:cs typeface="Calibri"/>
              </a:rPr>
              <a:t>all </a:t>
            </a:r>
            <a:r>
              <a:rPr sz="3200" spc="-10" dirty="0">
                <a:latin typeface="Cambria Math" panose="02040503050406030204" pitchFamily="18" charset="0"/>
                <a:ea typeface="Cambria Math" panose="02040503050406030204" pitchFamily="18" charset="0"/>
                <a:cs typeface="Calibri"/>
              </a:rPr>
              <a:t>real</a:t>
            </a:r>
            <a:r>
              <a:rPr sz="3200" dirty="0">
                <a:latin typeface="Cambria Math" panose="02040503050406030204" pitchFamily="18" charset="0"/>
                <a:ea typeface="Cambria Math" panose="02040503050406030204" pitchFamily="18" charset="0"/>
                <a:cs typeface="Calibri"/>
              </a:rPr>
              <a:t> </a:t>
            </a:r>
            <a:r>
              <a:rPr sz="3200" spc="-15" dirty="0">
                <a:latin typeface="Cambria Math" panose="02040503050406030204" pitchFamily="18" charset="0"/>
                <a:ea typeface="Cambria Math" panose="02040503050406030204" pitchFamily="18" charset="0"/>
                <a:cs typeface="Calibri"/>
              </a:rPr>
              <a:t>numbers?</a:t>
            </a:r>
            <a:endParaRPr lang="en-US" sz="3200" spc="-15" dirty="0">
              <a:latin typeface="Cambria Math" panose="02040503050406030204" pitchFamily="18" charset="0"/>
              <a:ea typeface="Cambria Math" panose="02040503050406030204" pitchFamily="18" charset="0"/>
              <a:cs typeface="Calibri"/>
            </a:endParaRPr>
          </a:p>
          <a:p>
            <a:pPr marL="527685" marR="381635"/>
            <a:endParaRPr lang="en-US" sz="3200" spc="-15" dirty="0">
              <a:latin typeface="Cambria Math" panose="02040503050406030204" pitchFamily="18" charset="0"/>
              <a:ea typeface="Cambria Math" panose="02040503050406030204" pitchFamily="18" charset="0"/>
              <a:cs typeface="Calibri"/>
            </a:endParaRPr>
          </a:p>
          <a:p>
            <a:pPr marL="527685" marR="381635"/>
            <a:r>
              <a:rPr lang="en-US" sz="3200" spc="-50" dirty="0">
                <a:solidFill>
                  <a:srgbClr val="FF0000"/>
                </a:solidFill>
                <a:latin typeface="Cambria Math" panose="02040503050406030204" pitchFamily="18" charset="0"/>
                <a:ea typeface="Cambria Math" panose="02040503050406030204" pitchFamily="18" charset="0"/>
                <a:cs typeface="Calibri"/>
              </a:rPr>
              <a:t>False</a:t>
            </a:r>
          </a:p>
          <a:p>
            <a:pPr marL="527685" marR="381635"/>
            <a:r>
              <a:rPr lang="en-US" sz="3200" spc="-50" dirty="0">
                <a:solidFill>
                  <a:srgbClr val="FF0000"/>
                </a:solidFill>
                <a:latin typeface="Cambria Math" panose="02040503050406030204" pitchFamily="18" charset="0"/>
                <a:ea typeface="Cambria Math" panose="02040503050406030204" pitchFamily="18" charset="0"/>
                <a:cs typeface="Calibri"/>
              </a:rPr>
              <a:t>(no value of x found for which propositional function is True)</a:t>
            </a:r>
            <a:endParaRPr lang="en-US" sz="3200" dirty="0">
              <a:latin typeface="Cambria Math" panose="02040503050406030204" pitchFamily="18" charset="0"/>
              <a:ea typeface="Cambria Math" panose="02040503050406030204" pitchFamily="18" charset="0"/>
              <a:cs typeface="Calibri"/>
            </a:endParaRPr>
          </a:p>
          <a:p>
            <a:pPr marL="527685" marR="381635"/>
            <a:endParaRPr lang="en-US" sz="3200" spc="-15" dirty="0">
              <a:latin typeface="Cambria Math" panose="02040503050406030204" pitchFamily="18" charset="0"/>
              <a:ea typeface="Cambria Math" panose="02040503050406030204" pitchFamily="18" charset="0"/>
              <a:cs typeface="Calibri"/>
            </a:endParaRPr>
          </a:p>
          <a:p>
            <a:pPr marL="527685" marR="381635"/>
            <a:endParaRPr sz="3200" dirty="0">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2979" y="575163"/>
            <a:ext cx="8229600" cy="690574"/>
          </a:xfrm>
          <a:prstGeom prst="rect">
            <a:avLst/>
          </a:prstGeom>
        </p:spPr>
        <p:txBody>
          <a:bodyPr vert="horz" wrap="square" lIns="0" tIns="13335" rIns="0" bIns="0" rtlCol="0" anchor="ctr">
            <a:spAutoFit/>
          </a:bodyPr>
          <a:lstStyle/>
          <a:p>
            <a:pPr marL="12700">
              <a:lnSpc>
                <a:spcPct val="100000"/>
              </a:lnSpc>
              <a:spcBef>
                <a:spcPts val="105"/>
              </a:spcBef>
            </a:pPr>
            <a:r>
              <a:rPr spc="-5" dirty="0">
                <a:latin typeface="Cambria Math" panose="02040503050406030204" pitchFamily="18" charset="0"/>
                <a:ea typeface="Cambria Math" panose="02040503050406030204" pitchFamily="18" charset="0"/>
              </a:rPr>
              <a:t>E</a:t>
            </a:r>
            <a:r>
              <a:rPr spc="-85" dirty="0">
                <a:latin typeface="Cambria Math" panose="02040503050406030204" pitchFamily="18" charset="0"/>
                <a:ea typeface="Cambria Math" panose="02040503050406030204" pitchFamily="18" charset="0"/>
              </a:rPr>
              <a:t>x</a:t>
            </a:r>
            <a:r>
              <a:rPr spc="-5" dirty="0">
                <a:latin typeface="Cambria Math" panose="02040503050406030204" pitchFamily="18" charset="0"/>
                <a:ea typeface="Cambria Math" panose="02040503050406030204" pitchFamily="18" charset="0"/>
              </a:rPr>
              <a:t>ample</a:t>
            </a:r>
            <a:r>
              <a:rPr lang="en-US" spc="-5" dirty="0">
                <a:latin typeface="Cambria Math" panose="02040503050406030204" pitchFamily="18" charset="0"/>
                <a:ea typeface="Cambria Math" panose="02040503050406030204" pitchFamily="18" charset="0"/>
              </a:rPr>
              <a:t> 3</a:t>
            </a:r>
            <a:endParaRPr spc="-5" dirty="0">
              <a:latin typeface="Cambria Math" panose="02040503050406030204" pitchFamily="18" charset="0"/>
              <a:ea typeface="Cambria Math" panose="02040503050406030204" pitchFamily="18" charset="0"/>
            </a:endParaRPr>
          </a:p>
        </p:txBody>
      </p:sp>
      <p:sp>
        <p:nvSpPr>
          <p:cNvPr id="3" name="object 3"/>
          <p:cNvSpPr txBox="1"/>
          <p:nvPr/>
        </p:nvSpPr>
        <p:spPr>
          <a:xfrm>
            <a:off x="1212979" y="1627545"/>
            <a:ext cx="9358606" cy="4108176"/>
          </a:xfrm>
          <a:prstGeom prst="rect">
            <a:avLst/>
          </a:prstGeom>
        </p:spPr>
        <p:txBody>
          <a:bodyPr vert="horz" wrap="square" lIns="0" tIns="14605" rIns="0" bIns="0" rtlCol="0">
            <a:spAutoFit/>
          </a:bodyPr>
          <a:lstStyle/>
          <a:p>
            <a:pPr marL="12700" marR="5080">
              <a:lnSpc>
                <a:spcPct val="99800"/>
              </a:lnSpc>
              <a:spcBef>
                <a:spcPts val="115"/>
              </a:spcBef>
              <a:tabLst>
                <a:tab pos="354965" algn="l"/>
                <a:tab pos="355600" algn="l"/>
              </a:tabLst>
            </a:pPr>
            <a:r>
              <a:rPr sz="3200" spc="-5" dirty="0">
                <a:latin typeface="Cambria Math" panose="02040503050406030204" pitchFamily="18" charset="0"/>
                <a:ea typeface="Cambria Math" panose="02040503050406030204" pitchFamily="18" charset="0"/>
                <a:cs typeface="Calibri"/>
              </a:rPr>
              <a:t>What </a:t>
            </a:r>
            <a:r>
              <a:rPr sz="3200" dirty="0">
                <a:latin typeface="Cambria Math" panose="02040503050406030204" pitchFamily="18" charset="0"/>
                <a:ea typeface="Cambria Math" panose="02040503050406030204" pitchFamily="18" charset="0"/>
                <a:cs typeface="Calibri"/>
              </a:rPr>
              <a:t>is the truth </a:t>
            </a:r>
            <a:r>
              <a:rPr sz="3200" spc="-10" dirty="0">
                <a:latin typeface="Cambria Math" panose="02040503050406030204" pitchFamily="18" charset="0"/>
                <a:ea typeface="Cambria Math" panose="02040503050406030204" pitchFamily="18" charset="0"/>
                <a:cs typeface="Calibri"/>
              </a:rPr>
              <a:t>value </a:t>
            </a:r>
            <a:r>
              <a:rPr sz="3200" dirty="0">
                <a:latin typeface="Cambria Math" panose="02040503050406030204" pitchFamily="18" charset="0"/>
                <a:ea typeface="Cambria Math" panose="02040503050406030204" pitchFamily="18" charset="0"/>
                <a:cs typeface="Calibri"/>
              </a:rPr>
              <a:t>of </a:t>
            </a: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x P(x)</a:t>
            </a:r>
            <a:r>
              <a:rPr sz="3200"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where </a:t>
            </a:r>
            <a:r>
              <a:rPr sz="3200" i="1" dirty="0">
                <a:latin typeface="Cambria Math" panose="02040503050406030204" pitchFamily="18" charset="0"/>
                <a:ea typeface="Cambria Math" panose="02040503050406030204" pitchFamily="18" charset="0"/>
                <a:cs typeface="Calibri"/>
              </a:rPr>
              <a:t>P(x)  </a:t>
            </a:r>
            <a:r>
              <a:rPr sz="3200" dirty="0">
                <a:latin typeface="Cambria Math" panose="02040503050406030204" pitchFamily="18" charset="0"/>
                <a:ea typeface="Cambria Math" panose="02040503050406030204" pitchFamily="18" charset="0"/>
                <a:cs typeface="Calibri"/>
              </a:rPr>
              <a:t>is the </a:t>
            </a:r>
            <a:r>
              <a:rPr sz="3200" spc="-20" dirty="0">
                <a:latin typeface="Cambria Math" panose="02040503050406030204" pitchFamily="18" charset="0"/>
                <a:ea typeface="Cambria Math" panose="02040503050406030204" pitchFamily="18" charset="0"/>
                <a:cs typeface="Calibri"/>
              </a:rPr>
              <a:t>statement </a:t>
            </a:r>
            <a:r>
              <a:rPr sz="3200" spc="65" dirty="0">
                <a:latin typeface="Cambria Math" panose="02040503050406030204" pitchFamily="18" charset="0"/>
                <a:ea typeface="Cambria Math" panose="02040503050406030204" pitchFamily="18" charset="0"/>
                <a:cs typeface="Calibri"/>
              </a:rPr>
              <a:t>“</a:t>
            </a:r>
            <a:r>
              <a:rPr sz="3200" spc="65" dirty="0">
                <a:latin typeface="Cambria Math" panose="02040503050406030204" pitchFamily="18" charset="0"/>
                <a:ea typeface="Cambria Math" panose="02040503050406030204" pitchFamily="18" charset="0"/>
                <a:cs typeface="Cambria Math"/>
              </a:rPr>
              <a:t>𝑥</a:t>
            </a:r>
            <a:r>
              <a:rPr sz="3450" spc="97" baseline="28985" dirty="0">
                <a:latin typeface="Cambria Math" panose="02040503050406030204" pitchFamily="18" charset="0"/>
                <a:ea typeface="Cambria Math" panose="02040503050406030204" pitchFamily="18" charset="0"/>
                <a:cs typeface="Cambria Math"/>
              </a:rPr>
              <a:t>2 </a:t>
            </a:r>
            <a:r>
              <a:rPr sz="3200" i="1" dirty="0">
                <a:latin typeface="Cambria Math" panose="02040503050406030204" pitchFamily="18" charset="0"/>
                <a:ea typeface="Cambria Math" panose="02040503050406030204" pitchFamily="18" charset="0"/>
                <a:cs typeface="Calibri"/>
              </a:rPr>
              <a:t>&gt; </a:t>
            </a:r>
            <a:r>
              <a:rPr sz="3200" dirty="0">
                <a:latin typeface="Cambria Math" panose="02040503050406030204" pitchFamily="18" charset="0"/>
                <a:ea typeface="Cambria Math" panose="02040503050406030204" pitchFamily="18" charset="0"/>
                <a:cs typeface="Calibri"/>
              </a:rPr>
              <a:t>10” </a:t>
            </a:r>
            <a:r>
              <a:rPr sz="3200" spc="-5" dirty="0">
                <a:latin typeface="Cambria Math" panose="02040503050406030204" pitchFamily="18" charset="0"/>
                <a:ea typeface="Cambria Math" panose="02040503050406030204" pitchFamily="18" charset="0"/>
                <a:cs typeface="Calibri"/>
              </a:rPr>
              <a:t>and </a:t>
            </a:r>
            <a:r>
              <a:rPr sz="3200" dirty="0">
                <a:latin typeface="Cambria Math" panose="02040503050406030204" pitchFamily="18" charset="0"/>
                <a:ea typeface="Cambria Math" panose="02040503050406030204" pitchFamily="18" charset="0"/>
                <a:cs typeface="Calibri"/>
              </a:rPr>
              <a:t>the </a:t>
            </a:r>
            <a:r>
              <a:rPr sz="3200" spc="-15" dirty="0">
                <a:latin typeface="Cambria Math" panose="02040503050406030204" pitchFamily="18" charset="0"/>
                <a:ea typeface="Cambria Math" panose="02040503050406030204" pitchFamily="18" charset="0"/>
                <a:cs typeface="Calibri"/>
              </a:rPr>
              <a:t>universe </a:t>
            </a:r>
            <a:r>
              <a:rPr sz="3200" spc="-5" dirty="0">
                <a:latin typeface="Cambria Math" panose="02040503050406030204" pitchFamily="18" charset="0"/>
                <a:ea typeface="Cambria Math" panose="02040503050406030204" pitchFamily="18" charset="0"/>
                <a:cs typeface="Calibri"/>
              </a:rPr>
              <a:t>of  </a:t>
            </a:r>
            <a:r>
              <a:rPr sz="3200" spc="-15" dirty="0">
                <a:latin typeface="Cambria Math" panose="02040503050406030204" pitchFamily="18" charset="0"/>
                <a:ea typeface="Cambria Math" panose="02040503050406030204" pitchFamily="18" charset="0"/>
                <a:cs typeface="Calibri"/>
              </a:rPr>
              <a:t>discourse </a:t>
            </a:r>
            <a:r>
              <a:rPr sz="3200" spc="-10" dirty="0">
                <a:latin typeface="Cambria Math" panose="02040503050406030204" pitchFamily="18" charset="0"/>
                <a:ea typeface="Cambria Math" panose="02040503050406030204" pitchFamily="18" charset="0"/>
                <a:cs typeface="Calibri"/>
              </a:rPr>
              <a:t>consists </a:t>
            </a:r>
            <a:r>
              <a:rPr sz="3200" dirty="0">
                <a:latin typeface="Cambria Math" panose="02040503050406030204" pitchFamily="18" charset="0"/>
                <a:ea typeface="Cambria Math" panose="02040503050406030204" pitchFamily="18" charset="0"/>
                <a:cs typeface="Calibri"/>
              </a:rPr>
              <a:t>of the </a:t>
            </a:r>
            <a:r>
              <a:rPr sz="3200" spc="-10" dirty="0">
                <a:latin typeface="Cambria Math" panose="02040503050406030204" pitchFamily="18" charset="0"/>
                <a:ea typeface="Cambria Math" panose="02040503050406030204" pitchFamily="18" charset="0"/>
                <a:cs typeface="Calibri"/>
              </a:rPr>
              <a:t>positive </a:t>
            </a:r>
            <a:r>
              <a:rPr sz="3200" spc="-20" dirty="0">
                <a:latin typeface="Cambria Math" panose="02040503050406030204" pitchFamily="18" charset="0"/>
                <a:ea typeface="Cambria Math" panose="02040503050406030204" pitchFamily="18" charset="0"/>
                <a:cs typeface="Calibri"/>
              </a:rPr>
              <a:t>integers </a:t>
            </a:r>
            <a:r>
              <a:rPr sz="3200" dirty="0">
                <a:latin typeface="Cambria Math" panose="02040503050406030204" pitchFamily="18" charset="0"/>
                <a:ea typeface="Cambria Math" panose="02040503050406030204" pitchFamily="18" charset="0"/>
                <a:cs typeface="Calibri"/>
              </a:rPr>
              <a:t>not  </a:t>
            </a:r>
            <a:r>
              <a:rPr sz="3200" spc="-10" dirty="0">
                <a:latin typeface="Cambria Math" panose="02040503050406030204" pitchFamily="18" charset="0"/>
                <a:ea typeface="Cambria Math" panose="02040503050406030204" pitchFamily="18" charset="0"/>
                <a:cs typeface="Calibri"/>
              </a:rPr>
              <a:t>exceeding</a:t>
            </a:r>
            <a:r>
              <a:rPr sz="3200" spc="-1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4?</a:t>
            </a:r>
          </a:p>
          <a:p>
            <a:pPr marL="984885" marR="5080" lvl="1" indent="-514984">
              <a:spcBef>
                <a:spcPts val="105"/>
              </a:spcBef>
              <a:tabLst>
                <a:tab pos="527685" algn="l"/>
                <a:tab pos="528320" algn="l"/>
              </a:tabLst>
            </a:pPr>
            <a:endParaRPr lang="en-US" sz="3200" spc="-15" dirty="0">
              <a:solidFill>
                <a:srgbClr val="FF0000"/>
              </a:solidFill>
              <a:latin typeface="Cambria Math" panose="02040503050406030204" pitchFamily="18" charset="0"/>
              <a:ea typeface="Cambria Math" panose="02040503050406030204" pitchFamily="18" charset="0"/>
              <a:cs typeface="Calibri"/>
            </a:endParaRPr>
          </a:p>
          <a:p>
            <a:pPr marL="984885" marR="5080" lvl="1" indent="-514984">
              <a:spcBef>
                <a:spcPts val="105"/>
              </a:spcBef>
              <a:tabLst>
                <a:tab pos="527685" algn="l"/>
                <a:tab pos="528320" algn="l"/>
              </a:tabLst>
            </a:pPr>
            <a:r>
              <a:rPr lang="en-US" sz="3200" spc="-15" dirty="0">
                <a:solidFill>
                  <a:srgbClr val="FF0000"/>
                </a:solidFill>
                <a:latin typeface="Cambria Math" panose="02040503050406030204" pitchFamily="18" charset="0"/>
                <a:ea typeface="Cambria Math" panose="02040503050406030204" pitchFamily="18" charset="0"/>
                <a:cs typeface="Calibri"/>
              </a:rPr>
              <a:t>True</a:t>
            </a:r>
          </a:p>
          <a:p>
            <a:pPr marL="984885" marR="5080" lvl="1" indent="-514984">
              <a:spcBef>
                <a:spcPts val="105"/>
              </a:spcBef>
              <a:tabLst>
                <a:tab pos="527685" algn="l"/>
                <a:tab pos="528320" algn="l"/>
              </a:tabLst>
            </a:pPr>
            <a:r>
              <a:rPr lang="en-US" sz="3200" spc="-15" dirty="0">
                <a:latin typeface="Cambria Math" panose="02040503050406030204" pitchFamily="18" charset="0"/>
                <a:ea typeface="Cambria Math" panose="02040503050406030204" pitchFamily="18" charset="0"/>
                <a:cs typeface="Calibri"/>
              </a:rPr>
              <a:t>Example </a:t>
            </a:r>
          </a:p>
          <a:p>
            <a:pPr marL="984885" marR="5080" lvl="1" indent="-514984">
              <a:spcBef>
                <a:spcPts val="105"/>
              </a:spcBef>
              <a:tabLst>
                <a:tab pos="527685" algn="l"/>
                <a:tab pos="528320" algn="l"/>
              </a:tabLst>
            </a:pPr>
            <a:r>
              <a:rPr lang="en-US" sz="3200" spc="-15" dirty="0">
                <a:latin typeface="Cambria Math" panose="02040503050406030204" pitchFamily="18" charset="0"/>
                <a:ea typeface="Cambria Math" panose="02040503050406030204" pitchFamily="18" charset="0"/>
                <a:cs typeface="Calibri"/>
              </a:rPr>
              <a:t>P(4): 4</a:t>
            </a:r>
            <a:r>
              <a:rPr lang="en-US" sz="3200" spc="-15" baseline="30000" dirty="0">
                <a:latin typeface="Cambria Math" panose="02040503050406030204" pitchFamily="18" charset="0"/>
                <a:ea typeface="Cambria Math" panose="02040503050406030204" pitchFamily="18" charset="0"/>
                <a:cs typeface="Calibri"/>
              </a:rPr>
              <a:t>2</a:t>
            </a:r>
            <a:r>
              <a:rPr lang="en-US" sz="3200" spc="-15" dirty="0">
                <a:latin typeface="Cambria Math" panose="02040503050406030204" pitchFamily="18" charset="0"/>
                <a:ea typeface="Cambria Math" panose="02040503050406030204" pitchFamily="18" charset="0"/>
                <a:cs typeface="Calibri"/>
              </a:rPr>
              <a:t>&gt;10, True</a:t>
            </a:r>
            <a:endParaRPr lang="en-US" sz="3200" dirty="0">
              <a:latin typeface="Cambria Math" panose="02040503050406030204" pitchFamily="18" charset="0"/>
              <a:ea typeface="Cambria Math" panose="02040503050406030204" pitchFamily="18" charset="0"/>
              <a:cs typeface="Calibri"/>
            </a:endParaRPr>
          </a:p>
          <a:p>
            <a:pPr marL="12700">
              <a:spcBef>
                <a:spcPts val="770"/>
              </a:spcBef>
              <a:tabLst>
                <a:tab pos="1716405" algn="l"/>
              </a:tabLst>
            </a:pPr>
            <a:endParaRPr sz="3200" dirty="0">
              <a:latin typeface="Cambria Math" panose="02040503050406030204" pitchFamily="18" charset="0"/>
              <a:ea typeface="Cambria Math" panose="02040503050406030204" pitchFamily="18" charset="0"/>
              <a:cs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3771" y="550211"/>
            <a:ext cx="9451914" cy="690574"/>
          </a:xfrm>
          <a:prstGeom prst="rect">
            <a:avLst/>
          </a:prstGeom>
        </p:spPr>
        <p:txBody>
          <a:bodyPr vert="horz" wrap="square" lIns="0" tIns="13335" rIns="0" bIns="0" rtlCol="0" anchor="ctr">
            <a:spAutoFit/>
          </a:bodyPr>
          <a:lstStyle/>
          <a:p>
            <a:pPr marL="12700">
              <a:lnSpc>
                <a:spcPct val="100000"/>
              </a:lnSpc>
              <a:spcBef>
                <a:spcPts val="105"/>
              </a:spcBef>
            </a:pPr>
            <a:r>
              <a:rPr lang="en-US" spc="-5" dirty="0">
                <a:latin typeface="Cambria Math" panose="02040503050406030204" pitchFamily="18" charset="0"/>
                <a:ea typeface="Cambria Math" panose="02040503050406030204" pitchFamily="18" charset="0"/>
                <a:cs typeface="Calibri"/>
              </a:rPr>
              <a:t>Uniqueness</a:t>
            </a:r>
            <a:r>
              <a:rPr lang="en-US" spc="-100" dirty="0">
                <a:latin typeface="Cambria Math" panose="02040503050406030204" pitchFamily="18" charset="0"/>
                <a:ea typeface="Cambria Math" panose="02040503050406030204" pitchFamily="18" charset="0"/>
                <a:cs typeface="Calibri"/>
              </a:rPr>
              <a:t> </a:t>
            </a:r>
            <a:r>
              <a:rPr lang="en-US" spc="-10" dirty="0">
                <a:latin typeface="Cambria Math" panose="02040503050406030204" pitchFamily="18" charset="0"/>
                <a:ea typeface="Cambria Math" panose="02040503050406030204" pitchFamily="18" charset="0"/>
                <a:cs typeface="Calibri"/>
              </a:rPr>
              <a:t>Quantifier … </a:t>
            </a:r>
            <a:r>
              <a:rPr lang="en-US" sz="4400" spc="-10" dirty="0">
                <a:latin typeface="Cambria Math" panose="02040503050406030204" pitchFamily="18" charset="0"/>
                <a:ea typeface="Cambria Math" panose="02040503050406030204" pitchFamily="18" charset="0"/>
                <a:cs typeface="Calibri"/>
              </a:rPr>
              <a:t> </a:t>
            </a:r>
            <a:r>
              <a:rPr lang="en-US" sz="4400" dirty="0">
                <a:solidFill>
                  <a:srgbClr val="00B050"/>
                </a:solidFill>
                <a:latin typeface="Cambria Math" panose="02040503050406030204" pitchFamily="18" charset="0"/>
                <a:ea typeface="Cambria Math" panose="02040503050406030204" pitchFamily="18" charset="0"/>
                <a:cs typeface="Cambria Math"/>
              </a:rPr>
              <a:t>∃</a:t>
            </a:r>
            <a:r>
              <a:rPr lang="en-US" sz="4400" dirty="0">
                <a:solidFill>
                  <a:srgbClr val="00B050"/>
                </a:solidFill>
                <a:latin typeface="Cambria Math" panose="02040503050406030204" pitchFamily="18" charset="0"/>
                <a:ea typeface="Cambria Math" panose="02040503050406030204" pitchFamily="18" charset="0"/>
                <a:cs typeface="Calibri"/>
              </a:rPr>
              <a:t>! </a:t>
            </a:r>
            <a:endParaRPr lang="en-US" spc="-10" dirty="0">
              <a:solidFill>
                <a:srgbClr val="00B050"/>
              </a:solidFill>
              <a:latin typeface="Cambria Math" panose="02040503050406030204" pitchFamily="18" charset="0"/>
              <a:ea typeface="Cambria Math" panose="02040503050406030204" pitchFamily="18" charset="0"/>
              <a:cs typeface="Calibri"/>
            </a:endParaRPr>
          </a:p>
        </p:txBody>
      </p:sp>
      <p:sp>
        <p:nvSpPr>
          <p:cNvPr id="3" name="object 3"/>
          <p:cNvSpPr txBox="1"/>
          <p:nvPr/>
        </p:nvSpPr>
        <p:spPr>
          <a:xfrm>
            <a:off x="498125" y="1448971"/>
            <a:ext cx="11195749" cy="5342488"/>
          </a:xfrm>
          <a:prstGeom prst="rect">
            <a:avLst/>
          </a:prstGeom>
        </p:spPr>
        <p:txBody>
          <a:bodyPr vert="horz" wrap="square" lIns="0" tIns="12700" rIns="0" bIns="0" rtlCol="0">
            <a:spAutoFit/>
          </a:bodyPr>
          <a:lstStyle/>
          <a:p>
            <a:pPr marL="12700" algn="ctr">
              <a:spcBef>
                <a:spcPts val="100"/>
              </a:spcBef>
              <a:tabLst>
                <a:tab pos="354965" algn="l"/>
                <a:tab pos="355600" algn="l"/>
              </a:tabLst>
            </a:pPr>
            <a:r>
              <a:rPr lang="en-US" sz="3000" spc="-10" dirty="0">
                <a:solidFill>
                  <a:schemeClr val="tx2">
                    <a:lumMod val="75000"/>
                    <a:lumOff val="25000"/>
                  </a:schemeClr>
                </a:solidFill>
                <a:latin typeface="Cambria Math" panose="02040503050406030204" pitchFamily="18" charset="0"/>
                <a:ea typeface="Cambria Math" panose="02040503050406030204" pitchFamily="18" charset="0"/>
                <a:cs typeface="Calibri"/>
              </a:rPr>
              <a:t>“</a:t>
            </a:r>
            <a:r>
              <a:rPr sz="3000" spc="-10" dirty="0">
                <a:solidFill>
                  <a:schemeClr val="tx2">
                    <a:lumMod val="75000"/>
                    <a:lumOff val="25000"/>
                  </a:schemeClr>
                </a:solidFill>
                <a:latin typeface="Cambria Math" panose="02040503050406030204" pitchFamily="18" charset="0"/>
                <a:ea typeface="Cambria Math" panose="02040503050406030204" pitchFamily="18" charset="0"/>
                <a:cs typeface="Calibri"/>
              </a:rPr>
              <a:t>There </a:t>
            </a:r>
            <a:r>
              <a:rPr sz="3000" spc="-20" dirty="0">
                <a:solidFill>
                  <a:schemeClr val="tx2">
                    <a:lumMod val="75000"/>
                    <a:lumOff val="25000"/>
                  </a:schemeClr>
                </a:solidFill>
                <a:latin typeface="Cambria Math" panose="02040503050406030204" pitchFamily="18" charset="0"/>
                <a:ea typeface="Cambria Math" panose="02040503050406030204" pitchFamily="18" charset="0"/>
                <a:cs typeface="Calibri"/>
              </a:rPr>
              <a:t>exists </a:t>
            </a:r>
            <a:r>
              <a:rPr sz="3000" dirty="0">
                <a:solidFill>
                  <a:schemeClr val="tx2">
                    <a:lumMod val="75000"/>
                    <a:lumOff val="25000"/>
                  </a:schemeClr>
                </a:solidFill>
                <a:latin typeface="Cambria Math" panose="02040503050406030204" pitchFamily="18" charset="0"/>
                <a:ea typeface="Cambria Math" panose="02040503050406030204" pitchFamily="18" charset="0"/>
                <a:cs typeface="Calibri"/>
              </a:rPr>
              <a:t>a </a:t>
            </a:r>
            <a:r>
              <a:rPr sz="3000" spc="-5" dirty="0">
                <a:solidFill>
                  <a:schemeClr val="tx2">
                    <a:lumMod val="75000"/>
                    <a:lumOff val="25000"/>
                  </a:schemeClr>
                </a:solidFill>
                <a:latin typeface="Cambria Math" panose="02040503050406030204" pitchFamily="18" charset="0"/>
                <a:ea typeface="Cambria Math" panose="02040503050406030204" pitchFamily="18" charset="0"/>
                <a:cs typeface="Calibri"/>
              </a:rPr>
              <a:t>unique </a:t>
            </a:r>
            <a:r>
              <a:rPr sz="3000" i="1" dirty="0">
                <a:solidFill>
                  <a:schemeClr val="tx2">
                    <a:lumMod val="75000"/>
                    <a:lumOff val="25000"/>
                  </a:schemeClr>
                </a:solidFill>
                <a:latin typeface="Cambria Math" panose="02040503050406030204" pitchFamily="18" charset="0"/>
                <a:ea typeface="Cambria Math" panose="02040503050406030204" pitchFamily="18" charset="0"/>
                <a:cs typeface="Calibri"/>
              </a:rPr>
              <a:t>x </a:t>
            </a:r>
            <a:r>
              <a:rPr sz="3000" spc="-5" dirty="0">
                <a:solidFill>
                  <a:schemeClr val="tx2">
                    <a:lumMod val="75000"/>
                    <a:lumOff val="25000"/>
                  </a:schemeClr>
                </a:solidFill>
                <a:latin typeface="Cambria Math" panose="02040503050406030204" pitchFamily="18" charset="0"/>
                <a:ea typeface="Cambria Math" panose="02040503050406030204" pitchFamily="18" charset="0"/>
                <a:cs typeface="Calibri"/>
              </a:rPr>
              <a:t>such </a:t>
            </a:r>
            <a:r>
              <a:rPr sz="3000" spc="-10" dirty="0">
                <a:solidFill>
                  <a:schemeClr val="tx2">
                    <a:lumMod val="75000"/>
                    <a:lumOff val="25000"/>
                  </a:schemeClr>
                </a:solidFill>
                <a:latin typeface="Cambria Math" panose="02040503050406030204" pitchFamily="18" charset="0"/>
                <a:ea typeface="Cambria Math" panose="02040503050406030204" pitchFamily="18" charset="0"/>
                <a:cs typeface="Calibri"/>
              </a:rPr>
              <a:t>that </a:t>
            </a:r>
            <a:r>
              <a:rPr sz="3000" i="1" dirty="0">
                <a:solidFill>
                  <a:schemeClr val="tx2">
                    <a:lumMod val="75000"/>
                    <a:lumOff val="25000"/>
                  </a:schemeClr>
                </a:solidFill>
                <a:latin typeface="Cambria Math" panose="02040503050406030204" pitchFamily="18" charset="0"/>
                <a:ea typeface="Cambria Math" panose="02040503050406030204" pitchFamily="18" charset="0"/>
                <a:cs typeface="Calibri"/>
              </a:rPr>
              <a:t>P(x) </a:t>
            </a:r>
            <a:r>
              <a:rPr sz="3000" dirty="0">
                <a:solidFill>
                  <a:schemeClr val="tx2">
                    <a:lumMod val="75000"/>
                    <a:lumOff val="25000"/>
                  </a:schemeClr>
                </a:solidFill>
                <a:latin typeface="Cambria Math" panose="02040503050406030204" pitchFamily="18" charset="0"/>
                <a:ea typeface="Cambria Math" panose="02040503050406030204" pitchFamily="18" charset="0"/>
                <a:cs typeface="Calibri"/>
              </a:rPr>
              <a:t>is</a:t>
            </a:r>
            <a:r>
              <a:rPr sz="3000" spc="-55" dirty="0">
                <a:solidFill>
                  <a:schemeClr val="tx2">
                    <a:lumMod val="75000"/>
                    <a:lumOff val="25000"/>
                  </a:schemeClr>
                </a:solidFill>
                <a:latin typeface="Cambria Math" panose="02040503050406030204" pitchFamily="18" charset="0"/>
                <a:ea typeface="Cambria Math" panose="02040503050406030204" pitchFamily="18" charset="0"/>
                <a:cs typeface="Calibri"/>
              </a:rPr>
              <a:t> </a:t>
            </a:r>
            <a:r>
              <a:rPr sz="3000" spc="-40" dirty="0">
                <a:solidFill>
                  <a:schemeClr val="tx2">
                    <a:lumMod val="75000"/>
                    <a:lumOff val="25000"/>
                  </a:schemeClr>
                </a:solidFill>
                <a:latin typeface="Cambria Math" panose="02040503050406030204" pitchFamily="18" charset="0"/>
                <a:ea typeface="Cambria Math" panose="02040503050406030204" pitchFamily="18" charset="0"/>
                <a:cs typeface="Calibri"/>
              </a:rPr>
              <a:t>true.”</a:t>
            </a:r>
            <a:endParaRPr sz="3000" dirty="0">
              <a:solidFill>
                <a:schemeClr val="tx2">
                  <a:lumMod val="75000"/>
                  <a:lumOff val="25000"/>
                </a:schemeClr>
              </a:solidFill>
              <a:latin typeface="Cambria Math" panose="02040503050406030204" pitchFamily="18" charset="0"/>
              <a:ea typeface="Cambria Math" panose="02040503050406030204" pitchFamily="18" charset="0"/>
              <a:cs typeface="Calibri"/>
            </a:endParaRPr>
          </a:p>
          <a:p>
            <a:pPr marL="12700" marR="5080" algn="ctr">
              <a:lnSpc>
                <a:spcPct val="80000"/>
              </a:lnSpc>
              <a:spcBef>
                <a:spcPts val="720"/>
              </a:spcBef>
            </a:pPr>
            <a:r>
              <a:rPr sz="3000" spc="-5" dirty="0">
                <a:latin typeface="Cambria Math" panose="02040503050406030204" pitchFamily="18" charset="0"/>
                <a:ea typeface="Cambria Math" panose="02040503050406030204" pitchFamily="18" charset="0"/>
                <a:cs typeface="Calibri"/>
              </a:rPr>
              <a:t>i.e. </a:t>
            </a:r>
            <a:r>
              <a:rPr sz="3000" spc="-15" dirty="0">
                <a:solidFill>
                  <a:srgbClr val="FF0000"/>
                </a:solidFill>
                <a:latin typeface="Cambria Math" panose="02040503050406030204" pitchFamily="18" charset="0"/>
                <a:ea typeface="Cambria Math" panose="02040503050406030204" pitchFamily="18" charset="0"/>
                <a:cs typeface="Calibri"/>
              </a:rPr>
              <a:t>“there </a:t>
            </a:r>
            <a:r>
              <a:rPr sz="3000" dirty="0">
                <a:solidFill>
                  <a:srgbClr val="FF0000"/>
                </a:solidFill>
                <a:latin typeface="Cambria Math" panose="02040503050406030204" pitchFamily="18" charset="0"/>
                <a:ea typeface="Cambria Math" panose="02040503050406030204" pitchFamily="18" charset="0"/>
                <a:cs typeface="Calibri"/>
              </a:rPr>
              <a:t>is </a:t>
            </a:r>
            <a:r>
              <a:rPr sz="3000" spc="-20" dirty="0">
                <a:solidFill>
                  <a:srgbClr val="FF0000"/>
                </a:solidFill>
                <a:latin typeface="Cambria Math" panose="02040503050406030204" pitchFamily="18" charset="0"/>
                <a:ea typeface="Cambria Math" panose="02040503050406030204" pitchFamily="18" charset="0"/>
                <a:cs typeface="Calibri"/>
              </a:rPr>
              <a:t>exactly </a:t>
            </a:r>
            <a:r>
              <a:rPr sz="3000" spc="-10" dirty="0">
                <a:solidFill>
                  <a:srgbClr val="FF0000"/>
                </a:solidFill>
                <a:latin typeface="Cambria Math" panose="02040503050406030204" pitchFamily="18" charset="0"/>
                <a:ea typeface="Cambria Math" panose="02040503050406030204" pitchFamily="18" charset="0"/>
                <a:cs typeface="Calibri"/>
              </a:rPr>
              <a:t>one” </a:t>
            </a:r>
            <a:r>
              <a:rPr sz="3000" spc="-5" dirty="0">
                <a:latin typeface="Cambria Math" panose="02040503050406030204" pitchFamily="18" charset="0"/>
                <a:ea typeface="Cambria Math" panose="02040503050406030204" pitchFamily="18" charset="0"/>
                <a:cs typeface="Calibri"/>
              </a:rPr>
              <a:t>or </a:t>
            </a:r>
            <a:r>
              <a:rPr sz="3000" spc="-10" dirty="0">
                <a:latin typeface="Cambria Math" panose="02040503050406030204" pitchFamily="18" charset="0"/>
                <a:ea typeface="Cambria Math" panose="02040503050406030204" pitchFamily="18" charset="0"/>
                <a:cs typeface="Calibri"/>
              </a:rPr>
              <a:t>“</a:t>
            </a:r>
            <a:r>
              <a:rPr sz="3000" spc="-10" dirty="0">
                <a:solidFill>
                  <a:srgbClr val="FF0000"/>
                </a:solidFill>
                <a:latin typeface="Cambria Math" panose="02040503050406030204" pitchFamily="18" charset="0"/>
                <a:ea typeface="Cambria Math" panose="02040503050406030204" pitchFamily="18" charset="0"/>
                <a:cs typeface="Calibri"/>
              </a:rPr>
              <a:t>there </a:t>
            </a:r>
            <a:r>
              <a:rPr sz="3000" dirty="0">
                <a:solidFill>
                  <a:srgbClr val="FF0000"/>
                </a:solidFill>
                <a:latin typeface="Cambria Math" panose="02040503050406030204" pitchFamily="18" charset="0"/>
                <a:ea typeface="Cambria Math" panose="02040503050406030204" pitchFamily="18" charset="0"/>
                <a:cs typeface="Calibri"/>
              </a:rPr>
              <a:t>is </a:t>
            </a:r>
            <a:r>
              <a:rPr sz="3000" spc="-5" dirty="0">
                <a:solidFill>
                  <a:srgbClr val="FF0000"/>
                </a:solidFill>
                <a:latin typeface="Cambria Math" panose="02040503050406030204" pitchFamily="18" charset="0"/>
                <a:ea typeface="Cambria Math" panose="02040503050406030204" pitchFamily="18" charset="0"/>
                <a:cs typeface="Calibri"/>
              </a:rPr>
              <a:t>one and only  </a:t>
            </a:r>
            <a:r>
              <a:rPr sz="3000" spc="-50" dirty="0">
                <a:solidFill>
                  <a:srgbClr val="FF0000"/>
                </a:solidFill>
                <a:latin typeface="Cambria Math" panose="02040503050406030204" pitchFamily="18" charset="0"/>
                <a:ea typeface="Cambria Math" panose="02040503050406030204" pitchFamily="18" charset="0"/>
                <a:cs typeface="Calibri"/>
              </a:rPr>
              <a:t>one.”</a:t>
            </a:r>
            <a:endParaRPr lang="en-US" sz="3000" spc="-50" dirty="0">
              <a:solidFill>
                <a:srgbClr val="FF0000"/>
              </a:solidFill>
              <a:latin typeface="Cambria Math" panose="02040503050406030204" pitchFamily="18" charset="0"/>
              <a:ea typeface="Cambria Math" panose="02040503050406030204" pitchFamily="18" charset="0"/>
              <a:cs typeface="Calibri"/>
            </a:endParaRPr>
          </a:p>
          <a:p>
            <a:pPr marL="12700" marR="5080" algn="ctr">
              <a:lnSpc>
                <a:spcPct val="80000"/>
              </a:lnSpc>
              <a:spcBef>
                <a:spcPts val="720"/>
              </a:spcBef>
            </a:pPr>
            <a:endParaRPr sz="3000" dirty="0">
              <a:solidFill>
                <a:srgbClr val="FF0000"/>
              </a:solidFill>
              <a:latin typeface="Cambria Math" panose="02040503050406030204" pitchFamily="18" charset="0"/>
              <a:ea typeface="Cambria Math" panose="02040503050406030204" pitchFamily="18" charset="0"/>
              <a:cs typeface="Calibri"/>
            </a:endParaRPr>
          </a:p>
          <a:p>
            <a:pPr marL="355600" indent="-342900">
              <a:buFont typeface="Arial"/>
              <a:buChar char="•"/>
              <a:tabLst>
                <a:tab pos="354965" algn="l"/>
                <a:tab pos="355600" algn="l"/>
              </a:tabLst>
            </a:pPr>
            <a:r>
              <a:rPr sz="3000" spc="-10" dirty="0">
                <a:latin typeface="Cambria Math" panose="02040503050406030204" pitchFamily="18" charset="0"/>
                <a:ea typeface="Cambria Math" panose="02040503050406030204" pitchFamily="18" charset="0"/>
                <a:cs typeface="Calibri"/>
              </a:rPr>
              <a:t>denoted</a:t>
            </a:r>
            <a:r>
              <a:rPr sz="3000" spc="-10" dirty="0">
                <a:solidFill>
                  <a:srgbClr val="FF0000"/>
                </a:solidFill>
                <a:latin typeface="Cambria Math" panose="02040503050406030204" pitchFamily="18" charset="0"/>
                <a:ea typeface="Cambria Math" panose="02040503050406030204" pitchFamily="18" charset="0"/>
                <a:cs typeface="Calibri"/>
              </a:rPr>
              <a:t> </a:t>
            </a:r>
            <a:r>
              <a:rPr sz="3000" spc="-10" dirty="0">
                <a:latin typeface="Cambria Math" panose="02040503050406030204" pitchFamily="18" charset="0"/>
                <a:ea typeface="Cambria Math" panose="02040503050406030204" pitchFamily="18" charset="0"/>
                <a:cs typeface="Calibri"/>
              </a:rPr>
              <a:t>by </a:t>
            </a:r>
            <a:r>
              <a:rPr sz="3000" dirty="0">
                <a:solidFill>
                  <a:srgbClr val="FF0000"/>
                </a:solidFill>
                <a:latin typeface="Cambria Math" panose="02040503050406030204" pitchFamily="18" charset="0"/>
                <a:ea typeface="Cambria Math" panose="02040503050406030204" pitchFamily="18" charset="0"/>
                <a:cs typeface="Cambria Math"/>
              </a:rPr>
              <a:t>∃</a:t>
            </a:r>
            <a:r>
              <a:rPr sz="3000" dirty="0">
                <a:solidFill>
                  <a:srgbClr val="FF0000"/>
                </a:solidFill>
                <a:latin typeface="Cambria Math" panose="02040503050406030204" pitchFamily="18" charset="0"/>
                <a:ea typeface="Cambria Math" panose="02040503050406030204" pitchFamily="18" charset="0"/>
                <a:cs typeface="Calibri"/>
              </a:rPr>
              <a:t>! </a:t>
            </a:r>
            <a:r>
              <a:rPr sz="3000" spc="-5" dirty="0">
                <a:latin typeface="Cambria Math" panose="02040503050406030204" pitchFamily="18" charset="0"/>
                <a:ea typeface="Cambria Math" panose="02040503050406030204" pitchFamily="18" charset="0"/>
                <a:cs typeface="Calibri"/>
              </a:rPr>
              <a:t>or</a:t>
            </a:r>
            <a:r>
              <a:rPr sz="3000" spc="-10" dirty="0">
                <a:solidFill>
                  <a:srgbClr val="FF0000"/>
                </a:solidFill>
                <a:latin typeface="Cambria Math" panose="02040503050406030204" pitchFamily="18" charset="0"/>
                <a:ea typeface="Cambria Math" panose="02040503050406030204" pitchFamily="18" charset="0"/>
                <a:cs typeface="Calibri"/>
              </a:rPr>
              <a:t> </a:t>
            </a:r>
            <a:r>
              <a:rPr sz="3000" dirty="0">
                <a:solidFill>
                  <a:srgbClr val="FF0000"/>
                </a:solidFill>
                <a:latin typeface="Cambria Math" panose="02040503050406030204" pitchFamily="18" charset="0"/>
                <a:ea typeface="Cambria Math" panose="02040503050406030204" pitchFamily="18" charset="0"/>
                <a:cs typeface="Cambria Math"/>
              </a:rPr>
              <a:t>∃</a:t>
            </a:r>
            <a:r>
              <a:rPr sz="3000" dirty="0">
                <a:solidFill>
                  <a:srgbClr val="FF0000"/>
                </a:solidFill>
                <a:latin typeface="Cambria Math" panose="02040503050406030204" pitchFamily="18" charset="0"/>
                <a:ea typeface="Cambria Math" panose="02040503050406030204" pitchFamily="18" charset="0"/>
                <a:cs typeface="Calibri"/>
              </a:rPr>
              <a:t>1</a:t>
            </a:r>
            <a:r>
              <a:rPr sz="3000" dirty="0">
                <a:latin typeface="Cambria Math" panose="02040503050406030204" pitchFamily="18" charset="0"/>
                <a:ea typeface="Cambria Math" panose="02040503050406030204" pitchFamily="18" charset="0"/>
                <a:cs typeface="Calibri"/>
              </a:rPr>
              <a:t>.</a:t>
            </a:r>
            <a:endParaRPr lang="en-US" sz="3000" dirty="0">
              <a:latin typeface="Cambria Math" panose="02040503050406030204" pitchFamily="18" charset="0"/>
              <a:ea typeface="Cambria Math" panose="02040503050406030204" pitchFamily="18" charset="0"/>
              <a:cs typeface="Calibri"/>
            </a:endParaRPr>
          </a:p>
          <a:p>
            <a:pPr marL="355600" indent="-342900">
              <a:buFont typeface="Arial"/>
              <a:buChar char="•"/>
              <a:tabLst>
                <a:tab pos="354965" algn="l"/>
                <a:tab pos="355600" algn="l"/>
              </a:tabLst>
            </a:pPr>
            <a:endParaRPr sz="3000" dirty="0">
              <a:latin typeface="Cambria Math" panose="02040503050406030204" pitchFamily="18" charset="0"/>
              <a:ea typeface="Cambria Math" panose="02040503050406030204" pitchFamily="18" charset="0"/>
              <a:cs typeface="Calibri"/>
            </a:endParaRPr>
          </a:p>
          <a:p>
            <a:pPr marL="812800" lvl="1" indent="-342900">
              <a:lnSpc>
                <a:spcPts val="3240"/>
              </a:lnSpc>
              <a:buFont typeface="Arial"/>
              <a:buChar char="•"/>
              <a:tabLst>
                <a:tab pos="354965" algn="l"/>
                <a:tab pos="355600" algn="l"/>
              </a:tabLst>
            </a:pPr>
            <a:r>
              <a:rPr sz="3000" spc="-10" dirty="0">
                <a:latin typeface="Cambria Math" panose="02040503050406030204" pitchFamily="18" charset="0"/>
                <a:ea typeface="Cambria Math" panose="02040503050406030204" pitchFamily="18" charset="0"/>
                <a:cs typeface="Calibri"/>
              </a:rPr>
              <a:t>Example: Let </a:t>
            </a:r>
            <a:r>
              <a:rPr sz="3000" dirty="0">
                <a:latin typeface="Cambria Math" panose="02040503050406030204" pitchFamily="18" charset="0"/>
                <a:ea typeface="Cambria Math" panose="02040503050406030204" pitchFamily="18" charset="0"/>
                <a:cs typeface="Calibri"/>
              </a:rPr>
              <a:t>P(x) </a:t>
            </a:r>
            <a:r>
              <a:rPr sz="3000" spc="-10" dirty="0">
                <a:latin typeface="Cambria Math" panose="02040503050406030204" pitchFamily="18" charset="0"/>
                <a:ea typeface="Cambria Math" panose="02040503050406030204" pitchFamily="18" charset="0"/>
                <a:cs typeface="Calibri"/>
              </a:rPr>
              <a:t>denote </a:t>
            </a:r>
            <a:r>
              <a:rPr sz="3000" dirty="0">
                <a:latin typeface="Cambria Math" panose="02040503050406030204" pitchFamily="18" charset="0"/>
                <a:ea typeface="Cambria Math" panose="02040503050406030204" pitchFamily="18" charset="0"/>
                <a:cs typeface="Calibri"/>
              </a:rPr>
              <a:t>x - 1 = 0 </a:t>
            </a:r>
            <a:r>
              <a:rPr sz="3000" spc="-5" dirty="0">
                <a:latin typeface="Cambria Math" panose="02040503050406030204" pitchFamily="18" charset="0"/>
                <a:ea typeface="Cambria Math" panose="02040503050406030204" pitchFamily="18" charset="0"/>
                <a:cs typeface="Calibri"/>
              </a:rPr>
              <a:t>and </a:t>
            </a:r>
            <a:r>
              <a:rPr sz="3000" dirty="0">
                <a:latin typeface="Cambria Math" panose="02040503050406030204" pitchFamily="18" charset="0"/>
                <a:ea typeface="Cambria Math" panose="02040503050406030204" pitchFamily="18" charset="0"/>
                <a:cs typeface="Calibri"/>
              </a:rPr>
              <a:t>U </a:t>
            </a:r>
            <a:r>
              <a:rPr sz="3000" spc="-15" dirty="0">
                <a:latin typeface="Cambria Math" panose="02040503050406030204" pitchFamily="18" charset="0"/>
                <a:ea typeface="Cambria Math" panose="02040503050406030204" pitchFamily="18" charset="0"/>
                <a:cs typeface="Calibri"/>
              </a:rPr>
              <a:t>are</a:t>
            </a:r>
            <a:r>
              <a:rPr sz="3000" spc="-114" dirty="0">
                <a:latin typeface="Cambria Math" panose="02040503050406030204" pitchFamily="18" charset="0"/>
                <a:ea typeface="Cambria Math" panose="02040503050406030204" pitchFamily="18" charset="0"/>
                <a:cs typeface="Calibri"/>
              </a:rPr>
              <a:t> </a:t>
            </a:r>
            <a:r>
              <a:rPr sz="3000" dirty="0">
                <a:latin typeface="Cambria Math" panose="02040503050406030204" pitchFamily="18" charset="0"/>
                <a:ea typeface="Cambria Math" panose="02040503050406030204" pitchFamily="18" charset="0"/>
                <a:cs typeface="Calibri"/>
              </a:rPr>
              <a:t>the</a:t>
            </a:r>
            <a:r>
              <a:rPr lang="en-US" sz="3000" dirty="0">
                <a:latin typeface="Cambria Math" panose="02040503050406030204" pitchFamily="18" charset="0"/>
                <a:ea typeface="Cambria Math" panose="02040503050406030204" pitchFamily="18" charset="0"/>
                <a:cs typeface="Calibri"/>
              </a:rPr>
              <a:t> </a:t>
            </a:r>
            <a:r>
              <a:rPr sz="3000" spc="-15" dirty="0">
                <a:latin typeface="Cambria Math" panose="02040503050406030204" pitchFamily="18" charset="0"/>
                <a:ea typeface="Cambria Math" panose="02040503050406030204" pitchFamily="18" charset="0"/>
                <a:cs typeface="Calibri"/>
              </a:rPr>
              <a:t>integers. </a:t>
            </a:r>
            <a:endParaRPr lang="en-US" sz="3000" spc="-15" dirty="0">
              <a:latin typeface="Cambria Math" panose="02040503050406030204" pitchFamily="18" charset="0"/>
              <a:ea typeface="Cambria Math" panose="02040503050406030204" pitchFamily="18" charset="0"/>
              <a:cs typeface="Calibri"/>
            </a:endParaRPr>
          </a:p>
          <a:p>
            <a:pPr marL="469900" lvl="1">
              <a:lnSpc>
                <a:spcPts val="3240"/>
              </a:lnSpc>
              <a:tabLst>
                <a:tab pos="354965" algn="l"/>
                <a:tab pos="355600" algn="l"/>
              </a:tabLst>
            </a:pPr>
            <a:r>
              <a:rPr lang="en-US" sz="3000" spc="-15" dirty="0">
                <a:latin typeface="Cambria Math" panose="02040503050406030204" pitchFamily="18" charset="0"/>
                <a:ea typeface="Cambria Math" panose="02040503050406030204" pitchFamily="18" charset="0"/>
                <a:cs typeface="Calibri"/>
              </a:rPr>
              <a:t>	</a:t>
            </a:r>
            <a:r>
              <a:rPr sz="3000" spc="-5" dirty="0">
                <a:latin typeface="Cambria Math" panose="02040503050406030204" pitchFamily="18" charset="0"/>
                <a:ea typeface="Cambria Math" panose="02040503050406030204" pitchFamily="18" charset="0"/>
                <a:cs typeface="Calibri"/>
              </a:rPr>
              <a:t>Then </a:t>
            </a:r>
            <a:r>
              <a:rPr sz="3000" dirty="0">
                <a:latin typeface="Cambria Math" panose="02040503050406030204" pitchFamily="18" charset="0"/>
                <a:ea typeface="Cambria Math" panose="02040503050406030204" pitchFamily="18" charset="0"/>
                <a:cs typeface="Cambria Math"/>
              </a:rPr>
              <a:t>∃</a:t>
            </a:r>
            <a:r>
              <a:rPr sz="3000" dirty="0">
                <a:latin typeface="Cambria Math" panose="02040503050406030204" pitchFamily="18" charset="0"/>
                <a:ea typeface="Cambria Math" panose="02040503050406030204" pitchFamily="18" charset="0"/>
                <a:cs typeface="Calibri"/>
              </a:rPr>
              <a:t>!x P(x)</a:t>
            </a:r>
            <a:r>
              <a:rPr sz="3000" spc="-35" dirty="0">
                <a:latin typeface="Cambria Math" panose="02040503050406030204" pitchFamily="18" charset="0"/>
                <a:ea typeface="Cambria Math" panose="02040503050406030204" pitchFamily="18" charset="0"/>
                <a:cs typeface="Calibri"/>
              </a:rPr>
              <a:t> </a:t>
            </a:r>
            <a:r>
              <a:rPr sz="3000" dirty="0">
                <a:latin typeface="Cambria Math" panose="02040503050406030204" pitchFamily="18" charset="0"/>
                <a:ea typeface="Cambria Math" panose="02040503050406030204" pitchFamily="18" charset="0"/>
                <a:cs typeface="Calibri"/>
              </a:rPr>
              <a:t>is</a:t>
            </a:r>
          </a:p>
          <a:p>
            <a:pPr marL="12700">
              <a:tabLst>
                <a:tab pos="354965" algn="l"/>
                <a:tab pos="355600" algn="l"/>
              </a:tabLst>
            </a:pPr>
            <a:r>
              <a:rPr lang="en-US" sz="3000" spc="-5" dirty="0">
                <a:solidFill>
                  <a:srgbClr val="FF0000"/>
                </a:solidFill>
                <a:latin typeface="Cambria Math" panose="02040503050406030204" pitchFamily="18" charset="0"/>
                <a:ea typeface="Cambria Math" panose="02040503050406030204" pitchFamily="18" charset="0"/>
                <a:cs typeface="Calibri"/>
              </a:rPr>
              <a:t>							T</a:t>
            </a:r>
            <a:r>
              <a:rPr sz="3000" spc="-5" dirty="0">
                <a:solidFill>
                  <a:srgbClr val="FF0000"/>
                </a:solidFill>
                <a:latin typeface="Cambria Math" panose="02040503050406030204" pitchFamily="18" charset="0"/>
                <a:ea typeface="Cambria Math" panose="02040503050406030204" pitchFamily="18" charset="0"/>
                <a:cs typeface="Calibri"/>
              </a:rPr>
              <a:t>rue</a:t>
            </a:r>
            <a:r>
              <a:rPr sz="3000" spc="-5" dirty="0">
                <a:latin typeface="Cambria Math" panose="02040503050406030204" pitchFamily="18" charset="0"/>
                <a:ea typeface="Cambria Math" panose="02040503050406030204" pitchFamily="18" charset="0"/>
                <a:cs typeface="Calibri"/>
              </a:rPr>
              <a:t>.</a:t>
            </a:r>
            <a:endParaRPr lang="en-US" sz="3000" spc="-5" dirty="0">
              <a:latin typeface="Cambria Math" panose="02040503050406030204" pitchFamily="18" charset="0"/>
              <a:ea typeface="Cambria Math" panose="02040503050406030204" pitchFamily="18" charset="0"/>
              <a:cs typeface="Calibri"/>
            </a:endParaRPr>
          </a:p>
          <a:p>
            <a:pPr marL="12700">
              <a:tabLst>
                <a:tab pos="354965" algn="l"/>
                <a:tab pos="355600" algn="l"/>
              </a:tabLst>
            </a:pPr>
            <a:endParaRPr sz="3000" dirty="0">
              <a:latin typeface="Cambria Math" panose="02040503050406030204" pitchFamily="18" charset="0"/>
              <a:ea typeface="Cambria Math" panose="02040503050406030204" pitchFamily="18" charset="0"/>
              <a:cs typeface="Calibri"/>
            </a:endParaRPr>
          </a:p>
          <a:p>
            <a:pPr marL="812800" lvl="1" indent="-342900">
              <a:lnSpc>
                <a:spcPts val="3240"/>
              </a:lnSpc>
              <a:buFont typeface="Arial"/>
              <a:buChar char="•"/>
              <a:tabLst>
                <a:tab pos="354965" algn="l"/>
                <a:tab pos="355600" algn="l"/>
              </a:tabLst>
            </a:pPr>
            <a:r>
              <a:rPr sz="3000" spc="-10" dirty="0">
                <a:latin typeface="Cambria Math" panose="02040503050406030204" pitchFamily="18" charset="0"/>
                <a:ea typeface="Cambria Math" panose="02040503050406030204" pitchFamily="18" charset="0"/>
                <a:cs typeface="Calibri"/>
              </a:rPr>
              <a:t>Example: Let </a:t>
            </a:r>
            <a:r>
              <a:rPr sz="3000" dirty="0">
                <a:latin typeface="Cambria Math" panose="02040503050406030204" pitchFamily="18" charset="0"/>
                <a:ea typeface="Cambria Math" panose="02040503050406030204" pitchFamily="18" charset="0"/>
                <a:cs typeface="Calibri"/>
              </a:rPr>
              <a:t>P(x) </a:t>
            </a:r>
            <a:r>
              <a:rPr sz="3000" spc="-10" dirty="0">
                <a:latin typeface="Cambria Math" panose="02040503050406030204" pitchFamily="18" charset="0"/>
                <a:ea typeface="Cambria Math" panose="02040503050406030204" pitchFamily="18" charset="0"/>
                <a:cs typeface="Calibri"/>
              </a:rPr>
              <a:t>denote </a:t>
            </a:r>
            <a:r>
              <a:rPr sz="3000" dirty="0">
                <a:latin typeface="Cambria Math" panose="02040503050406030204" pitchFamily="18" charset="0"/>
                <a:ea typeface="Cambria Math" panose="02040503050406030204" pitchFamily="18" charset="0"/>
                <a:cs typeface="Calibri"/>
              </a:rPr>
              <a:t>x &gt; 0 </a:t>
            </a:r>
            <a:r>
              <a:rPr sz="3000" spc="-5" dirty="0">
                <a:latin typeface="Cambria Math" panose="02040503050406030204" pitchFamily="18" charset="0"/>
                <a:ea typeface="Cambria Math" panose="02040503050406030204" pitchFamily="18" charset="0"/>
                <a:cs typeface="Calibri"/>
              </a:rPr>
              <a:t>and </a:t>
            </a:r>
            <a:r>
              <a:rPr sz="3000" dirty="0">
                <a:latin typeface="Cambria Math" panose="02040503050406030204" pitchFamily="18" charset="0"/>
                <a:ea typeface="Cambria Math" panose="02040503050406030204" pitchFamily="18" charset="0"/>
                <a:cs typeface="Calibri"/>
              </a:rPr>
              <a:t>U </a:t>
            </a:r>
            <a:r>
              <a:rPr sz="3000" spc="-15" dirty="0">
                <a:latin typeface="Cambria Math" panose="02040503050406030204" pitchFamily="18" charset="0"/>
                <a:ea typeface="Cambria Math" panose="02040503050406030204" pitchFamily="18" charset="0"/>
                <a:cs typeface="Calibri"/>
              </a:rPr>
              <a:t>are</a:t>
            </a:r>
            <a:r>
              <a:rPr sz="3000" spc="-5" dirty="0">
                <a:latin typeface="Cambria Math" panose="02040503050406030204" pitchFamily="18" charset="0"/>
                <a:ea typeface="Cambria Math" panose="02040503050406030204" pitchFamily="18" charset="0"/>
                <a:cs typeface="Calibri"/>
              </a:rPr>
              <a:t> </a:t>
            </a:r>
            <a:r>
              <a:rPr sz="3000" dirty="0">
                <a:latin typeface="Cambria Math" panose="02040503050406030204" pitchFamily="18" charset="0"/>
                <a:ea typeface="Cambria Math" panose="02040503050406030204" pitchFamily="18" charset="0"/>
                <a:cs typeface="Calibri"/>
              </a:rPr>
              <a:t>the</a:t>
            </a:r>
            <a:r>
              <a:rPr lang="en-US" sz="3000" dirty="0">
                <a:latin typeface="Cambria Math" panose="02040503050406030204" pitchFamily="18" charset="0"/>
                <a:ea typeface="Cambria Math" panose="02040503050406030204" pitchFamily="18" charset="0"/>
                <a:cs typeface="Calibri"/>
              </a:rPr>
              <a:t> </a:t>
            </a:r>
            <a:r>
              <a:rPr sz="3000" spc="-20" dirty="0">
                <a:latin typeface="Cambria Math" panose="02040503050406030204" pitchFamily="18" charset="0"/>
                <a:ea typeface="Cambria Math" panose="02040503050406030204" pitchFamily="18" charset="0"/>
                <a:cs typeface="Calibri"/>
              </a:rPr>
              <a:t>integers. </a:t>
            </a:r>
            <a:endParaRPr lang="en-US" sz="3000" spc="-20" dirty="0">
              <a:latin typeface="Cambria Math" panose="02040503050406030204" pitchFamily="18" charset="0"/>
              <a:ea typeface="Cambria Math" panose="02040503050406030204" pitchFamily="18" charset="0"/>
              <a:cs typeface="Calibri"/>
            </a:endParaRPr>
          </a:p>
          <a:p>
            <a:pPr marL="469900" lvl="1">
              <a:lnSpc>
                <a:spcPts val="3240"/>
              </a:lnSpc>
              <a:tabLst>
                <a:tab pos="354965" algn="l"/>
                <a:tab pos="355600" algn="l"/>
              </a:tabLst>
            </a:pPr>
            <a:r>
              <a:rPr lang="en-US" sz="3000" spc="-20" dirty="0">
                <a:latin typeface="Cambria Math" panose="02040503050406030204" pitchFamily="18" charset="0"/>
                <a:ea typeface="Cambria Math" panose="02040503050406030204" pitchFamily="18" charset="0"/>
                <a:cs typeface="Calibri"/>
              </a:rPr>
              <a:t>	</a:t>
            </a:r>
            <a:r>
              <a:rPr sz="3000" spc="-5" dirty="0">
                <a:latin typeface="Cambria Math" panose="02040503050406030204" pitchFamily="18" charset="0"/>
                <a:ea typeface="Cambria Math" panose="02040503050406030204" pitchFamily="18" charset="0"/>
                <a:cs typeface="Calibri"/>
              </a:rPr>
              <a:t>Then </a:t>
            </a:r>
            <a:r>
              <a:rPr sz="3000" dirty="0">
                <a:latin typeface="Cambria Math" panose="02040503050406030204" pitchFamily="18" charset="0"/>
                <a:ea typeface="Cambria Math" panose="02040503050406030204" pitchFamily="18" charset="0"/>
                <a:cs typeface="Cambria Math"/>
              </a:rPr>
              <a:t>∃</a:t>
            </a:r>
            <a:r>
              <a:rPr sz="3000" dirty="0">
                <a:latin typeface="Cambria Math" panose="02040503050406030204" pitchFamily="18" charset="0"/>
                <a:ea typeface="Cambria Math" panose="02040503050406030204" pitchFamily="18" charset="0"/>
                <a:cs typeface="Calibri"/>
              </a:rPr>
              <a:t>!x P(x)</a:t>
            </a:r>
            <a:r>
              <a:rPr sz="3000" spc="-30" dirty="0">
                <a:latin typeface="Cambria Math" panose="02040503050406030204" pitchFamily="18" charset="0"/>
                <a:ea typeface="Cambria Math" panose="02040503050406030204" pitchFamily="18" charset="0"/>
                <a:cs typeface="Calibri"/>
              </a:rPr>
              <a:t> </a:t>
            </a:r>
            <a:r>
              <a:rPr sz="3000" spc="-10" dirty="0">
                <a:latin typeface="Cambria Math" panose="02040503050406030204" pitchFamily="18" charset="0"/>
                <a:ea typeface="Cambria Math" panose="02040503050406030204" pitchFamily="18" charset="0"/>
                <a:cs typeface="Calibri"/>
              </a:rPr>
              <a:t>is</a:t>
            </a:r>
            <a:endParaRPr sz="3000" dirty="0">
              <a:latin typeface="Cambria Math" panose="02040503050406030204" pitchFamily="18" charset="0"/>
              <a:ea typeface="Cambria Math" panose="02040503050406030204" pitchFamily="18" charset="0"/>
              <a:cs typeface="Calibri"/>
            </a:endParaRPr>
          </a:p>
          <a:p>
            <a:pPr marL="469900" lvl="1">
              <a:tabLst>
                <a:tab pos="354965" algn="l"/>
                <a:tab pos="355600" algn="l"/>
              </a:tabLst>
            </a:pPr>
            <a:r>
              <a:rPr lang="en-US" sz="3000" spc="-20" dirty="0">
                <a:solidFill>
                  <a:srgbClr val="FF0000"/>
                </a:solidFill>
                <a:latin typeface="Cambria Math" panose="02040503050406030204" pitchFamily="18" charset="0"/>
                <a:ea typeface="Cambria Math" panose="02040503050406030204" pitchFamily="18" charset="0"/>
                <a:cs typeface="Calibri"/>
              </a:rPr>
              <a:t>					F</a:t>
            </a:r>
            <a:r>
              <a:rPr sz="3000" spc="-20" dirty="0">
                <a:solidFill>
                  <a:srgbClr val="FF0000"/>
                </a:solidFill>
                <a:latin typeface="Cambria Math" panose="02040503050406030204" pitchFamily="18" charset="0"/>
                <a:ea typeface="Cambria Math" panose="02040503050406030204" pitchFamily="18" charset="0"/>
                <a:cs typeface="Calibri"/>
              </a:rPr>
              <a:t>alse</a:t>
            </a:r>
            <a:endParaRPr sz="3000" dirty="0">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2E530-D01B-1B77-3AF8-2AAD62A5CB86}"/>
              </a:ext>
            </a:extLst>
          </p:cNvPr>
          <p:cNvPicPr>
            <a:picLocks noChangeAspect="1"/>
          </p:cNvPicPr>
          <p:nvPr/>
        </p:nvPicPr>
        <p:blipFill rotWithShape="1">
          <a:blip r:embed="rId2"/>
          <a:srcRect l="12092" t="29388" r="12373" b="43130"/>
          <a:stretch/>
        </p:blipFill>
        <p:spPr>
          <a:xfrm>
            <a:off x="57518" y="2109651"/>
            <a:ext cx="12076964" cy="2471679"/>
          </a:xfrm>
          <a:prstGeom prst="rect">
            <a:avLst/>
          </a:prstGeom>
        </p:spPr>
      </p:pic>
      <p:sp>
        <p:nvSpPr>
          <p:cNvPr id="6" name="TextBox 5">
            <a:extLst>
              <a:ext uri="{FF2B5EF4-FFF2-40B4-BE49-F238E27FC236}">
                <a16:creationId xmlns:a16="http://schemas.microsoft.com/office/drawing/2014/main" id="{F7F28C1F-4F49-C18C-B155-992ADB267D56}"/>
              </a:ext>
            </a:extLst>
          </p:cNvPr>
          <p:cNvSpPr txBox="1"/>
          <p:nvPr/>
        </p:nvSpPr>
        <p:spPr>
          <a:xfrm>
            <a:off x="949390" y="566448"/>
            <a:ext cx="6097554" cy="707886"/>
          </a:xfrm>
          <a:prstGeom prst="rect">
            <a:avLst/>
          </a:prstGeom>
          <a:noFill/>
        </p:spPr>
        <p:txBody>
          <a:bodyPr wrap="square">
            <a:spAutoFit/>
          </a:bodyPr>
          <a:lstStyle/>
          <a:p>
            <a:r>
              <a:rPr lang="en-US" sz="4000" spc="-15" dirty="0">
                <a:latin typeface="+mj-lt"/>
                <a:cs typeface="Calibri"/>
              </a:rPr>
              <a:t>QUANTIFIER</a:t>
            </a:r>
            <a:endParaRPr lang="en-PK" sz="4000" dirty="0">
              <a:latin typeface="+mj-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919" y="0"/>
            <a:ext cx="11058330" cy="1325563"/>
          </a:xfrm>
        </p:spPr>
        <p:txBody>
          <a:bodyPr>
            <a:normAutofit/>
          </a:bodyPr>
          <a:lstStyle/>
          <a:p>
            <a:r>
              <a:rPr lang="en-US" dirty="0">
                <a:latin typeface="Cambria Math" panose="02040503050406030204" pitchFamily="18" charset="0"/>
                <a:ea typeface="Cambria Math" panose="02040503050406030204" pitchFamily="18" charset="0"/>
              </a:rPr>
              <a:t>Sets and Notations</a:t>
            </a:r>
          </a:p>
        </p:txBody>
      </p:sp>
      <p:graphicFrame>
        <p:nvGraphicFramePr>
          <p:cNvPr id="6" name="Table 6">
            <a:extLst>
              <a:ext uri="{FF2B5EF4-FFF2-40B4-BE49-F238E27FC236}">
                <a16:creationId xmlns:a16="http://schemas.microsoft.com/office/drawing/2014/main" id="{6F2BE073-68A4-8103-8C1E-494EFEA8B068}"/>
              </a:ext>
            </a:extLst>
          </p:cNvPr>
          <p:cNvGraphicFramePr>
            <a:graphicFrameLocks noGrp="1"/>
          </p:cNvGraphicFramePr>
          <p:nvPr>
            <p:ph idx="1"/>
            <p:extLst>
              <p:ext uri="{D42A27DB-BD31-4B8C-83A1-F6EECF244321}">
                <p14:modId xmlns:p14="http://schemas.microsoft.com/office/powerpoint/2010/main" val="2188887552"/>
              </p:ext>
            </p:extLst>
          </p:nvPr>
        </p:nvGraphicFramePr>
        <p:xfrm>
          <a:off x="838200" y="1584960"/>
          <a:ext cx="10515600" cy="3688080"/>
        </p:xfrm>
        <a:graphic>
          <a:graphicData uri="http://schemas.openxmlformats.org/drawingml/2006/table">
            <a:tbl>
              <a:tblPr firstRow="1" bandRow="1">
                <a:tableStyleId>{5C22544A-7EE6-4342-B048-85BDC9FD1C3A}</a:tableStyleId>
              </a:tblPr>
              <a:tblGrid>
                <a:gridCol w="6304472">
                  <a:extLst>
                    <a:ext uri="{9D8B030D-6E8A-4147-A177-3AD203B41FA5}">
                      <a16:colId xmlns:a16="http://schemas.microsoft.com/office/drawing/2014/main" val="3856323299"/>
                    </a:ext>
                  </a:extLst>
                </a:gridCol>
                <a:gridCol w="4211128">
                  <a:extLst>
                    <a:ext uri="{9D8B030D-6E8A-4147-A177-3AD203B41FA5}">
                      <a16:colId xmlns:a16="http://schemas.microsoft.com/office/drawing/2014/main" val="4214473458"/>
                    </a:ext>
                  </a:extLst>
                </a:gridCol>
              </a:tblGrid>
              <a:tr h="370840">
                <a:tc>
                  <a:txBody>
                    <a:bodyPr/>
                    <a:lstStyle/>
                    <a:p>
                      <a:r>
                        <a:rPr lang="en-US" sz="2400" dirty="0">
                          <a:latin typeface="Cambria Math" panose="02040503050406030204" pitchFamily="18" charset="0"/>
                          <a:ea typeface="Cambria Math" panose="02040503050406030204" pitchFamily="18" charset="0"/>
                        </a:rPr>
                        <a:t>Set</a:t>
                      </a:r>
                    </a:p>
                  </a:txBody>
                  <a:tcPr/>
                </a:tc>
                <a:tc>
                  <a:txBody>
                    <a:bodyPr/>
                    <a:lstStyle/>
                    <a:p>
                      <a:r>
                        <a:rPr lang="en-US" sz="2400" dirty="0">
                          <a:latin typeface="Cambria Math" panose="02040503050406030204" pitchFamily="18" charset="0"/>
                          <a:ea typeface="Cambria Math" panose="02040503050406030204" pitchFamily="18" charset="0"/>
                        </a:rPr>
                        <a:t>Symbol</a:t>
                      </a:r>
                    </a:p>
                  </a:txBody>
                  <a:tcPr/>
                </a:tc>
                <a:extLst>
                  <a:ext uri="{0D108BD9-81ED-4DB2-BD59-A6C34878D82A}">
                    <a16:rowId xmlns:a16="http://schemas.microsoft.com/office/drawing/2014/main" val="2783429241"/>
                  </a:ext>
                </a:extLst>
              </a:tr>
              <a:tr h="370840">
                <a:tc>
                  <a:txBody>
                    <a:bodyPr/>
                    <a:lstStyle/>
                    <a:p>
                      <a:r>
                        <a:rPr lang="en-US" sz="2400" dirty="0">
                          <a:latin typeface="Cambria Math" panose="02040503050406030204" pitchFamily="18" charset="0"/>
                          <a:ea typeface="Cambria Math" panose="02040503050406030204" pitchFamily="18" charset="0"/>
                        </a:rPr>
                        <a:t>Set of Natural Numbers</a:t>
                      </a:r>
                    </a:p>
                  </a:txBody>
                  <a:tcPr/>
                </a:tc>
                <a:tc>
                  <a:txBody>
                    <a:bodyPr/>
                    <a:lstStyle/>
                    <a:p>
                      <a:r>
                        <a:rPr lang="en-US" sz="3200" dirty="0">
                          <a:latin typeface="Cambria Math" panose="02040503050406030204" pitchFamily="18" charset="0"/>
                          <a:ea typeface="Cambria Math" panose="02040503050406030204" pitchFamily="18" charset="0"/>
                        </a:rPr>
                        <a:t>N</a:t>
                      </a:r>
                    </a:p>
                  </a:txBody>
                  <a:tcPr/>
                </a:tc>
                <a:extLst>
                  <a:ext uri="{0D108BD9-81ED-4DB2-BD59-A6C34878D82A}">
                    <a16:rowId xmlns:a16="http://schemas.microsoft.com/office/drawing/2014/main" val="946046888"/>
                  </a:ext>
                </a:extLst>
              </a:tr>
              <a:tr h="370840">
                <a:tc>
                  <a:txBody>
                    <a:bodyPr/>
                    <a:lstStyle/>
                    <a:p>
                      <a:r>
                        <a:rPr lang="en-US" sz="2400" dirty="0">
                          <a:latin typeface="Cambria Math" panose="02040503050406030204" pitchFamily="18" charset="0"/>
                          <a:ea typeface="Cambria Math" panose="02040503050406030204" pitchFamily="18" charset="0"/>
                        </a:rPr>
                        <a:t>Set of Integers</a:t>
                      </a:r>
                    </a:p>
                  </a:txBody>
                  <a:tcPr/>
                </a:tc>
                <a:tc>
                  <a:txBody>
                    <a:bodyPr/>
                    <a:lstStyle/>
                    <a:p>
                      <a:r>
                        <a:rPr lang="en-US" sz="3200" dirty="0">
                          <a:latin typeface="Cambria Math" panose="02040503050406030204" pitchFamily="18" charset="0"/>
                          <a:ea typeface="Cambria Math" panose="02040503050406030204" pitchFamily="18" charset="0"/>
                        </a:rPr>
                        <a:t>Z</a:t>
                      </a:r>
                    </a:p>
                  </a:txBody>
                  <a:tcPr/>
                </a:tc>
                <a:extLst>
                  <a:ext uri="{0D108BD9-81ED-4DB2-BD59-A6C34878D82A}">
                    <a16:rowId xmlns:a16="http://schemas.microsoft.com/office/drawing/2014/main" val="4046762207"/>
                  </a:ext>
                </a:extLst>
              </a:tr>
              <a:tr h="370840">
                <a:tc>
                  <a:txBody>
                    <a:bodyPr/>
                    <a:lstStyle/>
                    <a:p>
                      <a:r>
                        <a:rPr lang="en-US" sz="2400" dirty="0">
                          <a:latin typeface="Cambria Math" panose="02040503050406030204" pitchFamily="18" charset="0"/>
                          <a:ea typeface="Cambria Math" panose="02040503050406030204" pitchFamily="18" charset="0"/>
                        </a:rPr>
                        <a:t>Set of Positive Integers</a:t>
                      </a:r>
                    </a:p>
                  </a:txBody>
                  <a:tcPr/>
                </a:tc>
                <a:tc>
                  <a:txBody>
                    <a:bodyPr/>
                    <a:lstStyle/>
                    <a:p>
                      <a:r>
                        <a:rPr lang="en-US" sz="3200" dirty="0">
                          <a:latin typeface="Cambria Math" panose="02040503050406030204" pitchFamily="18" charset="0"/>
                          <a:ea typeface="Cambria Math" panose="02040503050406030204" pitchFamily="18" charset="0"/>
                        </a:rPr>
                        <a:t>Z</a:t>
                      </a:r>
                      <a:r>
                        <a:rPr lang="en-US" sz="3200" baseline="30000" dirty="0">
                          <a:latin typeface="Cambria Math" panose="02040503050406030204" pitchFamily="18" charset="0"/>
                          <a:ea typeface="Cambria Math" panose="02040503050406030204" pitchFamily="18" charset="0"/>
                        </a:rPr>
                        <a:t>+</a:t>
                      </a:r>
                    </a:p>
                  </a:txBody>
                  <a:tcPr/>
                </a:tc>
                <a:extLst>
                  <a:ext uri="{0D108BD9-81ED-4DB2-BD59-A6C34878D82A}">
                    <a16:rowId xmlns:a16="http://schemas.microsoft.com/office/drawing/2014/main" val="2206230484"/>
                  </a:ext>
                </a:extLst>
              </a:tr>
              <a:tr h="370840">
                <a:tc>
                  <a:txBody>
                    <a:bodyPr/>
                    <a:lstStyle/>
                    <a:p>
                      <a:r>
                        <a:rPr lang="en-US" sz="2400" dirty="0">
                          <a:latin typeface="Cambria Math" panose="02040503050406030204" pitchFamily="18" charset="0"/>
                          <a:ea typeface="Cambria Math" panose="02040503050406030204" pitchFamily="18" charset="0"/>
                        </a:rPr>
                        <a:t>Set of Negative Integers</a:t>
                      </a:r>
                    </a:p>
                  </a:txBody>
                  <a:tcPr/>
                </a:tc>
                <a:tc>
                  <a:txBody>
                    <a:bodyPr/>
                    <a:lstStyle/>
                    <a:p>
                      <a:r>
                        <a:rPr lang="en-US" sz="3200" dirty="0">
                          <a:latin typeface="Cambria Math" panose="02040503050406030204" pitchFamily="18" charset="0"/>
                          <a:ea typeface="Cambria Math" panose="02040503050406030204" pitchFamily="18" charset="0"/>
                        </a:rPr>
                        <a:t>Z</a:t>
                      </a:r>
                      <a:r>
                        <a:rPr lang="en-US" sz="3200" baseline="30000" dirty="0">
                          <a:latin typeface="Cambria Math" panose="02040503050406030204" pitchFamily="18" charset="0"/>
                          <a:ea typeface="Cambria Math" panose="02040503050406030204" pitchFamily="18" charset="0"/>
                        </a:rPr>
                        <a:t>-</a:t>
                      </a:r>
                    </a:p>
                  </a:txBody>
                  <a:tcPr/>
                </a:tc>
                <a:extLst>
                  <a:ext uri="{0D108BD9-81ED-4DB2-BD59-A6C34878D82A}">
                    <a16:rowId xmlns:a16="http://schemas.microsoft.com/office/drawing/2014/main" val="4063980517"/>
                  </a:ext>
                </a:extLst>
              </a:tr>
              <a:tr h="370840">
                <a:tc>
                  <a:txBody>
                    <a:bodyPr/>
                    <a:lstStyle/>
                    <a:p>
                      <a:r>
                        <a:rPr lang="en-US" sz="2400" dirty="0">
                          <a:latin typeface="Cambria Math" panose="02040503050406030204" pitchFamily="18" charset="0"/>
                          <a:ea typeface="Cambria Math" panose="02040503050406030204" pitchFamily="18" charset="0"/>
                        </a:rPr>
                        <a:t>Set of Real Numbers</a:t>
                      </a:r>
                    </a:p>
                  </a:txBody>
                  <a:tcPr/>
                </a:tc>
                <a:tc>
                  <a:txBody>
                    <a:bodyPr/>
                    <a:lstStyle/>
                    <a:p>
                      <a:r>
                        <a:rPr lang="en-US" sz="2400" dirty="0">
                          <a:latin typeface="Cambria Math" panose="02040503050406030204" pitchFamily="18" charset="0"/>
                          <a:ea typeface="Cambria Math" panose="02040503050406030204" pitchFamily="18" charset="0"/>
                        </a:rPr>
                        <a:t>R</a:t>
                      </a:r>
                    </a:p>
                  </a:txBody>
                  <a:tcPr/>
                </a:tc>
                <a:extLst>
                  <a:ext uri="{0D108BD9-81ED-4DB2-BD59-A6C34878D82A}">
                    <a16:rowId xmlns:a16="http://schemas.microsoft.com/office/drawing/2014/main" val="400255531"/>
                  </a:ext>
                </a:extLst>
              </a:tr>
              <a:tr h="370840">
                <a:tc>
                  <a:txBody>
                    <a:bodyPr/>
                    <a:lstStyle/>
                    <a:p>
                      <a:r>
                        <a:rPr lang="en-US" sz="2400" dirty="0">
                          <a:latin typeface="Cambria Math" panose="02040503050406030204" pitchFamily="18" charset="0"/>
                          <a:ea typeface="Cambria Math" panose="02040503050406030204" pitchFamily="18" charset="0"/>
                        </a:rPr>
                        <a:t>Set of Rational Numbers</a:t>
                      </a:r>
                    </a:p>
                  </a:txBody>
                  <a:tcPr/>
                </a:tc>
                <a:tc>
                  <a:txBody>
                    <a:bodyPr/>
                    <a:lstStyle/>
                    <a:p>
                      <a:r>
                        <a:rPr lang="en-US" sz="2400" dirty="0">
                          <a:latin typeface="Cambria Math" panose="02040503050406030204" pitchFamily="18" charset="0"/>
                          <a:ea typeface="Cambria Math" panose="02040503050406030204" pitchFamily="18" charset="0"/>
                        </a:rPr>
                        <a:t>Q</a:t>
                      </a:r>
                    </a:p>
                  </a:txBody>
                  <a:tcPr/>
                </a:tc>
                <a:extLst>
                  <a:ext uri="{0D108BD9-81ED-4DB2-BD59-A6C34878D82A}">
                    <a16:rowId xmlns:a16="http://schemas.microsoft.com/office/drawing/2014/main" val="3094897200"/>
                  </a:ext>
                </a:extLst>
              </a:tr>
            </a:tbl>
          </a:graphicData>
        </a:graphic>
      </p:graphicFrame>
    </p:spTree>
    <p:extLst>
      <p:ext uri="{BB962C8B-B14F-4D97-AF65-F5344CB8AC3E}">
        <p14:creationId xmlns:p14="http://schemas.microsoft.com/office/powerpoint/2010/main" val="3227527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919" y="0"/>
            <a:ext cx="11058330" cy="1325563"/>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Examples – </a:t>
            </a:r>
            <a:r>
              <a:rPr lang="en-US" sz="3600" dirty="0">
                <a:solidFill>
                  <a:srgbClr val="C00000"/>
                </a:solidFill>
                <a:latin typeface="Cambria Math" panose="02040503050406030204" pitchFamily="18" charset="0"/>
                <a:ea typeface="Cambria Math" panose="02040503050406030204" pitchFamily="18" charset="0"/>
              </a:rPr>
              <a:t>Express in Mathematical Notation</a:t>
            </a:r>
            <a:endParaRPr lang="en-US" dirty="0">
              <a:solidFill>
                <a:srgbClr val="C0000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838200" y="1708031"/>
            <a:ext cx="10515600" cy="819510"/>
          </a:xfrm>
        </p:spPr>
        <p:txBody>
          <a:bodyPr/>
          <a:lstStyle/>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Product of two negative integers is positive.</a:t>
            </a:r>
          </a:p>
        </p:txBody>
      </p:sp>
    </p:spTree>
    <p:extLst>
      <p:ext uri="{BB962C8B-B14F-4D97-AF65-F5344CB8AC3E}">
        <p14:creationId xmlns:p14="http://schemas.microsoft.com/office/powerpoint/2010/main" val="12169956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45218"/>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Examples – </a:t>
            </a:r>
            <a:r>
              <a:rPr lang="en-US" sz="3600" dirty="0">
                <a:solidFill>
                  <a:srgbClr val="C00000"/>
                </a:solidFill>
                <a:latin typeface="Cambria Math" panose="02040503050406030204" pitchFamily="18" charset="0"/>
                <a:ea typeface="Cambria Math" panose="02040503050406030204" pitchFamily="18" charset="0"/>
              </a:rPr>
              <a:t>Express  in Mathematical Notation </a:t>
            </a:r>
            <a:endParaRPr lang="en-US" dirty="0">
              <a:solidFill>
                <a:srgbClr val="C0000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87625"/>
                <a:ext cx="10515600" cy="1490082"/>
              </a:xfrm>
            </p:spPr>
            <p:txBody>
              <a:bodyPr>
                <a:normAutofit/>
              </a:bodyPr>
              <a:lstStyle/>
              <a:p>
                <a:pPr>
                  <a:buFont typeface="Wingdings" panose="05000000000000000000" pitchFamily="2" charset="2"/>
                  <a:buChar char="ü"/>
                </a:pPr>
                <a:r>
                  <a:rPr lang="en-US" sz="3200" dirty="0">
                    <a:solidFill>
                      <a:srgbClr val="C00000"/>
                    </a:solidFill>
                    <a:latin typeface="Cambria Math" panose="02040503050406030204" pitchFamily="18" charset="0"/>
                    <a:ea typeface="Cambria Math" panose="02040503050406030204" pitchFamily="18" charset="0"/>
                  </a:rPr>
                  <a:t>Product of two negative integers is positive.</a:t>
                </a:r>
              </a:p>
              <a:p>
                <a:pPr marL="0" indent="0">
                  <a:buNone/>
                </a:pPr>
                <a14:m>
                  <m:oMathPara xmlns:m="http://schemas.openxmlformats.org/officeDocument/2006/math">
                    <m:oMathParaPr>
                      <m:jc m:val="centerGroup"/>
                    </m:oMathParaPr>
                    <m:oMath xmlns:m="http://schemas.openxmlformats.org/officeDocument/2006/math">
                      <m:r>
                        <a:rPr lang="en-US" sz="3200" b="0" i="1" smtClean="0">
                          <a:solidFill>
                            <a:srgbClr val="7030A0"/>
                          </a:solidFill>
                          <a:latin typeface="Cambria Math" panose="02040503050406030204" pitchFamily="18" charset="0"/>
                        </a:rPr>
                        <m:t>∀</m:t>
                      </m:r>
                      <m:r>
                        <a:rPr lang="en-US" sz="3200" b="0" i="1" smtClean="0">
                          <a:solidFill>
                            <a:srgbClr val="7030A0"/>
                          </a:solidFill>
                          <a:latin typeface="Cambria Math" panose="02040503050406030204" pitchFamily="18" charset="0"/>
                        </a:rPr>
                        <m:t>𝑥</m:t>
                      </m:r>
                      <m:r>
                        <a:rPr lang="en-US" sz="3200" b="0" i="1" smtClean="0">
                          <a:solidFill>
                            <a:srgbClr val="7030A0"/>
                          </a:solidFill>
                          <a:latin typeface="Cambria Math" panose="02040503050406030204" pitchFamily="18" charset="0"/>
                        </a:rPr>
                        <m:t>,</m:t>
                      </m:r>
                      <m:r>
                        <a:rPr lang="en-US" sz="3200" b="0" i="1" smtClean="0">
                          <a:solidFill>
                            <a:srgbClr val="7030A0"/>
                          </a:solidFill>
                          <a:latin typeface="Cambria Math" panose="02040503050406030204" pitchFamily="18" charset="0"/>
                        </a:rPr>
                        <m:t>𝑦</m:t>
                      </m:r>
                      <m:r>
                        <a:rPr lang="en-US" sz="3200" b="0" i="1" smtClean="0">
                          <a:solidFill>
                            <a:srgbClr val="7030A0"/>
                          </a:solidFill>
                          <a:latin typeface="Cambria Math" panose="02040503050406030204" pitchFamily="18" charset="0"/>
                        </a:rPr>
                        <m:t>∈</m:t>
                      </m:r>
                      <m:sSup>
                        <m:sSupPr>
                          <m:ctrlPr>
                            <a:rPr lang="en-US" sz="3200" b="0" i="1" smtClean="0">
                              <a:solidFill>
                                <a:srgbClr val="7030A0"/>
                              </a:solidFill>
                              <a:latin typeface="Cambria Math" panose="02040503050406030204" pitchFamily="18" charset="0"/>
                            </a:rPr>
                          </m:ctrlPr>
                        </m:sSupPr>
                        <m:e>
                          <m:r>
                            <a:rPr lang="en-US" sz="3200" b="0" i="1" smtClean="0">
                              <a:solidFill>
                                <a:srgbClr val="7030A0"/>
                              </a:solidFill>
                              <a:latin typeface="Cambria Math" panose="02040503050406030204" pitchFamily="18" charset="0"/>
                            </a:rPr>
                            <m:t>𝑍</m:t>
                          </m:r>
                        </m:e>
                        <m:sup>
                          <m:r>
                            <a:rPr lang="en-US" sz="3200" b="0" i="1" smtClean="0">
                              <a:solidFill>
                                <a:srgbClr val="7030A0"/>
                              </a:solidFill>
                              <a:latin typeface="Cambria Math" panose="02040503050406030204" pitchFamily="18" charset="0"/>
                            </a:rPr>
                            <m:t>−</m:t>
                          </m:r>
                        </m:sup>
                      </m:sSup>
                      <m:r>
                        <a:rPr lang="en-US" sz="3200" b="0" i="1" smtClean="0">
                          <a:solidFill>
                            <a:srgbClr val="7030A0"/>
                          </a:solidFill>
                          <a:latin typeface="Cambria Math" panose="02040503050406030204" pitchFamily="18" charset="0"/>
                        </a:rPr>
                        <m:t>, </m:t>
                      </m:r>
                      <m:r>
                        <a:rPr lang="en-US" sz="3200" b="0" i="1" smtClean="0">
                          <a:solidFill>
                            <a:srgbClr val="7030A0"/>
                          </a:solidFill>
                          <a:latin typeface="Cambria Math" panose="02040503050406030204" pitchFamily="18" charset="0"/>
                        </a:rPr>
                        <m:t>𝑥</m:t>
                      </m:r>
                      <m:r>
                        <a:rPr lang="en-US" sz="3200" b="0" i="1" smtClean="0">
                          <a:solidFill>
                            <a:srgbClr val="7030A0"/>
                          </a:solidFill>
                          <a:latin typeface="Cambria Math" panose="02040503050406030204" pitchFamily="18" charset="0"/>
                        </a:rPr>
                        <m:t>⋅</m:t>
                      </m:r>
                      <m:r>
                        <a:rPr lang="en-US" sz="3200" b="0" i="1" smtClean="0">
                          <a:solidFill>
                            <a:srgbClr val="7030A0"/>
                          </a:solidFill>
                          <a:latin typeface="Cambria Math" panose="02040503050406030204" pitchFamily="18" charset="0"/>
                        </a:rPr>
                        <m:t>𝑦</m:t>
                      </m:r>
                      <m:r>
                        <a:rPr lang="en-US" sz="3200" b="0" i="1" smtClean="0">
                          <a:solidFill>
                            <a:srgbClr val="7030A0"/>
                          </a:solidFill>
                          <a:latin typeface="Cambria Math" panose="02040503050406030204" pitchFamily="18" charset="0"/>
                        </a:rPr>
                        <m:t>&gt;0</m:t>
                      </m:r>
                    </m:oMath>
                  </m:oMathPara>
                </a14:m>
                <a:endParaRPr lang="en-US" sz="3200" dirty="0">
                  <a:solidFill>
                    <a:srgbClr val="7030A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87625"/>
                <a:ext cx="10515600" cy="1490082"/>
              </a:xfrm>
              <a:blipFill>
                <a:blip r:embed="rId2"/>
                <a:stretch>
                  <a:fillRect l="-1333" t="-8571"/>
                </a:stretch>
              </a:blipFill>
            </p:spPr>
            <p:txBody>
              <a:bodyPr/>
              <a:lstStyle/>
              <a:p>
                <a:r>
                  <a:rPr lang="en-US">
                    <a:noFill/>
                  </a:rPr>
                  <a:t> </a:t>
                </a:r>
              </a:p>
            </p:txBody>
          </p:sp>
        </mc:Fallback>
      </mc:AlternateContent>
    </p:spTree>
    <p:extLst>
      <p:ext uri="{BB962C8B-B14F-4D97-AF65-F5344CB8AC3E}">
        <p14:creationId xmlns:p14="http://schemas.microsoft.com/office/powerpoint/2010/main" val="31893222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925" y="18256"/>
            <a:ext cx="11142307" cy="970790"/>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Examples – </a:t>
            </a:r>
            <a:r>
              <a:rPr lang="en-US" sz="3600" dirty="0">
                <a:solidFill>
                  <a:srgbClr val="C00000"/>
                </a:solidFill>
                <a:latin typeface="Cambria Math" panose="02040503050406030204" pitchFamily="18" charset="0"/>
                <a:ea typeface="Cambria Math" panose="02040503050406030204" pitchFamily="18" charset="0"/>
              </a:rPr>
              <a:t>Express  in Mathematical Notation </a:t>
            </a:r>
            <a:endParaRPr lang="en-US" dirty="0">
              <a:solidFill>
                <a:srgbClr val="C0000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838200" y="1343608"/>
            <a:ext cx="10515600" cy="4833355"/>
          </a:xfrm>
        </p:spPr>
        <p:txBody>
          <a:bodyPr/>
          <a:lstStyle/>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Product of two negative integers is positive.</a:t>
            </a:r>
          </a:p>
          <a:p>
            <a:pPr>
              <a:buFont typeface="Wingdings" panose="05000000000000000000" pitchFamily="2" charset="2"/>
              <a:buChar char="ü"/>
            </a:pPr>
            <a:r>
              <a:rPr lang="en-US" dirty="0">
                <a:solidFill>
                  <a:srgbClr val="C00000"/>
                </a:solidFill>
                <a:latin typeface="Cambria Math" panose="02040503050406030204" pitchFamily="18" charset="0"/>
                <a:ea typeface="Cambria Math" panose="02040503050406030204" pitchFamily="18" charset="0"/>
              </a:rPr>
              <a:t>Average of two positive integers in positive.</a:t>
            </a:r>
          </a:p>
        </p:txBody>
      </p:sp>
    </p:spTree>
    <p:extLst>
      <p:ext uri="{BB962C8B-B14F-4D97-AF65-F5344CB8AC3E}">
        <p14:creationId xmlns:p14="http://schemas.microsoft.com/office/powerpoint/2010/main" val="26488809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587" y="1"/>
            <a:ext cx="10515600" cy="849086"/>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Examples – </a:t>
            </a:r>
            <a:r>
              <a:rPr lang="en-US" sz="3600" dirty="0">
                <a:solidFill>
                  <a:srgbClr val="C00000"/>
                </a:solidFill>
                <a:latin typeface="Cambria Math" panose="02040503050406030204" pitchFamily="18" charset="0"/>
                <a:ea typeface="Cambria Math" panose="02040503050406030204" pitchFamily="18" charset="0"/>
              </a:rPr>
              <a:t>Express  in Mathematical Notation </a:t>
            </a:r>
            <a:endParaRPr lang="en-US" dirty="0">
              <a:solidFill>
                <a:srgbClr val="C0000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063690"/>
                <a:ext cx="10515600" cy="5113273"/>
              </a:xfrm>
            </p:spPr>
            <p:txBody>
              <a:bodyPr/>
              <a:lstStyle/>
              <a:p>
                <a:r>
                  <a:rPr lang="en-US" dirty="0">
                    <a:latin typeface="Cambria Math" panose="02040503050406030204" pitchFamily="18" charset="0"/>
                    <a:ea typeface="Cambria Math" panose="02040503050406030204" pitchFamily="18" charset="0"/>
                  </a:rPr>
                  <a:t>Product of two negative integers is positive.</a:t>
                </a:r>
              </a:p>
              <a:p>
                <a:r>
                  <a:rPr lang="en-US" dirty="0">
                    <a:solidFill>
                      <a:srgbClr val="C00000"/>
                    </a:solidFill>
                    <a:latin typeface="Cambria Math" panose="02040503050406030204" pitchFamily="18" charset="0"/>
                    <a:ea typeface="Cambria Math" panose="02040503050406030204" pitchFamily="18" charset="0"/>
                  </a:rPr>
                  <a:t>Average of two positive integers is positive.</a:t>
                </a:r>
              </a:p>
              <a:p>
                <a:pPr marL="0" indent="0" algn="ctr">
                  <a:buNone/>
                </a:pPr>
                <a:r>
                  <a:rPr lang="en-US" dirty="0">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𝑎</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𝑏</m:t>
                    </m:r>
                    <m:r>
                      <a:rPr lang="en-US" b="0" i="1" smtClean="0">
                        <a:solidFill>
                          <a:srgbClr val="7030A0"/>
                        </a:solidFill>
                        <a:latin typeface="Cambria Math" panose="02040503050406030204" pitchFamily="18" charset="0"/>
                        <a:ea typeface="Cambria Math" panose="02040503050406030204" pitchFamily="18" charset="0"/>
                      </a:rPr>
                      <m:t>∈</m:t>
                    </m:r>
                    <m:sSup>
                      <m:sSupPr>
                        <m:ctrlPr>
                          <a:rPr lang="en-US" b="0" i="1" smtClean="0">
                            <a:solidFill>
                              <a:srgbClr val="7030A0"/>
                            </a:solidFill>
                            <a:latin typeface="Cambria Math" panose="02040503050406030204" pitchFamily="18" charset="0"/>
                            <a:ea typeface="Cambria Math" panose="02040503050406030204" pitchFamily="18" charset="0"/>
                          </a:rPr>
                        </m:ctrlPr>
                      </m:sSupPr>
                      <m:e>
                        <m:r>
                          <a:rPr lang="en-US" b="0" i="1" smtClean="0">
                            <a:solidFill>
                              <a:srgbClr val="7030A0"/>
                            </a:solidFill>
                            <a:latin typeface="Cambria Math" panose="02040503050406030204" pitchFamily="18" charset="0"/>
                            <a:ea typeface="Cambria Math" panose="02040503050406030204" pitchFamily="18" charset="0"/>
                          </a:rPr>
                          <m:t>𝑍</m:t>
                        </m:r>
                      </m:e>
                      <m:sup>
                        <m:r>
                          <a:rPr lang="en-US" b="0" i="1" smtClean="0">
                            <a:solidFill>
                              <a:srgbClr val="7030A0"/>
                            </a:solidFill>
                            <a:latin typeface="Cambria Math" panose="02040503050406030204" pitchFamily="18" charset="0"/>
                            <a:ea typeface="Cambria Math" panose="02040503050406030204" pitchFamily="18" charset="0"/>
                          </a:rPr>
                          <m:t>+</m:t>
                        </m:r>
                      </m:sup>
                    </m:sSup>
                    <m:r>
                      <a:rPr lang="en-US" b="0" i="1" smtClean="0">
                        <a:solidFill>
                          <a:srgbClr val="7030A0"/>
                        </a:solidFill>
                        <a:latin typeface="Cambria Math" panose="02040503050406030204" pitchFamily="18" charset="0"/>
                        <a:ea typeface="Cambria Math" panose="02040503050406030204" pitchFamily="18" charset="0"/>
                      </a:rPr>
                      <m:t>,   </m:t>
                    </m:r>
                    <m:f>
                      <m:fPr>
                        <m:ctrlPr>
                          <a:rPr lang="en-US" b="0" i="1" smtClean="0">
                            <a:solidFill>
                              <a:srgbClr val="7030A0"/>
                            </a:solidFill>
                            <a:latin typeface="Cambria Math" panose="02040503050406030204" pitchFamily="18" charset="0"/>
                            <a:ea typeface="Cambria Math" panose="02040503050406030204" pitchFamily="18" charset="0"/>
                          </a:rPr>
                        </m:ctrlPr>
                      </m:fPr>
                      <m:num>
                        <m:d>
                          <m:dPr>
                            <m:ctrlPr>
                              <a:rPr lang="en-US" b="0" i="1" smtClean="0">
                                <a:solidFill>
                                  <a:srgbClr val="7030A0"/>
                                </a:solidFill>
                                <a:latin typeface="Cambria Math" panose="02040503050406030204" pitchFamily="18" charset="0"/>
                                <a:ea typeface="Cambria Math" panose="02040503050406030204" pitchFamily="18" charset="0"/>
                              </a:rPr>
                            </m:ctrlPr>
                          </m:dPr>
                          <m:e>
                            <m:r>
                              <a:rPr lang="en-US" b="0" i="1" smtClean="0">
                                <a:solidFill>
                                  <a:srgbClr val="7030A0"/>
                                </a:solidFill>
                                <a:latin typeface="Cambria Math" panose="02040503050406030204" pitchFamily="18" charset="0"/>
                                <a:ea typeface="Cambria Math" panose="02040503050406030204" pitchFamily="18" charset="0"/>
                              </a:rPr>
                              <m:t>𝑎</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𝑏</m:t>
                            </m:r>
                          </m:e>
                        </m:d>
                      </m:num>
                      <m:den>
                        <m:r>
                          <a:rPr lang="en-US" b="0" i="1" smtClean="0">
                            <a:solidFill>
                              <a:srgbClr val="7030A0"/>
                            </a:solidFill>
                            <a:latin typeface="Cambria Math" panose="02040503050406030204" pitchFamily="18" charset="0"/>
                            <a:ea typeface="Cambria Math" panose="02040503050406030204" pitchFamily="18" charset="0"/>
                          </a:rPr>
                          <m:t>2</m:t>
                        </m:r>
                      </m:den>
                    </m:f>
                    <m:r>
                      <a:rPr lang="en-US" i="1">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0</m:t>
                    </m:r>
                  </m:oMath>
                </a14:m>
                <a:endParaRPr lang="en-US" dirty="0">
                  <a:solidFill>
                    <a:srgbClr val="7030A0"/>
                  </a:solidFill>
                  <a:latin typeface="Cambria Math" panose="02040503050406030204" pitchFamily="18" charset="0"/>
                  <a:ea typeface="Cambria Math" panose="02040503050406030204" pitchFamily="18" charset="0"/>
                </a:endParaRPr>
              </a:p>
              <a:p>
                <a:pPr marL="0" indent="0">
                  <a:buNone/>
                </a:pPr>
                <a:endParaRPr lang="en-US" dirty="0">
                  <a:solidFill>
                    <a:srgbClr val="FF0000"/>
                  </a:solidFill>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063690"/>
                <a:ext cx="10515600" cy="5113273"/>
              </a:xfrm>
              <a:blipFill>
                <a:blip r:embed="rId2"/>
                <a:stretch>
                  <a:fillRect l="-1043" t="-2026"/>
                </a:stretch>
              </a:blipFill>
            </p:spPr>
            <p:txBody>
              <a:bodyPr/>
              <a:lstStyle/>
              <a:p>
                <a:r>
                  <a:rPr lang="en-US">
                    <a:noFill/>
                  </a:rPr>
                  <a:t> </a:t>
                </a:r>
              </a:p>
            </p:txBody>
          </p:sp>
        </mc:Fallback>
      </mc:AlternateContent>
    </p:spTree>
    <p:extLst>
      <p:ext uri="{BB962C8B-B14F-4D97-AF65-F5344CB8AC3E}">
        <p14:creationId xmlns:p14="http://schemas.microsoft.com/office/powerpoint/2010/main" val="10711742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5564" y="18255"/>
            <a:ext cx="10515600" cy="896145"/>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Examples – </a:t>
            </a:r>
            <a:r>
              <a:rPr lang="en-US" sz="3600" dirty="0">
                <a:solidFill>
                  <a:srgbClr val="C00000"/>
                </a:solidFill>
                <a:latin typeface="Cambria Math" panose="02040503050406030204" pitchFamily="18" charset="0"/>
                <a:ea typeface="Cambria Math" panose="02040503050406030204" pitchFamily="18" charset="0"/>
              </a:rPr>
              <a:t>Express  in Mathematical Notation </a:t>
            </a:r>
            <a:endParaRPr lang="en-US" dirty="0">
              <a:solidFill>
                <a:srgbClr val="C00000"/>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838200" y="1091682"/>
            <a:ext cx="10515600" cy="5085281"/>
          </a:xfrm>
        </p:spPr>
        <p:txBody>
          <a:bodyPr/>
          <a:lstStyle/>
          <a:p>
            <a:r>
              <a:rPr lang="en-US" dirty="0">
                <a:latin typeface="Cambria Math" panose="02040503050406030204" pitchFamily="18" charset="0"/>
                <a:ea typeface="Cambria Math" panose="02040503050406030204" pitchFamily="18" charset="0"/>
              </a:rPr>
              <a:t>Product of two negative integers is positive.</a:t>
            </a:r>
          </a:p>
          <a:p>
            <a:r>
              <a:rPr lang="en-US" dirty="0">
                <a:solidFill>
                  <a:schemeClr val="tx1"/>
                </a:solidFill>
                <a:latin typeface="Cambria Math" panose="02040503050406030204" pitchFamily="18" charset="0"/>
                <a:ea typeface="Cambria Math" panose="02040503050406030204" pitchFamily="18" charset="0"/>
              </a:rPr>
              <a:t>Average of two positive integers in positive.</a:t>
            </a:r>
          </a:p>
          <a:p>
            <a:r>
              <a:rPr lang="en-US" dirty="0">
                <a:solidFill>
                  <a:srgbClr val="C00000"/>
                </a:solidFill>
                <a:latin typeface="Cambria Math" panose="02040503050406030204" pitchFamily="18" charset="0"/>
                <a:ea typeface="Cambria Math" panose="02040503050406030204" pitchFamily="18" charset="0"/>
              </a:rPr>
              <a:t>The difference of two negative integers is not necessarily negative.</a:t>
            </a:r>
          </a:p>
        </p:txBody>
      </p:sp>
    </p:spTree>
    <p:extLst>
      <p:ext uri="{BB962C8B-B14F-4D97-AF65-F5344CB8AC3E}">
        <p14:creationId xmlns:p14="http://schemas.microsoft.com/office/powerpoint/2010/main" val="20615032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555" y="18256"/>
            <a:ext cx="10515600" cy="914806"/>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Examples – </a:t>
            </a:r>
            <a:r>
              <a:rPr lang="en-US" sz="3600" dirty="0">
                <a:solidFill>
                  <a:srgbClr val="C00000"/>
                </a:solidFill>
                <a:latin typeface="Cambria Math" panose="02040503050406030204" pitchFamily="18" charset="0"/>
                <a:ea typeface="Cambria Math" panose="02040503050406030204" pitchFamily="18" charset="0"/>
              </a:rPr>
              <a:t>Express  in Mathematical Notation </a:t>
            </a:r>
            <a:endParaRPr lang="en-US" dirty="0">
              <a:solidFill>
                <a:srgbClr val="C0000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278294"/>
                <a:ext cx="10515600" cy="4898669"/>
              </a:xfrm>
            </p:spPr>
            <p:txBody>
              <a:bodyPr/>
              <a:lstStyle/>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Product of two negative integers is positive.</a:t>
                </a:r>
              </a:p>
              <a:p>
                <a:pPr>
                  <a:buFont typeface="Wingdings" panose="05000000000000000000" pitchFamily="2" charset="2"/>
                  <a:buChar char="ü"/>
                </a:pPr>
                <a:r>
                  <a:rPr lang="en-US" dirty="0">
                    <a:solidFill>
                      <a:schemeClr val="tx1"/>
                    </a:solidFill>
                    <a:latin typeface="Cambria Math" panose="02040503050406030204" pitchFamily="18" charset="0"/>
                    <a:ea typeface="Cambria Math" panose="02040503050406030204" pitchFamily="18" charset="0"/>
                  </a:rPr>
                  <a:t>Average of two positive integers in positive.</a:t>
                </a:r>
              </a:p>
              <a:p>
                <a:pPr>
                  <a:buFont typeface="Wingdings" panose="05000000000000000000" pitchFamily="2" charset="2"/>
                  <a:buChar char="ü"/>
                </a:pPr>
                <a:r>
                  <a:rPr lang="en-US" dirty="0">
                    <a:solidFill>
                      <a:srgbClr val="C00000"/>
                    </a:solidFill>
                    <a:latin typeface="Cambria Math" panose="02040503050406030204" pitchFamily="18" charset="0"/>
                    <a:ea typeface="Cambria Math" panose="02040503050406030204" pitchFamily="18" charset="0"/>
                  </a:rPr>
                  <a:t>The difference of two negative integers is not necessarily negative</a:t>
                </a:r>
                <a:endParaRPr lang="en-US" dirty="0">
                  <a:solidFill>
                    <a:srgbClr val="FF0000"/>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𝑎</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𝑏</m:t>
                      </m:r>
                      <m:r>
                        <a:rPr lang="en-US" b="0" i="1" smtClean="0">
                          <a:solidFill>
                            <a:srgbClr val="7030A0"/>
                          </a:solidFill>
                          <a:latin typeface="Cambria Math" panose="02040503050406030204" pitchFamily="18" charset="0"/>
                          <a:ea typeface="Cambria Math" panose="02040503050406030204" pitchFamily="18" charset="0"/>
                        </a:rPr>
                        <m:t>∈</m:t>
                      </m:r>
                      <m:sSup>
                        <m:sSupPr>
                          <m:ctrlPr>
                            <a:rPr lang="en-US" b="0" i="1" smtClean="0">
                              <a:solidFill>
                                <a:srgbClr val="7030A0"/>
                              </a:solidFill>
                              <a:latin typeface="Cambria Math" panose="02040503050406030204" pitchFamily="18" charset="0"/>
                              <a:ea typeface="Cambria Math" panose="02040503050406030204" pitchFamily="18" charset="0"/>
                            </a:rPr>
                          </m:ctrlPr>
                        </m:sSupPr>
                        <m:e>
                          <m:r>
                            <a:rPr lang="en-US" b="0" i="1" smtClean="0">
                              <a:solidFill>
                                <a:srgbClr val="7030A0"/>
                              </a:solidFill>
                              <a:latin typeface="Cambria Math" panose="02040503050406030204" pitchFamily="18" charset="0"/>
                              <a:ea typeface="Cambria Math" panose="02040503050406030204" pitchFamily="18" charset="0"/>
                            </a:rPr>
                            <m:t>𝑍</m:t>
                          </m:r>
                        </m:e>
                        <m:sup>
                          <m:r>
                            <a:rPr lang="en-US" b="0" i="1" smtClean="0">
                              <a:solidFill>
                                <a:srgbClr val="7030A0"/>
                              </a:solidFill>
                              <a:latin typeface="Cambria Math" panose="02040503050406030204" pitchFamily="18" charset="0"/>
                              <a:ea typeface="Cambria Math" panose="02040503050406030204" pitchFamily="18" charset="0"/>
                            </a:rPr>
                            <m:t>−</m:t>
                          </m:r>
                        </m:sup>
                      </m:sSup>
                      <m:r>
                        <a:rPr lang="en-US" b="0" i="1" smtClean="0">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𝑎</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𝑏</m:t>
                      </m:r>
                      <m:r>
                        <a:rPr lang="en-US" i="1">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0 </m:t>
                      </m:r>
                      <m:r>
                        <a:rPr lang="en-US" b="0" i="1" smtClean="0">
                          <a:solidFill>
                            <a:srgbClr val="7030A0"/>
                          </a:solidFill>
                          <a:latin typeface="Cambria Math" panose="02040503050406030204" pitchFamily="18" charset="0"/>
                          <a:ea typeface="Cambria Math" panose="02040503050406030204" pitchFamily="18" charset="0"/>
                        </a:rPr>
                        <m:t>𝑜𝑟</m:t>
                      </m:r>
                      <m:r>
                        <a:rPr lang="en-US" b="0" i="1" smtClean="0">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𝑎</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𝑏</m:t>
                      </m:r>
                      <m:r>
                        <a:rPr lang="en-US" b="0" i="1" smtClean="0">
                          <a:solidFill>
                            <a:srgbClr val="7030A0"/>
                          </a:solidFill>
                          <a:latin typeface="Cambria Math" panose="02040503050406030204" pitchFamily="18" charset="0"/>
                          <a:ea typeface="Cambria Math" panose="02040503050406030204" pitchFamily="18" charset="0"/>
                        </a:rPr>
                        <m:t>&lt;0</m:t>
                      </m:r>
                    </m:oMath>
                  </m:oMathPara>
                </a14:m>
                <a:endParaRPr lang="en-US" b="0" dirty="0">
                  <a:solidFill>
                    <a:srgbClr val="7030A0"/>
                  </a:solidFill>
                  <a:latin typeface="Cambria Math" panose="02040503050406030204" pitchFamily="18" charset="0"/>
                  <a:ea typeface="Cambria Math" panose="02040503050406030204" pitchFamily="18" charset="0"/>
                </a:endParaRPr>
              </a:p>
              <a:p>
                <a:pPr>
                  <a:buFont typeface="Wingdings" panose="05000000000000000000" pitchFamily="2" charset="2"/>
                  <a:buChar char="ü"/>
                </a:pPr>
                <a:r>
                  <a:rPr lang="en-US" b="0" i="1" dirty="0">
                    <a:solidFill>
                      <a:srgbClr val="C00000"/>
                    </a:solidFill>
                    <a:latin typeface="Cambria Math" panose="02040503050406030204" pitchFamily="18" charset="0"/>
                    <a:ea typeface="Cambria Math" panose="02040503050406030204" pitchFamily="18" charset="0"/>
                  </a:rPr>
                  <a:t>Or we may write</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𝑎</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𝑏</m:t>
                      </m:r>
                      <m:r>
                        <a:rPr lang="en-US" b="0" i="1" smtClean="0">
                          <a:solidFill>
                            <a:srgbClr val="7030A0"/>
                          </a:solidFill>
                          <a:latin typeface="Cambria Math" panose="02040503050406030204" pitchFamily="18" charset="0"/>
                          <a:ea typeface="Cambria Math" panose="02040503050406030204" pitchFamily="18" charset="0"/>
                        </a:rPr>
                        <m:t>∈</m:t>
                      </m:r>
                      <m:sSup>
                        <m:sSupPr>
                          <m:ctrlPr>
                            <a:rPr lang="en-US" b="0" i="1" smtClean="0">
                              <a:solidFill>
                                <a:srgbClr val="7030A0"/>
                              </a:solidFill>
                              <a:latin typeface="Cambria Math" panose="02040503050406030204" pitchFamily="18" charset="0"/>
                              <a:ea typeface="Cambria Math" panose="02040503050406030204" pitchFamily="18" charset="0"/>
                            </a:rPr>
                          </m:ctrlPr>
                        </m:sSupPr>
                        <m:e>
                          <m:r>
                            <a:rPr lang="en-US" b="0" i="1" smtClean="0">
                              <a:solidFill>
                                <a:srgbClr val="7030A0"/>
                              </a:solidFill>
                              <a:latin typeface="Cambria Math" panose="02040503050406030204" pitchFamily="18" charset="0"/>
                              <a:ea typeface="Cambria Math" panose="02040503050406030204" pitchFamily="18" charset="0"/>
                            </a:rPr>
                            <m:t>𝑍</m:t>
                          </m:r>
                        </m:e>
                        <m:sup>
                          <m:r>
                            <a:rPr lang="en-US" b="0" i="1" smtClean="0">
                              <a:solidFill>
                                <a:srgbClr val="7030A0"/>
                              </a:solidFill>
                              <a:latin typeface="Cambria Math" panose="02040503050406030204" pitchFamily="18" charset="0"/>
                              <a:ea typeface="Cambria Math" panose="02040503050406030204" pitchFamily="18" charset="0"/>
                            </a:rPr>
                            <m:t>−</m:t>
                          </m:r>
                        </m:sup>
                      </m:sSup>
                      <m:r>
                        <a:rPr lang="en-US" b="0" i="1" smtClean="0">
                          <a:solidFill>
                            <a:srgbClr val="7030A0"/>
                          </a:solidFill>
                          <a:latin typeface="Cambria Math" panose="02040503050406030204" pitchFamily="18" charset="0"/>
                          <a:ea typeface="Cambria Math" panose="02040503050406030204" pitchFamily="18" charset="0"/>
                        </a:rPr>
                        <m:t>,  </m:t>
                      </m:r>
                      <m:r>
                        <a:rPr lang="en-US" b="0" i="1" smtClean="0">
                          <a:solidFill>
                            <a:srgbClr val="7030A0"/>
                          </a:solidFill>
                          <a:latin typeface="Cambria Math" panose="02040503050406030204" pitchFamily="18" charset="0"/>
                          <a:ea typeface="Cambria Math" panose="02040503050406030204" pitchFamily="18" charset="0"/>
                        </a:rPr>
                        <m:t>𝑎</m:t>
                      </m:r>
                      <m:r>
                        <a:rPr lang="en-US" b="0" i="1" smtClean="0">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𝑏</m:t>
                      </m:r>
                      <m:r>
                        <a:rPr lang="en-US" i="1">
                          <a:solidFill>
                            <a:srgbClr val="7030A0"/>
                          </a:solidFill>
                          <a:latin typeface="Cambria Math" panose="02040503050406030204" pitchFamily="18" charset="0"/>
                          <a:ea typeface="Cambria Math" panose="02040503050406030204" pitchFamily="18" charset="0"/>
                        </a:rPr>
                        <m:t>≥</m:t>
                      </m:r>
                      <m:r>
                        <a:rPr lang="en-US" b="0" i="1" smtClean="0">
                          <a:solidFill>
                            <a:srgbClr val="7030A0"/>
                          </a:solidFill>
                          <a:latin typeface="Cambria Math" panose="02040503050406030204" pitchFamily="18" charset="0"/>
                          <a:ea typeface="Cambria Math" panose="02040503050406030204" pitchFamily="18" charset="0"/>
                        </a:rPr>
                        <m:t>0 </m:t>
                      </m:r>
                    </m:oMath>
                  </m:oMathPara>
                </a14:m>
                <a:endParaRPr lang="en-US" b="0" dirty="0">
                  <a:solidFill>
                    <a:srgbClr val="7030A0"/>
                  </a:solidFill>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278294"/>
                <a:ext cx="10515600" cy="4898669"/>
              </a:xfrm>
              <a:blipFill>
                <a:blip r:embed="rId2"/>
                <a:stretch>
                  <a:fillRect l="-1043" t="-2242"/>
                </a:stretch>
              </a:blipFill>
            </p:spPr>
            <p:txBody>
              <a:bodyPr/>
              <a:lstStyle/>
              <a:p>
                <a:r>
                  <a:rPr lang="en-US">
                    <a:noFill/>
                  </a:rPr>
                  <a:t> </a:t>
                </a:r>
              </a:p>
            </p:txBody>
          </p:sp>
        </mc:Fallback>
      </mc:AlternateContent>
    </p:spTree>
    <p:extLst>
      <p:ext uri="{BB962C8B-B14F-4D97-AF65-F5344CB8AC3E}">
        <p14:creationId xmlns:p14="http://schemas.microsoft.com/office/powerpoint/2010/main" val="20846601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910" y="-26858"/>
            <a:ext cx="10515600" cy="707895"/>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Examples – </a:t>
            </a:r>
            <a:r>
              <a:rPr lang="en-US" sz="3600" dirty="0">
                <a:solidFill>
                  <a:srgbClr val="C00000"/>
                </a:solidFill>
                <a:latin typeface="Cambria Math" panose="02040503050406030204" pitchFamily="18" charset="0"/>
                <a:ea typeface="Cambria Math" panose="02040503050406030204" pitchFamily="18" charset="0"/>
              </a:rPr>
              <a:t>Express  in Mathematical Notation </a:t>
            </a:r>
            <a:endParaRPr lang="en-US" dirty="0">
              <a:solidFill>
                <a:srgbClr val="C0000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026367"/>
                <a:ext cx="10515600" cy="5150596"/>
              </a:xfrm>
            </p:spPr>
            <p:txBody>
              <a:bodyPr/>
              <a:lstStyle/>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Product of two negative integers is positive.</a:t>
                </a:r>
              </a:p>
              <a:p>
                <a:pPr>
                  <a:buFont typeface="Wingdings" panose="05000000000000000000" pitchFamily="2" charset="2"/>
                  <a:buChar char="ü"/>
                </a:pPr>
                <a:r>
                  <a:rPr lang="en-US" dirty="0">
                    <a:solidFill>
                      <a:schemeClr val="tx1"/>
                    </a:solidFill>
                    <a:latin typeface="Cambria Math" panose="02040503050406030204" pitchFamily="18" charset="0"/>
                    <a:ea typeface="Cambria Math" panose="02040503050406030204" pitchFamily="18" charset="0"/>
                  </a:rPr>
                  <a:t>Average of two positive integers in positive.</a:t>
                </a:r>
              </a:p>
              <a:p>
                <a:pPr>
                  <a:buFont typeface="Wingdings" panose="05000000000000000000" pitchFamily="2" charset="2"/>
                  <a:buChar char="ü"/>
                </a:pPr>
                <a:r>
                  <a:rPr lang="en-US" dirty="0">
                    <a:solidFill>
                      <a:schemeClr val="tx1"/>
                    </a:solidFill>
                    <a:latin typeface="Cambria Math" panose="02040503050406030204" pitchFamily="18" charset="0"/>
                    <a:ea typeface="Cambria Math" panose="02040503050406030204" pitchFamily="18" charset="0"/>
                  </a:rPr>
                  <a:t>The difference of two negative integers is not necessarily negative.</a:t>
                </a:r>
              </a:p>
              <a:p>
                <a:pPr>
                  <a:buFont typeface="Wingdings" panose="05000000000000000000" pitchFamily="2" charset="2"/>
                  <a:buChar char="ü"/>
                </a:pPr>
                <a:r>
                  <a:rPr lang="en-US" dirty="0">
                    <a:solidFill>
                      <a:srgbClr val="C00000"/>
                    </a:solidFill>
                    <a:latin typeface="Cambria Math" panose="02040503050406030204" pitchFamily="18" charset="0"/>
                    <a:ea typeface="Cambria Math" panose="02040503050406030204" pitchFamily="18" charset="0"/>
                  </a:rPr>
                  <a:t>Absolute value of sum of two integers does not exceed the sum of the absolute values of these integers.</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𝑥</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𝑦</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𝑍</m:t>
                      </m:r>
                      <m:r>
                        <a:rPr lang="en-US" b="0" i="1" smtClean="0">
                          <a:solidFill>
                            <a:srgbClr val="7030A0"/>
                          </a:solidFill>
                          <a:latin typeface="Cambria Math" panose="02040503050406030204" pitchFamily="18" charset="0"/>
                        </a:rPr>
                        <m:t>,  </m:t>
                      </m:r>
                      <m:d>
                        <m:dPr>
                          <m:begChr m:val="|"/>
                          <m:endChr m:val="|"/>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𝑥</m:t>
                          </m:r>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𝑦</m:t>
                          </m:r>
                        </m:e>
                      </m:d>
                      <m:r>
                        <a:rPr lang="en-US" b="0" i="1" smtClean="0">
                          <a:solidFill>
                            <a:srgbClr val="7030A0"/>
                          </a:solidFill>
                          <a:latin typeface="Cambria Math" panose="02040503050406030204" pitchFamily="18" charset="0"/>
                        </a:rPr>
                        <m:t>≤</m:t>
                      </m:r>
                      <m:d>
                        <m:dPr>
                          <m:begChr m:val="|"/>
                          <m:endChr m:val="|"/>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𝑥</m:t>
                          </m:r>
                        </m:e>
                      </m:d>
                      <m:r>
                        <a:rPr lang="en-US" b="0" i="1" smtClean="0">
                          <a:solidFill>
                            <a:srgbClr val="7030A0"/>
                          </a:solidFill>
                          <a:latin typeface="Cambria Math" panose="02040503050406030204" pitchFamily="18" charset="0"/>
                        </a:rPr>
                        <m:t>+</m:t>
                      </m:r>
                      <m:d>
                        <m:dPr>
                          <m:begChr m:val="|"/>
                          <m:endChr m:val="|"/>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𝑦</m:t>
                          </m:r>
                        </m:e>
                      </m:d>
                    </m:oMath>
                  </m:oMathPara>
                </a14:m>
                <a:endParaRPr lang="en-US"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026367"/>
                <a:ext cx="10515600" cy="5150596"/>
              </a:xfrm>
              <a:blipFill>
                <a:blip r:embed="rId2"/>
                <a:stretch>
                  <a:fillRect l="-1043" t="-2012" r="-580"/>
                </a:stretch>
              </a:blipFill>
            </p:spPr>
            <p:txBody>
              <a:bodyPr/>
              <a:lstStyle/>
              <a:p>
                <a:r>
                  <a:rPr lang="en-US">
                    <a:noFill/>
                  </a:rPr>
                  <a:t> </a:t>
                </a:r>
              </a:p>
            </p:txBody>
          </p:sp>
        </mc:Fallback>
      </mc:AlternateContent>
    </p:spTree>
    <p:extLst>
      <p:ext uri="{BB962C8B-B14F-4D97-AF65-F5344CB8AC3E}">
        <p14:creationId xmlns:p14="http://schemas.microsoft.com/office/powerpoint/2010/main" val="20798791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4946" y="397946"/>
            <a:ext cx="9149653" cy="627736"/>
          </a:xfrm>
          <a:prstGeom prst="rect">
            <a:avLst/>
          </a:prstGeom>
        </p:spPr>
        <p:txBody>
          <a:bodyPr vert="horz" wrap="square" lIns="0" tIns="12065" rIns="0" bIns="0" rtlCol="0" anchor="ctr">
            <a:spAutoFit/>
          </a:bodyPr>
          <a:lstStyle/>
          <a:p>
            <a:pPr marL="12700">
              <a:lnSpc>
                <a:spcPct val="100000"/>
              </a:lnSpc>
              <a:spcBef>
                <a:spcPts val="95"/>
              </a:spcBef>
            </a:pPr>
            <a:r>
              <a:rPr sz="4000" spc="-10" dirty="0">
                <a:latin typeface="Cambria Math" panose="02040503050406030204" pitchFamily="18" charset="0"/>
                <a:ea typeface="Cambria Math" panose="02040503050406030204" pitchFamily="18" charset="0"/>
                <a:cs typeface="Calibri"/>
              </a:rPr>
              <a:t>Quantifiers with </a:t>
            </a:r>
            <a:r>
              <a:rPr sz="4000" spc="-20" dirty="0">
                <a:latin typeface="Cambria Math" panose="02040503050406030204" pitchFamily="18" charset="0"/>
                <a:ea typeface="Cambria Math" panose="02040503050406030204" pitchFamily="18" charset="0"/>
                <a:cs typeface="Calibri"/>
              </a:rPr>
              <a:t>Restricted</a:t>
            </a:r>
            <a:r>
              <a:rPr sz="4000" spc="55" dirty="0">
                <a:latin typeface="Cambria Math" panose="02040503050406030204" pitchFamily="18" charset="0"/>
                <a:ea typeface="Cambria Math" panose="02040503050406030204" pitchFamily="18" charset="0"/>
                <a:cs typeface="Calibri"/>
              </a:rPr>
              <a:t> </a:t>
            </a:r>
            <a:r>
              <a:rPr sz="4000" spc="-5" dirty="0">
                <a:latin typeface="Cambria Math" panose="02040503050406030204" pitchFamily="18" charset="0"/>
                <a:ea typeface="Cambria Math" panose="02040503050406030204" pitchFamily="18" charset="0"/>
                <a:cs typeface="Calibri"/>
              </a:rPr>
              <a:t>Domains</a:t>
            </a:r>
            <a:endParaRPr sz="4000" dirty="0">
              <a:latin typeface="Cambria Math" panose="02040503050406030204" pitchFamily="18" charset="0"/>
              <a:ea typeface="Cambria Math" panose="02040503050406030204" pitchFamily="18" charset="0"/>
              <a:cs typeface="Calibri"/>
            </a:endParaRPr>
          </a:p>
        </p:txBody>
      </p:sp>
      <p:sp>
        <p:nvSpPr>
          <p:cNvPr id="3" name="object 3"/>
          <p:cNvSpPr txBox="1"/>
          <p:nvPr/>
        </p:nvSpPr>
        <p:spPr>
          <a:xfrm>
            <a:off x="1521173" y="1493534"/>
            <a:ext cx="9149654" cy="3870931"/>
          </a:xfrm>
          <a:prstGeom prst="rect">
            <a:avLst/>
          </a:prstGeom>
        </p:spPr>
        <p:txBody>
          <a:bodyPr vert="horz" wrap="square" lIns="0" tIns="13335" rIns="0" bIns="0" rtlCol="0">
            <a:spAutoFit/>
          </a:bodyPr>
          <a:lstStyle/>
          <a:p>
            <a:pPr marL="355600" indent="-342900">
              <a:spcBef>
                <a:spcPts val="105"/>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libri"/>
              </a:rPr>
              <a:t>An </a:t>
            </a:r>
            <a:r>
              <a:rPr sz="3200" spc="-10" dirty="0">
                <a:latin typeface="Cambria Math" panose="02040503050406030204" pitchFamily="18" charset="0"/>
                <a:ea typeface="Cambria Math" panose="02040503050406030204" pitchFamily="18" charset="0"/>
                <a:cs typeface="Calibri"/>
              </a:rPr>
              <a:t>abbreviated notation </a:t>
            </a:r>
            <a:r>
              <a:rPr sz="3200" dirty="0">
                <a:latin typeface="Cambria Math" panose="02040503050406030204" pitchFamily="18" charset="0"/>
                <a:ea typeface="Cambria Math" panose="02040503050406030204" pitchFamily="18" charset="0"/>
                <a:cs typeface="Calibri"/>
              </a:rPr>
              <a:t>is </a:t>
            </a:r>
            <a:r>
              <a:rPr sz="3200" spc="-5" dirty="0">
                <a:latin typeface="Cambria Math" panose="02040503050406030204" pitchFamily="18" charset="0"/>
                <a:ea typeface="Cambria Math" panose="02040503050406030204" pitchFamily="18" charset="0"/>
                <a:cs typeface="Calibri"/>
              </a:rPr>
              <a:t>used </a:t>
            </a:r>
            <a:r>
              <a:rPr sz="3200" spc="-15" dirty="0">
                <a:latin typeface="Cambria Math" panose="02040503050406030204" pitchFamily="18" charset="0"/>
                <a:ea typeface="Cambria Math" panose="02040503050406030204" pitchFamily="18" charset="0"/>
                <a:cs typeface="Calibri"/>
              </a:rPr>
              <a:t>to </a:t>
            </a:r>
            <a:r>
              <a:rPr sz="3200" spc="-10" dirty="0">
                <a:latin typeface="Cambria Math" panose="02040503050406030204" pitchFamily="18" charset="0"/>
                <a:ea typeface="Cambria Math" panose="02040503050406030204" pitchFamily="18" charset="0"/>
                <a:cs typeface="Calibri"/>
              </a:rPr>
              <a:t>restrict</a:t>
            </a:r>
            <a:r>
              <a:rPr sz="3200" spc="5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the</a:t>
            </a:r>
          </a:p>
          <a:p>
            <a:pPr marL="355600"/>
            <a:r>
              <a:rPr sz="3200" spc="-5" dirty="0">
                <a:latin typeface="Cambria Math" panose="02040503050406030204" pitchFamily="18" charset="0"/>
                <a:ea typeface="Cambria Math" panose="02040503050406030204" pitchFamily="18" charset="0"/>
                <a:cs typeface="Calibri"/>
              </a:rPr>
              <a:t>domain of </a:t>
            </a:r>
            <a:r>
              <a:rPr sz="3200" dirty="0">
                <a:latin typeface="Cambria Math" panose="02040503050406030204" pitchFamily="18" charset="0"/>
                <a:ea typeface="Cambria Math" panose="02040503050406030204" pitchFamily="18" charset="0"/>
                <a:cs typeface="Calibri"/>
              </a:rPr>
              <a:t>a</a:t>
            </a:r>
            <a:r>
              <a:rPr sz="3200" spc="25" dirty="0">
                <a:latin typeface="Cambria Math" panose="02040503050406030204" pitchFamily="18" charset="0"/>
                <a:ea typeface="Cambria Math" panose="02040503050406030204" pitchFamily="18" charset="0"/>
                <a:cs typeface="Calibri"/>
              </a:rPr>
              <a:t> </a:t>
            </a:r>
            <a:r>
              <a:rPr sz="3200" spc="-35" dirty="0">
                <a:latin typeface="Cambria Math" panose="02040503050406030204" pitchFamily="18" charset="0"/>
                <a:ea typeface="Cambria Math" panose="02040503050406030204" pitchFamily="18" charset="0"/>
                <a:cs typeface="Calibri"/>
              </a:rPr>
              <a:t>quantifier.</a:t>
            </a:r>
            <a:endParaRPr sz="3200" dirty="0">
              <a:latin typeface="Cambria Math" panose="02040503050406030204" pitchFamily="18" charset="0"/>
              <a:ea typeface="Cambria Math" panose="02040503050406030204" pitchFamily="18" charset="0"/>
              <a:cs typeface="Calibri"/>
            </a:endParaRPr>
          </a:p>
          <a:p>
            <a:pPr marL="355600" indent="-342900">
              <a:spcBef>
                <a:spcPts val="765"/>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libri"/>
              </a:rPr>
              <a:t>a </a:t>
            </a:r>
            <a:r>
              <a:rPr sz="3200" spc="-5" dirty="0">
                <a:latin typeface="Cambria Math" panose="02040503050406030204" pitchFamily="18" charset="0"/>
                <a:ea typeface="Cambria Math" panose="02040503050406030204" pitchFamily="18" charset="0"/>
                <a:cs typeface="Calibri"/>
              </a:rPr>
              <a:t>condition </a:t>
            </a:r>
            <a:r>
              <a:rPr sz="3200" dirty="0">
                <a:latin typeface="Cambria Math" panose="02040503050406030204" pitchFamily="18" charset="0"/>
                <a:ea typeface="Cambria Math" panose="02040503050406030204" pitchFamily="18" charset="0"/>
                <a:cs typeface="Calibri"/>
              </a:rPr>
              <a:t>which </a:t>
            </a:r>
            <a:r>
              <a:rPr sz="3200" spc="-10" dirty="0">
                <a:latin typeface="Cambria Math" panose="02040503050406030204" pitchFamily="18" charset="0"/>
                <a:ea typeface="Cambria Math" panose="02040503050406030204" pitchFamily="18" charset="0"/>
                <a:cs typeface="Calibri"/>
              </a:rPr>
              <a:t>variable must satisfy</a:t>
            </a:r>
            <a:r>
              <a:rPr sz="3200" spc="90"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is</a:t>
            </a:r>
          </a:p>
          <a:p>
            <a:pPr marL="355600"/>
            <a:r>
              <a:rPr sz="3200" dirty="0">
                <a:latin typeface="Cambria Math" panose="02040503050406030204" pitchFamily="18" charset="0"/>
                <a:ea typeface="Cambria Math" panose="02040503050406030204" pitchFamily="18" charset="0"/>
                <a:cs typeface="Calibri"/>
              </a:rPr>
              <a:t>included </a:t>
            </a:r>
            <a:r>
              <a:rPr sz="3200" spc="-15" dirty="0">
                <a:latin typeface="Cambria Math" panose="02040503050406030204" pitchFamily="18" charset="0"/>
                <a:ea typeface="Cambria Math" panose="02040503050406030204" pitchFamily="18" charset="0"/>
                <a:cs typeface="Calibri"/>
              </a:rPr>
              <a:t>after </a:t>
            </a:r>
            <a:r>
              <a:rPr sz="3200" dirty="0">
                <a:latin typeface="Cambria Math" panose="02040503050406030204" pitchFamily="18" charset="0"/>
                <a:ea typeface="Cambria Math" panose="02040503050406030204" pitchFamily="18" charset="0"/>
                <a:cs typeface="Calibri"/>
              </a:rPr>
              <a:t>the</a:t>
            </a:r>
            <a:r>
              <a:rPr sz="3200" spc="50" dirty="0">
                <a:latin typeface="Cambria Math" panose="02040503050406030204" pitchFamily="18" charset="0"/>
                <a:ea typeface="Cambria Math" panose="02040503050406030204" pitchFamily="18" charset="0"/>
                <a:cs typeface="Calibri"/>
              </a:rPr>
              <a:t> </a:t>
            </a:r>
            <a:r>
              <a:rPr sz="3200" spc="-35" dirty="0">
                <a:latin typeface="Cambria Math" panose="02040503050406030204" pitchFamily="18" charset="0"/>
                <a:ea typeface="Cambria Math" panose="02040503050406030204" pitchFamily="18" charset="0"/>
                <a:cs typeface="Calibri"/>
              </a:rPr>
              <a:t>quantifier.</a:t>
            </a:r>
            <a:endParaRPr sz="3200" dirty="0">
              <a:latin typeface="Cambria Math" panose="02040503050406030204" pitchFamily="18" charset="0"/>
              <a:ea typeface="Cambria Math" panose="02040503050406030204" pitchFamily="18" charset="0"/>
              <a:cs typeface="Calibri"/>
            </a:endParaRPr>
          </a:p>
          <a:p>
            <a:pPr marL="12700">
              <a:spcBef>
                <a:spcPts val="770"/>
              </a:spcBef>
            </a:pPr>
            <a:r>
              <a:rPr sz="3200" b="1" spc="-5" dirty="0">
                <a:latin typeface="Cambria Math" panose="02040503050406030204" pitchFamily="18" charset="0"/>
                <a:ea typeface="Cambria Math" panose="02040503050406030204" pitchFamily="18" charset="0"/>
                <a:cs typeface="Calibri"/>
              </a:rPr>
              <a:t>Example:</a:t>
            </a:r>
            <a:endParaRPr sz="3200" dirty="0">
              <a:latin typeface="Cambria Math" panose="02040503050406030204" pitchFamily="18" charset="0"/>
              <a:ea typeface="Cambria Math" panose="02040503050406030204" pitchFamily="18" charset="0"/>
              <a:cs typeface="Calibri"/>
            </a:endParaRPr>
          </a:p>
          <a:p>
            <a:pPr marL="355600" indent="-342900">
              <a:spcBef>
                <a:spcPts val="790"/>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x &lt; </a:t>
            </a:r>
            <a:r>
              <a:rPr sz="3200" dirty="0">
                <a:latin typeface="Cambria Math" panose="02040503050406030204" pitchFamily="18" charset="0"/>
                <a:ea typeface="Cambria Math" panose="02040503050406030204" pitchFamily="18" charset="0"/>
                <a:cs typeface="Calibri"/>
              </a:rPr>
              <a:t>0 </a:t>
            </a:r>
            <a:r>
              <a:rPr sz="3200" i="1" spc="80" dirty="0">
                <a:latin typeface="Cambria Math" panose="02040503050406030204" pitchFamily="18" charset="0"/>
                <a:ea typeface="Cambria Math" panose="02040503050406030204" pitchFamily="18" charset="0"/>
                <a:cs typeface="Calibri"/>
              </a:rPr>
              <a:t>(</a:t>
            </a:r>
            <a:r>
              <a:rPr sz="3200" spc="80" dirty="0">
                <a:latin typeface="Cambria Math" panose="02040503050406030204" pitchFamily="18" charset="0"/>
                <a:ea typeface="Cambria Math" panose="02040503050406030204" pitchFamily="18" charset="0"/>
                <a:cs typeface="Cambria Math"/>
              </a:rPr>
              <a:t>𝑥</a:t>
            </a:r>
            <a:r>
              <a:rPr sz="3450" spc="120" baseline="28985" dirty="0">
                <a:latin typeface="Cambria Math" panose="02040503050406030204" pitchFamily="18" charset="0"/>
                <a:ea typeface="Cambria Math" panose="02040503050406030204" pitchFamily="18" charset="0"/>
                <a:cs typeface="Cambria Math"/>
              </a:rPr>
              <a:t>2</a:t>
            </a:r>
            <a:r>
              <a:rPr sz="3200" i="1" spc="80" dirty="0">
                <a:latin typeface="Cambria Math" panose="02040503050406030204" pitchFamily="18" charset="0"/>
                <a:ea typeface="Cambria Math" panose="02040503050406030204" pitchFamily="18" charset="0"/>
                <a:cs typeface="Calibri"/>
              </a:rPr>
              <a:t>&gt;</a:t>
            </a:r>
            <a:r>
              <a:rPr sz="3200" i="1" spc="-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0</a:t>
            </a:r>
            <a:r>
              <a:rPr sz="3200" i="1" spc="-5" dirty="0">
                <a:latin typeface="Cambria Math" panose="02040503050406030204" pitchFamily="18" charset="0"/>
                <a:ea typeface="Cambria Math" panose="02040503050406030204" pitchFamily="18" charset="0"/>
                <a:cs typeface="Calibri"/>
              </a:rPr>
              <a:t>)</a:t>
            </a:r>
            <a:endParaRPr sz="3200" dirty="0">
              <a:latin typeface="Cambria Math" panose="02040503050406030204" pitchFamily="18" charset="0"/>
              <a:ea typeface="Cambria Math" panose="02040503050406030204" pitchFamily="18" charset="0"/>
              <a:cs typeface="Calibri"/>
            </a:endParaRPr>
          </a:p>
          <a:p>
            <a:pPr marL="355600" indent="-342900">
              <a:spcBef>
                <a:spcPts val="765"/>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z &gt; </a:t>
            </a:r>
            <a:r>
              <a:rPr sz="3200" dirty="0">
                <a:latin typeface="Cambria Math" panose="02040503050406030204" pitchFamily="18" charset="0"/>
                <a:ea typeface="Cambria Math" panose="02040503050406030204" pitchFamily="18" charset="0"/>
                <a:cs typeface="Calibri"/>
              </a:rPr>
              <a:t>0 </a:t>
            </a:r>
            <a:r>
              <a:rPr sz="3200" i="1" spc="75" dirty="0">
                <a:latin typeface="Cambria Math" panose="02040503050406030204" pitchFamily="18" charset="0"/>
                <a:ea typeface="Cambria Math" panose="02040503050406030204" pitchFamily="18" charset="0"/>
                <a:cs typeface="Calibri"/>
              </a:rPr>
              <a:t>(</a:t>
            </a:r>
            <a:r>
              <a:rPr sz="3200" spc="75" dirty="0">
                <a:latin typeface="Cambria Math" panose="02040503050406030204" pitchFamily="18" charset="0"/>
                <a:ea typeface="Cambria Math" panose="02040503050406030204" pitchFamily="18" charset="0"/>
                <a:cs typeface="Cambria Math"/>
              </a:rPr>
              <a:t>𝑧</a:t>
            </a:r>
            <a:r>
              <a:rPr sz="3525" spc="112" baseline="28368" dirty="0">
                <a:latin typeface="Cambria Math" panose="02040503050406030204" pitchFamily="18" charset="0"/>
                <a:ea typeface="Cambria Math" panose="02040503050406030204" pitchFamily="18" charset="0"/>
                <a:cs typeface="Cambria Math"/>
              </a:rPr>
              <a:t>2</a:t>
            </a:r>
            <a:r>
              <a:rPr sz="3200" spc="75" dirty="0">
                <a:latin typeface="Cambria Math" panose="02040503050406030204" pitchFamily="18" charset="0"/>
                <a:ea typeface="Cambria Math" panose="02040503050406030204" pitchFamily="18" charset="0"/>
                <a:cs typeface="Calibri"/>
              </a:rPr>
              <a:t>=</a:t>
            </a:r>
            <a:r>
              <a:rPr sz="3200" spc="-20"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4</a:t>
            </a:r>
            <a:r>
              <a:rPr sz="3200" i="1" dirty="0">
                <a:latin typeface="Cambria Math" panose="02040503050406030204" pitchFamily="18" charset="0"/>
                <a:ea typeface="Cambria Math" panose="02040503050406030204" pitchFamily="18" charset="0"/>
                <a:cs typeface="Calibri"/>
              </a:rPr>
              <a:t>)</a:t>
            </a:r>
            <a:endParaRPr sz="3200" dirty="0">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63240" y="500583"/>
            <a:ext cx="8836559" cy="627736"/>
          </a:xfrm>
          <a:prstGeom prst="rect">
            <a:avLst/>
          </a:prstGeom>
        </p:spPr>
        <p:txBody>
          <a:bodyPr vert="horz" wrap="square" lIns="0" tIns="12065" rIns="0" bIns="0" rtlCol="0" anchor="ctr">
            <a:spAutoFit/>
          </a:bodyPr>
          <a:lstStyle/>
          <a:p>
            <a:pPr marL="12700">
              <a:lnSpc>
                <a:spcPct val="100000"/>
              </a:lnSpc>
              <a:spcBef>
                <a:spcPts val="95"/>
              </a:spcBef>
            </a:pPr>
            <a:r>
              <a:rPr sz="4000" spc="-10" dirty="0">
                <a:latin typeface="Cambria Math" panose="02040503050406030204" pitchFamily="18" charset="0"/>
                <a:ea typeface="Cambria Math" panose="02040503050406030204" pitchFamily="18" charset="0"/>
                <a:cs typeface="Calibri"/>
              </a:rPr>
              <a:t>Quantifiers with </a:t>
            </a:r>
            <a:r>
              <a:rPr sz="4000" spc="-20" dirty="0">
                <a:latin typeface="Cambria Math" panose="02040503050406030204" pitchFamily="18" charset="0"/>
                <a:ea typeface="Cambria Math" panose="02040503050406030204" pitchFamily="18" charset="0"/>
                <a:cs typeface="Calibri"/>
              </a:rPr>
              <a:t>Restricted</a:t>
            </a:r>
            <a:r>
              <a:rPr sz="4000" spc="55" dirty="0">
                <a:latin typeface="Cambria Math" panose="02040503050406030204" pitchFamily="18" charset="0"/>
                <a:ea typeface="Cambria Math" panose="02040503050406030204" pitchFamily="18" charset="0"/>
                <a:cs typeface="Calibri"/>
              </a:rPr>
              <a:t> </a:t>
            </a:r>
            <a:r>
              <a:rPr sz="4000" spc="-5" dirty="0">
                <a:latin typeface="Cambria Math" panose="02040503050406030204" pitchFamily="18" charset="0"/>
                <a:ea typeface="Cambria Math" panose="02040503050406030204" pitchFamily="18" charset="0"/>
                <a:cs typeface="Calibri"/>
              </a:rPr>
              <a:t>Domains</a:t>
            </a:r>
            <a:endParaRPr sz="4000" dirty="0">
              <a:latin typeface="Cambria Math" panose="02040503050406030204" pitchFamily="18" charset="0"/>
              <a:ea typeface="Cambria Math" panose="02040503050406030204" pitchFamily="18" charset="0"/>
              <a:cs typeface="Calibri"/>
            </a:endParaRPr>
          </a:p>
        </p:txBody>
      </p:sp>
      <p:sp>
        <p:nvSpPr>
          <p:cNvPr id="3" name="object 3"/>
          <p:cNvSpPr txBox="1"/>
          <p:nvPr/>
        </p:nvSpPr>
        <p:spPr>
          <a:xfrm>
            <a:off x="1101012" y="1208130"/>
            <a:ext cx="12370638" cy="4145365"/>
          </a:xfrm>
          <a:prstGeom prst="rect">
            <a:avLst/>
          </a:prstGeom>
        </p:spPr>
        <p:txBody>
          <a:bodyPr vert="horz" wrap="square" lIns="0" tIns="107314" rIns="0" bIns="0" rtlCol="0">
            <a:spAutoFit/>
          </a:bodyPr>
          <a:lstStyle/>
          <a:p>
            <a:pPr marL="12700">
              <a:spcBef>
                <a:spcPts val="844"/>
              </a:spcBef>
              <a:tabLst>
                <a:tab pos="527685" algn="l"/>
              </a:tabLst>
            </a:pPr>
            <a:r>
              <a:rPr sz="3200" spc="-5" dirty="0">
                <a:latin typeface="Cambria Math" panose="02040503050406030204" pitchFamily="18" charset="0"/>
                <a:ea typeface="Cambria Math" panose="02040503050406030204" pitchFamily="18" charset="0"/>
                <a:cs typeface="Calibri"/>
              </a:rPr>
              <a:t>1.	</a:t>
            </a: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x &lt; </a:t>
            </a:r>
            <a:r>
              <a:rPr sz="3200" dirty="0">
                <a:latin typeface="Cambria Math" panose="02040503050406030204" pitchFamily="18" charset="0"/>
                <a:ea typeface="Cambria Math" panose="02040503050406030204" pitchFamily="18" charset="0"/>
                <a:cs typeface="Calibri"/>
              </a:rPr>
              <a:t>0 </a:t>
            </a:r>
            <a:r>
              <a:rPr sz="3200" i="1" spc="80" dirty="0">
                <a:latin typeface="Cambria Math" panose="02040503050406030204" pitchFamily="18" charset="0"/>
                <a:ea typeface="Cambria Math" panose="02040503050406030204" pitchFamily="18" charset="0"/>
                <a:cs typeface="Calibri"/>
              </a:rPr>
              <a:t>(</a:t>
            </a:r>
            <a:r>
              <a:rPr sz="3200" spc="80" dirty="0">
                <a:latin typeface="Cambria Math" panose="02040503050406030204" pitchFamily="18" charset="0"/>
                <a:ea typeface="Cambria Math" panose="02040503050406030204" pitchFamily="18" charset="0"/>
                <a:cs typeface="Cambria Math"/>
              </a:rPr>
              <a:t>𝑥</a:t>
            </a:r>
            <a:r>
              <a:rPr sz="3450" spc="120" baseline="28985" dirty="0">
                <a:latin typeface="Cambria Math" panose="02040503050406030204" pitchFamily="18" charset="0"/>
                <a:ea typeface="Cambria Math" panose="02040503050406030204" pitchFamily="18" charset="0"/>
                <a:cs typeface="Cambria Math"/>
              </a:rPr>
              <a:t>2</a:t>
            </a:r>
            <a:r>
              <a:rPr sz="3200" i="1" spc="80" dirty="0">
                <a:latin typeface="Cambria Math" panose="02040503050406030204" pitchFamily="18" charset="0"/>
                <a:ea typeface="Cambria Math" panose="02040503050406030204" pitchFamily="18" charset="0"/>
                <a:cs typeface="Calibri"/>
              </a:rPr>
              <a:t>&gt;</a:t>
            </a:r>
            <a:r>
              <a:rPr sz="3200" i="1" spc="-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0</a:t>
            </a:r>
            <a:r>
              <a:rPr sz="3200" i="1" spc="-5" dirty="0">
                <a:latin typeface="Cambria Math" panose="02040503050406030204" pitchFamily="18" charset="0"/>
                <a:ea typeface="Cambria Math" panose="02040503050406030204" pitchFamily="18" charset="0"/>
                <a:cs typeface="Calibri"/>
              </a:rPr>
              <a:t>)</a:t>
            </a:r>
            <a:endParaRPr sz="3200" dirty="0">
              <a:latin typeface="Cambria Math" panose="02040503050406030204" pitchFamily="18" charset="0"/>
              <a:ea typeface="Cambria Math" panose="02040503050406030204" pitchFamily="18" charset="0"/>
              <a:cs typeface="Calibri"/>
            </a:endParaRPr>
          </a:p>
          <a:p>
            <a:pPr marL="12700">
              <a:spcBef>
                <a:spcPts val="740"/>
              </a:spcBef>
            </a:pPr>
            <a:r>
              <a:rPr sz="3200" dirty="0">
                <a:latin typeface="Cambria Math" panose="02040503050406030204" pitchFamily="18" charset="0"/>
                <a:ea typeface="Cambria Math" panose="02040503050406030204" pitchFamily="18" charset="0"/>
                <a:cs typeface="Calibri"/>
              </a:rPr>
              <a:t>Means </a:t>
            </a:r>
            <a:r>
              <a:rPr sz="3200" spc="-15" dirty="0">
                <a:latin typeface="Cambria Math" panose="02040503050406030204" pitchFamily="18" charset="0"/>
                <a:ea typeface="Cambria Math" panose="02040503050406030204" pitchFamily="18" charset="0"/>
                <a:cs typeface="Calibri"/>
              </a:rPr>
              <a:t>“For </a:t>
            </a:r>
            <a:r>
              <a:rPr sz="3200" spc="-10" dirty="0">
                <a:latin typeface="Cambria Math" panose="02040503050406030204" pitchFamily="18" charset="0"/>
                <a:ea typeface="Cambria Math" panose="02040503050406030204" pitchFamily="18" charset="0"/>
                <a:cs typeface="Calibri"/>
              </a:rPr>
              <a:t>every </a:t>
            </a:r>
            <a:r>
              <a:rPr sz="3200" dirty="0">
                <a:latin typeface="Cambria Math" panose="02040503050406030204" pitchFamily="18" charset="0"/>
                <a:ea typeface="Cambria Math" panose="02040503050406030204" pitchFamily="18" charset="0"/>
                <a:cs typeface="Calibri"/>
              </a:rPr>
              <a:t>x in the </a:t>
            </a:r>
            <a:r>
              <a:rPr sz="3200" spc="-5" dirty="0">
                <a:latin typeface="Cambria Math" panose="02040503050406030204" pitchFamily="18" charset="0"/>
                <a:ea typeface="Cambria Math" panose="02040503050406030204" pitchFamily="18" charset="0"/>
                <a:cs typeface="Calibri"/>
              </a:rPr>
              <a:t>domain </a:t>
            </a:r>
            <a:r>
              <a:rPr sz="3200" dirty="0">
                <a:latin typeface="Cambria Math" panose="02040503050406030204" pitchFamily="18" charset="0"/>
                <a:ea typeface="Cambria Math" panose="02040503050406030204" pitchFamily="18" charset="0"/>
                <a:cs typeface="Calibri"/>
              </a:rPr>
              <a:t>with x </a:t>
            </a:r>
            <a:r>
              <a:rPr sz="3200" i="1" dirty="0">
                <a:latin typeface="Cambria Math" panose="02040503050406030204" pitchFamily="18" charset="0"/>
                <a:ea typeface="Cambria Math" panose="02040503050406030204" pitchFamily="18" charset="0"/>
                <a:cs typeface="Calibri"/>
              </a:rPr>
              <a:t>&lt;</a:t>
            </a:r>
            <a:r>
              <a:rPr sz="3200" i="1" spc="2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0,</a:t>
            </a:r>
            <a:r>
              <a:rPr lang="en-US" sz="3200" dirty="0">
                <a:latin typeface="Cambria Math" panose="02040503050406030204" pitchFamily="18" charset="0"/>
                <a:ea typeface="Cambria Math" panose="02040503050406030204" pitchFamily="18" charset="0"/>
                <a:cs typeface="Calibri"/>
              </a:rPr>
              <a:t> </a:t>
            </a:r>
            <a:r>
              <a:rPr sz="3200" spc="114" dirty="0">
                <a:latin typeface="Cambria Math" panose="02040503050406030204" pitchFamily="18" charset="0"/>
                <a:ea typeface="Cambria Math" panose="02040503050406030204" pitchFamily="18" charset="0"/>
                <a:cs typeface="Cambria Math"/>
              </a:rPr>
              <a:t>𝑥</a:t>
            </a:r>
            <a:r>
              <a:rPr sz="3450" spc="172" baseline="28985" dirty="0">
                <a:latin typeface="Cambria Math" panose="02040503050406030204" pitchFamily="18" charset="0"/>
                <a:ea typeface="Cambria Math" panose="02040503050406030204" pitchFamily="18" charset="0"/>
                <a:cs typeface="Cambria Math"/>
              </a:rPr>
              <a:t>2</a:t>
            </a:r>
            <a:r>
              <a:rPr sz="3200" i="1" spc="114" dirty="0">
                <a:latin typeface="Cambria Math" panose="02040503050406030204" pitchFamily="18" charset="0"/>
                <a:ea typeface="Cambria Math" panose="02040503050406030204" pitchFamily="18" charset="0"/>
                <a:cs typeface="Calibri"/>
              </a:rPr>
              <a:t>&gt;</a:t>
            </a:r>
            <a:r>
              <a:rPr sz="3200" i="1"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0”</a:t>
            </a:r>
          </a:p>
          <a:p>
            <a:pPr marL="12700">
              <a:spcBef>
                <a:spcPts val="765"/>
              </a:spcBef>
              <a:tabLst>
                <a:tab pos="4491990" algn="l"/>
              </a:tabLst>
            </a:pPr>
            <a:r>
              <a:rPr sz="3200" spc="-10" dirty="0">
                <a:latin typeface="Cambria Math" panose="02040503050406030204" pitchFamily="18" charset="0"/>
                <a:ea typeface="Cambria Math" panose="02040503050406030204" pitchFamily="18" charset="0"/>
                <a:cs typeface="Calibri"/>
              </a:rPr>
              <a:t>Proposition </a:t>
            </a:r>
            <a:r>
              <a:rPr sz="3200" dirty="0">
                <a:latin typeface="Cambria Math" panose="02040503050406030204" pitchFamily="18" charset="0"/>
                <a:ea typeface="Cambria Math" panose="02040503050406030204" pitchFamily="18" charset="0"/>
                <a:cs typeface="Calibri"/>
              </a:rPr>
              <a:t>is </a:t>
            </a:r>
            <a:r>
              <a:rPr sz="3200" spc="-5" dirty="0">
                <a:latin typeface="Cambria Math" panose="02040503050406030204" pitchFamily="18" charset="0"/>
                <a:ea typeface="Cambria Math" panose="02040503050406030204" pitchFamily="18" charset="0"/>
                <a:cs typeface="Calibri"/>
              </a:rPr>
              <a:t>same</a:t>
            </a:r>
            <a:r>
              <a:rPr sz="3200" spc="2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as:</a:t>
            </a:r>
            <a:r>
              <a:rPr sz="3200" spc="1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x	</a:t>
            </a:r>
            <a:r>
              <a:rPr sz="3200" spc="-5" dirty="0">
                <a:latin typeface="Cambria Math" panose="02040503050406030204" pitchFamily="18" charset="0"/>
                <a:ea typeface="Cambria Math" panose="02040503050406030204" pitchFamily="18" charset="0"/>
                <a:cs typeface="Calibri"/>
              </a:rPr>
              <a:t>(x </a:t>
            </a:r>
            <a:r>
              <a:rPr sz="3200" i="1" dirty="0">
                <a:latin typeface="Cambria Math" panose="02040503050406030204" pitchFamily="18" charset="0"/>
                <a:ea typeface="Cambria Math" panose="02040503050406030204" pitchFamily="18" charset="0"/>
                <a:cs typeface="Calibri"/>
              </a:rPr>
              <a:t>&lt; </a:t>
            </a:r>
            <a:r>
              <a:rPr sz="3200" dirty="0">
                <a:latin typeface="Cambria Math" panose="02040503050406030204" pitchFamily="18" charset="0"/>
                <a:ea typeface="Cambria Math" panose="02040503050406030204" pitchFamily="18" charset="0"/>
                <a:cs typeface="Calibri"/>
              </a:rPr>
              <a:t>0 → </a:t>
            </a:r>
            <a:r>
              <a:rPr sz="3200" spc="110" dirty="0">
                <a:latin typeface="Cambria Math" panose="02040503050406030204" pitchFamily="18" charset="0"/>
                <a:ea typeface="Cambria Math" panose="02040503050406030204" pitchFamily="18" charset="0"/>
                <a:cs typeface="Cambria Math"/>
              </a:rPr>
              <a:t>𝑥</a:t>
            </a:r>
            <a:r>
              <a:rPr sz="3450" spc="165" baseline="28985" dirty="0">
                <a:latin typeface="Cambria Math" panose="02040503050406030204" pitchFamily="18" charset="0"/>
                <a:ea typeface="Cambria Math" panose="02040503050406030204" pitchFamily="18" charset="0"/>
                <a:cs typeface="Cambria Math"/>
              </a:rPr>
              <a:t>2 </a:t>
            </a:r>
            <a:r>
              <a:rPr sz="3200" i="1" dirty="0">
                <a:latin typeface="Cambria Math" panose="02040503050406030204" pitchFamily="18" charset="0"/>
                <a:ea typeface="Cambria Math" panose="02040503050406030204" pitchFamily="18" charset="0"/>
                <a:cs typeface="Calibri"/>
              </a:rPr>
              <a:t>&gt;</a:t>
            </a:r>
            <a:r>
              <a:rPr sz="3200" i="1" spc="-41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0</a:t>
            </a:r>
            <a:r>
              <a:rPr sz="3200" i="1" spc="-5" dirty="0">
                <a:latin typeface="Cambria Math" panose="02040503050406030204" pitchFamily="18" charset="0"/>
                <a:ea typeface="Cambria Math" panose="02040503050406030204" pitchFamily="18" charset="0"/>
                <a:cs typeface="Calibri"/>
              </a:rPr>
              <a:t>)</a:t>
            </a:r>
            <a:r>
              <a:rPr sz="3200" spc="-5" dirty="0">
                <a:latin typeface="Cambria Math" panose="02040503050406030204" pitchFamily="18" charset="0"/>
                <a:ea typeface="Cambria Math" panose="02040503050406030204" pitchFamily="18" charset="0"/>
                <a:cs typeface="Calibri"/>
              </a:rPr>
              <a:t>.</a:t>
            </a:r>
            <a:endParaRPr lang="en-US" sz="3200" spc="-5" dirty="0">
              <a:latin typeface="Cambria Math" panose="02040503050406030204" pitchFamily="18" charset="0"/>
              <a:ea typeface="Cambria Math" panose="02040503050406030204" pitchFamily="18" charset="0"/>
              <a:cs typeface="Calibri"/>
            </a:endParaRPr>
          </a:p>
          <a:p>
            <a:pPr marL="12700">
              <a:spcBef>
                <a:spcPts val="765"/>
              </a:spcBef>
              <a:tabLst>
                <a:tab pos="4491990" algn="l"/>
              </a:tabLst>
            </a:pPr>
            <a:endParaRPr sz="3200" dirty="0">
              <a:latin typeface="Cambria Math" panose="02040503050406030204" pitchFamily="18" charset="0"/>
              <a:ea typeface="Cambria Math" panose="02040503050406030204" pitchFamily="18" charset="0"/>
              <a:cs typeface="Calibri"/>
            </a:endParaRPr>
          </a:p>
          <a:p>
            <a:pPr marL="12700">
              <a:spcBef>
                <a:spcPts val="765"/>
              </a:spcBef>
              <a:tabLst>
                <a:tab pos="597535" algn="l"/>
              </a:tabLst>
            </a:pPr>
            <a:r>
              <a:rPr sz="3200" dirty="0">
                <a:latin typeface="Cambria Math" panose="02040503050406030204" pitchFamily="18" charset="0"/>
                <a:ea typeface="Cambria Math" panose="02040503050406030204" pitchFamily="18" charset="0"/>
                <a:cs typeface="Calibri"/>
              </a:rPr>
              <a:t>2.	</a:t>
            </a: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z &gt; </a:t>
            </a:r>
            <a:r>
              <a:rPr sz="3200" dirty="0">
                <a:latin typeface="Cambria Math" panose="02040503050406030204" pitchFamily="18" charset="0"/>
                <a:ea typeface="Cambria Math" panose="02040503050406030204" pitchFamily="18" charset="0"/>
                <a:cs typeface="Calibri"/>
              </a:rPr>
              <a:t>0 </a:t>
            </a:r>
            <a:r>
              <a:rPr sz="3200" i="1" spc="85" dirty="0">
                <a:latin typeface="Cambria Math" panose="02040503050406030204" pitchFamily="18" charset="0"/>
                <a:ea typeface="Cambria Math" panose="02040503050406030204" pitchFamily="18" charset="0"/>
                <a:cs typeface="Calibri"/>
              </a:rPr>
              <a:t>(</a:t>
            </a:r>
            <a:r>
              <a:rPr sz="3200" spc="85" dirty="0">
                <a:latin typeface="Cambria Math" panose="02040503050406030204" pitchFamily="18" charset="0"/>
                <a:ea typeface="Cambria Math" panose="02040503050406030204" pitchFamily="18" charset="0"/>
                <a:cs typeface="Cambria Math"/>
              </a:rPr>
              <a:t>𝑧</a:t>
            </a:r>
            <a:r>
              <a:rPr sz="3450" spc="127" baseline="28985" dirty="0">
                <a:latin typeface="Cambria Math" panose="02040503050406030204" pitchFamily="18" charset="0"/>
                <a:ea typeface="Cambria Math" panose="02040503050406030204" pitchFamily="18" charset="0"/>
                <a:cs typeface="Cambria Math"/>
              </a:rPr>
              <a:t>2</a:t>
            </a:r>
            <a:r>
              <a:rPr sz="3200" spc="85" dirty="0">
                <a:latin typeface="Cambria Math" panose="02040503050406030204" pitchFamily="18" charset="0"/>
                <a:ea typeface="Cambria Math" panose="02040503050406030204" pitchFamily="18" charset="0"/>
                <a:cs typeface="Calibri"/>
              </a:rPr>
              <a:t>=</a:t>
            </a:r>
            <a:r>
              <a:rPr sz="3200" spc="-1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4</a:t>
            </a:r>
            <a:r>
              <a:rPr sz="3200" i="1" dirty="0">
                <a:latin typeface="Cambria Math" panose="02040503050406030204" pitchFamily="18" charset="0"/>
                <a:ea typeface="Cambria Math" panose="02040503050406030204" pitchFamily="18" charset="0"/>
                <a:cs typeface="Calibri"/>
              </a:rPr>
              <a:t>)</a:t>
            </a:r>
            <a:endParaRPr sz="3200" dirty="0">
              <a:latin typeface="Cambria Math" panose="02040503050406030204" pitchFamily="18" charset="0"/>
              <a:ea typeface="Cambria Math" panose="02040503050406030204" pitchFamily="18" charset="0"/>
              <a:cs typeface="Calibri"/>
            </a:endParaRPr>
          </a:p>
          <a:p>
            <a:pPr marL="12700">
              <a:spcBef>
                <a:spcPts val="740"/>
              </a:spcBef>
            </a:pPr>
            <a:r>
              <a:rPr sz="3200" i="1" dirty="0">
                <a:latin typeface="Cambria Math" panose="02040503050406030204" pitchFamily="18" charset="0"/>
                <a:ea typeface="Cambria Math" panose="02040503050406030204" pitchFamily="18" charset="0"/>
                <a:cs typeface="Calibri"/>
              </a:rPr>
              <a:t>Means </a:t>
            </a:r>
            <a:r>
              <a:rPr sz="3200" i="1" spc="-10" dirty="0">
                <a:latin typeface="Cambria Math" panose="02040503050406030204" pitchFamily="18" charset="0"/>
                <a:ea typeface="Cambria Math" panose="02040503050406030204" pitchFamily="18" charset="0"/>
                <a:cs typeface="Calibri"/>
              </a:rPr>
              <a:t>“</a:t>
            </a:r>
            <a:r>
              <a:rPr sz="3200" spc="-10" dirty="0">
                <a:latin typeface="Cambria Math" panose="02040503050406030204" pitchFamily="18" charset="0"/>
                <a:ea typeface="Cambria Math" panose="02040503050406030204" pitchFamily="18" charset="0"/>
                <a:cs typeface="Calibri"/>
              </a:rPr>
              <a:t>There </a:t>
            </a:r>
            <a:r>
              <a:rPr sz="3200" dirty="0">
                <a:latin typeface="Cambria Math" panose="02040503050406030204" pitchFamily="18" charset="0"/>
                <a:ea typeface="Cambria Math" panose="02040503050406030204" pitchFamily="18" charset="0"/>
                <a:cs typeface="Calibri"/>
              </a:rPr>
              <a:t>is </a:t>
            </a:r>
            <a:r>
              <a:rPr sz="3200" spc="-5" dirty="0">
                <a:latin typeface="Cambria Math" panose="02040503050406030204" pitchFamily="18" charset="0"/>
                <a:ea typeface="Cambria Math" panose="02040503050406030204" pitchFamily="18" charset="0"/>
                <a:cs typeface="Calibri"/>
              </a:rPr>
              <a:t>some </a:t>
            </a:r>
            <a:r>
              <a:rPr sz="3200" dirty="0">
                <a:latin typeface="Cambria Math" panose="02040503050406030204" pitchFamily="18" charset="0"/>
                <a:ea typeface="Cambria Math" panose="02040503050406030204" pitchFamily="18" charset="0"/>
                <a:cs typeface="Calibri"/>
              </a:rPr>
              <a:t>z in the </a:t>
            </a:r>
            <a:r>
              <a:rPr sz="3200" spc="-5" dirty="0">
                <a:latin typeface="Cambria Math" panose="02040503050406030204" pitchFamily="18" charset="0"/>
                <a:ea typeface="Cambria Math" panose="02040503050406030204" pitchFamily="18" charset="0"/>
                <a:cs typeface="Calibri"/>
              </a:rPr>
              <a:t>domain </a:t>
            </a:r>
            <a:r>
              <a:rPr sz="3200" dirty="0">
                <a:latin typeface="Cambria Math" panose="02040503050406030204" pitchFamily="18" charset="0"/>
                <a:ea typeface="Cambria Math" panose="02040503050406030204" pitchFamily="18" charset="0"/>
                <a:cs typeface="Calibri"/>
              </a:rPr>
              <a:t>with </a:t>
            </a:r>
            <a:r>
              <a:rPr sz="3200" i="1" dirty="0">
                <a:latin typeface="Cambria Math" panose="02040503050406030204" pitchFamily="18" charset="0"/>
                <a:ea typeface="Cambria Math" panose="02040503050406030204" pitchFamily="18" charset="0"/>
                <a:cs typeface="Calibri"/>
              </a:rPr>
              <a:t>z &gt;</a:t>
            </a:r>
            <a:r>
              <a:rPr lang="en-US" sz="3200" i="1"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0, </a:t>
            </a:r>
            <a:r>
              <a:rPr sz="3200" spc="100" dirty="0">
                <a:latin typeface="Cambria Math" panose="02040503050406030204" pitchFamily="18" charset="0"/>
                <a:ea typeface="Cambria Math" panose="02040503050406030204" pitchFamily="18" charset="0"/>
                <a:cs typeface="Cambria Math"/>
              </a:rPr>
              <a:t>𝑧</a:t>
            </a:r>
            <a:r>
              <a:rPr sz="3525" spc="150" baseline="28368" dirty="0">
                <a:latin typeface="Cambria Math" panose="02040503050406030204" pitchFamily="18" charset="0"/>
                <a:ea typeface="Cambria Math" panose="02040503050406030204" pitchFamily="18" charset="0"/>
                <a:cs typeface="Cambria Math"/>
              </a:rPr>
              <a:t>2</a:t>
            </a:r>
            <a:r>
              <a:rPr sz="3200" spc="100" dirty="0">
                <a:latin typeface="Cambria Math" panose="02040503050406030204" pitchFamily="18" charset="0"/>
                <a:ea typeface="Cambria Math" panose="02040503050406030204" pitchFamily="18" charset="0"/>
                <a:cs typeface="Calibri"/>
              </a:rPr>
              <a:t>=</a:t>
            </a:r>
            <a:r>
              <a:rPr sz="3200" spc="-1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4</a:t>
            </a:r>
          </a:p>
          <a:p>
            <a:pPr marL="12700">
              <a:spcBef>
                <a:spcPts val="765"/>
              </a:spcBef>
            </a:pPr>
            <a:r>
              <a:rPr sz="3200" spc="-10" dirty="0">
                <a:latin typeface="Cambria Math" panose="02040503050406030204" pitchFamily="18" charset="0"/>
                <a:ea typeface="Cambria Math" panose="02040503050406030204" pitchFamily="18" charset="0"/>
                <a:cs typeface="Calibri"/>
              </a:rPr>
              <a:t>Proposition </a:t>
            </a:r>
            <a:r>
              <a:rPr sz="3200" dirty="0">
                <a:latin typeface="Cambria Math" panose="02040503050406030204" pitchFamily="18" charset="0"/>
                <a:ea typeface="Cambria Math" panose="02040503050406030204" pitchFamily="18" charset="0"/>
                <a:cs typeface="Calibri"/>
              </a:rPr>
              <a:t>is </a:t>
            </a:r>
            <a:r>
              <a:rPr sz="3200" spc="-5" dirty="0">
                <a:latin typeface="Cambria Math" panose="02040503050406030204" pitchFamily="18" charset="0"/>
                <a:ea typeface="Cambria Math" panose="02040503050406030204" pitchFamily="18" charset="0"/>
                <a:cs typeface="Calibri"/>
              </a:rPr>
              <a:t>same as: </a:t>
            </a:r>
            <a:r>
              <a:rPr sz="3200" dirty="0">
                <a:latin typeface="Cambria Math" panose="02040503050406030204" pitchFamily="18" charset="0"/>
                <a:ea typeface="Cambria Math" panose="02040503050406030204" pitchFamily="18" charset="0"/>
                <a:cs typeface="Cambria Math"/>
              </a:rPr>
              <a:t>∃</a:t>
            </a:r>
            <a:r>
              <a:rPr sz="3200" i="1" dirty="0">
                <a:latin typeface="Cambria Math" panose="02040503050406030204" pitchFamily="18" charset="0"/>
                <a:ea typeface="Cambria Math" panose="02040503050406030204" pitchFamily="18" charset="0"/>
                <a:cs typeface="Calibri"/>
              </a:rPr>
              <a:t>z </a:t>
            </a:r>
            <a:r>
              <a:rPr sz="3200" i="1" spc="-5" dirty="0">
                <a:latin typeface="Cambria Math" panose="02040503050406030204" pitchFamily="18" charset="0"/>
                <a:ea typeface="Cambria Math" panose="02040503050406030204" pitchFamily="18" charset="0"/>
                <a:cs typeface="Calibri"/>
              </a:rPr>
              <a:t>(z </a:t>
            </a:r>
            <a:r>
              <a:rPr sz="3200" i="1" dirty="0">
                <a:latin typeface="Cambria Math" panose="02040503050406030204" pitchFamily="18" charset="0"/>
                <a:ea typeface="Cambria Math" panose="02040503050406030204" pitchFamily="18" charset="0"/>
                <a:cs typeface="Calibri"/>
              </a:rPr>
              <a:t>&gt; </a:t>
            </a:r>
            <a:r>
              <a:rPr sz="3200" dirty="0">
                <a:latin typeface="Cambria Math" panose="02040503050406030204" pitchFamily="18" charset="0"/>
                <a:ea typeface="Cambria Math" panose="02040503050406030204" pitchFamily="18" charset="0"/>
                <a:cs typeface="Calibri"/>
              </a:rPr>
              <a:t>0 </a:t>
            </a:r>
            <a:r>
              <a:rPr sz="3200" dirty="0">
                <a:latin typeface="Cambria Math" panose="02040503050406030204" pitchFamily="18" charset="0"/>
                <a:ea typeface="Cambria Math" panose="02040503050406030204" pitchFamily="18" charset="0"/>
                <a:cs typeface="Cambria Math"/>
              </a:rPr>
              <a:t>∧ </a:t>
            </a:r>
            <a:r>
              <a:rPr sz="3200" spc="110" dirty="0">
                <a:latin typeface="Cambria Math" panose="02040503050406030204" pitchFamily="18" charset="0"/>
                <a:ea typeface="Cambria Math" panose="02040503050406030204" pitchFamily="18" charset="0"/>
                <a:cs typeface="Cambria Math"/>
              </a:rPr>
              <a:t>𝑧</a:t>
            </a:r>
            <a:r>
              <a:rPr sz="3450" spc="165" baseline="28985" dirty="0">
                <a:latin typeface="Cambria Math" panose="02040503050406030204" pitchFamily="18" charset="0"/>
                <a:ea typeface="Cambria Math" panose="02040503050406030204" pitchFamily="18" charset="0"/>
                <a:cs typeface="Cambria Math"/>
              </a:rPr>
              <a:t>2 </a:t>
            </a:r>
            <a:r>
              <a:rPr sz="3200" dirty="0">
                <a:latin typeface="Cambria Math" panose="02040503050406030204" pitchFamily="18" charset="0"/>
                <a:ea typeface="Cambria Math" panose="02040503050406030204" pitchFamily="18" charset="0"/>
                <a:cs typeface="Calibri"/>
              </a:rPr>
              <a:t>=</a:t>
            </a:r>
            <a:r>
              <a:rPr sz="3200" spc="-350"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4</a:t>
            </a:r>
            <a:r>
              <a:rPr sz="3200" i="1" dirty="0">
                <a:latin typeface="Cambria Math" panose="02040503050406030204" pitchFamily="18" charset="0"/>
                <a:ea typeface="Cambria Math" panose="02040503050406030204" pitchFamily="18" charset="0"/>
                <a:cs typeface="Calibri"/>
              </a:rPr>
              <a:t>)</a:t>
            </a:r>
            <a:r>
              <a:rPr sz="3200" dirty="0">
                <a:latin typeface="Cambria Math" panose="02040503050406030204" pitchFamily="18" charset="0"/>
                <a:ea typeface="Cambria Math" panose="02040503050406030204" pitchFamily="18" charset="0"/>
                <a:cs typeface="Calibri"/>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80130" y="464910"/>
            <a:ext cx="5673470" cy="690574"/>
          </a:xfrm>
          <a:prstGeom prst="rect">
            <a:avLst/>
          </a:prstGeom>
        </p:spPr>
        <p:txBody>
          <a:bodyPr vert="horz" wrap="square" lIns="0" tIns="13335" rIns="0" bIns="0" rtlCol="0" anchor="ctr">
            <a:spAutoFit/>
          </a:bodyPr>
          <a:lstStyle/>
          <a:p>
            <a:pPr marL="12700">
              <a:lnSpc>
                <a:spcPct val="100000"/>
              </a:lnSpc>
              <a:spcBef>
                <a:spcPts val="105"/>
              </a:spcBef>
            </a:pPr>
            <a:r>
              <a:rPr dirty="0">
                <a:latin typeface="Cambria Math" panose="02040503050406030204" pitchFamily="18" charset="0"/>
                <a:ea typeface="Cambria Math" panose="02040503050406030204" pitchFamily="18" charset="0"/>
                <a:cs typeface="Calibri"/>
              </a:rPr>
              <a:t>Binding</a:t>
            </a:r>
            <a:r>
              <a:rPr spc="-80" dirty="0">
                <a:latin typeface="Cambria Math" panose="02040503050406030204" pitchFamily="18" charset="0"/>
                <a:ea typeface="Cambria Math" panose="02040503050406030204" pitchFamily="18" charset="0"/>
                <a:cs typeface="Calibri"/>
              </a:rPr>
              <a:t> </a:t>
            </a:r>
            <a:r>
              <a:rPr spc="-30" dirty="0">
                <a:latin typeface="Cambria Math" panose="02040503050406030204" pitchFamily="18" charset="0"/>
                <a:ea typeface="Cambria Math" panose="02040503050406030204" pitchFamily="18" charset="0"/>
                <a:cs typeface="Calibri"/>
              </a:rPr>
              <a:t>Variables</a:t>
            </a:r>
          </a:p>
        </p:txBody>
      </p:sp>
      <p:sp>
        <p:nvSpPr>
          <p:cNvPr id="3" name="object 3"/>
          <p:cNvSpPr txBox="1"/>
          <p:nvPr/>
        </p:nvSpPr>
        <p:spPr>
          <a:xfrm>
            <a:off x="1369476" y="1253725"/>
            <a:ext cx="9836590" cy="4350550"/>
          </a:xfrm>
          <a:prstGeom prst="rect">
            <a:avLst/>
          </a:prstGeom>
        </p:spPr>
        <p:txBody>
          <a:bodyPr vert="horz" wrap="square" lIns="0" tIns="13335" rIns="0" bIns="0" rtlCol="0">
            <a:spAutoFit/>
          </a:bodyPr>
          <a:lstStyle/>
          <a:p>
            <a:pPr marL="355600" indent="-342900">
              <a:spcBef>
                <a:spcPts val="105"/>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libri"/>
              </a:rPr>
              <a:t>If </a:t>
            </a:r>
            <a:r>
              <a:rPr sz="3200" spc="-10" dirty="0">
                <a:latin typeface="Cambria Math" panose="02040503050406030204" pitchFamily="18" charset="0"/>
                <a:ea typeface="Cambria Math" panose="02040503050406030204" pitchFamily="18" charset="0"/>
                <a:cs typeface="Calibri"/>
              </a:rPr>
              <a:t>there </a:t>
            </a:r>
            <a:r>
              <a:rPr sz="3200" dirty="0">
                <a:latin typeface="Cambria Math" panose="02040503050406030204" pitchFamily="18" charset="0"/>
                <a:ea typeface="Cambria Math" panose="02040503050406030204" pitchFamily="18" charset="0"/>
                <a:cs typeface="Calibri"/>
              </a:rPr>
              <a:t>is a </a:t>
            </a:r>
            <a:r>
              <a:rPr sz="3200" spc="-5" dirty="0">
                <a:latin typeface="Cambria Math" panose="02040503050406030204" pitchFamily="18" charset="0"/>
                <a:ea typeface="Cambria Math" panose="02040503050406030204" pitchFamily="18" charset="0"/>
                <a:cs typeface="Calibri"/>
              </a:rPr>
              <a:t>quantifier used </a:t>
            </a:r>
            <a:r>
              <a:rPr sz="3200" dirty="0">
                <a:latin typeface="Cambria Math" panose="02040503050406030204" pitchFamily="18" charset="0"/>
                <a:ea typeface="Cambria Math" panose="02040503050406030204" pitchFamily="18" charset="0"/>
                <a:cs typeface="Calibri"/>
              </a:rPr>
              <a:t>on a </a:t>
            </a:r>
            <a:r>
              <a:rPr sz="3200" spc="-10" dirty="0">
                <a:latin typeface="Cambria Math" panose="02040503050406030204" pitchFamily="18" charset="0"/>
                <a:ea typeface="Cambria Math" panose="02040503050406030204" pitchFamily="18" charset="0"/>
                <a:cs typeface="Calibri"/>
              </a:rPr>
              <a:t>variable </a:t>
            </a:r>
            <a:r>
              <a:rPr sz="3200" spc="-5" dirty="0">
                <a:latin typeface="Cambria Math" panose="02040503050406030204" pitchFamily="18" charset="0"/>
                <a:ea typeface="Cambria Math" panose="02040503050406030204" pitchFamily="18" charset="0"/>
                <a:cs typeface="Calibri"/>
              </a:rPr>
              <a:t>x,</a:t>
            </a:r>
            <a:r>
              <a:rPr sz="3200" spc="85"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we</a:t>
            </a:r>
            <a:endParaRPr sz="3200" dirty="0">
              <a:latin typeface="Cambria Math" panose="02040503050406030204" pitchFamily="18" charset="0"/>
              <a:ea typeface="Cambria Math" panose="02040503050406030204" pitchFamily="18" charset="0"/>
              <a:cs typeface="Calibri"/>
            </a:endParaRPr>
          </a:p>
          <a:p>
            <a:pPr marL="355600"/>
            <a:r>
              <a:rPr sz="3200" spc="-20" dirty="0">
                <a:latin typeface="Cambria Math" panose="02040503050406030204" pitchFamily="18" charset="0"/>
                <a:ea typeface="Cambria Math" panose="02040503050406030204" pitchFamily="18" charset="0"/>
                <a:cs typeface="Calibri"/>
              </a:rPr>
              <a:t>say </a:t>
            </a:r>
            <a:r>
              <a:rPr sz="3200" dirty="0">
                <a:latin typeface="Cambria Math" panose="02040503050406030204" pitchFamily="18" charset="0"/>
                <a:ea typeface="Cambria Math" panose="02040503050406030204" pitchFamily="18" charset="0"/>
                <a:cs typeface="Calibri"/>
              </a:rPr>
              <a:t>the </a:t>
            </a:r>
            <a:r>
              <a:rPr sz="3200" spc="-10" dirty="0">
                <a:latin typeface="Cambria Math" panose="02040503050406030204" pitchFamily="18" charset="0"/>
                <a:ea typeface="Cambria Math" panose="02040503050406030204" pitchFamily="18" charset="0"/>
                <a:cs typeface="Calibri"/>
              </a:rPr>
              <a:t>variable </a:t>
            </a:r>
            <a:r>
              <a:rPr sz="3200" dirty="0">
                <a:latin typeface="Cambria Math" panose="02040503050406030204" pitchFamily="18" charset="0"/>
                <a:ea typeface="Cambria Math" panose="02040503050406030204" pitchFamily="18" charset="0"/>
                <a:cs typeface="Calibri"/>
              </a:rPr>
              <a:t>is </a:t>
            </a:r>
            <a:r>
              <a:rPr sz="3200" spc="-5" dirty="0">
                <a:solidFill>
                  <a:srgbClr val="FF0000"/>
                </a:solidFill>
                <a:latin typeface="Cambria Math" panose="02040503050406030204" pitchFamily="18" charset="0"/>
                <a:ea typeface="Cambria Math" panose="02040503050406030204" pitchFamily="18" charset="0"/>
                <a:cs typeface="Calibri"/>
              </a:rPr>
              <a:t>bound</a:t>
            </a:r>
            <a:r>
              <a:rPr sz="3200" spc="-5" dirty="0">
                <a:latin typeface="Cambria Math" panose="02040503050406030204" pitchFamily="18" charset="0"/>
                <a:ea typeface="Cambria Math" panose="02040503050406030204" pitchFamily="18" charset="0"/>
                <a:cs typeface="Calibri"/>
              </a:rPr>
              <a:t>. Else </a:t>
            </a:r>
            <a:r>
              <a:rPr sz="3200" dirty="0">
                <a:latin typeface="Cambria Math" panose="02040503050406030204" pitchFamily="18" charset="0"/>
                <a:ea typeface="Cambria Math" panose="02040503050406030204" pitchFamily="18" charset="0"/>
                <a:cs typeface="Calibri"/>
              </a:rPr>
              <a:t>it is</a:t>
            </a:r>
            <a:r>
              <a:rPr sz="3200" spc="55"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free.</a:t>
            </a:r>
            <a:endParaRPr sz="3200" dirty="0">
              <a:latin typeface="Cambria Math" panose="02040503050406030204" pitchFamily="18" charset="0"/>
              <a:ea typeface="Cambria Math" panose="02040503050406030204" pitchFamily="18" charset="0"/>
              <a:cs typeface="Calibri"/>
            </a:endParaRPr>
          </a:p>
          <a:p>
            <a:pPr marL="103505">
              <a:spcBef>
                <a:spcPts val="790"/>
              </a:spcBef>
            </a:pPr>
            <a:r>
              <a:rPr sz="3200" spc="-5" dirty="0">
                <a:latin typeface="Cambria Math" panose="02040503050406030204" pitchFamily="18" charset="0"/>
                <a:ea typeface="Cambria Math" panose="02040503050406030204" pitchFamily="18" charset="0"/>
                <a:cs typeface="Calibri"/>
              </a:rPr>
              <a:t>Ex: </a:t>
            </a:r>
            <a:r>
              <a:rPr sz="3200" dirty="0">
                <a:latin typeface="Cambria Math" panose="02040503050406030204" pitchFamily="18" charset="0"/>
                <a:ea typeface="Cambria Math" panose="02040503050406030204" pitchFamily="18" charset="0"/>
                <a:cs typeface="Calibri"/>
              </a:rPr>
              <a:t>In </a:t>
            </a:r>
            <a:r>
              <a:rPr sz="3200" dirty="0">
                <a:latin typeface="Cambria Math" panose="02040503050406030204" pitchFamily="18" charset="0"/>
                <a:ea typeface="Cambria Math" panose="02040503050406030204" pitchFamily="18" charset="0"/>
                <a:cs typeface="Cambria Math"/>
              </a:rPr>
              <a:t>∃ </a:t>
            </a:r>
            <a:r>
              <a:rPr sz="3200" dirty="0">
                <a:latin typeface="Cambria Math" panose="02040503050406030204" pitchFamily="18" charset="0"/>
                <a:ea typeface="Cambria Math" panose="02040503050406030204" pitchFamily="18" charset="0"/>
                <a:cs typeface="Calibri"/>
              </a:rPr>
              <a:t>x </a:t>
            </a:r>
            <a:r>
              <a:rPr sz="3200" spc="-5"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 y = 1 ) , x is </a:t>
            </a:r>
            <a:r>
              <a:rPr sz="3200" spc="-5" dirty="0">
                <a:solidFill>
                  <a:srgbClr val="FF0000"/>
                </a:solidFill>
                <a:latin typeface="Cambria Math" panose="02040503050406030204" pitchFamily="18" charset="0"/>
                <a:ea typeface="Cambria Math" panose="02040503050406030204" pitchFamily="18" charset="0"/>
                <a:cs typeface="Calibri"/>
              </a:rPr>
              <a:t>bound </a:t>
            </a:r>
            <a:r>
              <a:rPr sz="3200" spc="-5" dirty="0">
                <a:latin typeface="Cambria Math" panose="02040503050406030204" pitchFamily="18" charset="0"/>
                <a:ea typeface="Cambria Math" panose="02040503050406030204" pitchFamily="18" charset="0"/>
                <a:cs typeface="Calibri"/>
              </a:rPr>
              <a:t>and </a:t>
            </a:r>
            <a:r>
              <a:rPr sz="3200" dirty="0">
                <a:latin typeface="Cambria Math" panose="02040503050406030204" pitchFamily="18" charset="0"/>
                <a:ea typeface="Cambria Math" panose="02040503050406030204" pitchFamily="18" charset="0"/>
                <a:cs typeface="Calibri"/>
              </a:rPr>
              <a:t>y is</a:t>
            </a:r>
            <a:r>
              <a:rPr sz="3200" spc="65" dirty="0">
                <a:latin typeface="Cambria Math" panose="02040503050406030204" pitchFamily="18" charset="0"/>
                <a:ea typeface="Cambria Math" panose="02040503050406030204" pitchFamily="18" charset="0"/>
                <a:cs typeface="Calibri"/>
              </a:rPr>
              <a:t> </a:t>
            </a:r>
            <a:r>
              <a:rPr sz="3200" spc="-15" dirty="0">
                <a:solidFill>
                  <a:srgbClr val="FF0000"/>
                </a:solidFill>
                <a:latin typeface="Cambria Math" panose="02040503050406030204" pitchFamily="18" charset="0"/>
                <a:ea typeface="Cambria Math" panose="02040503050406030204" pitchFamily="18" charset="0"/>
                <a:cs typeface="Calibri"/>
              </a:rPr>
              <a:t>free</a:t>
            </a:r>
            <a:endParaRPr lang="en-US" sz="3200" spc="-15" dirty="0">
              <a:solidFill>
                <a:srgbClr val="FF0000"/>
              </a:solidFill>
              <a:latin typeface="Cambria Math" panose="02040503050406030204" pitchFamily="18" charset="0"/>
              <a:ea typeface="Cambria Math" panose="02040503050406030204" pitchFamily="18" charset="0"/>
              <a:cs typeface="Calibri"/>
            </a:endParaRPr>
          </a:p>
          <a:p>
            <a:pPr marL="103505">
              <a:spcBef>
                <a:spcPts val="790"/>
              </a:spcBef>
            </a:pPr>
            <a:endParaRPr sz="3200" dirty="0">
              <a:latin typeface="Cambria Math" panose="02040503050406030204" pitchFamily="18" charset="0"/>
              <a:ea typeface="Cambria Math" panose="02040503050406030204" pitchFamily="18" charset="0"/>
              <a:cs typeface="Calibri"/>
            </a:endParaRPr>
          </a:p>
          <a:p>
            <a:pPr marL="355600" marR="267335" indent="-342900" algn="just">
              <a:spcBef>
                <a:spcPts val="740"/>
              </a:spcBef>
              <a:buFont typeface="Arial"/>
              <a:buChar char="•"/>
              <a:tabLst>
                <a:tab pos="355600" algn="l"/>
              </a:tabLst>
            </a:pPr>
            <a:r>
              <a:rPr sz="3200" dirty="0">
                <a:latin typeface="Cambria Math" panose="02040503050406030204" pitchFamily="18" charset="0"/>
                <a:ea typeface="Cambria Math" panose="02040503050406030204" pitchFamily="18" charset="0"/>
                <a:cs typeface="Calibri"/>
              </a:rPr>
              <a:t>If </a:t>
            </a:r>
            <a:r>
              <a:rPr sz="3200" spc="-5" dirty="0">
                <a:latin typeface="Cambria Math" panose="02040503050406030204" pitchFamily="18" charset="0"/>
                <a:ea typeface="Cambria Math" panose="02040503050406030204" pitchFamily="18" charset="0"/>
                <a:cs typeface="Calibri"/>
              </a:rPr>
              <a:t>all </a:t>
            </a:r>
            <a:r>
              <a:rPr sz="3200" spc="-10" dirty="0">
                <a:latin typeface="Cambria Math" panose="02040503050406030204" pitchFamily="18" charset="0"/>
                <a:ea typeface="Cambria Math" panose="02040503050406030204" pitchFamily="18" charset="0"/>
                <a:cs typeface="Calibri"/>
              </a:rPr>
              <a:t>variables </a:t>
            </a:r>
            <a:r>
              <a:rPr sz="3200" dirty="0">
                <a:latin typeface="Cambria Math" panose="02040503050406030204" pitchFamily="18" charset="0"/>
                <a:ea typeface="Cambria Math" panose="02040503050406030204" pitchFamily="18" charset="0"/>
                <a:cs typeface="Calibri"/>
              </a:rPr>
              <a:t>in a </a:t>
            </a:r>
            <a:r>
              <a:rPr sz="3200" spc="-10" dirty="0">
                <a:latin typeface="Cambria Math" panose="02040503050406030204" pitchFamily="18" charset="0"/>
                <a:ea typeface="Cambria Math" panose="02040503050406030204" pitchFamily="18" charset="0"/>
                <a:cs typeface="Calibri"/>
              </a:rPr>
              <a:t>propositional </a:t>
            </a:r>
            <a:r>
              <a:rPr sz="3200" spc="-5" dirty="0">
                <a:latin typeface="Cambria Math" panose="02040503050406030204" pitchFamily="18" charset="0"/>
                <a:ea typeface="Cambria Math" panose="02040503050406030204" pitchFamily="18" charset="0"/>
                <a:cs typeface="Calibri"/>
              </a:rPr>
              <a:t>function </a:t>
            </a:r>
            <a:r>
              <a:rPr sz="3200" spc="-15" dirty="0">
                <a:latin typeface="Cambria Math" panose="02040503050406030204" pitchFamily="18" charset="0"/>
                <a:ea typeface="Cambria Math" panose="02040503050406030204" pitchFamily="18" charset="0"/>
                <a:cs typeface="Calibri"/>
              </a:rPr>
              <a:t>are  </a:t>
            </a:r>
            <a:r>
              <a:rPr sz="3200" spc="-5" dirty="0">
                <a:latin typeface="Cambria Math" panose="02040503050406030204" pitchFamily="18" charset="0"/>
                <a:ea typeface="Cambria Math" panose="02040503050406030204" pitchFamily="18" charset="0"/>
                <a:cs typeface="Calibri"/>
              </a:rPr>
              <a:t>bound or set </a:t>
            </a:r>
            <a:r>
              <a:rPr sz="3200" dirty="0">
                <a:latin typeface="Cambria Math" panose="02040503050406030204" pitchFamily="18" charset="0"/>
                <a:ea typeface="Cambria Math" panose="02040503050406030204" pitchFamily="18" charset="0"/>
                <a:cs typeface="Calibri"/>
              </a:rPr>
              <a:t>equal </a:t>
            </a:r>
            <a:r>
              <a:rPr sz="3200" spc="-20" dirty="0">
                <a:latin typeface="Cambria Math" panose="02040503050406030204" pitchFamily="18" charset="0"/>
                <a:ea typeface="Cambria Math" panose="02040503050406030204" pitchFamily="18" charset="0"/>
                <a:cs typeface="Calibri"/>
              </a:rPr>
              <a:t>to </a:t>
            </a:r>
            <a:r>
              <a:rPr sz="3200" dirty="0">
                <a:latin typeface="Cambria Math" panose="02040503050406030204" pitchFamily="18" charset="0"/>
                <a:ea typeface="Cambria Math" panose="02040503050406030204" pitchFamily="18" charset="0"/>
                <a:cs typeface="Calibri"/>
              </a:rPr>
              <a:t>a </a:t>
            </a:r>
            <a:r>
              <a:rPr sz="3200" spc="-5" dirty="0">
                <a:latin typeface="Cambria Math" panose="02040503050406030204" pitchFamily="18" charset="0"/>
                <a:ea typeface="Cambria Math" panose="02040503050406030204" pitchFamily="18" charset="0"/>
                <a:cs typeface="Calibri"/>
              </a:rPr>
              <a:t>particular </a:t>
            </a:r>
            <a:r>
              <a:rPr sz="3200" spc="-15" dirty="0">
                <a:latin typeface="Cambria Math" panose="02040503050406030204" pitchFamily="18" charset="0"/>
                <a:ea typeface="Cambria Math" panose="02040503050406030204" pitchFamily="18" charset="0"/>
                <a:cs typeface="Calibri"/>
              </a:rPr>
              <a:t>value </a:t>
            </a:r>
            <a:r>
              <a:rPr sz="3200" dirty="0">
                <a:latin typeface="Cambria Math" panose="02040503050406030204" pitchFamily="18" charset="0"/>
                <a:ea typeface="Cambria Math" panose="02040503050406030204" pitchFamily="18" charset="0"/>
                <a:cs typeface="Calibri"/>
              </a:rPr>
              <a:t>, the  </a:t>
            </a:r>
            <a:r>
              <a:rPr sz="3200" spc="-5" dirty="0">
                <a:latin typeface="Cambria Math" panose="02040503050406030204" pitchFamily="18" charset="0"/>
                <a:ea typeface="Cambria Math" panose="02040503050406030204" pitchFamily="18" charset="0"/>
                <a:cs typeface="Calibri"/>
              </a:rPr>
              <a:t>function </a:t>
            </a:r>
            <a:r>
              <a:rPr sz="3200" spc="-10" dirty="0">
                <a:latin typeface="Cambria Math" panose="02040503050406030204" pitchFamily="18" charset="0"/>
                <a:ea typeface="Cambria Math" panose="02040503050406030204" pitchFamily="18" charset="0"/>
                <a:cs typeface="Calibri"/>
              </a:rPr>
              <a:t>becomes</a:t>
            </a:r>
            <a:r>
              <a:rPr sz="3200" dirty="0">
                <a:latin typeface="Cambria Math" panose="02040503050406030204" pitchFamily="18" charset="0"/>
                <a:ea typeface="Cambria Math" panose="02040503050406030204" pitchFamily="18" charset="0"/>
                <a:cs typeface="Calibri"/>
              </a:rPr>
              <a:t> </a:t>
            </a:r>
            <a:r>
              <a:rPr sz="3200" spc="-10" dirty="0">
                <a:solidFill>
                  <a:srgbClr val="FF0000"/>
                </a:solidFill>
                <a:latin typeface="Cambria Math" panose="02040503050406030204" pitchFamily="18" charset="0"/>
                <a:ea typeface="Cambria Math" panose="02040503050406030204" pitchFamily="18" charset="0"/>
                <a:cs typeface="Calibri"/>
              </a:rPr>
              <a:t>proposition</a:t>
            </a:r>
            <a:endParaRPr sz="3200" dirty="0">
              <a:latin typeface="Cambria Math" panose="02040503050406030204" pitchFamily="18" charset="0"/>
              <a:ea typeface="Cambria Math" panose="02040503050406030204" pitchFamily="18" charset="0"/>
              <a:cs typeface="Calibri"/>
            </a:endParaRPr>
          </a:p>
          <a:p>
            <a:pPr marL="355600" indent="-342900">
              <a:spcBef>
                <a:spcPts val="785"/>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Ex: </a:t>
            </a:r>
            <a:r>
              <a:rPr sz="3200" dirty="0">
                <a:latin typeface="Cambria Math" panose="02040503050406030204" pitchFamily="18" charset="0"/>
                <a:ea typeface="Cambria Math" panose="02040503050406030204" pitchFamily="18" charset="0"/>
                <a:cs typeface="Cambria Math"/>
              </a:rPr>
              <a:t>∀ </a:t>
            </a:r>
            <a:r>
              <a:rPr sz="3200" dirty="0">
                <a:latin typeface="Cambria Math" panose="02040503050406030204" pitchFamily="18" charset="0"/>
                <a:ea typeface="Cambria Math" panose="02040503050406030204" pitchFamily="18" charset="0"/>
                <a:cs typeface="Calibri"/>
              </a:rPr>
              <a:t>y </a:t>
            </a:r>
            <a:r>
              <a:rPr sz="3200" dirty="0">
                <a:latin typeface="Cambria Math" panose="02040503050406030204" pitchFamily="18" charset="0"/>
                <a:ea typeface="Cambria Math" panose="02040503050406030204" pitchFamily="18" charset="0"/>
                <a:cs typeface="Cambria Math"/>
              </a:rPr>
              <a:t>∃ </a:t>
            </a:r>
            <a:r>
              <a:rPr sz="3200" dirty="0">
                <a:latin typeface="Cambria Math" panose="02040503050406030204" pitchFamily="18" charset="0"/>
                <a:ea typeface="Cambria Math" panose="02040503050406030204" pitchFamily="18" charset="0"/>
                <a:cs typeface="Calibri"/>
              </a:rPr>
              <a:t>x </a:t>
            </a:r>
            <a:r>
              <a:rPr sz="3200" spc="-5"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 y = 1 ) is a</a:t>
            </a:r>
            <a:r>
              <a:rPr sz="3200" spc="25"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proposition</a:t>
            </a:r>
            <a:endParaRPr sz="3200" dirty="0">
              <a:latin typeface="Cambria Math" panose="02040503050406030204" pitchFamily="18" charset="0"/>
              <a:ea typeface="Cambria Math" panose="02040503050406030204" pitchFamily="18" charset="0"/>
              <a:cs typeface="Calibri"/>
            </a:endParaRPr>
          </a:p>
        </p:txBody>
      </p:sp>
    </p:spTree>
    <p:extLst>
      <p:ext uri="{BB962C8B-B14F-4D97-AF65-F5344CB8AC3E}">
        <p14:creationId xmlns:p14="http://schemas.microsoft.com/office/powerpoint/2010/main" val="3820035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98189" y="461898"/>
            <a:ext cx="7588546" cy="690574"/>
          </a:xfrm>
          <a:prstGeom prst="rect">
            <a:avLst/>
          </a:prstGeom>
        </p:spPr>
        <p:txBody>
          <a:bodyPr vert="horz" wrap="square" lIns="0" tIns="13335" rIns="0" bIns="0" rtlCol="0" anchor="ctr">
            <a:spAutoFit/>
          </a:bodyPr>
          <a:lstStyle/>
          <a:p>
            <a:pPr marL="12700">
              <a:lnSpc>
                <a:spcPct val="100000"/>
              </a:lnSpc>
              <a:spcBef>
                <a:spcPts val="105"/>
              </a:spcBef>
            </a:pPr>
            <a:r>
              <a:rPr lang="en-US" spc="-10" dirty="0">
                <a:latin typeface="Cambria Math" panose="02040503050406030204" pitchFamily="18" charset="0"/>
                <a:ea typeface="Cambria Math" panose="02040503050406030204" pitchFamily="18" charset="0"/>
              </a:rPr>
              <a:t>Scope of  </a:t>
            </a:r>
            <a:r>
              <a:rPr spc="-10">
                <a:latin typeface="Cambria Math" panose="02040503050406030204" pitchFamily="18" charset="0"/>
                <a:ea typeface="Cambria Math" panose="02040503050406030204" pitchFamily="18" charset="0"/>
              </a:rPr>
              <a:t>Quantifiers</a:t>
            </a:r>
            <a:endParaRPr spc="-10" dirty="0">
              <a:latin typeface="Cambria Math" panose="02040503050406030204" pitchFamily="18" charset="0"/>
              <a:ea typeface="Cambria Math" panose="02040503050406030204" pitchFamily="18" charset="0"/>
            </a:endParaRPr>
          </a:p>
        </p:txBody>
      </p:sp>
      <p:sp>
        <p:nvSpPr>
          <p:cNvPr id="3" name="object 3"/>
          <p:cNvSpPr txBox="1"/>
          <p:nvPr/>
        </p:nvSpPr>
        <p:spPr>
          <a:xfrm>
            <a:off x="1168400" y="1610310"/>
            <a:ext cx="10718800" cy="3763210"/>
          </a:xfrm>
          <a:prstGeom prst="rect">
            <a:avLst/>
          </a:prstGeom>
        </p:spPr>
        <p:txBody>
          <a:bodyPr vert="horz" wrap="square" lIns="0" tIns="13335" rIns="0" bIns="0" rtlCol="0">
            <a:spAutoFit/>
          </a:bodyPr>
          <a:lstStyle/>
          <a:p>
            <a:pPr marL="355600" indent="-342900">
              <a:lnSpc>
                <a:spcPts val="3829"/>
              </a:lnSpc>
              <a:spcBef>
                <a:spcPts val="105"/>
              </a:spcBef>
              <a:buFont typeface="Arial"/>
              <a:buChar char="•"/>
              <a:tabLst>
                <a:tab pos="354965" algn="l"/>
                <a:tab pos="355600" algn="l"/>
              </a:tabLst>
            </a:pPr>
            <a:r>
              <a:rPr lang="en-US" sz="3200" spc="-10" dirty="0">
                <a:latin typeface="Cambria Math" panose="02040503050406030204" pitchFamily="18" charset="0"/>
                <a:ea typeface="Cambria Math" panose="02040503050406030204" pitchFamily="18" charset="0"/>
                <a:cs typeface="Calibri"/>
              </a:rPr>
              <a:t>P</a:t>
            </a:r>
            <a:r>
              <a:rPr sz="3200" spc="-10" dirty="0">
                <a:latin typeface="Cambria Math" panose="02040503050406030204" pitchFamily="18" charset="0"/>
                <a:ea typeface="Cambria Math" panose="02040503050406030204" pitchFamily="18" charset="0"/>
                <a:cs typeface="Calibri"/>
              </a:rPr>
              <a:t>roposition </a:t>
            </a:r>
            <a:r>
              <a:rPr sz="3200" dirty="0">
                <a:solidFill>
                  <a:srgbClr val="FF0000"/>
                </a:solidFill>
                <a:latin typeface="Cambria Math" panose="02040503050406030204" pitchFamily="18" charset="0"/>
                <a:ea typeface="Cambria Math" panose="02040503050406030204" pitchFamily="18" charset="0"/>
                <a:cs typeface="Cambria Math"/>
              </a:rPr>
              <a:t>∀ </a:t>
            </a:r>
            <a:r>
              <a:rPr sz="3200" dirty="0">
                <a:solidFill>
                  <a:srgbClr val="FF0000"/>
                </a:solidFill>
                <a:latin typeface="Cambria Math" panose="02040503050406030204" pitchFamily="18" charset="0"/>
                <a:ea typeface="Cambria Math" panose="02040503050406030204" pitchFamily="18" charset="0"/>
                <a:cs typeface="Calibri"/>
              </a:rPr>
              <a:t>y </a:t>
            </a:r>
            <a:r>
              <a:rPr sz="3200" dirty="0">
                <a:solidFill>
                  <a:srgbClr val="FF0000"/>
                </a:solidFill>
                <a:latin typeface="Cambria Math" panose="02040503050406030204" pitchFamily="18" charset="0"/>
                <a:ea typeface="Cambria Math" panose="02040503050406030204" pitchFamily="18" charset="0"/>
                <a:cs typeface="Cambria Math"/>
              </a:rPr>
              <a:t>∃ </a:t>
            </a:r>
            <a:r>
              <a:rPr sz="3200" dirty="0">
                <a:solidFill>
                  <a:srgbClr val="FF0000"/>
                </a:solidFill>
                <a:latin typeface="Cambria Math" panose="02040503050406030204" pitchFamily="18" charset="0"/>
                <a:ea typeface="Cambria Math" panose="02040503050406030204" pitchFamily="18" charset="0"/>
                <a:cs typeface="Calibri"/>
              </a:rPr>
              <a:t>x </a:t>
            </a:r>
            <a:r>
              <a:rPr sz="3200" spc="-5" dirty="0">
                <a:solidFill>
                  <a:srgbClr val="FF0000"/>
                </a:solidFill>
                <a:latin typeface="Cambria Math" panose="02040503050406030204" pitchFamily="18" charset="0"/>
                <a:ea typeface="Cambria Math" panose="02040503050406030204" pitchFamily="18" charset="0"/>
                <a:cs typeface="Calibri"/>
              </a:rPr>
              <a:t>(x </a:t>
            </a:r>
            <a:r>
              <a:rPr sz="3200" dirty="0">
                <a:solidFill>
                  <a:srgbClr val="FF0000"/>
                </a:solidFill>
                <a:latin typeface="Cambria Math" panose="02040503050406030204" pitchFamily="18" charset="0"/>
                <a:ea typeface="Cambria Math" panose="02040503050406030204" pitchFamily="18" charset="0"/>
                <a:cs typeface="Calibri"/>
              </a:rPr>
              <a:t>+ y = 1 ) </a:t>
            </a:r>
            <a:r>
              <a:rPr sz="3200" spc="-5" dirty="0">
                <a:latin typeface="Cambria Math" panose="02040503050406030204" pitchFamily="18" charset="0"/>
                <a:ea typeface="Cambria Math" panose="02040503050406030204" pitchFamily="18" charset="0"/>
                <a:cs typeface="Calibri"/>
              </a:rPr>
              <a:t>with</a:t>
            </a:r>
            <a:r>
              <a:rPr sz="3200" spc="60"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two</a:t>
            </a:r>
            <a:r>
              <a:rPr lang="en-US" sz="3200" spc="-10" dirty="0">
                <a:latin typeface="Cambria Math" panose="02040503050406030204" pitchFamily="18" charset="0"/>
                <a:ea typeface="Cambria Math" panose="02040503050406030204" pitchFamily="18" charset="0"/>
                <a:cs typeface="Calibri"/>
              </a:rPr>
              <a:t> </a:t>
            </a:r>
            <a:r>
              <a:rPr sz="3200" spc="-10" dirty="0">
                <a:latin typeface="Cambria Math" panose="02040503050406030204" pitchFamily="18" charset="0"/>
                <a:ea typeface="Cambria Math" panose="02040503050406030204" pitchFamily="18" charset="0"/>
                <a:cs typeface="Calibri"/>
              </a:rPr>
              <a:t>quantifiers,</a:t>
            </a:r>
            <a:endParaRPr lang="en-US" sz="3200" spc="-10" dirty="0">
              <a:latin typeface="Cambria Math" panose="02040503050406030204" pitchFamily="18" charset="0"/>
              <a:ea typeface="Cambria Math" panose="02040503050406030204" pitchFamily="18" charset="0"/>
              <a:cs typeface="Calibri"/>
            </a:endParaRPr>
          </a:p>
          <a:p>
            <a:pPr marL="12700">
              <a:spcBef>
                <a:spcPts val="790"/>
              </a:spcBef>
              <a:tabLst>
                <a:tab pos="354965" algn="l"/>
                <a:tab pos="355600" algn="l"/>
              </a:tabLst>
            </a:pPr>
            <a:r>
              <a:rPr lang="en-US" sz="3200" spc="-5" dirty="0">
                <a:latin typeface="Cambria Math" panose="02040503050406030204" pitchFamily="18" charset="0"/>
                <a:ea typeface="Cambria Math" panose="02040503050406030204" pitchFamily="18" charset="0"/>
                <a:cs typeface="Calibri"/>
              </a:rPr>
              <a:t>W</a:t>
            </a:r>
            <a:r>
              <a:rPr sz="3200" spc="-5" dirty="0">
                <a:latin typeface="Cambria Math" panose="02040503050406030204" pitchFamily="18" charset="0"/>
                <a:ea typeface="Cambria Math" panose="02040503050406030204" pitchFamily="18" charset="0"/>
                <a:cs typeface="Calibri"/>
              </a:rPr>
              <a:t>here</a:t>
            </a:r>
            <a:endParaRPr lang="en-US" sz="3200" spc="-5" dirty="0">
              <a:latin typeface="Cambria Math" panose="02040503050406030204" pitchFamily="18" charset="0"/>
              <a:ea typeface="Cambria Math" panose="02040503050406030204" pitchFamily="18" charset="0"/>
              <a:cs typeface="Calibri"/>
            </a:endParaRPr>
          </a:p>
          <a:p>
            <a:pPr marL="12700">
              <a:spcBef>
                <a:spcPts val="790"/>
              </a:spcBef>
              <a:tabLst>
                <a:tab pos="354965" algn="l"/>
                <a:tab pos="355600" algn="l"/>
              </a:tabLst>
            </a:pPr>
            <a:r>
              <a:rPr sz="3200" spc="-5" dirty="0">
                <a:latin typeface="Cambria Math" panose="02040503050406030204" pitchFamily="18" charset="0"/>
                <a:ea typeface="Cambria Math" panose="02040503050406030204" pitchFamily="18" charset="0"/>
                <a:cs typeface="Calibri"/>
              </a:rPr>
              <a:t> </a:t>
            </a:r>
            <a:r>
              <a:rPr lang="en-US" sz="3200" spc="-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mbria Math"/>
              </a:rPr>
              <a:t>∀ </a:t>
            </a:r>
            <a:r>
              <a:rPr sz="3200" dirty="0">
                <a:latin typeface="Cambria Math" panose="02040503050406030204" pitchFamily="18" charset="0"/>
                <a:ea typeface="Cambria Math" panose="02040503050406030204" pitchFamily="18" charset="0"/>
                <a:cs typeface="Calibri"/>
              </a:rPr>
              <a:t>y is </a:t>
            </a:r>
            <a:r>
              <a:rPr sz="3200" spc="-5" dirty="0">
                <a:latin typeface="Cambria Math" panose="02040503050406030204" pitchFamily="18" charset="0"/>
                <a:ea typeface="Cambria Math" panose="02040503050406030204" pitchFamily="18" charset="0"/>
                <a:cs typeface="Calibri"/>
              </a:rPr>
              <a:t>applied </a:t>
            </a:r>
            <a:r>
              <a:rPr sz="3200" spc="-25" dirty="0">
                <a:latin typeface="Cambria Math" panose="02040503050406030204" pitchFamily="18" charset="0"/>
                <a:ea typeface="Cambria Math" panose="02040503050406030204" pitchFamily="18" charset="0"/>
                <a:cs typeface="Calibri"/>
              </a:rPr>
              <a:t>to </a:t>
            </a:r>
            <a:r>
              <a:rPr sz="3200" dirty="0">
                <a:latin typeface="Cambria Math" panose="02040503050406030204" pitchFamily="18" charset="0"/>
                <a:ea typeface="Cambria Math" panose="02040503050406030204" pitchFamily="18" charset="0"/>
                <a:cs typeface="Cambria Math"/>
              </a:rPr>
              <a:t>∃ </a:t>
            </a:r>
            <a:r>
              <a:rPr sz="3200" dirty="0">
                <a:latin typeface="Cambria Math" panose="02040503050406030204" pitchFamily="18" charset="0"/>
                <a:ea typeface="Cambria Math" panose="02040503050406030204" pitchFamily="18" charset="0"/>
                <a:cs typeface="Calibri"/>
              </a:rPr>
              <a:t>x </a:t>
            </a:r>
            <a:r>
              <a:rPr sz="3200" spc="-5" dirty="0">
                <a:latin typeface="Cambria Math" panose="02040503050406030204" pitchFamily="18" charset="0"/>
                <a:ea typeface="Cambria Math" panose="02040503050406030204" pitchFamily="18" charset="0"/>
                <a:cs typeface="Calibri"/>
              </a:rPr>
              <a:t>(x </a:t>
            </a:r>
            <a:r>
              <a:rPr sz="3200" dirty="0">
                <a:latin typeface="Cambria Math" panose="02040503050406030204" pitchFamily="18" charset="0"/>
                <a:ea typeface="Cambria Math" panose="02040503050406030204" pitchFamily="18" charset="0"/>
                <a:cs typeface="Calibri"/>
              </a:rPr>
              <a:t>+ y = 1 </a:t>
            </a:r>
            <a:r>
              <a:rPr sz="3200" spc="-5" dirty="0">
                <a:latin typeface="Cambria Math" panose="02040503050406030204" pitchFamily="18" charset="0"/>
                <a:ea typeface="Cambria Math" panose="02040503050406030204" pitchFamily="18" charset="0"/>
                <a:cs typeface="Calibri"/>
              </a:rPr>
              <a:t>),</a:t>
            </a:r>
            <a:r>
              <a:rPr sz="3200" spc="2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and</a:t>
            </a:r>
            <a:endParaRPr sz="3200" dirty="0">
              <a:latin typeface="Cambria Math" panose="02040503050406030204" pitchFamily="18" charset="0"/>
              <a:ea typeface="Cambria Math" panose="02040503050406030204" pitchFamily="18" charset="0"/>
              <a:cs typeface="Calibri"/>
            </a:endParaRPr>
          </a:p>
          <a:p>
            <a:pPr marL="355600"/>
            <a:r>
              <a:rPr sz="3200" dirty="0">
                <a:latin typeface="Cambria Math" panose="02040503050406030204" pitchFamily="18" charset="0"/>
                <a:ea typeface="Cambria Math" panose="02040503050406030204" pitchFamily="18" charset="0"/>
                <a:cs typeface="Cambria Math"/>
              </a:rPr>
              <a:t>∃ </a:t>
            </a:r>
            <a:r>
              <a:rPr sz="3200" dirty="0">
                <a:latin typeface="Cambria Math" panose="02040503050406030204" pitchFamily="18" charset="0"/>
                <a:ea typeface="Cambria Math" panose="02040503050406030204" pitchFamily="18" charset="0"/>
                <a:cs typeface="Calibri"/>
              </a:rPr>
              <a:t>x is </a:t>
            </a:r>
            <a:r>
              <a:rPr sz="3200" spc="-5" dirty="0">
                <a:latin typeface="Cambria Math" panose="02040503050406030204" pitchFamily="18" charset="0"/>
                <a:ea typeface="Cambria Math" panose="02040503050406030204" pitchFamily="18" charset="0"/>
                <a:cs typeface="Calibri"/>
              </a:rPr>
              <a:t>applied </a:t>
            </a:r>
            <a:r>
              <a:rPr sz="3200" spc="-20" dirty="0">
                <a:latin typeface="Cambria Math" panose="02040503050406030204" pitchFamily="18" charset="0"/>
                <a:ea typeface="Cambria Math" panose="02040503050406030204" pitchFamily="18" charset="0"/>
                <a:cs typeface="Calibri"/>
              </a:rPr>
              <a:t>to </a:t>
            </a:r>
            <a:r>
              <a:rPr sz="3200" dirty="0">
                <a:latin typeface="Cambria Math" panose="02040503050406030204" pitchFamily="18" charset="0"/>
                <a:ea typeface="Cambria Math" panose="02040503050406030204" pitchFamily="18" charset="0"/>
                <a:cs typeface="Calibri"/>
              </a:rPr>
              <a:t>x + y =</a:t>
            </a:r>
            <a:r>
              <a:rPr sz="3200" spc="30"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1</a:t>
            </a:r>
            <a:endParaRPr lang="en-US" sz="3200" dirty="0">
              <a:latin typeface="Cambria Math" panose="02040503050406030204" pitchFamily="18" charset="0"/>
              <a:ea typeface="Cambria Math" panose="02040503050406030204" pitchFamily="18" charset="0"/>
              <a:cs typeface="Calibri"/>
            </a:endParaRPr>
          </a:p>
          <a:p>
            <a:pPr marL="355600"/>
            <a:endParaRPr sz="3200" dirty="0">
              <a:latin typeface="Cambria Math" panose="02040503050406030204" pitchFamily="18" charset="0"/>
              <a:ea typeface="Cambria Math" panose="02040503050406030204" pitchFamily="18" charset="0"/>
              <a:cs typeface="Calibri"/>
            </a:endParaRPr>
          </a:p>
          <a:p>
            <a:pPr marL="12700" marR="5080">
              <a:spcBef>
                <a:spcPts val="750"/>
              </a:spcBef>
              <a:buChar char="•"/>
              <a:tabLst>
                <a:tab pos="307340" algn="l"/>
              </a:tabLst>
            </a:pPr>
            <a:r>
              <a:rPr sz="3200" spc="-5" dirty="0">
                <a:latin typeface="Cambria Math" panose="02040503050406030204" pitchFamily="18" charset="0"/>
                <a:ea typeface="Cambria Math" panose="02040503050406030204" pitchFamily="18" charset="0"/>
                <a:cs typeface="Calibri"/>
              </a:rPr>
              <a:t>The part of the logical </a:t>
            </a:r>
            <a:r>
              <a:rPr sz="3200" spc="-10" dirty="0">
                <a:latin typeface="Cambria Math" panose="02040503050406030204" pitchFamily="18" charset="0"/>
                <a:ea typeface="Cambria Math" panose="02040503050406030204" pitchFamily="18" charset="0"/>
                <a:cs typeface="Calibri"/>
              </a:rPr>
              <a:t>expression where </a:t>
            </a:r>
            <a:r>
              <a:rPr sz="3200" dirty="0">
                <a:latin typeface="Cambria Math" panose="02040503050406030204" pitchFamily="18" charset="0"/>
                <a:ea typeface="Cambria Math" panose="02040503050406030204" pitchFamily="18" charset="0"/>
                <a:cs typeface="Calibri"/>
              </a:rPr>
              <a:t>a  </a:t>
            </a:r>
            <a:r>
              <a:rPr sz="3200" spc="-10" dirty="0">
                <a:latin typeface="Cambria Math" panose="02040503050406030204" pitchFamily="18" charset="0"/>
                <a:ea typeface="Cambria Math" panose="02040503050406030204" pitchFamily="18" charset="0"/>
                <a:cs typeface="Calibri"/>
              </a:rPr>
              <a:t>quantifier </a:t>
            </a:r>
            <a:r>
              <a:rPr sz="3200" dirty="0">
                <a:latin typeface="Cambria Math" panose="02040503050406030204" pitchFamily="18" charset="0"/>
                <a:ea typeface="Cambria Math" panose="02040503050406030204" pitchFamily="18" charset="0"/>
                <a:cs typeface="Calibri"/>
              </a:rPr>
              <a:t>is </a:t>
            </a:r>
            <a:r>
              <a:rPr sz="3200" spc="-5" dirty="0">
                <a:latin typeface="Cambria Math" panose="02040503050406030204" pitchFamily="18" charset="0"/>
                <a:ea typeface="Cambria Math" panose="02040503050406030204" pitchFamily="18" charset="0"/>
                <a:cs typeface="Calibri"/>
              </a:rPr>
              <a:t>applied </a:t>
            </a:r>
            <a:r>
              <a:rPr sz="3200" dirty="0">
                <a:latin typeface="Cambria Math" panose="02040503050406030204" pitchFamily="18" charset="0"/>
                <a:ea typeface="Cambria Math" panose="02040503050406030204" pitchFamily="18" charset="0"/>
                <a:cs typeface="Calibri"/>
              </a:rPr>
              <a:t>is </a:t>
            </a:r>
            <a:r>
              <a:rPr sz="3200" spc="-10" dirty="0">
                <a:latin typeface="Cambria Math" panose="02040503050406030204" pitchFamily="18" charset="0"/>
                <a:ea typeface="Cambria Math" panose="02040503050406030204" pitchFamily="18" charset="0"/>
                <a:cs typeface="Calibri"/>
              </a:rPr>
              <a:t>called </a:t>
            </a:r>
            <a:r>
              <a:rPr sz="3200" dirty="0">
                <a:latin typeface="Cambria Math" panose="02040503050406030204" pitchFamily="18" charset="0"/>
                <a:ea typeface="Cambria Math" panose="02040503050406030204" pitchFamily="18" charset="0"/>
                <a:cs typeface="Calibri"/>
              </a:rPr>
              <a:t>the </a:t>
            </a:r>
            <a:r>
              <a:rPr sz="3200" spc="-10" dirty="0">
                <a:solidFill>
                  <a:srgbClr val="FF0000"/>
                </a:solidFill>
                <a:latin typeface="Cambria Math" panose="02040503050406030204" pitchFamily="18" charset="0"/>
                <a:ea typeface="Cambria Math" panose="02040503050406030204" pitchFamily="18" charset="0"/>
                <a:cs typeface="Calibri"/>
              </a:rPr>
              <a:t>scope </a:t>
            </a:r>
            <a:r>
              <a:rPr sz="3200" spc="-5" dirty="0">
                <a:latin typeface="Cambria Math" panose="02040503050406030204" pitchFamily="18" charset="0"/>
                <a:ea typeface="Cambria Math" panose="02040503050406030204" pitchFamily="18" charset="0"/>
                <a:cs typeface="Calibri"/>
              </a:rPr>
              <a:t>of that  </a:t>
            </a:r>
            <a:r>
              <a:rPr sz="3200" spc="-10" dirty="0">
                <a:latin typeface="Cambria Math" panose="02040503050406030204" pitchFamily="18" charset="0"/>
                <a:ea typeface="Cambria Math" panose="02040503050406030204" pitchFamily="18" charset="0"/>
                <a:cs typeface="Calibri"/>
              </a:rPr>
              <a:t>quantifier</a:t>
            </a:r>
            <a:endParaRPr sz="3200" dirty="0">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63496" y="682619"/>
            <a:ext cx="10515600" cy="690574"/>
          </a:xfrm>
          <a:prstGeom prst="rect">
            <a:avLst/>
          </a:prstGeom>
        </p:spPr>
        <p:txBody>
          <a:bodyPr vert="horz" wrap="square" lIns="0" tIns="13335" rIns="0" bIns="0" rtlCol="0" anchor="ctr">
            <a:spAutoFit/>
          </a:bodyPr>
          <a:lstStyle/>
          <a:p>
            <a:pPr marL="12700">
              <a:lnSpc>
                <a:spcPct val="100000"/>
              </a:lnSpc>
              <a:spcBef>
                <a:spcPts val="105"/>
              </a:spcBef>
            </a:pPr>
            <a:r>
              <a:rPr spc="-5" dirty="0">
                <a:latin typeface="Cambria Math" panose="02040503050406030204" pitchFamily="18" charset="0"/>
                <a:ea typeface="Cambria Math" panose="02040503050406030204" pitchFamily="18" charset="0"/>
              </a:rPr>
              <a:t>E</a:t>
            </a:r>
            <a:r>
              <a:rPr spc="-85" dirty="0">
                <a:latin typeface="Cambria Math" panose="02040503050406030204" pitchFamily="18" charset="0"/>
                <a:ea typeface="Cambria Math" panose="02040503050406030204" pitchFamily="18" charset="0"/>
              </a:rPr>
              <a:t>x</a:t>
            </a:r>
            <a:r>
              <a:rPr spc="-5" dirty="0">
                <a:latin typeface="Cambria Math" panose="02040503050406030204" pitchFamily="18" charset="0"/>
                <a:ea typeface="Cambria Math" panose="02040503050406030204" pitchFamily="18" charset="0"/>
              </a:rPr>
              <a:t>ample</a:t>
            </a:r>
          </a:p>
        </p:txBody>
      </p:sp>
      <p:sp>
        <p:nvSpPr>
          <p:cNvPr id="3" name="object 3"/>
          <p:cNvSpPr txBox="1"/>
          <p:nvPr/>
        </p:nvSpPr>
        <p:spPr>
          <a:xfrm>
            <a:off x="2059940" y="1512990"/>
            <a:ext cx="6423660" cy="2389115"/>
          </a:xfrm>
          <a:prstGeom prst="rect">
            <a:avLst/>
          </a:prstGeom>
        </p:spPr>
        <p:txBody>
          <a:bodyPr vert="horz" wrap="square" lIns="0" tIns="110489" rIns="0" bIns="0" rtlCol="0">
            <a:spAutoFit/>
          </a:bodyPr>
          <a:lstStyle/>
          <a:p>
            <a:pPr marL="355600" indent="-342900">
              <a:spcBef>
                <a:spcPts val="869"/>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mbria Math"/>
              </a:rPr>
              <a:t>∃</a:t>
            </a:r>
            <a:r>
              <a:rPr sz="3200" dirty="0">
                <a:latin typeface="Cambria Math" panose="02040503050406030204" pitchFamily="18" charset="0"/>
                <a:ea typeface="Cambria Math" panose="02040503050406030204" pitchFamily="18" charset="0"/>
                <a:cs typeface="Calibri"/>
              </a:rPr>
              <a:t>x(x + y =</a:t>
            </a:r>
            <a:r>
              <a:rPr sz="3200" spc="-25" dirty="0">
                <a:latin typeface="Cambria Math" panose="02040503050406030204" pitchFamily="18" charset="0"/>
                <a:ea typeface="Cambria Math" panose="02040503050406030204" pitchFamily="18" charset="0"/>
                <a:cs typeface="Calibri"/>
              </a:rPr>
              <a:t> </a:t>
            </a:r>
            <a:r>
              <a:rPr sz="3200" dirty="0">
                <a:latin typeface="Cambria Math" panose="02040503050406030204" pitchFamily="18" charset="0"/>
                <a:ea typeface="Cambria Math" panose="02040503050406030204" pitchFamily="18" charset="0"/>
                <a:cs typeface="Calibri"/>
              </a:rPr>
              <a:t>1)</a:t>
            </a:r>
          </a:p>
          <a:p>
            <a:pPr marL="355600" indent="-342900">
              <a:spcBef>
                <a:spcPts val="765"/>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mbria Math"/>
              </a:rPr>
              <a:t>∃</a:t>
            </a:r>
            <a:r>
              <a:rPr sz="3200" dirty="0">
                <a:latin typeface="Cambria Math" panose="02040503050406030204" pitchFamily="18" charset="0"/>
                <a:ea typeface="Cambria Math" panose="02040503050406030204" pitchFamily="18" charset="0"/>
                <a:cs typeface="Calibri"/>
              </a:rPr>
              <a:t>x P(x) </a:t>
            </a:r>
            <a:r>
              <a:rPr sz="3200" dirty="0">
                <a:latin typeface="Cambria Math" panose="02040503050406030204" pitchFamily="18" charset="0"/>
                <a:ea typeface="Cambria Math" panose="02040503050406030204" pitchFamily="18" charset="0"/>
                <a:cs typeface="Cambria Math"/>
              </a:rPr>
              <a:t>∨</a:t>
            </a:r>
            <a:r>
              <a:rPr sz="3200" spc="-20" dirty="0">
                <a:latin typeface="Cambria Math" panose="02040503050406030204" pitchFamily="18" charset="0"/>
                <a:ea typeface="Cambria Math" panose="02040503050406030204" pitchFamily="18" charset="0"/>
                <a:cs typeface="Cambria Math"/>
              </a:rPr>
              <a:t> </a:t>
            </a:r>
            <a:r>
              <a:rPr sz="3200" spc="-5" dirty="0">
                <a:latin typeface="Cambria Math" panose="02040503050406030204" pitchFamily="18" charset="0"/>
                <a:ea typeface="Cambria Math" panose="02040503050406030204" pitchFamily="18" charset="0"/>
                <a:cs typeface="Calibri"/>
              </a:rPr>
              <a:t>Q(x)</a:t>
            </a:r>
            <a:endParaRPr lang="en-US" sz="3200" spc="-5" dirty="0">
              <a:latin typeface="Cambria Math" panose="02040503050406030204" pitchFamily="18" charset="0"/>
              <a:ea typeface="Cambria Math" panose="02040503050406030204" pitchFamily="18" charset="0"/>
              <a:cs typeface="Calibri"/>
            </a:endParaRPr>
          </a:p>
          <a:p>
            <a:pPr marL="355600" indent="-342900">
              <a:spcBef>
                <a:spcPts val="765"/>
              </a:spcBef>
              <a:buFont typeface="Arial"/>
              <a:buChar char="•"/>
              <a:tabLst>
                <a:tab pos="354965" algn="l"/>
                <a:tab pos="355600" algn="l"/>
              </a:tabLst>
            </a:pPr>
            <a:r>
              <a:rPr lang="en-US" sz="3200" dirty="0">
                <a:latin typeface="Cambria Math" panose="02040503050406030204" pitchFamily="18" charset="0"/>
                <a:ea typeface="Cambria Math" panose="02040503050406030204" pitchFamily="18" charset="0"/>
                <a:cs typeface="Cambria Math"/>
              </a:rPr>
              <a:t>∃</a:t>
            </a:r>
            <a:r>
              <a:rPr lang="en-US" sz="3200" dirty="0">
                <a:latin typeface="Cambria Math" panose="02040503050406030204" pitchFamily="18" charset="0"/>
                <a:ea typeface="Cambria Math" panose="02040503050406030204" pitchFamily="18" charset="0"/>
                <a:cs typeface="Calibri"/>
              </a:rPr>
              <a:t>x (P(x) </a:t>
            </a:r>
            <a:r>
              <a:rPr lang="en-US" sz="3200" dirty="0">
                <a:latin typeface="Cambria Math" panose="02040503050406030204" pitchFamily="18" charset="0"/>
                <a:ea typeface="Cambria Math" panose="02040503050406030204" pitchFamily="18" charset="0"/>
                <a:cs typeface="Cambria Math"/>
              </a:rPr>
              <a:t>∨</a:t>
            </a:r>
            <a:r>
              <a:rPr lang="en-US" sz="3200" spc="-20" dirty="0">
                <a:latin typeface="Cambria Math" panose="02040503050406030204" pitchFamily="18" charset="0"/>
                <a:ea typeface="Cambria Math" panose="02040503050406030204" pitchFamily="18" charset="0"/>
                <a:cs typeface="Cambria Math"/>
              </a:rPr>
              <a:t> </a:t>
            </a:r>
            <a:r>
              <a:rPr lang="en-US" sz="3200" spc="-5" dirty="0">
                <a:latin typeface="Cambria Math" panose="02040503050406030204" pitchFamily="18" charset="0"/>
                <a:ea typeface="Cambria Math" panose="02040503050406030204" pitchFamily="18" charset="0"/>
                <a:cs typeface="Calibri"/>
              </a:rPr>
              <a:t>Q(x))</a:t>
            </a:r>
            <a:endParaRPr sz="3200" dirty="0">
              <a:latin typeface="Cambria Math" panose="02040503050406030204" pitchFamily="18" charset="0"/>
              <a:ea typeface="Cambria Math" panose="02040503050406030204" pitchFamily="18" charset="0"/>
              <a:cs typeface="Calibri"/>
            </a:endParaRPr>
          </a:p>
          <a:p>
            <a:pPr marL="355600" indent="-342900">
              <a:spcBef>
                <a:spcPts val="765"/>
              </a:spcBef>
              <a:buFont typeface="Arial"/>
              <a:buChar char="•"/>
              <a:tabLst>
                <a:tab pos="354965" algn="l"/>
                <a:tab pos="355600" algn="l"/>
              </a:tabLst>
            </a:pPr>
            <a:r>
              <a:rPr sz="3200" dirty="0">
                <a:latin typeface="Cambria Math" panose="02040503050406030204" pitchFamily="18" charset="0"/>
                <a:ea typeface="Cambria Math" panose="02040503050406030204" pitchFamily="18" charset="0"/>
                <a:cs typeface="Calibri"/>
              </a:rPr>
              <a:t>(</a:t>
            </a:r>
            <a:r>
              <a:rPr sz="3200" dirty="0">
                <a:latin typeface="Cambria Math" panose="02040503050406030204" pitchFamily="18" charset="0"/>
                <a:ea typeface="Cambria Math" panose="02040503050406030204" pitchFamily="18" charset="0"/>
                <a:cs typeface="Cambria Math"/>
              </a:rPr>
              <a:t>∃</a:t>
            </a:r>
            <a:r>
              <a:rPr sz="3200" dirty="0">
                <a:latin typeface="Cambria Math" panose="02040503050406030204" pitchFamily="18" charset="0"/>
                <a:ea typeface="Cambria Math" panose="02040503050406030204" pitchFamily="18" charset="0"/>
                <a:cs typeface="Calibri"/>
              </a:rPr>
              <a:t>x P(x)) </a:t>
            </a:r>
            <a:r>
              <a:rPr sz="3200" dirty="0">
                <a:latin typeface="Cambria Math" panose="02040503050406030204" pitchFamily="18" charset="0"/>
                <a:ea typeface="Cambria Math" panose="02040503050406030204" pitchFamily="18" charset="0"/>
                <a:cs typeface="Cambria Math"/>
              </a:rPr>
              <a:t>∨ </a:t>
            </a:r>
            <a:r>
              <a:rPr sz="3200" dirty="0">
                <a:latin typeface="Cambria Math" panose="02040503050406030204" pitchFamily="18" charset="0"/>
                <a:ea typeface="Cambria Math" panose="02040503050406030204" pitchFamily="18" charset="0"/>
                <a:cs typeface="Calibri"/>
              </a:rPr>
              <a:t>(</a:t>
            </a:r>
            <a:r>
              <a:rPr sz="3200" dirty="0">
                <a:latin typeface="Cambria Math" panose="02040503050406030204" pitchFamily="18" charset="0"/>
                <a:ea typeface="Cambria Math" panose="02040503050406030204" pitchFamily="18" charset="0"/>
                <a:cs typeface="Cambria Math"/>
              </a:rPr>
              <a:t>∀</a:t>
            </a:r>
            <a:r>
              <a:rPr sz="3200" dirty="0">
                <a:latin typeface="Cambria Math" panose="02040503050406030204" pitchFamily="18" charset="0"/>
                <a:ea typeface="Cambria Math" panose="02040503050406030204" pitchFamily="18" charset="0"/>
                <a:cs typeface="Calibri"/>
              </a:rPr>
              <a:t>x</a:t>
            </a:r>
            <a:r>
              <a:rPr sz="3200" spc="-55" dirty="0">
                <a:latin typeface="Cambria Math" panose="02040503050406030204" pitchFamily="18" charset="0"/>
                <a:ea typeface="Cambria Math" panose="02040503050406030204" pitchFamily="18" charset="0"/>
                <a:cs typeface="Calibri"/>
              </a:rPr>
              <a:t> </a:t>
            </a:r>
            <a:r>
              <a:rPr sz="3200" spc="-5" dirty="0">
                <a:latin typeface="Cambria Math" panose="02040503050406030204" pitchFamily="18" charset="0"/>
                <a:ea typeface="Cambria Math" panose="02040503050406030204" pitchFamily="18" charset="0"/>
                <a:cs typeface="Calibri"/>
              </a:rPr>
              <a:t>Q(x))</a:t>
            </a:r>
            <a:endParaRPr sz="3200" dirty="0">
              <a:latin typeface="Cambria Math" panose="02040503050406030204" pitchFamily="18" charset="0"/>
              <a:ea typeface="Cambria Math" panose="02040503050406030204" pitchFamily="18" charset="0"/>
              <a:cs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Title 1048769"/>
          <p:cNvSpPr>
            <a:spLocks noGrp="1"/>
          </p:cNvSpPr>
          <p:nvPr>
            <p:ph type="title"/>
          </p:nvPr>
        </p:nvSpPr>
        <p:spPr/>
        <p:txBody>
          <a:bodyPr/>
          <a:lstStyle/>
          <a:p>
            <a:r>
              <a:rPr lang="en-US" dirty="0"/>
              <a:t>Precedence of Quantifiers</a:t>
            </a:r>
          </a:p>
        </p:txBody>
      </p:sp>
      <p:sp>
        <p:nvSpPr>
          <p:cNvPr id="1048771" name="Text Placeholder 1048770"/>
          <p:cNvSpPr>
            <a:spLocks noGrp="1"/>
          </p:cNvSpPr>
          <p:nvPr>
            <p:ph type="body" idx="1"/>
          </p:nvPr>
        </p:nvSpPr>
        <p:spPr>
          <a:xfrm>
            <a:off x="3459231" y="4292828"/>
            <a:ext cx="5050287" cy="1536192"/>
          </a:xfrm>
        </p:spPr>
        <p:txBody>
          <a:bodyPr/>
          <a:lstStyle/>
          <a:p>
            <a:r>
              <a:rPr lang="en-US" dirty="0"/>
              <a:t>Higher than </a:t>
            </a:r>
            <a:r>
              <a:rPr lang="en-US" b="1" i="1" dirty="0"/>
              <a:t>all </a:t>
            </a:r>
            <a:r>
              <a:rPr lang="en-US" i="1" dirty="0"/>
              <a:t>logical operators</a:t>
            </a:r>
            <a:r>
              <a:rPr lang="en-US" dirty="0"/>
              <a:t> from propositional calculus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803" name="Rectangle 104880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805" name="Freeform: Shape 104880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773" name="Title 3"/>
          <p:cNvSpPr>
            <a:spLocks noGrp="1"/>
          </p:cNvSpPr>
          <p:nvPr>
            <p:ph type="title"/>
          </p:nvPr>
        </p:nvSpPr>
        <p:spPr>
          <a:xfrm>
            <a:off x="686834" y="1153572"/>
            <a:ext cx="3200400" cy="4461163"/>
          </a:xfrm>
        </p:spPr>
        <p:txBody>
          <a:bodyPr>
            <a:normAutofit/>
          </a:bodyPr>
          <a:lstStyle/>
          <a:p>
            <a:pPr algn="ctr"/>
            <a:br>
              <a:rPr lang="en-US" dirty="0">
                <a:solidFill>
                  <a:srgbClr val="FFFFFF"/>
                </a:solidFill>
              </a:rPr>
            </a:br>
            <a:r>
              <a:rPr lang="en-US" dirty="0">
                <a:solidFill>
                  <a:srgbClr val="FFFFFF"/>
                </a:solidFill>
              </a:rPr>
              <a:t>Precedence of Quantifiers</a:t>
            </a:r>
            <a:br>
              <a:rPr lang="en-US" dirty="0">
                <a:solidFill>
                  <a:srgbClr val="FFFFFF"/>
                </a:solidFill>
              </a:rPr>
            </a:br>
            <a:endParaRPr lang="en-US" dirty="0">
              <a:solidFill>
                <a:srgbClr val="FFFFFF"/>
              </a:solidFill>
            </a:endParaRPr>
          </a:p>
        </p:txBody>
      </p:sp>
      <p:sp>
        <p:nvSpPr>
          <p:cNvPr id="1048772" name="Content Placeholder 4"/>
          <p:cNvSpPr>
            <a:spLocks noGrp="1"/>
          </p:cNvSpPr>
          <p:nvPr>
            <p:ph idx="1"/>
          </p:nvPr>
        </p:nvSpPr>
        <p:spPr>
          <a:xfrm>
            <a:off x="4447308" y="591344"/>
            <a:ext cx="6906491" cy="5585619"/>
          </a:xfrm>
        </p:spPr>
        <p:txBody>
          <a:bodyPr anchor="ctr">
            <a:normAutofit/>
          </a:bodyPr>
          <a:lstStyle/>
          <a:p>
            <a:pPr marL="0" indent="0">
              <a:buNone/>
            </a:pPr>
            <a:r>
              <a:rPr lang="en-US" dirty="0"/>
              <a:t>The quantifiers </a:t>
            </a:r>
            <a:r>
              <a:rPr lang="en-US" b="1" dirty="0"/>
              <a:t>∀ </a:t>
            </a:r>
            <a:r>
              <a:rPr lang="en-US" dirty="0"/>
              <a:t>and </a:t>
            </a:r>
            <a:r>
              <a:rPr lang="en-US" b="1" dirty="0"/>
              <a:t>∃ </a:t>
            </a:r>
            <a:r>
              <a:rPr lang="en-US" dirty="0"/>
              <a:t>have </a:t>
            </a:r>
            <a:r>
              <a:rPr lang="en-US" b="1" dirty="0"/>
              <a:t>higher</a:t>
            </a:r>
            <a:r>
              <a:rPr lang="en-US" dirty="0"/>
              <a:t> </a:t>
            </a:r>
            <a:r>
              <a:rPr lang="en-US" b="1" dirty="0"/>
              <a:t>precedence</a:t>
            </a:r>
            <a:r>
              <a:rPr lang="en-US" dirty="0"/>
              <a:t> </a:t>
            </a:r>
            <a:r>
              <a:rPr lang="en-US" i="1" dirty="0"/>
              <a:t>than </a:t>
            </a:r>
            <a:r>
              <a:rPr lang="en-US" b="1" i="1" dirty="0"/>
              <a:t>all </a:t>
            </a:r>
            <a:r>
              <a:rPr lang="en-US" i="1" dirty="0"/>
              <a:t>logical operators</a:t>
            </a:r>
            <a:r>
              <a:rPr lang="en-US" dirty="0"/>
              <a:t> from propositional calculus. </a:t>
            </a:r>
          </a:p>
        </p:txBody>
      </p:sp>
      <p:sp>
        <p:nvSpPr>
          <p:cNvPr id="1048807" name="Arc 104880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Content Placeholder 4"/>
          <p:cNvSpPr>
            <a:spLocks noGrp="1"/>
          </p:cNvSpPr>
          <p:nvPr>
            <p:ph idx="1"/>
          </p:nvPr>
        </p:nvSpPr>
        <p:spPr/>
        <p:txBody>
          <a:bodyPr>
            <a:normAutofit/>
          </a:bodyPr>
          <a:lstStyle/>
          <a:p>
            <a:pPr marL="0" indent="0">
              <a:buNone/>
            </a:pPr>
            <a:r>
              <a:rPr lang="en-US" dirty="0"/>
              <a:t>For example,</a:t>
            </a:r>
          </a:p>
          <a:p>
            <a:pPr marL="0" indent="0">
              <a:buNone/>
            </a:pPr>
            <a:r>
              <a:rPr lang="en-US" b="1" dirty="0"/>
              <a:t>	∀</a:t>
            </a:r>
            <a:r>
              <a:rPr lang="en-US" b="1" dirty="0" err="1"/>
              <a:t>xP</a:t>
            </a:r>
            <a:r>
              <a:rPr lang="en-US" b="1" dirty="0"/>
              <a:t>(x) ∨ Q(x)</a:t>
            </a:r>
            <a:r>
              <a:rPr lang="en-US" dirty="0"/>
              <a:t> is the </a:t>
            </a:r>
            <a:r>
              <a:rPr lang="en-US" i="1" dirty="0"/>
              <a:t>disjunction</a:t>
            </a:r>
            <a:r>
              <a:rPr lang="en-US" dirty="0"/>
              <a:t> of </a:t>
            </a:r>
            <a:r>
              <a:rPr lang="en-US" b="1" dirty="0"/>
              <a:t>∀</a:t>
            </a:r>
            <a:r>
              <a:rPr lang="en-US" b="1" dirty="0" err="1"/>
              <a:t>xP</a:t>
            </a:r>
            <a:r>
              <a:rPr lang="en-US" b="1" dirty="0"/>
              <a:t>(x)</a:t>
            </a:r>
            <a:r>
              <a:rPr lang="en-US" dirty="0"/>
              <a:t> and </a:t>
            </a:r>
            <a:r>
              <a:rPr lang="en-US" b="1" dirty="0"/>
              <a:t>Q(x)</a:t>
            </a:r>
            <a:r>
              <a:rPr lang="en-US" dirty="0"/>
              <a:t>. </a:t>
            </a:r>
          </a:p>
          <a:p>
            <a:pPr marL="0" indent="0">
              <a:buNone/>
            </a:pPr>
            <a:endParaRPr lang="en-US" dirty="0"/>
          </a:p>
          <a:p>
            <a:pPr marL="0" indent="0">
              <a:buNone/>
            </a:pPr>
            <a:r>
              <a:rPr lang="en-US" dirty="0"/>
              <a:t>In other words, </a:t>
            </a:r>
            <a:r>
              <a:rPr lang="en-US" b="1" dirty="0"/>
              <a:t>it means </a:t>
            </a:r>
            <a:r>
              <a:rPr lang="en-US" b="1" dirty="0">
                <a:solidFill>
                  <a:srgbClr val="0000FF"/>
                </a:solidFill>
              </a:rPr>
              <a:t>(∀</a:t>
            </a:r>
            <a:r>
              <a:rPr lang="en-US" b="1" dirty="0" err="1">
                <a:solidFill>
                  <a:srgbClr val="0000FF"/>
                </a:solidFill>
              </a:rPr>
              <a:t>xP</a:t>
            </a:r>
            <a:r>
              <a:rPr lang="en-US" b="1" dirty="0">
                <a:solidFill>
                  <a:srgbClr val="0000FF"/>
                </a:solidFill>
              </a:rPr>
              <a:t>(x)) ∨ Q(x)</a:t>
            </a:r>
          </a:p>
          <a:p>
            <a:pPr lvl="1"/>
            <a:endParaRPr lang="en-US" sz="3600" dirty="0"/>
          </a:p>
          <a:p>
            <a:pPr lvl="1"/>
            <a:r>
              <a:rPr lang="en-US" sz="3600" dirty="0"/>
              <a:t> </a:t>
            </a:r>
            <a:r>
              <a:rPr lang="en-US" sz="3600" i="1" dirty="0"/>
              <a:t>rather than</a:t>
            </a:r>
            <a:r>
              <a:rPr lang="en-US" sz="3600" dirty="0"/>
              <a:t> </a:t>
            </a:r>
            <a:r>
              <a:rPr lang="en-US" sz="3600" dirty="0">
                <a:solidFill>
                  <a:srgbClr val="C00000"/>
                </a:solidFill>
              </a:rPr>
              <a:t>∀x(P(x) ∨ Q(x))</a:t>
            </a:r>
            <a:r>
              <a:rPr lang="en-US" dirty="0"/>
              <a:t>.</a:t>
            </a:r>
          </a:p>
        </p:txBody>
      </p:sp>
      <p:sp>
        <p:nvSpPr>
          <p:cNvPr id="1048775" name="Title 3"/>
          <p:cNvSpPr>
            <a:spLocks noGrp="1"/>
          </p:cNvSpPr>
          <p:nvPr>
            <p:ph type="title"/>
          </p:nvPr>
        </p:nvSpPr>
        <p:spPr/>
        <p:txBody>
          <a:bodyPr>
            <a:normAutofit fontScale="90000"/>
          </a:bodyPr>
          <a:lstStyle/>
          <a:p>
            <a:br>
              <a:rPr lang="en-US" dirty="0"/>
            </a:br>
            <a:r>
              <a:rPr lang="en-US" dirty="0"/>
              <a:t>Precedence of Quantifiers</a:t>
            </a:r>
            <a:br>
              <a:rPr lang="en-US" dirty="0"/>
            </a:b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88" name="Rectangle 1048787">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790" name="Oval 104878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783" name="Title 2"/>
          <p:cNvSpPr>
            <a:spLocks noGrp="1"/>
          </p:cNvSpPr>
          <p:nvPr>
            <p:ph type="title"/>
          </p:nvPr>
        </p:nvSpPr>
        <p:spPr>
          <a:xfrm>
            <a:off x="1389278" y="1233241"/>
            <a:ext cx="3240506" cy="4064628"/>
          </a:xfrm>
        </p:spPr>
        <p:txBody>
          <a:bodyPr>
            <a:normAutofit/>
          </a:bodyPr>
          <a:lstStyle/>
          <a:p>
            <a:pPr algn="ctr"/>
            <a:br>
              <a:rPr lang="en-US" dirty="0">
                <a:solidFill>
                  <a:srgbClr val="FFFFFF"/>
                </a:solidFill>
              </a:rPr>
            </a:br>
            <a:r>
              <a:rPr lang="en-US" dirty="0">
                <a:solidFill>
                  <a:srgbClr val="FFFFFF"/>
                </a:solidFill>
              </a:rPr>
              <a:t>Logical Equivalences </a:t>
            </a:r>
            <a:br>
              <a:rPr lang="en-US" dirty="0">
                <a:solidFill>
                  <a:srgbClr val="FFFFFF"/>
                </a:solidFill>
              </a:rPr>
            </a:br>
            <a:endParaRPr lang="en-US" dirty="0">
              <a:solidFill>
                <a:srgbClr val="FFFFFF"/>
              </a:solidFill>
            </a:endParaRPr>
          </a:p>
        </p:txBody>
      </p:sp>
      <p:sp>
        <p:nvSpPr>
          <p:cNvPr id="1048792" name="Freeform: Shape 104879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794" name="Freeform: Shape 104879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796" name="Freeform: Shape 104879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782" name="Content Placeholder 1"/>
          <p:cNvSpPr>
            <a:spLocks noGrp="1"/>
          </p:cNvSpPr>
          <p:nvPr>
            <p:ph idx="1"/>
          </p:nvPr>
        </p:nvSpPr>
        <p:spPr>
          <a:xfrm>
            <a:off x="6096000" y="1211005"/>
            <a:ext cx="5257799" cy="4476989"/>
          </a:xfrm>
        </p:spPr>
        <p:txBody>
          <a:bodyPr anchor="t">
            <a:normAutofit/>
          </a:bodyPr>
          <a:lstStyle/>
          <a:p>
            <a:pPr marL="0" indent="0" algn="ctr">
              <a:buNone/>
            </a:pPr>
            <a:r>
              <a:rPr lang="en-US" dirty="0"/>
              <a:t>Statements involving predicates and quantifiers are logically equivalent if and only if they have the same truth value no matter which predicates are substituted into these statements and which domain of discourse is used for the variables in these propositional functions.</a:t>
            </a:r>
          </a:p>
          <a:p>
            <a:endParaRPr lang="en-US" dirty="0"/>
          </a:p>
        </p:txBody>
      </p:sp>
      <p:sp>
        <p:nvSpPr>
          <p:cNvPr id="1048798" name="Freeform: Shape 104879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800" name="Freeform: Shape 104879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802" name="Freeform: Shape 104880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92" name="Rectangle 1048791">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785" name="Title 2"/>
          <p:cNvSpPr>
            <a:spLocks noGrp="1"/>
          </p:cNvSpPr>
          <p:nvPr>
            <p:ph type="title"/>
          </p:nvPr>
        </p:nvSpPr>
        <p:spPr>
          <a:xfrm>
            <a:off x="726509" y="524510"/>
            <a:ext cx="5393361" cy="1325563"/>
          </a:xfrm>
        </p:spPr>
        <p:txBody>
          <a:bodyPr>
            <a:normAutofit fontScale="90000"/>
          </a:bodyPr>
          <a:lstStyle/>
          <a:p>
            <a:br>
              <a:rPr lang="en-US" sz="3200" dirty="0"/>
            </a:br>
            <a:r>
              <a:rPr lang="en-US" sz="4000" dirty="0"/>
              <a:t>Logical Equivalences </a:t>
            </a:r>
            <a:br>
              <a:rPr lang="en-US" sz="3200" dirty="0"/>
            </a:br>
            <a:endParaRPr lang="en-US" sz="3200" dirty="0"/>
          </a:p>
        </p:txBody>
      </p:sp>
      <p:sp>
        <p:nvSpPr>
          <p:cNvPr id="1048794" name="Freeform: Shape 1048793">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784" name="Content Placeholder 1"/>
          <p:cNvSpPr>
            <a:spLocks noGrp="1"/>
          </p:cNvSpPr>
          <p:nvPr>
            <p:ph idx="1"/>
          </p:nvPr>
        </p:nvSpPr>
        <p:spPr>
          <a:xfrm>
            <a:off x="832725" y="2181782"/>
            <a:ext cx="5393361" cy="3025176"/>
          </a:xfrm>
        </p:spPr>
        <p:txBody>
          <a:bodyPr>
            <a:normAutofit/>
          </a:bodyPr>
          <a:lstStyle/>
          <a:p>
            <a:pPr marL="0" indent="0" algn="ctr">
              <a:buNone/>
            </a:pPr>
            <a:r>
              <a:rPr lang="en-US" dirty="0"/>
              <a:t>We use the notation </a:t>
            </a:r>
          </a:p>
          <a:p>
            <a:pPr marL="0" indent="0" algn="ctr">
              <a:buNone/>
            </a:pPr>
            <a:r>
              <a:rPr lang="en-US" b="1" dirty="0">
                <a:solidFill>
                  <a:srgbClr val="00B050"/>
                </a:solidFill>
              </a:rPr>
              <a:t>S ≡ T</a:t>
            </a:r>
          </a:p>
          <a:p>
            <a:pPr marL="0" indent="0" algn="ctr">
              <a:buNone/>
            </a:pPr>
            <a:r>
              <a:rPr lang="en-US" dirty="0"/>
              <a:t>to indicate that two statements </a:t>
            </a:r>
            <a:r>
              <a:rPr lang="en-US" b="1" dirty="0">
                <a:solidFill>
                  <a:srgbClr val="00B050"/>
                </a:solidFill>
              </a:rPr>
              <a:t>S</a:t>
            </a:r>
            <a:r>
              <a:rPr lang="en-US" dirty="0"/>
              <a:t> and</a:t>
            </a:r>
            <a:r>
              <a:rPr lang="en-US" b="1" dirty="0">
                <a:solidFill>
                  <a:srgbClr val="00B050"/>
                </a:solidFill>
              </a:rPr>
              <a:t> T </a:t>
            </a:r>
            <a:r>
              <a:rPr lang="en-US" dirty="0"/>
              <a:t>involving predicates and quantifiers are logically equivalent.</a:t>
            </a:r>
          </a:p>
        </p:txBody>
      </p:sp>
      <p:sp>
        <p:nvSpPr>
          <p:cNvPr id="1048796" name="Oval 104879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48789" name="Graphic 1048788" descr="Checkmark">
            <a:extLst>
              <a:ext uri="{FF2B5EF4-FFF2-40B4-BE49-F238E27FC236}">
                <a16:creationId xmlns:a16="http://schemas.microsoft.com/office/drawing/2014/main" id="{A41985BC-B645-5243-2104-CE51951507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048798" name="Freeform: Shape 104879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1048800" name="Straight Connector 104879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048802" name="Freeform: Shape 104880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8804" name="Freeform: Shape 104880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48806" name="Freeform: Shape 104880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6" name="Content Placeholder 1"/>
          <p:cNvSpPr>
            <a:spLocks noGrp="1"/>
          </p:cNvSpPr>
          <p:nvPr>
            <p:ph idx="1"/>
          </p:nvPr>
        </p:nvSpPr>
        <p:spPr>
          <a:xfrm>
            <a:off x="587829" y="1911096"/>
            <a:ext cx="11299371" cy="3859742"/>
          </a:xfrm>
        </p:spPr>
        <p:txBody>
          <a:bodyPr>
            <a:normAutofit/>
          </a:bodyPr>
          <a:lstStyle/>
          <a:p>
            <a:r>
              <a:rPr lang="en-US" dirty="0"/>
              <a:t>We can distribute a </a:t>
            </a:r>
            <a:r>
              <a:rPr lang="en-US" b="1" i="1" dirty="0"/>
              <a:t>universal</a:t>
            </a:r>
            <a:r>
              <a:rPr lang="en-US" b="1" dirty="0"/>
              <a:t> quantifier </a:t>
            </a:r>
            <a:r>
              <a:rPr lang="en-US" dirty="0"/>
              <a:t>over a </a:t>
            </a:r>
            <a:r>
              <a:rPr lang="en-US" b="1" dirty="0"/>
              <a:t>conjunction</a:t>
            </a:r>
          </a:p>
          <a:p>
            <a:pPr marL="0" indent="0" algn="ctr">
              <a:buNone/>
            </a:pPr>
            <a:r>
              <a:rPr lang="en-US" dirty="0"/>
              <a:t>∀x (P(x) ∧ Q(x)) ≡ ∀x P(x) ∧ ∀x Q(x)</a:t>
            </a:r>
            <a:br>
              <a:rPr lang="en-US" dirty="0"/>
            </a:br>
            <a:endParaRPr lang="en-US" b="1" dirty="0"/>
          </a:p>
          <a:p>
            <a:r>
              <a:rPr lang="en-US" dirty="0"/>
              <a:t>We can also distribute an </a:t>
            </a:r>
            <a:r>
              <a:rPr lang="en-US" b="1" i="1" dirty="0"/>
              <a:t>existential</a:t>
            </a:r>
            <a:r>
              <a:rPr lang="en-US" b="1" dirty="0"/>
              <a:t> quantifier </a:t>
            </a:r>
            <a:r>
              <a:rPr lang="en-US" dirty="0"/>
              <a:t>over a </a:t>
            </a:r>
            <a:r>
              <a:rPr lang="en-US" b="1" dirty="0"/>
              <a:t>disjunction</a:t>
            </a:r>
            <a:endParaRPr lang="zh-CN" altLang="en-US" dirty="0"/>
          </a:p>
          <a:p>
            <a:pPr marL="109728" indent="0" algn="ctr">
              <a:buNone/>
            </a:pPr>
            <a:r>
              <a:rPr lang="en-US" dirty="0"/>
              <a:t> </a:t>
            </a:r>
            <a:r>
              <a:rPr lang="en-US" sz="3600" dirty="0"/>
              <a:t>∃</a:t>
            </a:r>
            <a:r>
              <a:rPr lang="en-US" dirty="0"/>
              <a:t>x (P(x) </a:t>
            </a:r>
            <a:r>
              <a:rPr lang="en-US" sz="3600" dirty="0"/>
              <a:t>∨ </a:t>
            </a:r>
            <a:r>
              <a:rPr lang="en-US" dirty="0"/>
              <a:t>Q(x)) ≡ </a:t>
            </a:r>
            <a:r>
              <a:rPr lang="en-US" sz="3600" dirty="0"/>
              <a:t>∃</a:t>
            </a:r>
            <a:r>
              <a:rPr lang="en-US" dirty="0"/>
              <a:t>x P(x) </a:t>
            </a:r>
            <a:r>
              <a:rPr lang="en-US" sz="3600" dirty="0"/>
              <a:t>∨ ∃</a:t>
            </a:r>
            <a:r>
              <a:rPr lang="en-US" dirty="0"/>
              <a:t>x Q(x)</a:t>
            </a:r>
            <a:br>
              <a:rPr lang="en-US" dirty="0"/>
            </a:br>
            <a:endParaRPr lang="zh-CN" altLang="en-US" dirty="0"/>
          </a:p>
        </p:txBody>
      </p:sp>
      <p:sp>
        <p:nvSpPr>
          <p:cNvPr id="1048787" name="Title 2"/>
          <p:cNvSpPr>
            <a:spLocks noGrp="1"/>
          </p:cNvSpPr>
          <p:nvPr>
            <p:ph type="title"/>
          </p:nvPr>
        </p:nvSpPr>
        <p:spPr>
          <a:xfrm>
            <a:off x="503854" y="251619"/>
            <a:ext cx="10515600" cy="835543"/>
          </a:xfrm>
        </p:spPr>
        <p:txBody>
          <a:bodyPr>
            <a:normAutofit fontScale="90000"/>
          </a:bodyPr>
          <a:lstStyle/>
          <a:p>
            <a:br>
              <a:rPr lang="en-US" dirty="0"/>
            </a:br>
            <a:r>
              <a:rPr lang="en-US" sz="4400" dirty="0"/>
              <a:t>Logical Equivalences</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8" name="Content Placeholder 1"/>
          <p:cNvSpPr>
            <a:spLocks noGrp="1"/>
          </p:cNvSpPr>
          <p:nvPr>
            <p:ph idx="1"/>
          </p:nvPr>
        </p:nvSpPr>
        <p:spPr>
          <a:xfrm>
            <a:off x="539495" y="1911096"/>
            <a:ext cx="11310383" cy="3859742"/>
          </a:xfrm>
        </p:spPr>
        <p:txBody>
          <a:bodyPr>
            <a:normAutofit/>
          </a:bodyPr>
          <a:lstStyle/>
          <a:p>
            <a:r>
              <a:rPr lang="en-US" dirty="0"/>
              <a:t>We </a:t>
            </a:r>
            <a:r>
              <a:rPr lang="en-US" dirty="0">
                <a:solidFill>
                  <a:srgbClr val="FF0000"/>
                </a:solidFill>
              </a:rPr>
              <a:t>cannot </a:t>
            </a:r>
            <a:r>
              <a:rPr lang="en-US" dirty="0"/>
              <a:t>distribute a </a:t>
            </a:r>
            <a:r>
              <a:rPr lang="en-US" b="1" i="1" dirty="0"/>
              <a:t>universal</a:t>
            </a:r>
            <a:r>
              <a:rPr lang="en-US" b="1" dirty="0"/>
              <a:t> quantifier </a:t>
            </a:r>
            <a:r>
              <a:rPr lang="en-US" dirty="0"/>
              <a:t>over a </a:t>
            </a:r>
            <a:r>
              <a:rPr lang="en-US" b="1" dirty="0"/>
              <a:t>disjunction</a:t>
            </a:r>
          </a:p>
          <a:p>
            <a:pPr marL="0" indent="0" algn="ctr">
              <a:buNone/>
            </a:pPr>
            <a:r>
              <a:rPr lang="en-US" sz="2800" dirty="0"/>
              <a:t>∀x (P(x) ∨ Q(x)) </a:t>
            </a:r>
            <a:r>
              <a:rPr lang="en-US" sz="2800" dirty="0">
                <a:solidFill>
                  <a:srgbClr val="C00000"/>
                </a:solidFill>
              </a:rPr>
              <a:t>!≡ </a:t>
            </a:r>
            <a:r>
              <a:rPr lang="en-US" sz="2800" dirty="0"/>
              <a:t>∀x P(x) ∨ ∀x Q(x)</a:t>
            </a:r>
            <a:br>
              <a:rPr lang="en-US" sz="2800" dirty="0"/>
            </a:br>
            <a:endParaRPr lang="en-US" b="1" dirty="0"/>
          </a:p>
          <a:p>
            <a:r>
              <a:rPr lang="en-US" dirty="0"/>
              <a:t>Similarly,</a:t>
            </a:r>
          </a:p>
          <a:p>
            <a:pPr marL="0" indent="0">
              <a:buNone/>
            </a:pPr>
            <a:r>
              <a:rPr lang="en-US" dirty="0"/>
              <a:t> we </a:t>
            </a:r>
            <a:r>
              <a:rPr lang="en-US" dirty="0">
                <a:solidFill>
                  <a:srgbClr val="FF0000"/>
                </a:solidFill>
              </a:rPr>
              <a:t>cannot</a:t>
            </a:r>
            <a:r>
              <a:rPr lang="en-US" dirty="0"/>
              <a:t> distribute an </a:t>
            </a:r>
            <a:r>
              <a:rPr lang="en-US" b="1" i="1" dirty="0"/>
              <a:t>existential</a:t>
            </a:r>
            <a:r>
              <a:rPr lang="en-US" b="1" dirty="0"/>
              <a:t> quantifie</a:t>
            </a:r>
            <a:r>
              <a:rPr lang="en-US" dirty="0"/>
              <a:t>r over a </a:t>
            </a:r>
            <a:r>
              <a:rPr lang="en-US" b="1" dirty="0"/>
              <a:t>conjunction</a:t>
            </a:r>
          </a:p>
          <a:p>
            <a:pPr marL="109728" indent="0" algn="ctr">
              <a:buNone/>
            </a:pPr>
            <a:r>
              <a:rPr lang="en-US" sz="3600" dirty="0"/>
              <a:t>∃</a:t>
            </a:r>
            <a:r>
              <a:rPr lang="en-US" dirty="0"/>
              <a:t>x (P(x) ∧ Q(x)) </a:t>
            </a:r>
            <a:r>
              <a:rPr lang="en-US" dirty="0">
                <a:solidFill>
                  <a:srgbClr val="C00000"/>
                </a:solidFill>
              </a:rPr>
              <a:t>!≡ </a:t>
            </a:r>
            <a:r>
              <a:rPr lang="en-US" sz="3600" dirty="0"/>
              <a:t>∃</a:t>
            </a:r>
            <a:r>
              <a:rPr lang="en-US" dirty="0"/>
              <a:t>x P(x) ∧ </a:t>
            </a:r>
            <a:r>
              <a:rPr lang="en-US" sz="3600" dirty="0"/>
              <a:t>∃</a:t>
            </a:r>
            <a:r>
              <a:rPr lang="en-US" dirty="0"/>
              <a:t>x Q(x)</a:t>
            </a:r>
            <a:br>
              <a:rPr lang="en-US" dirty="0"/>
            </a:br>
            <a:endParaRPr lang="en-US" b="1" dirty="0"/>
          </a:p>
        </p:txBody>
      </p:sp>
      <p:sp>
        <p:nvSpPr>
          <p:cNvPr id="1048789" name="Title 2"/>
          <p:cNvSpPr>
            <a:spLocks noGrp="1"/>
          </p:cNvSpPr>
          <p:nvPr>
            <p:ph type="title"/>
          </p:nvPr>
        </p:nvSpPr>
        <p:spPr>
          <a:xfrm>
            <a:off x="464851" y="0"/>
            <a:ext cx="10515600" cy="1325563"/>
          </a:xfrm>
        </p:spPr>
        <p:txBody>
          <a:bodyPr>
            <a:noAutofit/>
          </a:bodyPr>
          <a:lstStyle/>
          <a:p>
            <a:br>
              <a:rPr lang="en-US" sz="3600" dirty="0"/>
            </a:br>
            <a:r>
              <a:rPr lang="en-US" sz="3600" dirty="0"/>
              <a:t>Logical Equivalences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0" name="Title 1048789"/>
          <p:cNvSpPr>
            <a:spLocks noGrp="1"/>
          </p:cNvSpPr>
          <p:nvPr>
            <p:ph type="title"/>
          </p:nvPr>
        </p:nvSpPr>
        <p:spPr/>
        <p:txBody>
          <a:bodyPr>
            <a:normAutofit fontScale="90000"/>
          </a:bodyPr>
          <a:lstStyle/>
          <a:p>
            <a:r>
              <a:rPr lang="en-US" dirty="0"/>
              <a:t>Negating Quantified Expressions</a:t>
            </a:r>
            <a:endParaRPr lang="en-US"/>
          </a:p>
        </p:txBody>
      </p:sp>
      <p:sp>
        <p:nvSpPr>
          <p:cNvPr id="1048791" name="Text Placeholder 1048790"/>
          <p:cNvSpPr>
            <a:spLocks noGrp="1"/>
          </p:cNvSpPr>
          <p:nvPr>
            <p:ph type="body" idx="1"/>
          </p:nvPr>
        </p:nvSpPr>
        <p:spPr/>
        <p:txBody>
          <a:bodyPr/>
          <a:lstStyle/>
          <a:p>
            <a:r>
              <a:rPr lang="en-US" b="1" dirty="0"/>
              <a:t>De Morgan's Laws</a:t>
            </a:r>
            <a:endParaRPr lang="en-US" b="1"/>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225" y="1"/>
            <a:ext cx="10515600" cy="1007706"/>
          </a:xfrm>
        </p:spPr>
        <p:txBody>
          <a:bodyPr>
            <a:normAutofit/>
          </a:bodyPr>
          <a:lstStyle/>
          <a:p>
            <a:r>
              <a:rPr lang="en-US" dirty="0">
                <a:latin typeface="Cambria Math" panose="02040503050406030204" pitchFamily="18" charset="0"/>
                <a:ea typeface="Cambria Math" panose="02040503050406030204" pitchFamily="18" charset="0"/>
              </a:rPr>
              <a:t>Quantifiers – Negation</a:t>
            </a:r>
          </a:p>
        </p:txBody>
      </p:sp>
      <p:sp>
        <p:nvSpPr>
          <p:cNvPr id="4" name="Content Placeholder 2">
            <a:extLst>
              <a:ext uri="{FF2B5EF4-FFF2-40B4-BE49-F238E27FC236}">
                <a16:creationId xmlns:a16="http://schemas.microsoft.com/office/drawing/2014/main" id="{E135145C-679B-1D2F-69F2-22731D90B78F}"/>
              </a:ext>
            </a:extLst>
          </p:cNvPr>
          <p:cNvSpPr>
            <a:spLocks noGrp="1"/>
          </p:cNvSpPr>
          <p:nvPr>
            <p:ph idx="1"/>
          </p:nvPr>
        </p:nvSpPr>
        <p:spPr>
          <a:xfrm>
            <a:off x="838200" y="1026367"/>
            <a:ext cx="10515600" cy="5150596"/>
          </a:xfrm>
        </p:spPr>
        <p:txBody>
          <a:bodyPr/>
          <a:lstStyle/>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Let P(x) be a predicate then the following hold:</a:t>
            </a:r>
          </a:p>
          <a:p>
            <a:pPr>
              <a:buFont typeface="Wingdings" panose="05000000000000000000" pitchFamily="2" charset="2"/>
              <a:buChar char="ü"/>
            </a:pPr>
            <a:endParaRPr lang="en-US" dirty="0">
              <a:latin typeface="Cambria Math" panose="02040503050406030204" pitchFamily="18" charset="0"/>
              <a:ea typeface="Cambria Math" panose="02040503050406030204" pitchFamily="18" charset="0"/>
            </a:endParaRPr>
          </a:p>
          <a:p>
            <a:pPr marL="971550" lvl="1" indent="-514350">
              <a:buFont typeface="+mj-lt"/>
              <a:buAutoNum type="arabicPeriod"/>
            </a:pPr>
            <a:r>
              <a:rPr lang="en-US" sz="2800" b="1" dirty="0">
                <a:solidFill>
                  <a:srgbClr val="C00000"/>
                </a:solidFill>
                <a:latin typeface="Cambria Math" panose="02040503050406030204" pitchFamily="18" charset="0"/>
                <a:ea typeface="Cambria Math" panose="02040503050406030204" pitchFamily="18" charset="0"/>
              </a:rPr>
              <a:t>¬∀</a:t>
            </a:r>
            <a:r>
              <a:rPr lang="en-US" sz="2800" b="1" dirty="0" err="1">
                <a:solidFill>
                  <a:srgbClr val="C00000"/>
                </a:solidFill>
                <a:latin typeface="Cambria Math" panose="02040503050406030204" pitchFamily="18" charset="0"/>
                <a:ea typeface="Cambria Math" panose="02040503050406030204" pitchFamily="18" charset="0"/>
              </a:rPr>
              <a:t>xP</a:t>
            </a:r>
            <a:r>
              <a:rPr lang="en-US" sz="2800" b="1" dirty="0">
                <a:solidFill>
                  <a:srgbClr val="C00000"/>
                </a:solidFill>
                <a:latin typeface="Cambria Math" panose="02040503050406030204" pitchFamily="18" charset="0"/>
                <a:ea typeface="Cambria Math" panose="02040503050406030204" pitchFamily="18" charset="0"/>
              </a:rPr>
              <a:t>(x) = ∃</a:t>
            </a:r>
            <a:r>
              <a:rPr lang="en-US" sz="2800" b="1" dirty="0" err="1">
                <a:solidFill>
                  <a:srgbClr val="C00000"/>
                </a:solidFill>
                <a:latin typeface="Cambria Math" panose="02040503050406030204" pitchFamily="18" charset="0"/>
                <a:ea typeface="Cambria Math" panose="02040503050406030204" pitchFamily="18" charset="0"/>
              </a:rPr>
              <a:t>x¬P</a:t>
            </a:r>
            <a:r>
              <a:rPr lang="en-US" sz="2800" b="1" dirty="0">
                <a:solidFill>
                  <a:srgbClr val="C00000"/>
                </a:solidFill>
                <a:latin typeface="Cambria Math" panose="02040503050406030204" pitchFamily="18" charset="0"/>
                <a:ea typeface="Cambria Math" panose="02040503050406030204" pitchFamily="18" charset="0"/>
              </a:rPr>
              <a:t>(x)</a:t>
            </a:r>
          </a:p>
          <a:p>
            <a:pPr marL="971550" lvl="1" indent="-514350">
              <a:buFont typeface="+mj-lt"/>
              <a:buAutoNum type="arabicPeriod"/>
            </a:pPr>
            <a:endParaRPr lang="en-US" sz="2800" b="1" dirty="0">
              <a:solidFill>
                <a:srgbClr val="C00000"/>
              </a:solidFill>
              <a:latin typeface="Cambria Math" panose="02040503050406030204" pitchFamily="18" charset="0"/>
              <a:ea typeface="Cambria Math" panose="02040503050406030204" pitchFamily="18" charset="0"/>
            </a:endParaRPr>
          </a:p>
          <a:p>
            <a:pPr marL="971550" lvl="1" indent="-514350">
              <a:buFont typeface="+mj-lt"/>
              <a:buAutoNum type="arabicPeriod"/>
            </a:pPr>
            <a:r>
              <a:rPr lang="en-US" sz="2800" b="1" dirty="0">
                <a:solidFill>
                  <a:srgbClr val="C00000"/>
                </a:solidFill>
                <a:latin typeface="Cambria Math" panose="02040503050406030204" pitchFamily="18" charset="0"/>
                <a:ea typeface="Cambria Math" panose="02040503050406030204" pitchFamily="18" charset="0"/>
              </a:rPr>
              <a:t>¬∃</a:t>
            </a:r>
            <a:r>
              <a:rPr lang="en-US" sz="2800" b="1" dirty="0" err="1">
                <a:solidFill>
                  <a:srgbClr val="C00000"/>
                </a:solidFill>
                <a:latin typeface="Cambria Math" panose="02040503050406030204" pitchFamily="18" charset="0"/>
                <a:ea typeface="Cambria Math" panose="02040503050406030204" pitchFamily="18" charset="0"/>
              </a:rPr>
              <a:t>xP</a:t>
            </a:r>
            <a:r>
              <a:rPr lang="en-US" sz="2800" b="1" dirty="0">
                <a:solidFill>
                  <a:srgbClr val="C00000"/>
                </a:solidFill>
                <a:latin typeface="Cambria Math" panose="02040503050406030204" pitchFamily="18" charset="0"/>
                <a:ea typeface="Cambria Math" panose="02040503050406030204" pitchFamily="18" charset="0"/>
              </a:rPr>
              <a:t>(x) = ∀</a:t>
            </a:r>
            <a:r>
              <a:rPr lang="en-US" sz="2800" b="1" dirty="0" err="1">
                <a:solidFill>
                  <a:srgbClr val="C00000"/>
                </a:solidFill>
                <a:latin typeface="Cambria Math" panose="02040503050406030204" pitchFamily="18" charset="0"/>
                <a:ea typeface="Cambria Math" panose="02040503050406030204" pitchFamily="18" charset="0"/>
              </a:rPr>
              <a:t>x¬P</a:t>
            </a:r>
            <a:r>
              <a:rPr lang="en-US" sz="2800" b="1" dirty="0">
                <a:solidFill>
                  <a:srgbClr val="C00000"/>
                </a:solidFill>
                <a:latin typeface="Cambria Math" panose="02040503050406030204" pitchFamily="18" charset="0"/>
                <a:ea typeface="Cambria Math" panose="02040503050406030204" pitchFamily="18" charset="0"/>
              </a:rPr>
              <a:t>(x)</a:t>
            </a:r>
          </a:p>
          <a:p>
            <a:pPr marL="971550" lvl="1" indent="-514350">
              <a:buFont typeface="+mj-lt"/>
              <a:buAutoNum type="arabicPeriod"/>
            </a:pPr>
            <a:endParaRPr lang="en-US" sz="2800" dirty="0">
              <a:latin typeface="Cambria Math" panose="02040503050406030204" pitchFamily="18" charset="0"/>
              <a:ea typeface="Cambria Math" panose="02040503050406030204" pitchFamily="18" charset="0"/>
            </a:endParaRPr>
          </a:p>
          <a:p>
            <a:pPr algn="just">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These are essentially the quantified versions of De Morgan’s Law. (In fact if the universe of discourse is finite, it is exactly De Morgan’s Law)</a:t>
            </a:r>
          </a:p>
        </p:txBody>
      </p:sp>
    </p:spTree>
    <p:extLst>
      <p:ext uri="{BB962C8B-B14F-4D97-AF65-F5344CB8AC3E}">
        <p14:creationId xmlns:p14="http://schemas.microsoft.com/office/powerpoint/2010/main" val="12227746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249" y="57914"/>
            <a:ext cx="10515600" cy="875148"/>
          </a:xfrm>
        </p:spPr>
        <p:txBody>
          <a:bodyPr>
            <a:normAutofit/>
          </a:bodyPr>
          <a:lstStyle/>
          <a:p>
            <a:r>
              <a:rPr lang="en-US" dirty="0">
                <a:latin typeface="Cambria Math" panose="02040503050406030204" pitchFamily="18" charset="0"/>
                <a:ea typeface="Cambria Math" panose="02040503050406030204" pitchFamily="18" charset="0"/>
              </a:rPr>
              <a:t>Quantifiers –</a:t>
            </a:r>
            <a:r>
              <a:rPr lang="en-US" dirty="0">
                <a:solidFill>
                  <a:schemeClr val="tx1">
                    <a:lumMod val="65000"/>
                    <a:lumOff val="35000"/>
                  </a:schemeClr>
                </a:solidFill>
                <a:latin typeface="Cambria Math" panose="02040503050406030204" pitchFamily="18" charset="0"/>
                <a:ea typeface="Cambria Math" panose="02040503050406030204" pitchFamily="18" charset="0"/>
              </a:rPr>
              <a:t> </a:t>
            </a:r>
            <a:r>
              <a:rPr lang="en-US" sz="3600" dirty="0">
                <a:solidFill>
                  <a:srgbClr val="C00000"/>
                </a:solidFill>
                <a:latin typeface="Cambria Math" panose="02040503050406030204" pitchFamily="18" charset="0"/>
                <a:ea typeface="Cambria Math" panose="02040503050406030204" pitchFamily="18" charset="0"/>
              </a:rPr>
              <a:t>Negation</a:t>
            </a:r>
            <a:endParaRPr lang="en-US" dirty="0">
              <a:solidFill>
                <a:srgbClr val="C00000"/>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446314" y="2392763"/>
                <a:ext cx="10515600" cy="4351338"/>
              </a:xfrm>
            </p:spPr>
            <p:txBody>
              <a:bodyPr/>
              <a:lstStyle/>
              <a:p>
                <a:pPr marL="0" indent="0">
                  <a:buNone/>
                </a:pPr>
                <a14:m>
                  <m:oMath xmlns:m="http://schemas.openxmlformats.org/officeDocument/2006/math">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𝑥𝑃</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𝑥</m:t>
                        </m:r>
                      </m:e>
                    </m:d>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𝑃</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1</m:t>
                            </m:r>
                          </m:sub>
                        </m:sSub>
                      </m:e>
                    </m:d>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𝑃</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2</m:t>
                            </m:r>
                          </m:sub>
                        </m:sSub>
                      </m:e>
                    </m:d>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𝑃</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𝑛</m:t>
                            </m:r>
                          </m:sub>
                        </m:sSub>
                      </m:e>
                    </m:d>
                    <m:r>
                      <a:rPr lang="en-US" b="0" i="1" smtClean="0">
                        <a:latin typeface="Cambria Math" panose="02040503050406030204" pitchFamily="18" charset="0"/>
                      </a:rPr>
                      <m:t> </m:t>
                    </m:r>
                  </m:oMath>
                </a14:m>
                <a:r>
                  <a:rPr lang="en-US" dirty="0"/>
                  <a:t> </a:t>
                </a:r>
              </a:p>
              <a:p>
                <a:pPr marL="0" indent="0">
                  <a:buNone/>
                </a:pPr>
                <a:endParaRPr lang="en-US" dirty="0"/>
              </a:p>
              <a:p>
                <a:pPr marL="0" indent="0">
                  <a:buNone/>
                </a:pPr>
                <a14:m>
                  <m:oMath xmlns:m="http://schemas.openxmlformats.org/officeDocument/2006/math">
                    <m:r>
                      <a:rPr lang="en-US" b="0" i="1" smtClean="0">
                        <a:solidFill>
                          <a:srgbClr val="C00000"/>
                        </a:solidFill>
                        <a:latin typeface="Cambria Math" panose="02040503050406030204" pitchFamily="18" charset="0"/>
                        <a:ea typeface="Cambria Math" panose="02040503050406030204" pitchFamily="18" charset="0"/>
                      </a:rPr>
                      <m:t>¬</m:t>
                    </m:r>
                    <m:r>
                      <a:rPr lang="en-US" i="1">
                        <a:solidFill>
                          <a:srgbClr val="C00000"/>
                        </a:solidFill>
                        <a:latin typeface="Cambria Math" panose="02040503050406030204" pitchFamily="18" charset="0"/>
                        <a:ea typeface="Cambria Math" panose="02040503050406030204" pitchFamily="18" charset="0"/>
                      </a:rPr>
                      <m:t>∀</m:t>
                    </m:r>
                    <m:r>
                      <a:rPr lang="en-US" i="1">
                        <a:solidFill>
                          <a:srgbClr val="C00000"/>
                        </a:solidFill>
                        <a:latin typeface="Cambria Math" panose="02040503050406030204" pitchFamily="18" charset="0"/>
                        <a:ea typeface="Cambria Math" panose="02040503050406030204" pitchFamily="18" charset="0"/>
                      </a:rPr>
                      <m:t>𝑥𝑃</m:t>
                    </m:r>
                    <m:d>
                      <m:dPr>
                        <m:ctrlPr>
                          <a:rPr lang="en-US" i="1">
                            <a:solidFill>
                              <a:srgbClr val="C00000"/>
                            </a:solidFill>
                            <a:latin typeface="Cambria Math" panose="02040503050406030204" pitchFamily="18" charset="0"/>
                            <a:ea typeface="Cambria Math" panose="02040503050406030204" pitchFamily="18" charset="0"/>
                          </a:rPr>
                        </m:ctrlPr>
                      </m:dPr>
                      <m:e>
                        <m:r>
                          <a:rPr lang="en-US" i="1">
                            <a:solidFill>
                              <a:srgbClr val="C00000"/>
                            </a:solidFill>
                            <a:latin typeface="Cambria Math" panose="02040503050406030204" pitchFamily="18" charset="0"/>
                            <a:ea typeface="Cambria Math" panose="02040503050406030204" pitchFamily="18" charset="0"/>
                          </a:rPr>
                          <m:t>𝑥</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2</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𝑛</m:t>
                            </m:r>
                          </m:sub>
                        </m:sSub>
                      </m:e>
                    </m:d>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a:t>
                </a:r>
              </a:p>
              <a:p>
                <a:pPr marL="0" indent="0">
                  <a:buNone/>
                </a:pPr>
                <a:r>
                  <a:rPr lang="en-US" dirty="0">
                    <a:latin typeface="Cambria Math" panose="02040503050406030204" pitchFamily="18" charset="0"/>
                    <a:ea typeface="Cambria Math" panose="02040503050406030204" pitchFamily="18" charset="0"/>
                  </a:rPr>
                  <a:t>     </a:t>
                </a:r>
                <a:r>
                  <a:rPr lang="en-US" dirty="0">
                    <a:solidFill>
                      <a:srgbClr val="00B050"/>
                    </a:solidFill>
                    <a:latin typeface="Cambria Math" panose="02040503050406030204" pitchFamily="18" charset="0"/>
                    <a:ea typeface="Cambria Math" panose="02040503050406030204" pitchFamily="18" charset="0"/>
                  </a:rPr>
                  <a:t>Use De Morgan’s Law</a:t>
                </a:r>
              </a:p>
              <a:p>
                <a:pPr marL="0" indent="0">
                  <a:buNone/>
                </a:pPr>
                <a14:m>
                  <m:oMath xmlns:m="http://schemas.openxmlformats.org/officeDocument/2006/math">
                    <m:r>
                      <a:rPr lang="en-US" b="1" i="1" smtClean="0">
                        <a:solidFill>
                          <a:srgbClr val="C00000"/>
                        </a:solidFill>
                        <a:latin typeface="Cambria Math" panose="02040503050406030204" pitchFamily="18" charset="0"/>
                        <a:ea typeface="Cambria Math" panose="02040503050406030204" pitchFamily="18" charset="0"/>
                      </a:rPr>
                      <m:t>¬</m:t>
                    </m:r>
                    <m:r>
                      <a:rPr lang="en-US" b="1" i="1">
                        <a:solidFill>
                          <a:srgbClr val="C00000"/>
                        </a:solidFill>
                        <a:latin typeface="Cambria Math" panose="02040503050406030204" pitchFamily="18" charset="0"/>
                        <a:ea typeface="Cambria Math" panose="02040503050406030204" pitchFamily="18" charset="0"/>
                      </a:rPr>
                      <m:t>∀</m:t>
                    </m:r>
                    <m:r>
                      <a:rPr lang="en-US" b="1" i="1">
                        <a:solidFill>
                          <a:srgbClr val="C00000"/>
                        </a:solidFill>
                        <a:latin typeface="Cambria Math" panose="02040503050406030204" pitchFamily="18" charset="0"/>
                        <a:ea typeface="Cambria Math" panose="02040503050406030204" pitchFamily="18" charset="0"/>
                      </a:rPr>
                      <m:t>𝒙𝑷</m:t>
                    </m:r>
                    <m:d>
                      <m:dPr>
                        <m:ctrlPr>
                          <a:rPr lang="en-US" b="1" i="1">
                            <a:solidFill>
                              <a:srgbClr val="C00000"/>
                            </a:solidFill>
                            <a:latin typeface="Cambria Math" panose="02040503050406030204" pitchFamily="18" charset="0"/>
                            <a:ea typeface="Cambria Math" panose="02040503050406030204" pitchFamily="18" charset="0"/>
                          </a:rPr>
                        </m:ctrlPr>
                      </m:dPr>
                      <m:e>
                        <m:r>
                          <a:rPr lang="en-US" b="1" i="1">
                            <a:solidFill>
                              <a:srgbClr val="C00000"/>
                            </a:solidFill>
                            <a:latin typeface="Cambria Math" panose="02040503050406030204" pitchFamily="18" charset="0"/>
                            <a:ea typeface="Cambria Math" panose="02040503050406030204" pitchFamily="18" charset="0"/>
                          </a:rPr>
                          <m:t>𝒙</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1</m:t>
                            </m:r>
                          </m:sub>
                        </m:sSub>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𝑃</m:t>
                    </m:r>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𝑛</m:t>
                            </m:r>
                          </m:sub>
                        </m:sSub>
                      </m:e>
                    </m:d>
                    <m:r>
                      <a:rPr lang="en-US" i="1">
                        <a:latin typeface="Cambria Math" panose="02040503050406030204" pitchFamily="18" charset="0"/>
                        <a:ea typeface="Cambria Math" panose="02040503050406030204" pitchFamily="18" charset="0"/>
                      </a:rPr>
                      <m:t> </m:t>
                    </m:r>
                    <m:r>
                      <a:rPr lang="en-US" b="0"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𝒙</m:t>
                    </m:r>
                    <m:r>
                      <a:rPr lang="en-US" b="1" i="1" smtClean="0">
                        <a:solidFill>
                          <a:srgbClr val="C00000"/>
                        </a:solidFill>
                        <a:latin typeface="Cambria Math" panose="02040503050406030204" pitchFamily="18" charset="0"/>
                        <a:ea typeface="Cambria Math" panose="02040503050406030204" pitchFamily="18" charset="0"/>
                      </a:rPr>
                      <m:t>¬</m:t>
                    </m:r>
                    <m:r>
                      <a:rPr lang="en-US" b="1" i="1" smtClean="0">
                        <a:solidFill>
                          <a:srgbClr val="C00000"/>
                        </a:solidFill>
                        <a:latin typeface="Cambria Math" panose="02040503050406030204" pitchFamily="18" charset="0"/>
                        <a:ea typeface="Cambria Math" panose="02040503050406030204" pitchFamily="18" charset="0"/>
                      </a:rPr>
                      <m:t>𝑷</m:t>
                    </m:r>
                    <m:d>
                      <m:dPr>
                        <m:ctrlPr>
                          <a:rPr lang="en-US" b="1" i="1" smtClean="0">
                            <a:solidFill>
                              <a:srgbClr val="C00000"/>
                            </a:solidFill>
                            <a:latin typeface="Cambria Math" panose="02040503050406030204" pitchFamily="18" charset="0"/>
                            <a:ea typeface="Cambria Math" panose="02040503050406030204" pitchFamily="18" charset="0"/>
                          </a:rPr>
                        </m:ctrlPr>
                      </m:dPr>
                      <m:e>
                        <m:r>
                          <a:rPr lang="en-US" b="1" i="1" smtClean="0">
                            <a:solidFill>
                              <a:srgbClr val="C00000"/>
                            </a:solidFill>
                            <a:latin typeface="Cambria Math" panose="02040503050406030204" pitchFamily="18" charset="0"/>
                            <a:ea typeface="Cambria Math" panose="02040503050406030204" pitchFamily="18" charset="0"/>
                          </a:rPr>
                          <m:t>𝒙</m:t>
                        </m:r>
                      </m:e>
                    </m:d>
                  </m:oMath>
                </a14:m>
                <a:r>
                  <a:rPr lang="en-US" dirty="0">
                    <a:solidFill>
                      <a:srgbClr val="C00000"/>
                    </a:solidFill>
                    <a:latin typeface="Cambria Math" panose="02040503050406030204" pitchFamily="18" charset="0"/>
                    <a:ea typeface="Cambria Math" panose="02040503050406030204" pitchFamily="18" charset="0"/>
                  </a:rPr>
                  <a:t> </a:t>
                </a:r>
                <a:endParaRPr lang="en-US" dirty="0">
                  <a:solidFill>
                    <a:srgbClr val="FF0000"/>
                  </a:solidFill>
                  <a:latin typeface="Cambria Math" panose="02040503050406030204" pitchFamily="18" charset="0"/>
                  <a:ea typeface="Cambria Math" panose="02040503050406030204" pitchFamily="18" charset="0"/>
                </a:endParaRPr>
              </a:p>
              <a:p>
                <a:pPr marL="0" indent="0">
                  <a:buNone/>
                </a:pP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446314" y="2392763"/>
                <a:ext cx="10515600" cy="4351338"/>
              </a:xfrm>
              <a:blipFill>
                <a:blip r:embed="rId2"/>
                <a:stretch>
                  <a:fillRect/>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6243423" y="237371"/>
            <a:ext cx="5786024" cy="2673779"/>
          </a:xfrm>
          <a:prstGeom prst="rect">
            <a:avLst/>
          </a:prstGeom>
        </p:spPr>
      </p:pic>
    </p:spTree>
    <p:extLst>
      <p:ext uri="{BB962C8B-B14F-4D97-AF65-F5344CB8AC3E}">
        <p14:creationId xmlns:p14="http://schemas.microsoft.com/office/powerpoint/2010/main" val="17987910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Cambria Math" panose="02040503050406030204" pitchFamily="18" charset="0"/>
                <a:ea typeface="Cambria Math" panose="02040503050406030204" pitchFamily="18" charset="0"/>
              </a:rPr>
              <a:t>Quantifiers – </a:t>
            </a:r>
            <a:r>
              <a:rPr lang="en-US" dirty="0">
                <a:solidFill>
                  <a:srgbClr val="FF0000"/>
                </a:solidFill>
                <a:latin typeface="Cambria Math" panose="02040503050406030204" pitchFamily="18" charset="0"/>
                <a:ea typeface="Cambria Math" panose="02040503050406030204" pitchFamily="18" charset="0"/>
              </a:rPr>
              <a:t>Negation</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772886" y="2141537"/>
                <a:ext cx="10515600" cy="4351338"/>
              </a:xfrm>
            </p:spPr>
            <p:txBody>
              <a:bodyPr/>
              <a:lstStyle/>
              <a:p>
                <a:pPr marL="0" indent="0">
                  <a:buNone/>
                </a:pPr>
                <a14:m>
                  <m:oMath xmlns:m="http://schemas.openxmlformats.org/officeDocument/2006/math">
                    <m:r>
                      <a:rPr lang="en-US"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𝑥𝑃</m:t>
                    </m:r>
                    <m:d>
                      <m:dPr>
                        <m:ctrlPr>
                          <a:rPr lang="en-US" b="0" i="1" smtClean="0">
                            <a:solidFill>
                              <a:srgbClr val="7030A0"/>
                            </a:solidFill>
                            <a:latin typeface="Cambria Math" panose="02040503050406030204" pitchFamily="18" charset="0"/>
                          </a:rPr>
                        </m:ctrlPr>
                      </m:dPr>
                      <m:e>
                        <m:r>
                          <a:rPr lang="en-US" b="0" i="1" smtClean="0">
                            <a:solidFill>
                              <a:srgbClr val="7030A0"/>
                            </a:solidFill>
                            <a:latin typeface="Cambria Math" panose="02040503050406030204" pitchFamily="18" charset="0"/>
                          </a:rPr>
                          <m:t>𝑥</m:t>
                        </m:r>
                      </m:e>
                    </m:d>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𝑃</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1</m:t>
                            </m:r>
                          </m:sub>
                        </m:sSub>
                      </m:e>
                    </m:d>
                    <m:r>
                      <a:rPr lang="en-US" b="0" i="1" smtClean="0">
                        <a:solidFill>
                          <a:srgbClr val="7030A0"/>
                        </a:solidFill>
                        <a:latin typeface="Cambria Math" panose="02040503050406030204" pitchFamily="18" charset="0"/>
                      </a:rPr>
                      <m:t>∨</m:t>
                    </m:r>
                    <m:r>
                      <a:rPr lang="en-US" b="0" i="1" smtClean="0">
                        <a:solidFill>
                          <a:srgbClr val="7030A0"/>
                        </a:solidFill>
                        <a:latin typeface="Cambria Math" panose="02040503050406030204" pitchFamily="18" charset="0"/>
                      </a:rPr>
                      <m:t>𝑃</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2</m:t>
                            </m:r>
                          </m:sub>
                        </m:sSub>
                      </m:e>
                    </m:d>
                    <m:r>
                      <a:rPr lang="en-US" b="0" i="1" smtClean="0">
                        <a:solidFill>
                          <a:srgbClr val="7030A0"/>
                        </a:solidFill>
                        <a:latin typeface="Cambria Math" panose="02040503050406030204" pitchFamily="18" charset="0"/>
                      </a:rPr>
                      <m:t>∨…∨ </m:t>
                    </m:r>
                    <m:r>
                      <a:rPr lang="en-US" b="0" i="1" smtClean="0">
                        <a:solidFill>
                          <a:srgbClr val="7030A0"/>
                        </a:solidFill>
                        <a:latin typeface="Cambria Math" panose="02040503050406030204" pitchFamily="18" charset="0"/>
                      </a:rPr>
                      <m:t>𝑃</m:t>
                    </m:r>
                    <m:d>
                      <m:dPr>
                        <m:ctrlPr>
                          <a:rPr lang="en-US" b="0" i="1" smtClean="0">
                            <a:solidFill>
                              <a:srgbClr val="7030A0"/>
                            </a:solidFill>
                            <a:latin typeface="Cambria Math" panose="02040503050406030204" pitchFamily="18" charset="0"/>
                          </a:rPr>
                        </m:ctrlPr>
                      </m:dPr>
                      <m:e>
                        <m:sSub>
                          <m:sSubPr>
                            <m:ctrlPr>
                              <a:rPr lang="en-US" b="0" i="1" smtClean="0">
                                <a:solidFill>
                                  <a:srgbClr val="7030A0"/>
                                </a:solidFill>
                                <a:latin typeface="Cambria Math" panose="02040503050406030204" pitchFamily="18" charset="0"/>
                              </a:rPr>
                            </m:ctrlPr>
                          </m:sSubPr>
                          <m:e>
                            <m:r>
                              <a:rPr lang="en-US" b="0" i="1" smtClean="0">
                                <a:solidFill>
                                  <a:srgbClr val="7030A0"/>
                                </a:solidFill>
                                <a:latin typeface="Cambria Math" panose="02040503050406030204" pitchFamily="18" charset="0"/>
                              </a:rPr>
                              <m:t>𝑥</m:t>
                            </m:r>
                          </m:e>
                          <m:sub>
                            <m:r>
                              <a:rPr lang="en-US" b="0" i="1" smtClean="0">
                                <a:solidFill>
                                  <a:srgbClr val="7030A0"/>
                                </a:solidFill>
                                <a:latin typeface="Cambria Math" panose="02040503050406030204" pitchFamily="18" charset="0"/>
                              </a:rPr>
                              <m:t>𝑛</m:t>
                            </m:r>
                          </m:sub>
                        </m:sSub>
                      </m:e>
                    </m:d>
                    <m:r>
                      <a:rPr lang="en-US" b="0" i="1" smtClean="0">
                        <a:latin typeface="Cambria Math" panose="02040503050406030204" pitchFamily="18" charset="0"/>
                      </a:rPr>
                      <m:t> </m:t>
                    </m:r>
                  </m:oMath>
                </a14:m>
                <a:r>
                  <a:rPr lang="en-US" dirty="0"/>
                  <a:t> </a:t>
                </a:r>
              </a:p>
              <a:p>
                <a:pPr marL="0" indent="0">
                  <a:buNone/>
                </a:pPr>
                <a:endParaRPr lang="en-US" dirty="0"/>
              </a:p>
              <a:p>
                <a:pPr marL="0" indent="0">
                  <a:buNone/>
                </a:pPr>
                <a14:m>
                  <m:oMath xmlns:m="http://schemas.openxmlformats.org/officeDocument/2006/math">
                    <m:r>
                      <a:rPr lang="en-US" b="0" i="1" smtClean="0">
                        <a:solidFill>
                          <a:srgbClr val="C00000"/>
                        </a:solidFill>
                        <a:latin typeface="Cambria Math" panose="02040503050406030204" pitchFamily="18" charset="0"/>
                      </a:rPr>
                      <m:t>¬∃</m:t>
                    </m:r>
                    <m:r>
                      <a:rPr lang="en-US" i="1">
                        <a:solidFill>
                          <a:srgbClr val="C00000"/>
                        </a:solidFill>
                        <a:latin typeface="Cambria Math" panose="02040503050406030204" pitchFamily="18" charset="0"/>
                      </a:rPr>
                      <m:t>𝑥𝑃</m:t>
                    </m:r>
                    <m:d>
                      <m:dPr>
                        <m:ctrlPr>
                          <a:rPr lang="en-US" i="1">
                            <a:solidFill>
                              <a:srgbClr val="C00000"/>
                            </a:solidFill>
                            <a:latin typeface="Cambria Math" panose="02040503050406030204" pitchFamily="18" charset="0"/>
                          </a:rPr>
                        </m:ctrlPr>
                      </m:dPr>
                      <m:e>
                        <m:r>
                          <a:rPr lang="en-US" i="1">
                            <a:solidFill>
                              <a:srgbClr val="C00000"/>
                            </a:solidFill>
                            <a:latin typeface="Cambria Math" panose="02040503050406030204" pitchFamily="18" charset="0"/>
                          </a:rPr>
                          <m:t>𝑥</m:t>
                        </m:r>
                      </m:e>
                    </m:d>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r>
                      <a:rPr lang="en-US" i="1">
                        <a:latin typeface="Cambria Math" panose="02040503050406030204" pitchFamily="18" charset="0"/>
                      </a:rPr>
                      <m:t> </m:t>
                    </m:r>
                    <m:r>
                      <a:rPr lang="en-US" b="0" i="1" smtClean="0">
                        <a:latin typeface="Cambria Math" panose="02040503050406030204" pitchFamily="18" charset="0"/>
                      </a:rPr>
                      <m:t>]</m:t>
                    </m:r>
                  </m:oMath>
                </a14:m>
                <a:r>
                  <a:rPr lang="en-US" dirty="0"/>
                  <a:t> </a:t>
                </a:r>
              </a:p>
              <a:p>
                <a:pPr marL="0" indent="0">
                  <a:buNone/>
                </a:pPr>
                <a:r>
                  <a:rPr lang="en-US" dirty="0"/>
                  <a:t>    </a:t>
                </a:r>
                <a:r>
                  <a:rPr lang="en-US" dirty="0">
                    <a:solidFill>
                      <a:srgbClr val="00B050"/>
                    </a:solidFill>
                  </a:rPr>
                  <a:t> Use De Morgan’s Law</a:t>
                </a:r>
              </a:p>
              <a:p>
                <a:pPr marL="0" indent="0">
                  <a:buNone/>
                </a:pPr>
                <a14:m>
                  <m:oMath xmlns:m="http://schemas.openxmlformats.org/officeDocument/2006/math">
                    <m:r>
                      <a:rPr lang="en-US" b="1" i="1" smtClean="0">
                        <a:solidFill>
                          <a:srgbClr val="C00000"/>
                        </a:solidFill>
                        <a:latin typeface="Cambria Math" panose="02040503050406030204" pitchFamily="18" charset="0"/>
                      </a:rPr>
                      <m:t>¬∃</m:t>
                    </m:r>
                    <m:r>
                      <a:rPr lang="en-US" b="1" i="1">
                        <a:solidFill>
                          <a:srgbClr val="C00000"/>
                        </a:solidFill>
                        <a:latin typeface="Cambria Math" panose="02040503050406030204" pitchFamily="18" charset="0"/>
                      </a:rPr>
                      <m:t>𝒙𝑷</m:t>
                    </m:r>
                    <m:d>
                      <m:dPr>
                        <m:ctrlPr>
                          <a:rPr lang="en-US" b="1" i="1">
                            <a:solidFill>
                              <a:srgbClr val="C00000"/>
                            </a:solidFill>
                            <a:latin typeface="Cambria Math" panose="02040503050406030204" pitchFamily="18" charset="0"/>
                          </a:rPr>
                        </m:ctrlPr>
                      </m:dPr>
                      <m:e>
                        <m:r>
                          <a:rPr lang="en-US" b="1" i="1">
                            <a:solidFill>
                              <a:srgbClr val="C00000"/>
                            </a:solidFill>
                            <a:latin typeface="Cambria Math" panose="02040503050406030204" pitchFamily="18" charset="0"/>
                          </a:rPr>
                          <m:t>𝒙</m:t>
                        </m:r>
                      </m:e>
                    </m:d>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e>
                    </m:d>
                    <m:r>
                      <a:rPr lang="en-US" b="0" i="1" smtClean="0">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e>
                    </m:d>
                    <m:r>
                      <a:rPr lang="en-US" i="1">
                        <a:latin typeface="Cambria Math" panose="02040503050406030204" pitchFamily="18" charset="0"/>
                      </a:rPr>
                      <m:t> </m:t>
                    </m:r>
                    <m:r>
                      <a:rPr lang="en-US" b="0"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𝒙</m:t>
                    </m:r>
                    <m:r>
                      <a:rPr lang="en-US" b="1" i="1" smtClean="0">
                        <a:solidFill>
                          <a:srgbClr val="C00000"/>
                        </a:solidFill>
                        <a:latin typeface="Cambria Math" panose="02040503050406030204" pitchFamily="18" charset="0"/>
                      </a:rPr>
                      <m:t>¬</m:t>
                    </m:r>
                    <m:r>
                      <a:rPr lang="en-US" b="1" i="1" smtClean="0">
                        <a:solidFill>
                          <a:srgbClr val="C00000"/>
                        </a:solidFill>
                        <a:latin typeface="Cambria Math" panose="02040503050406030204" pitchFamily="18" charset="0"/>
                      </a:rPr>
                      <m:t>𝑷</m:t>
                    </m:r>
                    <m:d>
                      <m:dPr>
                        <m:ctrlPr>
                          <a:rPr lang="en-US" b="1" i="1" smtClean="0">
                            <a:solidFill>
                              <a:srgbClr val="C00000"/>
                            </a:solidFill>
                            <a:latin typeface="Cambria Math" panose="02040503050406030204" pitchFamily="18" charset="0"/>
                          </a:rPr>
                        </m:ctrlPr>
                      </m:dPr>
                      <m:e>
                        <m:r>
                          <a:rPr lang="en-US" b="1" i="1" smtClean="0">
                            <a:solidFill>
                              <a:srgbClr val="C00000"/>
                            </a:solidFill>
                            <a:latin typeface="Cambria Math" panose="02040503050406030204" pitchFamily="18" charset="0"/>
                          </a:rPr>
                          <m:t>𝒙</m:t>
                        </m:r>
                      </m:e>
                    </m:d>
                  </m:oMath>
                </a14:m>
                <a:r>
                  <a:rPr lang="en-US" dirty="0">
                    <a:solidFill>
                      <a:srgbClr val="C00000"/>
                    </a:solidFill>
                  </a:rPr>
                  <a:t> </a:t>
                </a:r>
                <a:endParaRPr lang="en-US" dirty="0">
                  <a:solidFill>
                    <a:srgbClr val="FF0000"/>
                  </a:solidFill>
                </a:endParaRPr>
              </a:p>
              <a:p>
                <a:pPr marL="0" indent="0">
                  <a:buNone/>
                </a:pPr>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772886" y="2141537"/>
                <a:ext cx="10515600" cy="4351338"/>
              </a:xfrm>
              <a:blipFill>
                <a:blip r:embed="rId2"/>
                <a:stretch>
                  <a:fillRect/>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6656832" y="720695"/>
            <a:ext cx="4942426" cy="2283944"/>
          </a:xfrm>
          <a:prstGeom prst="rect">
            <a:avLst/>
          </a:prstGeom>
        </p:spPr>
      </p:pic>
    </p:spTree>
    <p:extLst>
      <p:ext uri="{BB962C8B-B14F-4D97-AF65-F5344CB8AC3E}">
        <p14:creationId xmlns:p14="http://schemas.microsoft.com/office/powerpoint/2010/main" val="5858378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2" name="Content Placeholder 1"/>
          <p:cNvSpPr>
            <a:spLocks noGrp="1"/>
          </p:cNvSpPr>
          <p:nvPr>
            <p:ph idx="1"/>
          </p:nvPr>
        </p:nvSpPr>
        <p:spPr/>
        <p:txBody>
          <a:bodyPr/>
          <a:lstStyle/>
          <a:p>
            <a:pPr marL="365760" lvl="2" indent="-256032">
              <a:spcBef>
                <a:spcPts val="400"/>
              </a:spcBef>
              <a:buClr>
                <a:schemeClr val="accent1"/>
              </a:buClr>
              <a:buSzPct val="68000"/>
              <a:buFont typeface="Wingdings 3"/>
              <a:buChar char=""/>
            </a:pPr>
            <a:r>
              <a:rPr lang="en-US" dirty="0"/>
              <a:t>De Morgan's Laws for Quantifiers</a:t>
            </a:r>
          </a:p>
          <a:p>
            <a:endParaRPr lang="en-US" dirty="0"/>
          </a:p>
        </p:txBody>
      </p:sp>
      <p:sp>
        <p:nvSpPr>
          <p:cNvPr id="1048793" name="Title 2"/>
          <p:cNvSpPr>
            <a:spLocks noGrp="1"/>
          </p:cNvSpPr>
          <p:nvPr>
            <p:ph type="title"/>
          </p:nvPr>
        </p:nvSpPr>
        <p:spPr/>
        <p:txBody>
          <a:bodyPr>
            <a:normAutofit fontScale="90000"/>
          </a:bodyPr>
          <a:lstStyle/>
          <a:p>
            <a:br>
              <a:rPr lang="en-US" dirty="0"/>
            </a:br>
            <a:r>
              <a:rPr lang="en-US" dirty="0"/>
              <a:t>Negating Quantified Expressions</a:t>
            </a:r>
            <a:br>
              <a:rPr lang="en-US" dirty="0"/>
            </a:br>
            <a:endParaRPr lang="en-US" dirty="0"/>
          </a:p>
        </p:txBody>
      </p:sp>
      <p:pic>
        <p:nvPicPr>
          <p:cNvPr id="2097158" name="Picture 2"/>
          <p:cNvPicPr>
            <a:picLocks noChangeAspect="1" noChangeArrowheads="1"/>
          </p:cNvPicPr>
          <p:nvPr/>
        </p:nvPicPr>
        <p:blipFill>
          <a:blip r:embed="rId2"/>
          <a:srcRect/>
          <a:stretch>
            <a:fillRect/>
          </a:stretch>
        </p:blipFill>
        <p:spPr bwMode="auto">
          <a:xfrm>
            <a:off x="390206" y="2486608"/>
            <a:ext cx="11611459" cy="2887824"/>
          </a:xfrm>
          <a:prstGeom prst="rect">
            <a:avLst/>
          </a:prstGeom>
          <a:noFill/>
          <a:ln w="9525">
            <a:noFill/>
            <a:miter lim="800000"/>
            <a:headEnd/>
            <a:tailEnd/>
          </a:ln>
          <a:effec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30424"/>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 …</a:t>
            </a:r>
            <a:r>
              <a:rPr lang="en-US" sz="3600" dirty="0">
                <a:solidFill>
                  <a:srgbClr val="C00000"/>
                </a:solidFill>
                <a:latin typeface="Cambria Math" panose="02040503050406030204" pitchFamily="18" charset="0"/>
                <a:ea typeface="Cambria Math" panose="02040503050406030204" pitchFamily="18" charset="0"/>
              </a:rPr>
              <a:t>1</a:t>
            </a:r>
            <a:endParaRPr lang="en-US" dirty="0">
              <a:solidFill>
                <a:srgbClr val="C00000"/>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D6EFE166-72CE-916A-3D5E-FC0FFCE47DE9}"/>
              </a:ext>
            </a:extLst>
          </p:cNvPr>
          <p:cNvSpPr>
            <a:spLocks noGrp="1"/>
          </p:cNvSpPr>
          <p:nvPr>
            <p:ph idx="1"/>
          </p:nvPr>
        </p:nvSpPr>
        <p:spPr>
          <a:xfrm>
            <a:off x="838200" y="1278294"/>
            <a:ext cx="10515600" cy="4898669"/>
          </a:xfrm>
        </p:spPr>
        <p:txBody>
          <a:bodyPr/>
          <a:lstStyle/>
          <a:p>
            <a:pPr marL="0" indent="0">
              <a:buNone/>
            </a:pPr>
            <a:r>
              <a:rPr lang="en-US" dirty="0">
                <a:latin typeface="Cambria Math" panose="02040503050406030204" pitchFamily="18" charset="0"/>
                <a:ea typeface="Cambria Math" panose="02040503050406030204" pitchFamily="18" charset="0"/>
              </a:rPr>
              <a:t>What is the negation of:</a:t>
            </a:r>
          </a:p>
          <a:p>
            <a:pPr marL="0" indent="0">
              <a:buNone/>
            </a:pPr>
            <a:r>
              <a:rPr lang="en-US" b="0" dirty="0">
                <a:solidFill>
                  <a:schemeClr val="accent5">
                    <a:lumMod val="75000"/>
                  </a:schemeClr>
                </a:solidFill>
                <a:latin typeface="Cambria Math" panose="02040503050406030204" pitchFamily="18" charset="0"/>
                <a:ea typeface="Cambria Math" panose="02040503050406030204" pitchFamily="18" charset="0"/>
              </a:rPr>
              <a:t>There is a hard-working student.</a:t>
            </a:r>
          </a:p>
        </p:txBody>
      </p:sp>
    </p:spTree>
    <p:extLst>
      <p:ext uri="{BB962C8B-B14F-4D97-AF65-F5344CB8AC3E}">
        <p14:creationId xmlns:p14="http://schemas.microsoft.com/office/powerpoint/2010/main" val="6364871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30424"/>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 …</a:t>
            </a:r>
            <a:r>
              <a:rPr lang="en-US" sz="3600" dirty="0">
                <a:solidFill>
                  <a:srgbClr val="C00000"/>
                </a:solidFill>
                <a:latin typeface="Cambria Math" panose="02040503050406030204" pitchFamily="18" charset="0"/>
                <a:ea typeface="Cambria Math" panose="02040503050406030204" pitchFamily="18" charset="0"/>
              </a:rPr>
              <a:t> Solution</a:t>
            </a:r>
            <a:endParaRPr lang="en-US" dirty="0">
              <a:solidFill>
                <a:srgbClr val="C00000"/>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D6EFE166-72CE-916A-3D5E-FC0FFCE47DE9}"/>
              </a:ext>
            </a:extLst>
          </p:cNvPr>
          <p:cNvSpPr>
            <a:spLocks noGrp="1"/>
          </p:cNvSpPr>
          <p:nvPr>
            <p:ph idx="1"/>
          </p:nvPr>
        </p:nvSpPr>
        <p:spPr>
          <a:xfrm>
            <a:off x="838200" y="830426"/>
            <a:ext cx="10515600" cy="1024253"/>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What is the negation of:</a:t>
            </a:r>
          </a:p>
          <a:p>
            <a:pPr marL="0" indent="0">
              <a:buNone/>
            </a:pPr>
            <a:r>
              <a:rPr lang="en-US" sz="2400" b="0" dirty="0">
                <a:solidFill>
                  <a:schemeClr val="accent5">
                    <a:lumMod val="75000"/>
                  </a:schemeClr>
                </a:solidFill>
                <a:latin typeface="Cambria Math" panose="02040503050406030204" pitchFamily="18" charset="0"/>
                <a:ea typeface="Cambria Math" panose="02040503050406030204" pitchFamily="18" charset="0"/>
              </a:rPr>
              <a:t>There is a hard-working student.</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FB844F6-8657-1F25-09E8-009BD8588008}"/>
                  </a:ext>
                </a:extLst>
              </p:cNvPr>
              <p:cNvSpPr txBox="1">
                <a:spLocks/>
              </p:cNvSpPr>
              <p:nvPr/>
            </p:nvSpPr>
            <p:spPr>
              <a:xfrm>
                <a:off x="838200" y="2129433"/>
                <a:ext cx="9601196" cy="371927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dirty="0">
                    <a:solidFill>
                      <a:schemeClr val="tx1">
                        <a:lumMod val="75000"/>
                        <a:lumOff val="25000"/>
                      </a:schemeClr>
                    </a:solidFill>
                    <a:latin typeface="Cambria Math" panose="02040503050406030204" pitchFamily="18" charset="0"/>
                    <a:ea typeface="Cambria Math" panose="02040503050406030204" pitchFamily="18" charset="0"/>
                  </a:rPr>
                  <a:t>Negation</a:t>
                </a:r>
              </a:p>
              <a:p>
                <a:pPr marL="0" indent="0">
                  <a:buFont typeface="Arial" panose="020B0604020202020204" pitchFamily="34" charset="0"/>
                  <a:buNone/>
                </a:pPr>
                <a:r>
                  <a:rPr lang="en-US" sz="2600" b="1" dirty="0">
                    <a:solidFill>
                      <a:schemeClr val="tx1">
                        <a:lumMod val="75000"/>
                        <a:lumOff val="25000"/>
                      </a:schemeClr>
                    </a:solidFill>
                    <a:latin typeface="Cambria Math" panose="02040503050406030204" pitchFamily="18" charset="0"/>
                    <a:ea typeface="Cambria Math" panose="02040503050406030204" pitchFamily="18" charset="0"/>
                  </a:rPr>
                  <a:t>All students are not hard-working</a:t>
                </a:r>
              </a:p>
              <a:p>
                <a:pPr marL="0" indent="0">
                  <a:buFont typeface="Arial" panose="020B0604020202020204" pitchFamily="34" charset="0"/>
                  <a:buNone/>
                </a:pPr>
                <a:r>
                  <a:rPr lang="en-US" dirty="0">
                    <a:solidFill>
                      <a:srgbClr val="7030A0"/>
                    </a:solidFill>
                    <a:latin typeface="Cambria Math" panose="02040503050406030204" pitchFamily="18" charset="0"/>
                    <a:ea typeface="Cambria Math" panose="02040503050406030204" pitchFamily="18" charset="0"/>
                  </a:rPr>
                  <a:t>Writing in mathematical notation:</a:t>
                </a:r>
              </a:p>
              <a:p>
                <a:pPr marL="0" indent="0">
                  <a:buFont typeface="Arial" panose="020B0604020202020204" pitchFamily="34" charset="0"/>
                  <a:buNone/>
                </a:pPr>
                <a14:m>
                  <m:oMath xmlns:m="http://schemas.openxmlformats.org/officeDocument/2006/math">
                    <m:r>
                      <a:rPr lang="en-US" i="1" dirty="0" smtClean="0">
                        <a:solidFill>
                          <a:schemeClr val="accent5">
                            <a:lumMod val="75000"/>
                          </a:schemeClr>
                        </a:solidFill>
                        <a:latin typeface="Cambria Math" panose="02040503050406030204" pitchFamily="18" charset="0"/>
                        <a:ea typeface="Cambria Math" panose="02040503050406030204" pitchFamily="18" charset="0"/>
                      </a:rPr>
                      <m:t>𝑥</m:t>
                    </m:r>
                  </m:oMath>
                </a14:m>
                <a:r>
                  <a:rPr lang="en-US" dirty="0">
                    <a:solidFill>
                      <a:schemeClr val="accent5">
                        <a:lumMod val="75000"/>
                      </a:schemeClr>
                    </a:solidFill>
                    <a:latin typeface="Cambria Math" panose="02040503050406030204" pitchFamily="18" charset="0"/>
                    <a:ea typeface="Cambria Math" panose="02040503050406030204" pitchFamily="18" charset="0"/>
                  </a:rPr>
                  <a:t>: a student</a:t>
                </a:r>
              </a:p>
              <a:p>
                <a:pPr marL="0" indent="0">
                  <a:buFont typeface="Arial" panose="020B0604020202020204" pitchFamily="34" charset="0"/>
                  <a:buNone/>
                </a:pPr>
                <a14:m>
                  <m:oMath xmlns:m="http://schemas.openxmlformats.org/officeDocument/2006/math">
                    <m:r>
                      <a:rPr lang="en-US" i="1" smtClean="0">
                        <a:solidFill>
                          <a:schemeClr val="accent5">
                            <a:lumMod val="75000"/>
                          </a:schemeClr>
                        </a:solidFill>
                        <a:latin typeface="Cambria Math" panose="02040503050406030204" pitchFamily="18" charset="0"/>
                        <a:ea typeface="Cambria Math" panose="02040503050406030204" pitchFamily="18" charset="0"/>
                      </a:rPr>
                      <m:t>𝑃</m:t>
                    </m:r>
                    <m:d>
                      <m:dPr>
                        <m:ctrlPr>
                          <a:rPr lang="en-US" i="1" smtClean="0">
                            <a:solidFill>
                              <a:schemeClr val="accent5">
                                <a:lumMod val="75000"/>
                              </a:schemeClr>
                            </a:solidFill>
                            <a:latin typeface="Cambria Math" panose="02040503050406030204" pitchFamily="18" charset="0"/>
                            <a:ea typeface="Cambria Math" panose="02040503050406030204" pitchFamily="18" charset="0"/>
                          </a:rPr>
                        </m:ctrlPr>
                      </m:dPr>
                      <m:e>
                        <m:r>
                          <a:rPr lang="en-US" i="1" smtClean="0">
                            <a:solidFill>
                              <a:schemeClr val="accent5">
                                <a:lumMod val="75000"/>
                              </a:schemeClr>
                            </a:solidFill>
                            <a:latin typeface="Cambria Math" panose="02040503050406030204" pitchFamily="18" charset="0"/>
                            <a:ea typeface="Cambria Math" panose="02040503050406030204" pitchFamily="18" charset="0"/>
                          </a:rPr>
                          <m:t>𝑥</m:t>
                        </m:r>
                      </m:e>
                    </m:d>
                    <m:r>
                      <a:rPr lang="en-US" i="1" smtClean="0">
                        <a:solidFill>
                          <a:schemeClr val="accent5">
                            <a:lumMod val="75000"/>
                          </a:schemeClr>
                        </a:solidFill>
                        <a:latin typeface="Cambria Math" panose="02040503050406030204" pitchFamily="18" charset="0"/>
                        <a:ea typeface="Cambria Math" panose="02040503050406030204" pitchFamily="18" charset="0"/>
                      </a:rPr>
                      <m:t>:</m:t>
                    </m:r>
                    <m:r>
                      <a:rPr lang="en-US" i="1" smtClean="0">
                        <a:solidFill>
                          <a:schemeClr val="accent5">
                            <a:lumMod val="75000"/>
                          </a:schemeClr>
                        </a:solidFill>
                        <a:latin typeface="Cambria Math" panose="02040503050406030204" pitchFamily="18" charset="0"/>
                        <a:ea typeface="Cambria Math" panose="02040503050406030204" pitchFamily="18" charset="0"/>
                      </a:rPr>
                      <m:t>𝑥</m:t>
                    </m:r>
                  </m:oMath>
                </a14:m>
                <a:r>
                  <a:rPr lang="en-US" dirty="0">
                    <a:solidFill>
                      <a:schemeClr val="accent5">
                        <a:lumMod val="75000"/>
                      </a:schemeClr>
                    </a:solidFill>
                    <a:latin typeface="Cambria Math" panose="02040503050406030204" pitchFamily="18" charset="0"/>
                    <a:ea typeface="Cambria Math" panose="02040503050406030204" pitchFamily="18" charset="0"/>
                  </a:rPr>
                  <a:t> is hard-working</a:t>
                </a:r>
              </a:p>
              <a:p>
                <a:pPr marL="0" indent="0">
                  <a:buFont typeface="Arial" panose="020B0604020202020204" pitchFamily="34" charset="0"/>
                  <a:buNone/>
                </a:pPr>
                <a:endParaRPr lang="en-US" dirty="0">
                  <a:solidFill>
                    <a:schemeClr val="accent5">
                      <a:lumMod val="75000"/>
                    </a:schemeClr>
                  </a:solidFill>
                  <a:latin typeface="Cambria Math" panose="02040503050406030204" pitchFamily="18" charset="0"/>
                  <a:ea typeface="Cambria Math" panose="02040503050406030204" pitchFamily="18" charset="0"/>
                </a:endParaRPr>
              </a:p>
              <a:p>
                <a:pPr marL="0" indent="0">
                  <a:buFont typeface="Arial" panose="020B0604020202020204" pitchFamily="34" charset="0"/>
                  <a:buNone/>
                </a:pPr>
                <a:r>
                  <a:rPr lang="en-US" sz="2600" b="1" dirty="0">
                    <a:solidFill>
                      <a:schemeClr val="tx1">
                        <a:lumMod val="75000"/>
                        <a:lumOff val="25000"/>
                      </a:schemeClr>
                    </a:solidFill>
                    <a:latin typeface="Cambria Math" panose="02040503050406030204" pitchFamily="18" charset="0"/>
                    <a:ea typeface="Cambria Math" panose="02040503050406030204" pitchFamily="18" charset="0"/>
                  </a:rPr>
                  <a:t>There is a hard-working student: </a:t>
                </a:r>
                <a14:m>
                  <m:oMath xmlns:m="http://schemas.openxmlformats.org/officeDocument/2006/math">
                    <m:r>
                      <a:rPr lang="en-US" sz="2600" b="1" smtClean="0">
                        <a:solidFill>
                          <a:srgbClr val="C00000"/>
                        </a:solidFill>
                        <a:latin typeface="Cambria Math" panose="02040503050406030204" pitchFamily="18" charset="0"/>
                        <a:ea typeface="Cambria Math" panose="02040503050406030204" pitchFamily="18" charset="0"/>
                      </a:rPr>
                      <m:t>∃</m:t>
                    </m:r>
                    <m:r>
                      <a:rPr lang="en-US" sz="2600" b="1" smtClean="0">
                        <a:solidFill>
                          <a:srgbClr val="C00000"/>
                        </a:solidFill>
                        <a:latin typeface="Cambria Math" panose="02040503050406030204" pitchFamily="18" charset="0"/>
                        <a:ea typeface="Cambria Math" panose="02040503050406030204" pitchFamily="18" charset="0"/>
                      </a:rPr>
                      <m:t>𝒙𝑷</m:t>
                    </m:r>
                    <m:d>
                      <m:dPr>
                        <m:ctrlPr>
                          <a:rPr lang="en-US" sz="2600" b="1" i="1">
                            <a:solidFill>
                              <a:srgbClr val="C00000"/>
                            </a:solidFill>
                            <a:latin typeface="Cambria Math" panose="02040503050406030204" pitchFamily="18" charset="0"/>
                            <a:ea typeface="Cambria Math" panose="02040503050406030204" pitchFamily="18" charset="0"/>
                          </a:rPr>
                        </m:ctrlPr>
                      </m:dPr>
                      <m:e>
                        <m:r>
                          <a:rPr lang="en-US" sz="2600" b="1">
                            <a:solidFill>
                              <a:srgbClr val="C00000"/>
                            </a:solidFill>
                            <a:latin typeface="Cambria Math" panose="02040503050406030204" pitchFamily="18" charset="0"/>
                            <a:ea typeface="Cambria Math" panose="02040503050406030204" pitchFamily="18" charset="0"/>
                          </a:rPr>
                          <m:t>𝒙</m:t>
                        </m:r>
                      </m:e>
                    </m:d>
                  </m:oMath>
                </a14:m>
                <a:endParaRPr lang="en-US" sz="2600" b="1" dirty="0">
                  <a:solidFill>
                    <a:schemeClr val="tx1">
                      <a:lumMod val="75000"/>
                      <a:lumOff val="25000"/>
                    </a:schemeClr>
                  </a:solidFill>
                  <a:latin typeface="Cambria Math" panose="02040503050406030204" pitchFamily="18" charset="0"/>
                  <a:ea typeface="Cambria Math" panose="02040503050406030204" pitchFamily="18" charset="0"/>
                </a:endParaRPr>
              </a:p>
              <a:p>
                <a:pPr marL="0" indent="0">
                  <a:buFont typeface="Arial" panose="020B0604020202020204" pitchFamily="34" charset="0"/>
                  <a:buNone/>
                </a:pPr>
                <a:r>
                  <a:rPr lang="en-US" sz="2600" b="1" dirty="0">
                    <a:solidFill>
                      <a:schemeClr val="tx1">
                        <a:lumMod val="75000"/>
                        <a:lumOff val="25000"/>
                      </a:schemeClr>
                    </a:solidFill>
                    <a:latin typeface="Cambria Math" panose="02040503050406030204" pitchFamily="18" charset="0"/>
                    <a:ea typeface="Cambria Math" panose="02040503050406030204" pitchFamily="18" charset="0"/>
                  </a:rPr>
                  <a:t>Negation: All students are not hard-working: </a:t>
                </a:r>
                <a14:m>
                  <m:oMath xmlns:m="http://schemas.openxmlformats.org/officeDocument/2006/math">
                    <m:r>
                      <a:rPr lang="en-US" sz="2600" b="1" smtClean="0">
                        <a:solidFill>
                          <a:srgbClr val="C00000"/>
                        </a:solidFill>
                        <a:latin typeface="Cambria Math" panose="02040503050406030204" pitchFamily="18" charset="0"/>
                        <a:ea typeface="Cambria Math" panose="02040503050406030204" pitchFamily="18" charset="0"/>
                      </a:rPr>
                      <m:t>∀</m:t>
                    </m:r>
                    <m:r>
                      <a:rPr lang="en-US" sz="2600" b="1" smtClean="0">
                        <a:solidFill>
                          <a:srgbClr val="C00000"/>
                        </a:solidFill>
                        <a:latin typeface="Cambria Math" panose="02040503050406030204" pitchFamily="18" charset="0"/>
                        <a:ea typeface="Cambria Math" panose="02040503050406030204" pitchFamily="18" charset="0"/>
                      </a:rPr>
                      <m:t>𝒙</m:t>
                    </m:r>
                    <m:r>
                      <a:rPr lang="en-US" sz="2600" b="1" smtClean="0">
                        <a:solidFill>
                          <a:srgbClr val="C00000"/>
                        </a:solidFill>
                        <a:latin typeface="Cambria Math" panose="02040503050406030204" pitchFamily="18" charset="0"/>
                        <a:ea typeface="Cambria Math" panose="02040503050406030204" pitchFamily="18" charset="0"/>
                      </a:rPr>
                      <m:t>¬</m:t>
                    </m:r>
                    <m:r>
                      <a:rPr lang="en-US" sz="2600" b="1" smtClean="0">
                        <a:solidFill>
                          <a:srgbClr val="C00000"/>
                        </a:solidFill>
                        <a:latin typeface="Cambria Math" panose="02040503050406030204" pitchFamily="18" charset="0"/>
                        <a:ea typeface="Cambria Math" panose="02040503050406030204" pitchFamily="18" charset="0"/>
                      </a:rPr>
                      <m:t>𝑷</m:t>
                    </m:r>
                    <m:d>
                      <m:dPr>
                        <m:ctrlPr>
                          <a:rPr lang="en-US" sz="2600" b="1" i="1">
                            <a:solidFill>
                              <a:srgbClr val="C00000"/>
                            </a:solidFill>
                            <a:latin typeface="Cambria Math" panose="02040503050406030204" pitchFamily="18" charset="0"/>
                            <a:ea typeface="Cambria Math" panose="02040503050406030204" pitchFamily="18" charset="0"/>
                          </a:rPr>
                        </m:ctrlPr>
                      </m:dPr>
                      <m:e>
                        <m:r>
                          <a:rPr lang="en-US" sz="2600" b="1">
                            <a:solidFill>
                              <a:srgbClr val="C00000"/>
                            </a:solidFill>
                            <a:latin typeface="Cambria Math" panose="02040503050406030204" pitchFamily="18" charset="0"/>
                            <a:ea typeface="Cambria Math" panose="02040503050406030204" pitchFamily="18" charset="0"/>
                          </a:rPr>
                          <m:t>𝒙</m:t>
                        </m:r>
                      </m:e>
                    </m:d>
                    <m:r>
                      <a:rPr lang="en-US" sz="2600" b="1">
                        <a:solidFill>
                          <a:srgbClr val="C00000"/>
                        </a:solidFill>
                        <a:latin typeface="Cambria Math" panose="02040503050406030204" pitchFamily="18" charset="0"/>
                        <a:ea typeface="Cambria Math" panose="02040503050406030204" pitchFamily="18" charset="0"/>
                      </a:rPr>
                      <m:t> </m:t>
                    </m:r>
                  </m:oMath>
                </a14:m>
                <a:endParaRPr lang="en-US" sz="2600" b="1" dirty="0">
                  <a:solidFill>
                    <a:schemeClr val="tx1">
                      <a:lumMod val="75000"/>
                      <a:lumOff val="25000"/>
                    </a:schemeClr>
                  </a:solidFill>
                  <a:latin typeface="Cambria Math" panose="02040503050406030204" pitchFamily="18" charset="0"/>
                  <a:ea typeface="Cambria Math" panose="02040503050406030204" pitchFamily="18" charset="0"/>
                </a:endParaRPr>
              </a:p>
              <a:p>
                <a:pPr marL="0" indent="0">
                  <a:buFont typeface="Arial" panose="020B0604020202020204" pitchFamily="34" charset="0"/>
                  <a:buNone/>
                </a:pPr>
                <a:endParaRPr lang="en-US" dirty="0">
                  <a:solidFill>
                    <a:srgbClr val="7030A0"/>
                  </a:solidFill>
                  <a:latin typeface="Cambria Math" panose="02040503050406030204" pitchFamily="18" charset="0"/>
                  <a:ea typeface="Cambria Math" panose="02040503050406030204" pitchFamily="18" charset="0"/>
                </a:endParaRPr>
              </a:p>
            </p:txBody>
          </p:sp>
        </mc:Choice>
        <mc:Fallback xmlns="">
          <p:sp>
            <p:nvSpPr>
              <p:cNvPr id="4" name="Content Placeholder 2">
                <a:extLst>
                  <a:ext uri="{FF2B5EF4-FFF2-40B4-BE49-F238E27FC236}">
                    <a16:creationId xmlns:a16="http://schemas.microsoft.com/office/drawing/2014/main" id="{2FB844F6-8657-1F25-09E8-009BD8588008}"/>
                  </a:ext>
                </a:extLst>
              </p:cNvPr>
              <p:cNvSpPr txBox="1">
                <a:spLocks noRot="1" noChangeAspect="1" noMove="1" noResize="1" noEditPoints="1" noAdjustHandles="1" noChangeArrowheads="1" noChangeShapeType="1" noTextEdit="1"/>
              </p:cNvSpPr>
              <p:nvPr/>
            </p:nvSpPr>
            <p:spPr>
              <a:xfrm>
                <a:off x="838200" y="2129433"/>
                <a:ext cx="9601196" cy="3719276"/>
              </a:xfrm>
              <a:prstGeom prst="rect">
                <a:avLst/>
              </a:prstGeom>
              <a:blipFill>
                <a:blip r:embed="rId2"/>
                <a:stretch>
                  <a:fillRect l="-1144" t="-3607"/>
                </a:stretch>
              </a:blipFill>
            </p:spPr>
            <p:txBody>
              <a:bodyPr/>
              <a:lstStyle/>
              <a:p>
                <a:r>
                  <a:rPr lang="en-US">
                    <a:noFill/>
                  </a:rPr>
                  <a:t> </a:t>
                </a:r>
              </a:p>
            </p:txBody>
          </p:sp>
        </mc:Fallback>
      </mc:AlternateContent>
    </p:spTree>
    <p:extLst>
      <p:ext uri="{BB962C8B-B14F-4D97-AF65-F5344CB8AC3E}">
        <p14:creationId xmlns:p14="http://schemas.microsoft.com/office/powerpoint/2010/main" val="26589374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30424"/>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 …</a:t>
            </a:r>
            <a:r>
              <a:rPr lang="en-US" sz="3600" dirty="0">
                <a:solidFill>
                  <a:srgbClr val="C00000"/>
                </a:solidFill>
                <a:latin typeface="Cambria Math" panose="02040503050406030204" pitchFamily="18" charset="0"/>
                <a:ea typeface="Cambria Math" panose="02040503050406030204" pitchFamily="18" charset="0"/>
              </a:rPr>
              <a:t>2</a:t>
            </a:r>
            <a:endParaRPr lang="en-US" dirty="0">
              <a:solidFill>
                <a:srgbClr val="C00000"/>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D6EFE166-72CE-916A-3D5E-FC0FFCE47DE9}"/>
              </a:ext>
            </a:extLst>
          </p:cNvPr>
          <p:cNvSpPr>
            <a:spLocks noGrp="1"/>
          </p:cNvSpPr>
          <p:nvPr>
            <p:ph idx="1"/>
          </p:nvPr>
        </p:nvSpPr>
        <p:spPr>
          <a:xfrm>
            <a:off x="838200" y="1278294"/>
            <a:ext cx="10515600" cy="4898669"/>
          </a:xfrm>
        </p:spPr>
        <p:txBody>
          <a:bodyPr/>
          <a:lstStyle/>
          <a:p>
            <a:pPr marL="0" indent="0">
              <a:buNone/>
            </a:pPr>
            <a:r>
              <a:rPr lang="en-US" dirty="0">
                <a:latin typeface="Cambria Math" panose="02040503050406030204" pitchFamily="18" charset="0"/>
                <a:ea typeface="Cambria Math" panose="02040503050406030204" pitchFamily="18" charset="0"/>
              </a:rPr>
              <a:t>What is the negation of:</a:t>
            </a:r>
          </a:p>
          <a:p>
            <a:pPr marL="0" indent="0">
              <a:buNone/>
            </a:pPr>
            <a:r>
              <a:rPr lang="en-US" b="0" dirty="0">
                <a:solidFill>
                  <a:schemeClr val="accent5">
                    <a:lumMod val="75000"/>
                  </a:schemeClr>
                </a:solidFill>
                <a:latin typeface="Cambria Math" panose="02040503050406030204" pitchFamily="18" charset="0"/>
                <a:ea typeface="Cambria Math" panose="02040503050406030204" pitchFamily="18" charset="0"/>
              </a:rPr>
              <a:t>All Lahoris like to eat chicken karahi.</a:t>
            </a:r>
          </a:p>
        </p:txBody>
      </p:sp>
    </p:spTree>
    <p:extLst>
      <p:ext uri="{BB962C8B-B14F-4D97-AF65-F5344CB8AC3E}">
        <p14:creationId xmlns:p14="http://schemas.microsoft.com/office/powerpoint/2010/main" val="36876452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30424"/>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 …</a:t>
            </a:r>
            <a:r>
              <a:rPr lang="en-US" sz="3600" dirty="0">
                <a:solidFill>
                  <a:srgbClr val="C00000"/>
                </a:solidFill>
                <a:latin typeface="Cambria Math" panose="02040503050406030204" pitchFamily="18" charset="0"/>
                <a:ea typeface="Cambria Math" panose="02040503050406030204" pitchFamily="18" charset="0"/>
              </a:rPr>
              <a:t> Solution</a:t>
            </a:r>
            <a:endParaRPr lang="en-US" dirty="0">
              <a:solidFill>
                <a:srgbClr val="C00000"/>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D6EFE166-72CE-916A-3D5E-FC0FFCE47DE9}"/>
              </a:ext>
            </a:extLst>
          </p:cNvPr>
          <p:cNvSpPr>
            <a:spLocks noGrp="1"/>
          </p:cNvSpPr>
          <p:nvPr>
            <p:ph idx="1"/>
          </p:nvPr>
        </p:nvSpPr>
        <p:spPr>
          <a:xfrm>
            <a:off x="838200" y="830426"/>
            <a:ext cx="10515600" cy="1024253"/>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What is the negation of:</a:t>
            </a:r>
          </a:p>
          <a:p>
            <a:pPr marL="0" indent="0">
              <a:buNone/>
            </a:pPr>
            <a:r>
              <a:rPr lang="en-US" sz="2400" b="0" dirty="0">
                <a:solidFill>
                  <a:schemeClr val="accent5">
                    <a:lumMod val="75000"/>
                  </a:schemeClr>
                </a:solidFill>
                <a:latin typeface="Cambria Math" panose="02040503050406030204" pitchFamily="18" charset="0"/>
                <a:ea typeface="Cambria Math" panose="02040503050406030204" pitchFamily="18" charset="0"/>
              </a:rPr>
              <a:t>All Lahoris like to eat chicken karahi.</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FB844F6-8657-1F25-09E8-009BD8588008}"/>
                  </a:ext>
                </a:extLst>
              </p:cNvPr>
              <p:cNvSpPr txBox="1">
                <a:spLocks/>
              </p:cNvSpPr>
              <p:nvPr/>
            </p:nvSpPr>
            <p:spPr>
              <a:xfrm>
                <a:off x="838199" y="2129432"/>
                <a:ext cx="10772955" cy="43058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ü"/>
                </a:pPr>
                <a:r>
                  <a:rPr lang="en-US" sz="2400" dirty="0">
                    <a:solidFill>
                      <a:schemeClr val="tx1">
                        <a:lumMod val="75000"/>
                        <a:lumOff val="25000"/>
                      </a:schemeClr>
                    </a:solidFill>
                    <a:latin typeface="Cambria Math" panose="02040503050406030204" pitchFamily="18" charset="0"/>
                    <a:ea typeface="Cambria Math" panose="02040503050406030204" pitchFamily="18" charset="0"/>
                  </a:rPr>
                  <a:t>Negation</a:t>
                </a:r>
              </a:p>
              <a:p>
                <a:pPr marL="0" indent="0">
                  <a:buFont typeface="Arial" panose="020B0604020202020204" pitchFamily="34" charset="0"/>
                  <a:buNone/>
                </a:pPr>
                <a:r>
                  <a:rPr lang="en-US" sz="2400" dirty="0">
                    <a:solidFill>
                      <a:schemeClr val="tx1">
                        <a:lumMod val="75000"/>
                        <a:lumOff val="25000"/>
                      </a:schemeClr>
                    </a:solidFill>
                    <a:latin typeface="Cambria Math" panose="02040503050406030204" pitchFamily="18" charset="0"/>
                    <a:ea typeface="Cambria Math" panose="02040503050406030204" pitchFamily="18" charset="0"/>
                  </a:rPr>
                  <a:t>There is a Lahori who does not like to eat chicken karahi.</a:t>
                </a:r>
              </a:p>
              <a:p>
                <a:pPr marL="0" indent="0">
                  <a:buFont typeface="Arial" panose="020B0604020202020204" pitchFamily="34" charset="0"/>
                  <a:buNone/>
                </a:pPr>
                <a:endParaRPr lang="en-US" sz="2400" dirty="0">
                  <a:solidFill>
                    <a:srgbClr val="7030A0"/>
                  </a:solidFill>
                  <a:latin typeface="Cambria Math" panose="02040503050406030204" pitchFamily="18" charset="0"/>
                  <a:ea typeface="Cambria Math" panose="02040503050406030204" pitchFamily="18" charset="0"/>
                </a:endParaRPr>
              </a:p>
              <a:p>
                <a:pPr marL="0" indent="0">
                  <a:buFont typeface="Arial" panose="020B0604020202020204" pitchFamily="34" charset="0"/>
                  <a:buNone/>
                </a:pPr>
                <a:r>
                  <a:rPr lang="en-US" sz="2400" dirty="0">
                    <a:solidFill>
                      <a:srgbClr val="7030A0"/>
                    </a:solidFill>
                    <a:latin typeface="Cambria Math" panose="02040503050406030204" pitchFamily="18" charset="0"/>
                    <a:ea typeface="Cambria Math" panose="02040503050406030204" pitchFamily="18" charset="0"/>
                  </a:rPr>
                  <a:t>Writing in mathematical notation:</a:t>
                </a:r>
              </a:p>
              <a:p>
                <a:pPr marL="0" indent="0">
                  <a:buFont typeface="Arial" panose="020B0604020202020204" pitchFamily="34" charset="0"/>
                  <a:buNone/>
                </a:pPr>
                <a14:m>
                  <m:oMath xmlns:m="http://schemas.openxmlformats.org/officeDocument/2006/math">
                    <m:r>
                      <a:rPr lang="en-US" sz="2400" b="0" i="1" dirty="0" smtClean="0">
                        <a:solidFill>
                          <a:schemeClr val="accent5">
                            <a:lumMod val="75000"/>
                          </a:schemeClr>
                        </a:solidFill>
                        <a:latin typeface="Cambria Math" panose="02040503050406030204" pitchFamily="18" charset="0"/>
                        <a:ea typeface="Cambria Math" panose="02040503050406030204" pitchFamily="18" charset="0"/>
                      </a:rPr>
                      <m:t>𝑥</m:t>
                    </m:r>
                  </m:oMath>
                </a14:m>
                <a:r>
                  <a:rPr lang="en-US" sz="2400" dirty="0">
                    <a:solidFill>
                      <a:schemeClr val="accent5">
                        <a:lumMod val="75000"/>
                      </a:schemeClr>
                    </a:solidFill>
                    <a:latin typeface="Cambria Math" panose="02040503050406030204" pitchFamily="18" charset="0"/>
                    <a:ea typeface="Cambria Math" panose="02040503050406030204" pitchFamily="18" charset="0"/>
                  </a:rPr>
                  <a:t>: a Lahori</a:t>
                </a:r>
              </a:p>
              <a:p>
                <a:pPr marL="0" indent="0">
                  <a:buFont typeface="Arial" panose="020B0604020202020204" pitchFamily="34" charset="0"/>
                  <a:buNone/>
                </a:pPr>
                <a14:m>
                  <m:oMath xmlns:m="http://schemas.openxmlformats.org/officeDocument/2006/math">
                    <m:r>
                      <a:rPr lang="en-US" sz="2400" b="0" i="1" smtClean="0">
                        <a:solidFill>
                          <a:schemeClr val="accent5">
                            <a:lumMod val="75000"/>
                          </a:schemeClr>
                        </a:solidFill>
                        <a:latin typeface="Cambria Math" panose="02040503050406030204" pitchFamily="18" charset="0"/>
                        <a:ea typeface="Cambria Math" panose="02040503050406030204" pitchFamily="18" charset="0"/>
                      </a:rPr>
                      <m:t>𝑃</m:t>
                    </m:r>
                    <m:d>
                      <m:dPr>
                        <m:ctrlPr>
                          <a:rPr lang="en-US" sz="2400" i="1" smtClean="0">
                            <a:solidFill>
                              <a:schemeClr val="accent5">
                                <a:lumMod val="75000"/>
                              </a:schemeClr>
                            </a:solidFill>
                            <a:latin typeface="Cambria Math" panose="02040503050406030204" pitchFamily="18" charset="0"/>
                            <a:ea typeface="Cambria Math" panose="02040503050406030204" pitchFamily="18" charset="0"/>
                          </a:rPr>
                        </m:ctrlPr>
                      </m:dPr>
                      <m:e>
                        <m:r>
                          <a:rPr lang="en-US" sz="2400" b="0" i="1" smtClean="0">
                            <a:solidFill>
                              <a:schemeClr val="accent5">
                                <a:lumMod val="75000"/>
                              </a:schemeClr>
                            </a:solidFill>
                            <a:latin typeface="Cambria Math" panose="02040503050406030204" pitchFamily="18" charset="0"/>
                            <a:ea typeface="Cambria Math" panose="02040503050406030204" pitchFamily="18" charset="0"/>
                          </a:rPr>
                          <m:t>𝑥</m:t>
                        </m:r>
                      </m:e>
                    </m:d>
                    <m:r>
                      <a:rPr lang="en-US" sz="2400" b="0" i="1" smtClean="0">
                        <a:solidFill>
                          <a:schemeClr val="accent5">
                            <a:lumMod val="75000"/>
                          </a:schemeClr>
                        </a:solidFill>
                        <a:latin typeface="Cambria Math" panose="02040503050406030204" pitchFamily="18" charset="0"/>
                        <a:ea typeface="Cambria Math" panose="02040503050406030204" pitchFamily="18" charset="0"/>
                      </a:rPr>
                      <m:t>:</m:t>
                    </m:r>
                    <m:r>
                      <a:rPr lang="en-US" sz="2400" b="0" i="1" smtClean="0">
                        <a:solidFill>
                          <a:schemeClr val="accent5">
                            <a:lumMod val="75000"/>
                          </a:schemeClr>
                        </a:solidFill>
                        <a:latin typeface="Cambria Math" panose="02040503050406030204" pitchFamily="18" charset="0"/>
                        <a:ea typeface="Cambria Math" panose="02040503050406030204" pitchFamily="18" charset="0"/>
                      </a:rPr>
                      <m:t>𝑥</m:t>
                    </m:r>
                  </m:oMath>
                </a14:m>
                <a:r>
                  <a:rPr lang="en-US" sz="2400" dirty="0">
                    <a:solidFill>
                      <a:schemeClr val="accent5">
                        <a:lumMod val="75000"/>
                      </a:schemeClr>
                    </a:solidFill>
                    <a:latin typeface="Cambria Math" panose="02040503050406030204" pitchFamily="18" charset="0"/>
                    <a:ea typeface="Cambria Math" panose="02040503050406030204" pitchFamily="18" charset="0"/>
                  </a:rPr>
                  <a:t> likes to eat chicken karahi</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a:p>
                <a:pPr marL="0" indent="0">
                  <a:buNone/>
                </a:pPr>
                <a:r>
                  <a:rPr lang="en-US" sz="2400" dirty="0">
                    <a:solidFill>
                      <a:schemeClr val="tx1">
                        <a:lumMod val="75000"/>
                        <a:lumOff val="25000"/>
                      </a:schemeClr>
                    </a:solidFill>
                    <a:latin typeface="Cambria Math" panose="02040503050406030204" pitchFamily="18" charset="0"/>
                    <a:ea typeface="Cambria Math" panose="02040503050406030204" pitchFamily="18" charset="0"/>
                  </a:rPr>
                  <a:t>All Lahoris like to eat chicken karahi.:</a:t>
                </a:r>
                <a14:m>
                  <m:oMath xmlns:m="http://schemas.openxmlformats.org/officeDocument/2006/math">
                    <m:r>
                      <a:rPr lang="en-US" sz="240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𝑥𝑃</m:t>
                    </m:r>
                    <m:d>
                      <m:dPr>
                        <m:ctrlPr>
                          <a:rPr lang="en-US" sz="2400" i="1">
                            <a:solidFill>
                              <a:srgbClr val="C00000"/>
                            </a:solidFill>
                            <a:latin typeface="Cambria Math" panose="02040503050406030204" pitchFamily="18" charset="0"/>
                            <a:ea typeface="Cambria Math" panose="02040503050406030204" pitchFamily="18" charset="0"/>
                          </a:rPr>
                        </m:ctrlPr>
                      </m:dPr>
                      <m:e>
                        <m:r>
                          <a:rPr lang="en-US" sz="2400" b="0" i="1" smtClean="0">
                            <a:solidFill>
                              <a:srgbClr val="C00000"/>
                            </a:solidFill>
                            <a:latin typeface="Cambria Math" panose="02040503050406030204" pitchFamily="18" charset="0"/>
                            <a:ea typeface="Cambria Math" panose="02040503050406030204" pitchFamily="18" charset="0"/>
                          </a:rPr>
                          <m:t>𝑥</m:t>
                        </m:r>
                      </m:e>
                    </m:d>
                  </m:oMath>
                </a14:m>
                <a:endParaRPr lang="en-US" sz="2400" dirty="0">
                  <a:solidFill>
                    <a:schemeClr val="tx1">
                      <a:lumMod val="75000"/>
                      <a:lumOff val="25000"/>
                    </a:schemeClr>
                  </a:solidFill>
                  <a:latin typeface="Cambria Math" panose="02040503050406030204" pitchFamily="18" charset="0"/>
                  <a:ea typeface="Cambria Math" panose="02040503050406030204" pitchFamily="18" charset="0"/>
                </a:endParaRPr>
              </a:p>
              <a:p>
                <a:pPr marL="0" indent="0">
                  <a:buNone/>
                </a:pPr>
                <a:r>
                  <a:rPr lang="en-US" sz="2400" dirty="0">
                    <a:solidFill>
                      <a:schemeClr val="tx1">
                        <a:lumMod val="75000"/>
                        <a:lumOff val="25000"/>
                      </a:schemeClr>
                    </a:solidFill>
                    <a:latin typeface="Cambria Math" panose="02040503050406030204" pitchFamily="18" charset="0"/>
                    <a:ea typeface="Cambria Math" panose="02040503050406030204" pitchFamily="18" charset="0"/>
                  </a:rPr>
                  <a:t>Negation: There is a Lahori who does not like to eat chicken karahi:</a:t>
                </a:r>
                <a14:m>
                  <m:oMath xmlns:m="http://schemas.openxmlformats.org/officeDocument/2006/math">
                    <m:r>
                      <a:rPr lang="en-US" sz="2400" b="1">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𝑥</m:t>
                    </m:r>
                    <m:r>
                      <a:rPr lang="en-US" sz="2400" b="0" smtClean="0">
                        <a:solidFill>
                          <a:srgbClr val="C00000"/>
                        </a:solidFill>
                        <a:latin typeface="Cambria Math" panose="02040503050406030204" pitchFamily="18" charset="0"/>
                        <a:ea typeface="Cambria Math" panose="02040503050406030204" pitchFamily="18" charset="0"/>
                      </a:rPr>
                      <m:t>¬</m:t>
                    </m:r>
                    <m:r>
                      <a:rPr lang="en-US" sz="2400" b="0" i="1" smtClean="0">
                        <a:solidFill>
                          <a:srgbClr val="C00000"/>
                        </a:solidFill>
                        <a:latin typeface="Cambria Math" panose="02040503050406030204" pitchFamily="18" charset="0"/>
                        <a:ea typeface="Cambria Math" panose="02040503050406030204" pitchFamily="18" charset="0"/>
                      </a:rPr>
                      <m:t>𝑃</m:t>
                    </m:r>
                    <m:d>
                      <m:dPr>
                        <m:ctrlPr>
                          <a:rPr lang="en-US" sz="2400" i="1">
                            <a:solidFill>
                              <a:srgbClr val="C00000"/>
                            </a:solidFill>
                            <a:latin typeface="Cambria Math" panose="02040503050406030204" pitchFamily="18" charset="0"/>
                            <a:ea typeface="Cambria Math" panose="02040503050406030204" pitchFamily="18" charset="0"/>
                          </a:rPr>
                        </m:ctrlPr>
                      </m:dPr>
                      <m:e>
                        <m:r>
                          <a:rPr lang="en-US" sz="2400" b="0" i="1" smtClean="0">
                            <a:solidFill>
                              <a:srgbClr val="C00000"/>
                            </a:solidFill>
                            <a:latin typeface="Cambria Math" panose="02040503050406030204" pitchFamily="18" charset="0"/>
                            <a:ea typeface="Cambria Math" panose="02040503050406030204" pitchFamily="18" charset="0"/>
                          </a:rPr>
                          <m:t>𝑥</m:t>
                        </m:r>
                      </m:e>
                    </m:d>
                    <m:r>
                      <a:rPr lang="en-US" sz="2400" b="0" smtClean="0">
                        <a:solidFill>
                          <a:srgbClr val="C00000"/>
                        </a:solidFill>
                        <a:latin typeface="Cambria Math" panose="02040503050406030204" pitchFamily="18" charset="0"/>
                        <a:ea typeface="Cambria Math" panose="02040503050406030204" pitchFamily="18" charset="0"/>
                      </a:rPr>
                      <m:t> </m:t>
                    </m:r>
                  </m:oMath>
                </a14:m>
                <a:endParaRPr lang="en-US" sz="2400" dirty="0">
                  <a:solidFill>
                    <a:schemeClr val="tx1">
                      <a:lumMod val="75000"/>
                      <a:lumOff val="25000"/>
                    </a:schemeClr>
                  </a:solidFill>
                  <a:latin typeface="Cambria Math" panose="02040503050406030204" pitchFamily="18" charset="0"/>
                  <a:ea typeface="Cambria Math" panose="02040503050406030204" pitchFamily="18" charset="0"/>
                </a:endParaRPr>
              </a:p>
              <a:p>
                <a:pPr marL="0" indent="0">
                  <a:buFont typeface="Arial" panose="020B0604020202020204" pitchFamily="34" charset="0"/>
                  <a:buNone/>
                </a:pPr>
                <a:endParaRPr lang="en-US" sz="2400" dirty="0">
                  <a:solidFill>
                    <a:srgbClr val="7030A0"/>
                  </a:solidFill>
                  <a:latin typeface="Cambria Math" panose="02040503050406030204" pitchFamily="18" charset="0"/>
                  <a:ea typeface="Cambria Math" panose="02040503050406030204" pitchFamily="18" charset="0"/>
                </a:endParaRPr>
              </a:p>
            </p:txBody>
          </p:sp>
        </mc:Choice>
        <mc:Fallback xmlns="">
          <p:sp>
            <p:nvSpPr>
              <p:cNvPr id="4" name="Content Placeholder 2">
                <a:extLst>
                  <a:ext uri="{FF2B5EF4-FFF2-40B4-BE49-F238E27FC236}">
                    <a16:creationId xmlns:a16="http://schemas.microsoft.com/office/drawing/2014/main" id="{2FB844F6-8657-1F25-09E8-009BD8588008}"/>
                  </a:ext>
                </a:extLst>
              </p:cNvPr>
              <p:cNvSpPr txBox="1">
                <a:spLocks noRot="1" noChangeAspect="1" noMove="1" noResize="1" noEditPoints="1" noAdjustHandles="1" noChangeArrowheads="1" noChangeShapeType="1" noTextEdit="1"/>
              </p:cNvSpPr>
              <p:nvPr/>
            </p:nvSpPr>
            <p:spPr>
              <a:xfrm>
                <a:off x="838199" y="2129432"/>
                <a:ext cx="10772955" cy="4305873"/>
              </a:xfrm>
              <a:prstGeom prst="rect">
                <a:avLst/>
              </a:prstGeom>
              <a:blipFill>
                <a:blip r:embed="rId2"/>
                <a:stretch>
                  <a:fillRect l="-848" t="-1980"/>
                </a:stretch>
              </a:blipFill>
            </p:spPr>
            <p:txBody>
              <a:bodyPr/>
              <a:lstStyle/>
              <a:p>
                <a:r>
                  <a:rPr lang="en-US">
                    <a:noFill/>
                  </a:rPr>
                  <a:t> </a:t>
                </a:r>
              </a:p>
            </p:txBody>
          </p:sp>
        </mc:Fallback>
      </mc:AlternateContent>
    </p:spTree>
    <p:extLst>
      <p:ext uri="{BB962C8B-B14F-4D97-AF65-F5344CB8AC3E}">
        <p14:creationId xmlns:p14="http://schemas.microsoft.com/office/powerpoint/2010/main" val="30216513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910" y="66545"/>
            <a:ext cx="10515600" cy="1325563"/>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 …</a:t>
            </a:r>
            <a:r>
              <a:rPr lang="en-US" sz="3600" dirty="0">
                <a:solidFill>
                  <a:srgbClr val="C00000"/>
                </a:solidFill>
                <a:latin typeface="Cambria Math" panose="02040503050406030204" pitchFamily="18" charset="0"/>
                <a:ea typeface="Cambria Math" panose="02040503050406030204" pitchFamily="18" charset="0"/>
              </a:rPr>
              <a:t>3</a:t>
            </a:r>
            <a:endParaRPr lang="en-US" dirty="0">
              <a:solidFill>
                <a:schemeClr val="tx1">
                  <a:lumMod val="65000"/>
                  <a:lumOff val="35000"/>
                </a:schemeClr>
              </a:solidFill>
              <a:latin typeface="Cambria Math" panose="02040503050406030204" pitchFamily="18" charset="0"/>
              <a:ea typeface="Cambria Math" panose="02040503050406030204" pitchFamily="18" charset="0"/>
            </a:endParaRPr>
          </a:p>
        </p:txBody>
      </p:sp>
      <p:sp>
        <p:nvSpPr>
          <p:cNvPr id="4" name="Content Placeholder 2">
            <a:extLst>
              <a:ext uri="{FF2B5EF4-FFF2-40B4-BE49-F238E27FC236}">
                <a16:creationId xmlns:a16="http://schemas.microsoft.com/office/drawing/2014/main" id="{90EC64B0-FA6F-0FA8-C7FB-14B4F2D9623D}"/>
              </a:ext>
            </a:extLst>
          </p:cNvPr>
          <p:cNvSpPr txBox="1">
            <a:spLocks/>
          </p:cNvSpPr>
          <p:nvPr/>
        </p:nvSpPr>
        <p:spPr>
          <a:xfrm>
            <a:off x="838200" y="1155940"/>
            <a:ext cx="10515600" cy="7591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Cambria Math" panose="02040503050406030204" pitchFamily="18" charset="0"/>
                <a:ea typeface="Cambria Math" panose="02040503050406030204" pitchFamily="18" charset="0"/>
              </a:rPr>
              <a:t>What is the negation of the following statement?</a:t>
            </a:r>
            <a:endParaRPr lang="en-US" dirty="0">
              <a:solidFill>
                <a:schemeClr val="accent5">
                  <a:lumMod val="75000"/>
                </a:schemeClr>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731F9DC0-3A20-8674-19F5-313989623FAB}"/>
                  </a:ext>
                </a:extLst>
              </p:cNvPr>
              <p:cNvSpPr txBox="1">
                <a:spLocks/>
              </p:cNvSpPr>
              <p:nvPr/>
            </p:nvSpPr>
            <p:spPr>
              <a:xfrm>
                <a:off x="838200" y="1915064"/>
                <a:ext cx="10515600" cy="584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75000"/>
                              <a:lumOff val="25000"/>
                            </a:schemeClr>
                          </a:solidFill>
                          <a:latin typeface="Cambria Math" panose="02040503050406030204" pitchFamily="18" charset="0"/>
                          <a:ea typeface="Cambria Math" panose="02040503050406030204" pitchFamily="18" charset="0"/>
                        </a:rPr>
                        <m:t>∀</m:t>
                      </m:r>
                      <m:r>
                        <a:rPr lang="en-US" b="0" i="1" smtClean="0">
                          <a:solidFill>
                            <a:schemeClr val="tx1">
                              <a:lumMod val="75000"/>
                              <a:lumOff val="25000"/>
                            </a:schemeClr>
                          </a:solidFill>
                          <a:latin typeface="Cambria Math" panose="02040503050406030204" pitchFamily="18" charset="0"/>
                          <a:ea typeface="Cambria Math" panose="02040503050406030204" pitchFamily="18" charset="0"/>
                        </a:rPr>
                        <m:t>𝑥</m:t>
                      </m:r>
                      <m:r>
                        <a:rPr lang="en-US" b="0" i="0" smtClean="0">
                          <a:solidFill>
                            <a:schemeClr val="tx1">
                              <a:lumMod val="75000"/>
                              <a:lumOff val="25000"/>
                            </a:schemeClr>
                          </a:solidFill>
                          <a:latin typeface="Cambria Math" panose="02040503050406030204" pitchFamily="18" charset="0"/>
                          <a:ea typeface="Cambria Math" panose="02040503050406030204" pitchFamily="18" charset="0"/>
                        </a:rPr>
                        <m:t> (</m:t>
                      </m:r>
                      <m:r>
                        <m:rPr>
                          <m:sty m:val="p"/>
                        </m:rPr>
                        <a:rPr lang="en-US" b="0" i="0" smtClean="0">
                          <a:solidFill>
                            <a:schemeClr val="tx1">
                              <a:lumMod val="75000"/>
                              <a:lumOff val="25000"/>
                            </a:schemeClr>
                          </a:solidFill>
                          <a:latin typeface="Cambria Math" panose="02040503050406030204" pitchFamily="18" charset="0"/>
                          <a:ea typeface="Cambria Math" panose="02040503050406030204" pitchFamily="18" charset="0"/>
                        </a:rPr>
                        <m:t>x</m:t>
                      </m:r>
                      <m:r>
                        <a:rPr lang="en-US" b="0" i="0" baseline="30000" smtClean="0">
                          <a:solidFill>
                            <a:schemeClr val="tx1">
                              <a:lumMod val="75000"/>
                              <a:lumOff val="25000"/>
                            </a:schemeClr>
                          </a:solidFill>
                          <a:latin typeface="Cambria Math" panose="02040503050406030204" pitchFamily="18" charset="0"/>
                          <a:ea typeface="Cambria Math" panose="02040503050406030204" pitchFamily="18" charset="0"/>
                        </a:rPr>
                        <m:t>2</m:t>
                      </m:r>
                      <m:r>
                        <a:rPr lang="en-US" b="0" i="0" smtClean="0">
                          <a:solidFill>
                            <a:schemeClr val="tx1">
                              <a:lumMod val="75000"/>
                              <a:lumOff val="25000"/>
                            </a:schemeClr>
                          </a:solidFill>
                          <a:latin typeface="Cambria Math" panose="02040503050406030204" pitchFamily="18" charset="0"/>
                          <a:ea typeface="Cambria Math" panose="02040503050406030204" pitchFamily="18" charset="0"/>
                        </a:rPr>
                        <m:t>&gt;0)</m:t>
                      </m:r>
                    </m:oMath>
                  </m:oMathPara>
                </a14:m>
                <a:endParaRPr lang="en-US" dirty="0">
                  <a:solidFill>
                    <a:schemeClr val="tx1">
                      <a:lumMod val="75000"/>
                      <a:lumOff val="25000"/>
                    </a:schemeClr>
                  </a:solidFill>
                  <a:latin typeface="Cambria Math" panose="02040503050406030204" pitchFamily="18" charset="0"/>
                  <a:ea typeface="Cambria Math" panose="02040503050406030204" pitchFamily="18" charset="0"/>
                </a:endParaRPr>
              </a:p>
            </p:txBody>
          </p:sp>
        </mc:Choice>
        <mc:Fallback xmlns="">
          <p:sp>
            <p:nvSpPr>
              <p:cNvPr id="5" name="Content Placeholder 2">
                <a:extLst>
                  <a:ext uri="{FF2B5EF4-FFF2-40B4-BE49-F238E27FC236}">
                    <a16:creationId xmlns:a16="http://schemas.microsoft.com/office/drawing/2014/main" id="{731F9DC0-3A20-8674-19F5-313989623FAB}"/>
                  </a:ext>
                </a:extLst>
              </p:cNvPr>
              <p:cNvSpPr txBox="1">
                <a:spLocks noRot="1" noChangeAspect="1" noMove="1" noResize="1" noEditPoints="1" noAdjustHandles="1" noChangeArrowheads="1" noChangeShapeType="1" noTextEdit="1"/>
              </p:cNvSpPr>
              <p:nvPr/>
            </p:nvSpPr>
            <p:spPr>
              <a:xfrm>
                <a:off x="838200" y="1915064"/>
                <a:ext cx="10515600" cy="58477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85DAFA-BE14-8D6E-6717-0392C6787213}"/>
                  </a:ext>
                </a:extLst>
              </p:cNvPr>
              <p:cNvSpPr txBox="1"/>
              <p:nvPr/>
            </p:nvSpPr>
            <p:spPr>
              <a:xfrm>
                <a:off x="2899429" y="2908168"/>
                <a:ext cx="6094562"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ea typeface="Cambria Math" panose="02040503050406030204" pitchFamily="18" charset="0"/>
                        </a:rPr>
                        <m:t>𝑁𝑒𝑔𝑎𝑡𝑖𝑜𝑛</m:t>
                      </m:r>
                      <m:r>
                        <a:rPr lang="en-US" sz="3200" b="0" i="1" smtClean="0">
                          <a:solidFill>
                            <a:srgbClr val="C00000"/>
                          </a:solidFill>
                          <a:latin typeface="Cambria Math" panose="02040503050406030204" pitchFamily="18" charset="0"/>
                          <a:ea typeface="Cambria Math" panose="02040503050406030204" pitchFamily="18" charset="0"/>
                        </a:rPr>
                        <m:t>:     ∃</m:t>
                      </m:r>
                      <m:r>
                        <a:rPr lang="en-US" sz="3200" b="0" i="1" smtClean="0">
                          <a:solidFill>
                            <a:srgbClr val="002060"/>
                          </a:solidFill>
                          <a:latin typeface="Cambria Math" panose="02040503050406030204" pitchFamily="18" charset="0"/>
                          <a:ea typeface="Cambria Math" panose="02040503050406030204" pitchFamily="18" charset="0"/>
                        </a:rPr>
                        <m:t>𝑥</m:t>
                      </m:r>
                      <m:r>
                        <a:rPr lang="en-US" sz="3200" b="0" i="1" smtClean="0">
                          <a:solidFill>
                            <a:srgbClr val="002060"/>
                          </a:solidFill>
                          <a:latin typeface="Cambria Math" panose="02040503050406030204" pitchFamily="18" charset="0"/>
                          <a:ea typeface="Cambria Math" panose="02040503050406030204" pitchFamily="18" charset="0"/>
                        </a:rPr>
                        <m:t> </m:t>
                      </m:r>
                      <m:d>
                        <m:dPr>
                          <m:ctrlPr>
                            <a:rPr lang="en-US" sz="3200" b="0" i="1" smtClean="0">
                              <a:solidFill>
                                <a:srgbClr val="002060"/>
                              </a:solidFill>
                              <a:latin typeface="Cambria Math" panose="02040503050406030204" pitchFamily="18" charset="0"/>
                              <a:ea typeface="Cambria Math" panose="02040503050406030204" pitchFamily="18" charset="0"/>
                            </a:rPr>
                          </m:ctrlPr>
                        </m:dPr>
                        <m:e>
                          <m:sSup>
                            <m:sSupPr>
                              <m:ctrlPr>
                                <a:rPr lang="en-US" sz="3200" b="0" i="1" smtClean="0">
                                  <a:solidFill>
                                    <a:srgbClr val="002060"/>
                                  </a:solidFill>
                                  <a:latin typeface="Cambria Math" panose="02040503050406030204" pitchFamily="18" charset="0"/>
                                  <a:ea typeface="Cambria Math" panose="02040503050406030204" pitchFamily="18" charset="0"/>
                                </a:rPr>
                              </m:ctrlPr>
                            </m:sSupPr>
                            <m:e>
                              <m:r>
                                <a:rPr lang="en-US" sz="3200" b="0" i="1" smtClean="0">
                                  <a:solidFill>
                                    <a:srgbClr val="002060"/>
                                  </a:solidFill>
                                  <a:latin typeface="Cambria Math" panose="02040503050406030204" pitchFamily="18" charset="0"/>
                                  <a:ea typeface="Cambria Math" panose="02040503050406030204" pitchFamily="18" charset="0"/>
                                </a:rPr>
                                <m:t>𝑥</m:t>
                              </m:r>
                            </m:e>
                            <m:sup>
                              <m:r>
                                <a:rPr lang="en-US" sz="3200" b="0" i="1" smtClean="0">
                                  <a:solidFill>
                                    <a:srgbClr val="002060"/>
                                  </a:solidFill>
                                  <a:latin typeface="Cambria Math" panose="02040503050406030204" pitchFamily="18" charset="0"/>
                                  <a:ea typeface="Cambria Math" panose="02040503050406030204" pitchFamily="18" charset="0"/>
                                </a:rPr>
                                <m:t>2</m:t>
                              </m:r>
                            </m:sup>
                          </m:sSup>
                          <m:r>
                            <a:rPr lang="en-US" sz="3200" b="0" i="1" smtClean="0">
                              <a:solidFill>
                                <a:srgbClr val="002060"/>
                              </a:solidFill>
                              <a:latin typeface="Cambria Math" panose="02040503050406030204" pitchFamily="18" charset="0"/>
                              <a:ea typeface="Cambria Math" panose="02040503050406030204" pitchFamily="18" charset="0"/>
                            </a:rPr>
                            <m:t>≤0</m:t>
                          </m:r>
                        </m:e>
                      </m:d>
                    </m:oMath>
                  </m:oMathPara>
                </a14:m>
                <a:endParaRPr lang="en-US" sz="3200" dirty="0"/>
              </a:p>
            </p:txBody>
          </p:sp>
        </mc:Choice>
        <mc:Fallback xmlns="">
          <p:sp>
            <p:nvSpPr>
              <p:cNvPr id="8" name="TextBox 7">
                <a:extLst>
                  <a:ext uri="{FF2B5EF4-FFF2-40B4-BE49-F238E27FC236}">
                    <a16:creationId xmlns:a16="http://schemas.microsoft.com/office/drawing/2014/main" id="{1C85DAFA-BE14-8D6E-6717-0392C6787213}"/>
                  </a:ext>
                </a:extLst>
              </p:cNvPr>
              <p:cNvSpPr txBox="1">
                <a:spLocks noRot="1" noChangeAspect="1" noMove="1" noResize="1" noEditPoints="1" noAdjustHandles="1" noChangeArrowheads="1" noChangeShapeType="1" noTextEdit="1"/>
              </p:cNvSpPr>
              <p:nvPr/>
            </p:nvSpPr>
            <p:spPr>
              <a:xfrm>
                <a:off x="2899429" y="2908168"/>
                <a:ext cx="6094562" cy="58477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8908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910" y="66545"/>
            <a:ext cx="10515600" cy="1325563"/>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Example …</a:t>
            </a:r>
            <a:r>
              <a:rPr lang="en-US" sz="3600" dirty="0">
                <a:solidFill>
                  <a:srgbClr val="C00000"/>
                </a:solidFill>
                <a:latin typeface="Cambria Math" panose="02040503050406030204" pitchFamily="18" charset="0"/>
                <a:ea typeface="Cambria Math" panose="02040503050406030204" pitchFamily="18" charset="0"/>
              </a:rPr>
              <a:t>4</a:t>
            </a:r>
            <a:endParaRPr lang="en-US" dirty="0">
              <a:solidFill>
                <a:schemeClr val="tx1">
                  <a:lumMod val="65000"/>
                  <a:lumOff val="35000"/>
                </a:schemeClr>
              </a:solidFill>
              <a:latin typeface="Cambria Math" panose="02040503050406030204" pitchFamily="18" charset="0"/>
              <a:ea typeface="Cambria Math" panose="02040503050406030204" pitchFamily="18" charset="0"/>
            </a:endParaRPr>
          </a:p>
        </p:txBody>
      </p:sp>
      <p:sp>
        <p:nvSpPr>
          <p:cNvPr id="4" name="Content Placeholder 2">
            <a:extLst>
              <a:ext uri="{FF2B5EF4-FFF2-40B4-BE49-F238E27FC236}">
                <a16:creationId xmlns:a16="http://schemas.microsoft.com/office/drawing/2014/main" id="{90EC64B0-FA6F-0FA8-C7FB-14B4F2D9623D}"/>
              </a:ext>
            </a:extLst>
          </p:cNvPr>
          <p:cNvSpPr txBox="1">
            <a:spLocks/>
          </p:cNvSpPr>
          <p:nvPr/>
        </p:nvSpPr>
        <p:spPr>
          <a:xfrm>
            <a:off x="838200" y="1155940"/>
            <a:ext cx="10515600" cy="7591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Cambria Math" panose="02040503050406030204" pitchFamily="18" charset="0"/>
                <a:ea typeface="Cambria Math" panose="02040503050406030204" pitchFamily="18" charset="0"/>
              </a:rPr>
              <a:t>What is the negation of the following statement?</a:t>
            </a: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731F9DC0-3A20-8674-19F5-313989623FAB}"/>
                  </a:ext>
                </a:extLst>
              </p:cNvPr>
              <p:cNvSpPr txBox="1">
                <a:spLocks/>
              </p:cNvSpPr>
              <p:nvPr/>
            </p:nvSpPr>
            <p:spPr>
              <a:xfrm>
                <a:off x="838200" y="1915064"/>
                <a:ext cx="10515600" cy="584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i="1" smtClean="0">
                          <a:solidFill>
                            <a:schemeClr val="tx1">
                              <a:lumMod val="75000"/>
                              <a:lumOff val="25000"/>
                            </a:schemeClr>
                          </a:solidFill>
                          <a:latin typeface="Cambria Math" panose="02040503050406030204" pitchFamily="18" charset="0"/>
                          <a:ea typeface="Cambria Math" panose="02040503050406030204" pitchFamily="18" charset="0"/>
                        </a:rPr>
                        <m:t>∃</m:t>
                      </m:r>
                      <m:r>
                        <a:rPr lang="en-US" i="1" smtClean="0">
                          <a:solidFill>
                            <a:schemeClr val="tx1">
                              <a:lumMod val="75000"/>
                              <a:lumOff val="25000"/>
                            </a:schemeClr>
                          </a:solidFill>
                          <a:latin typeface="Cambria Math" panose="02040503050406030204" pitchFamily="18" charset="0"/>
                          <a:ea typeface="Cambria Math" panose="02040503050406030204" pitchFamily="18" charset="0"/>
                        </a:rPr>
                        <m:t>𝑥</m:t>
                      </m:r>
                      <m:r>
                        <a:rPr lang="en-US" i="1" smtClean="0">
                          <a:solidFill>
                            <a:schemeClr val="tx1">
                              <a:lumMod val="75000"/>
                              <a:lumOff val="25000"/>
                            </a:schemeClr>
                          </a:solidFill>
                          <a:latin typeface="Cambria Math" panose="02040503050406030204" pitchFamily="18" charset="0"/>
                          <a:ea typeface="Cambria Math" panose="02040503050406030204" pitchFamily="18" charset="0"/>
                        </a:rPr>
                        <m:t> </m:t>
                      </m:r>
                      <m:d>
                        <m:dPr>
                          <m:ctrlPr>
                            <a:rPr lang="en-US" i="1">
                              <a:solidFill>
                                <a:schemeClr val="tx1">
                                  <a:lumMod val="75000"/>
                                  <a:lumOff val="25000"/>
                                </a:schemeClr>
                              </a:solidFill>
                              <a:latin typeface="Cambria Math" panose="02040503050406030204" pitchFamily="18" charset="0"/>
                              <a:ea typeface="Cambria Math" panose="02040503050406030204" pitchFamily="18" charset="0"/>
                            </a:rPr>
                          </m:ctrlPr>
                        </m:dPr>
                        <m:e>
                          <m:sSup>
                            <m:sSupPr>
                              <m:ctrlPr>
                                <a:rPr lang="en-US" i="1">
                                  <a:solidFill>
                                    <a:schemeClr val="tx1">
                                      <a:lumMod val="75000"/>
                                      <a:lumOff val="25000"/>
                                    </a:schemeClr>
                                  </a:solidFill>
                                  <a:latin typeface="Cambria Math" panose="02040503050406030204" pitchFamily="18" charset="0"/>
                                  <a:ea typeface="Cambria Math" panose="02040503050406030204" pitchFamily="18" charset="0"/>
                                </a:rPr>
                              </m:ctrlPr>
                            </m:sSupPr>
                            <m:e>
                              <m:r>
                                <a:rPr lang="en-US" i="1">
                                  <a:solidFill>
                                    <a:schemeClr val="tx1">
                                      <a:lumMod val="75000"/>
                                      <a:lumOff val="25000"/>
                                    </a:schemeClr>
                                  </a:solidFill>
                                  <a:latin typeface="Cambria Math" panose="02040503050406030204" pitchFamily="18" charset="0"/>
                                  <a:ea typeface="Cambria Math" panose="02040503050406030204" pitchFamily="18" charset="0"/>
                                </a:rPr>
                                <m:t>𝑥</m:t>
                              </m:r>
                            </m:e>
                            <m:sup>
                              <m:r>
                                <a:rPr lang="en-US" i="1">
                                  <a:solidFill>
                                    <a:schemeClr val="tx1">
                                      <a:lumMod val="75000"/>
                                      <a:lumOff val="25000"/>
                                    </a:schemeClr>
                                  </a:solidFill>
                                  <a:latin typeface="Cambria Math" panose="02040503050406030204" pitchFamily="18" charset="0"/>
                                  <a:ea typeface="Cambria Math" panose="02040503050406030204" pitchFamily="18" charset="0"/>
                                </a:rPr>
                                <m:t>2</m:t>
                              </m:r>
                            </m:sup>
                          </m:sSup>
                          <m:r>
                            <a:rPr lang="en-US" b="0" i="1" smtClean="0">
                              <a:solidFill>
                                <a:schemeClr val="tx1">
                                  <a:lumMod val="75000"/>
                                  <a:lumOff val="25000"/>
                                </a:schemeClr>
                              </a:solidFill>
                              <a:latin typeface="Cambria Math" panose="02040503050406030204" pitchFamily="18" charset="0"/>
                              <a:ea typeface="Cambria Math" panose="02040503050406030204" pitchFamily="18" charset="0"/>
                            </a:rPr>
                            <m:t>=5</m:t>
                          </m:r>
                        </m:e>
                      </m:d>
                    </m:oMath>
                  </m:oMathPara>
                </a14:m>
                <a:endParaRPr lang="en-US" dirty="0">
                  <a:solidFill>
                    <a:schemeClr val="tx1">
                      <a:lumMod val="75000"/>
                      <a:lumOff val="25000"/>
                    </a:schemeClr>
                  </a:solidFill>
                  <a:latin typeface="Cambria Math" panose="02040503050406030204" pitchFamily="18" charset="0"/>
                  <a:ea typeface="Cambria Math" panose="02040503050406030204" pitchFamily="18" charset="0"/>
                </a:endParaRPr>
              </a:p>
            </p:txBody>
          </p:sp>
        </mc:Choice>
        <mc:Fallback xmlns="">
          <p:sp>
            <p:nvSpPr>
              <p:cNvPr id="5" name="Content Placeholder 2">
                <a:extLst>
                  <a:ext uri="{FF2B5EF4-FFF2-40B4-BE49-F238E27FC236}">
                    <a16:creationId xmlns:a16="http://schemas.microsoft.com/office/drawing/2014/main" id="{731F9DC0-3A20-8674-19F5-313989623FAB}"/>
                  </a:ext>
                </a:extLst>
              </p:cNvPr>
              <p:cNvSpPr txBox="1">
                <a:spLocks noRot="1" noChangeAspect="1" noMove="1" noResize="1" noEditPoints="1" noAdjustHandles="1" noChangeArrowheads="1" noChangeShapeType="1" noTextEdit="1"/>
              </p:cNvSpPr>
              <p:nvPr/>
            </p:nvSpPr>
            <p:spPr>
              <a:xfrm>
                <a:off x="838200" y="1915064"/>
                <a:ext cx="10515600" cy="58477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C85DAFA-BE14-8D6E-6717-0392C6787213}"/>
                  </a:ext>
                </a:extLst>
              </p:cNvPr>
              <p:cNvSpPr txBox="1"/>
              <p:nvPr/>
            </p:nvSpPr>
            <p:spPr>
              <a:xfrm>
                <a:off x="2899429" y="2908168"/>
                <a:ext cx="6094562"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solidFill>
                            <a:srgbClr val="C00000"/>
                          </a:solidFill>
                          <a:latin typeface="Cambria Math" panose="02040503050406030204" pitchFamily="18" charset="0"/>
                          <a:ea typeface="Cambria Math" panose="02040503050406030204" pitchFamily="18" charset="0"/>
                        </a:rPr>
                        <m:t>𝑁𝑒𝑔𝑎𝑡𝑖𝑜𝑛</m:t>
                      </m:r>
                      <m:r>
                        <a:rPr lang="en-US" sz="3200" b="0" i="1" smtClean="0">
                          <a:solidFill>
                            <a:srgbClr val="C00000"/>
                          </a:solidFill>
                          <a:latin typeface="Cambria Math" panose="02040503050406030204" pitchFamily="18" charset="0"/>
                          <a:ea typeface="Cambria Math" panose="02040503050406030204" pitchFamily="18" charset="0"/>
                        </a:rPr>
                        <m:t>:∀</m:t>
                      </m:r>
                      <m:r>
                        <a:rPr lang="en-US" sz="3200" i="1" smtClean="0">
                          <a:solidFill>
                            <a:schemeClr val="accent5">
                              <a:lumMod val="75000"/>
                            </a:schemeClr>
                          </a:solidFill>
                          <a:latin typeface="Cambria Math" panose="02040503050406030204" pitchFamily="18" charset="0"/>
                          <a:ea typeface="Cambria Math" panose="02040503050406030204" pitchFamily="18" charset="0"/>
                        </a:rPr>
                        <m:t>𝑥</m:t>
                      </m:r>
                      <m:d>
                        <m:dPr>
                          <m:ctrlPr>
                            <a:rPr lang="en-US" sz="3200" b="0" i="1" smtClean="0">
                              <a:solidFill>
                                <a:schemeClr val="accent5">
                                  <a:lumMod val="75000"/>
                                </a:schemeClr>
                              </a:solidFill>
                              <a:latin typeface="Cambria Math" panose="02040503050406030204" pitchFamily="18" charset="0"/>
                              <a:ea typeface="Cambria Math" panose="02040503050406030204" pitchFamily="18" charset="0"/>
                            </a:rPr>
                          </m:ctrlPr>
                        </m:dPr>
                        <m:e>
                          <m:sSup>
                            <m:sSupPr>
                              <m:ctrlPr>
                                <a:rPr lang="en-US" sz="3200" b="0" i="1" smtClean="0">
                                  <a:solidFill>
                                    <a:schemeClr val="accent5">
                                      <a:lumMod val="75000"/>
                                    </a:schemeClr>
                                  </a:solidFill>
                                  <a:latin typeface="Cambria Math" panose="02040503050406030204" pitchFamily="18" charset="0"/>
                                  <a:ea typeface="Cambria Math" panose="02040503050406030204" pitchFamily="18" charset="0"/>
                                </a:rPr>
                              </m:ctrlPr>
                            </m:sSupPr>
                            <m:e>
                              <m:r>
                                <a:rPr lang="en-US" sz="3200" b="0" i="1" smtClean="0">
                                  <a:solidFill>
                                    <a:schemeClr val="accent5">
                                      <a:lumMod val="75000"/>
                                    </a:schemeClr>
                                  </a:solidFill>
                                  <a:latin typeface="Cambria Math" panose="02040503050406030204" pitchFamily="18" charset="0"/>
                                  <a:ea typeface="Cambria Math" panose="02040503050406030204" pitchFamily="18" charset="0"/>
                                </a:rPr>
                                <m:t>𝑥</m:t>
                              </m:r>
                            </m:e>
                            <m:sup>
                              <m:r>
                                <a:rPr lang="en-US" sz="3200" b="0" i="1" smtClean="0">
                                  <a:solidFill>
                                    <a:schemeClr val="accent5">
                                      <a:lumMod val="75000"/>
                                    </a:schemeClr>
                                  </a:solidFill>
                                  <a:latin typeface="Cambria Math" panose="02040503050406030204" pitchFamily="18" charset="0"/>
                                  <a:ea typeface="Cambria Math" panose="02040503050406030204" pitchFamily="18" charset="0"/>
                                </a:rPr>
                                <m:t>2</m:t>
                              </m:r>
                            </m:sup>
                          </m:sSup>
                          <m:r>
                            <a:rPr lang="en-US" sz="3200" b="0" i="1" smtClean="0">
                              <a:solidFill>
                                <a:schemeClr val="accent5">
                                  <a:lumMod val="75000"/>
                                </a:schemeClr>
                              </a:solidFill>
                              <a:latin typeface="Cambria Math" panose="02040503050406030204" pitchFamily="18" charset="0"/>
                              <a:ea typeface="Cambria Math" panose="02040503050406030204" pitchFamily="18" charset="0"/>
                            </a:rPr>
                            <m:t>≠5</m:t>
                          </m:r>
                        </m:e>
                      </m:d>
                    </m:oMath>
                  </m:oMathPara>
                </a14:m>
                <a:endParaRPr lang="en-US" sz="3200" dirty="0"/>
              </a:p>
            </p:txBody>
          </p:sp>
        </mc:Choice>
        <mc:Fallback xmlns="">
          <p:sp>
            <p:nvSpPr>
              <p:cNvPr id="8" name="TextBox 7">
                <a:extLst>
                  <a:ext uri="{FF2B5EF4-FFF2-40B4-BE49-F238E27FC236}">
                    <a16:creationId xmlns:a16="http://schemas.microsoft.com/office/drawing/2014/main" id="{1C85DAFA-BE14-8D6E-6717-0392C6787213}"/>
                  </a:ext>
                </a:extLst>
              </p:cNvPr>
              <p:cNvSpPr txBox="1">
                <a:spLocks noRot="1" noChangeAspect="1" noMove="1" noResize="1" noEditPoints="1" noAdjustHandles="1" noChangeArrowheads="1" noChangeShapeType="1" noTextEdit="1"/>
              </p:cNvSpPr>
              <p:nvPr/>
            </p:nvSpPr>
            <p:spPr>
              <a:xfrm>
                <a:off x="2899429" y="2908168"/>
                <a:ext cx="6094562" cy="58477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70373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AFB85-5CA7-2CD2-C40E-F056289742F5}"/>
              </a:ext>
            </a:extLst>
          </p:cNvPr>
          <p:cNvSpPr>
            <a:spLocks noGrp="1"/>
          </p:cNvSpPr>
          <p:nvPr>
            <p:ph type="title"/>
          </p:nvPr>
        </p:nvSpPr>
        <p:spPr>
          <a:xfrm>
            <a:off x="838200" y="365125"/>
            <a:ext cx="10515600" cy="808067"/>
          </a:xfrm>
        </p:spPr>
        <p:txBody>
          <a:bodyPr/>
          <a:lstStyle/>
          <a:p>
            <a:r>
              <a:rPr lang="en-US" dirty="0">
                <a:latin typeface="Cambria Math" panose="02040503050406030204" pitchFamily="18" charset="0"/>
                <a:ea typeface="Cambria Math" panose="02040503050406030204" pitchFamily="18" charset="0"/>
              </a:rPr>
              <a:t>Exercises….</a:t>
            </a:r>
          </a:p>
        </p:txBody>
      </p:sp>
      <p:sp>
        <p:nvSpPr>
          <p:cNvPr id="3" name="Content Placeholder 2">
            <a:extLst>
              <a:ext uri="{FF2B5EF4-FFF2-40B4-BE49-F238E27FC236}">
                <a16:creationId xmlns:a16="http://schemas.microsoft.com/office/drawing/2014/main" id="{F0E7745C-4649-FF08-DA65-2D3B308BD8EF}"/>
              </a:ext>
            </a:extLst>
          </p:cNvPr>
          <p:cNvSpPr>
            <a:spLocks noGrp="1"/>
          </p:cNvSpPr>
          <p:nvPr>
            <p:ph idx="1"/>
          </p:nvPr>
        </p:nvSpPr>
        <p:spPr>
          <a:xfrm>
            <a:off x="838200" y="1250830"/>
            <a:ext cx="10515600" cy="4926133"/>
          </a:xfrm>
        </p:spPr>
        <p:txBody>
          <a:bodyPr/>
          <a:lstStyle/>
          <a:p>
            <a:pPr marL="0" indent="0">
              <a:buNone/>
            </a:pPr>
            <a:r>
              <a:rPr lang="en-US" dirty="0"/>
              <a:t>Write the following statements into logical expressions. Then write their negation statements too.</a:t>
            </a:r>
          </a:p>
          <a:p>
            <a:pPr marL="0" indent="0">
              <a:buNone/>
            </a:pPr>
            <a:endParaRPr lang="en-US" dirty="0"/>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Everyone of our class has visited Germany.</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No one in Lahore owns plane and a car.</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Everyone in our class is not happy about his grades.</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No one in your school owns both a bicycle and a motorcycle.</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There is a student in our class who is not thankful to his parents.</a:t>
            </a:r>
          </a:p>
          <a:p>
            <a:pPr>
              <a:buFont typeface="Wingdings" panose="05000000000000000000" pitchFamily="2" charset="2"/>
              <a:buChar char="ü"/>
            </a:pPr>
            <a:r>
              <a:rPr lang="en-US" sz="2400" dirty="0">
                <a:solidFill>
                  <a:schemeClr val="accent5">
                    <a:lumMod val="75000"/>
                  </a:schemeClr>
                </a:solidFill>
                <a:latin typeface="Cambria Math" panose="02040503050406030204" pitchFamily="18" charset="0"/>
                <a:ea typeface="Cambria Math" panose="02040503050406030204" pitchFamily="18" charset="0"/>
              </a:rPr>
              <a:t>Someone in our class was born in Gujranwala.</a:t>
            </a:r>
          </a:p>
        </p:txBody>
      </p:sp>
    </p:spTree>
    <p:extLst>
      <p:ext uri="{BB962C8B-B14F-4D97-AF65-F5344CB8AC3E}">
        <p14:creationId xmlns:p14="http://schemas.microsoft.com/office/powerpoint/2010/main" val="242300054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2" name="Content Placeholder 1"/>
          <p:cNvSpPr>
            <a:spLocks noGrp="1"/>
          </p:cNvSpPr>
          <p:nvPr>
            <p:ph idx="1"/>
          </p:nvPr>
        </p:nvSpPr>
        <p:spPr>
          <a:xfrm>
            <a:off x="882396" y="1499129"/>
            <a:ext cx="9829800" cy="3859742"/>
          </a:xfrm>
        </p:spPr>
        <p:txBody>
          <a:bodyPr/>
          <a:lstStyle/>
          <a:p>
            <a:r>
              <a:rPr lang="en-US" dirty="0">
                <a:latin typeface="Cambria Math" panose="02040503050406030204" pitchFamily="18" charset="0"/>
                <a:ea typeface="Cambria Math" panose="02040503050406030204" pitchFamily="18" charset="0"/>
              </a:rPr>
              <a:t>Show this logical equivalence step by step:</a:t>
            </a:r>
          </a:p>
          <a:p>
            <a:pPr marL="0" indent="0" algn="ctr">
              <a:buNone/>
            </a:pPr>
            <a:r>
              <a:rPr lang="en-US" dirty="0">
                <a:solidFill>
                  <a:schemeClr val="accent1">
                    <a:lumMod val="75000"/>
                  </a:schemeClr>
                </a:solidFill>
                <a:latin typeface="Cambria Math" panose="02040503050406030204" pitchFamily="18" charset="0"/>
                <a:ea typeface="Cambria Math" panose="02040503050406030204" pitchFamily="18" charset="0"/>
              </a:rPr>
              <a:t>￢ ∀x (P(x) → Q(x)) ≡ ∃x (P(x) ∧ ￢Q(x))</a:t>
            </a:r>
          </a:p>
        </p:txBody>
      </p:sp>
      <p:sp>
        <p:nvSpPr>
          <p:cNvPr id="1048803" name="Title 2"/>
          <p:cNvSpPr>
            <a:spLocks noGrp="1"/>
          </p:cNvSpPr>
          <p:nvPr>
            <p:ph type="title"/>
          </p:nvPr>
        </p:nvSpPr>
        <p:spPr/>
        <p:txBody>
          <a:bodyPr>
            <a:normAutofit fontScale="90000"/>
          </a:bodyPr>
          <a:lstStyle/>
          <a:p>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Negating Quantified Expressions</a:t>
            </a:r>
            <a:br>
              <a:rPr lang="en-US" dirty="0">
                <a:latin typeface="Cambria Math" panose="02040503050406030204" pitchFamily="18" charset="0"/>
                <a:ea typeface="Cambria Math" panose="02040503050406030204" pitchFamily="18" charset="0"/>
              </a:rPr>
            </a:br>
            <a:endParaRPr lang="en-US" dirty="0">
              <a:latin typeface="Cambria Math" panose="02040503050406030204" pitchFamily="18" charset="0"/>
              <a:ea typeface="Cambria Math" panose="020405030504060302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BA007-143D-5203-7BB6-1AC9D7EF0646}"/>
              </a:ext>
            </a:extLst>
          </p:cNvPr>
          <p:cNvSpPr>
            <a:spLocks noGrp="1"/>
          </p:cNvSpPr>
          <p:nvPr>
            <p:ph idx="1"/>
          </p:nvPr>
        </p:nvSpPr>
        <p:spPr>
          <a:xfrm>
            <a:off x="701086" y="1256212"/>
            <a:ext cx="6393662" cy="4869364"/>
          </a:xfrm>
        </p:spPr>
        <p:txBody>
          <a:bodyPr>
            <a:normAutofit/>
          </a:bodyPr>
          <a:lstStyle/>
          <a:p>
            <a:r>
              <a:rPr lang="en-US" sz="2000" dirty="0"/>
              <a:t>The topics we covered so far:</a:t>
            </a:r>
          </a:p>
          <a:p>
            <a:pPr marL="457200" indent="-457200">
              <a:buFont typeface="Arial" panose="020B0604020202020204" pitchFamily="34" charset="0"/>
              <a:buChar char="•"/>
            </a:pPr>
            <a:r>
              <a:rPr lang="en-US" sz="2000" dirty="0"/>
              <a:t>Predicate and Quantifiers</a:t>
            </a:r>
          </a:p>
          <a:p>
            <a:pPr marL="457200" indent="-457200">
              <a:buFont typeface="Arial" panose="020B0604020202020204" pitchFamily="34" charset="0"/>
              <a:buChar char="•"/>
            </a:pPr>
            <a:r>
              <a:rPr lang="en-US" sz="2000" dirty="0"/>
              <a:t>Negating Quantifiers</a:t>
            </a:r>
          </a:p>
          <a:p>
            <a:pPr marL="457200" indent="-457200">
              <a:buFont typeface="Arial" panose="020B0604020202020204" pitchFamily="34" charset="0"/>
              <a:buChar char="•"/>
            </a:pPr>
            <a:r>
              <a:rPr lang="en-US" sz="2000" dirty="0"/>
              <a:t>Translation English to Logical statements</a:t>
            </a:r>
          </a:p>
          <a:p>
            <a:pPr marL="457200" indent="-457200">
              <a:buFont typeface="Arial" panose="020B0604020202020204" pitchFamily="34" charset="0"/>
              <a:buChar char="•"/>
            </a:pPr>
            <a:r>
              <a:rPr lang="en-US" sz="2000" dirty="0"/>
              <a:t>Quantifiers with restricted domains</a:t>
            </a:r>
          </a:p>
          <a:p>
            <a:pPr marL="457200" indent="-457200">
              <a:buFont typeface="Arial" panose="020B0604020202020204" pitchFamily="34" charset="0"/>
              <a:buChar char="•"/>
            </a:pPr>
            <a:r>
              <a:rPr lang="en-US" sz="2000" dirty="0"/>
              <a:t>Binding Variable</a:t>
            </a:r>
          </a:p>
          <a:p>
            <a:pPr marL="457200" indent="-457200">
              <a:buFont typeface="Arial" panose="020B0604020202020204" pitchFamily="34" charset="0"/>
              <a:buChar char="•"/>
            </a:pPr>
            <a:r>
              <a:rPr lang="en-US" sz="2000" dirty="0"/>
              <a:t>Scope of Quantifiers</a:t>
            </a:r>
          </a:p>
        </p:txBody>
      </p:sp>
      <p:sp>
        <p:nvSpPr>
          <p:cNvPr id="25" name="Oval 2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descr="Books">
            <a:extLst>
              <a:ext uri="{FF2B5EF4-FFF2-40B4-BE49-F238E27FC236}">
                <a16:creationId xmlns:a16="http://schemas.microsoft.com/office/drawing/2014/main" id="{15422CC9-DE1C-CDFA-10C5-EC1FEBB1DA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7" name="Freeform: Shape 2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itle 3">
            <a:extLst>
              <a:ext uri="{FF2B5EF4-FFF2-40B4-BE49-F238E27FC236}">
                <a16:creationId xmlns:a16="http://schemas.microsoft.com/office/drawing/2014/main" id="{32344EE1-CFFD-57AA-4D75-9BBE96554682}"/>
              </a:ext>
            </a:extLst>
          </p:cNvPr>
          <p:cNvSpPr txBox="1">
            <a:spLocks/>
          </p:cNvSpPr>
          <p:nvPr/>
        </p:nvSpPr>
        <p:spPr>
          <a:xfrm>
            <a:off x="841248" y="365760"/>
            <a:ext cx="5120640" cy="13258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solidFill>
                  <a:schemeClr val="tx1"/>
                </a:solidFill>
              </a:rPr>
              <a:t>Summary</a:t>
            </a:r>
            <a:endParaRPr lang="en-US" dirty="0">
              <a:solidFill>
                <a:schemeClr val="tx1"/>
              </a:solidFill>
            </a:endParaRPr>
          </a:p>
        </p:txBody>
      </p:sp>
    </p:spTree>
    <p:extLst>
      <p:ext uri="{BB962C8B-B14F-4D97-AF65-F5344CB8AC3E}">
        <p14:creationId xmlns:p14="http://schemas.microsoft.com/office/powerpoint/2010/main" val="2062828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2.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{FF24DC02-2B8A-471C-B42D-D3B73C291671}tf78504181_win32</Template>
  <TotalTime>19320</TotalTime>
  <Words>4026</Words>
  <Application>Microsoft Office PowerPoint</Application>
  <PresentationFormat>Widescreen</PresentationFormat>
  <Paragraphs>504</Paragraphs>
  <Slides>76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76</vt:i4>
      </vt:variant>
    </vt:vector>
  </HeadingPairs>
  <TitlesOfParts>
    <vt:vector size="86" baseType="lpstr">
      <vt:lpstr>Arial</vt:lpstr>
      <vt:lpstr>Avenir Next LT Pro</vt:lpstr>
      <vt:lpstr>Calibri</vt:lpstr>
      <vt:lpstr>Cambria Math</vt:lpstr>
      <vt:lpstr>Century Gothic</vt:lpstr>
      <vt:lpstr>Comic Sans MS</vt:lpstr>
      <vt:lpstr>Tw Cen MT</vt:lpstr>
      <vt:lpstr>Wingdings</vt:lpstr>
      <vt:lpstr>Wingdings 3</vt:lpstr>
      <vt:lpstr>ShapesVTI</vt:lpstr>
      <vt:lpstr>PowerPoint Presentation</vt:lpstr>
      <vt:lpstr>Section 1.4   PREDICATES  and  QUANTIFIERS</vt:lpstr>
      <vt:lpstr>Propositions</vt:lpstr>
      <vt:lpstr>Propositions</vt:lpstr>
      <vt:lpstr>Propositions ?</vt:lpstr>
      <vt:lpstr>Propositional Function - Predicate</vt:lpstr>
      <vt:lpstr>Predicates</vt:lpstr>
      <vt:lpstr>PREDICATES</vt:lpstr>
      <vt:lpstr>Example</vt:lpstr>
      <vt:lpstr>PREDICATES</vt:lpstr>
      <vt:lpstr>Example (more than1variable)</vt:lpstr>
      <vt:lpstr>Example (more than 1 variable)</vt:lpstr>
      <vt:lpstr>PREDICATES</vt:lpstr>
      <vt:lpstr>Propositional functions</vt:lpstr>
      <vt:lpstr>Universe of Discourse</vt:lpstr>
      <vt:lpstr>Example</vt:lpstr>
      <vt:lpstr>PREDICATES</vt:lpstr>
      <vt:lpstr>Quantifiers</vt:lpstr>
      <vt:lpstr>Quantifiers</vt:lpstr>
      <vt:lpstr>Universal Quantifier … ∀</vt:lpstr>
      <vt:lpstr>Universal Quantifiers … ∀</vt:lpstr>
      <vt:lpstr>Universal Quantifier</vt:lpstr>
      <vt:lpstr>Expressing words</vt:lpstr>
      <vt:lpstr>Universal Quantifier</vt:lpstr>
      <vt:lpstr>Translation from English to Logical Expressions  Example1 …</vt:lpstr>
      <vt:lpstr>Example2…</vt:lpstr>
      <vt:lpstr>Example3</vt:lpstr>
      <vt:lpstr>Universal Quantifier …. Truth Value …  Example 1</vt:lpstr>
      <vt:lpstr>Example 2</vt:lpstr>
      <vt:lpstr>Example 3</vt:lpstr>
      <vt:lpstr>Example 4</vt:lpstr>
      <vt:lpstr>Existential Quantifier … ∃</vt:lpstr>
      <vt:lpstr>Existential Quantifier … ∃</vt:lpstr>
      <vt:lpstr>Expressing words</vt:lpstr>
      <vt:lpstr>Example1 …</vt:lpstr>
      <vt:lpstr>Exercise</vt:lpstr>
      <vt:lpstr>Exercise</vt:lpstr>
      <vt:lpstr>Example 1</vt:lpstr>
      <vt:lpstr>Example 2</vt:lpstr>
      <vt:lpstr>Example 3</vt:lpstr>
      <vt:lpstr>Uniqueness Quantifier …  ∃! </vt:lpstr>
      <vt:lpstr>PowerPoint Presentation</vt:lpstr>
      <vt:lpstr>Sets and Notations</vt:lpstr>
      <vt:lpstr>Examples – Express in Mathematical Notation</vt:lpstr>
      <vt:lpstr>Examples – Express  in Mathematical Notation </vt:lpstr>
      <vt:lpstr>Examples – Express  in Mathematical Notation </vt:lpstr>
      <vt:lpstr>Examples – Express  in Mathematical Notation </vt:lpstr>
      <vt:lpstr>Examples – Express  in Mathematical Notation </vt:lpstr>
      <vt:lpstr>Examples – Express  in Mathematical Notation </vt:lpstr>
      <vt:lpstr>Examples – Express  in Mathematical Notation </vt:lpstr>
      <vt:lpstr>Quantifiers with Restricted Domains</vt:lpstr>
      <vt:lpstr>Quantifiers with Restricted Domains</vt:lpstr>
      <vt:lpstr>Binding Variables</vt:lpstr>
      <vt:lpstr>Scope of  Quantifiers</vt:lpstr>
      <vt:lpstr>Example</vt:lpstr>
      <vt:lpstr>Precedence of Quantifiers</vt:lpstr>
      <vt:lpstr> Precedence of Quantifiers </vt:lpstr>
      <vt:lpstr> Precedence of Quantifiers </vt:lpstr>
      <vt:lpstr> Logical Equivalences  </vt:lpstr>
      <vt:lpstr> Logical Equivalences  </vt:lpstr>
      <vt:lpstr> Logical Equivalences</vt:lpstr>
      <vt:lpstr> Logical Equivalences</vt:lpstr>
      <vt:lpstr>Negating Quantified Expressions</vt:lpstr>
      <vt:lpstr>Quantifiers – Negation</vt:lpstr>
      <vt:lpstr>Quantifiers – Negation</vt:lpstr>
      <vt:lpstr>Quantifiers – Negation</vt:lpstr>
      <vt:lpstr> Negating Quantified Expressions </vt:lpstr>
      <vt:lpstr>Example …1</vt:lpstr>
      <vt:lpstr>Example … Solution</vt:lpstr>
      <vt:lpstr>Example …2</vt:lpstr>
      <vt:lpstr>Example … Solution</vt:lpstr>
      <vt:lpstr>Example …3</vt:lpstr>
      <vt:lpstr>Example …4</vt:lpstr>
      <vt:lpstr>Exercises….</vt:lpstr>
      <vt:lpstr> Negating Quantified Expressions </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CC2031  Digital Logic Design Section – V11</dc:title>
  <dc:creator>IQRA JAVED</dc:creator>
  <cp:lastModifiedBy>IQRA JAVED</cp:lastModifiedBy>
  <cp:revision>63</cp:revision>
  <cp:lastPrinted>2024-03-28T06:21:38Z</cp:lastPrinted>
  <dcterms:created xsi:type="dcterms:W3CDTF">2023-10-03T05:27:31Z</dcterms:created>
  <dcterms:modified xsi:type="dcterms:W3CDTF">2025-03-24T08:31:11Z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