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svg" ContentType="image/svg+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8" r:id="rId4"/>
  </p:sldMasterIdLst>
  <p:notesMasterIdLst>
    <p:notesMasterId r:id="rId92"/>
  </p:notesMasterIdLst>
  <p:sldIdLst>
    <p:sldId id="3894" r:id="rId5"/>
    <p:sldId id="3885" r:id="rId6"/>
    <p:sldId id="3922" r:id="rId7"/>
    <p:sldId id="3926" r:id="rId8"/>
    <p:sldId id="3886" r:id="rId9"/>
    <p:sldId id="3927" r:id="rId10"/>
    <p:sldId id="475" r:id="rId11"/>
    <p:sldId id="3928" r:id="rId12"/>
    <p:sldId id="262" r:id="rId13"/>
    <p:sldId id="524" r:id="rId14"/>
    <p:sldId id="3929" r:id="rId15"/>
    <p:sldId id="3925" r:id="rId16"/>
    <p:sldId id="283" r:id="rId17"/>
    <p:sldId id="3930" r:id="rId18"/>
    <p:sldId id="265" r:id="rId19"/>
    <p:sldId id="266" r:id="rId20"/>
    <p:sldId id="3931" r:id="rId21"/>
    <p:sldId id="3932" r:id="rId22"/>
    <p:sldId id="3933" r:id="rId23"/>
    <p:sldId id="284" r:id="rId24"/>
    <p:sldId id="3934" r:id="rId25"/>
    <p:sldId id="271" r:id="rId26"/>
    <p:sldId id="272" r:id="rId27"/>
    <p:sldId id="273" r:id="rId28"/>
    <p:sldId id="274" r:id="rId29"/>
    <p:sldId id="3935" r:id="rId30"/>
    <p:sldId id="276" r:id="rId31"/>
    <p:sldId id="3936" r:id="rId32"/>
    <p:sldId id="278" r:id="rId33"/>
    <p:sldId id="3955" r:id="rId34"/>
    <p:sldId id="3937" r:id="rId35"/>
    <p:sldId id="3938" r:id="rId36"/>
    <p:sldId id="3939" r:id="rId37"/>
    <p:sldId id="3940" r:id="rId38"/>
    <p:sldId id="3941" r:id="rId39"/>
    <p:sldId id="3942" r:id="rId40"/>
    <p:sldId id="3943" r:id="rId41"/>
    <p:sldId id="263" r:id="rId42"/>
    <p:sldId id="3944" r:id="rId43"/>
    <p:sldId id="3945" r:id="rId44"/>
    <p:sldId id="3946" r:id="rId45"/>
    <p:sldId id="3947" r:id="rId46"/>
    <p:sldId id="3948" r:id="rId47"/>
    <p:sldId id="3949" r:id="rId48"/>
    <p:sldId id="279" r:id="rId49"/>
    <p:sldId id="3950" r:id="rId50"/>
    <p:sldId id="3951" r:id="rId51"/>
    <p:sldId id="282" r:id="rId52"/>
    <p:sldId id="3952" r:id="rId53"/>
    <p:sldId id="3953" r:id="rId54"/>
    <p:sldId id="3954" r:id="rId55"/>
    <p:sldId id="286" r:id="rId56"/>
    <p:sldId id="287" r:id="rId57"/>
    <p:sldId id="288" r:id="rId58"/>
    <p:sldId id="289" r:id="rId59"/>
    <p:sldId id="3956" r:id="rId60"/>
    <p:sldId id="546" r:id="rId61"/>
    <p:sldId id="547" r:id="rId62"/>
    <p:sldId id="548" r:id="rId63"/>
    <p:sldId id="549" r:id="rId64"/>
    <p:sldId id="551" r:id="rId65"/>
    <p:sldId id="553" r:id="rId66"/>
    <p:sldId id="554" r:id="rId67"/>
    <p:sldId id="555" r:id="rId68"/>
    <p:sldId id="556" r:id="rId69"/>
    <p:sldId id="557" r:id="rId70"/>
    <p:sldId id="558" r:id="rId71"/>
    <p:sldId id="559" r:id="rId72"/>
    <p:sldId id="560" r:id="rId73"/>
    <p:sldId id="561" r:id="rId74"/>
    <p:sldId id="562" r:id="rId75"/>
    <p:sldId id="563" r:id="rId76"/>
    <p:sldId id="564" r:id="rId77"/>
    <p:sldId id="565" r:id="rId78"/>
    <p:sldId id="566" r:id="rId79"/>
    <p:sldId id="567" r:id="rId80"/>
    <p:sldId id="568" r:id="rId81"/>
    <p:sldId id="569" r:id="rId82"/>
    <p:sldId id="570" r:id="rId83"/>
    <p:sldId id="571" r:id="rId84"/>
    <p:sldId id="468" r:id="rId85"/>
    <p:sldId id="469" r:id="rId86"/>
    <p:sldId id="470" r:id="rId87"/>
    <p:sldId id="471" r:id="rId88"/>
    <p:sldId id="472" r:id="rId89"/>
    <p:sldId id="473" r:id="rId90"/>
    <p:sldId id="3855"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0" autoAdjust="0"/>
    <p:restoredTop sz="94660"/>
  </p:normalViewPr>
  <p:slideViewPr>
    <p:cSldViewPr snapToGrid="0">
      <p:cViewPr varScale="1">
        <p:scale>
          <a:sx n="58" d="100"/>
          <a:sy n="58" d="100"/>
        </p:scale>
        <p:origin x="180" y="60"/>
      </p:cViewPr>
      <p:guideLst>
        <p:guide orient="horz" pos="1200"/>
        <p:guide orient="horz" pos="3408"/>
        <p:guide pos="6936"/>
        <p:guide pos="744"/>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notesMaster" Target="notesMasters/notesMaster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4" Type="http://schemas.openxmlformats.org/officeDocument/2006/relationships/image" Target="../media/image1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7BA811-8917-4F1D-B22F-E96045BFA4E0}" type="datetimeFigureOut">
              <a:rPr lang="en-US" smtClean="0"/>
              <a:t>3/27/2025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0C6A29-4676-420C-BBE3-ACC2B80F64D4}" type="slidenum">
              <a:rPr lang="en-US" smtClean="0"/>
              <a:t>‹#›</a:t>
            </a:fld>
            <a:endParaRPr lang="en-US" dirty="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Ads</a:t>
            </a:r>
          </a:p>
          <a:p>
            <a:r>
              <a:rPr lang="en-US" dirty="0"/>
              <a:t>Video recommendation</a:t>
            </a:r>
          </a:p>
        </p:txBody>
      </p:sp>
      <p:sp>
        <p:nvSpPr>
          <p:cNvPr id="4" name="Slide Number Placeholder 3"/>
          <p:cNvSpPr>
            <a:spLocks noGrp="1"/>
          </p:cNvSpPr>
          <p:nvPr>
            <p:ph type="sldNum" sz="quarter" idx="10"/>
          </p:nvPr>
        </p:nvSpPr>
        <p:spPr/>
        <p:txBody>
          <a:bodyPr/>
          <a:lstStyle/>
          <a:p>
            <a:fld id="{FDB2A512-A935-4E77-8B28-1DCFDD492ED9}" type="slidenum">
              <a:rPr lang="en-US" smtClean="0"/>
              <a:pPr/>
              <a:t>3</a:t>
            </a:fld>
            <a:endParaRPr lang="en-US" dirty="0"/>
          </a:p>
        </p:txBody>
      </p:sp>
    </p:spTree>
    <p:extLst>
      <p:ext uri="{BB962C8B-B14F-4D97-AF65-F5344CB8AC3E}">
        <p14:creationId xmlns:p14="http://schemas.microsoft.com/office/powerpoint/2010/main" val="4153333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B2A512-A935-4E77-8B28-1DCFDD492ED9}" type="slidenum">
              <a:rPr lang="en-US" smtClean="0"/>
              <a:pPr/>
              <a:t>12</a:t>
            </a:fld>
            <a:endParaRPr lang="en-US"/>
          </a:p>
        </p:txBody>
      </p:sp>
    </p:spTree>
    <p:extLst>
      <p:ext uri="{BB962C8B-B14F-4D97-AF65-F5344CB8AC3E}">
        <p14:creationId xmlns:p14="http://schemas.microsoft.com/office/powerpoint/2010/main" val="1365692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A9421D0-6215-4261-B64C-7470A97F18E7}" type="slidenum">
              <a:rPr lang="en-US" smtClean="0"/>
              <a:pPr/>
              <a:t>31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anchor="b"/>
          <a:lstStyle>
            <a:lvl1pPr algn="r">
              <a:defRPr sz="6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a:lstStyle>
            <a:lvl1pPr algn="ct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anchor="ctr"/>
          <a:lstStyle>
            <a:lvl1pPr marL="0" indent="0">
              <a:buNone/>
              <a:defRPr/>
            </a:lvl1pPr>
            <a:lvl2pPr marL="228600">
              <a:defRPr/>
            </a:lvl2pPr>
            <a:lvl3pPr marL="457200">
              <a:defRPr/>
            </a:lvl3pPr>
            <a:lvl4pPr>
              <a:buNone/>
              <a:defRPr/>
            </a:lvl4pPr>
          </a:lstStyle>
          <a:p>
            <a:pPr lvl="0"/>
            <a:r>
              <a:rPr lang="en-US"/>
              <a:t>Click to edit Master text styles</a:t>
            </a:r>
          </a:p>
          <a:p>
            <a:pPr lvl="1"/>
            <a:r>
              <a:rPr lang="en-US"/>
              <a:t>Second level</a:t>
            </a:r>
          </a:p>
          <a:p>
            <a:pPr lvl="2"/>
            <a:r>
              <a:rPr lang="en-US"/>
              <a:t>Third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anchor="b"/>
          <a:lstStyle>
            <a:lvl1pPr algn="ct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82FA1-02B7-467E-9F16-D178149407C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a:lstStyle>
            <a:lvl1pPr>
              <a:buNone/>
              <a:defRPr>
                <a:solidFill>
                  <a:schemeClr val="bg1"/>
                </a:solidFill>
              </a:defRPr>
            </a:lvl1pPr>
          </a:lstStyle>
          <a:p>
            <a:r>
              <a:rPr lang="en-US"/>
              <a:t>Click icon to add picture</a:t>
            </a:r>
            <a:endParaRPr lang="en-US" dirty="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anchor="b" anchorCtr="0">
            <a:noAutofit/>
          </a:bodyPr>
          <a:lstStyle>
            <a:lvl1pPr algn="ctr">
              <a:defRPr sz="4000">
                <a:solidFill>
                  <a:schemeClr val="tx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1" name="Date Placeholder 10">
            <a:extLst>
              <a:ext uri="{FF2B5EF4-FFF2-40B4-BE49-F238E27FC236}">
                <a16:creationId xmlns:a16="http://schemas.microsoft.com/office/drawing/2014/main" id="{6B76FE53-FB67-4871-8485-71BAAFD7D1BF}"/>
              </a:ext>
            </a:extLst>
          </p:cNvPr>
          <p:cNvSpPr>
            <a:spLocks noGrp="1"/>
          </p:cNvSpPr>
          <p:nvPr>
            <p:ph type="dt" sz="half" idx="11"/>
          </p:nvPr>
        </p:nvSpPr>
        <p:spPr/>
        <p:txBody>
          <a:bodyPr/>
          <a:lstStyle>
            <a:lvl1pPr>
              <a:defRPr>
                <a:solidFill>
                  <a:schemeClr val="bg1"/>
                </a:solidFill>
                <a:latin typeface="+mn-lt"/>
              </a:defRPr>
            </a:lvl1pPr>
          </a:lstStyle>
          <a:p>
            <a:pPr>
              <a:defRPr/>
            </a:pPr>
            <a:r>
              <a:rPr lang="en-US"/>
              <a:t>9/3/20XX</a:t>
            </a:r>
            <a:endParaRPr lang="en-US" dirty="0"/>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a:lstStyle>
            <a:lvl1pPr>
              <a:defRPr>
                <a:solidFill>
                  <a:schemeClr val="bg1"/>
                </a:solidFill>
                <a:latin typeface="+mn-lt"/>
              </a:defRPr>
            </a:lvl1pPr>
          </a:lstStyle>
          <a:p>
            <a:pPr>
              <a:defRPr/>
            </a:pPr>
            <a:r>
              <a:rPr lang="fr-FR"/>
              <a:t>Discrete Structures : Lecture 1-2 by IQRA JAVED</a:t>
            </a:r>
            <a:endParaRPr lang="en-US" dirty="0"/>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a:lstStyle>
            <a:lvl1pPr>
              <a:defRPr>
                <a:solidFill>
                  <a:schemeClr val="bg1"/>
                </a:solidFill>
                <a:latin typeface="+mn-lt"/>
              </a:defRPr>
            </a:lvl1pPr>
          </a:lstStyle>
          <a:p>
            <a:pPr>
              <a:defRPr/>
            </a:pPr>
            <a:fld id="{D76B855D-E9CC-4FF8-AD85-6CDC7B89A0DE}" type="slidenum">
              <a:rPr lang="en-US" smtClean="0"/>
              <a:pPr>
                <a:defRPr/>
              </a:pPr>
              <a:t>‹#›</a:t>
            </a:fld>
            <a:endParaRPr lang="en-US" dirty="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D8B65F-F709-469F-9961-4D01896CAA12}"/>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A8A5018-8A77-40E8-B159-4894ECF228B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anchor="ctr">
            <a:noAutofit/>
          </a:bodyPr>
          <a:lstStyle>
            <a:lvl1pPr algn="ctr">
              <a:buNone/>
              <a:defRPr sz="1800"/>
            </a:lvl1pPr>
          </a:lstStyle>
          <a:p>
            <a:r>
              <a:rPr lang="en-US"/>
              <a:t>Click icon to add picture</a:t>
            </a:r>
            <a:endParaRPr lang="en-US" dirty="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a:lstStyle>
            <a:lvl1pPr marL="0" indent="0">
              <a:buNone/>
              <a:defRPr sz="24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a:lstStyle>
            <a:lvl1pPr algn="ctr">
              <a:defRPr>
                <a:solidFill>
                  <a:schemeClr val="bg1"/>
                </a:solidFill>
              </a:defRPr>
            </a:lvl1pPr>
          </a:lstStyle>
          <a:p>
            <a:r>
              <a:rPr lang="en-US"/>
              <a:t>Click to edit Master title style</a:t>
            </a:r>
          </a:p>
        </p:txBody>
      </p:sp>
      <p:sp>
        <p:nvSpPr>
          <p:cNvPr id="3" name="Date Placeholder 2">
            <a:extLst>
              <a:ext uri="{FF2B5EF4-FFF2-40B4-BE49-F238E27FC236}">
                <a16:creationId xmlns:a16="http://schemas.microsoft.com/office/drawing/2014/main" id="{254D3190-B78C-42F1-9D62-F523886BBE51}"/>
              </a:ext>
            </a:extLst>
          </p:cNvPr>
          <p:cNvSpPr>
            <a:spLocks noGrp="1"/>
          </p:cNvSpPr>
          <p:nvPr>
            <p:ph type="dt" sz="half" idx="10"/>
          </p:nvPr>
        </p:nvSpPr>
        <p:spPr>
          <a:xfrm>
            <a:off x="1682496" y="6356350"/>
            <a:ext cx="1545336" cy="365125"/>
          </a:xfrm>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a:lstStyle>
            <a:lvl1pPr algn="l">
              <a:defRPr>
                <a:latin typeface="+mn-lt"/>
              </a:defRPr>
            </a:lvl1pPr>
          </a:lstStyle>
          <a:p>
            <a:pPr algn="l">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a:lstStyle>
            <a:lvl1pPr marL="0" indent="0">
              <a:buNone/>
              <a:defRPr sz="2400"/>
            </a:lvl1pPr>
            <a:lvl2pPr marL="228600">
              <a:defRPr sz="1800"/>
            </a:lvl2pPr>
            <a:lvl3pPr marL="457200">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024287-C9B9-48AC-8E4D-A282DE2F44F5}"/>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70783-FF31-4C4E-9196-EB169B209747}"/>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A07CB7-0520-4D64-B76C-C31AC557832D}"/>
              </a:ext>
            </a:extLst>
          </p:cNvPr>
          <p:cNvSpPr>
            <a:spLocks noGrp="1"/>
          </p:cNvSpPr>
          <p:nvPr>
            <p:ph type="dt" sz="half" idx="10"/>
          </p:nvPr>
        </p:nvSpPr>
        <p:spPr/>
        <p:txBody>
          <a:bodyPr/>
          <a:lstStyle>
            <a:lvl1pPr>
              <a:defRPr>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a:lstStyle>
            <a:lvl1pPr>
              <a:defRPr>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a:lstStyle>
            <a:lvl1pPr>
              <a:defRPr>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5225"/>
            <a:ext cx="2844800" cy="476250"/>
          </a:xfrm>
        </p:spPr>
        <p:txBody>
          <a:bodyPr/>
          <a:lstStyle>
            <a:lvl1pPr>
              <a:defRPr/>
            </a:lvl1pPr>
          </a:lstStyle>
          <a:p>
            <a:r>
              <a:rPr lang="en-US"/>
              <a:t>9/3/20XX</a:t>
            </a:r>
          </a:p>
        </p:txBody>
      </p:sp>
      <p:sp>
        <p:nvSpPr>
          <p:cNvPr id="6" name="Footer Placeholder 5"/>
          <p:cNvSpPr>
            <a:spLocks noGrp="1"/>
          </p:cNvSpPr>
          <p:nvPr>
            <p:ph type="ftr" sz="quarter" idx="11"/>
          </p:nvPr>
        </p:nvSpPr>
        <p:spPr>
          <a:xfrm>
            <a:off x="4165600" y="6245225"/>
            <a:ext cx="3860800" cy="476250"/>
          </a:xfrm>
        </p:spPr>
        <p:txBody>
          <a:bodyPr/>
          <a:lstStyle>
            <a:lvl1pPr>
              <a:defRPr/>
            </a:lvl1pPr>
          </a:lstStyle>
          <a:p>
            <a:r>
              <a:rPr lang="en-US"/>
              <a:t>Discrete Structures : Lecture 1-2 by IQRA JAVED</a:t>
            </a:r>
          </a:p>
        </p:txBody>
      </p:sp>
      <p:sp>
        <p:nvSpPr>
          <p:cNvPr id="7" name="Slide Number Placeholder 6"/>
          <p:cNvSpPr>
            <a:spLocks noGrp="1"/>
          </p:cNvSpPr>
          <p:nvPr>
            <p:ph type="sldNum" sz="quarter" idx="12"/>
          </p:nvPr>
        </p:nvSpPr>
        <p:spPr>
          <a:xfrm>
            <a:off x="8737600" y="6245225"/>
            <a:ext cx="2844800" cy="476250"/>
          </a:xfrm>
        </p:spPr>
        <p:txBody>
          <a:bodyPr/>
          <a:lstStyle>
            <a:lvl1pPr>
              <a:defRPr/>
            </a:lvl1pPr>
          </a:lstStyle>
          <a:p>
            <a:fld id="{B6D8E66E-9F63-44B4-A1AD-0A85D9072691}" type="slidenum">
              <a:rPr lang="en-US"/>
              <a:pPr/>
              <a:t>‹#›</a:t>
            </a:fld>
            <a:endParaRPr lang="en-US"/>
          </a:p>
        </p:txBody>
      </p:sp>
    </p:spTree>
    <p:extLst>
      <p:ext uri="{BB962C8B-B14F-4D97-AF65-F5344CB8AC3E}">
        <p14:creationId xmlns:p14="http://schemas.microsoft.com/office/powerpoint/2010/main" val="3567543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a:defRPr/>
            </a:pPr>
            <a:r>
              <a:rPr lang="en-US">
                <a:solidFill>
                  <a:prstClr val="black">
                    <a:tint val="75000"/>
                  </a:prstClr>
                </a:solidFill>
              </a:rPr>
              <a:t>9/3/20XX</a:t>
            </a:r>
            <a:endParaRPr lang="en-US" dirty="0">
              <a:solidFill>
                <a:prstClr val="black">
                  <a:tint val="75000"/>
                </a:prstClr>
              </a:solidFill>
            </a:endParaRP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a:defRPr/>
            </a:pPr>
            <a:r>
              <a:rPr lang="fr-FR">
                <a:solidFill>
                  <a:prstClr val="black">
                    <a:tint val="75000"/>
                  </a:prstClr>
                </a:solidFill>
              </a:rPr>
              <a:t>Discrete Structures : Lecture 1-2 by IQRA JAVED</a:t>
            </a:r>
            <a:endParaRPr lang="en-US" dirty="0">
              <a:solidFill>
                <a:prstClr val="black">
                  <a:tint val="75000"/>
                </a:prstClr>
              </a:solidFill>
            </a:endParaRP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a:defRPr/>
            </a:pPr>
            <a:fld id="{D76B855D-E9CC-4FF8-AD85-6CDC7B89A0DE}" type="slidenum">
              <a:rPr lang="en-US" smtClean="0">
                <a:solidFill>
                  <a:prstClr val="black">
                    <a:tint val="75000"/>
                  </a:prstClr>
                </a:solidFill>
              </a:rPr>
              <a:pPr>
                <a:defRPr/>
              </a:pPr>
              <a:t>‹#›</a:t>
            </a:fld>
            <a:endParaRPr lang="en-US" dirty="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 id="2147483801"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vmlDrawing" Target="../drawings/vmlDrawing2.v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5.xml"/><Relationship Id="rId1" Type="http://schemas.openxmlformats.org/officeDocument/2006/relationships/vmlDrawing" Target="../drawings/vmlDrawing3.vml"/><Relationship Id="rId4" Type="http://schemas.openxmlformats.org/officeDocument/2006/relationships/image" Target="../media/image5.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5.xml"/><Relationship Id="rId1" Type="http://schemas.openxmlformats.org/officeDocument/2006/relationships/vmlDrawing" Target="../drawings/vmlDrawing4.vml"/><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5.xml"/><Relationship Id="rId1" Type="http://schemas.openxmlformats.org/officeDocument/2006/relationships/vmlDrawing" Target="../drawings/vmlDrawing5.vml"/><Relationship Id="rId4" Type="http://schemas.openxmlformats.org/officeDocument/2006/relationships/image" Target="../media/image7.w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5.xml"/><Relationship Id="rId1" Type="http://schemas.openxmlformats.org/officeDocument/2006/relationships/vmlDrawing" Target="../drawings/vmlDrawing6.vml"/><Relationship Id="rId4" Type="http://schemas.openxmlformats.org/officeDocument/2006/relationships/image" Target="../media/image6.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5.xml"/><Relationship Id="rId1" Type="http://schemas.openxmlformats.org/officeDocument/2006/relationships/vmlDrawing" Target="../drawings/vmlDrawing7.vml"/><Relationship Id="rId4" Type="http://schemas.openxmlformats.org/officeDocument/2006/relationships/image" Target="../media/image7.w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8" Type="http://schemas.openxmlformats.org/officeDocument/2006/relationships/image" Target="../media/image10.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13.xml"/><Relationship Id="rId1" Type="http://schemas.openxmlformats.org/officeDocument/2006/relationships/vmlDrawing" Target="../drawings/vmlDrawing8.vml"/><Relationship Id="rId6" Type="http://schemas.openxmlformats.org/officeDocument/2006/relationships/image" Target="../media/image9.wmf"/><Relationship Id="rId5" Type="http://schemas.openxmlformats.org/officeDocument/2006/relationships/oleObject" Target="../embeddings/oleObject9.bin"/><Relationship Id="rId10" Type="http://schemas.openxmlformats.org/officeDocument/2006/relationships/image" Target="../media/image11.wmf"/><Relationship Id="rId4" Type="http://schemas.openxmlformats.org/officeDocument/2006/relationships/image" Target="../media/image8.wmf"/><Relationship Id="rId9"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3.xml"/><Relationship Id="rId1" Type="http://schemas.openxmlformats.org/officeDocument/2006/relationships/vmlDrawing" Target="../drawings/vmlDrawing9.vml"/><Relationship Id="rId4" Type="http://schemas.openxmlformats.org/officeDocument/2006/relationships/image" Target="../media/image1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5.xml"/><Relationship Id="rId1" Type="http://schemas.openxmlformats.org/officeDocument/2006/relationships/vmlDrawing" Target="../drawings/vmlDrawing10.vml"/><Relationship Id="rId4" Type="http://schemas.openxmlformats.org/officeDocument/2006/relationships/image" Target="../media/image4.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5.xml"/><Relationship Id="rId1" Type="http://schemas.openxmlformats.org/officeDocument/2006/relationships/vmlDrawing" Target="../drawings/vmlDrawing11.vml"/><Relationship Id="rId4" Type="http://schemas.openxmlformats.org/officeDocument/2006/relationships/image" Target="../media/image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5.xml"/><Relationship Id="rId1" Type="http://schemas.openxmlformats.org/officeDocument/2006/relationships/vmlDrawing" Target="../drawings/vmlDrawing12.vml"/><Relationship Id="rId4" Type="http://schemas.openxmlformats.org/officeDocument/2006/relationships/image" Target="../media/image5.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5.xml"/><Relationship Id="rId1" Type="http://schemas.openxmlformats.org/officeDocument/2006/relationships/vmlDrawing" Target="../drawings/vmlDrawing13.vml"/><Relationship Id="rId4" Type="http://schemas.openxmlformats.org/officeDocument/2006/relationships/image" Target="../media/image5.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3.xml"/><Relationship Id="rId1" Type="http://schemas.openxmlformats.org/officeDocument/2006/relationships/vmlDrawing" Target="../drawings/vmlDrawing14.vml"/><Relationship Id="rId4" Type="http://schemas.openxmlformats.org/officeDocument/2006/relationships/image" Target="../media/image13.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5.xml"/><Relationship Id="rId1" Type="http://schemas.openxmlformats.org/officeDocument/2006/relationships/vmlDrawing" Target="../drawings/vmlDrawing15.vml"/><Relationship Id="rId4" Type="http://schemas.openxmlformats.org/officeDocument/2006/relationships/image" Target="../media/image5.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5.xml"/><Relationship Id="rId1" Type="http://schemas.openxmlformats.org/officeDocument/2006/relationships/vmlDrawing" Target="../drawings/vmlDrawing16.vml"/><Relationship Id="rId4" Type="http://schemas.openxmlformats.org/officeDocument/2006/relationships/image" Target="../media/image5.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5.xml"/><Relationship Id="rId1" Type="http://schemas.openxmlformats.org/officeDocument/2006/relationships/vmlDrawing" Target="../drawings/vmlDrawing17.vml"/><Relationship Id="rId4" Type="http://schemas.openxmlformats.org/officeDocument/2006/relationships/image" Target="../media/image4.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3.xml"/><Relationship Id="rId1" Type="http://schemas.openxmlformats.org/officeDocument/2006/relationships/vmlDrawing" Target="../drawings/vmlDrawing18.vml"/><Relationship Id="rId4" Type="http://schemas.openxmlformats.org/officeDocument/2006/relationships/image" Target="../media/image8.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22.bin"/><Relationship Id="rId7" Type="http://schemas.openxmlformats.org/officeDocument/2006/relationships/oleObject" Target="../embeddings/oleObject24.bin"/><Relationship Id="rId2" Type="http://schemas.openxmlformats.org/officeDocument/2006/relationships/slideLayout" Target="../slideLayouts/slideLayout5.xml"/><Relationship Id="rId1" Type="http://schemas.openxmlformats.org/officeDocument/2006/relationships/vmlDrawing" Target="../drawings/vmlDrawing19.vml"/><Relationship Id="rId6" Type="http://schemas.openxmlformats.org/officeDocument/2006/relationships/image" Target="../media/image15.wmf"/><Relationship Id="rId5" Type="http://schemas.openxmlformats.org/officeDocument/2006/relationships/oleObject" Target="../embeddings/oleObject23.bin"/><Relationship Id="rId4" Type="http://schemas.openxmlformats.org/officeDocument/2006/relationships/image" Target="../media/image14.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5.xml"/><Relationship Id="rId1" Type="http://schemas.openxmlformats.org/officeDocument/2006/relationships/vmlDrawing" Target="../drawings/vmlDrawing20.vml"/><Relationship Id="rId4" Type="http://schemas.openxmlformats.org/officeDocument/2006/relationships/image" Target="../media/image17.w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5.xml"/><Relationship Id="rId1" Type="http://schemas.openxmlformats.org/officeDocument/2006/relationships/vmlDrawing" Target="../drawings/vmlDrawing21.vml"/><Relationship Id="rId4" Type="http://schemas.openxmlformats.org/officeDocument/2006/relationships/image" Target="../media/image18.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5.xml"/><Relationship Id="rId1" Type="http://schemas.openxmlformats.org/officeDocument/2006/relationships/vmlDrawing" Target="../drawings/vmlDrawing22.vml"/><Relationship Id="rId4" Type="http://schemas.openxmlformats.org/officeDocument/2006/relationships/image" Target="../media/image19.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xml"/><Relationship Id="rId1" Type="http://schemas.openxmlformats.org/officeDocument/2006/relationships/vmlDrawing" Target="../drawings/vmlDrawing23.vml"/><Relationship Id="rId4" Type="http://schemas.openxmlformats.org/officeDocument/2006/relationships/image" Target="../media/image5.w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BB25E70-F951-4043-8895-D1EFDDA97DDE}"/>
              </a:ext>
            </a:extLst>
          </p:cNvPr>
          <p:cNvSpPr txBox="1">
            <a:spLocks/>
          </p:cNvSpPr>
          <p:nvPr/>
        </p:nvSpPr>
        <p:spPr>
          <a:xfrm>
            <a:off x="460375" y="1948069"/>
            <a:ext cx="11594776" cy="4073773"/>
          </a:xfrm>
          <a:prstGeom prst="rect">
            <a:avLst/>
          </a:prstGeom>
        </p:spPr>
        <p:txBody>
          <a:bodyPr vert="horz" lIns="91440" tIns="45720" rIns="91440" bIns="45720" rtlCol="0" anchor="ct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dirty="0">
                <a:solidFill>
                  <a:srgbClr val="C00000"/>
                </a:solidFill>
                <a:latin typeface="Cambria Math" panose="02040503050406030204" pitchFamily="18" charset="0"/>
                <a:ea typeface="Cambria Math" panose="02040503050406030204" pitchFamily="18" charset="0"/>
              </a:rPr>
              <a:t>CC 141 </a:t>
            </a:r>
            <a:br>
              <a:rPr lang="en-US" sz="4800" dirty="0">
                <a:solidFill>
                  <a:srgbClr val="C00000"/>
                </a:solidFill>
                <a:latin typeface="Cambria Math" panose="02040503050406030204" pitchFamily="18" charset="0"/>
                <a:ea typeface="Cambria Math" panose="02040503050406030204" pitchFamily="18" charset="0"/>
              </a:rPr>
            </a:br>
            <a:r>
              <a:rPr lang="en-US" sz="4800" dirty="0">
                <a:solidFill>
                  <a:srgbClr val="C00000"/>
                </a:solidFill>
                <a:latin typeface="Cambria Math" panose="02040503050406030204" pitchFamily="18" charset="0"/>
                <a:ea typeface="Cambria Math" panose="02040503050406030204" pitchFamily="18" charset="0"/>
              </a:rPr>
              <a:t>Discrete Structures</a:t>
            </a:r>
            <a:br>
              <a:rPr lang="en-US" sz="4800" dirty="0">
                <a:solidFill>
                  <a:srgbClr val="C00000"/>
                </a:solidFill>
                <a:latin typeface="Cambria Math" panose="02040503050406030204" pitchFamily="18" charset="0"/>
                <a:ea typeface="Cambria Math" panose="02040503050406030204" pitchFamily="18" charset="0"/>
              </a:rPr>
            </a:br>
            <a:br>
              <a:rPr lang="en-US" dirty="0">
                <a:solidFill>
                  <a:srgbClr val="C00000"/>
                </a:solidFill>
                <a:latin typeface="Cambria Math" panose="02040503050406030204" pitchFamily="18"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Department of Computer Science</a:t>
            </a:r>
            <a:br>
              <a:rPr lang="en-US" sz="3200" dirty="0">
                <a:solidFill>
                  <a:schemeClr val="accent5">
                    <a:lumMod val="50000"/>
                  </a:schemeClr>
                </a:solidFill>
                <a:latin typeface="Century Gothic" panose="020B0502020202020204" pitchFamily="34" charset="0"/>
                <a:ea typeface="Cambria Math" panose="02040503050406030204" pitchFamily="18" charset="0"/>
              </a:rPr>
            </a:br>
            <a:r>
              <a:rPr lang="en-US" sz="3200" dirty="0">
                <a:solidFill>
                  <a:schemeClr val="accent5">
                    <a:lumMod val="50000"/>
                  </a:schemeClr>
                </a:solidFill>
                <a:latin typeface="Century Gothic" panose="020B0502020202020204" pitchFamily="34" charset="0"/>
                <a:ea typeface="Cambria Math" panose="02040503050406030204" pitchFamily="18" charset="0"/>
              </a:rPr>
              <a:t>School of Systems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University of Management and Technology</a:t>
            </a:r>
            <a:br>
              <a:rPr lang="en-US" sz="3200" dirty="0">
                <a:solidFill>
                  <a:schemeClr val="accent6">
                    <a:lumMod val="75000"/>
                  </a:schemeClr>
                </a:solidFill>
                <a:latin typeface="Comic Sans MS" panose="030F0702030302020204" pitchFamily="66" charset="0"/>
                <a:ea typeface="Cambria Math" panose="02040503050406030204" pitchFamily="18" charset="0"/>
              </a:rPr>
            </a:br>
            <a:r>
              <a:rPr lang="en-US" sz="3200" dirty="0">
                <a:solidFill>
                  <a:schemeClr val="accent6">
                    <a:lumMod val="75000"/>
                  </a:schemeClr>
                </a:solidFill>
                <a:latin typeface="Comic Sans MS" panose="030F0702030302020204" pitchFamily="66" charset="0"/>
                <a:ea typeface="Cambria Math" panose="02040503050406030204" pitchFamily="18" charset="0"/>
              </a:rPr>
              <a:t>Lahore, Pakistan</a:t>
            </a:r>
          </a:p>
        </p:txBody>
      </p:sp>
      <p:pic>
        <p:nvPicPr>
          <p:cNvPr id="6" name="Picture 5">
            <a:extLst>
              <a:ext uri="{FF2B5EF4-FFF2-40B4-BE49-F238E27FC236}">
                <a16:creationId xmlns:a16="http://schemas.microsoft.com/office/drawing/2014/main" id="{C01BB6BA-659C-4C58-A7BC-E779ADA85127}"/>
              </a:ext>
            </a:extLst>
          </p:cNvPr>
          <p:cNvPicPr>
            <a:picLocks noChangeAspect="1"/>
          </p:cNvPicPr>
          <p:nvPr/>
        </p:nvPicPr>
        <p:blipFill>
          <a:blip r:embed="rId2"/>
          <a:stretch>
            <a:fillRect/>
          </a:stretch>
        </p:blipFill>
        <p:spPr>
          <a:xfrm>
            <a:off x="460375" y="223319"/>
            <a:ext cx="2220849" cy="2228277"/>
          </a:xfrm>
          <a:prstGeom prst="rect">
            <a:avLst/>
          </a:prstGeom>
        </p:spPr>
      </p:pic>
    </p:spTree>
    <p:extLst>
      <p:ext uri="{BB962C8B-B14F-4D97-AF65-F5344CB8AC3E}">
        <p14:creationId xmlns:p14="http://schemas.microsoft.com/office/powerpoint/2010/main" val="38157802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3316224" y="2336768"/>
            <a:ext cx="5559552" cy="2533075"/>
          </a:xfrm>
        </p:spPr>
        <p:txBody>
          <a:bodyPr>
            <a:normAutofit fontScale="90000"/>
          </a:bodyPr>
          <a:lstStyle/>
          <a:p>
            <a:r>
              <a:rPr lang="en-US" sz="4800" dirty="0">
                <a:latin typeface="Cambria Math" panose="02040503050406030204" pitchFamily="18" charset="0"/>
                <a:ea typeface="Cambria Math" panose="02040503050406030204" pitchFamily="18" charset="0"/>
              </a:rPr>
              <a:t>Section 1.6</a:t>
            </a:r>
            <a:br>
              <a:rPr lang="en-US" sz="4800"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Argument </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&amp;</a:t>
            </a:r>
            <a:br>
              <a:rPr lang="en-US" dirty="0">
                <a:latin typeface="Cambria Math" panose="02040503050406030204" pitchFamily="18" charset="0"/>
                <a:ea typeface="Cambria Math" panose="02040503050406030204" pitchFamily="18" charset="0"/>
              </a:rPr>
            </a:br>
            <a:r>
              <a:rPr lang="en-US" dirty="0">
                <a:latin typeface="Cambria Math" panose="02040503050406030204" pitchFamily="18" charset="0"/>
                <a:ea typeface="Cambria Math" panose="02040503050406030204" pitchFamily="18" charset="0"/>
              </a:rPr>
              <a:t>Rules of Inference</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87434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Motivation</a:t>
            </a:r>
          </a:p>
        </p:txBody>
      </p:sp>
      <p:sp>
        <p:nvSpPr>
          <p:cNvPr id="3" name="Content Placeholder 2"/>
          <p:cNvSpPr>
            <a:spLocks noGrp="1"/>
          </p:cNvSpPr>
          <p:nvPr>
            <p:ph idx="1"/>
          </p:nvPr>
        </p:nvSpPr>
        <p:spPr/>
        <p:txBody>
          <a:bodyPr>
            <a:normAutofit lnSpcReduction="10000"/>
          </a:bodyPr>
          <a:lstStyle/>
          <a:p>
            <a:r>
              <a:rPr lang="en-US" dirty="0"/>
              <a:t>Proofs in mathematics are </a:t>
            </a:r>
            <a:r>
              <a:rPr lang="en-US" dirty="0">
                <a:solidFill>
                  <a:srgbClr val="FF0000"/>
                </a:solidFill>
              </a:rPr>
              <a:t>valid arguments</a:t>
            </a:r>
            <a:r>
              <a:rPr lang="en-US" dirty="0"/>
              <a:t> that establish the truth of mathematical statements.</a:t>
            </a:r>
            <a:endParaRPr lang="en-US" dirty="0">
              <a:ea typeface="ＭＳ Ｐゴシック" panose="020B0600070205080204" pitchFamily="34" charset="-128"/>
            </a:endParaRPr>
          </a:p>
          <a:p>
            <a:r>
              <a:rPr lang="en-US" dirty="0">
                <a:ea typeface="ＭＳ Ｐゴシック" panose="020B0600070205080204" pitchFamily="34" charset="-128"/>
              </a:rPr>
              <a:t>Mathematical proofs are necessary in CS</a:t>
            </a:r>
          </a:p>
          <a:p>
            <a:pPr lvl="1"/>
            <a:r>
              <a:rPr lang="en-US" dirty="0">
                <a:ea typeface="ＭＳ Ｐゴシック" panose="020B0600070205080204" pitchFamily="34" charset="-128"/>
              </a:rPr>
              <a:t>You must always (try to) prove that your algorithm </a:t>
            </a:r>
          </a:p>
          <a:p>
            <a:pPr lvl="2"/>
            <a:r>
              <a:rPr lang="en-US" dirty="0">
                <a:solidFill>
                  <a:srgbClr val="FF0000"/>
                </a:solidFill>
                <a:ea typeface="ＭＳ Ｐゴシック" panose="020B0600070205080204" pitchFamily="34" charset="-128"/>
              </a:rPr>
              <a:t>terminates </a:t>
            </a:r>
          </a:p>
          <a:p>
            <a:pPr lvl="2"/>
            <a:r>
              <a:rPr lang="en-US" dirty="0">
                <a:ea typeface="ＭＳ Ｐゴシック" panose="020B0600070205080204" pitchFamily="34" charset="-128"/>
              </a:rPr>
              <a:t>is </a:t>
            </a:r>
            <a:r>
              <a:rPr lang="en-US" dirty="0">
                <a:solidFill>
                  <a:srgbClr val="FF0000"/>
                </a:solidFill>
                <a:ea typeface="ＭＳ Ｐゴシック" panose="020B0600070205080204" pitchFamily="34" charset="-128"/>
              </a:rPr>
              <a:t>complete</a:t>
            </a:r>
            <a:r>
              <a:rPr lang="en-US" dirty="0">
                <a:ea typeface="ＭＳ Ｐゴシック" panose="020B0600070205080204" pitchFamily="34" charset="-128"/>
              </a:rPr>
              <a:t>, </a:t>
            </a:r>
            <a:r>
              <a:rPr lang="en-US" dirty="0">
                <a:solidFill>
                  <a:srgbClr val="FF0000"/>
                </a:solidFill>
                <a:ea typeface="ＭＳ Ｐゴシック" panose="020B0600070205080204" pitchFamily="34" charset="-128"/>
              </a:rPr>
              <a:t>optimal</a:t>
            </a:r>
          </a:p>
          <a:p>
            <a:pPr lvl="1"/>
            <a:r>
              <a:rPr lang="en-US" dirty="0">
                <a:ea typeface="ＭＳ Ｐゴシック" panose="020B0600070205080204" pitchFamily="34" charset="-128"/>
              </a:rPr>
              <a:t>You may also want to show that it is more efficient than another method</a:t>
            </a:r>
          </a:p>
          <a:p>
            <a:pPr lvl="1"/>
            <a:r>
              <a:rPr lang="en-US" dirty="0">
                <a:ea typeface="ＭＳ Ｐゴシック" panose="020B0600070205080204" pitchFamily="34" charset="-128"/>
              </a:rPr>
              <a:t>Proving certain properties may lead to new, more efficient or simpler algorithms</a:t>
            </a:r>
          </a:p>
        </p:txBody>
      </p:sp>
    </p:spTree>
    <p:extLst>
      <p:ext uri="{BB962C8B-B14F-4D97-AF65-F5344CB8AC3E}">
        <p14:creationId xmlns:p14="http://schemas.microsoft.com/office/powerpoint/2010/main" val="1012385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81099" y="754596"/>
            <a:ext cx="10260623" cy="5348807"/>
          </a:xfrm>
        </p:spPr>
        <p:txBody>
          <a:bodyPr>
            <a:normAutofit/>
          </a:bodyPr>
          <a:lstStyle/>
          <a:p>
            <a:r>
              <a:rPr lang="en-US" b="1" u="sng" dirty="0">
                <a:solidFill>
                  <a:srgbClr val="C00000"/>
                </a:solidFill>
              </a:rPr>
              <a:t>Logic:</a:t>
            </a:r>
          </a:p>
          <a:p>
            <a:pPr>
              <a:buNone/>
            </a:pPr>
            <a:r>
              <a:rPr lang="en-US" dirty="0"/>
              <a:t>	Logic rules and principles is to distinguish an argument is valid or invalid.</a:t>
            </a:r>
          </a:p>
          <a:p>
            <a:endParaRPr lang="en-US" dirty="0"/>
          </a:p>
          <a:p>
            <a:r>
              <a:rPr lang="en-US" b="1" u="sng" dirty="0"/>
              <a:t>Examples of Arguments:</a:t>
            </a:r>
          </a:p>
          <a:p>
            <a:pPr lvl="1">
              <a:buFont typeface="Wingdings" panose="05000000000000000000" pitchFamily="2" charset="2"/>
              <a:buChar char="Ø"/>
            </a:pPr>
            <a:r>
              <a:rPr lang="en-US" dirty="0"/>
              <a:t>You have a intuitive idea about argument.  When you are talking with you friend you give argument.</a:t>
            </a:r>
          </a:p>
          <a:p>
            <a:pPr lvl="1">
              <a:buFont typeface="Wingdings" panose="05000000000000000000" pitchFamily="2" charset="2"/>
              <a:buChar char="Ø"/>
            </a:pPr>
            <a:r>
              <a:rPr lang="en-US" dirty="0"/>
              <a:t>Sometimes you say to your friend “what are you saying has no logic” it means you are saying that your argument is not valid.</a:t>
            </a:r>
          </a:p>
          <a:p>
            <a:pPr lvl="1">
              <a:buFont typeface="Wingdings" panose="05000000000000000000" pitchFamily="2" charset="2"/>
              <a:buChar char="Ø"/>
            </a:pPr>
            <a:r>
              <a:rPr lang="en-US" dirty="0"/>
              <a:t>Lawyer in court during the trail to defend client, give argument. Judge decision is also based on lawyer argument if its argument is valid then decision will be in his favor.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3872447-6453-F117-BF47-6C27B893AA31}"/>
              </a:ext>
            </a:extLst>
          </p:cNvPr>
          <p:cNvSpPr>
            <a:spLocks noGrp="1" noChangeArrowheads="1"/>
          </p:cNvSpPr>
          <p:nvPr>
            <p:ph type="title"/>
          </p:nvPr>
        </p:nvSpPr>
        <p:spPr/>
        <p:txBody>
          <a:bodyPr/>
          <a:lstStyle/>
          <a:p>
            <a:r>
              <a:rPr lang="en-US" altLang="en-PK" dirty="0"/>
              <a:t>Argument</a:t>
            </a:r>
          </a:p>
        </p:txBody>
      </p:sp>
      <p:sp>
        <p:nvSpPr>
          <p:cNvPr id="7171" name="Rectangle 3">
            <a:extLst>
              <a:ext uri="{FF2B5EF4-FFF2-40B4-BE49-F238E27FC236}">
                <a16:creationId xmlns:a16="http://schemas.microsoft.com/office/drawing/2014/main" id="{2C1939B4-D065-8581-0CC6-F4E2DA9005E7}"/>
              </a:ext>
            </a:extLst>
          </p:cNvPr>
          <p:cNvSpPr>
            <a:spLocks noGrp="1" noChangeArrowheads="1"/>
          </p:cNvSpPr>
          <p:nvPr>
            <p:ph type="body" idx="1"/>
          </p:nvPr>
        </p:nvSpPr>
        <p:spPr>
          <a:xfrm>
            <a:off x="819812" y="1354060"/>
            <a:ext cx="10713820" cy="3831664"/>
          </a:xfrm>
        </p:spPr>
        <p:txBody>
          <a:bodyPr>
            <a:normAutofit/>
          </a:bodyPr>
          <a:lstStyle/>
          <a:p>
            <a:r>
              <a:rPr lang="en-US" altLang="en-PK" sz="2400" dirty="0"/>
              <a:t>An </a:t>
            </a:r>
            <a:r>
              <a:rPr lang="en-US" altLang="en-PK" sz="2400" b="1" dirty="0">
                <a:solidFill>
                  <a:srgbClr val="FF0000"/>
                </a:solidFill>
              </a:rPr>
              <a:t>argument</a:t>
            </a:r>
            <a:r>
              <a:rPr lang="en-US" altLang="en-PK" sz="2400" dirty="0"/>
              <a:t> in propositional logic is a </a:t>
            </a:r>
            <a:r>
              <a:rPr lang="en-US" altLang="en-PK" sz="2400" dirty="0">
                <a:solidFill>
                  <a:srgbClr val="FF0000"/>
                </a:solidFill>
              </a:rPr>
              <a:t>sequence of propositions that end with a conclusion. </a:t>
            </a:r>
          </a:p>
          <a:p>
            <a:pPr marL="0" indent="0" algn="ctr">
              <a:buNone/>
            </a:pPr>
            <a:endParaRPr lang="en-US" altLang="en-PK" sz="2400" dirty="0">
              <a:solidFill>
                <a:srgbClr val="FF0000"/>
              </a:solidFill>
            </a:endParaRPr>
          </a:p>
          <a:p>
            <a:r>
              <a:rPr lang="en-US" altLang="en-PK" sz="2400" dirty="0"/>
              <a:t>All the propositions in the argument are called </a:t>
            </a:r>
            <a:r>
              <a:rPr lang="en-US" altLang="en-PK" sz="2400" b="1" dirty="0">
                <a:solidFill>
                  <a:srgbClr val="FF0000"/>
                </a:solidFill>
              </a:rPr>
              <a:t>premises</a:t>
            </a:r>
            <a:r>
              <a:rPr lang="en-US" altLang="en-PK" sz="2400" dirty="0"/>
              <a:t> and the final proposition is called the </a:t>
            </a:r>
            <a:r>
              <a:rPr lang="en-US" altLang="en-PK" sz="2400" b="1" dirty="0">
                <a:solidFill>
                  <a:srgbClr val="FF0000"/>
                </a:solidFill>
              </a:rPr>
              <a:t>conclusion</a:t>
            </a:r>
            <a:r>
              <a:rPr lang="en-US" altLang="en-PK" sz="2400" dirty="0"/>
              <a:t>.</a:t>
            </a:r>
          </a:p>
        </p:txBody>
      </p:sp>
      <p:sp>
        <p:nvSpPr>
          <p:cNvPr id="6" name="TextBox 5">
            <a:extLst>
              <a:ext uri="{FF2B5EF4-FFF2-40B4-BE49-F238E27FC236}">
                <a16:creationId xmlns:a16="http://schemas.microsoft.com/office/drawing/2014/main" id="{E85E35D5-644C-4A77-A9D4-68AB3E8CEC58}"/>
              </a:ext>
            </a:extLst>
          </p:cNvPr>
          <p:cNvSpPr txBox="1"/>
          <p:nvPr/>
        </p:nvSpPr>
        <p:spPr>
          <a:xfrm>
            <a:off x="1048871" y="3476708"/>
            <a:ext cx="8517159" cy="2246769"/>
          </a:xfrm>
          <a:prstGeom prst="rect">
            <a:avLst/>
          </a:prstGeom>
          <a:noFill/>
        </p:spPr>
        <p:txBody>
          <a:bodyPr wrap="square">
            <a:spAutoFit/>
          </a:bodyPr>
          <a:lstStyle/>
          <a:p>
            <a:pPr>
              <a:buNone/>
            </a:pPr>
            <a:r>
              <a:rPr lang="en-US" sz="2000" dirty="0">
                <a:latin typeface="Cambria Math" panose="02040503050406030204" pitchFamily="18" charset="0"/>
                <a:ea typeface="Cambria Math" panose="02040503050406030204" pitchFamily="18" charset="0"/>
              </a:rPr>
              <a:t>				P</a:t>
            </a:r>
            <a:r>
              <a:rPr lang="en-US" sz="2000" baseline="-25000" dirty="0">
                <a:latin typeface="Cambria Math" panose="02040503050406030204" pitchFamily="18" charset="0"/>
                <a:ea typeface="Cambria Math" panose="02040503050406030204" pitchFamily="18" charset="0"/>
              </a:rPr>
              <a:t>1</a:t>
            </a:r>
            <a:r>
              <a:rPr lang="en-US" sz="2000" dirty="0">
                <a:latin typeface="Cambria Math" panose="02040503050406030204" pitchFamily="18" charset="0"/>
                <a:ea typeface="Cambria Math" panose="02040503050406030204" pitchFamily="18" charset="0"/>
              </a:rPr>
              <a:t>   </a:t>
            </a:r>
            <a:r>
              <a:rPr lang="en-US" sz="2000" dirty="0">
                <a:solidFill>
                  <a:srgbClr val="00B0F0"/>
                </a:solidFill>
                <a:latin typeface="Cambria Math" panose="02040503050406030204" pitchFamily="18" charset="0"/>
                <a:ea typeface="Cambria Math" panose="02040503050406030204" pitchFamily="18" charset="0"/>
              </a:rPr>
              <a:t>Premise</a:t>
            </a:r>
            <a:r>
              <a:rPr lang="en-US" sz="2000" dirty="0">
                <a:latin typeface="Cambria Math" panose="02040503050406030204" pitchFamily="18" charset="0"/>
                <a:ea typeface="Cambria Math" panose="02040503050406030204" pitchFamily="18" charset="0"/>
              </a:rPr>
              <a:t> </a:t>
            </a:r>
          </a:p>
          <a:p>
            <a:pPr>
              <a:buNone/>
            </a:pPr>
            <a:r>
              <a:rPr lang="en-US" sz="2000" dirty="0">
                <a:latin typeface="Cambria Math" panose="02040503050406030204" pitchFamily="18" charset="0"/>
                <a:ea typeface="Cambria Math" panose="02040503050406030204" pitchFamily="18" charset="0"/>
              </a:rPr>
              <a:t>				P</a:t>
            </a:r>
            <a:r>
              <a:rPr lang="en-US" sz="2000" baseline="-25000" dirty="0">
                <a:latin typeface="Cambria Math" panose="02040503050406030204" pitchFamily="18" charset="0"/>
                <a:ea typeface="Cambria Math" panose="02040503050406030204" pitchFamily="18" charset="0"/>
              </a:rPr>
              <a:t>2</a:t>
            </a:r>
            <a:r>
              <a:rPr lang="en-US" sz="2000" dirty="0">
                <a:latin typeface="Cambria Math" panose="02040503050406030204" pitchFamily="18" charset="0"/>
                <a:ea typeface="Cambria Math" panose="02040503050406030204" pitchFamily="18" charset="0"/>
              </a:rPr>
              <a:t>   </a:t>
            </a:r>
            <a:r>
              <a:rPr lang="en-US" sz="2000" dirty="0">
                <a:solidFill>
                  <a:srgbClr val="00B0F0"/>
                </a:solidFill>
                <a:latin typeface="Cambria Math" panose="02040503050406030204" pitchFamily="18" charset="0"/>
                <a:ea typeface="Cambria Math" panose="02040503050406030204" pitchFamily="18" charset="0"/>
              </a:rPr>
              <a:t>Premise</a:t>
            </a:r>
            <a:r>
              <a:rPr lang="en-US" sz="2000" dirty="0">
                <a:latin typeface="Cambria Math" panose="02040503050406030204" pitchFamily="18" charset="0"/>
                <a:ea typeface="Cambria Math" panose="02040503050406030204" pitchFamily="18" charset="0"/>
              </a:rPr>
              <a:t> 	</a:t>
            </a:r>
          </a:p>
          <a:p>
            <a:pPr>
              <a:buNone/>
            </a:pPr>
            <a:r>
              <a:rPr lang="en-US" sz="2000" dirty="0">
                <a:latin typeface="Cambria Math" panose="02040503050406030204" pitchFamily="18" charset="0"/>
                <a:ea typeface="Cambria Math" panose="02040503050406030204" pitchFamily="18" charset="0"/>
              </a:rPr>
              <a:t>				P</a:t>
            </a:r>
            <a:r>
              <a:rPr lang="en-US" sz="2000" baseline="-25000" dirty="0">
                <a:latin typeface="Cambria Math" panose="02040503050406030204" pitchFamily="18" charset="0"/>
                <a:ea typeface="Cambria Math" panose="02040503050406030204" pitchFamily="18" charset="0"/>
              </a:rPr>
              <a:t>3</a:t>
            </a:r>
            <a:r>
              <a:rPr lang="en-US" sz="2000" dirty="0">
                <a:latin typeface="Cambria Math" panose="02040503050406030204" pitchFamily="18" charset="0"/>
                <a:ea typeface="Cambria Math" panose="02040503050406030204" pitchFamily="18" charset="0"/>
              </a:rPr>
              <a:t>   </a:t>
            </a:r>
            <a:r>
              <a:rPr lang="en-US" sz="2000" dirty="0">
                <a:solidFill>
                  <a:srgbClr val="00B0F0"/>
                </a:solidFill>
                <a:latin typeface="Cambria Math" panose="02040503050406030204" pitchFamily="18" charset="0"/>
                <a:ea typeface="Cambria Math" panose="02040503050406030204" pitchFamily="18" charset="0"/>
              </a:rPr>
              <a:t>Premise </a:t>
            </a:r>
          </a:p>
          <a:p>
            <a:pPr>
              <a:buNone/>
            </a:pPr>
            <a:r>
              <a:rPr lang="en-US" sz="2000" dirty="0">
                <a:latin typeface="Cambria Math" panose="02040503050406030204" pitchFamily="18" charset="0"/>
                <a:ea typeface="Cambria Math" panose="02040503050406030204" pitchFamily="18" charset="0"/>
              </a:rPr>
              <a:t>				 . . . . .. . . . . </a:t>
            </a:r>
          </a:p>
          <a:p>
            <a:pPr>
              <a:buNone/>
            </a:pPr>
            <a:r>
              <a:rPr lang="en-US" sz="2000" dirty="0">
                <a:latin typeface="Cambria Math" panose="02040503050406030204" pitchFamily="18" charset="0"/>
                <a:ea typeface="Cambria Math" panose="02040503050406030204" pitchFamily="18" charset="0"/>
              </a:rPr>
              <a:t>				</a:t>
            </a:r>
            <a:r>
              <a:rPr lang="en-US" sz="2000" dirty="0" err="1">
                <a:latin typeface="Cambria Math" panose="02040503050406030204" pitchFamily="18" charset="0"/>
                <a:ea typeface="Cambria Math" panose="02040503050406030204" pitchFamily="18" charset="0"/>
              </a:rPr>
              <a:t>P</a:t>
            </a:r>
            <a:r>
              <a:rPr lang="en-US" sz="2000" baseline="-25000" dirty="0" err="1">
                <a:latin typeface="Cambria Math" panose="02040503050406030204" pitchFamily="18" charset="0"/>
                <a:ea typeface="Cambria Math" panose="02040503050406030204" pitchFamily="18" charset="0"/>
              </a:rPr>
              <a:t>n</a:t>
            </a:r>
            <a:r>
              <a:rPr lang="en-US" sz="2000" dirty="0">
                <a:latin typeface="Cambria Math" panose="02040503050406030204" pitchFamily="18" charset="0"/>
                <a:ea typeface="Cambria Math" panose="02040503050406030204" pitchFamily="18" charset="0"/>
              </a:rPr>
              <a:t>   </a:t>
            </a:r>
            <a:r>
              <a:rPr lang="en-US" sz="2000" dirty="0">
                <a:solidFill>
                  <a:srgbClr val="00B0F0"/>
                </a:solidFill>
                <a:latin typeface="Cambria Math" panose="02040503050406030204" pitchFamily="18" charset="0"/>
                <a:ea typeface="Cambria Math" panose="02040503050406030204" pitchFamily="18" charset="0"/>
              </a:rPr>
              <a:t>Premise</a:t>
            </a:r>
            <a:r>
              <a:rPr lang="en-US" sz="2000" dirty="0">
                <a:latin typeface="Cambria Math" panose="02040503050406030204" pitchFamily="18" charset="0"/>
                <a:ea typeface="Cambria Math" panose="02040503050406030204" pitchFamily="18" charset="0"/>
              </a:rPr>
              <a:t> </a:t>
            </a:r>
          </a:p>
          <a:p>
            <a:pPr>
              <a:buNone/>
            </a:pPr>
            <a:r>
              <a:rPr lang="en-US" sz="2000" dirty="0">
                <a:latin typeface="Cambria Math" panose="02040503050406030204" pitchFamily="18" charset="0"/>
                <a:ea typeface="Cambria Math" panose="02040503050406030204" pitchFamily="18" charset="0"/>
              </a:rPr>
              <a:t>           			                     ______________</a:t>
            </a:r>
          </a:p>
          <a:p>
            <a:pPr>
              <a:buNone/>
            </a:pPr>
            <a:r>
              <a:rPr lang="en-US" sz="2000" dirty="0">
                <a:latin typeface="Cambria Math" panose="02040503050406030204" pitchFamily="18" charset="0"/>
                <a:ea typeface="Cambria Math" panose="02040503050406030204" pitchFamily="18" charset="0"/>
                <a:sym typeface="Symbol"/>
              </a:rPr>
              <a:t>			          </a:t>
            </a:r>
            <a:r>
              <a:rPr lang="en-US" sz="2000" b="1" dirty="0">
                <a:solidFill>
                  <a:srgbClr val="B31591"/>
                </a:solidFill>
                <a:latin typeface="Cambria Math" panose="02040503050406030204" pitchFamily="18" charset="0"/>
                <a:ea typeface="Cambria Math" panose="02040503050406030204" pitchFamily="18" charset="0"/>
                <a:sym typeface="Symbol"/>
              </a:rPr>
              <a:t></a:t>
            </a:r>
            <a:r>
              <a:rPr lang="en-US" sz="2000" dirty="0">
                <a:solidFill>
                  <a:srgbClr val="B31591"/>
                </a:solidFill>
                <a:latin typeface="Cambria Math" panose="02040503050406030204" pitchFamily="18" charset="0"/>
                <a:ea typeface="Cambria Math" panose="02040503050406030204" pitchFamily="18" charset="0"/>
              </a:rPr>
              <a:t>C    Conclusion</a:t>
            </a:r>
            <a:endParaRPr lang="en-US" sz="2000" dirty="0"/>
          </a:p>
        </p:txBody>
      </p:sp>
      <p:sp>
        <p:nvSpPr>
          <p:cNvPr id="7" name="TextBox 6">
            <a:extLst>
              <a:ext uri="{FF2B5EF4-FFF2-40B4-BE49-F238E27FC236}">
                <a16:creationId xmlns:a16="http://schemas.microsoft.com/office/drawing/2014/main" id="{5EB16234-F6F9-41A5-87D3-33DEBC5014C1}"/>
              </a:ext>
            </a:extLst>
          </p:cNvPr>
          <p:cNvSpPr txBox="1"/>
          <p:nvPr/>
        </p:nvSpPr>
        <p:spPr>
          <a:xfrm>
            <a:off x="606082" y="6103135"/>
            <a:ext cx="11141279" cy="461665"/>
          </a:xfrm>
          <a:prstGeom prst="rect">
            <a:avLst/>
          </a:prstGeom>
          <a:noFill/>
        </p:spPr>
        <p:txBody>
          <a:bodyPr wrap="square">
            <a:spAutoFit/>
          </a:bodyPr>
          <a:lstStyle/>
          <a:p>
            <a:r>
              <a:rPr lang="en-US" sz="2400" b="1" u="sng" dirty="0">
                <a:solidFill>
                  <a:srgbClr val="C00000"/>
                </a:solidFill>
                <a:latin typeface="Cambria Math" panose="02040503050406030204" pitchFamily="18" charset="0"/>
                <a:ea typeface="Cambria Math" panose="02040503050406030204" pitchFamily="18" charset="0"/>
              </a:rPr>
              <a:t>NOTE</a:t>
            </a:r>
            <a:r>
              <a:rPr lang="en-US" sz="2400" dirty="0">
                <a:solidFill>
                  <a:srgbClr val="C00000"/>
                </a:solidFill>
                <a:latin typeface="Cambria Math" panose="02040503050406030204" pitchFamily="18" charset="0"/>
                <a:ea typeface="Cambria Math" panose="02040503050406030204" pitchFamily="18" charset="0"/>
              </a:rPr>
              <a:t> : </a:t>
            </a:r>
            <a:r>
              <a:rPr lang="en-US" sz="2400" dirty="0">
                <a:latin typeface="Cambria Math" panose="02040503050406030204" pitchFamily="18" charset="0"/>
                <a:ea typeface="Cambria Math" panose="02040503050406030204" pitchFamily="18" charset="0"/>
              </a:rPr>
              <a:t>The symbol </a:t>
            </a:r>
            <a:r>
              <a:rPr lang="en-US" sz="2400" b="1" dirty="0">
                <a:latin typeface="Cambria Math" panose="02040503050406030204" pitchFamily="18" charset="0"/>
                <a:ea typeface="Cambria Math" panose="02040503050406030204" pitchFamily="18" charset="0"/>
                <a:sym typeface="Symbol"/>
              </a:rPr>
              <a:t></a:t>
            </a:r>
            <a:r>
              <a:rPr lang="en-US" sz="2400" dirty="0">
                <a:latin typeface="Cambria Math" panose="02040503050406030204" pitchFamily="18" charset="0"/>
                <a:ea typeface="Cambria Math" panose="02040503050406030204" pitchFamily="18" charset="0"/>
              </a:rPr>
              <a:t> read “therefore,” is normally placed just before the conclusion.</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9576" y="288925"/>
            <a:ext cx="8307324" cy="1325563"/>
          </a:xfrm>
        </p:spPr>
        <p:txBody>
          <a:bodyPr>
            <a:normAutofit/>
          </a:bodyPr>
          <a:lstStyle/>
          <a:p>
            <a:r>
              <a:rPr lang="en-US" dirty="0"/>
              <a:t>Example:</a:t>
            </a:r>
          </a:p>
        </p:txBody>
      </p:sp>
      <p:sp>
        <p:nvSpPr>
          <p:cNvPr id="3" name="Content Placeholder 2"/>
          <p:cNvSpPr>
            <a:spLocks noGrp="1"/>
          </p:cNvSpPr>
          <p:nvPr>
            <p:ph sz="quarter" idx="1"/>
          </p:nvPr>
        </p:nvSpPr>
        <p:spPr>
          <a:xfrm>
            <a:off x="1179576" y="1477108"/>
            <a:ext cx="9829800" cy="4595446"/>
          </a:xfrm>
        </p:spPr>
        <p:txBody>
          <a:bodyPr>
            <a:normAutofit/>
          </a:bodyPr>
          <a:lstStyle/>
          <a:p>
            <a:pPr>
              <a:buNone/>
            </a:pPr>
            <a:r>
              <a:rPr lang="en-US" dirty="0"/>
              <a:t>	</a:t>
            </a:r>
            <a:r>
              <a:rPr lang="en-US" dirty="0">
                <a:solidFill>
                  <a:srgbClr val="C00000"/>
                </a:solidFill>
              </a:rPr>
              <a:t>An interesting teacher keeps me awake.</a:t>
            </a:r>
          </a:p>
          <a:p>
            <a:pPr>
              <a:buNone/>
            </a:pPr>
            <a:r>
              <a:rPr lang="en-US" dirty="0"/>
              <a:t>	</a:t>
            </a:r>
            <a:r>
              <a:rPr lang="en-US" dirty="0">
                <a:solidFill>
                  <a:srgbClr val="C00000"/>
                </a:solidFill>
              </a:rPr>
              <a:t>I stay awake in discrete structure class.</a:t>
            </a:r>
          </a:p>
          <a:p>
            <a:pPr>
              <a:buNone/>
            </a:pPr>
            <a:r>
              <a:rPr lang="en-US" dirty="0"/>
              <a:t>	Therefore, </a:t>
            </a:r>
            <a:r>
              <a:rPr lang="en-US" dirty="0">
                <a:solidFill>
                  <a:srgbClr val="00B050"/>
                </a:solidFill>
              </a:rPr>
              <a:t>my discrete structure teacher is interesting. </a:t>
            </a:r>
          </a:p>
          <a:p>
            <a:endParaRPr lang="en-US" dirty="0"/>
          </a:p>
          <a:p>
            <a:r>
              <a:rPr lang="en-US" dirty="0"/>
              <a:t>1</a:t>
            </a:r>
            <a:r>
              <a:rPr lang="en-US" baseline="30000" dirty="0"/>
              <a:t>st</a:t>
            </a:r>
            <a:r>
              <a:rPr lang="en-US" dirty="0"/>
              <a:t> two statements we are declaring(</a:t>
            </a:r>
            <a:r>
              <a:rPr lang="en-US" b="1" i="1" dirty="0">
                <a:solidFill>
                  <a:srgbClr val="7030A0"/>
                </a:solidFill>
              </a:rPr>
              <a:t>premises</a:t>
            </a:r>
            <a:r>
              <a:rPr lang="en-US" dirty="0"/>
              <a:t>) on this basis 3</a:t>
            </a:r>
            <a:r>
              <a:rPr lang="en-US" baseline="30000" dirty="0"/>
              <a:t>rd</a:t>
            </a:r>
            <a:r>
              <a:rPr lang="en-US" dirty="0"/>
              <a:t> line is giving </a:t>
            </a:r>
            <a:r>
              <a:rPr lang="en-US" b="1" i="1" dirty="0">
                <a:solidFill>
                  <a:srgbClr val="7030A0"/>
                </a:solidFill>
              </a:rPr>
              <a:t>conclusion</a:t>
            </a:r>
            <a:r>
              <a:rPr lang="en-US" dirty="0"/>
              <a:t>.</a:t>
            </a:r>
          </a:p>
          <a:p>
            <a:endParaRPr lang="en-US" dirty="0"/>
          </a:p>
          <a:p>
            <a:r>
              <a:rPr lang="en-US" dirty="0"/>
              <a:t>The argument presenting is, its </a:t>
            </a:r>
            <a:r>
              <a:rPr lang="en-US" dirty="0">
                <a:solidFill>
                  <a:srgbClr val="FF0000"/>
                </a:solidFill>
              </a:rPr>
              <a:t>valid or not</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20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20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20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C154-4C16-D8A4-DB52-6626F773A50E}"/>
              </a:ext>
            </a:extLst>
          </p:cNvPr>
          <p:cNvSpPr>
            <a:spLocks noGrp="1"/>
          </p:cNvSpPr>
          <p:nvPr>
            <p:ph type="title"/>
          </p:nvPr>
        </p:nvSpPr>
        <p:spPr>
          <a:xfrm>
            <a:off x="838199" y="193646"/>
            <a:ext cx="10515600" cy="974784"/>
          </a:xfrm>
        </p:spPr>
        <p:txBody>
          <a:bodyPr>
            <a:normAutofit/>
          </a:bodyPr>
          <a:lstStyle/>
          <a:p>
            <a:r>
              <a:rPr lang="en-US" sz="4000" dirty="0">
                <a:latin typeface="Cambria Math" panose="02040503050406030204" pitchFamily="18" charset="0"/>
                <a:ea typeface="Cambria Math" panose="02040503050406030204" pitchFamily="18" charset="0"/>
              </a:rPr>
              <a:t>Validity of an Argument</a:t>
            </a:r>
          </a:p>
        </p:txBody>
      </p:sp>
      <p:sp>
        <p:nvSpPr>
          <p:cNvPr id="3" name="Content Placeholder 2">
            <a:extLst>
              <a:ext uri="{FF2B5EF4-FFF2-40B4-BE49-F238E27FC236}">
                <a16:creationId xmlns:a16="http://schemas.microsoft.com/office/drawing/2014/main" id="{9DEFFC09-DE32-16C2-20AA-A03DDACD5A96}"/>
              </a:ext>
            </a:extLst>
          </p:cNvPr>
          <p:cNvSpPr>
            <a:spLocks noGrp="1"/>
          </p:cNvSpPr>
          <p:nvPr>
            <p:ph idx="1"/>
          </p:nvPr>
        </p:nvSpPr>
        <p:spPr>
          <a:xfrm>
            <a:off x="838199" y="1532965"/>
            <a:ext cx="10781581" cy="4643997"/>
          </a:xfrm>
        </p:spPr>
        <p:txBody>
          <a:bodyPr>
            <a:normAutofit/>
          </a:bodyPr>
          <a:lstStyle/>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An argument is </a:t>
            </a:r>
            <a:r>
              <a:rPr lang="en-US" sz="2400" b="1" dirty="0">
                <a:solidFill>
                  <a:srgbClr val="FF0000"/>
                </a:solidFill>
                <a:latin typeface="Cambria Math" panose="02040503050406030204" pitchFamily="18" charset="0"/>
                <a:ea typeface="Cambria Math" panose="02040503050406030204" pitchFamily="18" charset="0"/>
              </a:rPr>
              <a:t>valid</a:t>
            </a:r>
            <a:r>
              <a:rPr lang="en-US" sz="2400" b="1" dirty="0">
                <a:latin typeface="Cambria Math" panose="02040503050406030204" pitchFamily="18" charset="0"/>
                <a:ea typeface="Cambria Math" panose="02040503050406030204" pitchFamily="18" charset="0"/>
              </a:rPr>
              <a:t> </a:t>
            </a:r>
            <a:r>
              <a:rPr lang="en-US" sz="2400" dirty="0">
                <a:latin typeface="Cambria Math" panose="02040503050406030204" pitchFamily="18" charset="0"/>
                <a:ea typeface="Cambria Math" panose="02040503050406030204" pitchFamily="18" charset="0"/>
              </a:rPr>
              <a:t>if the conclusion is true when all the premises are true.</a:t>
            </a:r>
          </a:p>
          <a:p>
            <a:pPr marL="0" indent="0">
              <a:buNone/>
            </a:pPr>
            <a:endParaRPr lang="en-US" sz="240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Alternatively, an argument is </a:t>
            </a:r>
            <a:r>
              <a:rPr lang="en-US" sz="2400" dirty="0">
                <a:solidFill>
                  <a:srgbClr val="FF0000"/>
                </a:solidFill>
                <a:latin typeface="Cambria Math" panose="02040503050406030204" pitchFamily="18" charset="0"/>
                <a:ea typeface="Cambria Math" panose="02040503050406030204" pitchFamily="18" charset="0"/>
              </a:rPr>
              <a:t>valid</a:t>
            </a:r>
            <a:r>
              <a:rPr lang="en-US" sz="2400" dirty="0">
                <a:latin typeface="Cambria Math" panose="02040503050406030204" pitchFamily="18" charset="0"/>
                <a:ea typeface="Cambria Math" panose="02040503050406030204" pitchFamily="18" charset="0"/>
              </a:rPr>
              <a:t> if conjunction of its premises imply conclusion. </a:t>
            </a:r>
          </a:p>
          <a:p>
            <a:pPr marL="0" indent="0">
              <a:buNone/>
            </a:pPr>
            <a:r>
              <a:rPr lang="en-US" sz="2400" dirty="0">
                <a:latin typeface="Cambria Math" panose="02040503050406030204" pitchFamily="18" charset="0"/>
                <a:ea typeface="Cambria Math" panose="02040503050406030204" pitchFamily="18" charset="0"/>
              </a:rPr>
              <a:t>That is  </a:t>
            </a:r>
            <a:r>
              <a:rPr lang="en-US" sz="2400" dirty="0">
                <a:solidFill>
                  <a:srgbClr val="B31591"/>
                </a:solidFill>
                <a:latin typeface="Cambria Math" panose="02040503050406030204" pitchFamily="18" charset="0"/>
                <a:ea typeface="Cambria Math" panose="02040503050406030204" pitchFamily="18" charset="0"/>
              </a:rPr>
              <a:t>(P</a:t>
            </a:r>
            <a:r>
              <a:rPr lang="en-US" sz="2400" baseline="-25000" dirty="0">
                <a:solidFill>
                  <a:srgbClr val="B31591"/>
                </a:solidFill>
                <a:latin typeface="Cambria Math" panose="02040503050406030204" pitchFamily="18" charset="0"/>
                <a:ea typeface="Cambria Math" panose="02040503050406030204" pitchFamily="18" charset="0"/>
              </a:rPr>
              <a:t>1</a:t>
            </a:r>
            <a:r>
              <a:rPr lang="en-US" sz="2400" dirty="0">
                <a:solidFill>
                  <a:srgbClr val="B31591"/>
                </a:solidFill>
                <a:latin typeface="Cambria Math" panose="02040503050406030204" pitchFamily="18" charset="0"/>
                <a:ea typeface="Cambria Math" panose="02040503050406030204" pitchFamily="18" charset="0"/>
                <a:sym typeface="Symbol"/>
              </a:rPr>
              <a:t></a:t>
            </a:r>
            <a:r>
              <a:rPr lang="en-US" sz="2400" dirty="0">
                <a:solidFill>
                  <a:srgbClr val="B31591"/>
                </a:solidFill>
                <a:latin typeface="Cambria Math" panose="02040503050406030204" pitchFamily="18" charset="0"/>
                <a:ea typeface="Cambria Math" panose="02040503050406030204" pitchFamily="18" charset="0"/>
              </a:rPr>
              <a:t> P</a:t>
            </a:r>
            <a:r>
              <a:rPr lang="en-US" sz="2400" baseline="-25000" dirty="0">
                <a:solidFill>
                  <a:srgbClr val="B31591"/>
                </a:solidFill>
                <a:latin typeface="Cambria Math" panose="02040503050406030204" pitchFamily="18" charset="0"/>
                <a:ea typeface="Cambria Math" panose="02040503050406030204" pitchFamily="18" charset="0"/>
              </a:rPr>
              <a:t>2</a:t>
            </a:r>
            <a:r>
              <a:rPr lang="en-US" sz="2400" dirty="0">
                <a:solidFill>
                  <a:srgbClr val="B31591"/>
                </a:solidFill>
                <a:latin typeface="Cambria Math" panose="02040503050406030204" pitchFamily="18" charset="0"/>
                <a:ea typeface="Cambria Math" panose="02040503050406030204" pitchFamily="18" charset="0"/>
              </a:rPr>
              <a:t> </a:t>
            </a:r>
            <a:r>
              <a:rPr lang="en-US" sz="2400" dirty="0">
                <a:solidFill>
                  <a:srgbClr val="B31591"/>
                </a:solidFill>
                <a:latin typeface="Cambria Math" panose="02040503050406030204" pitchFamily="18" charset="0"/>
                <a:ea typeface="Cambria Math" panose="02040503050406030204" pitchFamily="18" charset="0"/>
                <a:sym typeface="Symbol"/>
              </a:rPr>
              <a:t></a:t>
            </a:r>
            <a:r>
              <a:rPr lang="en-US" sz="2400" dirty="0">
                <a:solidFill>
                  <a:srgbClr val="B31591"/>
                </a:solidFill>
                <a:latin typeface="Cambria Math" panose="02040503050406030204" pitchFamily="18" charset="0"/>
                <a:ea typeface="Cambria Math" panose="02040503050406030204" pitchFamily="18" charset="0"/>
              </a:rPr>
              <a:t> P</a:t>
            </a:r>
            <a:r>
              <a:rPr lang="en-US" sz="2400" baseline="-25000" dirty="0">
                <a:solidFill>
                  <a:srgbClr val="B31591"/>
                </a:solidFill>
                <a:latin typeface="Cambria Math" panose="02040503050406030204" pitchFamily="18" charset="0"/>
                <a:ea typeface="Cambria Math" panose="02040503050406030204" pitchFamily="18" charset="0"/>
              </a:rPr>
              <a:t>3</a:t>
            </a:r>
            <a:r>
              <a:rPr lang="en-US" sz="2400" dirty="0">
                <a:solidFill>
                  <a:srgbClr val="B31591"/>
                </a:solidFill>
                <a:latin typeface="Cambria Math" panose="02040503050406030204" pitchFamily="18" charset="0"/>
                <a:ea typeface="Cambria Math" panose="02040503050406030204" pitchFamily="18" charset="0"/>
              </a:rPr>
              <a:t> </a:t>
            </a:r>
            <a:r>
              <a:rPr lang="en-US" sz="2400" dirty="0">
                <a:solidFill>
                  <a:srgbClr val="B31591"/>
                </a:solidFill>
                <a:latin typeface="Cambria Math" panose="02040503050406030204" pitchFamily="18" charset="0"/>
                <a:ea typeface="Cambria Math" panose="02040503050406030204" pitchFamily="18" charset="0"/>
                <a:sym typeface="Symbol"/>
              </a:rPr>
              <a:t></a:t>
            </a:r>
            <a:r>
              <a:rPr lang="en-US" sz="2400" dirty="0">
                <a:solidFill>
                  <a:srgbClr val="B31591"/>
                </a:solidFill>
                <a:latin typeface="Cambria Math" panose="02040503050406030204" pitchFamily="18" charset="0"/>
                <a:ea typeface="Cambria Math" panose="02040503050406030204" pitchFamily="18" charset="0"/>
              </a:rPr>
              <a:t> . . . </a:t>
            </a:r>
            <a:r>
              <a:rPr lang="en-US" sz="2400" dirty="0">
                <a:solidFill>
                  <a:srgbClr val="B31591"/>
                </a:solidFill>
                <a:latin typeface="Cambria Math" panose="02040503050406030204" pitchFamily="18" charset="0"/>
                <a:ea typeface="Cambria Math" panose="02040503050406030204" pitchFamily="18" charset="0"/>
                <a:sym typeface="Symbol"/>
              </a:rPr>
              <a:t></a:t>
            </a:r>
            <a:r>
              <a:rPr lang="en-US" sz="2400" dirty="0">
                <a:solidFill>
                  <a:srgbClr val="B31591"/>
                </a:solidFill>
                <a:latin typeface="Cambria Math" panose="02040503050406030204" pitchFamily="18" charset="0"/>
                <a:ea typeface="Cambria Math" panose="02040503050406030204" pitchFamily="18" charset="0"/>
              </a:rPr>
              <a:t> </a:t>
            </a:r>
            <a:r>
              <a:rPr lang="en-US" sz="2400" dirty="0" err="1">
                <a:solidFill>
                  <a:srgbClr val="B31591"/>
                </a:solidFill>
                <a:latin typeface="Cambria Math" panose="02040503050406030204" pitchFamily="18" charset="0"/>
                <a:ea typeface="Cambria Math" panose="02040503050406030204" pitchFamily="18" charset="0"/>
              </a:rPr>
              <a:t>P</a:t>
            </a:r>
            <a:r>
              <a:rPr lang="en-US" sz="2400" baseline="-25000" dirty="0" err="1">
                <a:solidFill>
                  <a:srgbClr val="B31591"/>
                </a:solidFill>
                <a:latin typeface="Cambria Math" panose="02040503050406030204" pitchFamily="18" charset="0"/>
                <a:ea typeface="Cambria Math" panose="02040503050406030204" pitchFamily="18" charset="0"/>
              </a:rPr>
              <a:t>n</a:t>
            </a:r>
            <a:r>
              <a:rPr lang="en-US" sz="2400" dirty="0">
                <a:solidFill>
                  <a:srgbClr val="B31591"/>
                </a:solidFill>
                <a:latin typeface="Cambria Math" panose="02040503050406030204" pitchFamily="18" charset="0"/>
                <a:ea typeface="Cambria Math" panose="02040503050406030204" pitchFamily="18" charset="0"/>
              </a:rPr>
              <a:t>) </a:t>
            </a:r>
            <a:r>
              <a:rPr lang="en-US" sz="2400" dirty="0">
                <a:solidFill>
                  <a:srgbClr val="B31591"/>
                </a:solidFill>
                <a:latin typeface="Cambria Math" panose="02040503050406030204" pitchFamily="18" charset="0"/>
                <a:ea typeface="Cambria Math" panose="02040503050406030204" pitchFamily="18" charset="0"/>
                <a:sym typeface="Symbol"/>
              </a:rPr>
              <a:t></a:t>
            </a:r>
            <a:r>
              <a:rPr lang="en-US" sz="2400" dirty="0">
                <a:solidFill>
                  <a:srgbClr val="B31591"/>
                </a:solidFill>
                <a:latin typeface="Cambria Math" panose="02040503050406030204" pitchFamily="18" charset="0"/>
                <a:ea typeface="Cambria Math" panose="02040503050406030204" pitchFamily="18" charset="0"/>
              </a:rPr>
              <a:t> C</a:t>
            </a:r>
            <a:r>
              <a:rPr lang="en-US" sz="2400" dirty="0">
                <a:latin typeface="Cambria Math" panose="02040503050406030204" pitchFamily="18" charset="0"/>
                <a:ea typeface="Cambria Math" panose="02040503050406030204" pitchFamily="18" charset="0"/>
              </a:rPr>
              <a:t> is a tautology.</a:t>
            </a:r>
          </a:p>
          <a:p>
            <a:pPr marL="0" indent="0">
              <a:buNone/>
            </a:pPr>
            <a:endParaRPr lang="en-US" sz="240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In that case if argument becomes </a:t>
            </a:r>
            <a:r>
              <a:rPr lang="en-US" sz="2400" dirty="0">
                <a:solidFill>
                  <a:srgbClr val="FF0000"/>
                </a:solidFill>
                <a:latin typeface="Cambria Math" panose="02040503050406030204" pitchFamily="18" charset="0"/>
                <a:ea typeface="Cambria Math" panose="02040503050406030204" pitchFamily="18" charset="0"/>
              </a:rPr>
              <a:t>tautology</a:t>
            </a:r>
            <a:r>
              <a:rPr lang="en-US" sz="2400" dirty="0">
                <a:latin typeface="Cambria Math" panose="02040503050406030204" pitchFamily="18" charset="0"/>
                <a:ea typeface="Cambria Math" panose="02040503050406030204" pitchFamily="18" charset="0"/>
              </a:rPr>
              <a:t> then we say the argument is </a:t>
            </a:r>
            <a:r>
              <a:rPr lang="en-US" sz="2400" dirty="0">
                <a:solidFill>
                  <a:srgbClr val="FF0000"/>
                </a:solidFill>
                <a:latin typeface="Cambria Math" panose="02040503050406030204" pitchFamily="18" charset="0"/>
                <a:ea typeface="Cambria Math" panose="02040503050406030204" pitchFamily="18" charset="0"/>
              </a:rPr>
              <a:t>valid.</a:t>
            </a:r>
          </a:p>
        </p:txBody>
      </p:sp>
    </p:spTree>
    <p:extLst>
      <p:ext uri="{BB962C8B-B14F-4D97-AF65-F5344CB8AC3E}">
        <p14:creationId xmlns:p14="http://schemas.microsoft.com/office/powerpoint/2010/main" val="2653139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79576" y="961292"/>
            <a:ext cx="9829800" cy="4809546"/>
          </a:xfrm>
        </p:spPr>
        <p:txBody>
          <a:bodyPr>
            <a:normAutofit/>
          </a:bodyPr>
          <a:lstStyle/>
          <a:p>
            <a:pPr>
              <a:buNone/>
            </a:pPr>
            <a:r>
              <a:rPr lang="en-US" dirty="0"/>
              <a:t>			p </a:t>
            </a:r>
            <a:r>
              <a:rPr lang="en-US" dirty="0">
                <a:solidFill>
                  <a:srgbClr val="C00000"/>
                </a:solidFill>
              </a:rPr>
              <a:t>implies</a:t>
            </a:r>
            <a:r>
              <a:rPr lang="en-US" dirty="0"/>
              <a:t> q is mostly true.</a:t>
            </a:r>
          </a:p>
          <a:p>
            <a:endParaRPr lang="en-US" dirty="0"/>
          </a:p>
          <a:p>
            <a:pPr>
              <a:buNone/>
            </a:pPr>
            <a:r>
              <a:rPr lang="en-US" dirty="0"/>
              <a:t>			p </a:t>
            </a:r>
            <a:r>
              <a:rPr lang="en-US" dirty="0">
                <a:solidFill>
                  <a:srgbClr val="C00000"/>
                </a:solidFill>
              </a:rPr>
              <a:t>implies</a:t>
            </a:r>
            <a:r>
              <a:rPr lang="en-US" dirty="0"/>
              <a:t> q is false whenever</a:t>
            </a:r>
          </a:p>
          <a:p>
            <a:pPr>
              <a:buNone/>
            </a:pPr>
            <a:r>
              <a:rPr lang="en-US" dirty="0"/>
              <a:t>			p is true and q is false </a:t>
            </a:r>
          </a:p>
          <a:p>
            <a:pPr>
              <a:buNone/>
            </a:pPr>
            <a:endParaRPr lang="en-US" dirty="0"/>
          </a:p>
          <a:p>
            <a:pPr>
              <a:buNone/>
            </a:pPr>
            <a:r>
              <a:rPr lang="en-US" dirty="0"/>
              <a:t>			That is</a:t>
            </a:r>
          </a:p>
          <a:p>
            <a:endParaRPr lang="en-US" dirty="0"/>
          </a:p>
          <a:p>
            <a:pPr>
              <a:buNone/>
            </a:pPr>
            <a:r>
              <a:rPr lang="en-US" dirty="0"/>
              <a:t>			P true, q false then</a:t>
            </a:r>
            <a:r>
              <a:rPr lang="en-US" dirty="0">
                <a:solidFill>
                  <a:srgbClr val="C00000"/>
                </a:solidFill>
              </a:rPr>
              <a:t> p</a:t>
            </a:r>
            <a:r>
              <a:rPr lang="en-US" b="1" dirty="0">
                <a:solidFill>
                  <a:srgbClr val="C00000"/>
                </a:solidFill>
                <a:latin typeface="Bell MT" pitchFamily="18" charset="0"/>
                <a:cs typeface="Times New Roman" pitchFamily="18" charset="0"/>
                <a:sym typeface="Symbol" pitchFamily="18" charset="2"/>
              </a:rPr>
              <a:t>  </a:t>
            </a:r>
            <a:r>
              <a:rPr lang="en-US" dirty="0">
                <a:solidFill>
                  <a:srgbClr val="C00000"/>
                </a:solidFill>
                <a:sym typeface="Symbol" pitchFamily="18" charset="2"/>
              </a:rPr>
              <a:t>q</a:t>
            </a:r>
            <a:r>
              <a:rPr lang="en-US" dirty="0">
                <a:sym typeface="Symbol" pitchFamily="18" charset="2"/>
              </a:rPr>
              <a:t> is false</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2000"/>
                                        <p:tgtEl>
                                          <p:spTgt spid="3">
                                            <p:txEl>
                                              <p:pRg st="3" end="3"/>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2000"/>
                                        <p:tgtEl>
                                          <p:spTgt spid="3">
                                            <p:txEl>
                                              <p:pRg st="5" end="5"/>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fade">
                                      <p:cBhvr>
                                        <p:cTn id="19"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Note:</a:t>
            </a:r>
          </a:p>
        </p:txBody>
      </p:sp>
      <p:sp>
        <p:nvSpPr>
          <p:cNvPr id="3" name="Content Placeholder 2"/>
          <p:cNvSpPr>
            <a:spLocks noGrp="1"/>
          </p:cNvSpPr>
          <p:nvPr>
            <p:ph sz="quarter" idx="1"/>
          </p:nvPr>
        </p:nvSpPr>
        <p:spPr/>
        <p:txBody>
          <a:bodyPr>
            <a:normAutofit fontScale="92500"/>
          </a:bodyPr>
          <a:lstStyle/>
          <a:p>
            <a:r>
              <a:rPr lang="en-US" dirty="0"/>
              <a:t>In argument, if one </a:t>
            </a:r>
            <a:r>
              <a:rPr lang="en-US" b="1" dirty="0">
                <a:solidFill>
                  <a:srgbClr val="C00000"/>
                </a:solidFill>
              </a:rPr>
              <a:t>premise</a:t>
            </a:r>
            <a:r>
              <a:rPr lang="en-US" dirty="0"/>
              <a:t> is </a:t>
            </a:r>
            <a:r>
              <a:rPr lang="en-US" dirty="0">
                <a:solidFill>
                  <a:srgbClr val="C00000"/>
                </a:solidFill>
              </a:rPr>
              <a:t>false</a:t>
            </a:r>
            <a:r>
              <a:rPr lang="en-US" dirty="0"/>
              <a:t> then we say argument is </a:t>
            </a:r>
            <a:r>
              <a:rPr lang="en-US" dirty="0">
                <a:solidFill>
                  <a:srgbClr val="C00000"/>
                </a:solidFill>
              </a:rPr>
              <a:t>valid</a:t>
            </a:r>
            <a:r>
              <a:rPr lang="en-US" dirty="0"/>
              <a:t>. Because premise implies conclusion, the premise is false implies conclusion is whatever the implication of argument becomes true.</a:t>
            </a:r>
          </a:p>
          <a:p>
            <a:endParaRPr lang="en-US" dirty="0"/>
          </a:p>
          <a:p>
            <a:r>
              <a:rPr lang="en-US" dirty="0"/>
              <a:t>If all the premise is true then the conjunction of all the premise is also true.  And if the conclusion becomes also true, then the whole implication becomes true.</a:t>
            </a:r>
          </a:p>
          <a:p>
            <a:endParaRPr lang="en-US" dirty="0"/>
          </a:p>
          <a:p>
            <a:pPr>
              <a:buNone/>
            </a:pPr>
            <a:r>
              <a:rPr lang="en-US" dirty="0"/>
              <a:t>			</a:t>
            </a:r>
            <a:r>
              <a:rPr lang="en-US" b="1" dirty="0">
                <a:solidFill>
                  <a:schemeClr val="accent4">
                    <a:lumMod val="50000"/>
                  </a:schemeClr>
                </a:solidFill>
              </a:rPr>
              <a:t>Therefore = thus = so that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BC154-4C16-D8A4-DB52-6626F773A50E}"/>
              </a:ext>
            </a:extLst>
          </p:cNvPr>
          <p:cNvSpPr>
            <a:spLocks noGrp="1"/>
          </p:cNvSpPr>
          <p:nvPr>
            <p:ph type="title"/>
          </p:nvPr>
        </p:nvSpPr>
        <p:spPr>
          <a:xfrm>
            <a:off x="838200" y="1"/>
            <a:ext cx="10515600" cy="974784"/>
          </a:xfrm>
        </p:spPr>
        <p:txBody>
          <a:bodyPr>
            <a:normAutofit/>
          </a:bodyPr>
          <a:lstStyle/>
          <a:p>
            <a:r>
              <a:rPr lang="en-US" sz="4000" dirty="0">
                <a:latin typeface="Cambria Math" panose="02040503050406030204" pitchFamily="18" charset="0"/>
                <a:ea typeface="Cambria Math" panose="02040503050406030204" pitchFamily="18" charset="0"/>
              </a:rPr>
              <a:t>Invalidity of an Argument</a:t>
            </a:r>
          </a:p>
        </p:txBody>
      </p:sp>
      <p:sp>
        <p:nvSpPr>
          <p:cNvPr id="3" name="Content Placeholder 2">
            <a:extLst>
              <a:ext uri="{FF2B5EF4-FFF2-40B4-BE49-F238E27FC236}">
                <a16:creationId xmlns:a16="http://schemas.microsoft.com/office/drawing/2014/main" id="{9DEFFC09-DE32-16C2-20AA-A03DDACD5A96}"/>
              </a:ext>
            </a:extLst>
          </p:cNvPr>
          <p:cNvSpPr>
            <a:spLocks noGrp="1"/>
          </p:cNvSpPr>
          <p:nvPr>
            <p:ph idx="1"/>
          </p:nvPr>
        </p:nvSpPr>
        <p:spPr>
          <a:xfrm>
            <a:off x="838199" y="974785"/>
            <a:ext cx="10781581" cy="5202178"/>
          </a:xfrm>
        </p:spPr>
        <p:txBody>
          <a:bodyPr>
            <a:normAutofit/>
          </a:bodyPr>
          <a:lstStyle/>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An argument is </a:t>
            </a:r>
            <a:r>
              <a:rPr lang="en-US" sz="2400" dirty="0">
                <a:solidFill>
                  <a:srgbClr val="B31591"/>
                </a:solidFill>
                <a:latin typeface="Cambria Math" panose="02040503050406030204" pitchFamily="18" charset="0"/>
                <a:ea typeface="Cambria Math" panose="02040503050406030204" pitchFamily="18" charset="0"/>
              </a:rPr>
              <a:t>invalid</a:t>
            </a:r>
            <a:r>
              <a:rPr lang="en-US" sz="2400" dirty="0">
                <a:latin typeface="Cambria Math" panose="02040503050406030204" pitchFamily="18" charset="0"/>
                <a:ea typeface="Cambria Math" panose="02040503050406030204" pitchFamily="18" charset="0"/>
              </a:rPr>
              <a:t> if the </a:t>
            </a:r>
            <a:r>
              <a:rPr lang="en-US" sz="2400" dirty="0">
                <a:solidFill>
                  <a:srgbClr val="0070C0"/>
                </a:solidFill>
                <a:latin typeface="Cambria Math" panose="02040503050406030204" pitchFamily="18" charset="0"/>
                <a:ea typeface="Cambria Math" panose="02040503050406030204" pitchFamily="18" charset="0"/>
              </a:rPr>
              <a:t>conclusion is false </a:t>
            </a:r>
            <a:r>
              <a:rPr lang="en-US" sz="2400" dirty="0">
                <a:latin typeface="Cambria Math" panose="02040503050406030204" pitchFamily="18" charset="0"/>
                <a:ea typeface="Cambria Math" panose="02040503050406030204" pitchFamily="18" charset="0"/>
              </a:rPr>
              <a:t>when </a:t>
            </a:r>
            <a:r>
              <a:rPr lang="en-US" sz="2400" dirty="0">
                <a:solidFill>
                  <a:srgbClr val="0070C0"/>
                </a:solidFill>
                <a:latin typeface="Cambria Math" panose="02040503050406030204" pitchFamily="18" charset="0"/>
                <a:ea typeface="Cambria Math" panose="02040503050406030204" pitchFamily="18" charset="0"/>
              </a:rPr>
              <a:t>all the premises </a:t>
            </a:r>
            <a:r>
              <a:rPr lang="en-US" sz="2400" dirty="0">
                <a:latin typeface="Cambria Math" panose="02040503050406030204" pitchFamily="18" charset="0"/>
                <a:ea typeface="Cambria Math" panose="02040503050406030204" pitchFamily="18" charset="0"/>
              </a:rPr>
              <a:t>are</a:t>
            </a:r>
            <a:r>
              <a:rPr lang="en-US" sz="2400" dirty="0">
                <a:solidFill>
                  <a:srgbClr val="0070C0"/>
                </a:solidFill>
                <a:latin typeface="Cambria Math" panose="02040503050406030204" pitchFamily="18" charset="0"/>
                <a:ea typeface="Cambria Math" panose="02040503050406030204" pitchFamily="18" charset="0"/>
              </a:rPr>
              <a:t> true</a:t>
            </a:r>
            <a:r>
              <a:rPr lang="en-US" sz="2400" dirty="0">
                <a:latin typeface="Cambria Math" panose="02040503050406030204" pitchFamily="18" charset="0"/>
                <a:ea typeface="Cambria Math" panose="02040503050406030204" pitchFamily="18" charset="0"/>
              </a:rPr>
              <a:t>.</a:t>
            </a:r>
          </a:p>
          <a:p>
            <a:pPr>
              <a:buFont typeface="Wingdings" panose="05000000000000000000" pitchFamily="2" charset="2"/>
              <a:buChar char="ü"/>
            </a:pPr>
            <a:endParaRPr lang="en-US" sz="2400" dirty="0">
              <a:latin typeface="Cambria Math" panose="02040503050406030204" pitchFamily="18" charset="0"/>
              <a:ea typeface="Cambria Math" panose="02040503050406030204" pitchFamily="18" charset="0"/>
            </a:endParaRP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Alternatively, an argument is invalid if conjunction of its premises does not imply conclusion.</a:t>
            </a:r>
          </a:p>
          <a:p>
            <a:pPr marL="0" indent="0">
              <a:buNone/>
            </a:pPr>
            <a:endParaRPr lang="en-US" sz="2400" dirty="0">
              <a:latin typeface="Cambria Math" panose="02040503050406030204" pitchFamily="18" charset="0"/>
              <a:ea typeface="Cambria Math" panose="02040503050406030204" pitchFamily="18" charset="0"/>
            </a:endParaRPr>
          </a:p>
          <a:p>
            <a:pPr marL="0" indent="0">
              <a:buNone/>
            </a:pPr>
            <a:r>
              <a:rPr lang="en-US" sz="2400" b="1" dirty="0">
                <a:latin typeface="Cambria Math" panose="02040503050406030204" pitchFamily="18" charset="0"/>
                <a:ea typeface="Cambria Math" panose="02040503050406030204" pitchFamily="18" charset="0"/>
              </a:rPr>
              <a:t>Validity of argument:</a:t>
            </a: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When our premises conjunction is false, the argument is valid no matter what is the value of conclusion</a:t>
            </a:r>
          </a:p>
          <a:p>
            <a:pPr>
              <a:buFont typeface="Wingdings" panose="05000000000000000000" pitchFamily="2" charset="2"/>
              <a:buChar char="ü"/>
            </a:pPr>
            <a:r>
              <a:rPr lang="en-US" sz="2400" dirty="0">
                <a:latin typeface="Cambria Math" panose="02040503050406030204" pitchFamily="18" charset="0"/>
                <a:ea typeface="Cambria Math" panose="02040503050406030204" pitchFamily="18" charset="0"/>
              </a:rPr>
              <a:t>When our premises conjunction is true and conclusion is false, only then argument is invalid.</a:t>
            </a:r>
          </a:p>
        </p:txBody>
      </p:sp>
    </p:spTree>
    <p:extLst>
      <p:ext uri="{BB962C8B-B14F-4D97-AF65-F5344CB8AC3E}">
        <p14:creationId xmlns:p14="http://schemas.microsoft.com/office/powerpoint/2010/main" val="3336132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905000" y="0"/>
            <a:ext cx="8229600" cy="1143000"/>
          </a:xfrm>
        </p:spPr>
        <p:txBody>
          <a:bodyPr/>
          <a:lstStyle/>
          <a:p>
            <a:r>
              <a:rPr lang="en-US" dirty="0">
                <a:effectLst>
                  <a:outerShdw blurRad="38100" dist="38100" dir="2700000" algn="tl">
                    <a:srgbClr val="C0C0C0"/>
                  </a:outerShdw>
                </a:effectLst>
              </a:rPr>
              <a:t>Argument Form</a:t>
            </a:r>
          </a:p>
        </p:txBody>
      </p:sp>
      <p:sp>
        <p:nvSpPr>
          <p:cNvPr id="6147" name="Rectangle 3"/>
          <p:cNvSpPr>
            <a:spLocks noGrp="1" noChangeArrowheads="1"/>
          </p:cNvSpPr>
          <p:nvPr>
            <p:ph type="body" sz="half" idx="1"/>
          </p:nvPr>
        </p:nvSpPr>
        <p:spPr>
          <a:xfrm>
            <a:off x="1981200" y="1600201"/>
            <a:ext cx="8229600" cy="4525963"/>
          </a:xfrm>
        </p:spPr>
        <p:txBody>
          <a:bodyPr/>
          <a:lstStyle/>
          <a:p>
            <a:r>
              <a:rPr lang="en-US" dirty="0">
                <a:solidFill>
                  <a:srgbClr val="C00000"/>
                </a:solidFill>
              </a:rPr>
              <a:t>If</a:t>
            </a:r>
            <a:r>
              <a:rPr lang="en-US" dirty="0"/>
              <a:t> the premises and the conclusion</a:t>
            </a:r>
          </a:p>
          <a:p>
            <a:pPr>
              <a:buFontTx/>
              <a:buNone/>
            </a:pPr>
            <a:r>
              <a:rPr lang="en-US" dirty="0"/>
              <a:t>		are </a:t>
            </a:r>
            <a:r>
              <a:rPr lang="en-US" dirty="0">
                <a:solidFill>
                  <a:schemeClr val="accent2"/>
                </a:solidFill>
              </a:rPr>
              <a:t>statement forms</a:t>
            </a:r>
            <a:r>
              <a:rPr lang="en-US" dirty="0"/>
              <a:t> </a:t>
            </a:r>
          </a:p>
          <a:p>
            <a:pPr>
              <a:buFontTx/>
              <a:buNone/>
            </a:pPr>
            <a:r>
              <a:rPr lang="en-US" dirty="0"/>
              <a:t>			instead of statements,</a:t>
            </a:r>
          </a:p>
          <a:p>
            <a:pPr>
              <a:buFontTx/>
              <a:buNone/>
            </a:pPr>
            <a:r>
              <a:rPr lang="en-US" dirty="0"/>
              <a:t>   </a:t>
            </a:r>
            <a:r>
              <a:rPr lang="en-US" dirty="0">
                <a:solidFill>
                  <a:srgbClr val="C00000"/>
                </a:solidFill>
              </a:rPr>
              <a:t>then</a:t>
            </a:r>
            <a:r>
              <a:rPr lang="en-US" dirty="0"/>
              <a:t> the resulting form is called</a:t>
            </a:r>
          </a:p>
          <a:p>
            <a:pPr>
              <a:buFontTx/>
              <a:buNone/>
            </a:pPr>
            <a:r>
              <a:rPr lang="en-US" dirty="0"/>
              <a:t>					  </a:t>
            </a:r>
            <a:r>
              <a:rPr lang="en-US" dirty="0">
                <a:solidFill>
                  <a:srgbClr val="FF0066"/>
                </a:solidFill>
              </a:rPr>
              <a:t>argument form</a:t>
            </a:r>
            <a:r>
              <a:rPr lang="en-US" dirty="0"/>
              <a:t>.</a:t>
            </a:r>
          </a:p>
          <a:p>
            <a:r>
              <a:rPr lang="en-US" i="1" dirty="0"/>
              <a:t>Ex</a:t>
            </a:r>
            <a:r>
              <a:rPr lang="en-US" dirty="0"/>
              <a:t>:   If </a:t>
            </a:r>
            <a:r>
              <a:rPr lang="en-US" i="1" dirty="0"/>
              <a:t>p</a:t>
            </a:r>
            <a:r>
              <a:rPr lang="en-US" dirty="0"/>
              <a:t> then </a:t>
            </a:r>
            <a:r>
              <a:rPr lang="en-US" i="1" dirty="0"/>
              <a:t>q</a:t>
            </a:r>
            <a:r>
              <a:rPr lang="en-US" dirty="0"/>
              <a:t>;</a:t>
            </a:r>
          </a:p>
          <a:p>
            <a:pPr>
              <a:buFontTx/>
              <a:buNone/>
            </a:pPr>
            <a:r>
              <a:rPr lang="en-US" dirty="0"/>
              <a:t>		   </a:t>
            </a:r>
            <a:r>
              <a:rPr lang="en-US" i="1" dirty="0"/>
              <a:t>p</a:t>
            </a:r>
            <a:r>
              <a:rPr lang="en-US" dirty="0"/>
              <a:t>;</a:t>
            </a:r>
          </a:p>
          <a:p>
            <a:pPr>
              <a:buFontTx/>
              <a:buNone/>
            </a:pPr>
            <a:r>
              <a:rPr lang="en-US" dirty="0"/>
              <a:t>		   </a:t>
            </a:r>
            <a:r>
              <a:rPr lang="en-US" i="1" dirty="0"/>
              <a:t>q</a:t>
            </a:r>
            <a:r>
              <a:rPr lang="en-US" dirty="0"/>
              <a:t>.</a:t>
            </a:r>
          </a:p>
        </p:txBody>
      </p:sp>
      <p:graphicFrame>
        <p:nvGraphicFramePr>
          <p:cNvPr id="6148" name="Object 4"/>
          <p:cNvGraphicFramePr>
            <a:graphicFrameLocks noGrp="1" noChangeAspect="1"/>
          </p:cNvGraphicFramePr>
          <p:nvPr>
            <p:ph sz="half" idx="2"/>
          </p:nvPr>
        </p:nvGraphicFramePr>
        <p:xfrm>
          <a:off x="2743200" y="5257800"/>
          <a:ext cx="533400" cy="484188"/>
        </p:xfrm>
        <a:graphic>
          <a:graphicData uri="http://schemas.openxmlformats.org/presentationml/2006/ole">
            <mc:AlternateContent xmlns:mc="http://schemas.openxmlformats.org/markup-compatibility/2006">
              <mc:Choice xmlns:v="urn:schemas-microsoft-com:vml" Requires="v">
                <p:oleObj spid="_x0000_s1035" name="Equation" r:id="rId3" imgW="139680" imgH="126720" progId="Equation.3">
                  <p:embed/>
                </p:oleObj>
              </mc:Choice>
              <mc:Fallback>
                <p:oleObj name="Equation" r:id="rId3" imgW="139680" imgH="126720" progId="Equation.3">
                  <p:embed/>
                  <p:pic>
                    <p:nvPicPr>
                      <p:cNvPr id="614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5257800"/>
                        <a:ext cx="5334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fade">
                                      <p:cBhvr>
                                        <p:cTn id="7" dur="2000"/>
                                        <p:tgtEl>
                                          <p:spTgt spid="61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147">
                                            <p:txEl>
                                              <p:pRg st="1" end="1"/>
                                            </p:txEl>
                                          </p:spTgt>
                                        </p:tgtEl>
                                        <p:attrNameLst>
                                          <p:attrName>style.visibility</p:attrName>
                                        </p:attrNameLst>
                                      </p:cBhvr>
                                      <p:to>
                                        <p:strVal val="visible"/>
                                      </p:to>
                                    </p:set>
                                    <p:animEffect transition="in" filter="fade">
                                      <p:cBhvr>
                                        <p:cTn id="12" dur="2000"/>
                                        <p:tgtEl>
                                          <p:spTgt spid="614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147">
                                            <p:txEl>
                                              <p:pRg st="2" end="2"/>
                                            </p:txEl>
                                          </p:spTgt>
                                        </p:tgtEl>
                                        <p:attrNameLst>
                                          <p:attrName>style.visibility</p:attrName>
                                        </p:attrNameLst>
                                      </p:cBhvr>
                                      <p:to>
                                        <p:strVal val="visible"/>
                                      </p:to>
                                    </p:set>
                                    <p:animEffect transition="in" filter="fade">
                                      <p:cBhvr>
                                        <p:cTn id="17" dur="2000"/>
                                        <p:tgtEl>
                                          <p:spTgt spid="614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147">
                                            <p:txEl>
                                              <p:pRg st="3" end="3"/>
                                            </p:txEl>
                                          </p:spTgt>
                                        </p:tgtEl>
                                        <p:attrNameLst>
                                          <p:attrName>style.visibility</p:attrName>
                                        </p:attrNameLst>
                                      </p:cBhvr>
                                      <p:to>
                                        <p:strVal val="visible"/>
                                      </p:to>
                                    </p:set>
                                    <p:animEffect transition="in" filter="fade">
                                      <p:cBhvr>
                                        <p:cTn id="22" dur="2000"/>
                                        <p:tgtEl>
                                          <p:spTgt spid="614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147">
                                            <p:txEl>
                                              <p:pRg st="4" end="4"/>
                                            </p:txEl>
                                          </p:spTgt>
                                        </p:tgtEl>
                                        <p:attrNameLst>
                                          <p:attrName>style.visibility</p:attrName>
                                        </p:attrNameLst>
                                      </p:cBhvr>
                                      <p:to>
                                        <p:strVal val="visible"/>
                                      </p:to>
                                    </p:set>
                                    <p:animEffect transition="in" filter="fade">
                                      <p:cBhvr>
                                        <p:cTn id="27" dur="2000"/>
                                        <p:tgtEl>
                                          <p:spTgt spid="614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Effect transition="in" filter="fade">
                                      <p:cBhvr>
                                        <p:cTn id="32" dur="2000"/>
                                        <p:tgtEl>
                                          <p:spTgt spid="614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147">
                                            <p:txEl>
                                              <p:pRg st="6" end="6"/>
                                            </p:txEl>
                                          </p:spTgt>
                                        </p:tgtEl>
                                        <p:attrNameLst>
                                          <p:attrName>style.visibility</p:attrName>
                                        </p:attrNameLst>
                                      </p:cBhvr>
                                      <p:to>
                                        <p:strVal val="visible"/>
                                      </p:to>
                                    </p:set>
                                    <p:animEffect transition="in" filter="fade">
                                      <p:cBhvr>
                                        <p:cTn id="37" dur="2000"/>
                                        <p:tgtEl>
                                          <p:spTgt spid="614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147">
                                            <p:txEl>
                                              <p:pRg st="7" end="7"/>
                                            </p:txEl>
                                          </p:spTgt>
                                        </p:tgtEl>
                                        <p:attrNameLst>
                                          <p:attrName>style.visibility</p:attrName>
                                        </p:attrNameLst>
                                      </p:cBhvr>
                                      <p:to>
                                        <p:strVal val="visible"/>
                                      </p:to>
                                    </p:set>
                                    <p:animEffect transition="in" filter="fade">
                                      <p:cBhvr>
                                        <p:cTn id="42" dur="2000"/>
                                        <p:tgtEl>
                                          <p:spTgt spid="6147">
                                            <p:txEl>
                                              <p:pRg st="7" end="7"/>
                                            </p:txEl>
                                          </p:spTgt>
                                        </p:tgtEl>
                                      </p:cBhvr>
                                    </p:animEffect>
                                  </p:childTnLst>
                                </p:cTn>
                              </p:par>
                              <p:par>
                                <p:cTn id="43" presetID="1" presetClass="entr" presetSubtype="0" fill="hold" nodeType="withEffect">
                                  <p:stCondLst>
                                    <p:cond delay="0"/>
                                  </p:stCondLst>
                                  <p:childTnLst>
                                    <p:set>
                                      <p:cBhvr>
                                        <p:cTn id="44"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2039" y="136402"/>
            <a:ext cx="8269085" cy="1096962"/>
          </a:xfrm>
        </p:spPr>
        <p:txBody>
          <a:bodyPr/>
          <a:lstStyle/>
          <a:p>
            <a:r>
              <a:rPr lang="en-US" spc="-81" dirty="0"/>
              <a:t>A</a:t>
            </a:r>
            <a:r>
              <a:rPr lang="en-US" spc="-4" dirty="0"/>
              <a:t>rgument Form</a:t>
            </a:r>
            <a:endParaRPr lang="en-US" b="1" dirty="0"/>
          </a:p>
        </p:txBody>
      </p:sp>
      <p:sp>
        <p:nvSpPr>
          <p:cNvPr id="3" name="Content Placeholder 2"/>
          <p:cNvSpPr>
            <a:spLocks noGrp="1"/>
          </p:cNvSpPr>
          <p:nvPr>
            <p:ph idx="1"/>
          </p:nvPr>
        </p:nvSpPr>
        <p:spPr>
          <a:xfrm>
            <a:off x="573207" y="762000"/>
            <a:ext cx="11004711" cy="6096000"/>
          </a:xfrm>
        </p:spPr>
        <p:txBody>
          <a:bodyPr>
            <a:normAutofit/>
          </a:bodyPr>
          <a:lstStyle/>
          <a:p>
            <a:pPr marL="0" indent="0">
              <a:buNone/>
            </a:pPr>
            <a:endParaRPr lang="en-US" sz="2400" dirty="0"/>
          </a:p>
          <a:p>
            <a:pPr marL="0" indent="0">
              <a:buNone/>
            </a:pPr>
            <a:r>
              <a:rPr lang="en-US" sz="2400" dirty="0"/>
              <a:t> 1. “</a:t>
            </a:r>
            <a:r>
              <a:rPr lang="en-US" sz="2400" u="sng" dirty="0"/>
              <a:t>If you have the current password</a:t>
            </a:r>
            <a:r>
              <a:rPr lang="en-US" sz="2400" dirty="0"/>
              <a:t>, then </a:t>
            </a:r>
            <a:r>
              <a:rPr lang="en-US" sz="2400" u="sng" dirty="0"/>
              <a:t>you can log onto the network</a:t>
            </a:r>
            <a:r>
              <a:rPr lang="en-US" sz="2400" dirty="0"/>
              <a:t>.”</a:t>
            </a:r>
          </a:p>
          <a:p>
            <a:pPr marL="0" indent="0">
              <a:buNone/>
            </a:pPr>
            <a:r>
              <a:rPr lang="en-US" sz="2400" dirty="0"/>
              <a:t>		</a:t>
            </a:r>
            <a:r>
              <a:rPr lang="en-US" sz="2400" dirty="0">
                <a:solidFill>
                  <a:srgbClr val="FF0000"/>
                </a:solidFill>
              </a:rPr>
              <a:t> p 						q</a:t>
            </a:r>
            <a:r>
              <a:rPr lang="en-US" sz="2400" dirty="0"/>
              <a:t>	</a:t>
            </a:r>
            <a:endParaRPr lang="en-US" sz="2400" dirty="0">
              <a:solidFill>
                <a:srgbClr val="FF0000"/>
              </a:solidFill>
            </a:endParaRPr>
          </a:p>
          <a:p>
            <a:pPr marL="0" indent="0">
              <a:buNone/>
            </a:pPr>
            <a:r>
              <a:rPr lang="en-US" sz="2400" dirty="0"/>
              <a:t>2. “You have a current password.”</a:t>
            </a:r>
          </a:p>
          <a:p>
            <a:pPr marL="0" indent="0">
              <a:buNone/>
            </a:pPr>
            <a:r>
              <a:rPr lang="en-US" sz="2400" dirty="0">
                <a:solidFill>
                  <a:srgbClr val="FF0000"/>
                </a:solidFill>
              </a:rPr>
              <a:t>Therefore,	</a:t>
            </a:r>
            <a:r>
              <a:rPr lang="en-US" sz="2400" dirty="0"/>
              <a:t>					</a:t>
            </a:r>
          </a:p>
          <a:p>
            <a:pPr marL="0" indent="0">
              <a:buNone/>
            </a:pPr>
            <a:r>
              <a:rPr lang="en-US" sz="2400" dirty="0"/>
              <a:t>3. “You can log onto the network.”</a:t>
            </a:r>
          </a:p>
        </p:txBody>
      </p:sp>
      <p:pic>
        <p:nvPicPr>
          <p:cNvPr id="7" name="Picture 6"/>
          <p:cNvPicPr>
            <a:picLocks noChangeAspect="1"/>
          </p:cNvPicPr>
          <p:nvPr/>
        </p:nvPicPr>
        <p:blipFill>
          <a:blip r:embed="rId3"/>
          <a:stretch>
            <a:fillRect/>
          </a:stretch>
        </p:blipFill>
        <p:spPr>
          <a:xfrm>
            <a:off x="1785298" y="3959912"/>
            <a:ext cx="8750774" cy="2645604"/>
          </a:xfrm>
          <a:prstGeom prst="rect">
            <a:avLst/>
          </a:prstGeom>
        </p:spPr>
      </p:pic>
    </p:spTree>
    <p:extLst>
      <p:ext uri="{BB962C8B-B14F-4D97-AF65-F5344CB8AC3E}">
        <p14:creationId xmlns:p14="http://schemas.microsoft.com/office/powerpoint/2010/main" val="974854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Autofit/>
          </a:bodyPr>
          <a:lstStyle/>
          <a:p>
            <a:pPr algn="ctr"/>
            <a:r>
              <a:rPr lang="en-US" dirty="0"/>
              <a:t>Checking the validity of an argument form</a:t>
            </a:r>
          </a:p>
        </p:txBody>
      </p:sp>
      <p:sp>
        <p:nvSpPr>
          <p:cNvPr id="8195" name="Rectangle 3"/>
          <p:cNvSpPr>
            <a:spLocks noGrp="1" noChangeArrowheads="1"/>
          </p:cNvSpPr>
          <p:nvPr>
            <p:ph type="body" idx="1"/>
          </p:nvPr>
        </p:nvSpPr>
        <p:spPr/>
        <p:txBody>
          <a:bodyPr>
            <a:normAutofit fontScale="92500"/>
          </a:bodyPr>
          <a:lstStyle/>
          <a:p>
            <a:pPr marL="609600" indent="-609600">
              <a:buClr>
                <a:schemeClr val="tx1"/>
              </a:buClr>
              <a:buFontTx/>
              <a:buAutoNum type="arabicParenR"/>
            </a:pPr>
            <a:r>
              <a:rPr lang="en-US" dirty="0"/>
              <a:t>Construct </a:t>
            </a:r>
            <a:r>
              <a:rPr lang="en-US" dirty="0">
                <a:solidFill>
                  <a:srgbClr val="C00000"/>
                </a:solidFill>
              </a:rPr>
              <a:t>truth table</a:t>
            </a:r>
            <a:r>
              <a:rPr lang="en-US" dirty="0"/>
              <a:t> for the premises and the conclusion;</a:t>
            </a:r>
          </a:p>
          <a:p>
            <a:pPr marL="609600" indent="-609600">
              <a:buClr>
                <a:schemeClr val="tx1"/>
              </a:buClr>
              <a:buFontTx/>
              <a:buAutoNum type="arabicParenR"/>
            </a:pPr>
            <a:r>
              <a:rPr lang="en-US" dirty="0"/>
              <a:t>Find the rows in which all the premises are true (</a:t>
            </a:r>
            <a:r>
              <a:rPr lang="en-US" i="1" dirty="0">
                <a:solidFill>
                  <a:schemeClr val="accent2"/>
                </a:solidFill>
              </a:rPr>
              <a:t>critical rows</a:t>
            </a:r>
            <a:r>
              <a:rPr lang="en-US" dirty="0"/>
              <a:t>);</a:t>
            </a:r>
          </a:p>
          <a:p>
            <a:pPr marL="609600" indent="-609600">
              <a:buClr>
                <a:schemeClr val="tx1"/>
              </a:buClr>
              <a:buFontTx/>
              <a:buAutoNum type="arabicParenR"/>
            </a:pPr>
            <a:r>
              <a:rPr lang="en-US" dirty="0">
                <a:solidFill>
                  <a:schemeClr val="accent2"/>
                </a:solidFill>
              </a:rPr>
              <a:t>a.</a:t>
            </a:r>
            <a:r>
              <a:rPr lang="en-US" dirty="0"/>
              <a:t> </a:t>
            </a:r>
            <a:r>
              <a:rPr lang="en-US" i="1" dirty="0">
                <a:solidFill>
                  <a:srgbClr val="C00000"/>
                </a:solidFill>
              </a:rPr>
              <a:t>If</a:t>
            </a:r>
            <a:r>
              <a:rPr lang="en-US" dirty="0"/>
              <a:t> in each critical row the conclusion</a:t>
            </a:r>
          </a:p>
          <a:p>
            <a:pPr marL="609600" indent="-609600">
              <a:buNone/>
            </a:pPr>
            <a:r>
              <a:rPr lang="en-US" dirty="0"/>
              <a:t>			 					is true </a:t>
            </a:r>
          </a:p>
          <a:p>
            <a:pPr marL="609600" indent="-609600">
              <a:buNone/>
            </a:pPr>
            <a:r>
              <a:rPr lang="en-US" i="1" dirty="0">
                <a:solidFill>
                  <a:schemeClr val="bg2"/>
                </a:solidFill>
              </a:rPr>
              <a:t>	    </a:t>
            </a:r>
            <a:r>
              <a:rPr lang="en-US" i="1" dirty="0">
                <a:solidFill>
                  <a:srgbClr val="C00000"/>
                </a:solidFill>
              </a:rPr>
              <a:t>then</a:t>
            </a:r>
            <a:r>
              <a:rPr lang="en-US" dirty="0"/>
              <a:t> the argument form is </a:t>
            </a:r>
            <a:r>
              <a:rPr lang="en-US" dirty="0">
                <a:solidFill>
                  <a:schemeClr val="accent2"/>
                </a:solidFill>
              </a:rPr>
              <a:t>valid</a:t>
            </a:r>
            <a:r>
              <a:rPr lang="en-US" dirty="0"/>
              <a:t>;</a:t>
            </a:r>
          </a:p>
          <a:p>
            <a:pPr marL="609600" indent="-609600">
              <a:buNone/>
            </a:pPr>
            <a:r>
              <a:rPr lang="en-US" dirty="0"/>
              <a:t>	</a:t>
            </a:r>
            <a:r>
              <a:rPr lang="en-US" dirty="0">
                <a:solidFill>
                  <a:schemeClr val="accent2"/>
                </a:solidFill>
              </a:rPr>
              <a:t>b.</a:t>
            </a:r>
            <a:r>
              <a:rPr lang="en-US" dirty="0"/>
              <a:t> </a:t>
            </a:r>
            <a:r>
              <a:rPr lang="en-US" i="1" dirty="0">
                <a:solidFill>
                  <a:srgbClr val="C00000"/>
                </a:solidFill>
              </a:rPr>
              <a:t>If</a:t>
            </a:r>
            <a:r>
              <a:rPr lang="en-US" dirty="0">
                <a:solidFill>
                  <a:srgbClr val="C00000"/>
                </a:solidFill>
              </a:rPr>
              <a:t>  </a:t>
            </a:r>
            <a:r>
              <a:rPr lang="en-US" dirty="0"/>
              <a:t>there is a row in which conclusion 								is false </a:t>
            </a:r>
          </a:p>
          <a:p>
            <a:pPr marL="609600" indent="-609600">
              <a:buNone/>
            </a:pPr>
            <a:r>
              <a:rPr lang="en-US" i="1" dirty="0">
                <a:solidFill>
                  <a:schemeClr val="bg2"/>
                </a:solidFill>
              </a:rPr>
              <a:t>	   </a:t>
            </a:r>
            <a:r>
              <a:rPr lang="en-US" i="1" dirty="0">
                <a:solidFill>
                  <a:srgbClr val="C00000"/>
                </a:solidFill>
              </a:rPr>
              <a:t>then</a:t>
            </a:r>
            <a:r>
              <a:rPr lang="en-US" dirty="0"/>
              <a:t> the argument form is </a:t>
            </a:r>
            <a:r>
              <a:rPr lang="en-US" dirty="0">
                <a:solidFill>
                  <a:schemeClr val="accent2"/>
                </a:solidFill>
              </a:rPr>
              <a:t>invalid</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animEffect transition="in" filter="fade">
                                      <p:cBhvr>
                                        <p:cTn id="7" dur="2000"/>
                                        <p:tgtEl>
                                          <p:spTgt spid="81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195">
                                            <p:txEl>
                                              <p:pRg st="1" end="1"/>
                                            </p:txEl>
                                          </p:spTgt>
                                        </p:tgtEl>
                                        <p:attrNameLst>
                                          <p:attrName>style.visibility</p:attrName>
                                        </p:attrNameLst>
                                      </p:cBhvr>
                                      <p:to>
                                        <p:strVal val="visible"/>
                                      </p:to>
                                    </p:set>
                                    <p:animEffect transition="in" filter="fade">
                                      <p:cBhvr>
                                        <p:cTn id="12" dur="2000"/>
                                        <p:tgtEl>
                                          <p:spTgt spid="81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195">
                                            <p:txEl>
                                              <p:pRg st="2" end="2"/>
                                            </p:txEl>
                                          </p:spTgt>
                                        </p:tgtEl>
                                        <p:attrNameLst>
                                          <p:attrName>style.visibility</p:attrName>
                                        </p:attrNameLst>
                                      </p:cBhvr>
                                      <p:to>
                                        <p:strVal val="visible"/>
                                      </p:to>
                                    </p:set>
                                    <p:animEffect transition="in" filter="fade">
                                      <p:cBhvr>
                                        <p:cTn id="17" dur="2000"/>
                                        <p:tgtEl>
                                          <p:spTgt spid="81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195">
                                            <p:txEl>
                                              <p:pRg st="3" end="3"/>
                                            </p:txEl>
                                          </p:spTgt>
                                        </p:tgtEl>
                                        <p:attrNameLst>
                                          <p:attrName>style.visibility</p:attrName>
                                        </p:attrNameLst>
                                      </p:cBhvr>
                                      <p:to>
                                        <p:strVal val="visible"/>
                                      </p:to>
                                    </p:set>
                                    <p:animEffect transition="in" filter="fade">
                                      <p:cBhvr>
                                        <p:cTn id="22" dur="2000"/>
                                        <p:tgtEl>
                                          <p:spTgt spid="819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195">
                                            <p:txEl>
                                              <p:pRg st="4" end="4"/>
                                            </p:txEl>
                                          </p:spTgt>
                                        </p:tgtEl>
                                        <p:attrNameLst>
                                          <p:attrName>style.visibility</p:attrName>
                                        </p:attrNameLst>
                                      </p:cBhvr>
                                      <p:to>
                                        <p:strVal val="visible"/>
                                      </p:to>
                                    </p:set>
                                    <p:animEffect transition="in" filter="fade">
                                      <p:cBhvr>
                                        <p:cTn id="27" dur="2000"/>
                                        <p:tgtEl>
                                          <p:spTgt spid="819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195">
                                            <p:txEl>
                                              <p:pRg st="5" end="5"/>
                                            </p:txEl>
                                          </p:spTgt>
                                        </p:tgtEl>
                                        <p:attrNameLst>
                                          <p:attrName>style.visibility</p:attrName>
                                        </p:attrNameLst>
                                      </p:cBhvr>
                                      <p:to>
                                        <p:strVal val="visible"/>
                                      </p:to>
                                    </p:set>
                                    <p:animEffect transition="in" filter="fade">
                                      <p:cBhvr>
                                        <p:cTn id="32" dur="2000"/>
                                        <p:tgtEl>
                                          <p:spTgt spid="819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195">
                                            <p:txEl>
                                              <p:pRg st="6" end="6"/>
                                            </p:txEl>
                                          </p:spTgt>
                                        </p:tgtEl>
                                        <p:attrNameLst>
                                          <p:attrName>style.visibility</p:attrName>
                                        </p:attrNameLst>
                                      </p:cBhvr>
                                      <p:to>
                                        <p:strVal val="visible"/>
                                      </p:to>
                                    </p:set>
                                    <p:animEffect transition="in" filter="fade">
                                      <p:cBhvr>
                                        <p:cTn id="37" dur="2000"/>
                                        <p:tgtEl>
                                          <p:spTgt spid="81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Content Placeholder 2"/>
          <p:cNvSpPr>
            <a:spLocks noGrp="1"/>
          </p:cNvSpPr>
          <p:nvPr>
            <p:ph sz="quarter" idx="1"/>
          </p:nvPr>
        </p:nvSpPr>
        <p:spPr/>
        <p:txBody>
          <a:bodyPr/>
          <a:lstStyle/>
          <a:p>
            <a:r>
              <a:rPr lang="en-US" dirty="0"/>
              <a:t>Show that the following argument form is valid:</a:t>
            </a:r>
          </a:p>
          <a:p>
            <a:endParaRPr lang="en-US" dirty="0"/>
          </a:p>
          <a:p>
            <a:pPr>
              <a:buNone/>
            </a:pPr>
            <a:r>
              <a:rPr lang="en-US" dirty="0"/>
              <a:t>				p </a:t>
            </a:r>
            <a:r>
              <a:rPr lang="en-US" dirty="0">
                <a:sym typeface="Symbol"/>
              </a:rPr>
              <a:t> </a:t>
            </a:r>
            <a:r>
              <a:rPr lang="en-US" dirty="0"/>
              <a:t>q	</a:t>
            </a:r>
            <a:r>
              <a:rPr lang="en-US" b="1" dirty="0">
                <a:solidFill>
                  <a:srgbClr val="C00000"/>
                </a:solidFill>
              </a:rPr>
              <a:t>premise</a:t>
            </a:r>
          </a:p>
          <a:p>
            <a:endParaRPr lang="en-US" dirty="0"/>
          </a:p>
          <a:p>
            <a:pPr>
              <a:buNone/>
            </a:pPr>
            <a:r>
              <a:rPr lang="en-US" dirty="0"/>
              <a:t>				p		</a:t>
            </a:r>
            <a:r>
              <a:rPr lang="en-US" b="1" dirty="0">
                <a:solidFill>
                  <a:srgbClr val="C00000"/>
                </a:solidFill>
              </a:rPr>
              <a:t>premise</a:t>
            </a:r>
          </a:p>
          <a:p>
            <a:endParaRPr lang="en-US" dirty="0"/>
          </a:p>
          <a:p>
            <a:pPr>
              <a:buNone/>
            </a:pPr>
            <a:r>
              <a:rPr lang="en-US" dirty="0"/>
              <a:t>			          q		</a:t>
            </a:r>
            <a:r>
              <a:rPr lang="en-US" b="1" dirty="0">
                <a:solidFill>
                  <a:srgbClr val="C00000"/>
                </a:solidFill>
              </a:rPr>
              <a:t>conclusion</a:t>
            </a:r>
          </a:p>
          <a:p>
            <a:endParaRPr lang="en-US" dirty="0"/>
          </a:p>
          <a:p>
            <a:endParaRPr lang="en-US" dirty="0"/>
          </a:p>
        </p:txBody>
      </p:sp>
      <p:graphicFrame>
        <p:nvGraphicFramePr>
          <p:cNvPr id="1028" name="Object 4"/>
          <p:cNvGraphicFramePr>
            <a:graphicFrameLocks noChangeAspect="1"/>
          </p:cNvGraphicFramePr>
          <p:nvPr>
            <p:extLst>
              <p:ext uri="{D42A27DB-BD31-4B8C-83A1-F6EECF244321}">
                <p14:modId xmlns:p14="http://schemas.microsoft.com/office/powerpoint/2010/main" val="4023125491"/>
              </p:ext>
            </p:extLst>
          </p:nvPr>
        </p:nvGraphicFramePr>
        <p:xfrm>
          <a:off x="3406588" y="5069541"/>
          <a:ext cx="457200" cy="381000"/>
        </p:xfrm>
        <a:graphic>
          <a:graphicData uri="http://schemas.openxmlformats.org/presentationml/2006/ole">
            <mc:AlternateContent xmlns:mc="http://schemas.openxmlformats.org/markup-compatibility/2006">
              <mc:Choice xmlns:v="urn:schemas-microsoft-com:vml" Requires="v">
                <p:oleObj spid="_x0000_s2058" name="Equation" r:id="rId3" imgW="139680" imgH="126720" progId="Equation.3">
                  <p:embed/>
                </p:oleObj>
              </mc:Choice>
              <mc:Fallback>
                <p:oleObj name="Equation" r:id="rId3" imgW="139680" imgH="126720" progId="Equation.3">
                  <p:embed/>
                  <p:pic>
                    <p:nvPicPr>
                      <p:cNvPr id="10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6588" y="5069541"/>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Group 2"/>
          <p:cNvGraphicFramePr>
            <a:graphicFrameLocks noGrp="1"/>
          </p:cNvGraphicFramePr>
          <p:nvPr/>
        </p:nvGraphicFramePr>
        <p:xfrm>
          <a:off x="3810000" y="2514600"/>
          <a:ext cx="3276600" cy="2448912"/>
        </p:xfrm>
        <a:graphic>
          <a:graphicData uri="http://schemas.openxmlformats.org/drawingml/2006/table">
            <a:tbl>
              <a:tblPr/>
              <a:tblGrid>
                <a:gridCol w="436880">
                  <a:extLst>
                    <a:ext uri="{9D8B030D-6E8A-4147-A177-3AD203B41FA5}">
                      <a16:colId xmlns:a16="http://schemas.microsoft.com/office/drawing/2014/main" val="20000"/>
                    </a:ext>
                  </a:extLst>
                </a:gridCol>
                <a:gridCol w="436880">
                  <a:extLst>
                    <a:ext uri="{9D8B030D-6E8A-4147-A177-3AD203B41FA5}">
                      <a16:colId xmlns:a16="http://schemas.microsoft.com/office/drawing/2014/main" val="20001"/>
                    </a:ext>
                  </a:extLst>
                </a:gridCol>
                <a:gridCol w="1092200">
                  <a:extLst>
                    <a:ext uri="{9D8B030D-6E8A-4147-A177-3AD203B41FA5}">
                      <a16:colId xmlns:a16="http://schemas.microsoft.com/office/drawing/2014/main" val="20002"/>
                    </a:ext>
                  </a:extLst>
                </a:gridCol>
                <a:gridCol w="655320">
                  <a:extLst>
                    <a:ext uri="{9D8B030D-6E8A-4147-A177-3AD203B41FA5}">
                      <a16:colId xmlns:a16="http://schemas.microsoft.com/office/drawing/2014/main" val="20003"/>
                    </a:ext>
                  </a:extLst>
                </a:gridCol>
                <a:gridCol w="655320">
                  <a:extLst>
                    <a:ext uri="{9D8B030D-6E8A-4147-A177-3AD203B41FA5}">
                      <a16:colId xmlns:a16="http://schemas.microsoft.com/office/drawing/2014/main" val="20004"/>
                    </a:ext>
                  </a:extLst>
                </a:gridCol>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59828">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6" name="Rectangle 45"/>
          <p:cNvSpPr/>
          <p:nvPr/>
        </p:nvSpPr>
        <p:spPr>
          <a:xfrm>
            <a:off x="4113621" y="1143001"/>
            <a:ext cx="1319591" cy="369332"/>
          </a:xfrm>
          <a:prstGeom prst="rect">
            <a:avLst/>
          </a:prstGeom>
        </p:spPr>
        <p:txBody>
          <a:bodyPr wrap="square">
            <a:spAutoFit/>
          </a:bodyPr>
          <a:lstStyle/>
          <a:p>
            <a:r>
              <a:rPr lang="en-US" dirty="0"/>
              <a:t>premises</a:t>
            </a:r>
          </a:p>
        </p:txBody>
      </p:sp>
      <p:cxnSp>
        <p:nvCxnSpPr>
          <p:cNvPr id="48" name="Straight Arrow Connector 47"/>
          <p:cNvCxnSpPr/>
          <p:nvPr/>
        </p:nvCxnSpPr>
        <p:spPr>
          <a:xfrm rot="5400000">
            <a:off x="4915694" y="2018506"/>
            <a:ext cx="9906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cxnSp>
        <p:nvCxnSpPr>
          <p:cNvPr id="50" name="Straight Connector 49"/>
          <p:cNvCxnSpPr/>
          <p:nvPr/>
        </p:nvCxnSpPr>
        <p:spPr>
          <a:xfrm>
            <a:off x="5562600" y="1371600"/>
            <a:ext cx="533400" cy="1588"/>
          </a:xfrm>
          <a:prstGeom prst="line">
            <a:avLst/>
          </a:prstGeom>
          <a:ln w="9525"/>
        </p:spPr>
        <p:style>
          <a:lnRef idx="2">
            <a:schemeClr val="dk1"/>
          </a:lnRef>
          <a:fillRef idx="0">
            <a:schemeClr val="dk1"/>
          </a:fillRef>
          <a:effectRef idx="1">
            <a:schemeClr val="dk1"/>
          </a:effectRef>
          <a:fontRef idx="minor">
            <a:schemeClr val="tx1"/>
          </a:fontRef>
        </p:style>
      </p:cxnSp>
      <p:cxnSp>
        <p:nvCxnSpPr>
          <p:cNvPr id="52" name="Straight Arrow Connector 51"/>
          <p:cNvCxnSpPr/>
          <p:nvPr/>
        </p:nvCxnSpPr>
        <p:spPr>
          <a:xfrm rot="5400000">
            <a:off x="5563394" y="1904206"/>
            <a:ext cx="10668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
        <p:nvSpPr>
          <p:cNvPr id="54" name="Rectangle 53"/>
          <p:cNvSpPr/>
          <p:nvPr/>
        </p:nvSpPr>
        <p:spPr>
          <a:xfrm>
            <a:off x="6248400" y="1066800"/>
            <a:ext cx="1319592" cy="369332"/>
          </a:xfrm>
          <a:prstGeom prst="rect">
            <a:avLst/>
          </a:prstGeom>
        </p:spPr>
        <p:txBody>
          <a:bodyPr wrap="none">
            <a:spAutoFit/>
          </a:bodyPr>
          <a:lstStyle/>
          <a:p>
            <a:r>
              <a:rPr lang="en-US" dirty="0"/>
              <a:t>conclusion</a:t>
            </a:r>
          </a:p>
        </p:txBody>
      </p:sp>
      <p:cxnSp>
        <p:nvCxnSpPr>
          <p:cNvPr id="56" name="Straight Arrow Connector 55"/>
          <p:cNvCxnSpPr/>
          <p:nvPr/>
        </p:nvCxnSpPr>
        <p:spPr>
          <a:xfrm rot="5400000">
            <a:off x="6325394" y="1980406"/>
            <a:ext cx="1066800" cy="1588"/>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57" name="Rectangle 56"/>
          <p:cNvSpPr/>
          <p:nvPr/>
        </p:nvSpPr>
        <p:spPr>
          <a:xfrm>
            <a:off x="2667000" y="5029200"/>
            <a:ext cx="6248400" cy="1371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Font typeface="Arial" pitchFamily="34" charset="0"/>
              <a:buChar char="•"/>
            </a:pPr>
            <a:r>
              <a:rPr lang="en-US" dirty="0">
                <a:solidFill>
                  <a:schemeClr val="tx1"/>
                </a:solidFill>
              </a:rPr>
              <a:t> To validity we will not analyze the whole table.</a:t>
            </a:r>
          </a:p>
          <a:p>
            <a:pPr>
              <a:buFont typeface="Arial" pitchFamily="34" charset="0"/>
              <a:buChar char="•"/>
            </a:pPr>
            <a:r>
              <a:rPr lang="en-US" dirty="0">
                <a:solidFill>
                  <a:schemeClr val="tx1"/>
                </a:solidFill>
              </a:rPr>
              <a:t> We will analyze those rows where in premise we have T</a:t>
            </a:r>
          </a:p>
          <a:p>
            <a:r>
              <a:rPr lang="en-US" dirty="0">
                <a:solidFill>
                  <a:schemeClr val="tx1"/>
                </a:solidFill>
              </a:rPr>
              <a:t>  value, and if corresponding conclusion also have T value,  </a:t>
            </a:r>
          </a:p>
          <a:p>
            <a:r>
              <a:rPr lang="en-US" dirty="0">
                <a:solidFill>
                  <a:schemeClr val="tx1"/>
                </a:solidFill>
              </a:rPr>
              <a:t>  then we say it’s a valid argument.</a:t>
            </a:r>
          </a:p>
          <a:p>
            <a:pPr algn="ctr"/>
            <a:endParaRPr lang="en-US" dirty="0"/>
          </a:p>
        </p:txBody>
      </p:sp>
      <p:sp>
        <p:nvSpPr>
          <p:cNvPr id="61" name="Rectangle 60"/>
          <p:cNvSpPr/>
          <p:nvPr/>
        </p:nvSpPr>
        <p:spPr>
          <a:xfrm>
            <a:off x="8305801" y="3182256"/>
            <a:ext cx="1318631" cy="369332"/>
          </a:xfrm>
          <a:prstGeom prst="rect">
            <a:avLst/>
          </a:prstGeom>
        </p:spPr>
        <p:txBody>
          <a:bodyPr wrap="none">
            <a:spAutoFit/>
          </a:bodyPr>
          <a:lstStyle/>
          <a:p>
            <a:r>
              <a:rPr lang="en-US" dirty="0"/>
              <a:t>critical row</a:t>
            </a:r>
          </a:p>
        </p:txBody>
      </p:sp>
      <p:cxnSp>
        <p:nvCxnSpPr>
          <p:cNvPr id="63" name="Straight Arrow Connector 62"/>
          <p:cNvCxnSpPr/>
          <p:nvPr/>
        </p:nvCxnSpPr>
        <p:spPr>
          <a:xfrm rot="10800000">
            <a:off x="7086600" y="3352800"/>
            <a:ext cx="1143000" cy="1588"/>
          </a:xfrm>
          <a:prstGeom prst="straightConnector1">
            <a:avLst/>
          </a:prstGeom>
          <a:ln w="9525">
            <a:tailEnd type="arrow"/>
          </a:ln>
        </p:spPr>
        <p:style>
          <a:lnRef idx="2">
            <a:schemeClr val="dk1"/>
          </a:lnRef>
          <a:fillRef idx="0">
            <a:schemeClr val="dk1"/>
          </a:fillRef>
          <a:effectRef idx="1">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2000"/>
                                        <p:tgtEl>
                                          <p:spTgt spid="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20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fade">
                                      <p:cBhvr>
                                        <p:cTn id="13" dur="2000"/>
                                        <p:tgtEl>
                                          <p:spTgt spid="48"/>
                                        </p:tgtEl>
                                      </p:cBhvr>
                                    </p:animEffect>
                                  </p:childTnLst>
                                </p:cTn>
                              </p:par>
                              <p:par>
                                <p:cTn id="14" presetID="10" presetClass="entr" presetSubtype="0" fill="hold" nodeType="withEffect">
                                  <p:stCondLst>
                                    <p:cond delay="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2000"/>
                                        <p:tgtEl>
                                          <p:spTgt spid="5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2000"/>
                                        <p:tgtEl>
                                          <p:spTgt spid="54"/>
                                        </p:tgtEl>
                                      </p:cBhvr>
                                    </p:animEffect>
                                  </p:childTnLst>
                                </p:cTn>
                              </p:par>
                              <p:par>
                                <p:cTn id="20" presetID="10" presetClass="entr" presetSubtype="0" fill="hold"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2000"/>
                                        <p:tgtEl>
                                          <p:spTgt spid="56"/>
                                        </p:tgtEl>
                                      </p:cBhvr>
                                    </p:animEffect>
                                  </p:childTnLst>
                                </p:cTn>
                              </p:par>
                              <p:par>
                                <p:cTn id="23" presetID="10" presetClass="entr" presetSubtype="0" fill="hold" nodeType="withEffect">
                                  <p:stCondLst>
                                    <p:cond delay="0"/>
                                  </p:stCondLst>
                                  <p:childTnLst>
                                    <p:set>
                                      <p:cBhvr>
                                        <p:cTn id="24" dur="1" fill="hold">
                                          <p:stCondLst>
                                            <p:cond delay="0"/>
                                          </p:stCondLst>
                                        </p:cTn>
                                        <p:tgtEl>
                                          <p:spTgt spid="63"/>
                                        </p:tgtEl>
                                        <p:attrNameLst>
                                          <p:attrName>style.visibility</p:attrName>
                                        </p:attrNameLst>
                                      </p:cBhvr>
                                      <p:to>
                                        <p:strVal val="visible"/>
                                      </p:to>
                                    </p:set>
                                    <p:animEffect transition="in" filter="fade">
                                      <p:cBhvr>
                                        <p:cTn id="25" dur="2000"/>
                                        <p:tgtEl>
                                          <p:spTgt spid="63"/>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1"/>
                                        </p:tgtEl>
                                        <p:attrNameLst>
                                          <p:attrName>style.visibility</p:attrName>
                                        </p:attrNameLst>
                                      </p:cBhvr>
                                      <p:to>
                                        <p:strVal val="visible"/>
                                      </p:to>
                                    </p:set>
                                    <p:animEffect transition="in" filter="fade">
                                      <p:cBhvr>
                                        <p:cTn id="28" dur="2000"/>
                                        <p:tgtEl>
                                          <p:spTgt spid="6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54" grpId="0"/>
      <p:bldP spid="57" grpId="0"/>
      <p:bldP spid="6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INVALID ARGUMENT</a:t>
            </a:r>
          </a:p>
        </p:txBody>
      </p:sp>
      <p:sp>
        <p:nvSpPr>
          <p:cNvPr id="3" name="Content Placeholder 2"/>
          <p:cNvSpPr>
            <a:spLocks noGrp="1"/>
          </p:cNvSpPr>
          <p:nvPr>
            <p:ph sz="quarter" idx="1"/>
          </p:nvPr>
        </p:nvSpPr>
        <p:spPr/>
        <p:txBody>
          <a:bodyPr/>
          <a:lstStyle/>
          <a:p>
            <a:r>
              <a:rPr lang="en-US" dirty="0"/>
              <a:t>Show that the following argument form is invalid:</a:t>
            </a:r>
          </a:p>
          <a:p>
            <a:endParaRPr lang="en-US" dirty="0"/>
          </a:p>
          <a:p>
            <a:pPr>
              <a:buNone/>
            </a:pPr>
            <a:r>
              <a:rPr lang="en-US" dirty="0"/>
              <a:t>				p </a:t>
            </a:r>
            <a:r>
              <a:rPr lang="en-US" dirty="0">
                <a:sym typeface="Symbol"/>
              </a:rPr>
              <a:t> </a:t>
            </a:r>
            <a:r>
              <a:rPr lang="en-US" dirty="0"/>
              <a:t>q	</a:t>
            </a:r>
            <a:r>
              <a:rPr lang="en-US" dirty="0">
                <a:solidFill>
                  <a:srgbClr val="C00000"/>
                </a:solidFill>
              </a:rPr>
              <a:t>premise</a:t>
            </a:r>
          </a:p>
          <a:p>
            <a:endParaRPr lang="en-US" dirty="0"/>
          </a:p>
          <a:p>
            <a:pPr>
              <a:buNone/>
            </a:pPr>
            <a:r>
              <a:rPr lang="en-US" dirty="0"/>
              <a:t>				q		</a:t>
            </a:r>
            <a:r>
              <a:rPr lang="en-US" dirty="0">
                <a:solidFill>
                  <a:srgbClr val="C00000"/>
                </a:solidFill>
              </a:rPr>
              <a:t>premise</a:t>
            </a:r>
          </a:p>
          <a:p>
            <a:endParaRPr lang="en-US" dirty="0"/>
          </a:p>
          <a:p>
            <a:pPr>
              <a:buNone/>
            </a:pPr>
            <a:r>
              <a:rPr lang="en-US" dirty="0"/>
              <a:t>				 p		</a:t>
            </a:r>
            <a:r>
              <a:rPr lang="en-US" dirty="0">
                <a:solidFill>
                  <a:srgbClr val="C00000"/>
                </a:solidFill>
              </a:rPr>
              <a:t>conclusion</a:t>
            </a:r>
          </a:p>
        </p:txBody>
      </p:sp>
      <p:graphicFrame>
        <p:nvGraphicFramePr>
          <p:cNvPr id="24580" name="Object 4"/>
          <p:cNvGraphicFramePr>
            <a:graphicFrameLocks noChangeAspect="1"/>
          </p:cNvGraphicFramePr>
          <p:nvPr>
            <p:extLst>
              <p:ext uri="{D42A27DB-BD31-4B8C-83A1-F6EECF244321}">
                <p14:modId xmlns:p14="http://schemas.microsoft.com/office/powerpoint/2010/main" val="2048340311"/>
              </p:ext>
            </p:extLst>
          </p:nvPr>
        </p:nvGraphicFramePr>
        <p:xfrm>
          <a:off x="3411070" y="5082988"/>
          <a:ext cx="457200" cy="381000"/>
        </p:xfrm>
        <a:graphic>
          <a:graphicData uri="http://schemas.openxmlformats.org/presentationml/2006/ole">
            <mc:AlternateContent xmlns:mc="http://schemas.openxmlformats.org/markup-compatibility/2006">
              <mc:Choice xmlns:v="urn:schemas-microsoft-com:vml" Requires="v">
                <p:oleObj spid="_x0000_s3083" name="Equation" r:id="rId3" imgW="139680" imgH="126720" progId="Equation.3">
                  <p:embed/>
                </p:oleObj>
              </mc:Choice>
              <mc:Fallback>
                <p:oleObj name="Equation" r:id="rId3" imgW="139680" imgH="126720" progId="Equation.3">
                  <p:embed/>
                  <p:pic>
                    <p:nvPicPr>
                      <p:cNvPr id="2458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1070" y="5082988"/>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2000"/>
                                        <p:tgtEl>
                                          <p:spTgt spid="3">
                                            <p:txEl>
                                              <p:pRg st="2" end="2"/>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2000"/>
                                        <p:tgtEl>
                                          <p:spTgt spid="3">
                                            <p:txEl>
                                              <p:pRg st="4" end="4"/>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2000"/>
                                        <p:tgtEl>
                                          <p:spTgt spid="3">
                                            <p:txEl>
                                              <p:pRg st="6" end="6"/>
                                            </p:txEl>
                                          </p:spTgt>
                                        </p:tgtEl>
                                      </p:cBhvr>
                                    </p:animEffect>
                                  </p:childTnLst>
                                </p:cTn>
                              </p:par>
                              <p:par>
                                <p:cTn id="17" presetID="1" presetClass="entr" presetSubtype="0" fill="hold" nodeType="withEffect">
                                  <p:stCondLst>
                                    <p:cond delay="0"/>
                                  </p:stCondLst>
                                  <p:childTnLst>
                                    <p:set>
                                      <p:cBhvr>
                                        <p:cTn id="18" dur="1" fill="hold">
                                          <p:stCondLst>
                                            <p:cond delay="0"/>
                                          </p:stCondLst>
                                        </p:cTn>
                                        <p:tgtEl>
                                          <p:spTgt spid="24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Group 2"/>
          <p:cNvGraphicFramePr>
            <a:graphicFrameLocks noGrp="1"/>
          </p:cNvGraphicFramePr>
          <p:nvPr/>
        </p:nvGraphicFramePr>
        <p:xfrm>
          <a:off x="3810000" y="2590800"/>
          <a:ext cx="3505201" cy="2438400"/>
        </p:xfrm>
        <a:graphic>
          <a:graphicData uri="http://schemas.openxmlformats.org/drawingml/2006/table">
            <a:tbl>
              <a:tblPr/>
              <a:tblGrid>
                <a:gridCol w="678426">
                  <a:extLst>
                    <a:ext uri="{9D8B030D-6E8A-4147-A177-3AD203B41FA5}">
                      <a16:colId xmlns:a16="http://schemas.microsoft.com/office/drawing/2014/main" val="20000"/>
                    </a:ext>
                  </a:extLst>
                </a:gridCol>
                <a:gridCol w="452284">
                  <a:extLst>
                    <a:ext uri="{9D8B030D-6E8A-4147-A177-3AD203B41FA5}">
                      <a16:colId xmlns:a16="http://schemas.microsoft.com/office/drawing/2014/main" val="20001"/>
                    </a:ext>
                  </a:extLst>
                </a:gridCol>
                <a:gridCol w="1017639">
                  <a:extLst>
                    <a:ext uri="{9D8B030D-6E8A-4147-A177-3AD203B41FA5}">
                      <a16:colId xmlns:a16="http://schemas.microsoft.com/office/drawing/2014/main" val="20002"/>
                    </a:ext>
                  </a:extLst>
                </a:gridCol>
                <a:gridCol w="791497">
                  <a:extLst>
                    <a:ext uri="{9D8B030D-6E8A-4147-A177-3AD203B41FA5}">
                      <a16:colId xmlns:a16="http://schemas.microsoft.com/office/drawing/2014/main" val="20003"/>
                    </a:ext>
                  </a:extLst>
                </a:gridCol>
                <a:gridCol w="565355">
                  <a:extLst>
                    <a:ext uri="{9D8B030D-6E8A-4147-A177-3AD203B41FA5}">
                      <a16:colId xmlns:a16="http://schemas.microsoft.com/office/drawing/2014/main" val="20004"/>
                    </a:ext>
                  </a:extLst>
                </a:gridCol>
              </a:tblGrid>
              <a:tr h="60960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1"/>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3"/>
                  </a:ext>
                </a:extLst>
              </a:tr>
              <a:tr h="433552">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43" name="Rectangle 42"/>
          <p:cNvSpPr/>
          <p:nvPr/>
        </p:nvSpPr>
        <p:spPr>
          <a:xfrm>
            <a:off x="5180421" y="1219201"/>
            <a:ext cx="1319591" cy="369332"/>
          </a:xfrm>
          <a:prstGeom prst="rect">
            <a:avLst/>
          </a:prstGeom>
        </p:spPr>
        <p:txBody>
          <a:bodyPr wrap="square">
            <a:spAutoFit/>
          </a:bodyPr>
          <a:lstStyle/>
          <a:p>
            <a:r>
              <a:rPr lang="en-US" dirty="0"/>
              <a:t>premises</a:t>
            </a:r>
          </a:p>
        </p:txBody>
      </p:sp>
      <p:sp>
        <p:nvSpPr>
          <p:cNvPr id="44" name="Rectangle 43"/>
          <p:cNvSpPr/>
          <p:nvPr/>
        </p:nvSpPr>
        <p:spPr>
          <a:xfrm>
            <a:off x="6705600" y="1219200"/>
            <a:ext cx="1319592" cy="369332"/>
          </a:xfrm>
          <a:prstGeom prst="rect">
            <a:avLst/>
          </a:prstGeom>
        </p:spPr>
        <p:txBody>
          <a:bodyPr wrap="none">
            <a:spAutoFit/>
          </a:bodyPr>
          <a:lstStyle/>
          <a:p>
            <a:r>
              <a:rPr lang="en-US" dirty="0"/>
              <a:t>conclusion</a:t>
            </a:r>
          </a:p>
        </p:txBody>
      </p:sp>
      <p:cxnSp>
        <p:nvCxnSpPr>
          <p:cNvPr id="46" name="Straight Arrow Connector 45"/>
          <p:cNvCxnSpPr>
            <a:cxnSpLocks/>
            <a:stCxn id="43" idx="2"/>
          </p:cNvCxnSpPr>
          <p:nvPr/>
        </p:nvCxnSpPr>
        <p:spPr>
          <a:xfrm flipH="1">
            <a:off x="5562601" y="1588533"/>
            <a:ext cx="277616" cy="9260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a:cxnSpLocks/>
            <a:stCxn id="43" idx="2"/>
          </p:cNvCxnSpPr>
          <p:nvPr/>
        </p:nvCxnSpPr>
        <p:spPr>
          <a:xfrm>
            <a:off x="5840217" y="1588533"/>
            <a:ext cx="560583" cy="92606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5400000">
            <a:off x="6743700" y="20193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8686801" y="3581400"/>
            <a:ext cx="1318631" cy="369332"/>
          </a:xfrm>
          <a:prstGeom prst="rect">
            <a:avLst/>
          </a:prstGeom>
        </p:spPr>
        <p:txBody>
          <a:bodyPr wrap="none">
            <a:spAutoFit/>
          </a:bodyPr>
          <a:lstStyle/>
          <a:p>
            <a:r>
              <a:rPr lang="en-US" dirty="0"/>
              <a:t>critical row</a:t>
            </a:r>
          </a:p>
        </p:txBody>
      </p:sp>
      <p:cxnSp>
        <p:nvCxnSpPr>
          <p:cNvPr id="54" name="Straight Arrow Connector 53"/>
          <p:cNvCxnSpPr>
            <a:stCxn id="52" idx="1"/>
          </p:cNvCxnSpPr>
          <p:nvPr/>
        </p:nvCxnSpPr>
        <p:spPr>
          <a:xfrm flipH="1" flipV="1">
            <a:off x="7315200" y="3352800"/>
            <a:ext cx="1371600" cy="4132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52" idx="1"/>
          </p:cNvCxnSpPr>
          <p:nvPr/>
        </p:nvCxnSpPr>
        <p:spPr>
          <a:xfrm flipH="1">
            <a:off x="7315200" y="3766066"/>
            <a:ext cx="1371600" cy="5773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7" name="Rectangle 56"/>
          <p:cNvSpPr/>
          <p:nvPr/>
        </p:nvSpPr>
        <p:spPr>
          <a:xfrm>
            <a:off x="2971800" y="4804236"/>
            <a:ext cx="5562600" cy="990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This argument is not valid.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602"/>
                                        </p:tgtEl>
                                        <p:attrNameLst>
                                          <p:attrName>style.visibility</p:attrName>
                                        </p:attrNameLst>
                                      </p:cBhvr>
                                      <p:to>
                                        <p:strVal val="visible"/>
                                      </p:to>
                                    </p:set>
                                    <p:animEffect transition="in" filter="fade">
                                      <p:cBhvr>
                                        <p:cTn id="7" dur="2000"/>
                                        <p:tgtEl>
                                          <p:spTgt spid="2560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fade">
                                      <p:cBhvr>
                                        <p:cTn id="12" dur="2000"/>
                                        <p:tgtEl>
                                          <p:spTgt spid="46"/>
                                        </p:tgtEl>
                                      </p:cBhvr>
                                    </p:animEffect>
                                  </p:childTnLst>
                                </p:cTn>
                              </p:par>
                              <p:par>
                                <p:cTn id="13" presetID="10" presetClass="entr" presetSubtype="0" fill="hold" nodeType="with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fade">
                                      <p:cBhvr>
                                        <p:cTn id="15" dur="2000"/>
                                        <p:tgtEl>
                                          <p:spTgt spid="4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20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4"/>
                                        </p:tgtEl>
                                        <p:attrNameLst>
                                          <p:attrName>style.visibility</p:attrName>
                                        </p:attrNameLst>
                                      </p:cBhvr>
                                      <p:to>
                                        <p:strVal val="visible"/>
                                      </p:to>
                                    </p:set>
                                    <p:animEffect transition="in" filter="fade">
                                      <p:cBhvr>
                                        <p:cTn id="21" dur="2000"/>
                                        <p:tgtEl>
                                          <p:spTgt spid="44"/>
                                        </p:tgtEl>
                                      </p:cBhvr>
                                    </p:animEffect>
                                  </p:childTnLst>
                                </p:cTn>
                              </p:par>
                              <p:par>
                                <p:cTn id="22" presetID="10" presetClass="entr" presetSubtype="0" fill="hold" nodeType="withEffect">
                                  <p:stCondLst>
                                    <p:cond delay="0"/>
                                  </p:stCondLst>
                                  <p:childTnLst>
                                    <p:set>
                                      <p:cBhvr>
                                        <p:cTn id="23" dur="1" fill="hold">
                                          <p:stCondLst>
                                            <p:cond delay="0"/>
                                          </p:stCondLst>
                                        </p:cTn>
                                        <p:tgtEl>
                                          <p:spTgt spid="50"/>
                                        </p:tgtEl>
                                        <p:attrNameLst>
                                          <p:attrName>style.visibility</p:attrName>
                                        </p:attrNameLst>
                                      </p:cBhvr>
                                      <p:to>
                                        <p:strVal val="visible"/>
                                      </p:to>
                                    </p:set>
                                    <p:animEffect transition="in" filter="fade">
                                      <p:cBhvr>
                                        <p:cTn id="24" dur="2000"/>
                                        <p:tgtEl>
                                          <p:spTgt spid="50"/>
                                        </p:tgtEl>
                                      </p:cBhvr>
                                    </p:animEffect>
                                  </p:childTnLst>
                                </p:cTn>
                              </p:par>
                              <p:par>
                                <p:cTn id="25" presetID="10" presetClass="entr" presetSubtype="0" fill="hold" nodeType="with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fade">
                                      <p:cBhvr>
                                        <p:cTn id="27" dur="2000"/>
                                        <p:tgtEl>
                                          <p:spTgt spid="54"/>
                                        </p:tgtEl>
                                      </p:cBhvr>
                                    </p:animEffect>
                                  </p:childTnLst>
                                </p:cTn>
                              </p:par>
                              <p:par>
                                <p:cTn id="28" presetID="10" presetClass="entr" presetSubtype="0" fill="hold" nodeType="with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fade">
                                      <p:cBhvr>
                                        <p:cTn id="30" dur="2000"/>
                                        <p:tgtEl>
                                          <p:spTgt spid="5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animEffect transition="in" filter="fade">
                                      <p:cBhvr>
                                        <p:cTn id="33" dur="2000"/>
                                        <p:tgtEl>
                                          <p:spTgt spid="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7"/>
                                        </p:tgtEl>
                                        <p:attrNameLst>
                                          <p:attrName>style.visibility</p:attrName>
                                        </p:attrNameLst>
                                      </p:cBhvr>
                                      <p:to>
                                        <p:strVal val="visible"/>
                                      </p:to>
                                    </p:set>
                                    <p:animEffect transition="in" filter="fade">
                                      <p:cBhvr>
                                        <p:cTn id="36" dur="20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52" grpId="0"/>
      <p:bldP spid="5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u="sng" dirty="0">
                <a:solidFill>
                  <a:srgbClr val="C00000"/>
                </a:solidFill>
              </a:rPr>
              <a:t>EXERCISE</a:t>
            </a:r>
            <a:endParaRPr lang="en-US" dirty="0">
              <a:solidFill>
                <a:srgbClr val="C00000"/>
              </a:solidFill>
            </a:endParaRPr>
          </a:p>
        </p:txBody>
      </p:sp>
      <p:sp>
        <p:nvSpPr>
          <p:cNvPr id="3" name="Content Placeholder 2"/>
          <p:cNvSpPr>
            <a:spLocks noGrp="1"/>
          </p:cNvSpPr>
          <p:nvPr>
            <p:ph sz="quarter" idx="1"/>
          </p:nvPr>
        </p:nvSpPr>
        <p:spPr/>
        <p:txBody>
          <a:bodyPr>
            <a:normAutofit lnSpcReduction="10000"/>
          </a:bodyPr>
          <a:lstStyle/>
          <a:p>
            <a:r>
              <a:rPr lang="en-US" dirty="0"/>
              <a:t>Use truth table to determine the argument form </a:t>
            </a:r>
          </a:p>
          <a:p>
            <a:endParaRPr lang="en-US" dirty="0"/>
          </a:p>
          <a:p>
            <a:pPr>
              <a:buNone/>
            </a:pPr>
            <a:r>
              <a:rPr lang="en-US" b="1" dirty="0"/>
              <a:t>	                 p </a:t>
            </a:r>
            <a:r>
              <a:rPr lang="en-US" b="1" dirty="0">
                <a:sym typeface="Symbol"/>
              </a:rPr>
              <a:t></a:t>
            </a:r>
            <a:r>
              <a:rPr lang="en-US" b="1" dirty="0"/>
              <a:t> q		</a:t>
            </a:r>
            <a:r>
              <a:rPr lang="en-US" dirty="0">
                <a:solidFill>
                  <a:srgbClr val="C00000"/>
                </a:solidFill>
              </a:rPr>
              <a:t>premise</a:t>
            </a:r>
          </a:p>
          <a:p>
            <a:pPr>
              <a:buNone/>
            </a:pPr>
            <a:r>
              <a:rPr lang="en-US" b="1" dirty="0"/>
              <a:t>			p </a:t>
            </a:r>
            <a:r>
              <a:rPr lang="en-US" b="1" dirty="0">
                <a:sym typeface="Symbol"/>
              </a:rPr>
              <a:t></a:t>
            </a:r>
            <a:r>
              <a:rPr lang="en-US" b="1" dirty="0"/>
              <a:t> ~q	</a:t>
            </a:r>
            <a:r>
              <a:rPr lang="en-US" dirty="0">
                <a:solidFill>
                  <a:srgbClr val="C00000"/>
                </a:solidFill>
              </a:rPr>
              <a:t>premise</a:t>
            </a:r>
          </a:p>
          <a:p>
            <a:pPr>
              <a:buNone/>
            </a:pPr>
            <a:r>
              <a:rPr lang="en-US" b="1" dirty="0"/>
              <a:t>			p </a:t>
            </a:r>
            <a:r>
              <a:rPr lang="en-US" b="1" dirty="0">
                <a:sym typeface="Symbol"/>
              </a:rPr>
              <a:t></a:t>
            </a:r>
            <a:r>
              <a:rPr lang="en-US" b="1" dirty="0"/>
              <a:t> r		</a:t>
            </a:r>
            <a:r>
              <a:rPr lang="en-US" dirty="0">
                <a:solidFill>
                  <a:srgbClr val="C00000"/>
                </a:solidFill>
              </a:rPr>
              <a:t>premise</a:t>
            </a:r>
          </a:p>
          <a:p>
            <a:pPr>
              <a:buNone/>
            </a:pPr>
            <a:r>
              <a:rPr lang="en-US" b="1" dirty="0"/>
              <a:t>	                        r		</a:t>
            </a:r>
            <a:r>
              <a:rPr lang="en-US" dirty="0">
                <a:solidFill>
                  <a:srgbClr val="C00000"/>
                </a:solidFill>
              </a:rPr>
              <a:t>conclusion</a:t>
            </a:r>
            <a:r>
              <a:rPr lang="en-US" b="1" dirty="0">
                <a:solidFill>
                  <a:srgbClr val="C00000"/>
                </a:solidFill>
              </a:rPr>
              <a:t> </a:t>
            </a:r>
          </a:p>
          <a:p>
            <a:endParaRPr lang="en-US" b="1" dirty="0"/>
          </a:p>
          <a:p>
            <a:r>
              <a:rPr lang="en-US" dirty="0"/>
              <a:t>Is valid or invalid?</a:t>
            </a:r>
          </a:p>
          <a:p>
            <a:endParaRPr lang="en-US" dirty="0"/>
          </a:p>
        </p:txBody>
      </p:sp>
      <p:graphicFrame>
        <p:nvGraphicFramePr>
          <p:cNvPr id="26627" name="Object 3"/>
          <p:cNvGraphicFramePr>
            <a:graphicFrameLocks noChangeAspect="1"/>
          </p:cNvGraphicFramePr>
          <p:nvPr>
            <p:extLst>
              <p:ext uri="{D42A27DB-BD31-4B8C-83A1-F6EECF244321}">
                <p14:modId xmlns:p14="http://schemas.microsoft.com/office/powerpoint/2010/main" val="3032417646"/>
              </p:ext>
            </p:extLst>
          </p:nvPr>
        </p:nvGraphicFramePr>
        <p:xfrm>
          <a:off x="2743200" y="4286250"/>
          <a:ext cx="457200" cy="381000"/>
        </p:xfrm>
        <a:graphic>
          <a:graphicData uri="http://schemas.openxmlformats.org/presentationml/2006/ole">
            <mc:AlternateContent xmlns:mc="http://schemas.openxmlformats.org/markup-compatibility/2006">
              <mc:Choice xmlns:v="urn:schemas-microsoft-com:vml" Requires="v">
                <p:oleObj spid="_x0000_s4107" name="Equation" r:id="rId3" imgW="139680" imgH="126720" progId="Equation.3">
                  <p:embed/>
                </p:oleObj>
              </mc:Choice>
              <mc:Fallback>
                <p:oleObj name="Equation" r:id="rId3" imgW="139680" imgH="126720" progId="Equation.3">
                  <p:embed/>
                  <p:pic>
                    <p:nvPicPr>
                      <p:cNvPr id="26627"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28625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par>
                                <p:cTn id="28" presetID="1" presetClass="entr" presetSubtype="0" fill="hold" nodeType="withEffect">
                                  <p:stCondLst>
                                    <p:cond delay="0"/>
                                  </p:stCondLst>
                                  <p:childTnLst>
                                    <p:set>
                                      <p:cBhvr>
                                        <p:cTn id="29" dur="1" fill="hold">
                                          <p:stCondLst>
                                            <p:cond delay="0"/>
                                          </p:stCondLst>
                                        </p:cTn>
                                        <p:tgtEl>
                                          <p:spTgt spid="26627"/>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Group 2"/>
          <p:cNvGraphicFramePr>
            <a:graphicFrameLocks noGrp="1"/>
          </p:cNvGraphicFramePr>
          <p:nvPr/>
        </p:nvGraphicFramePr>
        <p:xfrm>
          <a:off x="4724400" y="1676400"/>
          <a:ext cx="5352142" cy="4210730"/>
        </p:xfrm>
        <a:graphic>
          <a:graphicData uri="http://schemas.openxmlformats.org/drawingml/2006/table">
            <a:tbl>
              <a:tblPr/>
              <a:tblGrid>
                <a:gridCol w="486558">
                  <a:extLst>
                    <a:ext uri="{9D8B030D-6E8A-4147-A177-3AD203B41FA5}">
                      <a16:colId xmlns:a16="http://schemas.microsoft.com/office/drawing/2014/main" val="20000"/>
                    </a:ext>
                  </a:extLst>
                </a:gridCol>
                <a:gridCol w="486558">
                  <a:extLst>
                    <a:ext uri="{9D8B030D-6E8A-4147-A177-3AD203B41FA5}">
                      <a16:colId xmlns:a16="http://schemas.microsoft.com/office/drawing/2014/main" val="20001"/>
                    </a:ext>
                  </a:extLst>
                </a:gridCol>
                <a:gridCol w="583870">
                  <a:extLst>
                    <a:ext uri="{9D8B030D-6E8A-4147-A177-3AD203B41FA5}">
                      <a16:colId xmlns:a16="http://schemas.microsoft.com/office/drawing/2014/main" val="20002"/>
                    </a:ext>
                  </a:extLst>
                </a:gridCol>
                <a:gridCol w="881413">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551543">
                  <a:extLst>
                    <a:ext uri="{9D8B030D-6E8A-4147-A177-3AD203B41FA5}">
                      <a16:colId xmlns:a16="http://schemas.microsoft.com/office/drawing/2014/main" val="20006"/>
                    </a:ext>
                  </a:extLst>
                </a:gridCol>
              </a:tblGrid>
              <a:tr h="55313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8294">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4" name="TextBox 3">
            <a:extLst>
              <a:ext uri="{FF2B5EF4-FFF2-40B4-BE49-F238E27FC236}">
                <a16:creationId xmlns:a16="http://schemas.microsoft.com/office/drawing/2014/main" id="{1FE0D8ED-26AF-5EE2-A1DB-6FF68FA06ACF}"/>
              </a:ext>
            </a:extLst>
          </p:cNvPr>
          <p:cNvSpPr txBox="1"/>
          <p:nvPr/>
        </p:nvSpPr>
        <p:spPr>
          <a:xfrm>
            <a:off x="1708355" y="1219201"/>
            <a:ext cx="3040626" cy="2031325"/>
          </a:xfrm>
          <a:prstGeom prst="rect">
            <a:avLst/>
          </a:prstGeom>
          <a:noFill/>
        </p:spPr>
        <p:txBody>
          <a:bodyPr wrap="square">
            <a:spAutoFit/>
          </a:bodyPr>
          <a:lstStyle/>
          <a:p>
            <a:pPr>
              <a:buNone/>
            </a:pPr>
            <a:r>
              <a:rPr lang="en-US" b="1" dirty="0"/>
              <a:t>p </a:t>
            </a:r>
            <a:r>
              <a:rPr lang="en-US" b="1" dirty="0">
                <a:sym typeface="Symbol"/>
              </a:rPr>
              <a:t></a:t>
            </a:r>
            <a:r>
              <a:rPr lang="en-US" b="1" dirty="0"/>
              <a:t> q		</a:t>
            </a:r>
            <a:r>
              <a:rPr lang="en-US" dirty="0">
                <a:solidFill>
                  <a:srgbClr val="C00000"/>
                </a:solidFill>
              </a:rPr>
              <a:t>premise</a:t>
            </a:r>
          </a:p>
          <a:p>
            <a:pPr>
              <a:buNone/>
            </a:pPr>
            <a:r>
              <a:rPr lang="en-US" b="1" dirty="0"/>
              <a:t>p </a:t>
            </a:r>
            <a:r>
              <a:rPr lang="en-US" b="1" dirty="0">
                <a:sym typeface="Symbol"/>
              </a:rPr>
              <a:t></a:t>
            </a:r>
            <a:r>
              <a:rPr lang="en-US" b="1" dirty="0"/>
              <a:t> ~q		</a:t>
            </a:r>
            <a:r>
              <a:rPr lang="en-US" dirty="0">
                <a:solidFill>
                  <a:srgbClr val="C00000"/>
                </a:solidFill>
              </a:rPr>
              <a:t>premise</a:t>
            </a:r>
          </a:p>
          <a:p>
            <a:pPr>
              <a:buNone/>
            </a:pPr>
            <a:r>
              <a:rPr lang="en-US" b="1" dirty="0"/>
              <a:t>p </a:t>
            </a:r>
            <a:r>
              <a:rPr lang="en-US" b="1" dirty="0">
                <a:sym typeface="Symbol"/>
              </a:rPr>
              <a:t></a:t>
            </a:r>
            <a:r>
              <a:rPr lang="en-US" b="1" dirty="0"/>
              <a:t> r		</a:t>
            </a:r>
            <a:r>
              <a:rPr lang="en-US" dirty="0">
                <a:solidFill>
                  <a:srgbClr val="C00000"/>
                </a:solidFill>
              </a:rPr>
              <a:t>premise</a:t>
            </a:r>
          </a:p>
          <a:p>
            <a:pPr>
              <a:buNone/>
            </a:pPr>
            <a:r>
              <a:rPr lang="en-US" b="1" dirty="0"/>
              <a:t>r		</a:t>
            </a:r>
            <a:r>
              <a:rPr lang="en-US" dirty="0">
                <a:solidFill>
                  <a:srgbClr val="C00000"/>
                </a:solidFill>
              </a:rPr>
              <a:t>conclusion</a:t>
            </a:r>
            <a:r>
              <a:rPr lang="en-US" b="1" dirty="0">
                <a:solidFill>
                  <a:srgbClr val="C00000"/>
                </a:solidFill>
              </a:rPr>
              <a:t> </a:t>
            </a:r>
          </a:p>
          <a:p>
            <a:endParaRPr lang="en-US" b="1" dirty="0"/>
          </a:p>
          <a:p>
            <a:r>
              <a:rPr lang="en-US" dirty="0"/>
              <a:t>Is valid or invalid?</a:t>
            </a:r>
            <a:endParaRPr lang="en-PK"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Group 2"/>
          <p:cNvGraphicFramePr>
            <a:graphicFrameLocks noGrp="1"/>
          </p:cNvGraphicFramePr>
          <p:nvPr/>
        </p:nvGraphicFramePr>
        <p:xfrm>
          <a:off x="2362200" y="1828800"/>
          <a:ext cx="5352142" cy="4210730"/>
        </p:xfrm>
        <a:graphic>
          <a:graphicData uri="http://schemas.openxmlformats.org/drawingml/2006/table">
            <a:tbl>
              <a:tblPr/>
              <a:tblGrid>
                <a:gridCol w="486558">
                  <a:extLst>
                    <a:ext uri="{9D8B030D-6E8A-4147-A177-3AD203B41FA5}">
                      <a16:colId xmlns:a16="http://schemas.microsoft.com/office/drawing/2014/main" val="20000"/>
                    </a:ext>
                  </a:extLst>
                </a:gridCol>
                <a:gridCol w="486558">
                  <a:extLst>
                    <a:ext uri="{9D8B030D-6E8A-4147-A177-3AD203B41FA5}">
                      <a16:colId xmlns:a16="http://schemas.microsoft.com/office/drawing/2014/main" val="20001"/>
                    </a:ext>
                  </a:extLst>
                </a:gridCol>
                <a:gridCol w="583870">
                  <a:extLst>
                    <a:ext uri="{9D8B030D-6E8A-4147-A177-3AD203B41FA5}">
                      <a16:colId xmlns:a16="http://schemas.microsoft.com/office/drawing/2014/main" val="20002"/>
                    </a:ext>
                  </a:extLst>
                </a:gridCol>
                <a:gridCol w="881413">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551543">
                  <a:extLst>
                    <a:ext uri="{9D8B030D-6E8A-4147-A177-3AD203B41FA5}">
                      <a16:colId xmlns:a16="http://schemas.microsoft.com/office/drawing/2014/main" val="20006"/>
                    </a:ext>
                  </a:extLst>
                </a:gridCol>
              </a:tblGrid>
              <a:tr h="55313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~q</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 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r</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CC"/>
                    </a:solidFill>
                  </a:tcPr>
                </a:tc>
                <a:extLst>
                  <a:ext uri="{0D108BD9-81ED-4DB2-BD59-A6C34878D82A}">
                    <a16:rowId xmlns:a16="http://schemas.microsoft.com/office/drawing/2014/main" val="10000"/>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3"/>
                  </a:ext>
                </a:extLst>
              </a:tr>
              <a:tr h="328294">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5"/>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CFF99"/>
                    </a:solidFill>
                  </a:tcPr>
                </a:tc>
                <a:extLst>
                  <a:ext uri="{0D108BD9-81ED-4DB2-BD59-A6C34878D82A}">
                    <a16:rowId xmlns:a16="http://schemas.microsoft.com/office/drawing/2014/main" val="10006"/>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5983">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87" name="Rectangle 86"/>
          <p:cNvSpPr/>
          <p:nvPr/>
        </p:nvSpPr>
        <p:spPr>
          <a:xfrm>
            <a:off x="4953001" y="381000"/>
            <a:ext cx="2031325" cy="369332"/>
          </a:xfrm>
          <a:prstGeom prst="rect">
            <a:avLst/>
          </a:prstGeom>
        </p:spPr>
        <p:txBody>
          <a:bodyPr wrap="none">
            <a:spAutoFit/>
          </a:bodyPr>
          <a:lstStyle/>
          <a:p>
            <a:r>
              <a:rPr lang="en-US" dirty="0"/>
              <a:t>premises	</a:t>
            </a:r>
          </a:p>
        </p:txBody>
      </p:sp>
      <p:cxnSp>
        <p:nvCxnSpPr>
          <p:cNvPr id="89" name="Straight Arrow Connector 88"/>
          <p:cNvCxnSpPr/>
          <p:nvPr/>
        </p:nvCxnSpPr>
        <p:spPr>
          <a:xfrm rot="5400000">
            <a:off x="4381500" y="8763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rot="5400000">
            <a:off x="4991894" y="1332706"/>
            <a:ext cx="990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p:nvPr/>
        </p:nvCxnSpPr>
        <p:spPr>
          <a:xfrm rot="16200000" flipH="1">
            <a:off x="5660767" y="816233"/>
            <a:ext cx="1002268" cy="104620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6858001" y="685801"/>
            <a:ext cx="1477587" cy="369332"/>
          </a:xfrm>
          <a:prstGeom prst="rect">
            <a:avLst/>
          </a:prstGeom>
        </p:spPr>
        <p:txBody>
          <a:bodyPr wrap="square">
            <a:spAutoFit/>
          </a:bodyPr>
          <a:lstStyle/>
          <a:p>
            <a:r>
              <a:rPr lang="en-US" dirty="0"/>
              <a:t>conclusion</a:t>
            </a:r>
          </a:p>
        </p:txBody>
      </p:sp>
      <p:cxnSp>
        <p:nvCxnSpPr>
          <p:cNvPr id="96" name="Straight Arrow Connector 95"/>
          <p:cNvCxnSpPr/>
          <p:nvPr/>
        </p:nvCxnSpPr>
        <p:spPr>
          <a:xfrm rot="5400000">
            <a:off x="7092836" y="1437934"/>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Rectangle 96"/>
          <p:cNvSpPr/>
          <p:nvPr/>
        </p:nvSpPr>
        <p:spPr>
          <a:xfrm>
            <a:off x="9067801" y="3886201"/>
            <a:ext cx="1405525" cy="646331"/>
          </a:xfrm>
          <a:prstGeom prst="rect">
            <a:avLst/>
          </a:prstGeom>
        </p:spPr>
        <p:txBody>
          <a:bodyPr wrap="square">
            <a:spAutoFit/>
          </a:bodyPr>
          <a:lstStyle/>
          <a:p>
            <a:r>
              <a:rPr lang="en-US" dirty="0"/>
              <a:t>critical rows</a:t>
            </a:r>
          </a:p>
        </p:txBody>
      </p:sp>
      <p:cxnSp>
        <p:nvCxnSpPr>
          <p:cNvPr id="99" name="Straight Arrow Connector 98"/>
          <p:cNvCxnSpPr>
            <a:stCxn id="97" idx="1"/>
          </p:cNvCxnSpPr>
          <p:nvPr/>
        </p:nvCxnSpPr>
        <p:spPr>
          <a:xfrm flipH="1" flipV="1">
            <a:off x="7772400" y="3505200"/>
            <a:ext cx="1295400" cy="70416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rot="10800000" flipV="1">
            <a:off x="7772400" y="4114800"/>
            <a:ext cx="1295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3" name="Straight Arrow Connector 102"/>
          <p:cNvCxnSpPr/>
          <p:nvPr/>
        </p:nvCxnSpPr>
        <p:spPr>
          <a:xfrm rot="10800000" flipV="1">
            <a:off x="7772400" y="4114800"/>
            <a:ext cx="1295400" cy="729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4" name="Rectangle 103"/>
          <p:cNvSpPr/>
          <p:nvPr/>
        </p:nvSpPr>
        <p:spPr>
          <a:xfrm>
            <a:off x="7924800" y="5029200"/>
            <a:ext cx="2438400" cy="1219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The argument is not valid because all corresponding values in conclusion are not T</a:t>
            </a:r>
          </a:p>
        </p:txBody>
      </p:sp>
    </p:spTree>
    <p:extLst>
      <p:ext uri="{BB962C8B-B14F-4D97-AF65-F5344CB8AC3E}">
        <p14:creationId xmlns:p14="http://schemas.microsoft.com/office/powerpoint/2010/main" val="2121158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2000"/>
                                        <p:tgtEl>
                                          <p:spTgt spid="89"/>
                                        </p:tgtEl>
                                      </p:cBhvr>
                                    </p:animEffect>
                                  </p:childTnLst>
                                </p:cTn>
                              </p:par>
                              <p:par>
                                <p:cTn id="8" presetID="10" presetClass="entr" presetSubtype="0"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2000"/>
                                        <p:tgtEl>
                                          <p:spTgt spid="91"/>
                                        </p:tgtEl>
                                      </p:cBhvr>
                                    </p:animEffect>
                                  </p:childTnLst>
                                </p:cTn>
                              </p:par>
                              <p:par>
                                <p:cTn id="11" presetID="10" presetClass="entr" presetSubtype="0" fill="hold" nodeType="withEffect">
                                  <p:stCondLst>
                                    <p:cond delay="0"/>
                                  </p:stCondLst>
                                  <p:childTnLst>
                                    <p:set>
                                      <p:cBhvr>
                                        <p:cTn id="12" dur="1" fill="hold">
                                          <p:stCondLst>
                                            <p:cond delay="0"/>
                                          </p:stCondLst>
                                        </p:cTn>
                                        <p:tgtEl>
                                          <p:spTgt spid="93"/>
                                        </p:tgtEl>
                                        <p:attrNameLst>
                                          <p:attrName>style.visibility</p:attrName>
                                        </p:attrNameLst>
                                      </p:cBhvr>
                                      <p:to>
                                        <p:strVal val="visible"/>
                                      </p:to>
                                    </p:set>
                                    <p:animEffect transition="in" filter="fade">
                                      <p:cBhvr>
                                        <p:cTn id="13" dur="2000"/>
                                        <p:tgtEl>
                                          <p:spTgt spid="9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fade">
                                      <p:cBhvr>
                                        <p:cTn id="16" dur="2000"/>
                                        <p:tgtEl>
                                          <p:spTgt spid="8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4"/>
                                        </p:tgtEl>
                                        <p:attrNameLst>
                                          <p:attrName>style.visibility</p:attrName>
                                        </p:attrNameLst>
                                      </p:cBhvr>
                                      <p:to>
                                        <p:strVal val="visible"/>
                                      </p:to>
                                    </p:set>
                                    <p:animEffect transition="in" filter="fade">
                                      <p:cBhvr>
                                        <p:cTn id="19" dur="2000"/>
                                        <p:tgtEl>
                                          <p:spTgt spid="94"/>
                                        </p:tgtEl>
                                      </p:cBhvr>
                                    </p:animEffect>
                                  </p:childTnLst>
                                </p:cTn>
                              </p:par>
                              <p:par>
                                <p:cTn id="20" presetID="10" presetClass="entr" presetSubtype="0" fill="hold" nodeType="with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fade">
                                      <p:cBhvr>
                                        <p:cTn id="22" dur="2000"/>
                                        <p:tgtEl>
                                          <p:spTgt spid="96"/>
                                        </p:tgtEl>
                                      </p:cBhvr>
                                    </p:animEffect>
                                  </p:childTnLst>
                                </p:cTn>
                              </p:par>
                              <p:par>
                                <p:cTn id="23" presetID="10" presetClass="entr" presetSubtype="0" fill="hold" nodeType="withEffect">
                                  <p:stCondLst>
                                    <p:cond delay="0"/>
                                  </p:stCondLst>
                                  <p:childTnLst>
                                    <p:set>
                                      <p:cBhvr>
                                        <p:cTn id="24" dur="1" fill="hold">
                                          <p:stCondLst>
                                            <p:cond delay="0"/>
                                          </p:stCondLst>
                                        </p:cTn>
                                        <p:tgtEl>
                                          <p:spTgt spid="99"/>
                                        </p:tgtEl>
                                        <p:attrNameLst>
                                          <p:attrName>style.visibility</p:attrName>
                                        </p:attrNameLst>
                                      </p:cBhvr>
                                      <p:to>
                                        <p:strVal val="visible"/>
                                      </p:to>
                                    </p:set>
                                    <p:animEffect transition="in" filter="fade">
                                      <p:cBhvr>
                                        <p:cTn id="25" dur="2000"/>
                                        <p:tgtEl>
                                          <p:spTgt spid="99"/>
                                        </p:tgtEl>
                                      </p:cBhvr>
                                    </p:animEffect>
                                  </p:childTnLst>
                                </p:cTn>
                              </p:par>
                              <p:par>
                                <p:cTn id="26" presetID="10" presetClass="entr" presetSubtype="0" fill="hold" nodeType="with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fade">
                                      <p:cBhvr>
                                        <p:cTn id="28" dur="2000"/>
                                        <p:tgtEl>
                                          <p:spTgt spid="101"/>
                                        </p:tgtEl>
                                      </p:cBhvr>
                                    </p:animEffect>
                                  </p:childTnLst>
                                </p:cTn>
                              </p:par>
                              <p:par>
                                <p:cTn id="29" presetID="10" presetClass="entr" presetSubtype="0" fill="hold" nodeType="withEffect">
                                  <p:stCondLst>
                                    <p:cond delay="0"/>
                                  </p:stCondLst>
                                  <p:childTnLst>
                                    <p:set>
                                      <p:cBhvr>
                                        <p:cTn id="30" dur="1" fill="hold">
                                          <p:stCondLst>
                                            <p:cond delay="0"/>
                                          </p:stCondLst>
                                        </p:cTn>
                                        <p:tgtEl>
                                          <p:spTgt spid="103"/>
                                        </p:tgtEl>
                                        <p:attrNameLst>
                                          <p:attrName>style.visibility</p:attrName>
                                        </p:attrNameLst>
                                      </p:cBhvr>
                                      <p:to>
                                        <p:strVal val="visible"/>
                                      </p:to>
                                    </p:set>
                                    <p:animEffect transition="in" filter="fade">
                                      <p:cBhvr>
                                        <p:cTn id="31" dur="2000"/>
                                        <p:tgtEl>
                                          <p:spTgt spid="10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97"/>
                                        </p:tgtEl>
                                        <p:attrNameLst>
                                          <p:attrName>style.visibility</p:attrName>
                                        </p:attrNameLst>
                                      </p:cBhvr>
                                      <p:to>
                                        <p:strVal val="visible"/>
                                      </p:to>
                                    </p:set>
                                    <p:animEffect transition="in" filter="fade">
                                      <p:cBhvr>
                                        <p:cTn id="34" dur="2000"/>
                                        <p:tgtEl>
                                          <p:spTgt spid="9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20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p:bldP spid="94" grpId="0"/>
      <p:bldP spid="97" grpId="0"/>
      <p:bldP spid="10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C00000"/>
                </a:solidFill>
              </a:rPr>
              <a:t>WORD PROBLEM … </a:t>
            </a:r>
            <a:r>
              <a:rPr lang="en-US" sz="4400" dirty="0">
                <a:solidFill>
                  <a:srgbClr val="B31591"/>
                </a:solidFill>
                <a:latin typeface="Cambria Math" panose="02040503050406030204" pitchFamily="18" charset="0"/>
                <a:ea typeface="Cambria Math" panose="02040503050406030204" pitchFamily="18" charset="0"/>
              </a:rPr>
              <a:t>Do it yourself</a:t>
            </a:r>
            <a:endParaRPr lang="en-US" dirty="0">
              <a:solidFill>
                <a:srgbClr val="C00000"/>
              </a:solidFill>
            </a:endParaRPr>
          </a:p>
        </p:txBody>
      </p:sp>
      <p:sp>
        <p:nvSpPr>
          <p:cNvPr id="3" name="Content Placeholder 2"/>
          <p:cNvSpPr>
            <a:spLocks noGrp="1"/>
          </p:cNvSpPr>
          <p:nvPr>
            <p:ph sz="quarter" idx="1"/>
          </p:nvPr>
        </p:nvSpPr>
        <p:spPr/>
        <p:txBody>
          <a:bodyPr>
            <a:normAutofit fontScale="62500" lnSpcReduction="20000"/>
          </a:bodyPr>
          <a:lstStyle/>
          <a:p>
            <a:r>
              <a:rPr lang="en-US" dirty="0"/>
              <a:t>If Tariq is not on team A, then </a:t>
            </a:r>
            <a:r>
              <a:rPr lang="en-US" dirty="0" err="1"/>
              <a:t>Hameed</a:t>
            </a:r>
            <a:r>
              <a:rPr lang="en-US" dirty="0"/>
              <a:t> is on team B. </a:t>
            </a:r>
          </a:p>
          <a:p>
            <a:pPr>
              <a:buNone/>
            </a:pPr>
            <a:r>
              <a:rPr lang="en-US" dirty="0"/>
              <a:t>	If </a:t>
            </a:r>
            <a:r>
              <a:rPr lang="en-US" dirty="0" err="1"/>
              <a:t>Hameed</a:t>
            </a:r>
            <a:r>
              <a:rPr lang="en-US" dirty="0"/>
              <a:t> is not on team B, then Tariq is on team A.</a:t>
            </a:r>
          </a:p>
          <a:p>
            <a:pPr>
              <a:buNone/>
            </a:pPr>
            <a:r>
              <a:rPr lang="en-US" dirty="0"/>
              <a:t>	     Tariq is not on team A or </a:t>
            </a:r>
            <a:r>
              <a:rPr lang="en-US" dirty="0" err="1"/>
              <a:t>Hameed</a:t>
            </a:r>
            <a:r>
              <a:rPr lang="en-US" dirty="0"/>
              <a:t> is not on team B.</a:t>
            </a:r>
          </a:p>
          <a:p>
            <a:pPr lvl="2">
              <a:buNone/>
            </a:pPr>
            <a:endParaRPr lang="en-US" dirty="0"/>
          </a:p>
          <a:p>
            <a:r>
              <a:rPr lang="en-US" b="1" u="sng" dirty="0">
                <a:solidFill>
                  <a:srgbClr val="C00000"/>
                </a:solidFill>
              </a:rPr>
              <a:t>SOLUTION:</a:t>
            </a:r>
            <a:endParaRPr lang="en-US" dirty="0">
              <a:solidFill>
                <a:srgbClr val="C00000"/>
              </a:solidFill>
            </a:endParaRPr>
          </a:p>
          <a:p>
            <a:pPr>
              <a:buNone/>
            </a:pPr>
            <a:r>
              <a:rPr lang="en-US" dirty="0"/>
              <a:t>	Let 	</a:t>
            </a:r>
          </a:p>
          <a:p>
            <a:pPr>
              <a:buNone/>
            </a:pPr>
            <a:r>
              <a:rPr lang="en-US" dirty="0"/>
              <a:t>			</a:t>
            </a:r>
            <a:r>
              <a:rPr lang="en-US" b="1" dirty="0">
                <a:solidFill>
                  <a:srgbClr val="C00000"/>
                </a:solidFill>
              </a:rPr>
              <a:t>t</a:t>
            </a:r>
            <a:r>
              <a:rPr lang="en-US" dirty="0"/>
              <a:t> = Tariq is on team A</a:t>
            </a:r>
          </a:p>
          <a:p>
            <a:pPr>
              <a:buNone/>
            </a:pPr>
            <a:r>
              <a:rPr lang="en-US" dirty="0"/>
              <a:t>			</a:t>
            </a:r>
            <a:r>
              <a:rPr lang="en-US" b="1" dirty="0">
                <a:solidFill>
                  <a:srgbClr val="C00000"/>
                </a:solidFill>
              </a:rPr>
              <a:t>h</a:t>
            </a:r>
            <a:r>
              <a:rPr lang="en-US" dirty="0"/>
              <a:t> = </a:t>
            </a:r>
            <a:r>
              <a:rPr lang="en-US" dirty="0" err="1"/>
              <a:t>Hameed</a:t>
            </a:r>
            <a:r>
              <a:rPr lang="en-US" dirty="0"/>
              <a:t> is on team B</a:t>
            </a:r>
          </a:p>
          <a:p>
            <a:pPr>
              <a:buNone/>
            </a:pPr>
            <a:r>
              <a:rPr lang="en-US" dirty="0"/>
              <a:t>	Then the argument is</a:t>
            </a:r>
          </a:p>
          <a:p>
            <a:pPr>
              <a:buNone/>
            </a:pPr>
            <a:r>
              <a:rPr lang="en-US" dirty="0"/>
              <a:t>	                       	 ~ t </a:t>
            </a:r>
            <a:r>
              <a:rPr lang="en-US" dirty="0">
                <a:sym typeface="Symbol"/>
              </a:rPr>
              <a:t></a:t>
            </a:r>
            <a:r>
              <a:rPr lang="en-US" dirty="0"/>
              <a:t> h</a:t>
            </a:r>
          </a:p>
          <a:p>
            <a:pPr>
              <a:buNone/>
            </a:pPr>
            <a:r>
              <a:rPr lang="en-US" dirty="0"/>
              <a:t>		                 ~ h </a:t>
            </a:r>
            <a:r>
              <a:rPr lang="en-US" dirty="0">
                <a:sym typeface="Symbol"/>
              </a:rPr>
              <a:t></a:t>
            </a:r>
            <a:r>
              <a:rPr lang="en-US" dirty="0"/>
              <a:t> t</a:t>
            </a:r>
          </a:p>
          <a:p>
            <a:pPr>
              <a:buNone/>
            </a:pPr>
            <a:r>
              <a:rPr lang="en-US" dirty="0"/>
              <a:t>	                 	</a:t>
            </a:r>
            <a:r>
              <a:rPr lang="en-US" dirty="0">
                <a:sym typeface="Symbol"/>
              </a:rPr>
              <a:t></a:t>
            </a:r>
            <a:r>
              <a:rPr lang="en-US" dirty="0"/>
              <a:t> ~ t </a:t>
            </a:r>
            <a:r>
              <a:rPr lang="en-US" dirty="0">
                <a:sym typeface="Symbol"/>
              </a:rPr>
              <a:t></a:t>
            </a:r>
            <a:r>
              <a:rPr lang="en-US" dirty="0"/>
              <a:t> ~ h</a:t>
            </a:r>
          </a:p>
          <a:p>
            <a:pPr lvl="2"/>
            <a:endParaRPr lang="en-US" dirty="0"/>
          </a:p>
          <a:p>
            <a:endParaRPr lang="en-US" dirty="0"/>
          </a:p>
          <a:p>
            <a:endParaRPr lang="en-US" dirty="0"/>
          </a:p>
        </p:txBody>
      </p:sp>
      <p:graphicFrame>
        <p:nvGraphicFramePr>
          <p:cNvPr id="28675" name="Object 3"/>
          <p:cNvGraphicFramePr>
            <a:graphicFrameLocks noChangeAspect="1"/>
          </p:cNvGraphicFramePr>
          <p:nvPr>
            <p:extLst>
              <p:ext uri="{D42A27DB-BD31-4B8C-83A1-F6EECF244321}">
                <p14:modId xmlns:p14="http://schemas.microsoft.com/office/powerpoint/2010/main" val="2457162282"/>
              </p:ext>
            </p:extLst>
          </p:nvPr>
        </p:nvGraphicFramePr>
        <p:xfrm>
          <a:off x="1352603" y="2479379"/>
          <a:ext cx="457200" cy="381000"/>
        </p:xfrm>
        <a:graphic>
          <a:graphicData uri="http://schemas.openxmlformats.org/presentationml/2006/ole">
            <mc:AlternateContent xmlns:mc="http://schemas.openxmlformats.org/markup-compatibility/2006">
              <mc:Choice xmlns:v="urn:schemas-microsoft-com:vml" Requires="v">
                <p:oleObj spid="_x0000_s5131" name="Equation" r:id="rId3" imgW="139680" imgH="126720" progId="Equation.3">
                  <p:embed/>
                </p:oleObj>
              </mc:Choice>
              <mc:Fallback>
                <p:oleObj name="Equation" r:id="rId3" imgW="139680" imgH="126720" progId="Equation.3">
                  <p:embed/>
                  <p:pic>
                    <p:nvPicPr>
                      <p:cNvPr id="2867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603" y="2479379"/>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2867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20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20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20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20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2000"/>
                                        <p:tgtEl>
                                          <p:spTgt spid="3">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10" end="10"/>
                                            </p:txEl>
                                          </p:spTgt>
                                        </p:tgtEl>
                                        <p:attrNameLst>
                                          <p:attrName>style.visibility</p:attrName>
                                        </p:attrNameLst>
                                      </p:cBhvr>
                                      <p:to>
                                        <p:strVal val="visible"/>
                                      </p:to>
                                    </p:set>
                                    <p:animEffect transition="in" filter="fade">
                                      <p:cBhvr>
                                        <p:cTn id="54" dur="2000"/>
                                        <p:tgtEl>
                                          <p:spTgt spid="3">
                                            <p:txEl>
                                              <p:pRg st="10" end="1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3">
                                            <p:txEl>
                                              <p:pRg st="11" end="11"/>
                                            </p:txEl>
                                          </p:spTgt>
                                        </p:tgtEl>
                                        <p:attrNameLst>
                                          <p:attrName>style.visibility</p:attrName>
                                        </p:attrNameLst>
                                      </p:cBhvr>
                                      <p:to>
                                        <p:strVal val="visible"/>
                                      </p:to>
                                    </p:set>
                                    <p:animEffect transition="in" filter="fade">
                                      <p:cBhvr>
                                        <p:cTn id="59"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extLst>
              <p:ext uri="{D42A27DB-BD31-4B8C-83A1-F6EECF244321}">
                <p14:modId xmlns:p14="http://schemas.microsoft.com/office/powerpoint/2010/main" val="4158625322"/>
              </p:ext>
            </p:extLst>
          </p:nvPr>
        </p:nvGraphicFramePr>
        <p:xfrm>
          <a:off x="3146611" y="1210235"/>
          <a:ext cx="5598459" cy="2501155"/>
        </p:xfrm>
        <a:graphic>
          <a:graphicData uri="http://schemas.openxmlformats.org/drawingml/2006/table">
            <a:tbl>
              <a:tblPr/>
              <a:tblGrid>
                <a:gridCol w="582194">
                  <a:extLst>
                    <a:ext uri="{9D8B030D-6E8A-4147-A177-3AD203B41FA5}">
                      <a16:colId xmlns:a16="http://schemas.microsoft.com/office/drawing/2014/main" val="20000"/>
                    </a:ext>
                  </a:extLst>
                </a:gridCol>
                <a:gridCol w="698431">
                  <a:extLst>
                    <a:ext uri="{9D8B030D-6E8A-4147-A177-3AD203B41FA5}">
                      <a16:colId xmlns:a16="http://schemas.microsoft.com/office/drawing/2014/main" val="20001"/>
                    </a:ext>
                  </a:extLst>
                </a:gridCol>
                <a:gridCol w="1331989">
                  <a:extLst>
                    <a:ext uri="{9D8B030D-6E8A-4147-A177-3AD203B41FA5}">
                      <a16:colId xmlns:a16="http://schemas.microsoft.com/office/drawing/2014/main" val="20002"/>
                    </a:ext>
                  </a:extLst>
                </a:gridCol>
                <a:gridCol w="1399615">
                  <a:extLst>
                    <a:ext uri="{9D8B030D-6E8A-4147-A177-3AD203B41FA5}">
                      <a16:colId xmlns:a16="http://schemas.microsoft.com/office/drawing/2014/main" val="20003"/>
                    </a:ext>
                  </a:extLst>
                </a:gridCol>
                <a:gridCol w="1586230">
                  <a:extLst>
                    <a:ext uri="{9D8B030D-6E8A-4147-A177-3AD203B41FA5}">
                      <a16:colId xmlns:a16="http://schemas.microsoft.com/office/drawing/2014/main" val="20004"/>
                    </a:ext>
                  </a:extLst>
                </a:gridCol>
              </a:tblGrid>
              <a:tr h="500231">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h</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h</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~h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~h</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50023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50023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2"/>
                  </a:ext>
                </a:extLst>
              </a:tr>
              <a:tr h="50023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3"/>
                  </a:ext>
                </a:extLst>
              </a:tr>
              <a:tr h="500231">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Rectangle 4"/>
          <p:cNvSpPr/>
          <p:nvPr/>
        </p:nvSpPr>
        <p:spPr>
          <a:xfrm>
            <a:off x="2895600" y="3886200"/>
            <a:ext cx="6781800" cy="2057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Argument is invalid. Because there are three critical rows ( Remember  that the critical rows are those rows where the premises have truth value T) and in the first critical row conclusion has truth value F.  (Also remember that we say an argument is valid if in all critical rows conclusion has truth value T)</a:t>
            </a:r>
          </a:p>
          <a:p>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C00000"/>
                </a:solidFill>
              </a:rPr>
              <a:t>EXERCISE … </a:t>
            </a:r>
            <a:r>
              <a:rPr lang="en-US" sz="4400" dirty="0">
                <a:solidFill>
                  <a:srgbClr val="B31591"/>
                </a:solidFill>
                <a:latin typeface="Cambria Math" panose="02040503050406030204" pitchFamily="18" charset="0"/>
                <a:ea typeface="Cambria Math" panose="02040503050406030204" pitchFamily="18" charset="0"/>
              </a:rPr>
              <a:t>Do it yourself</a:t>
            </a:r>
            <a:endParaRPr lang="en-US" u="sng" dirty="0">
              <a:solidFill>
                <a:srgbClr val="C00000"/>
              </a:solidFill>
            </a:endParaRPr>
          </a:p>
        </p:txBody>
      </p:sp>
      <p:sp>
        <p:nvSpPr>
          <p:cNvPr id="3" name="Content Placeholder 2"/>
          <p:cNvSpPr>
            <a:spLocks noGrp="1"/>
          </p:cNvSpPr>
          <p:nvPr>
            <p:ph sz="quarter" idx="1"/>
          </p:nvPr>
        </p:nvSpPr>
        <p:spPr>
          <a:xfrm>
            <a:off x="1181100" y="1545971"/>
            <a:ext cx="9829800" cy="4946904"/>
          </a:xfrm>
        </p:spPr>
        <p:txBody>
          <a:bodyPr>
            <a:noAutofit/>
          </a:bodyPr>
          <a:lstStyle/>
          <a:p>
            <a:r>
              <a:rPr lang="en-US" sz="2000" dirty="0"/>
              <a:t>If at least one of these two numbers is divisible by 6, then the product of these two numbers is divisible by 6.</a:t>
            </a:r>
          </a:p>
          <a:p>
            <a:pPr>
              <a:buNone/>
            </a:pPr>
            <a:r>
              <a:rPr lang="en-US" sz="2000" dirty="0"/>
              <a:t>	Neither of these two numbers is divisible by 6.</a:t>
            </a:r>
          </a:p>
          <a:p>
            <a:pPr>
              <a:buNone/>
            </a:pPr>
            <a:r>
              <a:rPr lang="en-US" sz="2000" dirty="0"/>
              <a:t>	        The product of these two numbers is not divisible by 6.</a:t>
            </a:r>
          </a:p>
          <a:p>
            <a:endParaRPr lang="en-US" sz="2000" b="1" u="sng" dirty="0">
              <a:solidFill>
                <a:srgbClr val="C00000"/>
              </a:solidFill>
            </a:endParaRPr>
          </a:p>
          <a:p>
            <a:r>
              <a:rPr lang="en-US" sz="2000" b="1" u="sng" dirty="0">
                <a:solidFill>
                  <a:srgbClr val="C00000"/>
                </a:solidFill>
              </a:rPr>
              <a:t>SOLUTION:</a:t>
            </a:r>
            <a:endParaRPr lang="en-US" sz="2000" dirty="0">
              <a:solidFill>
                <a:srgbClr val="C00000"/>
              </a:solidFill>
            </a:endParaRPr>
          </a:p>
          <a:p>
            <a:pPr>
              <a:buNone/>
            </a:pPr>
            <a:r>
              <a:rPr lang="en-US" sz="2000" dirty="0"/>
              <a:t>	Let 	p = at least one of these two numbers is divisible by 6.</a:t>
            </a:r>
          </a:p>
          <a:p>
            <a:pPr>
              <a:buNone/>
            </a:pPr>
            <a:r>
              <a:rPr lang="en-US" sz="2000" dirty="0"/>
              <a:t>		q =product of these two numbers is divisible by 6.</a:t>
            </a:r>
          </a:p>
          <a:p>
            <a:pPr>
              <a:buNone/>
            </a:pPr>
            <a:r>
              <a:rPr lang="en-US" sz="2000" dirty="0"/>
              <a:t>	Then the argument become in these symbols</a:t>
            </a:r>
          </a:p>
          <a:p>
            <a:pPr>
              <a:buNone/>
            </a:pPr>
            <a:r>
              <a:rPr lang="en-US" sz="2000" dirty="0"/>
              <a:t>			p </a:t>
            </a:r>
            <a:r>
              <a:rPr lang="en-US" sz="2000" dirty="0">
                <a:sym typeface="Symbol"/>
              </a:rPr>
              <a:t></a:t>
            </a:r>
            <a:r>
              <a:rPr lang="en-US" sz="2000" dirty="0"/>
              <a:t> q</a:t>
            </a:r>
          </a:p>
          <a:p>
            <a:pPr>
              <a:buNone/>
            </a:pPr>
            <a:r>
              <a:rPr lang="en-US" sz="2000" dirty="0"/>
              <a:t>			~ p</a:t>
            </a:r>
          </a:p>
          <a:p>
            <a:pPr>
              <a:buNone/>
            </a:pPr>
            <a:r>
              <a:rPr lang="en-US" sz="2000" dirty="0"/>
              <a:t>			</a:t>
            </a:r>
            <a:r>
              <a:rPr lang="en-US" sz="2000" dirty="0">
                <a:sym typeface="Symbol"/>
              </a:rPr>
              <a:t></a:t>
            </a:r>
            <a:r>
              <a:rPr lang="en-US" sz="2000" dirty="0"/>
              <a:t>   ~ q</a:t>
            </a:r>
          </a:p>
          <a:p>
            <a:endParaRPr lang="en-US" sz="2000" dirty="0"/>
          </a:p>
          <a:p>
            <a:endParaRPr lang="en-US" sz="2000" dirty="0"/>
          </a:p>
          <a:p>
            <a:endParaRPr lang="en-US" sz="2000" dirty="0"/>
          </a:p>
        </p:txBody>
      </p:sp>
      <p:graphicFrame>
        <p:nvGraphicFramePr>
          <p:cNvPr id="30723" name="Object 3"/>
          <p:cNvGraphicFramePr>
            <a:graphicFrameLocks noChangeAspect="1"/>
          </p:cNvGraphicFramePr>
          <p:nvPr>
            <p:extLst>
              <p:ext uri="{D42A27DB-BD31-4B8C-83A1-F6EECF244321}">
                <p14:modId xmlns:p14="http://schemas.microsoft.com/office/powerpoint/2010/main" val="2851525817"/>
              </p:ext>
            </p:extLst>
          </p:nvPr>
        </p:nvGraphicFramePr>
        <p:xfrm>
          <a:off x="1486860" y="2597214"/>
          <a:ext cx="457200" cy="381000"/>
        </p:xfrm>
        <a:graphic>
          <a:graphicData uri="http://schemas.openxmlformats.org/presentationml/2006/ole">
            <mc:AlternateContent xmlns:mc="http://schemas.openxmlformats.org/markup-compatibility/2006">
              <mc:Choice xmlns:v="urn:schemas-microsoft-com:vml" Requires="v">
                <p:oleObj spid="_x0000_s6155" name="Equation" r:id="rId3" imgW="139680" imgH="126720" progId="Equation.3">
                  <p:embed/>
                </p:oleObj>
              </mc:Choice>
              <mc:Fallback>
                <p:oleObj name="Equation" r:id="rId3" imgW="139680" imgH="126720" progId="Equation.3">
                  <p:embed/>
                  <p:pic>
                    <p:nvPicPr>
                      <p:cNvPr id="3072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86860" y="259721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par>
                                <p:cTn id="18" presetID="1" presetClass="entr" presetSubtype="0" fill="hold" nodeType="withEffect">
                                  <p:stCondLst>
                                    <p:cond delay="0"/>
                                  </p:stCondLst>
                                  <p:childTnLst>
                                    <p:set>
                                      <p:cBhvr>
                                        <p:cTn id="19" dur="1" fill="hold">
                                          <p:stCondLst>
                                            <p:cond delay="0"/>
                                          </p:stCondLst>
                                        </p:cTn>
                                        <p:tgtEl>
                                          <p:spTgt spid="307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20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20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2000"/>
                                        <p:tgtEl>
                                          <p:spTgt spid="3">
                                            <p:txEl>
                                              <p:pRg st="7" end="7"/>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Effect transition="in" filter="fade">
                                      <p:cBhvr>
                                        <p:cTn id="44" dur="2000"/>
                                        <p:tgtEl>
                                          <p:spTgt spid="3">
                                            <p:txEl>
                                              <p:pRg st="8" end="8"/>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2000"/>
                                        <p:tgtEl>
                                          <p:spTgt spid="3">
                                            <p:txEl>
                                              <p:pRg st="9" end="9"/>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3">
                                            <p:txEl>
                                              <p:pRg st="10" end="10"/>
                                            </p:txEl>
                                          </p:spTgt>
                                        </p:tgtEl>
                                        <p:attrNameLst>
                                          <p:attrName>style.visibility</p:attrName>
                                        </p:attrNameLst>
                                      </p:cBhvr>
                                      <p:to>
                                        <p:strVal val="visible"/>
                                      </p:to>
                                    </p:set>
                                    <p:animEffect transition="in" filter="fade">
                                      <p:cBhvr>
                                        <p:cTn id="54"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rmAutofit fontScale="85000" lnSpcReduction="20000"/>
          </a:bodyPr>
          <a:lstStyle/>
          <a:p>
            <a:r>
              <a:rPr lang="en-US" dirty="0"/>
              <a:t>We will made the truth table for premises and conclusion as given below:</a:t>
            </a:r>
          </a:p>
          <a:p>
            <a:endParaRPr lang="en-US" dirty="0"/>
          </a:p>
          <a:p>
            <a:endParaRPr lang="en-US" dirty="0"/>
          </a:p>
          <a:p>
            <a:endParaRPr lang="en-US" dirty="0"/>
          </a:p>
          <a:p>
            <a:endParaRPr lang="en-US" dirty="0"/>
          </a:p>
          <a:p>
            <a:endParaRPr lang="en-US" dirty="0"/>
          </a:p>
          <a:p>
            <a:endParaRPr lang="en-US" dirty="0"/>
          </a:p>
          <a:p>
            <a:endParaRPr lang="en-US" dirty="0"/>
          </a:p>
          <a:p>
            <a:r>
              <a:rPr lang="en-US" b="1" dirty="0"/>
              <a:t>The Argument is invalid.</a:t>
            </a:r>
            <a:endParaRPr lang="en-US" dirty="0"/>
          </a:p>
          <a:p>
            <a:endParaRPr lang="en-US" dirty="0"/>
          </a:p>
          <a:p>
            <a:endParaRPr lang="en-US" dirty="0"/>
          </a:p>
        </p:txBody>
      </p:sp>
      <p:graphicFrame>
        <p:nvGraphicFramePr>
          <p:cNvPr id="7" name="Table 6"/>
          <p:cNvGraphicFramePr>
            <a:graphicFrameLocks noGrp="1"/>
          </p:cNvGraphicFramePr>
          <p:nvPr/>
        </p:nvGraphicFramePr>
        <p:xfrm>
          <a:off x="4114800" y="2590800"/>
          <a:ext cx="3581398" cy="2116138"/>
        </p:xfrm>
        <a:graphic>
          <a:graphicData uri="http://schemas.openxmlformats.org/drawingml/2006/table">
            <a:tbl>
              <a:tblPr/>
              <a:tblGrid>
                <a:gridCol w="661033">
                  <a:extLst>
                    <a:ext uri="{9D8B030D-6E8A-4147-A177-3AD203B41FA5}">
                      <a16:colId xmlns:a16="http://schemas.microsoft.com/office/drawing/2014/main" val="20000"/>
                    </a:ext>
                  </a:extLst>
                </a:gridCol>
                <a:gridCol w="649234">
                  <a:extLst>
                    <a:ext uri="{9D8B030D-6E8A-4147-A177-3AD203B41FA5}">
                      <a16:colId xmlns:a16="http://schemas.microsoft.com/office/drawing/2014/main" val="20001"/>
                    </a:ext>
                  </a:extLst>
                </a:gridCol>
                <a:gridCol w="1060852">
                  <a:extLst>
                    <a:ext uri="{9D8B030D-6E8A-4147-A177-3AD203B41FA5}">
                      <a16:colId xmlns:a16="http://schemas.microsoft.com/office/drawing/2014/main" val="20002"/>
                    </a:ext>
                  </a:extLst>
                </a:gridCol>
                <a:gridCol w="633085">
                  <a:extLst>
                    <a:ext uri="{9D8B030D-6E8A-4147-A177-3AD203B41FA5}">
                      <a16:colId xmlns:a16="http://schemas.microsoft.com/office/drawing/2014/main" val="20003"/>
                    </a:ext>
                  </a:extLst>
                </a:gridCol>
                <a:gridCol w="577194">
                  <a:extLst>
                    <a:ext uri="{9D8B030D-6E8A-4147-A177-3AD203B41FA5}">
                      <a16:colId xmlns:a16="http://schemas.microsoft.com/office/drawing/2014/main" val="20004"/>
                    </a:ext>
                  </a:extLst>
                </a:gridCol>
              </a:tblGrid>
              <a:tr h="451734">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q</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~p</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~q</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573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3"/>
                  </a:ext>
                </a:extLst>
              </a:tr>
              <a:tr h="537187">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2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animEffect transition="in" filter="fade">
                                      <p:cBhvr>
                                        <p:cTn id="1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C00000"/>
                </a:solidFill>
              </a:rPr>
              <a:t>EXERCISE … </a:t>
            </a:r>
            <a:r>
              <a:rPr lang="en-US" sz="4400" dirty="0">
                <a:solidFill>
                  <a:srgbClr val="B31591"/>
                </a:solidFill>
                <a:latin typeface="Cambria Math" panose="02040503050406030204" pitchFamily="18" charset="0"/>
                <a:ea typeface="Cambria Math" panose="02040503050406030204" pitchFamily="18" charset="0"/>
              </a:rPr>
              <a:t>Do it yourself</a:t>
            </a:r>
            <a:endParaRPr lang="en-US" dirty="0">
              <a:solidFill>
                <a:srgbClr val="C00000"/>
              </a:solidFill>
            </a:endParaRPr>
          </a:p>
        </p:txBody>
      </p:sp>
      <p:sp>
        <p:nvSpPr>
          <p:cNvPr id="3" name="Content Placeholder 2"/>
          <p:cNvSpPr>
            <a:spLocks noGrp="1"/>
          </p:cNvSpPr>
          <p:nvPr>
            <p:ph sz="quarter" idx="1"/>
          </p:nvPr>
        </p:nvSpPr>
        <p:spPr/>
        <p:txBody>
          <a:bodyPr>
            <a:normAutofit fontScale="92500" lnSpcReduction="10000"/>
          </a:bodyPr>
          <a:lstStyle/>
          <a:p>
            <a:r>
              <a:rPr lang="en-US" dirty="0"/>
              <a:t>If  I got an </a:t>
            </a:r>
            <a:r>
              <a:rPr lang="en-US" dirty="0" err="1"/>
              <a:t>Eid</a:t>
            </a:r>
            <a:r>
              <a:rPr lang="en-US" dirty="0"/>
              <a:t> bonus, I’ll buy a stereo.</a:t>
            </a:r>
          </a:p>
          <a:p>
            <a:pPr>
              <a:buNone/>
            </a:pPr>
            <a:r>
              <a:rPr lang="en-US" dirty="0"/>
              <a:t>	If  I sell my motorcycle, I’ll buy a stereo.</a:t>
            </a:r>
          </a:p>
          <a:p>
            <a:pPr>
              <a:buNone/>
            </a:pPr>
            <a:r>
              <a:rPr lang="en-US" dirty="0"/>
              <a:t>	        If I get an </a:t>
            </a:r>
            <a:r>
              <a:rPr lang="en-US" dirty="0" err="1"/>
              <a:t>Eid</a:t>
            </a:r>
            <a:r>
              <a:rPr lang="en-US" dirty="0"/>
              <a:t> bonus or I sell my motorcycle, then I’ll buy a stereo.</a:t>
            </a:r>
          </a:p>
          <a:p>
            <a:pPr>
              <a:buNone/>
            </a:pPr>
            <a:r>
              <a:rPr lang="en-US" b="1" u="sng" dirty="0">
                <a:solidFill>
                  <a:srgbClr val="C00000"/>
                </a:solidFill>
              </a:rPr>
              <a:t>SOLUTION</a:t>
            </a:r>
            <a:r>
              <a:rPr lang="en-US" b="1" dirty="0">
                <a:solidFill>
                  <a:srgbClr val="C00000"/>
                </a:solidFill>
              </a:rPr>
              <a:t>:</a:t>
            </a:r>
            <a:endParaRPr lang="en-US" dirty="0">
              <a:solidFill>
                <a:srgbClr val="C00000"/>
              </a:solidFill>
            </a:endParaRPr>
          </a:p>
          <a:p>
            <a:pPr>
              <a:buNone/>
            </a:pPr>
            <a:r>
              <a:rPr lang="en-US" dirty="0"/>
              <a:t>		Let	</a:t>
            </a:r>
          </a:p>
          <a:p>
            <a:pPr>
              <a:buNone/>
            </a:pPr>
            <a:r>
              <a:rPr lang="en-US" dirty="0"/>
              <a:t>				</a:t>
            </a:r>
            <a:r>
              <a:rPr lang="en-US" b="1" dirty="0">
                <a:solidFill>
                  <a:srgbClr val="C00000"/>
                </a:solidFill>
              </a:rPr>
              <a:t>e</a:t>
            </a:r>
            <a:r>
              <a:rPr lang="en-US" dirty="0"/>
              <a:t> = I got an </a:t>
            </a:r>
            <a:r>
              <a:rPr lang="en-US" dirty="0" err="1"/>
              <a:t>Eid</a:t>
            </a:r>
            <a:r>
              <a:rPr lang="en-US" dirty="0"/>
              <a:t> bonus</a:t>
            </a:r>
          </a:p>
          <a:p>
            <a:pPr>
              <a:buNone/>
            </a:pPr>
            <a:r>
              <a:rPr lang="en-US" dirty="0"/>
              <a:t>				</a:t>
            </a:r>
            <a:r>
              <a:rPr lang="en-US" b="1" dirty="0">
                <a:solidFill>
                  <a:srgbClr val="C00000"/>
                </a:solidFill>
              </a:rPr>
              <a:t>s</a:t>
            </a:r>
            <a:r>
              <a:rPr lang="en-US" dirty="0"/>
              <a:t> = I’ll buy a stereo</a:t>
            </a:r>
          </a:p>
          <a:p>
            <a:pPr>
              <a:buNone/>
            </a:pPr>
            <a:r>
              <a:rPr lang="en-US" dirty="0"/>
              <a:t>				</a:t>
            </a:r>
            <a:r>
              <a:rPr lang="en-US" b="1" dirty="0">
                <a:solidFill>
                  <a:srgbClr val="C00000"/>
                </a:solidFill>
              </a:rPr>
              <a:t>m</a:t>
            </a:r>
            <a:r>
              <a:rPr lang="en-US" dirty="0"/>
              <a:t> = I sell my motorcycle</a:t>
            </a:r>
          </a:p>
          <a:p>
            <a:endParaRPr lang="en-US" dirty="0"/>
          </a:p>
        </p:txBody>
      </p:sp>
      <p:graphicFrame>
        <p:nvGraphicFramePr>
          <p:cNvPr id="33795" name="Object 3"/>
          <p:cNvGraphicFramePr>
            <a:graphicFrameLocks noChangeAspect="1"/>
          </p:cNvGraphicFramePr>
          <p:nvPr>
            <p:extLst>
              <p:ext uri="{D42A27DB-BD31-4B8C-83A1-F6EECF244321}">
                <p14:modId xmlns:p14="http://schemas.microsoft.com/office/powerpoint/2010/main" val="1058788566"/>
              </p:ext>
            </p:extLst>
          </p:nvPr>
        </p:nvGraphicFramePr>
        <p:xfrm>
          <a:off x="1509271" y="2754766"/>
          <a:ext cx="457200" cy="381000"/>
        </p:xfrm>
        <a:graphic>
          <a:graphicData uri="http://schemas.openxmlformats.org/presentationml/2006/ole">
            <mc:AlternateContent xmlns:mc="http://schemas.openxmlformats.org/markup-compatibility/2006">
              <mc:Choice xmlns:v="urn:schemas-microsoft-com:vml" Requires="v">
                <p:oleObj spid="_x0000_s7178" name="Equation" r:id="rId3" imgW="139680" imgH="126720" progId="Equation.3">
                  <p:embed/>
                </p:oleObj>
              </mc:Choice>
              <mc:Fallback>
                <p:oleObj name="Equation" r:id="rId3" imgW="139680" imgH="126720" progId="Equation.3">
                  <p:embed/>
                  <p:pic>
                    <p:nvPicPr>
                      <p:cNvPr id="337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9271" y="2754766"/>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178859" y="304800"/>
            <a:ext cx="10372165" cy="6553200"/>
          </a:xfrm>
        </p:spPr>
        <p:txBody>
          <a:bodyPr>
            <a:normAutofit lnSpcReduction="10000"/>
          </a:bodyPr>
          <a:lstStyle/>
          <a:p>
            <a:r>
              <a:rPr lang="en-US" dirty="0"/>
              <a:t>The argument is</a:t>
            </a:r>
          </a:p>
          <a:p>
            <a:pPr>
              <a:buNone/>
            </a:pPr>
            <a:r>
              <a:rPr lang="en-US" dirty="0"/>
              <a:t>                    e </a:t>
            </a:r>
            <a:r>
              <a:rPr lang="en-US" dirty="0">
                <a:sym typeface="Symbol"/>
              </a:rPr>
              <a:t></a:t>
            </a:r>
            <a:r>
              <a:rPr lang="en-US" dirty="0"/>
              <a:t> s</a:t>
            </a:r>
          </a:p>
          <a:p>
            <a:pPr>
              <a:buNone/>
            </a:pPr>
            <a:r>
              <a:rPr lang="en-US" dirty="0"/>
              <a:t>			m </a:t>
            </a:r>
            <a:r>
              <a:rPr lang="en-US" dirty="0">
                <a:sym typeface="Symbol"/>
              </a:rPr>
              <a:t></a:t>
            </a:r>
            <a:r>
              <a:rPr lang="en-US" dirty="0"/>
              <a:t> s</a:t>
            </a:r>
          </a:p>
          <a:p>
            <a:pPr>
              <a:buNone/>
            </a:pPr>
            <a:r>
              <a:rPr lang="en-US" dirty="0"/>
              <a:t>		         </a:t>
            </a:r>
            <a:r>
              <a:rPr lang="en-US" dirty="0">
                <a:sym typeface="Symbol"/>
              </a:rPr>
              <a:t>  </a:t>
            </a:r>
            <a:r>
              <a:rPr lang="en-US" dirty="0"/>
              <a:t>e </a:t>
            </a:r>
            <a:r>
              <a:rPr lang="en-US" dirty="0">
                <a:sym typeface="Symbol"/>
              </a:rPr>
              <a:t></a:t>
            </a:r>
            <a:r>
              <a:rPr lang="en-US" dirty="0"/>
              <a:t> m </a:t>
            </a:r>
            <a:r>
              <a:rPr lang="en-US" dirty="0">
                <a:sym typeface="Symbol"/>
              </a:rPr>
              <a:t></a:t>
            </a:r>
            <a:r>
              <a:rPr lang="en-US" dirty="0"/>
              <a:t> 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a:buNone/>
            </a:pPr>
            <a:r>
              <a:rPr lang="en-US" b="1" dirty="0">
                <a:solidFill>
                  <a:srgbClr val="C00000"/>
                </a:solidFill>
              </a:rPr>
              <a:t>	The argument is valid</a:t>
            </a:r>
            <a:r>
              <a:rPr lang="en-US" dirty="0"/>
              <a:t>. Because there are five critical rows</a:t>
            </a:r>
          </a:p>
          <a:p>
            <a:endParaRPr lang="en-US" dirty="0"/>
          </a:p>
          <a:p>
            <a:endParaRPr lang="en-US" dirty="0"/>
          </a:p>
        </p:txBody>
      </p:sp>
      <p:graphicFrame>
        <p:nvGraphicFramePr>
          <p:cNvPr id="4" name="Table 3"/>
          <p:cNvGraphicFramePr>
            <a:graphicFrameLocks noGrp="1"/>
          </p:cNvGraphicFramePr>
          <p:nvPr/>
        </p:nvGraphicFramePr>
        <p:xfrm>
          <a:off x="2590800" y="2286000"/>
          <a:ext cx="7086598" cy="3566160"/>
        </p:xfrm>
        <a:graphic>
          <a:graphicData uri="http://schemas.openxmlformats.org/drawingml/2006/table">
            <a:tbl>
              <a:tblPr/>
              <a:tblGrid>
                <a:gridCol w="614861">
                  <a:extLst>
                    <a:ext uri="{9D8B030D-6E8A-4147-A177-3AD203B41FA5}">
                      <a16:colId xmlns:a16="http://schemas.microsoft.com/office/drawing/2014/main" val="20000"/>
                    </a:ext>
                  </a:extLst>
                </a:gridCol>
                <a:gridCol w="671112">
                  <a:extLst>
                    <a:ext uri="{9D8B030D-6E8A-4147-A177-3AD203B41FA5}">
                      <a16:colId xmlns:a16="http://schemas.microsoft.com/office/drawing/2014/main" val="20001"/>
                    </a:ext>
                  </a:extLst>
                </a:gridCol>
                <a:gridCol w="749606">
                  <a:extLst>
                    <a:ext uri="{9D8B030D-6E8A-4147-A177-3AD203B41FA5}">
                      <a16:colId xmlns:a16="http://schemas.microsoft.com/office/drawing/2014/main" val="20002"/>
                    </a:ext>
                  </a:extLst>
                </a:gridCol>
                <a:gridCol w="760074">
                  <a:extLst>
                    <a:ext uri="{9D8B030D-6E8A-4147-A177-3AD203B41FA5}">
                      <a16:colId xmlns:a16="http://schemas.microsoft.com/office/drawing/2014/main" val="20003"/>
                    </a:ext>
                  </a:extLst>
                </a:gridCol>
                <a:gridCol w="52329">
                  <a:extLst>
                    <a:ext uri="{9D8B030D-6E8A-4147-A177-3AD203B41FA5}">
                      <a16:colId xmlns:a16="http://schemas.microsoft.com/office/drawing/2014/main" val="20004"/>
                    </a:ext>
                  </a:extLst>
                </a:gridCol>
                <a:gridCol w="1412872">
                  <a:extLst>
                    <a:ext uri="{9D8B030D-6E8A-4147-A177-3AD203B41FA5}">
                      <a16:colId xmlns:a16="http://schemas.microsoft.com/office/drawing/2014/main" val="20005"/>
                    </a:ext>
                  </a:extLst>
                </a:gridCol>
                <a:gridCol w="941913">
                  <a:extLst>
                    <a:ext uri="{9D8B030D-6E8A-4147-A177-3AD203B41FA5}">
                      <a16:colId xmlns:a16="http://schemas.microsoft.com/office/drawing/2014/main" val="20006"/>
                    </a:ext>
                  </a:extLst>
                </a:gridCol>
                <a:gridCol w="1883831">
                  <a:extLst>
                    <a:ext uri="{9D8B030D-6E8A-4147-A177-3AD203B41FA5}">
                      <a16:colId xmlns:a16="http://schemas.microsoft.com/office/drawing/2014/main" val="20007"/>
                    </a:ext>
                  </a:extLst>
                </a:gridCol>
              </a:tblGrid>
              <a:tr h="457200">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e</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gridSpan="2">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e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hMerge="1">
                  <a:txBody>
                    <a:bodyPr/>
                    <a:lstStyle/>
                    <a:p>
                      <a:endParaRPr lang="en-US"/>
                    </a:p>
                  </a:txBody>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e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e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s</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CC"/>
                    </a:solidFill>
                  </a:tcPr>
                </a:tc>
                <a:extLst>
                  <a:ext uri="{0D108BD9-81ED-4DB2-BD59-A6C34878D82A}">
                    <a16:rowId xmlns:a16="http://schemas.microsoft.com/office/drawing/2014/main" val="10000"/>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2"/>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5"/>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6"/>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8620">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gridSpan="2">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tc h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2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20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20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
                                            <p:txEl>
                                              <p:pRg st="12" end="12"/>
                                            </p:txEl>
                                          </p:spTgt>
                                        </p:tgtEl>
                                        <p:attrNameLst>
                                          <p:attrName>style.visibility</p:attrName>
                                        </p:attrNameLst>
                                      </p:cBhvr>
                                      <p:to>
                                        <p:strVal val="visible"/>
                                      </p:to>
                                    </p:set>
                                    <p:animEffect transition="in" filter="fade">
                                      <p:cBhvr>
                                        <p:cTn id="30"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C00000"/>
                </a:solidFill>
              </a:rPr>
              <a:t>REMEMBER:</a:t>
            </a:r>
          </a:p>
        </p:txBody>
      </p:sp>
      <p:sp>
        <p:nvSpPr>
          <p:cNvPr id="3" name="Content Placeholder 2"/>
          <p:cNvSpPr>
            <a:spLocks noGrp="1"/>
          </p:cNvSpPr>
          <p:nvPr>
            <p:ph sz="quarter" idx="1"/>
          </p:nvPr>
        </p:nvSpPr>
        <p:spPr/>
        <p:txBody>
          <a:bodyPr/>
          <a:lstStyle/>
          <a:p>
            <a:r>
              <a:rPr lang="en-US" dirty="0"/>
              <a:t>( Remember  that the critical rows are those rows where the premises have truth value T) and in all critical row conclusion has truth value T. (Also remember that we say an argument is valid if in all critical rows conclusion has truth value T)</a:t>
            </a:r>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solidFill>
                  <a:srgbClr val="C00000"/>
                </a:solidFill>
              </a:rPr>
              <a:t>EXERCISE … </a:t>
            </a:r>
            <a:r>
              <a:rPr lang="en-US" sz="4400" dirty="0">
                <a:solidFill>
                  <a:srgbClr val="B31591"/>
                </a:solidFill>
                <a:latin typeface="Cambria Math" panose="02040503050406030204" pitchFamily="18" charset="0"/>
                <a:ea typeface="Cambria Math" panose="02040503050406030204" pitchFamily="18" charset="0"/>
              </a:rPr>
              <a:t>Do it yourself</a:t>
            </a:r>
            <a:endParaRPr lang="en-US" u="sng" dirty="0">
              <a:solidFill>
                <a:srgbClr val="C00000"/>
              </a:solidFill>
            </a:endParaRPr>
          </a:p>
        </p:txBody>
      </p:sp>
      <p:sp>
        <p:nvSpPr>
          <p:cNvPr id="3" name="Content Placeholder 2"/>
          <p:cNvSpPr>
            <a:spLocks noGrp="1"/>
          </p:cNvSpPr>
          <p:nvPr>
            <p:ph sz="quarter" idx="1"/>
          </p:nvPr>
        </p:nvSpPr>
        <p:spPr>
          <a:xfrm>
            <a:off x="1179576" y="1398494"/>
            <a:ext cx="9829800" cy="4948518"/>
          </a:xfrm>
        </p:spPr>
        <p:txBody>
          <a:bodyPr>
            <a:normAutofit/>
          </a:bodyPr>
          <a:lstStyle/>
          <a:p>
            <a:r>
              <a:rPr lang="en-US" sz="2400" dirty="0"/>
              <a:t>An interesting teacher keeps me awake. I stay awake in Discrete Mathematics class. Therefore, my Discrete Mathematics teacher is interesting.</a:t>
            </a:r>
          </a:p>
          <a:p>
            <a:pPr>
              <a:buNone/>
            </a:pPr>
            <a:r>
              <a:rPr lang="en-US" sz="2400" b="1" dirty="0">
                <a:solidFill>
                  <a:srgbClr val="C00000"/>
                </a:solidFill>
              </a:rPr>
              <a:t>	</a:t>
            </a:r>
            <a:r>
              <a:rPr lang="en-US" sz="2400" b="1" u="sng" dirty="0">
                <a:solidFill>
                  <a:srgbClr val="C00000"/>
                </a:solidFill>
              </a:rPr>
              <a:t>Solution:</a:t>
            </a:r>
          </a:p>
          <a:p>
            <a:pPr>
              <a:buNone/>
            </a:pPr>
            <a:r>
              <a:rPr lang="en-US" sz="2400" dirty="0"/>
              <a:t>			</a:t>
            </a:r>
            <a:r>
              <a:rPr lang="en-US" sz="2400" b="1" dirty="0">
                <a:solidFill>
                  <a:srgbClr val="C00000"/>
                </a:solidFill>
              </a:rPr>
              <a:t>t</a:t>
            </a:r>
            <a:r>
              <a:rPr lang="en-US" sz="2400" dirty="0"/>
              <a:t>: my teacher is interesting</a:t>
            </a:r>
          </a:p>
          <a:p>
            <a:pPr>
              <a:buNone/>
            </a:pPr>
            <a:r>
              <a:rPr lang="en-US" sz="2400" dirty="0"/>
              <a:t>			</a:t>
            </a:r>
            <a:r>
              <a:rPr lang="en-US" sz="2400" b="1" dirty="0">
                <a:solidFill>
                  <a:srgbClr val="C00000"/>
                </a:solidFill>
              </a:rPr>
              <a:t>a</a:t>
            </a:r>
            <a:r>
              <a:rPr lang="en-US" sz="2400" dirty="0"/>
              <a:t>: I stay awake</a:t>
            </a:r>
          </a:p>
          <a:p>
            <a:pPr>
              <a:buNone/>
            </a:pPr>
            <a:r>
              <a:rPr lang="en-US" sz="2400" dirty="0"/>
              <a:t>			</a:t>
            </a:r>
            <a:r>
              <a:rPr lang="en-US" sz="2400" b="1" dirty="0">
                <a:solidFill>
                  <a:srgbClr val="C00000"/>
                </a:solidFill>
              </a:rPr>
              <a:t>m</a:t>
            </a:r>
            <a:r>
              <a:rPr lang="en-US" sz="2400" dirty="0"/>
              <a:t>: I am in Discrete Mathematics class </a:t>
            </a:r>
          </a:p>
          <a:p>
            <a:r>
              <a:rPr lang="en-US" sz="2400" dirty="0"/>
              <a:t>The argument to be tested is</a:t>
            </a:r>
          </a:p>
          <a:p>
            <a:pPr>
              <a:buNone/>
            </a:pPr>
            <a:r>
              <a:rPr lang="en-US" sz="2400" dirty="0"/>
              <a:t>					t </a:t>
            </a:r>
            <a:r>
              <a:rPr lang="en-US" sz="2400" dirty="0">
                <a:sym typeface="Symbol"/>
              </a:rPr>
              <a:t></a:t>
            </a:r>
            <a:r>
              <a:rPr lang="en-US" sz="2400" dirty="0"/>
              <a:t> a,</a:t>
            </a:r>
          </a:p>
          <a:p>
            <a:pPr>
              <a:buNone/>
            </a:pPr>
            <a:r>
              <a:rPr lang="en-US" sz="2400" dirty="0"/>
              <a:t>					a </a:t>
            </a:r>
            <a:r>
              <a:rPr lang="en-US" sz="2400" dirty="0">
                <a:sym typeface="Symbol"/>
              </a:rPr>
              <a:t></a:t>
            </a:r>
            <a:r>
              <a:rPr lang="en-US" sz="2400" dirty="0"/>
              <a:t> m </a:t>
            </a:r>
          </a:p>
          <a:p>
            <a:pPr>
              <a:buNone/>
            </a:pPr>
            <a:r>
              <a:rPr lang="en-US" sz="2400" dirty="0"/>
              <a:t>	Therefore			m </a:t>
            </a:r>
            <a:r>
              <a:rPr lang="en-US" sz="2400" dirty="0">
                <a:sym typeface="Symbol"/>
              </a:rPr>
              <a:t></a:t>
            </a:r>
            <a:r>
              <a:rPr lang="en-US" sz="2400" dirty="0"/>
              <a:t> t</a:t>
            </a:r>
          </a:p>
          <a:p>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
          </p:nvPr>
        </p:nvGraphicFramePr>
        <p:xfrm>
          <a:off x="3810000" y="1600200"/>
          <a:ext cx="4953000" cy="3396342"/>
        </p:xfrm>
        <a:graphic>
          <a:graphicData uri="http://schemas.openxmlformats.org/drawingml/2006/table">
            <a:tbl>
              <a:tblPr/>
              <a:tblGrid>
                <a:gridCol w="559228">
                  <a:extLst>
                    <a:ext uri="{9D8B030D-6E8A-4147-A177-3AD203B41FA5}">
                      <a16:colId xmlns:a16="http://schemas.microsoft.com/office/drawing/2014/main" val="20000"/>
                    </a:ext>
                  </a:extLst>
                </a:gridCol>
                <a:gridCol w="623711">
                  <a:extLst>
                    <a:ext uri="{9D8B030D-6E8A-4147-A177-3AD203B41FA5}">
                      <a16:colId xmlns:a16="http://schemas.microsoft.com/office/drawing/2014/main" val="20001"/>
                    </a:ext>
                  </a:extLst>
                </a:gridCol>
                <a:gridCol w="852739">
                  <a:extLst>
                    <a:ext uri="{9D8B030D-6E8A-4147-A177-3AD203B41FA5}">
                      <a16:colId xmlns:a16="http://schemas.microsoft.com/office/drawing/2014/main" val="20002"/>
                    </a:ext>
                  </a:extLst>
                </a:gridCol>
                <a:gridCol w="1000606">
                  <a:extLst>
                    <a:ext uri="{9D8B030D-6E8A-4147-A177-3AD203B41FA5}">
                      <a16:colId xmlns:a16="http://schemas.microsoft.com/office/drawing/2014/main" val="20003"/>
                    </a:ext>
                  </a:extLst>
                </a:gridCol>
                <a:gridCol w="917222">
                  <a:extLst>
                    <a:ext uri="{9D8B030D-6E8A-4147-A177-3AD203B41FA5}">
                      <a16:colId xmlns:a16="http://schemas.microsoft.com/office/drawing/2014/main" val="20004"/>
                    </a:ext>
                  </a:extLst>
                </a:gridCol>
                <a:gridCol w="999494">
                  <a:extLst>
                    <a:ext uri="{9D8B030D-6E8A-4147-A177-3AD203B41FA5}">
                      <a16:colId xmlns:a16="http://schemas.microsoft.com/office/drawing/2014/main" val="20005"/>
                    </a:ext>
                  </a:extLst>
                </a:gridCol>
              </a:tblGrid>
              <a:tr h="412750">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t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a</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a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m</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m </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a:rPr>
                        <a:t></a:t>
                      </a:r>
                      <a:r>
                        <a:rPr kumimoji="0" lang="en-US" sz="2400" b="1" i="0" u="none" strike="noStrike" kern="1200" cap="none" normalizeH="0" baseline="0" dirty="0">
                          <a:ln>
                            <a:noFill/>
                          </a:ln>
                          <a:solidFill>
                            <a:srgbClr val="000000"/>
                          </a:solidFill>
                          <a:effectLst/>
                          <a:latin typeface="Bell MT" pitchFamily="18" charset="0"/>
                          <a:ea typeface="+mn-ea"/>
                          <a:cs typeface="Times New Roman" pitchFamily="18" charset="0"/>
                          <a:sym typeface="Symbol" pitchFamily="18" charset="2"/>
                        </a:rPr>
                        <a:t> 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1"/>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FF99"/>
                    </a:solidFill>
                  </a:tcPr>
                </a:tc>
                <a:extLst>
                  <a:ext uri="{0D108BD9-81ED-4DB2-BD59-A6C34878D82A}">
                    <a16:rowId xmlns:a16="http://schemas.microsoft.com/office/drawing/2014/main" val="10005"/>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72949">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2400" b="0" i="0" u="none" strike="noStrike" kern="1200" cap="none" normalizeH="0" baseline="0" dirty="0">
                          <a:ln>
                            <a:noFill/>
                          </a:ln>
                          <a:solidFill>
                            <a:srgbClr val="000000"/>
                          </a:solidFill>
                          <a:effectLst/>
                          <a:latin typeface="Calibri" pitchFamily="34" charset="0"/>
                          <a:ea typeface="+mn-ea"/>
                          <a:cs typeface="+mn-cs"/>
                        </a:rPr>
                        <a:t>F</a:t>
                      </a:r>
                    </a:p>
                  </a:txBody>
                  <a:tcPr marL="0" marR="0" marT="0" marB="0">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7" name="Rectangle 6"/>
          <p:cNvSpPr/>
          <p:nvPr/>
        </p:nvSpPr>
        <p:spPr>
          <a:xfrm>
            <a:off x="5029200" y="5105400"/>
            <a:ext cx="5181600" cy="762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Argument is not valid.</a:t>
            </a:r>
          </a:p>
          <a:p>
            <a:br>
              <a:rPr lang="en-US" b="1" dirty="0"/>
            </a:b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22F2B-2D78-EB56-E02E-F61CF209E0F3}"/>
              </a:ext>
            </a:extLst>
          </p:cNvPr>
          <p:cNvSpPr>
            <a:spLocks noGrp="1"/>
          </p:cNvSpPr>
          <p:nvPr>
            <p:ph type="title"/>
          </p:nvPr>
        </p:nvSpPr>
        <p:spPr>
          <a:xfrm>
            <a:off x="1705177" y="1449262"/>
            <a:ext cx="8781646" cy="2533075"/>
          </a:xfrm>
        </p:spPr>
        <p:txBody>
          <a:bodyPr>
            <a:normAutofit/>
          </a:bodyPr>
          <a:lstStyle/>
          <a:p>
            <a:r>
              <a:rPr lang="en-US" dirty="0">
                <a:latin typeface="Cambria Math" panose="02040503050406030204" pitchFamily="18" charset="0"/>
                <a:ea typeface="Cambria Math" panose="02040503050406030204" pitchFamily="18" charset="0"/>
              </a:rPr>
              <a:t>Rules of Inference</a:t>
            </a:r>
            <a:endParaRPr lang="en-PK"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799591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52400"/>
            <a:ext cx="8458200" cy="1555376"/>
          </a:xfrm>
        </p:spPr>
        <p:txBody>
          <a:bodyPr>
            <a:normAutofit/>
          </a:bodyPr>
          <a:lstStyle/>
          <a:p>
            <a:pPr algn="ctr"/>
            <a:r>
              <a:rPr lang="en-US" dirty="0"/>
              <a:t>RULES OF INFERENCE</a:t>
            </a:r>
          </a:p>
        </p:txBody>
      </p:sp>
      <p:sp>
        <p:nvSpPr>
          <p:cNvPr id="3" name="Content Placeholder 2"/>
          <p:cNvSpPr>
            <a:spLocks noGrp="1"/>
          </p:cNvSpPr>
          <p:nvPr>
            <p:ph sz="quarter" idx="1"/>
          </p:nvPr>
        </p:nvSpPr>
        <p:spPr>
          <a:xfrm>
            <a:off x="876658" y="1707776"/>
            <a:ext cx="10667283" cy="4637622"/>
          </a:xfrm>
        </p:spPr>
        <p:txBody>
          <a:bodyPr>
            <a:normAutofit fontScale="92500" lnSpcReduction="10000"/>
          </a:bodyPr>
          <a:lstStyle/>
          <a:p>
            <a:pPr>
              <a:lnSpc>
                <a:spcPct val="120000"/>
              </a:lnSpc>
            </a:pPr>
            <a:r>
              <a:rPr lang="en-US" dirty="0"/>
              <a:t>We always use a </a:t>
            </a:r>
            <a:r>
              <a:rPr lang="en-US" b="1" dirty="0">
                <a:solidFill>
                  <a:srgbClr val="002060"/>
                </a:solidFill>
              </a:rPr>
              <a:t>truth table</a:t>
            </a:r>
            <a:r>
              <a:rPr lang="en-US" dirty="0"/>
              <a:t> to show that an argument form is </a:t>
            </a:r>
            <a:r>
              <a:rPr lang="en-US" b="1" dirty="0">
                <a:solidFill>
                  <a:srgbClr val="002060"/>
                </a:solidFill>
              </a:rPr>
              <a:t>valid</a:t>
            </a:r>
            <a:r>
              <a:rPr lang="en-US" dirty="0"/>
              <a:t>.</a:t>
            </a:r>
          </a:p>
          <a:p>
            <a:pPr>
              <a:lnSpc>
                <a:spcPct val="120000"/>
              </a:lnSpc>
            </a:pPr>
            <a:endParaRPr lang="en-US" dirty="0"/>
          </a:p>
          <a:p>
            <a:pPr>
              <a:lnSpc>
                <a:spcPct val="120000"/>
              </a:lnSpc>
            </a:pPr>
            <a:r>
              <a:rPr lang="en-US" dirty="0"/>
              <a:t>We do this by showing that whenever the </a:t>
            </a:r>
            <a:r>
              <a:rPr lang="en-US" b="1" dirty="0">
                <a:solidFill>
                  <a:srgbClr val="002060"/>
                </a:solidFill>
              </a:rPr>
              <a:t>premises</a:t>
            </a:r>
            <a:r>
              <a:rPr lang="en-US" dirty="0"/>
              <a:t> are </a:t>
            </a:r>
            <a:r>
              <a:rPr lang="en-US" b="1" dirty="0">
                <a:solidFill>
                  <a:srgbClr val="002060"/>
                </a:solidFill>
              </a:rPr>
              <a:t>true</a:t>
            </a:r>
            <a:r>
              <a:rPr lang="en-US" dirty="0"/>
              <a:t>, the </a:t>
            </a:r>
            <a:r>
              <a:rPr lang="en-US" b="1" dirty="0">
                <a:solidFill>
                  <a:srgbClr val="002060"/>
                </a:solidFill>
              </a:rPr>
              <a:t>conclusion</a:t>
            </a:r>
            <a:r>
              <a:rPr lang="en-US" dirty="0"/>
              <a:t> must also be </a:t>
            </a:r>
            <a:r>
              <a:rPr lang="en-US" b="1" dirty="0">
                <a:solidFill>
                  <a:srgbClr val="002060"/>
                </a:solidFill>
              </a:rPr>
              <a:t>true</a:t>
            </a:r>
            <a:r>
              <a:rPr lang="en-US" dirty="0"/>
              <a:t>. This can be a tedious approach. </a:t>
            </a:r>
          </a:p>
          <a:p>
            <a:pPr>
              <a:lnSpc>
                <a:spcPct val="120000"/>
              </a:lnSpc>
            </a:pPr>
            <a:endParaRPr lang="en-US" dirty="0"/>
          </a:p>
          <a:p>
            <a:pPr>
              <a:lnSpc>
                <a:spcPct val="120000"/>
              </a:lnSpc>
            </a:pPr>
            <a:r>
              <a:rPr lang="en-US" b="1" dirty="0">
                <a:solidFill>
                  <a:srgbClr val="C00000"/>
                </a:solidFill>
              </a:rPr>
              <a:t>For Example:</a:t>
            </a:r>
          </a:p>
          <a:p>
            <a:pPr>
              <a:lnSpc>
                <a:spcPct val="120000"/>
              </a:lnSpc>
              <a:buNone/>
            </a:pPr>
            <a:r>
              <a:rPr lang="en-US" dirty="0"/>
              <a:t>	When an argument form involves </a:t>
            </a:r>
            <a:r>
              <a:rPr lang="en-US" dirty="0">
                <a:solidFill>
                  <a:srgbClr val="002060"/>
                </a:solidFill>
              </a:rPr>
              <a:t>10 different propositional variables</a:t>
            </a:r>
            <a:r>
              <a:rPr lang="en-US" dirty="0"/>
              <a:t>, to use a truth table to show this argument form is valid requires </a:t>
            </a:r>
            <a:r>
              <a:rPr lang="en-US" dirty="0">
                <a:solidFill>
                  <a:srgbClr val="002060"/>
                </a:solidFill>
              </a:rPr>
              <a:t>2</a:t>
            </a:r>
            <a:r>
              <a:rPr lang="en-US" dirty="0">
                <a:solidFill>
                  <a:srgbClr val="002060"/>
                </a:solidFill>
                <a:latin typeface="Arial"/>
                <a:cs typeface="Arial"/>
              </a:rPr>
              <a:t>¹º = 1024</a:t>
            </a:r>
            <a:r>
              <a:rPr lang="en-US" dirty="0">
                <a:latin typeface="Arial"/>
                <a:cs typeface="Arial"/>
              </a:rPr>
              <a:t> </a:t>
            </a:r>
            <a:r>
              <a:rPr lang="en-US" dirty="0"/>
              <a:t>rows.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1"/>
            <a:ext cx="10515600" cy="1062318"/>
          </a:xfrm>
        </p:spPr>
        <p:txBody>
          <a:bodyPr/>
          <a:lstStyle/>
          <a:p>
            <a:pPr algn="ctr"/>
            <a:r>
              <a:rPr lang="en-US" b="1" dirty="0"/>
              <a:t>RULES OF INFERENCE</a:t>
            </a:r>
          </a:p>
        </p:txBody>
      </p:sp>
      <p:sp>
        <p:nvSpPr>
          <p:cNvPr id="3" name="Content Placeholder 2"/>
          <p:cNvSpPr>
            <a:spLocks noGrp="1"/>
          </p:cNvSpPr>
          <p:nvPr>
            <p:ph sz="quarter" idx="1"/>
          </p:nvPr>
        </p:nvSpPr>
        <p:spPr>
          <a:xfrm>
            <a:off x="1030314" y="1062319"/>
            <a:ext cx="9829800" cy="5526740"/>
          </a:xfrm>
        </p:spPr>
        <p:txBody>
          <a:bodyPr>
            <a:normAutofit fontScale="77500" lnSpcReduction="20000"/>
          </a:bodyPr>
          <a:lstStyle/>
          <a:p>
            <a:pPr>
              <a:lnSpc>
                <a:spcPct val="120000"/>
              </a:lnSpc>
            </a:pPr>
            <a:r>
              <a:rPr lang="en-US" b="1" dirty="0">
                <a:solidFill>
                  <a:srgbClr val="002060"/>
                </a:solidFill>
              </a:rPr>
              <a:t>Inference rules</a:t>
            </a:r>
            <a:r>
              <a:rPr lang="en-US" dirty="0"/>
              <a:t> are </a:t>
            </a:r>
            <a:r>
              <a:rPr lang="en-US" b="1" dirty="0">
                <a:solidFill>
                  <a:srgbClr val="002060"/>
                </a:solidFill>
              </a:rPr>
              <a:t>templates</a:t>
            </a:r>
            <a:r>
              <a:rPr lang="en-US" dirty="0"/>
              <a:t> for </a:t>
            </a:r>
            <a:r>
              <a:rPr lang="en-US" b="1" dirty="0">
                <a:solidFill>
                  <a:srgbClr val="002060"/>
                </a:solidFill>
              </a:rPr>
              <a:t>valid arguments</a:t>
            </a:r>
            <a:r>
              <a:rPr lang="en-US" dirty="0"/>
              <a:t>.</a:t>
            </a:r>
          </a:p>
          <a:p>
            <a:pPr>
              <a:lnSpc>
                <a:spcPct val="120000"/>
              </a:lnSpc>
            </a:pPr>
            <a:endParaRPr lang="en-US" dirty="0"/>
          </a:p>
          <a:p>
            <a:pPr>
              <a:lnSpc>
                <a:spcPct val="120000"/>
              </a:lnSpc>
            </a:pPr>
            <a:r>
              <a:rPr lang="en-US" dirty="0"/>
              <a:t>These rules of inference can be used as </a:t>
            </a:r>
            <a:r>
              <a:rPr lang="en-US" b="1" dirty="0">
                <a:solidFill>
                  <a:srgbClr val="002060"/>
                </a:solidFill>
              </a:rPr>
              <a:t>building blocks</a:t>
            </a:r>
            <a:r>
              <a:rPr lang="en-US" dirty="0"/>
              <a:t> to construct more </a:t>
            </a:r>
            <a:r>
              <a:rPr lang="en-US" b="1" dirty="0">
                <a:solidFill>
                  <a:srgbClr val="002060"/>
                </a:solidFill>
              </a:rPr>
              <a:t>complicated valid argument forms</a:t>
            </a:r>
            <a:r>
              <a:rPr lang="en-US" dirty="0"/>
              <a:t>.</a:t>
            </a:r>
          </a:p>
          <a:p>
            <a:pPr>
              <a:lnSpc>
                <a:spcPct val="120000"/>
              </a:lnSpc>
            </a:pPr>
            <a:endParaRPr lang="en-US" dirty="0"/>
          </a:p>
          <a:p>
            <a:pPr>
              <a:lnSpc>
                <a:spcPct val="120000"/>
              </a:lnSpc>
            </a:pPr>
            <a:r>
              <a:rPr lang="en-US" dirty="0"/>
              <a:t>There are different kind of rules of inference:</a:t>
            </a:r>
          </a:p>
          <a:p>
            <a:pPr lvl="1">
              <a:lnSpc>
                <a:spcPct val="120000"/>
              </a:lnSpc>
            </a:pPr>
            <a:r>
              <a:rPr lang="en-US" dirty="0">
                <a:solidFill>
                  <a:srgbClr val="002060"/>
                </a:solidFill>
              </a:rPr>
              <a:t>Modus Ponens</a:t>
            </a:r>
          </a:p>
          <a:p>
            <a:pPr lvl="1">
              <a:lnSpc>
                <a:spcPct val="120000"/>
              </a:lnSpc>
            </a:pPr>
            <a:r>
              <a:rPr lang="en-US" dirty="0">
                <a:solidFill>
                  <a:srgbClr val="002060"/>
                </a:solidFill>
              </a:rPr>
              <a:t>Modus </a:t>
            </a:r>
            <a:r>
              <a:rPr lang="en-US" dirty="0" err="1">
                <a:solidFill>
                  <a:srgbClr val="002060"/>
                </a:solidFill>
              </a:rPr>
              <a:t>Tollens</a:t>
            </a:r>
            <a:endParaRPr lang="en-US" dirty="0">
              <a:solidFill>
                <a:srgbClr val="002060"/>
              </a:solidFill>
            </a:endParaRPr>
          </a:p>
          <a:p>
            <a:pPr lvl="1">
              <a:lnSpc>
                <a:spcPct val="120000"/>
              </a:lnSpc>
            </a:pPr>
            <a:r>
              <a:rPr lang="en-US" dirty="0">
                <a:solidFill>
                  <a:srgbClr val="002060"/>
                </a:solidFill>
              </a:rPr>
              <a:t>Hypothetical Syllogism</a:t>
            </a:r>
          </a:p>
          <a:p>
            <a:pPr lvl="1">
              <a:lnSpc>
                <a:spcPct val="120000"/>
              </a:lnSpc>
            </a:pPr>
            <a:r>
              <a:rPr lang="en-US" dirty="0">
                <a:solidFill>
                  <a:srgbClr val="002060"/>
                </a:solidFill>
              </a:rPr>
              <a:t>Disjunctive Syllogism</a:t>
            </a:r>
          </a:p>
          <a:p>
            <a:pPr lvl="1">
              <a:lnSpc>
                <a:spcPct val="120000"/>
              </a:lnSpc>
            </a:pPr>
            <a:r>
              <a:rPr lang="en-US" dirty="0">
                <a:solidFill>
                  <a:srgbClr val="002060"/>
                </a:solidFill>
              </a:rPr>
              <a:t>Addition</a:t>
            </a:r>
          </a:p>
          <a:p>
            <a:pPr lvl="1">
              <a:lnSpc>
                <a:spcPct val="120000"/>
              </a:lnSpc>
            </a:pPr>
            <a:r>
              <a:rPr lang="en-US" dirty="0">
                <a:solidFill>
                  <a:srgbClr val="002060"/>
                </a:solidFill>
              </a:rPr>
              <a:t>Simplification</a:t>
            </a:r>
          </a:p>
          <a:p>
            <a:pPr lvl="1">
              <a:lnSpc>
                <a:spcPct val="120000"/>
              </a:lnSpc>
            </a:pPr>
            <a:r>
              <a:rPr lang="en-US" dirty="0">
                <a:solidFill>
                  <a:srgbClr val="002060"/>
                </a:solidFill>
              </a:rPr>
              <a:t>Conjunction</a:t>
            </a:r>
          </a:p>
          <a:p>
            <a:pPr lvl="1">
              <a:lnSpc>
                <a:spcPct val="120000"/>
              </a:lnSpc>
            </a:pPr>
            <a:r>
              <a:rPr lang="en-US" dirty="0">
                <a:solidFill>
                  <a:srgbClr val="002060"/>
                </a:solidFill>
              </a:rPr>
              <a:t>Resolution</a:t>
            </a:r>
          </a:p>
          <a:p>
            <a:pPr>
              <a:lnSpc>
                <a:spcPct val="120000"/>
              </a:lnSpc>
            </a:pPr>
            <a:endParaRPr lang="en-US" dirty="0"/>
          </a:p>
          <a:p>
            <a:pPr>
              <a:lnSpc>
                <a:spcPct val="12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20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20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20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2000"/>
                                        <p:tgtEl>
                                          <p:spTgt spid="3">
                                            <p:txEl>
                                              <p:pRg st="8" end="8"/>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2000"/>
                                        <p:tgtEl>
                                          <p:spTgt spid="3">
                                            <p:txEl>
                                              <p:pRg st="9" end="9"/>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animEffect transition="in" filter="fade">
                                      <p:cBhvr>
                                        <p:cTn id="35" dur="2000"/>
                                        <p:tgtEl>
                                          <p:spTgt spid="3">
                                            <p:txEl>
                                              <p:pRg st="10" end="10"/>
                                            </p:txEl>
                                          </p:spTgt>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
                                            <p:txEl>
                                              <p:pRg st="11" end="11"/>
                                            </p:txEl>
                                          </p:spTgt>
                                        </p:tgtEl>
                                        <p:attrNameLst>
                                          <p:attrName>style.visibility</p:attrName>
                                        </p:attrNameLst>
                                      </p:cBhvr>
                                      <p:to>
                                        <p:strVal val="visible"/>
                                      </p:to>
                                    </p:set>
                                    <p:animEffect transition="in" filter="fade">
                                      <p:cBhvr>
                                        <p:cTn id="38" dur="2000"/>
                                        <p:tgtEl>
                                          <p:spTgt spid="3">
                                            <p:txEl>
                                              <p:pRg st="11" end="11"/>
                                            </p:txEl>
                                          </p:spTgt>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animEffect transition="in" filter="fade">
                                      <p:cBhvr>
                                        <p:cTn id="41" dur="2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4" name="Text Box 3"/>
          <p:cNvSpPr txBox="1">
            <a:spLocks noChangeArrowheads="1"/>
          </p:cNvSpPr>
          <p:nvPr/>
        </p:nvSpPr>
        <p:spPr bwMode="auto">
          <a:xfrm>
            <a:off x="1524000" y="1"/>
            <a:ext cx="4229100" cy="366713"/>
          </a:xfrm>
          <a:prstGeom prst="rect">
            <a:avLst/>
          </a:prstGeom>
          <a:solidFill>
            <a:srgbClr val="FFFF66"/>
          </a:solidFill>
          <a:ln w="9525">
            <a:noFill/>
            <a:miter lim="800000"/>
            <a:headEnd/>
            <a:tailEnd/>
          </a:ln>
        </p:spPr>
        <p:txBody>
          <a:bodyPr wrap="none">
            <a:spAutoFit/>
          </a:bodyPr>
          <a:lstStyle/>
          <a:p>
            <a:r>
              <a:rPr lang="en-GB"/>
              <a:t>Valid Arguments in Propositional Logic</a:t>
            </a:r>
          </a:p>
        </p:txBody>
      </p:sp>
      <p:graphicFrame>
        <p:nvGraphicFramePr>
          <p:cNvPr id="2050" name="Object 7"/>
          <p:cNvGraphicFramePr>
            <a:graphicFrameLocks noChangeAspect="1"/>
          </p:cNvGraphicFramePr>
          <p:nvPr/>
        </p:nvGraphicFramePr>
        <p:xfrm>
          <a:off x="8616951" y="476251"/>
          <a:ext cx="1304925" cy="2087563"/>
        </p:xfrm>
        <a:graphic>
          <a:graphicData uri="http://schemas.openxmlformats.org/presentationml/2006/ole">
            <mc:AlternateContent xmlns:mc="http://schemas.openxmlformats.org/markup-compatibility/2006">
              <mc:Choice xmlns:v="urn:schemas-microsoft-com:vml" Requires="v">
                <p:oleObj spid="_x0000_s8218" name="Equation" r:id="rId3" imgW="444240" imgH="711000" progId="Equation.3">
                  <p:embed/>
                </p:oleObj>
              </mc:Choice>
              <mc:Fallback>
                <p:oleObj name="Equation" r:id="rId3" imgW="444240" imgH="711000" progId="Equation.3">
                  <p:embed/>
                  <p:pic>
                    <p:nvPicPr>
                      <p:cNvPr id="205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16951" y="476251"/>
                        <a:ext cx="1304925" cy="208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nvGrpSpPr>
          <p:cNvPr id="2" name="Group 11"/>
          <p:cNvGrpSpPr>
            <a:grpSpLocks/>
          </p:cNvGrpSpPr>
          <p:nvPr/>
        </p:nvGrpSpPr>
        <p:grpSpPr bwMode="auto">
          <a:xfrm>
            <a:off x="1774826" y="1557339"/>
            <a:ext cx="5832475" cy="415925"/>
            <a:chOff x="204" y="1071"/>
            <a:chExt cx="3674" cy="262"/>
          </a:xfrm>
        </p:grpSpPr>
        <p:graphicFrame>
          <p:nvGraphicFramePr>
            <p:cNvPr id="2053" name="Object 8"/>
            <p:cNvGraphicFramePr>
              <a:graphicFrameLocks noChangeAspect="1"/>
            </p:cNvGraphicFramePr>
            <p:nvPr/>
          </p:nvGraphicFramePr>
          <p:xfrm>
            <a:off x="204" y="1071"/>
            <a:ext cx="1542" cy="262"/>
          </p:xfrm>
          <a:graphic>
            <a:graphicData uri="http://schemas.openxmlformats.org/presentationml/2006/ole">
              <mc:AlternateContent xmlns:mc="http://schemas.openxmlformats.org/markup-compatibility/2006">
                <mc:Choice xmlns:v="urn:schemas-microsoft-com:vml" Requires="v">
                  <p:oleObj spid="_x0000_s8219" name="Equation" r:id="rId5" imgW="1193760" imgH="203040" progId="Equation.3">
                    <p:embed/>
                  </p:oleObj>
                </mc:Choice>
                <mc:Fallback>
                  <p:oleObj name="Equation" r:id="rId5" imgW="1193760" imgH="203040" progId="Equation.3">
                    <p:embed/>
                    <p:pic>
                      <p:nvPicPr>
                        <p:cNvPr id="2053"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4" y="1071"/>
                          <a:ext cx="1542" cy="262"/>
                        </a:xfrm>
                        <a:prstGeom prst="rect">
                          <a:avLst/>
                        </a:prstGeom>
                        <a:solidFill>
                          <a:srgbClr val="FFFF66"/>
                        </a:solidFill>
                        <a:ln>
                          <a:noFill/>
                        </a:ln>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059" name="Text Box 9"/>
            <p:cNvSpPr txBox="1">
              <a:spLocks noChangeArrowheads="1"/>
            </p:cNvSpPr>
            <p:nvPr/>
          </p:nvSpPr>
          <p:spPr bwMode="auto">
            <a:xfrm>
              <a:off x="1746" y="1071"/>
              <a:ext cx="2132" cy="231"/>
            </a:xfrm>
            <a:prstGeom prst="rect">
              <a:avLst/>
            </a:prstGeom>
            <a:solidFill>
              <a:srgbClr val="FFFF66"/>
            </a:solidFill>
            <a:ln w="9525">
              <a:noFill/>
              <a:miter lim="800000"/>
              <a:headEnd/>
              <a:tailEnd/>
            </a:ln>
          </p:spPr>
          <p:txBody>
            <a:bodyPr>
              <a:spAutoFit/>
            </a:bodyPr>
            <a:lstStyle/>
            <a:p>
              <a:r>
                <a:rPr lang="en-GB"/>
                <a:t>  is a tautology (always true)</a:t>
              </a:r>
            </a:p>
          </p:txBody>
        </p:sp>
      </p:grpSp>
      <p:graphicFrame>
        <p:nvGraphicFramePr>
          <p:cNvPr id="5132" name="Object 12"/>
          <p:cNvGraphicFramePr>
            <a:graphicFrameLocks noChangeAspect="1"/>
          </p:cNvGraphicFramePr>
          <p:nvPr/>
        </p:nvGraphicFramePr>
        <p:xfrm>
          <a:off x="3181350" y="2852739"/>
          <a:ext cx="4535488" cy="1652587"/>
        </p:xfrm>
        <a:graphic>
          <a:graphicData uri="http://schemas.openxmlformats.org/presentationml/2006/ole">
            <mc:AlternateContent xmlns:mc="http://schemas.openxmlformats.org/markup-compatibility/2006">
              <mc:Choice xmlns:v="urn:schemas-microsoft-com:vml" Requires="v">
                <p:oleObj spid="_x0000_s8220" name="Equation" r:id="rId7" imgW="3276360" imgH="1193760" progId="Equation.3">
                  <p:embed/>
                </p:oleObj>
              </mc:Choice>
              <mc:Fallback>
                <p:oleObj name="Equation" r:id="rId7" imgW="3276360" imgH="1193760" progId="Equation.3">
                  <p:embed/>
                  <p:pic>
                    <p:nvPicPr>
                      <p:cNvPr id="513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1350" y="2852739"/>
                        <a:ext cx="4535488" cy="165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3" name="Text Box 13"/>
          <p:cNvSpPr txBox="1">
            <a:spLocks noChangeArrowheads="1"/>
          </p:cNvSpPr>
          <p:nvPr/>
        </p:nvSpPr>
        <p:spPr bwMode="auto">
          <a:xfrm>
            <a:off x="4275139" y="5397500"/>
            <a:ext cx="3636637" cy="369332"/>
          </a:xfrm>
          <a:prstGeom prst="rect">
            <a:avLst/>
          </a:prstGeom>
          <a:noFill/>
          <a:ln w="9525">
            <a:noFill/>
            <a:miter lim="800000"/>
            <a:headEnd/>
            <a:tailEnd/>
          </a:ln>
        </p:spPr>
        <p:txBody>
          <a:bodyPr wrap="none">
            <a:spAutoFit/>
          </a:bodyPr>
          <a:lstStyle/>
          <a:p>
            <a:r>
              <a:rPr lang="en-GB"/>
              <a:t>This is another way of saying that</a:t>
            </a:r>
          </a:p>
        </p:txBody>
      </p:sp>
      <p:sp>
        <p:nvSpPr>
          <p:cNvPr id="5134" name="Line 14"/>
          <p:cNvSpPr>
            <a:spLocks noChangeShapeType="1"/>
          </p:cNvSpPr>
          <p:nvPr/>
        </p:nvSpPr>
        <p:spPr bwMode="auto">
          <a:xfrm flipH="1">
            <a:off x="8040688" y="2708275"/>
            <a:ext cx="1223962" cy="2376488"/>
          </a:xfrm>
          <a:prstGeom prst="line">
            <a:avLst/>
          </a:prstGeom>
          <a:noFill/>
          <a:ln w="9525">
            <a:solidFill>
              <a:schemeClr val="tx1"/>
            </a:solidFill>
            <a:round/>
            <a:headEnd/>
            <a:tailEnd type="triangle" w="med" len="med"/>
          </a:ln>
        </p:spPr>
        <p:txBody>
          <a:bodyPr/>
          <a:lstStyle/>
          <a:p>
            <a:endParaRPr lang="en-US"/>
          </a:p>
        </p:txBody>
      </p:sp>
      <p:cxnSp>
        <p:nvCxnSpPr>
          <p:cNvPr id="5135" name="AutoShape 15"/>
          <p:cNvCxnSpPr>
            <a:cxnSpLocks noChangeShapeType="1"/>
          </p:cNvCxnSpPr>
          <p:nvPr/>
        </p:nvCxnSpPr>
        <p:spPr bwMode="auto">
          <a:xfrm rot="5400000" flipH="1">
            <a:off x="1631157" y="3069432"/>
            <a:ext cx="3384550" cy="1655763"/>
          </a:xfrm>
          <a:prstGeom prst="curvedConnector3">
            <a:avLst>
              <a:gd name="adj1" fmla="val 4315"/>
            </a:avLst>
          </a:prstGeom>
          <a:noFill/>
          <a:ln w="9525">
            <a:solidFill>
              <a:schemeClr val="tx1"/>
            </a:solidFill>
            <a:round/>
            <a:headEnd/>
            <a:tailEnd type="triangle" w="med" len="med"/>
          </a:ln>
        </p:spPr>
      </p:cxnSp>
      <p:graphicFrame>
        <p:nvGraphicFramePr>
          <p:cNvPr id="5136" name="Object 16"/>
          <p:cNvGraphicFramePr>
            <a:graphicFrameLocks noChangeAspect="1"/>
          </p:cNvGraphicFramePr>
          <p:nvPr/>
        </p:nvGraphicFramePr>
        <p:xfrm>
          <a:off x="8832850" y="6237289"/>
          <a:ext cx="1657350" cy="414337"/>
        </p:xfrm>
        <a:graphic>
          <a:graphicData uri="http://schemas.openxmlformats.org/presentationml/2006/ole">
            <mc:AlternateContent xmlns:mc="http://schemas.openxmlformats.org/markup-compatibility/2006">
              <mc:Choice xmlns:v="urn:schemas-microsoft-com:vml" Requires="v">
                <p:oleObj spid="_x0000_s8221" name="Equation" r:id="rId9" imgW="812520" imgH="203040" progId="Equation.3">
                  <p:embed/>
                </p:oleObj>
              </mc:Choice>
              <mc:Fallback>
                <p:oleObj name="Equation" r:id="rId9" imgW="812520" imgH="203040" progId="Equation.3">
                  <p:embed/>
                  <p:pic>
                    <p:nvPicPr>
                      <p:cNvPr id="5136"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832850" y="6237289"/>
                        <a:ext cx="1657350" cy="414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3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3" grpId="0"/>
      <p:bldP spid="513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ext Box 2"/>
          <p:cNvSpPr txBox="1">
            <a:spLocks noChangeArrowheads="1"/>
          </p:cNvSpPr>
          <p:nvPr/>
        </p:nvSpPr>
        <p:spPr bwMode="auto">
          <a:xfrm>
            <a:off x="1480380" y="366714"/>
            <a:ext cx="4477508" cy="369332"/>
          </a:xfrm>
          <a:prstGeom prst="rect">
            <a:avLst/>
          </a:prstGeom>
          <a:solidFill>
            <a:srgbClr val="FFFF66"/>
          </a:solidFill>
          <a:ln w="9525">
            <a:noFill/>
            <a:miter lim="800000"/>
            <a:headEnd/>
            <a:tailEnd/>
          </a:ln>
        </p:spPr>
        <p:txBody>
          <a:bodyPr wrap="none">
            <a:spAutoFit/>
          </a:bodyPr>
          <a:lstStyle/>
          <a:p>
            <a:r>
              <a:rPr lang="en-GB" dirty="0"/>
              <a:t>Rules of Inference for Propositional Logic</a:t>
            </a:r>
          </a:p>
        </p:txBody>
      </p:sp>
      <p:graphicFrame>
        <p:nvGraphicFramePr>
          <p:cNvPr id="4098" name="Object 11"/>
          <p:cNvGraphicFramePr>
            <a:graphicFrameLocks noChangeAspect="1"/>
          </p:cNvGraphicFramePr>
          <p:nvPr/>
        </p:nvGraphicFramePr>
        <p:xfrm>
          <a:off x="2711451" y="1125538"/>
          <a:ext cx="1304925" cy="2087562"/>
        </p:xfrm>
        <a:graphic>
          <a:graphicData uri="http://schemas.openxmlformats.org/presentationml/2006/ole">
            <mc:AlternateContent xmlns:mc="http://schemas.openxmlformats.org/markup-compatibility/2006">
              <mc:Choice xmlns:v="urn:schemas-microsoft-com:vml" Requires="v">
                <p:oleObj spid="_x0000_s9224" name="Equation" r:id="rId3" imgW="444240" imgH="711000" progId="Equation.3">
                  <p:embed/>
                </p:oleObj>
              </mc:Choice>
              <mc:Fallback>
                <p:oleObj name="Equation" r:id="rId3" imgW="444240" imgH="711000" progId="Equation.3">
                  <p:embed/>
                  <p:pic>
                    <p:nvPicPr>
                      <p:cNvPr id="4098"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451" y="1125538"/>
                        <a:ext cx="13049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9228" name="Text Box 12"/>
          <p:cNvSpPr txBox="1">
            <a:spLocks noChangeArrowheads="1"/>
          </p:cNvSpPr>
          <p:nvPr/>
        </p:nvSpPr>
        <p:spPr bwMode="auto">
          <a:xfrm>
            <a:off x="5586413" y="1916113"/>
            <a:ext cx="2322512" cy="925512"/>
          </a:xfrm>
          <a:prstGeom prst="rect">
            <a:avLst/>
          </a:prstGeom>
          <a:noFill/>
          <a:ln w="9525">
            <a:solidFill>
              <a:schemeClr val="tx1"/>
            </a:solidFill>
            <a:miter lim="800000"/>
            <a:headEnd/>
            <a:tailEnd/>
          </a:ln>
        </p:spPr>
        <p:txBody>
          <a:bodyPr wrap="none">
            <a:spAutoFit/>
          </a:bodyPr>
          <a:lstStyle/>
          <a:p>
            <a:pPr algn="ctr"/>
            <a:r>
              <a:rPr lang="en-GB" b="1" i="1"/>
              <a:t>modus ponens</a:t>
            </a:r>
          </a:p>
          <a:p>
            <a:pPr algn="ctr"/>
            <a:r>
              <a:rPr lang="en-GB"/>
              <a:t>aka</a:t>
            </a:r>
          </a:p>
          <a:p>
            <a:pPr algn="ctr"/>
            <a:r>
              <a:rPr lang="en-GB"/>
              <a:t> </a:t>
            </a:r>
            <a:r>
              <a:rPr lang="en-GB" b="1" i="1"/>
              <a:t>law of detachment</a:t>
            </a:r>
          </a:p>
        </p:txBody>
      </p:sp>
      <p:sp>
        <p:nvSpPr>
          <p:cNvPr id="9229" name="Text Box 13"/>
          <p:cNvSpPr txBox="1">
            <a:spLocks noChangeArrowheads="1"/>
          </p:cNvSpPr>
          <p:nvPr/>
        </p:nvSpPr>
        <p:spPr bwMode="auto">
          <a:xfrm>
            <a:off x="2855913" y="4868864"/>
            <a:ext cx="6203950" cy="376237"/>
          </a:xfrm>
          <a:prstGeom prst="rect">
            <a:avLst/>
          </a:prstGeom>
          <a:noFill/>
          <a:ln w="9525">
            <a:solidFill>
              <a:schemeClr val="tx1"/>
            </a:solidFill>
            <a:miter lim="800000"/>
            <a:headEnd/>
            <a:tailEnd/>
          </a:ln>
        </p:spPr>
        <p:txBody>
          <a:bodyPr wrap="none">
            <a:spAutoFit/>
          </a:bodyPr>
          <a:lstStyle/>
          <a:p>
            <a:r>
              <a:rPr lang="en-GB" b="1" i="1"/>
              <a:t>modus ponens</a:t>
            </a:r>
            <a:r>
              <a:rPr lang="en-GB"/>
              <a:t> (Latin) translates to “</a:t>
            </a:r>
            <a:r>
              <a:rPr lang="en-GB" b="1" i="1"/>
              <a:t>mode that affirms</a:t>
            </a:r>
            <a:r>
              <a:rPr lang="en-GB"/>
              <a:t>”</a:t>
            </a:r>
          </a:p>
        </p:txBody>
      </p:sp>
      <p:sp>
        <p:nvSpPr>
          <p:cNvPr id="4102" name="Text Box 14"/>
          <p:cNvSpPr txBox="1">
            <a:spLocks noChangeArrowheads="1"/>
          </p:cNvSpPr>
          <p:nvPr/>
        </p:nvSpPr>
        <p:spPr bwMode="auto">
          <a:xfrm>
            <a:off x="9059863" y="451790"/>
            <a:ext cx="1319212" cy="366713"/>
          </a:xfrm>
          <a:prstGeom prst="rect">
            <a:avLst/>
          </a:prstGeom>
          <a:noFill/>
          <a:ln w="9525">
            <a:noFill/>
            <a:miter lim="800000"/>
            <a:headEnd/>
            <a:tailEnd/>
          </a:ln>
        </p:spPr>
        <p:txBody>
          <a:bodyPr wrap="none">
            <a:spAutoFit/>
          </a:bodyPr>
          <a:lstStyle/>
          <a:p>
            <a:r>
              <a:rPr lang="en-GB" dirty="0"/>
              <a:t>The 1</a:t>
            </a:r>
            <a:r>
              <a:rPr lang="en-GB" baseline="30000" dirty="0"/>
              <a:t>st</a:t>
            </a:r>
            <a:r>
              <a:rPr lang="en-GB" dirty="0"/>
              <a:t> law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2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8" grpId="0" animBg="1"/>
      <p:bldP spid="9229"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2060"/>
                </a:solidFill>
              </a:rPr>
              <a:t>MODUS PONENS</a:t>
            </a:r>
          </a:p>
        </p:txBody>
      </p:sp>
      <p:sp>
        <p:nvSpPr>
          <p:cNvPr id="3" name="Content Placeholder 2"/>
          <p:cNvSpPr>
            <a:spLocks noGrp="1"/>
          </p:cNvSpPr>
          <p:nvPr>
            <p:ph sz="quarter" idx="1"/>
          </p:nvPr>
        </p:nvSpPr>
        <p:spPr/>
        <p:txBody>
          <a:bodyPr>
            <a:normAutofit fontScale="92500" lnSpcReduction="10000"/>
          </a:bodyPr>
          <a:lstStyle/>
          <a:p>
            <a:pPr>
              <a:buNone/>
            </a:pPr>
            <a:r>
              <a:rPr lang="en-US" dirty="0"/>
              <a:t>				 p</a:t>
            </a:r>
          </a:p>
          <a:p>
            <a:pPr>
              <a:buNone/>
            </a:pPr>
            <a:r>
              <a:rPr lang="en-US" dirty="0"/>
              <a:t>				 p </a:t>
            </a:r>
            <a:r>
              <a:rPr lang="en-US" dirty="0">
                <a:sym typeface="Symbol"/>
              </a:rPr>
              <a:t> </a:t>
            </a:r>
            <a:r>
              <a:rPr lang="en-US" dirty="0"/>
              <a:t>q</a:t>
            </a:r>
          </a:p>
          <a:p>
            <a:pPr>
              <a:buNone/>
            </a:pPr>
            <a:r>
              <a:rPr lang="en-US" dirty="0"/>
              <a:t>				     q</a:t>
            </a:r>
          </a:p>
          <a:p>
            <a:pPr>
              <a:buNone/>
            </a:pPr>
            <a:r>
              <a:rPr lang="en-US" dirty="0"/>
              <a:t>	</a:t>
            </a:r>
          </a:p>
          <a:p>
            <a:pPr>
              <a:buNone/>
            </a:pPr>
            <a:r>
              <a:rPr lang="en-US" dirty="0"/>
              <a:t>	Alternatively, ((p ∧ (p → q))→q) is </a:t>
            </a:r>
            <a:r>
              <a:rPr lang="en-US" b="1" dirty="0">
                <a:solidFill>
                  <a:srgbClr val="002060"/>
                </a:solidFill>
              </a:rPr>
              <a:t>Tautology.</a:t>
            </a:r>
            <a:r>
              <a:rPr lang="en-US" dirty="0"/>
              <a:t> </a:t>
            </a:r>
          </a:p>
          <a:p>
            <a:pPr>
              <a:buNone/>
            </a:pPr>
            <a:endParaRPr lang="en-US" dirty="0"/>
          </a:p>
          <a:p>
            <a:pPr>
              <a:buNone/>
            </a:pPr>
            <a:r>
              <a:rPr lang="en-US" dirty="0"/>
              <a:t>	Modus Ponens tells us that is a </a:t>
            </a:r>
            <a:r>
              <a:rPr lang="en-US" b="1" dirty="0">
                <a:solidFill>
                  <a:srgbClr val="002060"/>
                </a:solidFill>
              </a:rPr>
              <a:t>conditional statement</a:t>
            </a:r>
            <a:r>
              <a:rPr lang="en-US" dirty="0"/>
              <a:t> and </a:t>
            </a:r>
            <a:r>
              <a:rPr lang="en-US" b="1" dirty="0">
                <a:solidFill>
                  <a:srgbClr val="002060"/>
                </a:solidFill>
              </a:rPr>
              <a:t>hypothesis</a:t>
            </a:r>
            <a:r>
              <a:rPr lang="en-US" dirty="0"/>
              <a:t> of this </a:t>
            </a:r>
            <a:r>
              <a:rPr lang="en-US" b="1" dirty="0">
                <a:solidFill>
                  <a:srgbClr val="002060"/>
                </a:solidFill>
              </a:rPr>
              <a:t>conditional statement</a:t>
            </a:r>
            <a:r>
              <a:rPr lang="en-US" dirty="0"/>
              <a:t> are </a:t>
            </a:r>
            <a:r>
              <a:rPr lang="en-US" b="1" dirty="0">
                <a:solidFill>
                  <a:srgbClr val="002060"/>
                </a:solidFill>
              </a:rPr>
              <a:t>both true</a:t>
            </a:r>
            <a:r>
              <a:rPr lang="en-US" dirty="0"/>
              <a:t>, then the </a:t>
            </a:r>
            <a:r>
              <a:rPr lang="en-US" b="1" dirty="0">
                <a:solidFill>
                  <a:srgbClr val="002060"/>
                </a:solidFill>
              </a:rPr>
              <a:t>conclusion</a:t>
            </a:r>
            <a:r>
              <a:rPr lang="en-US" dirty="0"/>
              <a:t> must also be </a:t>
            </a:r>
            <a:r>
              <a:rPr lang="en-US" b="1" dirty="0">
                <a:solidFill>
                  <a:srgbClr val="002060"/>
                </a:solidFill>
              </a:rPr>
              <a:t>true</a:t>
            </a:r>
            <a:r>
              <a:rPr lang="en-US" dirty="0"/>
              <a:t>.</a:t>
            </a:r>
          </a:p>
          <a:p>
            <a:pPr>
              <a:buNone/>
            </a:pPr>
            <a:endParaRPr lang="en-US" dirty="0"/>
          </a:p>
        </p:txBody>
      </p:sp>
      <p:cxnSp>
        <p:nvCxnSpPr>
          <p:cNvPr id="5" name="Straight Connector 4"/>
          <p:cNvCxnSpPr/>
          <p:nvPr/>
        </p:nvCxnSpPr>
        <p:spPr>
          <a:xfrm>
            <a:off x="3886200" y="2870012"/>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026" name="Object 2"/>
          <p:cNvGraphicFramePr>
            <a:graphicFrameLocks noChangeAspect="1"/>
          </p:cNvGraphicFramePr>
          <p:nvPr>
            <p:extLst>
              <p:ext uri="{D42A27DB-BD31-4B8C-83A1-F6EECF244321}">
                <p14:modId xmlns:p14="http://schemas.microsoft.com/office/powerpoint/2010/main" val="3388733675"/>
              </p:ext>
            </p:extLst>
          </p:nvPr>
        </p:nvGraphicFramePr>
        <p:xfrm>
          <a:off x="3886200" y="2870012"/>
          <a:ext cx="457200" cy="381000"/>
        </p:xfrm>
        <a:graphic>
          <a:graphicData uri="http://schemas.openxmlformats.org/presentationml/2006/ole">
            <mc:AlternateContent xmlns:mc="http://schemas.openxmlformats.org/markup-compatibility/2006">
              <mc:Choice xmlns:v="urn:schemas-microsoft-com:vml" Requires="v">
                <p:oleObj spid="_x0000_s10248" name="Equation" r:id="rId3" imgW="139680" imgH="126720" progId="Equation.3">
                  <p:embed/>
                </p:oleObj>
              </mc:Choice>
              <mc:Fallback>
                <p:oleObj name="Equation" r:id="rId3" imgW="139680" imgH="126720" progId="Equation.3">
                  <p:embed/>
                  <p:pic>
                    <p:nvPicPr>
                      <p:cNvPr id="102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870012"/>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2000"/>
                                        <p:tgtEl>
                                          <p:spTgt spid="10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20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20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2000"/>
                                        <p:tgtEl>
                                          <p:spTgt spid="3">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164937"/>
            <a:ext cx="10515600" cy="1325563"/>
          </a:xfrm>
        </p:spPr>
        <p:txBody>
          <a:bodyPr/>
          <a:lstStyle/>
          <a:p>
            <a:pPr algn="ctr"/>
            <a:r>
              <a:rPr lang="en-US" dirty="0">
                <a:solidFill>
                  <a:srgbClr val="002060"/>
                </a:solidFill>
              </a:rPr>
              <a:t>EXAMPLE</a:t>
            </a:r>
          </a:p>
        </p:txBody>
      </p:sp>
      <p:sp>
        <p:nvSpPr>
          <p:cNvPr id="3" name="Content Placeholder 2"/>
          <p:cNvSpPr>
            <a:spLocks noGrp="1"/>
          </p:cNvSpPr>
          <p:nvPr>
            <p:ph sz="quarter" idx="1"/>
          </p:nvPr>
        </p:nvSpPr>
        <p:spPr>
          <a:xfrm>
            <a:off x="1136904" y="1282890"/>
            <a:ext cx="11055096" cy="5575109"/>
          </a:xfrm>
        </p:spPr>
        <p:txBody>
          <a:bodyPr>
            <a:normAutofit fontScale="85000" lnSpcReduction="20000"/>
          </a:bodyPr>
          <a:lstStyle/>
          <a:p>
            <a:pPr>
              <a:buNone/>
            </a:pPr>
            <a:r>
              <a:rPr lang="en-US" dirty="0"/>
              <a:t>	</a:t>
            </a:r>
            <a:r>
              <a:rPr lang="en-US" dirty="0">
                <a:solidFill>
                  <a:srgbClr val="C00000"/>
                </a:solidFill>
              </a:rPr>
              <a:t>If you have a current password, then you can log on to the network.</a:t>
            </a:r>
          </a:p>
          <a:p>
            <a:pPr>
              <a:buNone/>
            </a:pPr>
            <a:r>
              <a:rPr lang="en-US" dirty="0">
                <a:solidFill>
                  <a:srgbClr val="C00000"/>
                </a:solidFill>
              </a:rPr>
              <a:t>	You have the password.</a:t>
            </a:r>
          </a:p>
          <a:p>
            <a:pPr>
              <a:buNone/>
            </a:pPr>
            <a:r>
              <a:rPr lang="en-US" dirty="0"/>
              <a:t>	Therefore,</a:t>
            </a:r>
          </a:p>
          <a:p>
            <a:pPr>
              <a:buNone/>
            </a:pPr>
            <a:r>
              <a:rPr lang="en-US" dirty="0"/>
              <a:t>	</a:t>
            </a:r>
            <a:r>
              <a:rPr lang="en-US" dirty="0">
                <a:solidFill>
                  <a:srgbClr val="C00000"/>
                </a:solidFill>
              </a:rPr>
              <a:t>You can log on to the network.</a:t>
            </a:r>
          </a:p>
          <a:p>
            <a:pPr>
              <a:buNone/>
            </a:pPr>
            <a:r>
              <a:rPr lang="en-US" dirty="0"/>
              <a:t>	</a:t>
            </a:r>
          </a:p>
          <a:p>
            <a:pPr>
              <a:buNone/>
            </a:pPr>
            <a:r>
              <a:rPr lang="en-US" b="1" dirty="0">
                <a:solidFill>
                  <a:srgbClr val="002060"/>
                </a:solidFill>
              </a:rPr>
              <a:t>	</a:t>
            </a:r>
            <a:r>
              <a:rPr lang="en-US" b="1" u="sng" dirty="0">
                <a:solidFill>
                  <a:srgbClr val="002060"/>
                </a:solidFill>
              </a:rPr>
              <a:t>Solution:</a:t>
            </a:r>
          </a:p>
          <a:p>
            <a:pPr>
              <a:buNone/>
            </a:pPr>
            <a:r>
              <a:rPr lang="en-US" dirty="0"/>
              <a:t>			Let </a:t>
            </a:r>
            <a:r>
              <a:rPr lang="en-US" b="1" dirty="0">
                <a:solidFill>
                  <a:srgbClr val="C00000"/>
                </a:solidFill>
              </a:rPr>
              <a:t>p</a:t>
            </a:r>
            <a:r>
              <a:rPr lang="en-US" dirty="0"/>
              <a:t> = </a:t>
            </a:r>
            <a:r>
              <a:rPr lang="en-US" dirty="0">
                <a:solidFill>
                  <a:srgbClr val="002060"/>
                </a:solidFill>
              </a:rPr>
              <a:t>you have a current password.</a:t>
            </a:r>
          </a:p>
          <a:p>
            <a:pPr>
              <a:buNone/>
            </a:pPr>
            <a:r>
              <a:rPr lang="en-US" dirty="0"/>
              <a:t>			     </a:t>
            </a:r>
            <a:r>
              <a:rPr lang="en-US" b="1" dirty="0">
                <a:solidFill>
                  <a:srgbClr val="C00000"/>
                </a:solidFill>
              </a:rPr>
              <a:t>q</a:t>
            </a:r>
            <a:r>
              <a:rPr lang="en-US" dirty="0"/>
              <a:t> = </a:t>
            </a:r>
            <a:r>
              <a:rPr lang="en-US" dirty="0">
                <a:solidFill>
                  <a:srgbClr val="002060"/>
                </a:solidFill>
              </a:rPr>
              <a:t>you can log on to the network</a:t>
            </a:r>
          </a:p>
          <a:p>
            <a:pPr>
              <a:buNone/>
            </a:pPr>
            <a:endParaRPr lang="en-US" dirty="0"/>
          </a:p>
          <a:p>
            <a:pPr>
              <a:buNone/>
            </a:pPr>
            <a:r>
              <a:rPr lang="en-US" dirty="0"/>
              <a:t>	Symbolically:</a:t>
            </a:r>
          </a:p>
          <a:p>
            <a:pPr>
              <a:buNone/>
            </a:pPr>
            <a:r>
              <a:rPr lang="en-US" dirty="0"/>
              <a:t>				 p </a:t>
            </a:r>
            <a:r>
              <a:rPr lang="en-US" dirty="0">
                <a:sym typeface="Symbol"/>
              </a:rPr>
              <a:t> </a:t>
            </a:r>
            <a:r>
              <a:rPr lang="en-US" dirty="0"/>
              <a:t>q</a:t>
            </a:r>
          </a:p>
          <a:p>
            <a:pPr>
              <a:buNone/>
            </a:pPr>
            <a:r>
              <a:rPr lang="en-US" dirty="0"/>
              <a:t>				 p</a:t>
            </a:r>
          </a:p>
          <a:p>
            <a:pPr>
              <a:buNone/>
            </a:pPr>
            <a:r>
              <a:rPr lang="en-US" dirty="0"/>
              <a:t>			               q  						</a:t>
            </a:r>
          </a:p>
          <a:p>
            <a:pPr>
              <a:buNone/>
            </a:pPr>
            <a:r>
              <a:rPr lang="en-US" dirty="0"/>
              <a:t>(this form of argument is called </a:t>
            </a:r>
            <a:r>
              <a:rPr lang="en-US" b="1" dirty="0">
                <a:solidFill>
                  <a:srgbClr val="C00000"/>
                </a:solidFill>
              </a:rPr>
              <a:t>modus ponens</a:t>
            </a:r>
            <a:r>
              <a:rPr lang="en-US" dirty="0"/>
              <a:t>)</a:t>
            </a:r>
          </a:p>
          <a:p>
            <a:pPr>
              <a:buNone/>
            </a:pPr>
            <a:endParaRPr lang="en-US" dirty="0"/>
          </a:p>
          <a:p>
            <a:pPr>
              <a:buNone/>
            </a:pPr>
            <a:endParaRPr lang="en-US" dirty="0"/>
          </a:p>
        </p:txBody>
      </p:sp>
      <p:cxnSp>
        <p:nvCxnSpPr>
          <p:cNvPr id="4" name="Straight Connector 3"/>
          <p:cNvCxnSpPr/>
          <p:nvPr/>
        </p:nvCxnSpPr>
        <p:spPr>
          <a:xfrm>
            <a:off x="3850366" y="5905864"/>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528192240"/>
              </p:ext>
            </p:extLst>
          </p:nvPr>
        </p:nvGraphicFramePr>
        <p:xfrm>
          <a:off x="3621766" y="5905864"/>
          <a:ext cx="457200" cy="381000"/>
        </p:xfrm>
        <a:graphic>
          <a:graphicData uri="http://schemas.openxmlformats.org/presentationml/2006/ole">
            <mc:AlternateContent xmlns:mc="http://schemas.openxmlformats.org/markup-compatibility/2006">
              <mc:Choice xmlns:v="urn:schemas-microsoft-com:vml" Requires="v">
                <p:oleObj spid="_x0000_s11273"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1766" y="590586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par>
                                <p:cTn id="63" presetID="3" presetClass="entr" presetSubtype="1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linds(horizontal)">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3">
                                            <p:txEl>
                                              <p:pRg st="12" end="12"/>
                                            </p:txEl>
                                          </p:spTgt>
                                        </p:tgtEl>
                                        <p:attrNameLst>
                                          <p:attrName>style.visibility</p:attrName>
                                        </p:attrNameLst>
                                      </p:cBhvr>
                                      <p:to>
                                        <p:strVal val="visible"/>
                                      </p:to>
                                    </p:set>
                                    <p:animEffect transition="in" filter="blinds(horizontal)">
                                      <p:cBhvr>
                                        <p:cTn id="70" dur="500"/>
                                        <p:tgtEl>
                                          <p:spTgt spid="3">
                                            <p:txEl>
                                              <p:pRg st="12" end="1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3">
                                            <p:txEl>
                                              <p:pRg st="13" end="13"/>
                                            </p:txEl>
                                          </p:spTgt>
                                        </p:tgtEl>
                                        <p:attrNameLst>
                                          <p:attrName>style.visibility</p:attrName>
                                        </p:attrNameLst>
                                      </p:cBhvr>
                                      <p:to>
                                        <p:strVal val="visible"/>
                                      </p:to>
                                    </p:set>
                                    <p:animEffect transition="in" filter="blinds(horizontal)">
                                      <p:cBhvr>
                                        <p:cTn id="75"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2060"/>
                </a:solidFill>
              </a:rPr>
              <a:t>MODUS TOLLENS</a:t>
            </a:r>
          </a:p>
        </p:txBody>
      </p:sp>
      <p:sp>
        <p:nvSpPr>
          <p:cNvPr id="3" name="Content Placeholder 2"/>
          <p:cNvSpPr>
            <a:spLocks noGrp="1"/>
          </p:cNvSpPr>
          <p:nvPr>
            <p:ph sz="quarter" idx="1"/>
          </p:nvPr>
        </p:nvSpPr>
        <p:spPr>
          <a:xfrm>
            <a:off x="1179575" y="1911096"/>
            <a:ext cx="9588509" cy="3859742"/>
          </a:xfrm>
        </p:spPr>
        <p:txBody>
          <a:bodyPr>
            <a:normAutofit fontScale="77500" lnSpcReduction="20000"/>
          </a:bodyPr>
          <a:lstStyle/>
          <a:p>
            <a:pPr>
              <a:lnSpc>
                <a:spcPct val="120000"/>
              </a:lnSpc>
              <a:buNone/>
            </a:pPr>
            <a:r>
              <a:rPr lang="en-US" dirty="0"/>
              <a:t>					~ q	</a:t>
            </a:r>
          </a:p>
          <a:p>
            <a:pPr>
              <a:lnSpc>
                <a:spcPct val="120000"/>
              </a:lnSpc>
              <a:buNone/>
            </a:pPr>
            <a:r>
              <a:rPr lang="en-US" sz="2400" dirty="0"/>
              <a:t>					p </a:t>
            </a:r>
            <a:r>
              <a:rPr lang="en-US" sz="2400" dirty="0">
                <a:sym typeface="Symbol"/>
              </a:rPr>
              <a:t></a:t>
            </a:r>
            <a:r>
              <a:rPr lang="en-US" sz="2400" dirty="0"/>
              <a:t> q</a:t>
            </a:r>
          </a:p>
          <a:p>
            <a:pPr>
              <a:lnSpc>
                <a:spcPct val="120000"/>
              </a:lnSpc>
              <a:buNone/>
            </a:pPr>
            <a:r>
              <a:rPr lang="en-US" dirty="0"/>
              <a:t>					  </a:t>
            </a:r>
            <a:r>
              <a:rPr lang="en-US" sz="2400" dirty="0"/>
              <a:t>~ p</a:t>
            </a:r>
          </a:p>
          <a:p>
            <a:pPr>
              <a:lnSpc>
                <a:spcPct val="120000"/>
              </a:lnSpc>
              <a:buNone/>
            </a:pPr>
            <a:endParaRPr lang="en-US" sz="2400" dirty="0"/>
          </a:p>
          <a:p>
            <a:pPr>
              <a:lnSpc>
                <a:spcPct val="120000"/>
              </a:lnSpc>
              <a:buNone/>
            </a:pPr>
            <a:r>
              <a:rPr lang="en-US" dirty="0"/>
              <a:t>	Alternatively, ((</a:t>
            </a:r>
            <a:r>
              <a:rPr lang="en-US" sz="2400" dirty="0"/>
              <a:t>~ q</a:t>
            </a:r>
            <a:r>
              <a:rPr lang="en-US" dirty="0"/>
              <a:t> ∧ (p → q))→ </a:t>
            </a:r>
            <a:r>
              <a:rPr lang="en-US" sz="2400" dirty="0"/>
              <a:t>~ p</a:t>
            </a:r>
            <a:r>
              <a:rPr lang="en-US" dirty="0"/>
              <a:t>) is </a:t>
            </a:r>
            <a:r>
              <a:rPr lang="en-US" b="1" dirty="0">
                <a:solidFill>
                  <a:srgbClr val="002060"/>
                </a:solidFill>
              </a:rPr>
              <a:t>Tautology</a:t>
            </a:r>
            <a:r>
              <a:rPr lang="en-US" dirty="0"/>
              <a:t>.</a:t>
            </a:r>
          </a:p>
          <a:p>
            <a:pPr>
              <a:lnSpc>
                <a:spcPct val="120000"/>
              </a:lnSpc>
              <a:buNone/>
            </a:pPr>
            <a:endParaRPr lang="en-US" dirty="0"/>
          </a:p>
          <a:p>
            <a:pPr>
              <a:lnSpc>
                <a:spcPct val="120000"/>
              </a:lnSpc>
              <a:buNone/>
            </a:pPr>
            <a:r>
              <a:rPr lang="en-US" dirty="0"/>
              <a:t>	Modus </a:t>
            </a:r>
            <a:r>
              <a:rPr lang="en-US" dirty="0" err="1"/>
              <a:t>Tollens</a:t>
            </a:r>
            <a:r>
              <a:rPr lang="en-US" dirty="0"/>
              <a:t> tells us that a </a:t>
            </a:r>
            <a:r>
              <a:rPr lang="en-US" dirty="0">
                <a:solidFill>
                  <a:srgbClr val="002060"/>
                </a:solidFill>
              </a:rPr>
              <a:t>conditional statement</a:t>
            </a:r>
            <a:r>
              <a:rPr lang="en-US" dirty="0"/>
              <a:t> is </a:t>
            </a:r>
            <a:r>
              <a:rPr lang="en-US" dirty="0">
                <a:solidFill>
                  <a:srgbClr val="002060"/>
                </a:solidFill>
              </a:rPr>
              <a:t>true</a:t>
            </a:r>
            <a:r>
              <a:rPr lang="en-US" dirty="0"/>
              <a:t>,  </a:t>
            </a:r>
            <a:r>
              <a:rPr lang="en-US" dirty="0">
                <a:solidFill>
                  <a:srgbClr val="002060"/>
                </a:solidFill>
              </a:rPr>
              <a:t>conclusion</a:t>
            </a:r>
            <a:r>
              <a:rPr lang="en-US" dirty="0"/>
              <a:t> of this </a:t>
            </a:r>
            <a:r>
              <a:rPr lang="en-US" dirty="0">
                <a:solidFill>
                  <a:srgbClr val="002060"/>
                </a:solidFill>
              </a:rPr>
              <a:t>conditional statement</a:t>
            </a:r>
            <a:r>
              <a:rPr lang="en-US" dirty="0"/>
              <a:t> is </a:t>
            </a:r>
            <a:r>
              <a:rPr lang="en-US" dirty="0">
                <a:solidFill>
                  <a:srgbClr val="002060"/>
                </a:solidFill>
              </a:rPr>
              <a:t>false</a:t>
            </a:r>
            <a:r>
              <a:rPr lang="en-US" dirty="0"/>
              <a:t>, then the</a:t>
            </a:r>
            <a:r>
              <a:rPr lang="en-US" dirty="0">
                <a:solidFill>
                  <a:srgbClr val="002060"/>
                </a:solidFill>
              </a:rPr>
              <a:t> hypothesis</a:t>
            </a:r>
            <a:r>
              <a:rPr lang="en-US" dirty="0"/>
              <a:t> will also be </a:t>
            </a:r>
            <a:r>
              <a:rPr lang="en-US" dirty="0">
                <a:solidFill>
                  <a:srgbClr val="002060"/>
                </a:solidFill>
              </a:rPr>
              <a:t>false</a:t>
            </a:r>
            <a:r>
              <a:rPr lang="en-US" dirty="0"/>
              <a:t>. </a:t>
            </a:r>
          </a:p>
          <a:p>
            <a:pPr>
              <a:lnSpc>
                <a:spcPct val="120000"/>
              </a:lnSpc>
              <a:buNone/>
            </a:pPr>
            <a:endParaRPr lang="en-US" dirty="0"/>
          </a:p>
          <a:p>
            <a:pPr>
              <a:lnSpc>
                <a:spcPct val="120000"/>
              </a:lnSpc>
              <a:buNone/>
            </a:pPr>
            <a:endParaRPr lang="en-US" dirty="0"/>
          </a:p>
        </p:txBody>
      </p:sp>
      <p:cxnSp>
        <p:nvCxnSpPr>
          <p:cNvPr id="4" name="Straight Connector 3"/>
          <p:cNvCxnSpPr/>
          <p:nvPr/>
        </p:nvCxnSpPr>
        <p:spPr>
          <a:xfrm>
            <a:off x="4582520" y="2810158"/>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4152675423"/>
              </p:ext>
            </p:extLst>
          </p:nvPr>
        </p:nvGraphicFramePr>
        <p:xfrm>
          <a:off x="4476750" y="2840704"/>
          <a:ext cx="457200" cy="381000"/>
        </p:xfrm>
        <a:graphic>
          <a:graphicData uri="http://schemas.openxmlformats.org/presentationml/2006/ole">
            <mc:AlternateContent xmlns:mc="http://schemas.openxmlformats.org/markup-compatibility/2006">
              <mc:Choice xmlns:v="urn:schemas-microsoft-com:vml" Requires="v">
                <p:oleObj spid="_x0000_s12297"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6750" y="284070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20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blinds(horizontal)">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365126"/>
            <a:ext cx="10515600" cy="946150"/>
          </a:xfrm>
        </p:spPr>
        <p:txBody>
          <a:bodyPr/>
          <a:lstStyle/>
          <a:p>
            <a:pPr algn="ctr"/>
            <a:r>
              <a:rPr lang="en-US" dirty="0">
                <a:solidFill>
                  <a:srgbClr val="002060"/>
                </a:solidFill>
              </a:rPr>
              <a:t>EXAMPLE</a:t>
            </a:r>
          </a:p>
        </p:txBody>
      </p:sp>
      <p:sp>
        <p:nvSpPr>
          <p:cNvPr id="3" name="Content Placeholder 2"/>
          <p:cNvSpPr>
            <a:spLocks noGrp="1"/>
          </p:cNvSpPr>
          <p:nvPr>
            <p:ph sz="quarter" idx="1"/>
          </p:nvPr>
        </p:nvSpPr>
        <p:spPr>
          <a:xfrm>
            <a:off x="946483" y="1311275"/>
            <a:ext cx="10914185" cy="5181600"/>
          </a:xfrm>
        </p:spPr>
        <p:txBody>
          <a:bodyPr>
            <a:normAutofit fontScale="85000" lnSpcReduction="20000"/>
          </a:bodyPr>
          <a:lstStyle/>
          <a:p>
            <a:pPr>
              <a:buNone/>
            </a:pPr>
            <a:r>
              <a:rPr lang="en-US" dirty="0"/>
              <a:t>	</a:t>
            </a:r>
            <a:r>
              <a:rPr lang="en-US" dirty="0">
                <a:solidFill>
                  <a:srgbClr val="C00000"/>
                </a:solidFill>
              </a:rPr>
              <a:t>You can’t log on to the network.</a:t>
            </a:r>
          </a:p>
          <a:p>
            <a:pPr>
              <a:buNone/>
            </a:pPr>
            <a:r>
              <a:rPr lang="en-US" dirty="0">
                <a:solidFill>
                  <a:srgbClr val="C00000"/>
                </a:solidFill>
              </a:rPr>
              <a:t>	If you have a current password, then you can log on to the network.</a:t>
            </a:r>
          </a:p>
          <a:p>
            <a:pPr>
              <a:buNone/>
            </a:pPr>
            <a:r>
              <a:rPr lang="en-US" dirty="0"/>
              <a:t>	Therefore,</a:t>
            </a:r>
          </a:p>
          <a:p>
            <a:pPr>
              <a:buNone/>
            </a:pPr>
            <a:r>
              <a:rPr lang="en-US" dirty="0"/>
              <a:t>	</a:t>
            </a:r>
            <a:r>
              <a:rPr lang="en-US" dirty="0">
                <a:solidFill>
                  <a:srgbClr val="C00000"/>
                </a:solidFill>
              </a:rPr>
              <a:t>You don't have a current password.</a:t>
            </a:r>
          </a:p>
          <a:p>
            <a:pPr>
              <a:buNone/>
            </a:pPr>
            <a:endParaRPr lang="en-US" dirty="0"/>
          </a:p>
          <a:p>
            <a:pPr>
              <a:buNone/>
            </a:pPr>
            <a:r>
              <a:rPr lang="en-US" dirty="0"/>
              <a:t>	Solution:</a:t>
            </a:r>
          </a:p>
          <a:p>
            <a:pPr>
              <a:buNone/>
            </a:pPr>
            <a:r>
              <a:rPr lang="en-US" dirty="0"/>
              <a:t>			Let </a:t>
            </a:r>
            <a:r>
              <a:rPr lang="en-US" b="1" dirty="0">
                <a:solidFill>
                  <a:srgbClr val="C00000"/>
                </a:solidFill>
              </a:rPr>
              <a:t>p</a:t>
            </a:r>
            <a:r>
              <a:rPr lang="en-US" dirty="0"/>
              <a:t> = </a:t>
            </a:r>
            <a:r>
              <a:rPr lang="en-US" dirty="0">
                <a:solidFill>
                  <a:srgbClr val="002060"/>
                </a:solidFill>
              </a:rPr>
              <a:t>you have a current password.</a:t>
            </a:r>
          </a:p>
          <a:p>
            <a:pPr>
              <a:buNone/>
            </a:pPr>
            <a:r>
              <a:rPr lang="en-US" dirty="0"/>
              <a:t>			     </a:t>
            </a:r>
            <a:r>
              <a:rPr lang="en-US" b="1" dirty="0">
                <a:solidFill>
                  <a:srgbClr val="C00000"/>
                </a:solidFill>
              </a:rPr>
              <a:t>q</a:t>
            </a:r>
            <a:r>
              <a:rPr lang="en-US" dirty="0"/>
              <a:t> = </a:t>
            </a:r>
            <a:r>
              <a:rPr lang="en-US" dirty="0">
                <a:solidFill>
                  <a:srgbClr val="002060"/>
                </a:solidFill>
              </a:rPr>
              <a:t>you can log on to the network</a:t>
            </a:r>
          </a:p>
          <a:p>
            <a:pPr>
              <a:buNone/>
            </a:pPr>
            <a:endParaRPr lang="en-US" dirty="0"/>
          </a:p>
          <a:p>
            <a:pPr>
              <a:buNone/>
            </a:pPr>
            <a:r>
              <a:rPr lang="en-US" dirty="0"/>
              <a:t>	Symbolically:</a:t>
            </a:r>
          </a:p>
          <a:p>
            <a:pPr>
              <a:buNone/>
            </a:pPr>
            <a:r>
              <a:rPr lang="en-US" dirty="0"/>
              <a:t>				</a:t>
            </a:r>
            <a:r>
              <a:rPr lang="en-US" sz="2400" dirty="0"/>
              <a:t> ~ q</a:t>
            </a:r>
            <a:endParaRPr lang="en-US" dirty="0"/>
          </a:p>
          <a:p>
            <a:pPr>
              <a:buNone/>
            </a:pPr>
            <a:r>
              <a:rPr lang="en-US" dirty="0"/>
              <a:t>				</a:t>
            </a:r>
            <a:r>
              <a:rPr lang="en-US" sz="2400" dirty="0"/>
              <a:t> p </a:t>
            </a:r>
            <a:r>
              <a:rPr lang="en-US" sz="2400" dirty="0">
                <a:sym typeface="Symbol"/>
              </a:rPr>
              <a:t></a:t>
            </a:r>
            <a:r>
              <a:rPr lang="en-US" sz="2400" dirty="0"/>
              <a:t> q</a:t>
            </a:r>
          </a:p>
          <a:p>
            <a:pPr>
              <a:buNone/>
            </a:pPr>
            <a:r>
              <a:rPr lang="en-US" dirty="0"/>
              <a:t>				    </a:t>
            </a:r>
            <a:r>
              <a:rPr lang="en-US" sz="2400" dirty="0"/>
              <a:t>~ p </a:t>
            </a:r>
          </a:p>
          <a:p>
            <a:endParaRPr lang="en-US" dirty="0"/>
          </a:p>
        </p:txBody>
      </p:sp>
      <p:cxnSp>
        <p:nvCxnSpPr>
          <p:cNvPr id="4" name="Straight Connector 3"/>
          <p:cNvCxnSpPr/>
          <p:nvPr/>
        </p:nvCxnSpPr>
        <p:spPr>
          <a:xfrm>
            <a:off x="3728880" y="5928302"/>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61080347"/>
              </p:ext>
            </p:extLst>
          </p:nvPr>
        </p:nvGraphicFramePr>
        <p:xfrm>
          <a:off x="3728880" y="5928302"/>
          <a:ext cx="457200" cy="381000"/>
        </p:xfrm>
        <a:graphic>
          <a:graphicData uri="http://schemas.openxmlformats.org/presentationml/2006/ole">
            <mc:AlternateContent xmlns:mc="http://schemas.openxmlformats.org/markup-compatibility/2006">
              <mc:Choice xmlns:v="urn:schemas-microsoft-com:vml" Requires="v">
                <p:oleObj spid="_x0000_s13320"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28880" y="5928302"/>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20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20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20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20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blinds(horizontal)">
                                      <p:cBhvr>
                                        <p:cTn id="62" dur="500"/>
                                        <p:tgtEl>
                                          <p:spTgt spid="4"/>
                                        </p:tgtEl>
                                      </p:cBhvr>
                                    </p:animEffect>
                                  </p:childTnLst>
                                </p:cTn>
                              </p:par>
                              <p:par>
                                <p:cTn id="63" presetID="3" presetClass="entr" presetSubtype="10" fill="hold" nodeType="withEffect">
                                  <p:stCondLst>
                                    <p:cond delay="0"/>
                                  </p:stCondLst>
                                  <p:childTnLst>
                                    <p:set>
                                      <p:cBhvr>
                                        <p:cTn id="64" dur="1" fill="hold">
                                          <p:stCondLst>
                                            <p:cond delay="0"/>
                                          </p:stCondLst>
                                        </p:cTn>
                                        <p:tgtEl>
                                          <p:spTgt spid="5"/>
                                        </p:tgtEl>
                                        <p:attrNameLst>
                                          <p:attrName>style.visibility</p:attrName>
                                        </p:attrNameLst>
                                      </p:cBhvr>
                                      <p:to>
                                        <p:strVal val="visible"/>
                                      </p:to>
                                    </p:set>
                                    <p:animEffect transition="in" filter="blinds(horizontal)">
                                      <p:cBhvr>
                                        <p:cTn id="6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4"/>
          <p:cNvSpPr txBox="1">
            <a:spLocks noChangeArrowheads="1"/>
          </p:cNvSpPr>
          <p:nvPr/>
        </p:nvSpPr>
        <p:spPr bwMode="auto">
          <a:xfrm>
            <a:off x="1524001" y="0"/>
            <a:ext cx="2458109" cy="369332"/>
          </a:xfrm>
          <a:prstGeom prst="rect">
            <a:avLst/>
          </a:prstGeom>
          <a:solidFill>
            <a:srgbClr val="FFFF66"/>
          </a:solidFill>
          <a:ln w="9525">
            <a:noFill/>
            <a:miter lim="800000"/>
            <a:headEnd/>
            <a:tailEnd/>
          </a:ln>
        </p:spPr>
        <p:txBody>
          <a:bodyPr wrap="none">
            <a:spAutoFit/>
          </a:bodyPr>
          <a:lstStyle/>
          <a:p>
            <a:r>
              <a:rPr lang="en-GB"/>
              <a:t>The rules of inference</a:t>
            </a:r>
          </a:p>
        </p:txBody>
      </p:sp>
      <p:graphicFrame>
        <p:nvGraphicFramePr>
          <p:cNvPr id="8194" name="Object 7"/>
          <p:cNvGraphicFramePr>
            <a:graphicFrameLocks noChangeAspect="1"/>
          </p:cNvGraphicFramePr>
          <p:nvPr/>
        </p:nvGraphicFramePr>
        <p:xfrm>
          <a:off x="3127375" y="375318"/>
          <a:ext cx="6116638" cy="6453187"/>
        </p:xfrm>
        <a:graphic>
          <a:graphicData uri="http://schemas.openxmlformats.org/presentationml/2006/ole">
            <mc:AlternateContent xmlns:mc="http://schemas.openxmlformats.org/markup-compatibility/2006">
              <mc:Choice xmlns:v="urn:schemas-microsoft-com:vml" Requires="v">
                <p:oleObj spid="_x0000_s14344" name="Equation" r:id="rId3" imgW="4838400" imgH="5105160" progId="Equation.3">
                  <p:embed/>
                </p:oleObj>
              </mc:Choice>
              <mc:Fallback>
                <p:oleObj name="Equation" r:id="rId3" imgW="4838400" imgH="5105160" progId="Equation.3">
                  <p:embed/>
                  <p:pic>
                    <p:nvPicPr>
                      <p:cNvPr id="8194"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7375" y="375318"/>
                        <a:ext cx="6116638" cy="6453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5516" y="122237"/>
            <a:ext cx="10515600" cy="1325563"/>
          </a:xfrm>
        </p:spPr>
        <p:txBody>
          <a:bodyPr/>
          <a:lstStyle/>
          <a:p>
            <a:r>
              <a:rPr lang="en-US" dirty="0">
                <a:solidFill>
                  <a:srgbClr val="002060"/>
                </a:solidFill>
              </a:rPr>
              <a:t>Exercise:</a:t>
            </a:r>
          </a:p>
        </p:txBody>
      </p:sp>
      <p:sp>
        <p:nvSpPr>
          <p:cNvPr id="3" name="Content Placeholder 2"/>
          <p:cNvSpPr>
            <a:spLocks noGrp="1"/>
          </p:cNvSpPr>
          <p:nvPr>
            <p:ph sz="quarter" idx="1"/>
          </p:nvPr>
        </p:nvSpPr>
        <p:spPr>
          <a:xfrm>
            <a:off x="285884" y="1357108"/>
            <a:ext cx="11350599" cy="5500892"/>
          </a:xfrm>
        </p:spPr>
        <p:txBody>
          <a:bodyPr>
            <a:normAutofit/>
          </a:bodyPr>
          <a:lstStyle/>
          <a:p>
            <a:r>
              <a:rPr lang="en-US" dirty="0"/>
              <a:t>State which </a:t>
            </a:r>
            <a:r>
              <a:rPr lang="en-US" b="1" dirty="0">
                <a:solidFill>
                  <a:srgbClr val="C00000"/>
                </a:solidFill>
              </a:rPr>
              <a:t>rule of inference</a:t>
            </a:r>
            <a:r>
              <a:rPr lang="en-US" dirty="0"/>
              <a:t> is the basis of the following argument:</a:t>
            </a:r>
          </a:p>
          <a:p>
            <a:pPr>
              <a:buNone/>
            </a:pPr>
            <a:r>
              <a:rPr lang="en-US" dirty="0"/>
              <a:t>	</a:t>
            </a:r>
            <a:r>
              <a:rPr lang="en-US" dirty="0">
                <a:solidFill>
                  <a:srgbClr val="C00000"/>
                </a:solidFill>
              </a:rPr>
              <a:t>“It is below freezing now. Therefore, It is either below freezing or raining now.”</a:t>
            </a:r>
          </a:p>
          <a:p>
            <a:r>
              <a:rPr lang="en-US" dirty="0">
                <a:solidFill>
                  <a:srgbClr val="002060"/>
                </a:solidFill>
              </a:rPr>
              <a:t>Solution:</a:t>
            </a:r>
          </a:p>
          <a:p>
            <a:pPr>
              <a:buNone/>
            </a:pPr>
            <a:r>
              <a:rPr lang="en-US" dirty="0"/>
              <a:t>			Let </a:t>
            </a:r>
            <a:r>
              <a:rPr lang="en-US" b="1" dirty="0">
                <a:solidFill>
                  <a:srgbClr val="C00000"/>
                </a:solidFill>
              </a:rPr>
              <a:t>p</a:t>
            </a:r>
            <a:r>
              <a:rPr lang="en-US" dirty="0"/>
              <a:t> = </a:t>
            </a:r>
            <a:r>
              <a:rPr lang="en-US" dirty="0">
                <a:solidFill>
                  <a:srgbClr val="002060"/>
                </a:solidFill>
              </a:rPr>
              <a:t>It is below freezing.</a:t>
            </a:r>
          </a:p>
          <a:p>
            <a:pPr>
              <a:buNone/>
            </a:pPr>
            <a:r>
              <a:rPr lang="en-US" dirty="0"/>
              <a:t>			      </a:t>
            </a:r>
            <a:r>
              <a:rPr lang="en-US" b="1" dirty="0">
                <a:solidFill>
                  <a:srgbClr val="C00000"/>
                </a:solidFill>
              </a:rPr>
              <a:t>q</a:t>
            </a:r>
            <a:r>
              <a:rPr lang="en-US" dirty="0"/>
              <a:t> = </a:t>
            </a:r>
            <a:r>
              <a:rPr lang="en-US" dirty="0">
                <a:solidFill>
                  <a:srgbClr val="002060"/>
                </a:solidFill>
              </a:rPr>
              <a:t>It is raining now.</a:t>
            </a:r>
          </a:p>
          <a:p>
            <a:pPr>
              <a:buNone/>
            </a:pPr>
            <a:r>
              <a:rPr lang="en-US" dirty="0"/>
              <a:t>	Symbolically,</a:t>
            </a:r>
          </a:p>
          <a:p>
            <a:pPr>
              <a:buNone/>
            </a:pPr>
            <a:r>
              <a:rPr lang="en-US" dirty="0"/>
              <a:t>						p</a:t>
            </a:r>
          </a:p>
          <a:p>
            <a:pPr>
              <a:buNone/>
            </a:pPr>
            <a:r>
              <a:rPr lang="en-US" dirty="0"/>
              <a:t>				  		 p </a:t>
            </a:r>
            <a:r>
              <a:rPr lang="en-US" b="1" dirty="0">
                <a:sym typeface="Symbol"/>
              </a:rPr>
              <a:t> </a:t>
            </a:r>
            <a:r>
              <a:rPr lang="en-US" dirty="0">
                <a:sym typeface="Symbol"/>
              </a:rPr>
              <a:t>q</a:t>
            </a:r>
          </a:p>
          <a:p>
            <a:pPr>
              <a:buNone/>
            </a:pPr>
            <a:r>
              <a:rPr lang="en-US" dirty="0">
                <a:sym typeface="Symbol"/>
              </a:rPr>
              <a:t>	This is an argument that uses </a:t>
            </a:r>
            <a:r>
              <a:rPr lang="en-US" dirty="0">
                <a:solidFill>
                  <a:srgbClr val="C00000"/>
                </a:solidFill>
                <a:sym typeface="Symbol"/>
              </a:rPr>
              <a:t>Addition rule of inference</a:t>
            </a:r>
            <a:r>
              <a:rPr lang="en-US" dirty="0">
                <a:sym typeface="Symbol"/>
              </a:rPr>
              <a:t>.</a:t>
            </a:r>
            <a:endParaRPr lang="en-US" dirty="0"/>
          </a:p>
          <a:p>
            <a:pPr>
              <a:buNone/>
            </a:pPr>
            <a:endParaRPr lang="en-US" dirty="0"/>
          </a:p>
          <a:p>
            <a:pPr>
              <a:buNone/>
            </a:pPr>
            <a:endParaRPr lang="en-US" dirty="0"/>
          </a:p>
        </p:txBody>
      </p:sp>
      <p:cxnSp>
        <p:nvCxnSpPr>
          <p:cNvPr id="4" name="Straight Connector 3"/>
          <p:cNvCxnSpPr/>
          <p:nvPr/>
        </p:nvCxnSpPr>
        <p:spPr>
          <a:xfrm>
            <a:off x="4746516" y="5359207"/>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3924462913"/>
              </p:ext>
            </p:extLst>
          </p:nvPr>
        </p:nvGraphicFramePr>
        <p:xfrm>
          <a:off x="4517916" y="5359207"/>
          <a:ext cx="457200" cy="381000"/>
        </p:xfrm>
        <a:graphic>
          <a:graphicData uri="http://schemas.openxmlformats.org/presentationml/2006/ole">
            <mc:AlternateContent xmlns:mc="http://schemas.openxmlformats.org/markup-compatibility/2006">
              <mc:Choice xmlns:v="urn:schemas-microsoft-com:vml" Requires="v">
                <p:oleObj spid="_x0000_s15369"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7916" y="5359207"/>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Exercise:</a:t>
            </a:r>
          </a:p>
        </p:txBody>
      </p:sp>
      <p:sp>
        <p:nvSpPr>
          <p:cNvPr id="3" name="Content Placeholder 2"/>
          <p:cNvSpPr>
            <a:spLocks noGrp="1"/>
          </p:cNvSpPr>
          <p:nvPr>
            <p:ph sz="quarter" idx="1"/>
          </p:nvPr>
        </p:nvSpPr>
        <p:spPr>
          <a:xfrm>
            <a:off x="304799" y="1453662"/>
            <a:ext cx="11512063" cy="5404338"/>
          </a:xfrm>
        </p:spPr>
        <p:txBody>
          <a:bodyPr>
            <a:normAutofit/>
          </a:bodyPr>
          <a:lstStyle/>
          <a:p>
            <a:r>
              <a:rPr lang="en-US" dirty="0"/>
              <a:t>State which </a:t>
            </a:r>
            <a:r>
              <a:rPr lang="en-US" b="1" dirty="0">
                <a:solidFill>
                  <a:srgbClr val="C00000"/>
                </a:solidFill>
              </a:rPr>
              <a:t>rule of inference</a:t>
            </a:r>
            <a:r>
              <a:rPr lang="en-US" dirty="0"/>
              <a:t> is the basis of the following argument:</a:t>
            </a:r>
          </a:p>
          <a:p>
            <a:pPr>
              <a:buNone/>
            </a:pPr>
            <a:r>
              <a:rPr lang="en-US" dirty="0"/>
              <a:t>	</a:t>
            </a:r>
            <a:r>
              <a:rPr lang="en-US" dirty="0">
                <a:solidFill>
                  <a:srgbClr val="C00000"/>
                </a:solidFill>
              </a:rPr>
              <a:t>“It is below freezing and raining now. Therefore, it is below freezing now.”</a:t>
            </a:r>
          </a:p>
          <a:p>
            <a:r>
              <a:rPr lang="en-US" dirty="0">
                <a:solidFill>
                  <a:srgbClr val="002060"/>
                </a:solidFill>
              </a:rPr>
              <a:t>Solution:</a:t>
            </a:r>
          </a:p>
          <a:p>
            <a:pPr>
              <a:buNone/>
            </a:pPr>
            <a:r>
              <a:rPr lang="en-US" dirty="0"/>
              <a:t>			Let </a:t>
            </a:r>
            <a:r>
              <a:rPr lang="en-US" b="1" dirty="0">
                <a:solidFill>
                  <a:srgbClr val="C00000"/>
                </a:solidFill>
              </a:rPr>
              <a:t>p</a:t>
            </a:r>
            <a:r>
              <a:rPr lang="en-US" dirty="0"/>
              <a:t> = </a:t>
            </a:r>
            <a:r>
              <a:rPr lang="en-US" dirty="0">
                <a:solidFill>
                  <a:srgbClr val="002060"/>
                </a:solidFill>
              </a:rPr>
              <a:t>It is below freezing.</a:t>
            </a:r>
          </a:p>
          <a:p>
            <a:pPr>
              <a:buNone/>
            </a:pPr>
            <a:r>
              <a:rPr lang="en-US" dirty="0"/>
              <a:t>			      </a:t>
            </a:r>
            <a:r>
              <a:rPr lang="en-US" b="1" dirty="0">
                <a:solidFill>
                  <a:srgbClr val="C00000"/>
                </a:solidFill>
              </a:rPr>
              <a:t>q</a:t>
            </a:r>
            <a:r>
              <a:rPr lang="en-US" dirty="0"/>
              <a:t> = </a:t>
            </a:r>
            <a:r>
              <a:rPr lang="en-US" dirty="0">
                <a:solidFill>
                  <a:srgbClr val="002060"/>
                </a:solidFill>
              </a:rPr>
              <a:t>It is raining now.</a:t>
            </a:r>
          </a:p>
          <a:p>
            <a:pPr>
              <a:buNone/>
            </a:pPr>
            <a:r>
              <a:rPr lang="en-US" dirty="0"/>
              <a:t>	Symbolically,</a:t>
            </a:r>
          </a:p>
          <a:p>
            <a:pPr>
              <a:buNone/>
            </a:pPr>
            <a:r>
              <a:rPr lang="en-US" dirty="0"/>
              <a:t>				 p ∧</a:t>
            </a:r>
            <a:r>
              <a:rPr lang="en-US" b="1" dirty="0">
                <a:sym typeface="Symbol"/>
              </a:rPr>
              <a:t> </a:t>
            </a:r>
            <a:r>
              <a:rPr lang="en-US" dirty="0">
                <a:sym typeface="Symbol"/>
              </a:rPr>
              <a:t>q</a:t>
            </a:r>
            <a:endParaRPr lang="en-US" dirty="0"/>
          </a:p>
          <a:p>
            <a:pPr>
              <a:buNone/>
            </a:pPr>
            <a:r>
              <a:rPr lang="en-US" dirty="0"/>
              <a:t>	                                   p</a:t>
            </a:r>
          </a:p>
          <a:p>
            <a:pPr>
              <a:buNone/>
            </a:pPr>
            <a:endParaRPr lang="en-US" dirty="0"/>
          </a:p>
          <a:p>
            <a:pPr>
              <a:buNone/>
            </a:pPr>
            <a:r>
              <a:rPr lang="en-US" dirty="0"/>
              <a:t>	This argument uses </a:t>
            </a:r>
            <a:r>
              <a:rPr lang="en-US" dirty="0">
                <a:solidFill>
                  <a:srgbClr val="C00000"/>
                </a:solidFill>
              </a:rPr>
              <a:t>simplification rule of inference.</a:t>
            </a:r>
          </a:p>
          <a:p>
            <a:endParaRPr lang="en-US" dirty="0"/>
          </a:p>
        </p:txBody>
      </p:sp>
      <p:cxnSp>
        <p:nvCxnSpPr>
          <p:cNvPr id="4" name="Straight Connector 3"/>
          <p:cNvCxnSpPr/>
          <p:nvPr/>
        </p:nvCxnSpPr>
        <p:spPr>
          <a:xfrm>
            <a:off x="3068148" y="5025666"/>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4128092992"/>
              </p:ext>
            </p:extLst>
          </p:nvPr>
        </p:nvGraphicFramePr>
        <p:xfrm>
          <a:off x="2948730" y="5162144"/>
          <a:ext cx="457200" cy="381000"/>
        </p:xfrm>
        <a:graphic>
          <a:graphicData uri="http://schemas.openxmlformats.org/presentationml/2006/ole">
            <mc:AlternateContent xmlns:mc="http://schemas.openxmlformats.org/markup-compatibility/2006">
              <mc:Choice xmlns:v="urn:schemas-microsoft-com:vml" Requires="v">
                <p:oleObj spid="_x0000_s16394"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8730" y="5162144"/>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2060"/>
                </a:solidFill>
              </a:rPr>
              <a:t>Exercise: </a:t>
            </a:r>
          </a:p>
        </p:txBody>
      </p:sp>
      <p:sp>
        <p:nvSpPr>
          <p:cNvPr id="3" name="Content Placeholder 2"/>
          <p:cNvSpPr>
            <a:spLocks noGrp="1"/>
          </p:cNvSpPr>
          <p:nvPr>
            <p:ph sz="quarter" idx="1"/>
          </p:nvPr>
        </p:nvSpPr>
        <p:spPr>
          <a:xfrm>
            <a:off x="780757" y="1346679"/>
            <a:ext cx="11012424" cy="5146196"/>
          </a:xfrm>
        </p:spPr>
        <p:txBody>
          <a:bodyPr>
            <a:normAutofit/>
          </a:bodyPr>
          <a:lstStyle/>
          <a:p>
            <a:r>
              <a:rPr lang="en-US" dirty="0"/>
              <a:t>State which </a:t>
            </a:r>
            <a:r>
              <a:rPr lang="en-US" b="1" dirty="0">
                <a:solidFill>
                  <a:srgbClr val="C00000"/>
                </a:solidFill>
              </a:rPr>
              <a:t>rule of inference</a:t>
            </a:r>
            <a:r>
              <a:rPr lang="en-US" dirty="0"/>
              <a:t> is the basis of the following argument:</a:t>
            </a:r>
          </a:p>
          <a:p>
            <a:r>
              <a:rPr lang="en-US" dirty="0">
                <a:solidFill>
                  <a:srgbClr val="C00000"/>
                </a:solidFill>
              </a:rPr>
              <a:t>“If it rains today, then we will not have a barbecue today. If we do not have a barbecue today, then we will have a barbecue tomorrow. Therefore, if it rains today, then we will have a barbecue tomorrow.”</a:t>
            </a:r>
          </a:p>
          <a:p>
            <a:endParaRPr lang="en-US" dirty="0"/>
          </a:p>
          <a:p>
            <a:r>
              <a:rPr lang="en-US" dirty="0">
                <a:solidFill>
                  <a:srgbClr val="002060"/>
                </a:solidFill>
              </a:rPr>
              <a:t>Solution:</a:t>
            </a:r>
          </a:p>
          <a:p>
            <a:pPr>
              <a:buNone/>
            </a:pPr>
            <a:r>
              <a:rPr lang="en-US" dirty="0"/>
              <a:t>		Let </a:t>
            </a:r>
            <a:r>
              <a:rPr lang="en-US" b="1" dirty="0">
                <a:solidFill>
                  <a:srgbClr val="C00000"/>
                </a:solidFill>
              </a:rPr>
              <a:t>p</a:t>
            </a:r>
            <a:r>
              <a:rPr lang="en-US" dirty="0"/>
              <a:t> = </a:t>
            </a:r>
            <a:r>
              <a:rPr lang="en-US" dirty="0">
                <a:solidFill>
                  <a:srgbClr val="002060"/>
                </a:solidFill>
              </a:rPr>
              <a:t>If it rains today.</a:t>
            </a:r>
          </a:p>
          <a:p>
            <a:pPr>
              <a:buNone/>
            </a:pPr>
            <a:r>
              <a:rPr lang="en-US" dirty="0"/>
              <a:t>		      </a:t>
            </a:r>
            <a:r>
              <a:rPr lang="en-US" b="1" dirty="0">
                <a:solidFill>
                  <a:srgbClr val="C00000"/>
                </a:solidFill>
              </a:rPr>
              <a:t>q</a:t>
            </a:r>
            <a:r>
              <a:rPr lang="en-US" dirty="0"/>
              <a:t> = </a:t>
            </a:r>
            <a:r>
              <a:rPr lang="en-US" dirty="0">
                <a:solidFill>
                  <a:srgbClr val="002060"/>
                </a:solidFill>
              </a:rPr>
              <a:t>we will not have a barbecue today.</a:t>
            </a:r>
          </a:p>
          <a:p>
            <a:pPr>
              <a:buNone/>
            </a:pPr>
            <a:r>
              <a:rPr lang="en-US" dirty="0"/>
              <a:t>		      </a:t>
            </a:r>
            <a:r>
              <a:rPr lang="en-US" b="1" dirty="0">
                <a:solidFill>
                  <a:srgbClr val="C00000"/>
                </a:solidFill>
              </a:rPr>
              <a:t>r</a:t>
            </a:r>
            <a:r>
              <a:rPr lang="en-US" dirty="0"/>
              <a:t> = </a:t>
            </a:r>
            <a:r>
              <a:rPr lang="en-US" dirty="0">
                <a:solidFill>
                  <a:srgbClr val="002060"/>
                </a:solidFill>
              </a:rPr>
              <a:t>we will have a barbecue tomorrow.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Symbolically,</a:t>
            </a:r>
          </a:p>
          <a:p>
            <a:pPr>
              <a:buNone/>
            </a:pPr>
            <a:r>
              <a:rPr lang="en-US" dirty="0"/>
              <a:t>				 p → q</a:t>
            </a:r>
          </a:p>
          <a:p>
            <a:pPr>
              <a:buNone/>
            </a:pPr>
            <a:r>
              <a:rPr lang="en-US" dirty="0"/>
              <a:t>				 q → r</a:t>
            </a:r>
          </a:p>
          <a:p>
            <a:pPr>
              <a:buNone/>
            </a:pPr>
            <a:r>
              <a:rPr lang="en-US" dirty="0"/>
              <a:t>				  p → r</a:t>
            </a:r>
          </a:p>
          <a:p>
            <a:pPr>
              <a:buNone/>
            </a:pPr>
            <a:endParaRPr lang="en-US" dirty="0"/>
          </a:p>
          <a:p>
            <a:pPr>
              <a:buNone/>
            </a:pPr>
            <a:r>
              <a:rPr lang="en-US" dirty="0"/>
              <a:t>	Hence, the argument is </a:t>
            </a:r>
            <a:r>
              <a:rPr lang="en-US" b="1" dirty="0">
                <a:solidFill>
                  <a:srgbClr val="C00000"/>
                </a:solidFill>
              </a:rPr>
              <a:t>hypothetical syllogism.</a:t>
            </a:r>
          </a:p>
          <a:p>
            <a:endParaRPr lang="en-US" dirty="0"/>
          </a:p>
        </p:txBody>
      </p:sp>
      <p:cxnSp>
        <p:nvCxnSpPr>
          <p:cNvPr id="4" name="Straight Connector 3"/>
          <p:cNvCxnSpPr/>
          <p:nvPr/>
        </p:nvCxnSpPr>
        <p:spPr>
          <a:xfrm>
            <a:off x="3930444" y="3414488"/>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195" name="Object 3"/>
          <p:cNvGraphicFramePr>
            <a:graphicFrameLocks noChangeAspect="1"/>
          </p:cNvGraphicFramePr>
          <p:nvPr>
            <p:extLst>
              <p:ext uri="{D42A27DB-BD31-4B8C-83A1-F6EECF244321}">
                <p14:modId xmlns:p14="http://schemas.microsoft.com/office/powerpoint/2010/main" val="2452090961"/>
              </p:ext>
            </p:extLst>
          </p:nvPr>
        </p:nvGraphicFramePr>
        <p:xfrm>
          <a:off x="3785664" y="3525108"/>
          <a:ext cx="457200" cy="381000"/>
        </p:xfrm>
        <a:graphic>
          <a:graphicData uri="http://schemas.openxmlformats.org/presentationml/2006/ole">
            <mc:AlternateContent xmlns:mc="http://schemas.openxmlformats.org/markup-compatibility/2006">
              <mc:Choice xmlns:v="urn:schemas-microsoft-com:vml" Requires="v">
                <p:oleObj spid="_x0000_s17416" name="Equation" r:id="rId3" imgW="139680" imgH="126720" progId="Equation.3">
                  <p:embed/>
                </p:oleObj>
              </mc:Choice>
              <mc:Fallback>
                <p:oleObj name="Equation" r:id="rId3" imgW="139680" imgH="126720" progId="Equation.3">
                  <p:embed/>
                  <p:pic>
                    <p:nvPicPr>
                      <p:cNvPr id="819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5664" y="3525108"/>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8195"/>
                                        </p:tgtEl>
                                        <p:attrNameLst>
                                          <p:attrName>style.visibility</p:attrName>
                                        </p:attrNameLst>
                                      </p:cBhvr>
                                      <p:to>
                                        <p:strVal val="visible"/>
                                      </p:to>
                                    </p:set>
                                    <p:animEffect transition="in" filter="blinds(horizontal)">
                                      <p:cBhvr>
                                        <p:cTn id="35"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3287714" y="1700213"/>
            <a:ext cx="4420121" cy="923330"/>
          </a:xfrm>
          <a:prstGeom prst="rect">
            <a:avLst/>
          </a:prstGeom>
          <a:noFill/>
          <a:ln w="9525">
            <a:solidFill>
              <a:schemeClr val="tx1"/>
            </a:solidFill>
            <a:miter lim="800000"/>
            <a:headEnd/>
            <a:tailEnd/>
          </a:ln>
        </p:spPr>
        <p:txBody>
          <a:bodyPr wrap="none">
            <a:spAutoFit/>
          </a:bodyPr>
          <a:lstStyle/>
          <a:p>
            <a:r>
              <a:rPr lang="en-GB"/>
              <a:t>If you listen you will hear what I’m saying</a:t>
            </a:r>
          </a:p>
          <a:p>
            <a:r>
              <a:rPr lang="en-GB"/>
              <a:t>You are listening</a:t>
            </a:r>
          </a:p>
          <a:p>
            <a:r>
              <a:rPr lang="en-GB"/>
              <a:t>Therefore, you hear what I am saying</a:t>
            </a:r>
          </a:p>
        </p:txBody>
      </p:sp>
      <p:sp>
        <p:nvSpPr>
          <p:cNvPr id="1028" name="Text Box 5"/>
          <p:cNvSpPr txBox="1">
            <a:spLocks noChangeArrowheads="1"/>
          </p:cNvSpPr>
          <p:nvPr/>
        </p:nvSpPr>
        <p:spPr bwMode="auto">
          <a:xfrm>
            <a:off x="1524000" y="1"/>
            <a:ext cx="4229100" cy="366713"/>
          </a:xfrm>
          <a:prstGeom prst="rect">
            <a:avLst/>
          </a:prstGeom>
          <a:solidFill>
            <a:srgbClr val="FFFF66"/>
          </a:solidFill>
          <a:ln w="9525">
            <a:noFill/>
            <a:miter lim="800000"/>
            <a:headEnd/>
            <a:tailEnd/>
          </a:ln>
        </p:spPr>
        <p:txBody>
          <a:bodyPr wrap="none">
            <a:spAutoFit/>
          </a:bodyPr>
          <a:lstStyle/>
          <a:p>
            <a:r>
              <a:rPr lang="en-GB"/>
              <a:t>Valid Arguments in Propositional Logic</a:t>
            </a:r>
          </a:p>
        </p:txBody>
      </p:sp>
      <p:sp>
        <p:nvSpPr>
          <p:cNvPr id="1029" name="Text Box 6"/>
          <p:cNvSpPr txBox="1">
            <a:spLocks noChangeArrowheads="1"/>
          </p:cNvSpPr>
          <p:nvPr/>
        </p:nvSpPr>
        <p:spPr bwMode="auto">
          <a:xfrm>
            <a:off x="2403475" y="573088"/>
            <a:ext cx="2705228" cy="369332"/>
          </a:xfrm>
          <a:prstGeom prst="rect">
            <a:avLst/>
          </a:prstGeom>
          <a:noFill/>
          <a:ln w="9525">
            <a:noFill/>
            <a:miter lim="800000"/>
            <a:headEnd/>
            <a:tailEnd/>
          </a:ln>
        </p:spPr>
        <p:txBody>
          <a:bodyPr wrap="none">
            <a:spAutoFit/>
          </a:bodyPr>
          <a:lstStyle/>
          <a:p>
            <a:r>
              <a:rPr lang="en-GB"/>
              <a:t>Is this a valid argument?</a:t>
            </a:r>
          </a:p>
        </p:txBody>
      </p:sp>
      <p:sp>
        <p:nvSpPr>
          <p:cNvPr id="4103" name="Text Box 7"/>
          <p:cNvSpPr txBox="1">
            <a:spLocks noChangeArrowheads="1"/>
          </p:cNvSpPr>
          <p:nvPr/>
        </p:nvSpPr>
        <p:spPr bwMode="auto">
          <a:xfrm>
            <a:off x="2927350" y="3068639"/>
            <a:ext cx="6224076" cy="646331"/>
          </a:xfrm>
          <a:prstGeom prst="rect">
            <a:avLst/>
          </a:prstGeom>
          <a:noFill/>
          <a:ln w="9525">
            <a:solidFill>
              <a:schemeClr val="tx1"/>
            </a:solidFill>
            <a:miter lim="800000"/>
            <a:headEnd/>
            <a:tailEnd/>
          </a:ln>
        </p:spPr>
        <p:txBody>
          <a:bodyPr wrap="none">
            <a:spAutoFit/>
          </a:bodyPr>
          <a:lstStyle/>
          <a:p>
            <a:r>
              <a:rPr lang="en-GB"/>
              <a:t>Let p represent the statement “you listen” </a:t>
            </a:r>
          </a:p>
          <a:p>
            <a:r>
              <a:rPr lang="en-GB"/>
              <a:t>Let q represent the statement “you hear what I am saying”</a:t>
            </a:r>
          </a:p>
        </p:txBody>
      </p:sp>
      <p:sp>
        <p:nvSpPr>
          <p:cNvPr id="4104" name="Text Box 8"/>
          <p:cNvSpPr txBox="1">
            <a:spLocks noChangeArrowheads="1"/>
          </p:cNvSpPr>
          <p:nvPr/>
        </p:nvSpPr>
        <p:spPr bwMode="auto">
          <a:xfrm>
            <a:off x="2711451" y="5373688"/>
            <a:ext cx="3184525" cy="366712"/>
          </a:xfrm>
          <a:prstGeom prst="rect">
            <a:avLst/>
          </a:prstGeom>
          <a:noFill/>
          <a:ln w="9525">
            <a:noFill/>
            <a:miter lim="800000"/>
            <a:headEnd/>
            <a:tailEnd/>
          </a:ln>
        </p:spPr>
        <p:txBody>
          <a:bodyPr wrap="none">
            <a:spAutoFit/>
          </a:bodyPr>
          <a:lstStyle/>
          <a:p>
            <a:r>
              <a:rPr lang="en-GB"/>
              <a:t>The argument has the form:</a:t>
            </a:r>
          </a:p>
        </p:txBody>
      </p:sp>
      <p:graphicFrame>
        <p:nvGraphicFramePr>
          <p:cNvPr id="4106" name="Object 10"/>
          <p:cNvGraphicFramePr>
            <a:graphicFrameLocks noChangeAspect="1"/>
          </p:cNvGraphicFramePr>
          <p:nvPr/>
        </p:nvGraphicFramePr>
        <p:xfrm>
          <a:off x="7319964" y="4437063"/>
          <a:ext cx="1304925" cy="2087562"/>
        </p:xfrm>
        <a:graphic>
          <a:graphicData uri="http://schemas.openxmlformats.org/presentationml/2006/ole">
            <mc:AlternateContent xmlns:mc="http://schemas.openxmlformats.org/markup-compatibility/2006">
              <mc:Choice xmlns:v="urn:schemas-microsoft-com:vml" Requires="v">
                <p:oleObj spid="_x0000_s18440" name="Equation" r:id="rId3" imgW="444240" imgH="711000" progId="Equation.3">
                  <p:embed/>
                </p:oleObj>
              </mc:Choice>
              <mc:Fallback>
                <p:oleObj name="Equation" r:id="rId3" imgW="444240" imgH="711000" progId="Equation.3">
                  <p:embed/>
                  <p:pic>
                    <p:nvPicPr>
                      <p:cNvPr id="4106"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9964" y="4437063"/>
                        <a:ext cx="1304925" cy="2087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animBg="1"/>
      <p:bldP spid="4103" grpId="0" animBg="1"/>
      <p:bldP spid="410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solidFill>
                  <a:srgbClr val="002060"/>
                </a:solidFill>
              </a:rPr>
              <a:t>USING RULES OF INFERENCE TO BUILD ARGUMENTS</a:t>
            </a:r>
          </a:p>
        </p:txBody>
      </p:sp>
      <p:sp>
        <p:nvSpPr>
          <p:cNvPr id="3" name="Content Placeholder 2"/>
          <p:cNvSpPr>
            <a:spLocks noGrp="1"/>
          </p:cNvSpPr>
          <p:nvPr>
            <p:ph sz="quarter" idx="1"/>
          </p:nvPr>
        </p:nvSpPr>
        <p:spPr/>
        <p:txBody>
          <a:bodyPr/>
          <a:lstStyle/>
          <a:p>
            <a:r>
              <a:rPr lang="en-US" dirty="0"/>
              <a:t>When there are </a:t>
            </a:r>
            <a:r>
              <a:rPr lang="en-US" dirty="0">
                <a:solidFill>
                  <a:srgbClr val="C00000"/>
                </a:solidFill>
              </a:rPr>
              <a:t>many premises</a:t>
            </a:r>
            <a:r>
              <a:rPr lang="en-US" dirty="0"/>
              <a:t>, several </a:t>
            </a:r>
            <a:r>
              <a:rPr lang="en-US" dirty="0">
                <a:solidFill>
                  <a:srgbClr val="C00000"/>
                </a:solidFill>
              </a:rPr>
              <a:t>rules of inference</a:t>
            </a:r>
            <a:r>
              <a:rPr lang="en-US" dirty="0"/>
              <a:t> are often needed to show that an </a:t>
            </a:r>
            <a:r>
              <a:rPr lang="en-US" dirty="0">
                <a:solidFill>
                  <a:srgbClr val="C00000"/>
                </a:solidFill>
              </a:rPr>
              <a:t>argument is valid</a:t>
            </a:r>
            <a:r>
              <a:rPr lang="en-US" dirty="0"/>
              <a:t>.</a:t>
            </a:r>
          </a:p>
          <a:p>
            <a:endParaRPr lang="en-US" dirty="0"/>
          </a:p>
          <a:p>
            <a:r>
              <a:rPr lang="en-US" dirty="0"/>
              <a:t>You </a:t>
            </a:r>
            <a:r>
              <a:rPr lang="en-US" dirty="0">
                <a:solidFill>
                  <a:srgbClr val="C00000"/>
                </a:solidFill>
              </a:rPr>
              <a:t>translate the statement</a:t>
            </a:r>
            <a:r>
              <a:rPr lang="en-US" dirty="0"/>
              <a:t> into argument form using </a:t>
            </a:r>
            <a:r>
              <a:rPr lang="en-US" dirty="0">
                <a:solidFill>
                  <a:srgbClr val="C00000"/>
                </a:solidFill>
              </a:rPr>
              <a:t>propositional variables</a:t>
            </a:r>
            <a:r>
              <a:rPr lang="en-US" dirty="0"/>
              <a:t>.</a:t>
            </a:r>
          </a:p>
          <a:p>
            <a:endParaRPr lang="en-US" dirty="0"/>
          </a:p>
          <a:p>
            <a:r>
              <a:rPr lang="en-US" dirty="0"/>
              <a:t>You then want to get from </a:t>
            </a:r>
            <a:r>
              <a:rPr lang="en-US" dirty="0">
                <a:solidFill>
                  <a:srgbClr val="C00000"/>
                </a:solidFill>
              </a:rPr>
              <a:t>premises/hypothesis</a:t>
            </a:r>
            <a:r>
              <a:rPr lang="en-US" dirty="0"/>
              <a:t>(A) to the </a:t>
            </a:r>
            <a:r>
              <a:rPr lang="en-US" dirty="0">
                <a:solidFill>
                  <a:srgbClr val="C00000"/>
                </a:solidFill>
              </a:rPr>
              <a:t>conclusion</a:t>
            </a:r>
            <a:r>
              <a:rPr lang="en-US" dirty="0"/>
              <a:t> (B) using </a:t>
            </a:r>
            <a:r>
              <a:rPr lang="en-US" dirty="0">
                <a:solidFill>
                  <a:srgbClr val="C00000"/>
                </a:solidFill>
              </a:rPr>
              <a:t>rules of inference</a:t>
            </a:r>
            <a:r>
              <a:rPr lang="en-US"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496" y="0"/>
            <a:ext cx="10515600" cy="1325563"/>
          </a:xfrm>
        </p:spPr>
        <p:txBody>
          <a:bodyPr/>
          <a:lstStyle/>
          <a:p>
            <a:pPr algn="ctr"/>
            <a:r>
              <a:rPr lang="en-US" dirty="0">
                <a:solidFill>
                  <a:srgbClr val="002060"/>
                </a:solidFill>
              </a:rPr>
              <a:t>EXAMPLE</a:t>
            </a:r>
          </a:p>
        </p:txBody>
      </p:sp>
      <p:sp>
        <p:nvSpPr>
          <p:cNvPr id="3" name="Content Placeholder 2"/>
          <p:cNvSpPr>
            <a:spLocks noGrp="1"/>
          </p:cNvSpPr>
          <p:nvPr>
            <p:ph sz="quarter" idx="1"/>
          </p:nvPr>
        </p:nvSpPr>
        <p:spPr>
          <a:xfrm>
            <a:off x="269747" y="1235075"/>
            <a:ext cx="11593389" cy="5622925"/>
          </a:xfrm>
        </p:spPr>
        <p:txBody>
          <a:bodyPr>
            <a:normAutofit fontScale="92500" lnSpcReduction="20000"/>
          </a:bodyPr>
          <a:lstStyle/>
          <a:p>
            <a:pPr>
              <a:lnSpc>
                <a:spcPct val="120000"/>
              </a:lnSpc>
            </a:pPr>
            <a:r>
              <a:rPr lang="en-US" dirty="0">
                <a:solidFill>
                  <a:srgbClr val="C00000"/>
                </a:solidFill>
              </a:rPr>
              <a:t>“It is not sunny this afternoon and it is colder then yesterday.” “We will go swimming only if it is sunny.” “If we do not go to swimming, then we will take a canoe trip,” and “if we take a canoe trip, then we will be home by sunset”</a:t>
            </a:r>
            <a:r>
              <a:rPr lang="en-US" dirty="0"/>
              <a:t> </a:t>
            </a:r>
            <a:r>
              <a:rPr lang="en-US" dirty="0">
                <a:solidFill>
                  <a:srgbClr val="00B050"/>
                </a:solidFill>
              </a:rPr>
              <a:t>lead to the conclusion </a:t>
            </a:r>
            <a:r>
              <a:rPr lang="en-US" dirty="0">
                <a:solidFill>
                  <a:srgbClr val="C00000"/>
                </a:solidFill>
              </a:rPr>
              <a:t>“we will be home by sunset.”</a:t>
            </a:r>
          </a:p>
          <a:p>
            <a:pPr>
              <a:lnSpc>
                <a:spcPct val="120000"/>
              </a:lnSpc>
            </a:pPr>
            <a:r>
              <a:rPr lang="en-US" sz="3500" dirty="0">
                <a:solidFill>
                  <a:srgbClr val="002060"/>
                </a:solidFill>
                <a:latin typeface="+mj-lt"/>
                <a:ea typeface="+mj-ea"/>
                <a:cs typeface="+mj-cs"/>
              </a:rPr>
              <a:t>Solution:</a:t>
            </a:r>
          </a:p>
          <a:p>
            <a:pPr>
              <a:lnSpc>
                <a:spcPct val="120000"/>
              </a:lnSpc>
              <a:buNone/>
            </a:pPr>
            <a:endParaRPr lang="en-US" sz="3500" b="1" u="sng" dirty="0">
              <a:solidFill>
                <a:srgbClr val="002060"/>
              </a:solidFill>
              <a:latin typeface="+mj-lt"/>
              <a:ea typeface="+mj-ea"/>
              <a:cs typeface="+mj-cs"/>
            </a:endParaRPr>
          </a:p>
          <a:p>
            <a:pPr>
              <a:lnSpc>
                <a:spcPct val="120000"/>
              </a:lnSpc>
              <a:buNone/>
            </a:pPr>
            <a:r>
              <a:rPr lang="en-US" dirty="0"/>
              <a:t>		Let	</a:t>
            </a:r>
            <a:r>
              <a:rPr lang="en-US" b="1" dirty="0">
                <a:solidFill>
                  <a:srgbClr val="C00000"/>
                </a:solidFill>
              </a:rPr>
              <a:t>p</a:t>
            </a:r>
            <a:r>
              <a:rPr lang="en-US" dirty="0"/>
              <a:t> = </a:t>
            </a:r>
            <a:r>
              <a:rPr lang="en-US" dirty="0">
                <a:solidFill>
                  <a:srgbClr val="002060"/>
                </a:solidFill>
              </a:rPr>
              <a:t>It is sunny this afternoon.</a:t>
            </a:r>
          </a:p>
          <a:p>
            <a:pPr>
              <a:lnSpc>
                <a:spcPct val="120000"/>
              </a:lnSpc>
              <a:buNone/>
            </a:pPr>
            <a:r>
              <a:rPr lang="en-US" dirty="0"/>
              <a:t>			</a:t>
            </a:r>
            <a:r>
              <a:rPr lang="en-US" b="1" dirty="0">
                <a:solidFill>
                  <a:srgbClr val="C00000"/>
                </a:solidFill>
              </a:rPr>
              <a:t>q</a:t>
            </a:r>
            <a:r>
              <a:rPr lang="en-US" dirty="0"/>
              <a:t> = </a:t>
            </a:r>
            <a:r>
              <a:rPr lang="en-US" dirty="0">
                <a:solidFill>
                  <a:srgbClr val="002060"/>
                </a:solidFill>
              </a:rPr>
              <a:t>It is colder then yesterday.</a:t>
            </a:r>
          </a:p>
          <a:p>
            <a:pPr>
              <a:lnSpc>
                <a:spcPct val="120000"/>
              </a:lnSpc>
              <a:buNone/>
            </a:pPr>
            <a:r>
              <a:rPr lang="en-US" dirty="0"/>
              <a:t>			</a:t>
            </a:r>
            <a:r>
              <a:rPr lang="en-US" b="1" dirty="0">
                <a:solidFill>
                  <a:srgbClr val="C00000"/>
                </a:solidFill>
              </a:rPr>
              <a:t>r</a:t>
            </a:r>
            <a:r>
              <a:rPr lang="en-US" dirty="0"/>
              <a:t> = </a:t>
            </a:r>
            <a:r>
              <a:rPr lang="en-US" dirty="0">
                <a:solidFill>
                  <a:srgbClr val="002060"/>
                </a:solidFill>
              </a:rPr>
              <a:t>We will go to swimming.</a:t>
            </a:r>
          </a:p>
          <a:p>
            <a:pPr>
              <a:lnSpc>
                <a:spcPct val="120000"/>
              </a:lnSpc>
              <a:buNone/>
            </a:pPr>
            <a:r>
              <a:rPr lang="en-US" dirty="0"/>
              <a:t>			</a:t>
            </a:r>
            <a:r>
              <a:rPr lang="en-US" b="1" dirty="0">
                <a:solidFill>
                  <a:srgbClr val="C00000"/>
                </a:solidFill>
              </a:rPr>
              <a:t>s</a:t>
            </a:r>
            <a:r>
              <a:rPr lang="en-US" dirty="0"/>
              <a:t> = </a:t>
            </a:r>
            <a:r>
              <a:rPr lang="en-US" dirty="0">
                <a:solidFill>
                  <a:srgbClr val="002060"/>
                </a:solidFill>
              </a:rPr>
              <a:t>We will take a canoe trip.</a:t>
            </a:r>
          </a:p>
          <a:p>
            <a:pPr>
              <a:lnSpc>
                <a:spcPct val="120000"/>
              </a:lnSpc>
              <a:buNone/>
            </a:pPr>
            <a:r>
              <a:rPr lang="en-US" dirty="0"/>
              <a:t>			</a:t>
            </a:r>
            <a:r>
              <a:rPr lang="en-US" b="1" dirty="0">
                <a:solidFill>
                  <a:srgbClr val="C00000"/>
                </a:solidFill>
              </a:rPr>
              <a:t>t</a:t>
            </a:r>
            <a:r>
              <a:rPr lang="en-US" dirty="0"/>
              <a:t> = </a:t>
            </a:r>
            <a:r>
              <a:rPr lang="en-US" dirty="0">
                <a:solidFill>
                  <a:srgbClr val="002060"/>
                </a:solidFill>
              </a:rPr>
              <a:t>We will be home by sunset.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Symbolically,</a:t>
            </a:r>
          </a:p>
          <a:p>
            <a:pPr>
              <a:buNone/>
            </a:pPr>
            <a:r>
              <a:rPr lang="en-US" dirty="0"/>
              <a:t>				</a:t>
            </a:r>
          </a:p>
        </p:txBody>
      </p:sp>
      <p:graphicFrame>
        <p:nvGraphicFramePr>
          <p:cNvPr id="16391" name="Object 7"/>
          <p:cNvGraphicFramePr>
            <a:graphicFrameLocks noChangeAspect="1"/>
          </p:cNvGraphicFramePr>
          <p:nvPr/>
        </p:nvGraphicFramePr>
        <p:xfrm>
          <a:off x="4864100" y="2119314"/>
          <a:ext cx="1620838" cy="2376487"/>
        </p:xfrm>
        <a:graphic>
          <a:graphicData uri="http://schemas.openxmlformats.org/presentationml/2006/ole">
            <mc:AlternateContent xmlns:mc="http://schemas.openxmlformats.org/markup-compatibility/2006">
              <mc:Choice xmlns:v="urn:schemas-microsoft-com:vml" Requires="v">
                <p:oleObj spid="_x0000_s19476" name="Equation" r:id="rId3" imgW="761760" imgH="1117440" progId="Equation.3">
                  <p:embed/>
                </p:oleObj>
              </mc:Choice>
              <mc:Fallback>
                <p:oleObj name="Equation" r:id="rId3" imgW="761760" imgH="1117440" progId="Equation.3">
                  <p:embed/>
                  <p:pic>
                    <p:nvPicPr>
                      <p:cNvPr id="1639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4100" y="2119314"/>
                        <a:ext cx="1620838" cy="2376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4"/>
          <p:cNvGraphicFramePr>
            <a:graphicFrameLocks noChangeAspect="1"/>
          </p:cNvGraphicFramePr>
          <p:nvPr/>
        </p:nvGraphicFramePr>
        <p:xfrm>
          <a:off x="5656009" y="2321168"/>
          <a:ext cx="1371601" cy="1793632"/>
        </p:xfrm>
        <a:graphic>
          <a:graphicData uri="http://schemas.openxmlformats.org/presentationml/2006/ole">
            <mc:AlternateContent xmlns:mc="http://schemas.openxmlformats.org/markup-compatibility/2006">
              <mc:Choice xmlns:v="urn:schemas-microsoft-com:vml" Requires="v">
                <p:oleObj spid="_x0000_s19477" name="Equation" r:id="rId5" imgW="164880" imgH="215640" progId="Equation.3">
                  <p:embed/>
                </p:oleObj>
              </mc:Choice>
              <mc:Fallback>
                <p:oleObj name="Equation" r:id="rId5" imgW="164880" imgH="215640" progId="Equation.3">
                  <p:embed/>
                  <p:pic>
                    <p:nvPicPr>
                      <p:cNvPr id="5"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6009" y="2321168"/>
                        <a:ext cx="1371601" cy="17936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6892416" y="2814468"/>
            <a:ext cx="2514600" cy="609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rPr>
              <a:t>Premises </a:t>
            </a:r>
          </a:p>
        </p:txBody>
      </p:sp>
      <p:graphicFrame>
        <p:nvGraphicFramePr>
          <p:cNvPr id="7" name="Object 6"/>
          <p:cNvGraphicFramePr>
            <a:graphicFrameLocks noChangeAspect="1"/>
          </p:cNvGraphicFramePr>
          <p:nvPr/>
        </p:nvGraphicFramePr>
        <p:xfrm>
          <a:off x="6005052" y="3910970"/>
          <a:ext cx="463550" cy="730983"/>
        </p:xfrm>
        <a:graphic>
          <a:graphicData uri="http://schemas.openxmlformats.org/presentationml/2006/ole">
            <mc:AlternateContent xmlns:mc="http://schemas.openxmlformats.org/markup-compatibility/2006">
              <mc:Choice xmlns:v="urn:schemas-microsoft-com:vml" Requires="v">
                <p:oleObj spid="_x0000_s19478" name="Equation" r:id="rId7" imgW="164880" imgH="215640" progId="Equation.3">
                  <p:embed/>
                </p:oleObj>
              </mc:Choice>
              <mc:Fallback>
                <p:oleObj name="Equation" r:id="rId7" imgW="164880" imgH="215640" progId="Equation.3">
                  <p:embed/>
                  <p:pic>
                    <p:nvPicPr>
                      <p:cNvPr id="7"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05052" y="3910970"/>
                        <a:ext cx="463550" cy="7309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6705600" y="4004172"/>
            <a:ext cx="2133600" cy="4572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rPr>
              <a:t>Conclusion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6391"/>
                                        </p:tgtEl>
                                        <p:attrNameLst>
                                          <p:attrName>style.visibility</p:attrName>
                                        </p:attrNameLst>
                                      </p:cBhvr>
                                      <p:to>
                                        <p:strVal val="visible"/>
                                      </p:to>
                                    </p:set>
                                    <p:animEffect transition="in" filter="diamond(in)">
                                      <p:cBhvr>
                                        <p:cTn id="7" dur="2000"/>
                                        <p:tgtEl>
                                          <p:spTgt spid="163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ox(in)">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0" y="743703"/>
            <a:ext cx="12192000" cy="4884821"/>
          </a:xfrm>
        </p:spPr>
        <p:txBody>
          <a:bodyPr>
            <a:normAutofit lnSpcReduction="10000"/>
          </a:bodyPr>
          <a:lstStyle/>
          <a:p>
            <a:r>
              <a:rPr lang="en-US" sz="2400" dirty="0"/>
              <a:t>We </a:t>
            </a:r>
            <a:r>
              <a:rPr lang="en-US" sz="2400" dirty="0">
                <a:solidFill>
                  <a:srgbClr val="C00000"/>
                </a:solidFill>
              </a:rPr>
              <a:t>construct an argument </a:t>
            </a:r>
            <a:r>
              <a:rPr lang="en-US" sz="2400" dirty="0"/>
              <a:t>that our premise </a:t>
            </a:r>
          </a:p>
          <a:p>
            <a:pPr marL="0" indent="0">
              <a:buNone/>
            </a:pPr>
            <a:r>
              <a:rPr lang="en-US" sz="2400" dirty="0"/>
              <a:t>lead to desired </a:t>
            </a:r>
            <a:r>
              <a:rPr lang="en-US" sz="2400" dirty="0">
                <a:solidFill>
                  <a:srgbClr val="C00000"/>
                </a:solidFill>
              </a:rPr>
              <a:t>conclusion</a:t>
            </a:r>
            <a:r>
              <a:rPr lang="en-US" sz="2400" dirty="0"/>
              <a:t> as follows:</a:t>
            </a:r>
          </a:p>
          <a:p>
            <a:endParaRPr lang="en-US" sz="2400" dirty="0"/>
          </a:p>
          <a:p>
            <a:pPr>
              <a:buNone/>
            </a:pPr>
            <a:r>
              <a:rPr lang="en-US" sz="2400" dirty="0"/>
              <a:t>	</a:t>
            </a:r>
            <a:r>
              <a:rPr lang="en-US" sz="2400" dirty="0">
                <a:solidFill>
                  <a:srgbClr val="00B050"/>
                </a:solidFill>
              </a:rPr>
              <a:t>~ p ∧ q</a:t>
            </a:r>
            <a:r>
              <a:rPr lang="en-US" sz="2400" dirty="0"/>
              <a:t>		</a:t>
            </a:r>
            <a:r>
              <a:rPr lang="en-US" sz="2400" dirty="0">
                <a:solidFill>
                  <a:srgbClr val="C00000"/>
                </a:solidFill>
              </a:rPr>
              <a:t>Premise</a:t>
            </a:r>
            <a:r>
              <a:rPr lang="en-US" dirty="0"/>
              <a:t> </a:t>
            </a:r>
          </a:p>
          <a:p>
            <a:pPr>
              <a:buNone/>
            </a:pPr>
            <a:r>
              <a:rPr lang="en-US" sz="2400" dirty="0"/>
              <a:t>	</a:t>
            </a:r>
            <a:r>
              <a:rPr lang="en-US" sz="2400" dirty="0">
                <a:solidFill>
                  <a:srgbClr val="00B050"/>
                </a:solidFill>
              </a:rPr>
              <a:t>~ p</a:t>
            </a:r>
            <a:r>
              <a:rPr lang="en-US" sz="2400" dirty="0"/>
              <a:t>			</a:t>
            </a:r>
            <a:r>
              <a:rPr lang="en-US" sz="2400" dirty="0">
                <a:solidFill>
                  <a:srgbClr val="0070C0"/>
                </a:solidFill>
              </a:rPr>
              <a:t>Simplification</a:t>
            </a:r>
          </a:p>
          <a:p>
            <a:pPr>
              <a:buNone/>
            </a:pPr>
            <a:r>
              <a:rPr lang="en-US" sz="2400" dirty="0"/>
              <a:t>	 </a:t>
            </a:r>
            <a:r>
              <a:rPr lang="en-US" sz="2400" dirty="0">
                <a:solidFill>
                  <a:srgbClr val="00B050"/>
                </a:solidFill>
              </a:rPr>
              <a:t>r → p</a:t>
            </a:r>
            <a:r>
              <a:rPr lang="en-US" sz="2400" dirty="0"/>
              <a:t>		</a:t>
            </a:r>
            <a:r>
              <a:rPr lang="en-US" sz="2400" dirty="0">
                <a:solidFill>
                  <a:srgbClr val="C00000"/>
                </a:solidFill>
              </a:rPr>
              <a:t>Premise</a:t>
            </a:r>
          </a:p>
          <a:p>
            <a:pPr>
              <a:buNone/>
            </a:pPr>
            <a:r>
              <a:rPr lang="en-US" sz="2400" dirty="0"/>
              <a:t>	</a:t>
            </a:r>
            <a:r>
              <a:rPr lang="en-US" sz="2400" dirty="0">
                <a:solidFill>
                  <a:srgbClr val="00B050"/>
                </a:solidFill>
              </a:rPr>
              <a:t>~ r</a:t>
            </a:r>
            <a:r>
              <a:rPr lang="en-US" sz="2400" dirty="0"/>
              <a:t>			</a:t>
            </a:r>
            <a:r>
              <a:rPr lang="en-US" sz="2400" dirty="0">
                <a:solidFill>
                  <a:srgbClr val="0070C0"/>
                </a:solidFill>
              </a:rPr>
              <a:t>Modus </a:t>
            </a:r>
            <a:r>
              <a:rPr lang="en-US" sz="2400" dirty="0" err="1">
                <a:solidFill>
                  <a:srgbClr val="0070C0"/>
                </a:solidFill>
              </a:rPr>
              <a:t>Tollens</a:t>
            </a:r>
            <a:endParaRPr lang="en-US" sz="2400" dirty="0">
              <a:solidFill>
                <a:srgbClr val="0070C0"/>
              </a:solidFill>
            </a:endParaRPr>
          </a:p>
          <a:p>
            <a:pPr>
              <a:buNone/>
            </a:pPr>
            <a:r>
              <a:rPr lang="en-US" sz="2400" dirty="0"/>
              <a:t>	</a:t>
            </a:r>
            <a:r>
              <a:rPr lang="en-US" sz="2400" dirty="0">
                <a:solidFill>
                  <a:srgbClr val="00B050"/>
                </a:solidFill>
              </a:rPr>
              <a:t>~ r → s</a:t>
            </a:r>
            <a:r>
              <a:rPr lang="en-US" sz="2400" dirty="0"/>
              <a:t>		</a:t>
            </a:r>
            <a:r>
              <a:rPr lang="en-US" sz="2400" dirty="0">
                <a:solidFill>
                  <a:srgbClr val="C00000"/>
                </a:solidFill>
              </a:rPr>
              <a:t>Premise</a:t>
            </a:r>
          </a:p>
          <a:p>
            <a:pPr>
              <a:buNone/>
            </a:pPr>
            <a:r>
              <a:rPr lang="en-US" sz="2400" dirty="0"/>
              <a:t>	 </a:t>
            </a:r>
            <a:r>
              <a:rPr lang="en-US" sz="2400" dirty="0">
                <a:solidFill>
                  <a:srgbClr val="00B050"/>
                </a:solidFill>
              </a:rPr>
              <a:t>s</a:t>
            </a:r>
            <a:r>
              <a:rPr lang="en-US" sz="2400" dirty="0"/>
              <a:t>			</a:t>
            </a:r>
            <a:r>
              <a:rPr lang="en-US" sz="2400" dirty="0">
                <a:solidFill>
                  <a:srgbClr val="0070C0"/>
                </a:solidFill>
              </a:rPr>
              <a:t>Modus Ponens </a:t>
            </a:r>
          </a:p>
          <a:p>
            <a:pPr>
              <a:buNone/>
            </a:pPr>
            <a:r>
              <a:rPr lang="en-US" sz="2400" dirty="0"/>
              <a:t>	 </a:t>
            </a:r>
            <a:r>
              <a:rPr lang="en-US" sz="2400" dirty="0">
                <a:solidFill>
                  <a:srgbClr val="00B050"/>
                </a:solidFill>
              </a:rPr>
              <a:t>s → t</a:t>
            </a:r>
            <a:r>
              <a:rPr lang="en-US" sz="2400" dirty="0"/>
              <a:t>		</a:t>
            </a:r>
            <a:r>
              <a:rPr lang="en-US" sz="2400" dirty="0">
                <a:solidFill>
                  <a:srgbClr val="C00000"/>
                </a:solidFill>
              </a:rPr>
              <a:t>Premise</a:t>
            </a:r>
          </a:p>
          <a:p>
            <a:pPr>
              <a:buNone/>
            </a:pPr>
            <a:r>
              <a:rPr lang="en-US" sz="2400" dirty="0"/>
              <a:t>	 </a:t>
            </a:r>
            <a:r>
              <a:rPr lang="en-US" sz="2400" dirty="0">
                <a:solidFill>
                  <a:srgbClr val="00B050"/>
                </a:solidFill>
              </a:rPr>
              <a:t>t</a:t>
            </a:r>
            <a:r>
              <a:rPr lang="en-US" sz="2400" dirty="0"/>
              <a:t>			</a:t>
            </a:r>
            <a:r>
              <a:rPr lang="en-US" sz="2400" dirty="0">
                <a:solidFill>
                  <a:srgbClr val="0070C0"/>
                </a:solidFill>
              </a:rPr>
              <a:t>Modus Ponens</a:t>
            </a:r>
          </a:p>
          <a:p>
            <a:endParaRPr lang="en-US" sz="2400" dirty="0"/>
          </a:p>
          <a:p>
            <a:endParaRPr lang="en-US" sz="2400" dirty="0"/>
          </a:p>
          <a:p>
            <a:endParaRPr lang="en-US" dirty="0"/>
          </a:p>
        </p:txBody>
      </p:sp>
      <p:graphicFrame>
        <p:nvGraphicFramePr>
          <p:cNvPr id="17420" name="Object 12"/>
          <p:cNvGraphicFramePr>
            <a:graphicFrameLocks noChangeAspect="1"/>
          </p:cNvGraphicFramePr>
          <p:nvPr>
            <p:extLst>
              <p:ext uri="{D42A27DB-BD31-4B8C-83A1-F6EECF244321}">
                <p14:modId xmlns:p14="http://schemas.microsoft.com/office/powerpoint/2010/main" val="2808478134"/>
              </p:ext>
            </p:extLst>
          </p:nvPr>
        </p:nvGraphicFramePr>
        <p:xfrm>
          <a:off x="6397559" y="693321"/>
          <a:ext cx="5794441" cy="6114298"/>
        </p:xfrm>
        <a:graphic>
          <a:graphicData uri="http://schemas.openxmlformats.org/presentationml/2006/ole">
            <mc:AlternateContent xmlns:mc="http://schemas.openxmlformats.org/markup-compatibility/2006">
              <mc:Choice xmlns:v="urn:schemas-microsoft-com:vml" Requires="v">
                <p:oleObj spid="_x0000_s20488" name="Equation" r:id="rId3" imgW="4838400" imgH="5105160" progId="Equation.3">
                  <p:embed/>
                </p:oleObj>
              </mc:Choice>
              <mc:Fallback>
                <p:oleObj name="Equation" r:id="rId3" imgW="4838400" imgH="5105160" progId="Equation.3">
                  <p:embed/>
                  <p:pic>
                    <p:nvPicPr>
                      <p:cNvPr id="1742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97559" y="693321"/>
                        <a:ext cx="5794441" cy="6114298"/>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20"/>
                                        </p:tgtEl>
                                        <p:attrNameLst>
                                          <p:attrName>style.visibility</p:attrName>
                                        </p:attrNameLst>
                                      </p:cBhvr>
                                      <p:to>
                                        <p:strVal val="visible"/>
                                      </p:to>
                                    </p:set>
                                    <p:anim calcmode="lin" valueType="num">
                                      <p:cBhvr additive="base">
                                        <p:cTn id="7" dur="500" fill="hold"/>
                                        <p:tgtEl>
                                          <p:spTgt spid="17420"/>
                                        </p:tgtEl>
                                        <p:attrNameLst>
                                          <p:attrName>ppt_x</p:attrName>
                                        </p:attrNameLst>
                                      </p:cBhvr>
                                      <p:tavLst>
                                        <p:tav tm="0">
                                          <p:val>
                                            <p:strVal val="#ppt_x"/>
                                          </p:val>
                                        </p:tav>
                                        <p:tav tm="100000">
                                          <p:val>
                                            <p:strVal val="#ppt_x"/>
                                          </p:val>
                                        </p:tav>
                                      </p:tavLst>
                                    </p:anim>
                                    <p:anim calcmode="lin" valueType="num">
                                      <p:cBhvr additive="base">
                                        <p:cTn id="8" dur="500" fill="hold"/>
                                        <p:tgtEl>
                                          <p:spTgt spid="174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2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20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20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20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Effect transition="in" filter="fade">
                                      <p:cBhvr>
                                        <p:cTn id="43" dur="2000"/>
                                        <p:tgtEl>
                                          <p:spTgt spid="3">
                                            <p:txEl>
                                              <p:pRg st="7" end="7"/>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Effect transition="in" filter="fade">
                                      <p:cBhvr>
                                        <p:cTn id="48" dur="2000"/>
                                        <p:tgtEl>
                                          <p:spTgt spid="3">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3">
                                            <p:txEl>
                                              <p:pRg st="9" end="9"/>
                                            </p:txEl>
                                          </p:spTgt>
                                        </p:tgtEl>
                                        <p:attrNameLst>
                                          <p:attrName>style.visibility</p:attrName>
                                        </p:attrNameLst>
                                      </p:cBhvr>
                                      <p:to>
                                        <p:strVal val="visible"/>
                                      </p:to>
                                    </p:set>
                                    <p:animEffect transition="in" filter="fade">
                                      <p:cBhvr>
                                        <p:cTn id="53" dur="2000"/>
                                        <p:tgtEl>
                                          <p:spTgt spid="3">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
                                            <p:txEl>
                                              <p:pRg st="10" end="10"/>
                                            </p:txEl>
                                          </p:spTgt>
                                        </p:tgtEl>
                                        <p:attrNameLst>
                                          <p:attrName>style.visibility</p:attrName>
                                        </p:attrNameLst>
                                      </p:cBhvr>
                                      <p:to>
                                        <p:strVal val="visible"/>
                                      </p:to>
                                    </p:set>
                                    <p:animEffect transition="in" filter="fade">
                                      <p:cBhvr>
                                        <p:cTn id="58" dur="20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559" y="0"/>
            <a:ext cx="10515600" cy="1325563"/>
          </a:xfrm>
        </p:spPr>
        <p:txBody>
          <a:bodyPr/>
          <a:lstStyle/>
          <a:p>
            <a:pPr algn="ctr"/>
            <a:r>
              <a:rPr lang="en-US" dirty="0">
                <a:solidFill>
                  <a:srgbClr val="002060"/>
                </a:solidFill>
              </a:rPr>
              <a:t>EXAMPLE</a:t>
            </a:r>
          </a:p>
        </p:txBody>
      </p:sp>
      <p:sp>
        <p:nvSpPr>
          <p:cNvPr id="3" name="Content Placeholder 2"/>
          <p:cNvSpPr>
            <a:spLocks noGrp="1"/>
          </p:cNvSpPr>
          <p:nvPr>
            <p:ph sz="quarter" idx="1"/>
          </p:nvPr>
        </p:nvSpPr>
        <p:spPr>
          <a:xfrm>
            <a:off x="192505" y="1058779"/>
            <a:ext cx="11806989" cy="5799221"/>
          </a:xfrm>
        </p:spPr>
        <p:txBody>
          <a:bodyPr>
            <a:normAutofit fontScale="92500"/>
          </a:bodyPr>
          <a:lstStyle/>
          <a:p>
            <a:pPr>
              <a:lnSpc>
                <a:spcPct val="110000"/>
              </a:lnSpc>
            </a:pPr>
            <a:r>
              <a:rPr lang="en-US" dirty="0">
                <a:solidFill>
                  <a:srgbClr val="C00000"/>
                </a:solidFill>
              </a:rPr>
              <a:t>“If you send me an e-mail message, then I will finish writing the problem,” “If you do not send me an e-mail message, then I will go to sleep early,” and “If I go to sleep early, then I will wake up feeling refreshed.”</a:t>
            </a:r>
            <a:r>
              <a:rPr lang="en-US" dirty="0"/>
              <a:t> </a:t>
            </a:r>
            <a:r>
              <a:rPr lang="en-US" dirty="0">
                <a:solidFill>
                  <a:srgbClr val="00B050"/>
                </a:solidFill>
              </a:rPr>
              <a:t>lead to the conclusion </a:t>
            </a:r>
            <a:r>
              <a:rPr lang="en-US" dirty="0">
                <a:solidFill>
                  <a:srgbClr val="C00000"/>
                </a:solidFill>
              </a:rPr>
              <a:t>“If I do not finish writing the problem, then I will wake up feeling refreshed.”</a:t>
            </a:r>
          </a:p>
          <a:p>
            <a:pPr>
              <a:lnSpc>
                <a:spcPct val="110000"/>
              </a:lnSpc>
              <a:tabLst>
                <a:tab pos="122238" algn="l"/>
              </a:tabLst>
            </a:pPr>
            <a:endParaRPr lang="en-US" dirty="0"/>
          </a:p>
          <a:p>
            <a:pPr>
              <a:lnSpc>
                <a:spcPct val="110000"/>
              </a:lnSpc>
            </a:pPr>
            <a:r>
              <a:rPr lang="en-US" dirty="0">
                <a:solidFill>
                  <a:srgbClr val="002060"/>
                </a:solidFill>
              </a:rPr>
              <a:t>Solution:</a:t>
            </a:r>
          </a:p>
          <a:p>
            <a:pPr>
              <a:lnSpc>
                <a:spcPct val="110000"/>
              </a:lnSpc>
            </a:pPr>
            <a:endParaRPr lang="en-US" dirty="0"/>
          </a:p>
          <a:p>
            <a:pPr>
              <a:lnSpc>
                <a:spcPct val="110000"/>
              </a:lnSpc>
              <a:buNone/>
            </a:pPr>
            <a:r>
              <a:rPr lang="en-US" dirty="0"/>
              <a:t>	Let		</a:t>
            </a:r>
            <a:r>
              <a:rPr lang="en-US" b="1" dirty="0">
                <a:solidFill>
                  <a:srgbClr val="C00000"/>
                </a:solidFill>
              </a:rPr>
              <a:t>p</a:t>
            </a:r>
            <a:r>
              <a:rPr lang="en-US" dirty="0"/>
              <a:t> = </a:t>
            </a:r>
            <a:r>
              <a:rPr lang="en-US" dirty="0">
                <a:solidFill>
                  <a:srgbClr val="0070C0"/>
                </a:solidFill>
              </a:rPr>
              <a:t>You send me an e-mail message.</a:t>
            </a:r>
          </a:p>
          <a:p>
            <a:pPr>
              <a:lnSpc>
                <a:spcPct val="110000"/>
              </a:lnSpc>
              <a:buNone/>
            </a:pPr>
            <a:r>
              <a:rPr lang="en-US" dirty="0"/>
              <a:t>			</a:t>
            </a:r>
            <a:r>
              <a:rPr lang="en-US" b="1" dirty="0">
                <a:solidFill>
                  <a:srgbClr val="C00000"/>
                </a:solidFill>
              </a:rPr>
              <a:t>q</a:t>
            </a:r>
            <a:r>
              <a:rPr lang="en-US" dirty="0"/>
              <a:t> = </a:t>
            </a:r>
            <a:r>
              <a:rPr lang="en-US" dirty="0">
                <a:solidFill>
                  <a:srgbClr val="0070C0"/>
                </a:solidFill>
              </a:rPr>
              <a:t>I will finish writing the problem.</a:t>
            </a:r>
          </a:p>
          <a:p>
            <a:pPr>
              <a:lnSpc>
                <a:spcPct val="110000"/>
              </a:lnSpc>
              <a:buNone/>
            </a:pPr>
            <a:r>
              <a:rPr lang="en-US" dirty="0"/>
              <a:t>			</a:t>
            </a:r>
            <a:r>
              <a:rPr lang="en-US" b="1" dirty="0">
                <a:solidFill>
                  <a:srgbClr val="C00000"/>
                </a:solidFill>
              </a:rPr>
              <a:t>r</a:t>
            </a:r>
            <a:r>
              <a:rPr lang="en-US" dirty="0"/>
              <a:t> = </a:t>
            </a:r>
            <a:r>
              <a:rPr lang="en-US" dirty="0">
                <a:solidFill>
                  <a:srgbClr val="0070C0"/>
                </a:solidFill>
              </a:rPr>
              <a:t>I will go to sleep early.</a:t>
            </a:r>
          </a:p>
          <a:p>
            <a:pPr>
              <a:lnSpc>
                <a:spcPct val="110000"/>
              </a:lnSpc>
              <a:buNone/>
            </a:pPr>
            <a:r>
              <a:rPr lang="en-US" dirty="0"/>
              <a:t>			</a:t>
            </a:r>
            <a:r>
              <a:rPr lang="en-US" b="1" dirty="0">
                <a:solidFill>
                  <a:srgbClr val="C00000"/>
                </a:solidFill>
              </a:rPr>
              <a:t>s</a:t>
            </a:r>
            <a:r>
              <a:rPr lang="en-US" dirty="0"/>
              <a:t> = </a:t>
            </a:r>
            <a:r>
              <a:rPr lang="en-US" dirty="0">
                <a:solidFill>
                  <a:srgbClr val="0070C0"/>
                </a:solidFill>
              </a:rPr>
              <a:t>I will wake up feeling refreshed.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20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noAutofit/>
          </a:bodyPr>
          <a:lstStyle/>
          <a:p>
            <a:r>
              <a:rPr lang="en-US" sz="2400" dirty="0"/>
              <a:t>Symbolically,</a:t>
            </a:r>
          </a:p>
          <a:p>
            <a:pPr>
              <a:buNone/>
            </a:pPr>
            <a:r>
              <a:rPr lang="en-US" sz="2400" dirty="0"/>
              <a:t>				p → q</a:t>
            </a:r>
          </a:p>
          <a:p>
            <a:pPr>
              <a:buNone/>
            </a:pPr>
            <a:r>
              <a:rPr lang="en-US" sz="2400" dirty="0"/>
              <a:t>			           ~ p → r</a:t>
            </a:r>
          </a:p>
          <a:p>
            <a:pPr>
              <a:buNone/>
            </a:pPr>
            <a:r>
              <a:rPr lang="en-US" sz="2400" dirty="0"/>
              <a:t>				r → s</a:t>
            </a:r>
          </a:p>
          <a:p>
            <a:pPr>
              <a:buNone/>
            </a:pPr>
            <a:endParaRPr lang="en-US" sz="2400" dirty="0"/>
          </a:p>
          <a:p>
            <a:pPr>
              <a:buNone/>
            </a:pPr>
            <a:r>
              <a:rPr lang="en-US" sz="2400" dirty="0"/>
              <a:t>	The </a:t>
            </a:r>
            <a:r>
              <a:rPr lang="en-US" sz="2400" b="1" dirty="0">
                <a:solidFill>
                  <a:srgbClr val="0070C0"/>
                </a:solidFill>
              </a:rPr>
              <a:t>desired conclusion </a:t>
            </a:r>
            <a:r>
              <a:rPr lang="en-US" sz="2400" dirty="0"/>
              <a:t>is:</a:t>
            </a:r>
          </a:p>
          <a:p>
            <a:pPr>
              <a:buNone/>
            </a:pPr>
            <a:r>
              <a:rPr lang="en-US" sz="2400" dirty="0"/>
              <a:t>				 ~ q → s</a:t>
            </a:r>
          </a:p>
          <a:p>
            <a:pPr>
              <a:buNone/>
            </a:pPr>
            <a:r>
              <a:rPr lang="en-US" sz="2400" dirty="0"/>
              <a:t>				</a:t>
            </a:r>
          </a:p>
          <a:p>
            <a:pPr>
              <a:buNone/>
            </a:pPr>
            <a:endParaRPr lang="en-US" sz="2400" dirty="0"/>
          </a:p>
          <a:p>
            <a:pPr>
              <a:buNone/>
            </a:pPr>
            <a:r>
              <a:rPr lang="en-US" sz="2400" dirty="0"/>
              <a:t>				</a:t>
            </a:r>
          </a:p>
          <a:p>
            <a:pPr>
              <a:buNone/>
            </a:pPr>
            <a:r>
              <a:rPr lang="en-US" sz="2400" dirty="0"/>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40632" y="721895"/>
            <a:ext cx="6755063" cy="4932947"/>
          </a:xfrm>
        </p:spPr>
        <p:txBody>
          <a:bodyPr>
            <a:normAutofit fontScale="77500" lnSpcReduction="20000"/>
          </a:bodyPr>
          <a:lstStyle/>
          <a:p>
            <a:pPr>
              <a:lnSpc>
                <a:spcPct val="170000"/>
              </a:lnSpc>
            </a:pPr>
            <a:r>
              <a:rPr lang="en-US" dirty="0"/>
              <a:t>We </a:t>
            </a:r>
            <a:r>
              <a:rPr lang="en-US" dirty="0">
                <a:solidFill>
                  <a:srgbClr val="C00000"/>
                </a:solidFill>
              </a:rPr>
              <a:t>construct argument </a:t>
            </a:r>
            <a:r>
              <a:rPr lang="en-US" dirty="0"/>
              <a:t>that our premise lead to </a:t>
            </a:r>
            <a:r>
              <a:rPr lang="en-US" dirty="0">
                <a:solidFill>
                  <a:srgbClr val="C00000"/>
                </a:solidFill>
              </a:rPr>
              <a:t>desired conclusion </a:t>
            </a:r>
            <a:r>
              <a:rPr lang="en-US" dirty="0"/>
              <a:t>as follow:  </a:t>
            </a:r>
          </a:p>
          <a:p>
            <a:pPr>
              <a:lnSpc>
                <a:spcPct val="170000"/>
              </a:lnSpc>
              <a:buNone/>
            </a:pPr>
            <a:r>
              <a:rPr lang="en-US" dirty="0"/>
              <a:t>	</a:t>
            </a:r>
            <a:r>
              <a:rPr lang="en-US" sz="2400" dirty="0">
                <a:solidFill>
                  <a:srgbClr val="00B050"/>
                </a:solidFill>
              </a:rPr>
              <a:t> </a:t>
            </a:r>
            <a:r>
              <a:rPr lang="en-US" dirty="0">
                <a:solidFill>
                  <a:srgbClr val="00B050"/>
                </a:solidFill>
              </a:rPr>
              <a:t>p → q</a:t>
            </a:r>
            <a:r>
              <a:rPr lang="en-US" dirty="0"/>
              <a:t>		</a:t>
            </a:r>
            <a:r>
              <a:rPr lang="en-US" dirty="0">
                <a:solidFill>
                  <a:srgbClr val="C00000"/>
                </a:solidFill>
              </a:rPr>
              <a:t>Premise</a:t>
            </a:r>
          </a:p>
          <a:p>
            <a:pPr>
              <a:lnSpc>
                <a:spcPct val="170000"/>
              </a:lnSpc>
              <a:buNone/>
            </a:pPr>
            <a:r>
              <a:rPr lang="en-US" dirty="0"/>
              <a:t>	</a:t>
            </a:r>
            <a:r>
              <a:rPr lang="en-US" dirty="0">
                <a:solidFill>
                  <a:srgbClr val="00B050"/>
                </a:solidFill>
              </a:rPr>
              <a:t>~ q → ~ p </a:t>
            </a:r>
            <a:r>
              <a:rPr lang="en-US" dirty="0"/>
              <a:t>		</a:t>
            </a:r>
            <a:r>
              <a:rPr lang="en-US" dirty="0" err="1">
                <a:solidFill>
                  <a:srgbClr val="0070C0"/>
                </a:solidFill>
              </a:rPr>
              <a:t>Contrapositive</a:t>
            </a:r>
            <a:endParaRPr lang="en-US" dirty="0">
              <a:solidFill>
                <a:srgbClr val="0070C0"/>
              </a:solidFill>
            </a:endParaRPr>
          </a:p>
          <a:p>
            <a:pPr>
              <a:lnSpc>
                <a:spcPct val="170000"/>
              </a:lnSpc>
              <a:buNone/>
            </a:pPr>
            <a:r>
              <a:rPr lang="en-US" dirty="0"/>
              <a:t>	</a:t>
            </a:r>
            <a:r>
              <a:rPr lang="en-US" dirty="0">
                <a:solidFill>
                  <a:srgbClr val="00B050"/>
                </a:solidFill>
              </a:rPr>
              <a:t>~ p → r</a:t>
            </a:r>
            <a:r>
              <a:rPr lang="en-US" dirty="0"/>
              <a:t>		</a:t>
            </a:r>
            <a:r>
              <a:rPr lang="en-US" dirty="0">
                <a:solidFill>
                  <a:srgbClr val="C00000"/>
                </a:solidFill>
              </a:rPr>
              <a:t>Premise</a:t>
            </a:r>
          </a:p>
          <a:p>
            <a:pPr>
              <a:lnSpc>
                <a:spcPct val="170000"/>
              </a:lnSpc>
              <a:buNone/>
            </a:pPr>
            <a:r>
              <a:rPr lang="en-US" dirty="0"/>
              <a:t>	</a:t>
            </a:r>
            <a:r>
              <a:rPr lang="en-US" dirty="0">
                <a:solidFill>
                  <a:srgbClr val="00B050"/>
                </a:solidFill>
              </a:rPr>
              <a:t>~ q → r</a:t>
            </a:r>
            <a:r>
              <a:rPr lang="en-US" dirty="0"/>
              <a:t>		</a:t>
            </a:r>
            <a:r>
              <a:rPr lang="en-US" dirty="0">
                <a:solidFill>
                  <a:srgbClr val="0070C0"/>
                </a:solidFill>
              </a:rPr>
              <a:t>Hypothetical Syllogism</a:t>
            </a:r>
          </a:p>
          <a:p>
            <a:pPr>
              <a:lnSpc>
                <a:spcPct val="170000"/>
              </a:lnSpc>
              <a:buNone/>
            </a:pPr>
            <a:r>
              <a:rPr lang="en-US" dirty="0"/>
              <a:t>	</a:t>
            </a:r>
            <a:r>
              <a:rPr lang="en-US" dirty="0">
                <a:solidFill>
                  <a:srgbClr val="00B050"/>
                </a:solidFill>
              </a:rPr>
              <a:t>r → s	</a:t>
            </a:r>
            <a:r>
              <a:rPr lang="en-US" dirty="0"/>
              <a:t>		</a:t>
            </a:r>
            <a:r>
              <a:rPr lang="en-US" dirty="0">
                <a:solidFill>
                  <a:srgbClr val="C00000"/>
                </a:solidFill>
              </a:rPr>
              <a:t>Premise</a:t>
            </a:r>
          </a:p>
          <a:p>
            <a:pPr>
              <a:lnSpc>
                <a:spcPct val="170000"/>
              </a:lnSpc>
              <a:buNone/>
            </a:pPr>
            <a:r>
              <a:rPr lang="en-US" dirty="0"/>
              <a:t>	 </a:t>
            </a:r>
            <a:r>
              <a:rPr lang="en-US" dirty="0">
                <a:solidFill>
                  <a:srgbClr val="00B050"/>
                </a:solidFill>
              </a:rPr>
              <a:t>~ q → s</a:t>
            </a:r>
            <a:r>
              <a:rPr lang="en-US" dirty="0"/>
              <a:t>		</a:t>
            </a:r>
            <a:r>
              <a:rPr lang="en-US" dirty="0">
                <a:solidFill>
                  <a:srgbClr val="0070C0"/>
                </a:solidFill>
              </a:rPr>
              <a:t>Hypothetical Syllogism</a:t>
            </a:r>
          </a:p>
        </p:txBody>
      </p:sp>
      <p:graphicFrame>
        <p:nvGraphicFramePr>
          <p:cNvPr id="17420" name="Object 12"/>
          <p:cNvGraphicFramePr>
            <a:graphicFrameLocks noChangeAspect="1"/>
          </p:cNvGraphicFramePr>
          <p:nvPr>
            <p:extLst>
              <p:ext uri="{D42A27DB-BD31-4B8C-83A1-F6EECF244321}">
                <p14:modId xmlns:p14="http://schemas.microsoft.com/office/powerpoint/2010/main" val="2368861653"/>
              </p:ext>
            </p:extLst>
          </p:nvPr>
        </p:nvGraphicFramePr>
        <p:xfrm>
          <a:off x="6809875" y="721895"/>
          <a:ext cx="5509304" cy="6136107"/>
        </p:xfrm>
        <a:graphic>
          <a:graphicData uri="http://schemas.openxmlformats.org/presentationml/2006/ole">
            <mc:AlternateContent xmlns:mc="http://schemas.openxmlformats.org/markup-compatibility/2006">
              <mc:Choice xmlns:v="urn:schemas-microsoft-com:vml" Requires="v">
                <p:oleObj spid="_x0000_s21513" name="Equation" r:id="rId3" imgW="4838400" imgH="5105160" progId="Equation.3">
                  <p:embed/>
                </p:oleObj>
              </mc:Choice>
              <mc:Fallback>
                <p:oleObj name="Equation" r:id="rId3" imgW="4838400" imgH="5105160" progId="Equation.3">
                  <p:embed/>
                  <p:pic>
                    <p:nvPicPr>
                      <p:cNvPr id="1742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9875" y="721895"/>
                        <a:ext cx="5509304" cy="6136107"/>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420"/>
                                        </p:tgtEl>
                                        <p:attrNameLst>
                                          <p:attrName>style.visibility</p:attrName>
                                        </p:attrNameLst>
                                      </p:cBhvr>
                                      <p:to>
                                        <p:strVal val="visible"/>
                                      </p:to>
                                    </p:set>
                                    <p:anim calcmode="lin" valueType="num">
                                      <p:cBhvr additive="base">
                                        <p:cTn id="7" dur="500" fill="hold"/>
                                        <p:tgtEl>
                                          <p:spTgt spid="17420"/>
                                        </p:tgtEl>
                                        <p:attrNameLst>
                                          <p:attrName>ppt_x</p:attrName>
                                        </p:attrNameLst>
                                      </p:cBhvr>
                                      <p:tavLst>
                                        <p:tav tm="0">
                                          <p:val>
                                            <p:strVal val="#ppt_x"/>
                                          </p:val>
                                        </p:tav>
                                        <p:tav tm="100000">
                                          <p:val>
                                            <p:strVal val="#ppt_x"/>
                                          </p:val>
                                        </p:tav>
                                      </p:tavLst>
                                    </p:anim>
                                    <p:anim calcmode="lin" valueType="num">
                                      <p:cBhvr additive="base">
                                        <p:cTn id="8" dur="500" fill="hold"/>
                                        <p:tgtEl>
                                          <p:spTgt spid="174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20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2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20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20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20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2000"/>
                                        <p:tgtEl>
                                          <p:spTgt spid="3">
                                            <p:txEl>
                                              <p:pRg st="5" end="5"/>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fade">
                                      <p:cBhvr>
                                        <p:cTn id="43"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solidFill>
                  <a:srgbClr val="0070C0"/>
                </a:solidFill>
              </a:rPr>
              <a:t>RESOLUTION </a:t>
            </a:r>
          </a:p>
        </p:txBody>
      </p:sp>
      <p:sp>
        <p:nvSpPr>
          <p:cNvPr id="3" name="Content Placeholder 2"/>
          <p:cNvSpPr>
            <a:spLocks noGrp="1"/>
          </p:cNvSpPr>
          <p:nvPr>
            <p:ph sz="quarter" idx="1"/>
          </p:nvPr>
        </p:nvSpPr>
        <p:spPr/>
        <p:txBody>
          <a:bodyPr/>
          <a:lstStyle/>
          <a:p>
            <a:r>
              <a:rPr lang="en-US" dirty="0"/>
              <a:t>The Resolution law is:</a:t>
            </a:r>
          </a:p>
          <a:p>
            <a:endParaRPr lang="en-US" dirty="0"/>
          </a:p>
          <a:p>
            <a:endParaRPr lang="en-US" dirty="0"/>
          </a:p>
          <a:p>
            <a:endParaRPr lang="en-US" dirty="0"/>
          </a:p>
          <a:p>
            <a:endParaRPr lang="en-US" dirty="0"/>
          </a:p>
          <a:p>
            <a:r>
              <a:rPr lang="en-US" dirty="0"/>
              <a:t>Alternatively, ((p </a:t>
            </a:r>
            <a:r>
              <a:rPr lang="en-US" b="1" dirty="0">
                <a:sym typeface="Symbol"/>
              </a:rPr>
              <a:t> </a:t>
            </a:r>
            <a:r>
              <a:rPr lang="en-US" dirty="0">
                <a:sym typeface="Symbol"/>
              </a:rPr>
              <a:t>q)</a:t>
            </a:r>
            <a:r>
              <a:rPr lang="en-US" dirty="0"/>
              <a:t> ∧ ( ~p </a:t>
            </a:r>
            <a:r>
              <a:rPr lang="en-US" b="1" dirty="0">
                <a:sym typeface="Symbol"/>
              </a:rPr>
              <a:t></a:t>
            </a:r>
            <a:r>
              <a:rPr lang="en-US" dirty="0"/>
              <a:t> r))→ (q </a:t>
            </a:r>
            <a:r>
              <a:rPr lang="en-US" b="1" dirty="0">
                <a:sym typeface="Symbol"/>
              </a:rPr>
              <a:t> </a:t>
            </a:r>
            <a:r>
              <a:rPr lang="en-US" dirty="0">
                <a:sym typeface="Symbol"/>
              </a:rPr>
              <a:t>r</a:t>
            </a:r>
            <a:r>
              <a:rPr lang="en-US" dirty="0"/>
              <a:t>) is </a:t>
            </a:r>
            <a:r>
              <a:rPr lang="en-US" b="1" dirty="0">
                <a:solidFill>
                  <a:srgbClr val="C00000"/>
                </a:solidFill>
              </a:rPr>
              <a:t>Tautology</a:t>
            </a:r>
            <a:r>
              <a:rPr lang="en-US" dirty="0"/>
              <a:t>.</a:t>
            </a:r>
          </a:p>
        </p:txBody>
      </p:sp>
      <p:graphicFrame>
        <p:nvGraphicFramePr>
          <p:cNvPr id="4" name="Object 9"/>
          <p:cNvGraphicFramePr>
            <a:graphicFrameLocks noChangeAspect="1"/>
          </p:cNvGraphicFramePr>
          <p:nvPr/>
        </p:nvGraphicFramePr>
        <p:xfrm>
          <a:off x="5273676" y="1752601"/>
          <a:ext cx="1203325" cy="1871663"/>
        </p:xfrm>
        <a:graphic>
          <a:graphicData uri="http://schemas.openxmlformats.org/presentationml/2006/ole">
            <mc:AlternateContent xmlns:mc="http://schemas.openxmlformats.org/markup-compatibility/2006">
              <mc:Choice xmlns:v="urn:schemas-microsoft-com:vml" Requires="v">
                <p:oleObj spid="_x0000_s22536" name="Equation" r:id="rId3" imgW="457200" imgH="711000" progId="Equation.3">
                  <p:embed/>
                </p:oleObj>
              </mc:Choice>
              <mc:Fallback>
                <p:oleObj name="Equation" r:id="rId3" imgW="457200" imgH="711000" progId="Equation.3">
                  <p:embed/>
                  <p:pic>
                    <p:nvPicPr>
                      <p:cNvPr id="4"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3676" y="1752601"/>
                        <a:ext cx="1203325" cy="1871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2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070C0"/>
                </a:solidFill>
              </a:rPr>
              <a:t>Example:</a:t>
            </a:r>
            <a:r>
              <a:rPr lang="en-US" dirty="0"/>
              <a:t>	</a:t>
            </a:r>
          </a:p>
        </p:txBody>
      </p:sp>
      <p:sp>
        <p:nvSpPr>
          <p:cNvPr id="3" name="Content Placeholder 2"/>
          <p:cNvSpPr>
            <a:spLocks noGrp="1"/>
          </p:cNvSpPr>
          <p:nvPr>
            <p:ph sz="quarter" idx="1"/>
          </p:nvPr>
        </p:nvSpPr>
        <p:spPr>
          <a:xfrm>
            <a:off x="745958" y="1690687"/>
            <a:ext cx="11141242" cy="4802187"/>
          </a:xfrm>
        </p:spPr>
        <p:txBody>
          <a:bodyPr>
            <a:normAutofit/>
          </a:bodyPr>
          <a:lstStyle/>
          <a:p>
            <a:pPr>
              <a:lnSpc>
                <a:spcPct val="100000"/>
              </a:lnSpc>
            </a:pPr>
            <a:r>
              <a:rPr lang="en-US" dirty="0"/>
              <a:t>Using the resolution rule to show that the hypothesis:</a:t>
            </a:r>
          </a:p>
          <a:p>
            <a:pPr>
              <a:lnSpc>
                <a:spcPct val="100000"/>
              </a:lnSpc>
              <a:buNone/>
            </a:pPr>
            <a:r>
              <a:rPr lang="en-US" dirty="0"/>
              <a:t>	</a:t>
            </a:r>
            <a:r>
              <a:rPr lang="en-US" dirty="0">
                <a:solidFill>
                  <a:srgbClr val="C00000"/>
                </a:solidFill>
              </a:rPr>
              <a:t>“Jasmine is skiing or it is not snowing” and “It is snowing or Bart is playing hockey”</a:t>
            </a:r>
            <a:r>
              <a:rPr lang="en-US" dirty="0"/>
              <a:t> </a:t>
            </a:r>
            <a:r>
              <a:rPr lang="en-US" dirty="0">
                <a:solidFill>
                  <a:srgbClr val="00B050"/>
                </a:solidFill>
              </a:rPr>
              <a:t>imply that </a:t>
            </a:r>
            <a:r>
              <a:rPr lang="en-US" dirty="0">
                <a:solidFill>
                  <a:srgbClr val="C00000"/>
                </a:solidFill>
              </a:rPr>
              <a:t>“Jasmine is skiing or Bart is playing hockey.”</a:t>
            </a:r>
          </a:p>
          <a:p>
            <a:pPr>
              <a:lnSpc>
                <a:spcPct val="100000"/>
              </a:lnSpc>
            </a:pPr>
            <a:endParaRPr lang="en-US" dirty="0"/>
          </a:p>
          <a:p>
            <a:pPr>
              <a:lnSpc>
                <a:spcPct val="100000"/>
              </a:lnSpc>
            </a:pPr>
            <a:r>
              <a:rPr lang="en-US" dirty="0">
                <a:solidFill>
                  <a:srgbClr val="0070C0"/>
                </a:solidFill>
              </a:rPr>
              <a:t>Solution:</a:t>
            </a:r>
          </a:p>
          <a:p>
            <a:pPr>
              <a:lnSpc>
                <a:spcPct val="100000"/>
              </a:lnSpc>
              <a:buNone/>
            </a:pPr>
            <a:r>
              <a:rPr lang="en-US" dirty="0"/>
              <a:t>	Let		</a:t>
            </a:r>
            <a:r>
              <a:rPr lang="en-US" b="1" dirty="0">
                <a:solidFill>
                  <a:srgbClr val="C00000"/>
                </a:solidFill>
              </a:rPr>
              <a:t>p</a:t>
            </a:r>
            <a:r>
              <a:rPr lang="en-US" dirty="0"/>
              <a:t> = </a:t>
            </a:r>
            <a:r>
              <a:rPr lang="en-US" dirty="0">
                <a:solidFill>
                  <a:srgbClr val="0070C0"/>
                </a:solidFill>
              </a:rPr>
              <a:t>It is snowing.</a:t>
            </a:r>
          </a:p>
          <a:p>
            <a:pPr>
              <a:lnSpc>
                <a:spcPct val="100000"/>
              </a:lnSpc>
              <a:buNone/>
            </a:pPr>
            <a:r>
              <a:rPr lang="en-US" dirty="0"/>
              <a:t>			</a:t>
            </a:r>
            <a:r>
              <a:rPr lang="en-US" b="1" dirty="0">
                <a:solidFill>
                  <a:srgbClr val="C00000"/>
                </a:solidFill>
              </a:rPr>
              <a:t>q</a:t>
            </a:r>
            <a:r>
              <a:rPr lang="en-US" dirty="0"/>
              <a:t> = </a:t>
            </a:r>
            <a:r>
              <a:rPr lang="en-US" dirty="0">
                <a:solidFill>
                  <a:srgbClr val="0070C0"/>
                </a:solidFill>
              </a:rPr>
              <a:t>Jasmine is skiing.</a:t>
            </a:r>
          </a:p>
          <a:p>
            <a:pPr>
              <a:lnSpc>
                <a:spcPct val="100000"/>
              </a:lnSpc>
              <a:buNone/>
            </a:pPr>
            <a:r>
              <a:rPr lang="en-US" dirty="0"/>
              <a:t>			</a:t>
            </a:r>
            <a:r>
              <a:rPr lang="en-US" b="1" dirty="0">
                <a:solidFill>
                  <a:srgbClr val="C00000"/>
                </a:solidFill>
              </a:rPr>
              <a:t>r </a:t>
            </a:r>
            <a:r>
              <a:rPr lang="en-US" dirty="0"/>
              <a:t>= </a:t>
            </a:r>
            <a:r>
              <a:rPr lang="en-US" dirty="0">
                <a:solidFill>
                  <a:srgbClr val="0070C0"/>
                </a:solidFill>
              </a:rPr>
              <a:t>Bart is playing hockey.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p:txBody>
          <a:bodyPr/>
          <a:lstStyle/>
          <a:p>
            <a:r>
              <a:rPr lang="en-US" dirty="0"/>
              <a:t>Symbolically,</a:t>
            </a:r>
          </a:p>
          <a:p>
            <a:pPr>
              <a:buNone/>
            </a:pPr>
            <a:r>
              <a:rPr lang="en-US" dirty="0"/>
              <a:t>			       ~ p </a:t>
            </a:r>
            <a:r>
              <a:rPr lang="en-US" b="1" dirty="0">
                <a:sym typeface="Symbol"/>
              </a:rPr>
              <a:t> </a:t>
            </a:r>
            <a:r>
              <a:rPr lang="en-US" dirty="0">
                <a:sym typeface="Symbol"/>
              </a:rPr>
              <a:t>q</a:t>
            </a:r>
          </a:p>
          <a:p>
            <a:pPr>
              <a:buNone/>
            </a:pPr>
            <a:r>
              <a:rPr lang="en-US" dirty="0">
                <a:sym typeface="Symbol"/>
              </a:rPr>
              <a:t>				p</a:t>
            </a:r>
            <a:r>
              <a:rPr lang="en-US" dirty="0"/>
              <a:t> </a:t>
            </a:r>
            <a:r>
              <a:rPr lang="en-US" b="1" dirty="0">
                <a:sym typeface="Symbol"/>
              </a:rPr>
              <a:t> </a:t>
            </a:r>
            <a:r>
              <a:rPr lang="en-US" dirty="0">
                <a:sym typeface="Symbol"/>
              </a:rPr>
              <a:t>r</a:t>
            </a:r>
          </a:p>
          <a:p>
            <a:pPr>
              <a:buNone/>
            </a:pPr>
            <a:r>
              <a:rPr lang="en-US" dirty="0">
                <a:sym typeface="Symbol"/>
              </a:rPr>
              <a:t>				q </a:t>
            </a:r>
            <a:r>
              <a:rPr lang="en-US" b="1" dirty="0">
                <a:sym typeface="Symbol"/>
              </a:rPr>
              <a:t> </a:t>
            </a:r>
            <a:r>
              <a:rPr lang="en-US" dirty="0">
                <a:sym typeface="Symbol"/>
              </a:rPr>
              <a:t>r</a:t>
            </a:r>
          </a:p>
          <a:p>
            <a:pPr>
              <a:buNone/>
            </a:pPr>
            <a:r>
              <a:rPr lang="en-US" dirty="0"/>
              <a:t>	Using Resolution the </a:t>
            </a:r>
            <a:r>
              <a:rPr lang="en-US" dirty="0">
                <a:sym typeface="Symbol"/>
              </a:rPr>
              <a:t>q </a:t>
            </a:r>
            <a:r>
              <a:rPr lang="en-US" b="1" dirty="0">
                <a:sym typeface="Symbol"/>
              </a:rPr>
              <a:t> </a:t>
            </a:r>
            <a:r>
              <a:rPr lang="en-US" dirty="0">
                <a:sym typeface="Symbol"/>
              </a:rPr>
              <a:t>r follows.</a:t>
            </a:r>
            <a:endParaRPr lang="en-US" dirty="0"/>
          </a:p>
          <a:p>
            <a:pPr>
              <a:buNone/>
            </a:pPr>
            <a:r>
              <a:rPr lang="en-US" dirty="0"/>
              <a:t>				</a:t>
            </a:r>
          </a:p>
        </p:txBody>
      </p:sp>
      <p:cxnSp>
        <p:nvCxnSpPr>
          <p:cNvPr id="4" name="Straight Connector 3"/>
          <p:cNvCxnSpPr/>
          <p:nvPr/>
        </p:nvCxnSpPr>
        <p:spPr>
          <a:xfrm>
            <a:off x="3886200" y="3429000"/>
            <a:ext cx="1066800"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Object 2"/>
          <p:cNvGraphicFramePr>
            <a:graphicFrameLocks noChangeAspect="1"/>
          </p:cNvGraphicFramePr>
          <p:nvPr>
            <p:extLst>
              <p:ext uri="{D42A27DB-BD31-4B8C-83A1-F6EECF244321}">
                <p14:modId xmlns:p14="http://schemas.microsoft.com/office/powerpoint/2010/main" val="2904186485"/>
              </p:ext>
            </p:extLst>
          </p:nvPr>
        </p:nvGraphicFramePr>
        <p:xfrm>
          <a:off x="3657600" y="3533775"/>
          <a:ext cx="457200" cy="381000"/>
        </p:xfrm>
        <a:graphic>
          <a:graphicData uri="http://schemas.openxmlformats.org/presentationml/2006/ole">
            <mc:AlternateContent xmlns:mc="http://schemas.openxmlformats.org/markup-compatibility/2006">
              <mc:Choice xmlns:v="urn:schemas-microsoft-com:vml" Requires="v">
                <p:oleObj spid="_x0000_s23561" name="Equation" r:id="rId3" imgW="139680" imgH="126720" progId="Equation.3">
                  <p:embed/>
                </p:oleObj>
              </mc:Choice>
              <mc:Fallback>
                <p:oleObj name="Equation" r:id="rId3" imgW="139680" imgH="126720" progId="Equation.3">
                  <p:embed/>
                  <p:pic>
                    <p:nvPicPr>
                      <p:cNvPr id="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3533775"/>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20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20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2000"/>
                                        <p:tgtEl>
                                          <p:spTgt spid="3">
                                            <p:txEl>
                                              <p:pRg st="5" end="5"/>
                                            </p:txEl>
                                          </p:spTgt>
                                        </p:tgtEl>
                                      </p:cBhvr>
                                    </p:animEffect>
                                  </p:childTnLst>
                                </p:cTn>
                              </p:par>
                              <p:par>
                                <p:cTn id="38" presetID="3" presetClass="entr" presetSubtype="10" fill="hold" nodeType="with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linds(horizontal)">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solidFill>
                  <a:srgbClr val="0070C0"/>
                </a:solidFill>
              </a:rPr>
              <a:t>EXAMPLE … </a:t>
            </a:r>
            <a:r>
              <a:rPr lang="en-US" sz="4400" dirty="0">
                <a:solidFill>
                  <a:srgbClr val="B31591"/>
                </a:solidFill>
                <a:latin typeface="Cambria Math" panose="02040503050406030204" pitchFamily="18" charset="0"/>
                <a:ea typeface="Cambria Math" panose="02040503050406030204" pitchFamily="18" charset="0"/>
              </a:rPr>
              <a:t>Do it yourself</a:t>
            </a:r>
            <a:endParaRPr lang="en-US" u="sng" dirty="0">
              <a:solidFill>
                <a:srgbClr val="0070C0"/>
              </a:solidFill>
            </a:endParaRPr>
          </a:p>
        </p:txBody>
      </p:sp>
      <p:sp>
        <p:nvSpPr>
          <p:cNvPr id="3" name="Content Placeholder 2"/>
          <p:cNvSpPr>
            <a:spLocks noGrp="1"/>
          </p:cNvSpPr>
          <p:nvPr>
            <p:ph sz="quarter" idx="1"/>
          </p:nvPr>
        </p:nvSpPr>
        <p:spPr>
          <a:xfrm>
            <a:off x="741426" y="1428749"/>
            <a:ext cx="11158728" cy="5254625"/>
          </a:xfrm>
        </p:spPr>
        <p:txBody>
          <a:bodyPr>
            <a:normAutofit/>
          </a:bodyPr>
          <a:lstStyle/>
          <a:p>
            <a:r>
              <a:rPr lang="en-US" dirty="0"/>
              <a:t>In the back of an old cupboard you discover a note signed by a pirate famous for his sense of humor and love of logical puzzles. In the note he wrote that he had hidden treasure somewhere on the property. He listed five true statements (a–d below) and challenged the reader to use them to figure out the location of the treasure using  inference rules for propositional logic							               </a:t>
            </a:r>
          </a:p>
          <a:p>
            <a:pPr marL="788670" lvl="1" indent="-514350">
              <a:buFont typeface="+mj-lt"/>
              <a:buAutoNum type="alphaLcParenR"/>
            </a:pPr>
            <a:r>
              <a:rPr lang="en-US" dirty="0"/>
              <a:t>If this house is next to a lake, then the treasure is not in the kitchen.</a:t>
            </a:r>
          </a:p>
          <a:p>
            <a:pPr marL="788670" lvl="1" indent="-514350">
              <a:buFont typeface="+mj-lt"/>
              <a:buAutoNum type="alphaLcParenR"/>
            </a:pPr>
            <a:r>
              <a:rPr lang="en-US" dirty="0"/>
              <a:t>This house is next to a lake.</a:t>
            </a:r>
          </a:p>
          <a:p>
            <a:pPr marL="788670" lvl="1" indent="-514350">
              <a:buFont typeface="+mj-lt"/>
              <a:buAutoNum type="alphaLcParenR"/>
            </a:pPr>
            <a:r>
              <a:rPr lang="en-US" dirty="0"/>
              <a:t>If the tree in the front yard is an elm, then the treasure is in the kitchen.</a:t>
            </a:r>
          </a:p>
          <a:p>
            <a:pPr marL="788670" lvl="1" indent="-514350">
              <a:buFont typeface="+mj-lt"/>
              <a:buAutoNum type="alphaLcParenR"/>
            </a:pPr>
            <a:r>
              <a:rPr lang="en-US" dirty="0"/>
              <a:t>The tree in the front yard is an elm or the treasure is buried under the flagpole.</a:t>
            </a:r>
          </a:p>
          <a:p>
            <a:r>
              <a:rPr lang="en-US" dirty="0"/>
              <a:t>Where is the treasure hidden?</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52E7E-3654-4785-A25A-DF91888D7D9D}"/>
              </a:ext>
            </a:extLst>
          </p:cNvPr>
          <p:cNvSpPr>
            <a:spLocks noGrp="1"/>
          </p:cNvSpPr>
          <p:nvPr>
            <p:ph type="title"/>
          </p:nvPr>
        </p:nvSpPr>
        <p:spPr/>
        <p:txBody>
          <a:bodyPr/>
          <a:lstStyle/>
          <a:p>
            <a:r>
              <a:rPr lang="en-US" dirty="0"/>
              <a:t>Practice Questions</a:t>
            </a:r>
          </a:p>
        </p:txBody>
      </p:sp>
      <p:sp>
        <p:nvSpPr>
          <p:cNvPr id="3" name="Text Placeholder 2">
            <a:extLst>
              <a:ext uri="{FF2B5EF4-FFF2-40B4-BE49-F238E27FC236}">
                <a16:creationId xmlns:a16="http://schemas.microsoft.com/office/drawing/2014/main" id="{E6D88F28-B030-4389-BFFA-F7722E4381AF}"/>
              </a:ext>
            </a:extLst>
          </p:cNvPr>
          <p:cNvSpPr>
            <a:spLocks noGrp="1"/>
          </p:cNvSpPr>
          <p:nvPr>
            <p:ph type="body" idx="1"/>
          </p:nvPr>
        </p:nvSpPr>
        <p:spPr/>
        <p:txBody>
          <a:bodyPr/>
          <a:lstStyle/>
          <a:p>
            <a:r>
              <a:rPr lang="en-US" dirty="0"/>
              <a:t>Do it by Yourself</a:t>
            </a:r>
          </a:p>
        </p:txBody>
      </p:sp>
    </p:spTree>
    <p:extLst>
      <p:ext uri="{BB962C8B-B14F-4D97-AF65-F5344CB8AC3E}">
        <p14:creationId xmlns:p14="http://schemas.microsoft.com/office/powerpoint/2010/main" val="3865640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1F33-2313-B58E-29CE-69E42FAFB3B7}"/>
              </a:ext>
            </a:extLst>
          </p:cNvPr>
          <p:cNvSpPr>
            <a:spLocks noGrp="1"/>
          </p:cNvSpPr>
          <p:nvPr>
            <p:ph type="title"/>
          </p:nvPr>
        </p:nvSpPr>
        <p:spPr>
          <a:xfrm>
            <a:off x="726056" y="18256"/>
            <a:ext cx="10515600" cy="82713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1FAEFAE-CAE7-072F-C900-78022DFD385E}"/>
              </a:ext>
            </a:extLst>
          </p:cNvPr>
          <p:cNvSpPr>
            <a:spLocks noGrp="1"/>
          </p:cNvSpPr>
          <p:nvPr>
            <p:ph idx="1"/>
          </p:nvPr>
        </p:nvSpPr>
        <p:spPr>
          <a:xfrm>
            <a:off x="838200" y="845391"/>
            <a:ext cx="10515600" cy="448572"/>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Prove that the following argument is valid:</a:t>
            </a:r>
          </a:p>
          <a:p>
            <a:pPr marL="0" indent="0">
              <a:buNone/>
            </a:pPr>
            <a:endParaRPr lang="en-US" sz="2400"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84707516-4CCF-6FA5-B3DD-9F5AFA0EB535}"/>
              </a:ext>
            </a:extLst>
          </p:cNvPr>
          <p:cNvPicPr>
            <a:picLocks noChangeAspect="1"/>
          </p:cNvPicPr>
          <p:nvPr/>
        </p:nvPicPr>
        <p:blipFill>
          <a:blip r:embed="rId2"/>
          <a:stretch>
            <a:fillRect/>
          </a:stretch>
        </p:blipFill>
        <p:spPr>
          <a:xfrm>
            <a:off x="950343" y="1293963"/>
            <a:ext cx="1790700" cy="1171575"/>
          </a:xfrm>
          <a:prstGeom prst="rect">
            <a:avLst/>
          </a:prstGeom>
          <a:ln w="38100" cap="sq">
            <a:solidFill>
              <a:srgbClr val="B3159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066473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1F33-2313-B58E-29CE-69E42FAFB3B7}"/>
              </a:ext>
            </a:extLst>
          </p:cNvPr>
          <p:cNvSpPr>
            <a:spLocks noGrp="1"/>
          </p:cNvSpPr>
          <p:nvPr>
            <p:ph type="title"/>
          </p:nvPr>
        </p:nvSpPr>
        <p:spPr>
          <a:xfrm>
            <a:off x="726056" y="18256"/>
            <a:ext cx="10515600" cy="82713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1FAEFAE-CAE7-072F-C900-78022DFD385E}"/>
              </a:ext>
            </a:extLst>
          </p:cNvPr>
          <p:cNvSpPr>
            <a:spLocks noGrp="1"/>
          </p:cNvSpPr>
          <p:nvPr>
            <p:ph idx="1"/>
          </p:nvPr>
        </p:nvSpPr>
        <p:spPr>
          <a:xfrm>
            <a:off x="838200" y="845391"/>
            <a:ext cx="10515600" cy="448572"/>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Prove that the following argument is valid:</a:t>
            </a:r>
          </a:p>
          <a:p>
            <a:pPr marL="0" indent="0">
              <a:buNone/>
            </a:pPr>
            <a:endParaRPr lang="en-US" sz="2400" dirty="0">
              <a:latin typeface="Cambria Math" panose="02040503050406030204" pitchFamily="18" charset="0"/>
              <a:ea typeface="Cambria Math" panose="02040503050406030204" pitchFamily="18" charset="0"/>
            </a:endParaRPr>
          </a:p>
        </p:txBody>
      </p:sp>
      <p:pic>
        <p:nvPicPr>
          <p:cNvPr id="6" name="Picture 5">
            <a:extLst>
              <a:ext uri="{FF2B5EF4-FFF2-40B4-BE49-F238E27FC236}">
                <a16:creationId xmlns:a16="http://schemas.microsoft.com/office/drawing/2014/main" id="{5830D211-3755-DCE7-7058-FFB49F460DBC}"/>
              </a:ext>
            </a:extLst>
          </p:cNvPr>
          <p:cNvPicPr>
            <a:picLocks noChangeAspect="1"/>
          </p:cNvPicPr>
          <p:nvPr/>
        </p:nvPicPr>
        <p:blipFill>
          <a:blip r:embed="rId2"/>
          <a:stretch>
            <a:fillRect/>
          </a:stretch>
        </p:blipFill>
        <p:spPr>
          <a:xfrm>
            <a:off x="838200" y="1293963"/>
            <a:ext cx="1835989" cy="1799269"/>
          </a:xfrm>
          <a:prstGeom prst="round2DiagRect">
            <a:avLst>
              <a:gd name="adj1" fmla="val 16667"/>
              <a:gd name="adj2" fmla="val 0"/>
            </a:avLst>
          </a:prstGeom>
          <a:ln w="28575" cap="sq" cmpd="dbl">
            <a:solidFill>
              <a:schemeClr val="accent2">
                <a:lumMod val="75000"/>
              </a:schemeClr>
            </a:solidFill>
            <a:round/>
          </a:ln>
          <a:effectLst>
            <a:outerShdw blurRad="254000" algn="tl" rotWithShape="0">
              <a:srgbClr val="000000">
                <a:alpha val="43000"/>
              </a:srgbClr>
            </a:outerShdw>
          </a:effectLst>
        </p:spPr>
      </p:pic>
    </p:spTree>
    <p:extLst>
      <p:ext uri="{BB962C8B-B14F-4D97-AF65-F5344CB8AC3E}">
        <p14:creationId xmlns:p14="http://schemas.microsoft.com/office/powerpoint/2010/main" val="26960201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31F33-2313-B58E-29CE-69E42FAFB3B7}"/>
              </a:ext>
            </a:extLst>
          </p:cNvPr>
          <p:cNvSpPr>
            <a:spLocks noGrp="1"/>
          </p:cNvSpPr>
          <p:nvPr>
            <p:ph type="title"/>
          </p:nvPr>
        </p:nvSpPr>
        <p:spPr>
          <a:xfrm>
            <a:off x="726056" y="18256"/>
            <a:ext cx="10515600" cy="82713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solidFill>
                <a:srgbClr val="B31591"/>
              </a:solidFill>
              <a:latin typeface="Cambria Math" panose="02040503050406030204" pitchFamily="18" charset="0"/>
              <a:ea typeface="Cambria Math" panose="02040503050406030204" pitchFamily="18" charset="0"/>
            </a:endParaRPr>
          </a:p>
        </p:txBody>
      </p:sp>
      <p:sp>
        <p:nvSpPr>
          <p:cNvPr id="3" name="Content Placeholder 2">
            <a:extLst>
              <a:ext uri="{FF2B5EF4-FFF2-40B4-BE49-F238E27FC236}">
                <a16:creationId xmlns:a16="http://schemas.microsoft.com/office/drawing/2014/main" id="{61FAEFAE-CAE7-072F-C900-78022DFD385E}"/>
              </a:ext>
            </a:extLst>
          </p:cNvPr>
          <p:cNvSpPr>
            <a:spLocks noGrp="1"/>
          </p:cNvSpPr>
          <p:nvPr>
            <p:ph idx="1"/>
          </p:nvPr>
        </p:nvSpPr>
        <p:spPr>
          <a:xfrm>
            <a:off x="838200" y="845391"/>
            <a:ext cx="10515600" cy="448572"/>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Prove that the following argument is valid:</a:t>
            </a:r>
          </a:p>
          <a:p>
            <a:pPr marL="0" indent="0">
              <a:buNone/>
            </a:pPr>
            <a:endParaRPr lang="en-US" sz="2400" dirty="0">
              <a:latin typeface="Cambria Math" panose="02040503050406030204" pitchFamily="18" charset="0"/>
              <a:ea typeface="Cambria Math" panose="02040503050406030204" pitchFamily="18" charset="0"/>
            </a:endParaRPr>
          </a:p>
        </p:txBody>
      </p:sp>
      <p:pic>
        <p:nvPicPr>
          <p:cNvPr id="5" name="Picture 4">
            <a:extLst>
              <a:ext uri="{FF2B5EF4-FFF2-40B4-BE49-F238E27FC236}">
                <a16:creationId xmlns:a16="http://schemas.microsoft.com/office/drawing/2014/main" id="{A53EDDF0-761A-EE9F-8B56-6AEE7CA9E5DE}"/>
              </a:ext>
            </a:extLst>
          </p:cNvPr>
          <p:cNvPicPr>
            <a:picLocks noChangeAspect="1"/>
          </p:cNvPicPr>
          <p:nvPr/>
        </p:nvPicPr>
        <p:blipFill>
          <a:blip r:embed="rId2"/>
          <a:stretch>
            <a:fillRect/>
          </a:stretch>
        </p:blipFill>
        <p:spPr>
          <a:xfrm>
            <a:off x="966159" y="1293963"/>
            <a:ext cx="1977246" cy="1937701"/>
          </a:xfrm>
          <a:prstGeom prst="rect">
            <a:avLst/>
          </a:prstGeom>
          <a:solidFill>
            <a:srgbClr val="FFFFFF">
              <a:shade val="85000"/>
            </a:srgbClr>
          </a:solidFill>
          <a:ln w="38100" cap="rnd">
            <a:solidFill>
              <a:schemeClr val="accent1"/>
            </a:solidFill>
            <a:prstDash val="dash"/>
          </a:ln>
          <a:effectLst>
            <a:outerShdw blurRad="50800" dist="38100" algn="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4053681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Example</a:t>
            </a:r>
            <a:endParaRPr lang="en-US" sz="4000" dirty="0"/>
          </a:p>
        </p:txBody>
      </p:sp>
      <p:pic>
        <p:nvPicPr>
          <p:cNvPr id="5" name="Content Placeholder 4">
            <a:extLst>
              <a:ext uri="{FF2B5EF4-FFF2-40B4-BE49-F238E27FC236}">
                <a16:creationId xmlns:a16="http://schemas.microsoft.com/office/drawing/2014/main" id="{4743221F-720E-59D8-EE0F-302C4444B7AD}"/>
              </a:ext>
            </a:extLst>
          </p:cNvPr>
          <p:cNvPicPr>
            <a:picLocks noGrp="1" noChangeAspect="1"/>
          </p:cNvPicPr>
          <p:nvPr>
            <p:ph idx="1"/>
          </p:nvPr>
        </p:nvPicPr>
        <p:blipFill>
          <a:blip r:embed="rId2"/>
          <a:stretch>
            <a:fillRect/>
          </a:stretch>
        </p:blipFill>
        <p:spPr>
          <a:xfrm>
            <a:off x="938482" y="1274089"/>
            <a:ext cx="2171700" cy="2038350"/>
          </a:xfrm>
          <a:prstGeom prst="rect">
            <a:avLst/>
          </a:prstGeom>
          <a:ln w="28575">
            <a:solidFill>
              <a:srgbClr val="FE0006"/>
            </a:solidFill>
          </a:ln>
          <a:effectLst>
            <a:outerShdw blurRad="50800" dist="38100" dir="8100000" algn="tr" rotWithShape="0">
              <a:prstClr val="black">
                <a:alpha val="40000"/>
              </a:prstClr>
            </a:outerShdw>
          </a:effectLst>
          <a:scene3d>
            <a:camera prst="orthographicFront"/>
            <a:lightRig rig="threePt" dir="t"/>
          </a:scene3d>
          <a:sp3d>
            <a:bevelT prst="relaxedInset"/>
          </a:sp3d>
        </p:spPr>
      </p:pic>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0176097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Ali is disciplined, his job is in forces.</a:t>
            </a:r>
          </a:p>
          <a:p>
            <a:pPr marL="0" indent="0">
              <a:buNone/>
            </a:pPr>
            <a:r>
              <a:rPr lang="en-US" sz="2400" dirty="0">
                <a:latin typeface="Cambria Math" panose="02040503050406030204" pitchFamily="18" charset="0"/>
                <a:ea typeface="Cambria Math" panose="02040503050406030204" pitchFamily="18" charset="0"/>
              </a:rPr>
              <a:t>Ali is disciplined</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∴Ali’s job is in forces.</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171228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sun is shining, I will go out for a walk.</a:t>
            </a:r>
          </a:p>
          <a:p>
            <a:pPr marL="0" indent="0">
              <a:buNone/>
            </a:pPr>
            <a:r>
              <a:rPr lang="en-US" sz="2400" dirty="0">
                <a:latin typeface="Cambria Math" panose="02040503050406030204" pitchFamily="18" charset="0"/>
                <a:ea typeface="Cambria Math" panose="02040503050406030204" pitchFamily="18" charset="0"/>
              </a:rPr>
              <a:t>Sun is shining.</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∴I will go out for a walk.</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422205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the teacher is absent, he must be sick.</a:t>
            </a:r>
          </a:p>
          <a:p>
            <a:pPr marL="0" indent="0">
              <a:buNone/>
            </a:pPr>
            <a:r>
              <a:rPr lang="en-US" sz="2400" dirty="0">
                <a:latin typeface="Cambria Math" panose="02040503050406030204" pitchFamily="18" charset="0"/>
                <a:ea typeface="Cambria Math" panose="02040503050406030204" pitchFamily="18" charset="0"/>
              </a:rPr>
              <a:t>The teacher is not absent.</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∴The teacher must not be sick.</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4550015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my attendance is short, I will fail this course.</a:t>
            </a:r>
          </a:p>
          <a:p>
            <a:pPr marL="0" indent="0">
              <a:buNone/>
            </a:pPr>
            <a:r>
              <a:rPr lang="en-US" sz="2400" dirty="0">
                <a:latin typeface="Cambria Math" panose="02040503050406030204" pitchFamily="18" charset="0"/>
                <a:ea typeface="Cambria Math" panose="02040503050406030204" pitchFamily="18" charset="0"/>
              </a:rPr>
              <a:t>My attendance is not short.</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∴I should not fail this course.</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234712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accountability is better in system, the culprit will be punished.</a:t>
            </a:r>
          </a:p>
          <a:p>
            <a:pPr marL="0" indent="0">
              <a:buNone/>
            </a:pPr>
            <a:r>
              <a:rPr lang="en-US" sz="2400" dirty="0">
                <a:latin typeface="Cambria Math" panose="02040503050406030204" pitchFamily="18" charset="0"/>
                <a:ea typeface="Cambria Math" panose="02040503050406030204" pitchFamily="18" charset="0"/>
              </a:rPr>
              <a:t>If the culprit is punished, crime rate in city remains in control. </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∴If the accountability is better in system, crime rate in city remains in control.</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01081476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38200" y="1354349"/>
            <a:ext cx="10515600"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the technical education is adequate, industry gets suitable work force.</a:t>
            </a:r>
          </a:p>
          <a:p>
            <a:pPr marL="0" indent="0">
              <a:buNone/>
            </a:pPr>
            <a:r>
              <a:rPr lang="en-US" sz="2400" dirty="0">
                <a:latin typeface="Cambria Math" panose="02040503050406030204" pitchFamily="18" charset="0"/>
                <a:ea typeface="Cambria Math" panose="02040503050406030204" pitchFamily="18" charset="0"/>
              </a:rPr>
              <a:t>If industry gets suitable workforce, unemployment is reduced in country. </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If the technical education is adequate, unemployment is reduced in country</a:t>
            </a: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020573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we eat fresh vegetables, our immunity is improved.</a:t>
            </a:r>
          </a:p>
          <a:p>
            <a:pPr marL="0" indent="0">
              <a:buNone/>
            </a:pPr>
            <a:r>
              <a:rPr lang="en-US" sz="2400" dirty="0">
                <a:latin typeface="Cambria Math" panose="02040503050406030204" pitchFamily="18" charset="0"/>
                <a:ea typeface="Cambria Math" panose="02040503050406030204" pitchFamily="18" charset="0"/>
              </a:rPr>
              <a:t>If our immunity is improved, we are less prone to seasonal diseases.  </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If we eat fresh vegetables, we are less prone to seasonal diseases.</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5154508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 will stay at home or I will go to the office.</a:t>
            </a:r>
          </a:p>
          <a:p>
            <a:pPr marL="0" indent="0">
              <a:buNone/>
            </a:pPr>
            <a:r>
              <a:rPr lang="en-US" sz="2400" dirty="0">
                <a:latin typeface="Cambria Math" panose="02040503050406030204" pitchFamily="18" charset="0"/>
                <a:ea typeface="Cambria Math" panose="02040503050406030204" pitchFamily="18" charset="0"/>
              </a:rPr>
              <a:t>I will not stay at home.</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 will go to the office.</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76524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 will take tea or I will take fresh lime.</a:t>
            </a:r>
          </a:p>
          <a:p>
            <a:pPr marL="0" indent="0">
              <a:buNone/>
            </a:pPr>
            <a:r>
              <a:rPr lang="en-US" sz="2400" dirty="0">
                <a:latin typeface="Cambria Math" panose="02040503050406030204" pitchFamily="18" charset="0"/>
                <a:ea typeface="Cambria Math" panose="02040503050406030204" pitchFamily="18" charset="0"/>
              </a:rPr>
              <a:t>I will not take tea.</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 will take fresh lime.</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7467660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 will wash my bike on Sunday.</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 will wash my bike on Saturday or on Sunday.</a:t>
            </a:r>
          </a:p>
          <a:p>
            <a:pPr marL="0" indent="0">
              <a:buNone/>
            </a:pP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9589013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You are my crush.</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Either you are my crush or I am going to crush you.</a:t>
            </a:r>
          </a:p>
          <a:p>
            <a:pPr marL="0" indent="0">
              <a:buNone/>
            </a:pP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1785214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Bilal is a vegetarian.</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Bilal is vegetarian or he eats meat occasionally.</a:t>
            </a:r>
          </a:p>
          <a:p>
            <a:pPr marL="0" indent="0">
              <a:buNone/>
            </a:pP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8831424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Umer is lazy or Faisal is quick.</a:t>
            </a:r>
          </a:p>
          <a:p>
            <a:pPr marL="0" indent="0">
              <a:buNone/>
            </a:pPr>
            <a:r>
              <a:rPr lang="en-US" sz="2400" dirty="0">
                <a:latin typeface="Cambria Math" panose="02040503050406030204" pitchFamily="18" charset="0"/>
                <a:ea typeface="Cambria Math" panose="02040503050406030204" pitchFamily="18" charset="0"/>
              </a:rPr>
              <a:t>Umer is not lazy or Fatima is smart.</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Faisal is quick or Fatima is smart.</a:t>
            </a:r>
          </a:p>
        </p:txBody>
      </p:sp>
    </p:spTree>
    <p:extLst>
      <p:ext uri="{BB962C8B-B14F-4D97-AF65-F5344CB8AC3E}">
        <p14:creationId xmlns:p14="http://schemas.microsoft.com/office/powerpoint/2010/main" val="17356054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Laws of Inference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Prove that the following argument is valid:</a:t>
            </a:r>
          </a:p>
          <a:p>
            <a:pPr marL="0" indent="0">
              <a:buFont typeface="Arial" panose="020B0604020202020204" pitchFamily="34" charset="0"/>
              <a:buNone/>
            </a:pPr>
            <a:endParaRPr lang="en-US" sz="2400" dirty="0">
              <a:solidFill>
                <a:schemeClr val="accent5">
                  <a:lumMod val="75000"/>
                </a:schemeClr>
              </a:solidFill>
              <a:latin typeface="Cambria Math" panose="02040503050406030204" pitchFamily="18" charset="0"/>
              <a:ea typeface="Cambria Math" panose="02040503050406030204" pitchFamily="18" charset="0"/>
            </a:endParaRP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James is an innovator or Hamza is an expert programmer.</a:t>
            </a:r>
          </a:p>
          <a:p>
            <a:pPr marL="0" indent="0">
              <a:buNone/>
            </a:pPr>
            <a:r>
              <a:rPr lang="en-US" sz="2400" dirty="0">
                <a:latin typeface="Cambria Math" panose="02040503050406030204" pitchFamily="18" charset="0"/>
                <a:ea typeface="Cambria Math" panose="02040503050406030204" pitchFamily="18" charset="0"/>
              </a:rPr>
              <a:t>James is not an innovator or Faria is a content writer.</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Hamza is an expert programmer or Faria is a content writer.</a:t>
            </a:r>
          </a:p>
        </p:txBody>
      </p:sp>
    </p:spTree>
    <p:extLst>
      <p:ext uri="{BB962C8B-B14F-4D97-AF65-F5344CB8AC3E}">
        <p14:creationId xmlns:p14="http://schemas.microsoft.com/office/powerpoint/2010/main" val="12056796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it rains, Salman will miss the class.</a:t>
            </a:r>
          </a:p>
          <a:p>
            <a:pPr marL="0" indent="0">
              <a:buNone/>
            </a:pPr>
            <a:r>
              <a:rPr lang="en-US" sz="2400" dirty="0">
                <a:latin typeface="Cambria Math" panose="02040503050406030204" pitchFamily="18" charset="0"/>
                <a:ea typeface="Cambria Math" panose="02040503050406030204" pitchFamily="18" charset="0"/>
              </a:rPr>
              <a:t>Salman didn’t miss the class.</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It didn’t rain.</a:t>
            </a:r>
          </a:p>
        </p:txBody>
      </p:sp>
    </p:spTree>
    <p:extLst>
      <p:ext uri="{BB962C8B-B14F-4D97-AF65-F5344CB8AC3E}">
        <p14:creationId xmlns:p14="http://schemas.microsoft.com/office/powerpoint/2010/main" val="397020549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If Rizwan starts the innings, he will score a hundred.</a:t>
            </a:r>
          </a:p>
          <a:p>
            <a:pPr marL="0" indent="0">
              <a:buNone/>
            </a:pPr>
            <a:r>
              <a:rPr lang="en-US" sz="2400" dirty="0">
                <a:latin typeface="Cambria Math" panose="02040503050406030204" pitchFamily="18" charset="0"/>
                <a:ea typeface="Cambria Math" panose="02040503050406030204" pitchFamily="18" charset="0"/>
              </a:rPr>
              <a:t>Rizwan didn’t score a hundred.</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Rizwan didn’t start the innings.</a:t>
            </a:r>
          </a:p>
        </p:txBody>
      </p:sp>
    </p:spTree>
    <p:extLst>
      <p:ext uri="{BB962C8B-B14F-4D97-AF65-F5344CB8AC3E}">
        <p14:creationId xmlns:p14="http://schemas.microsoft.com/office/powerpoint/2010/main" val="32115263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Lilly is a woman.</a:t>
            </a:r>
          </a:p>
          <a:p>
            <a:pPr marL="0" indent="0">
              <a:buNone/>
            </a:pPr>
            <a:r>
              <a:rPr lang="en-US" sz="2400" dirty="0">
                <a:latin typeface="Cambria Math" panose="02040503050406030204" pitchFamily="18" charset="0"/>
                <a:ea typeface="Cambria Math" panose="02040503050406030204" pitchFamily="18" charset="0"/>
              </a:rPr>
              <a:t>Lilly is a gymnast.</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All women are gymnasts.</a:t>
            </a:r>
          </a:p>
        </p:txBody>
      </p:sp>
    </p:spTree>
    <p:extLst>
      <p:ext uri="{BB962C8B-B14F-4D97-AF65-F5344CB8AC3E}">
        <p14:creationId xmlns:p14="http://schemas.microsoft.com/office/powerpoint/2010/main" val="43634225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All lions are fierce.</a:t>
            </a:r>
          </a:p>
          <a:p>
            <a:pPr marL="0" indent="0">
              <a:buNone/>
            </a:pPr>
            <a:r>
              <a:rPr lang="en-US" sz="2400" dirty="0">
                <a:latin typeface="Cambria Math" panose="02040503050406030204" pitchFamily="18" charset="0"/>
                <a:ea typeface="Cambria Math" panose="02040503050406030204" pitchFamily="18" charset="0"/>
              </a:rPr>
              <a:t>Some lions do not drink coffee.</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Some fierce creatures do not drink coffee.</a:t>
            </a:r>
          </a:p>
        </p:txBody>
      </p:sp>
    </p:spTree>
    <p:extLst>
      <p:ext uri="{BB962C8B-B14F-4D97-AF65-F5344CB8AC3E}">
        <p14:creationId xmlns:p14="http://schemas.microsoft.com/office/powerpoint/2010/main" val="17295763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All lions are fierce.</a:t>
            </a:r>
          </a:p>
          <a:p>
            <a:pPr marL="0" indent="0">
              <a:buNone/>
            </a:pPr>
            <a:r>
              <a:rPr lang="en-US" sz="2400" dirty="0">
                <a:latin typeface="Cambria Math" panose="02040503050406030204" pitchFamily="18" charset="0"/>
                <a:ea typeface="Cambria Math" panose="02040503050406030204" pitchFamily="18" charset="0"/>
              </a:rPr>
              <a:t>Some lions do not drink coffee.</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Some fierce creatures do not drink coffee.</a:t>
            </a:r>
          </a:p>
        </p:txBody>
      </p:sp>
    </p:spTree>
    <p:extLst>
      <p:ext uri="{BB962C8B-B14F-4D97-AF65-F5344CB8AC3E}">
        <p14:creationId xmlns:p14="http://schemas.microsoft.com/office/powerpoint/2010/main" val="28263877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D157C-2214-E2D1-A805-2EB3178BE132}"/>
              </a:ext>
            </a:extLst>
          </p:cNvPr>
          <p:cNvSpPr>
            <a:spLocks noGrp="1"/>
          </p:cNvSpPr>
          <p:nvPr>
            <p:ph type="title"/>
          </p:nvPr>
        </p:nvSpPr>
        <p:spPr>
          <a:xfrm>
            <a:off x="734683" y="1"/>
            <a:ext cx="10515600" cy="785004"/>
          </a:xfrm>
        </p:spPr>
        <p:txBody>
          <a:bodyPr>
            <a:normAutofit/>
          </a:bodyPr>
          <a:lstStyle/>
          <a:p>
            <a:r>
              <a:rPr lang="en-US" sz="4000" dirty="0">
                <a:latin typeface="Cambria Math" panose="02040503050406030204" pitchFamily="18" charset="0"/>
                <a:ea typeface="Cambria Math" panose="02040503050406030204" pitchFamily="18" charset="0"/>
              </a:rPr>
              <a:t>Validity of Arguments … </a:t>
            </a:r>
            <a:r>
              <a:rPr lang="en-US" sz="3600" dirty="0">
                <a:solidFill>
                  <a:srgbClr val="B31591"/>
                </a:solidFill>
                <a:latin typeface="Cambria Math" panose="02040503050406030204" pitchFamily="18" charset="0"/>
                <a:ea typeface="Cambria Math" panose="02040503050406030204" pitchFamily="18" charset="0"/>
              </a:rPr>
              <a:t>Exercises</a:t>
            </a:r>
            <a:endParaRPr lang="en-US" sz="4000" dirty="0"/>
          </a:p>
        </p:txBody>
      </p:sp>
      <p:sp>
        <p:nvSpPr>
          <p:cNvPr id="6" name="Content Placeholder 2">
            <a:extLst>
              <a:ext uri="{FF2B5EF4-FFF2-40B4-BE49-F238E27FC236}">
                <a16:creationId xmlns:a16="http://schemas.microsoft.com/office/drawing/2014/main" id="{2A8D274C-2A89-7224-3E86-925DB5A7122C}"/>
              </a:ext>
            </a:extLst>
          </p:cNvPr>
          <p:cNvSpPr txBox="1">
            <a:spLocks/>
          </p:cNvSpPr>
          <p:nvPr/>
        </p:nvSpPr>
        <p:spPr>
          <a:xfrm>
            <a:off x="838200" y="845391"/>
            <a:ext cx="10515600" cy="44857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dirty="0">
                <a:solidFill>
                  <a:schemeClr val="accent5">
                    <a:lumMod val="75000"/>
                  </a:schemeClr>
                </a:solidFill>
                <a:latin typeface="Cambria Math" panose="02040503050406030204" pitchFamily="18" charset="0"/>
                <a:ea typeface="Cambria Math" panose="02040503050406030204" pitchFamily="18" charset="0"/>
              </a:rPr>
              <a:t>Check whether or not the following argument valid:</a:t>
            </a:r>
          </a:p>
        </p:txBody>
      </p:sp>
      <p:sp>
        <p:nvSpPr>
          <p:cNvPr id="4" name="Content Placeholder 3">
            <a:extLst>
              <a:ext uri="{FF2B5EF4-FFF2-40B4-BE49-F238E27FC236}">
                <a16:creationId xmlns:a16="http://schemas.microsoft.com/office/drawing/2014/main" id="{7FC8EAAF-9530-0AE9-B1F3-084E7841C5F5}"/>
              </a:ext>
            </a:extLst>
          </p:cNvPr>
          <p:cNvSpPr>
            <a:spLocks noGrp="1"/>
          </p:cNvSpPr>
          <p:nvPr>
            <p:ph idx="1"/>
          </p:nvPr>
        </p:nvSpPr>
        <p:spPr>
          <a:xfrm>
            <a:off x="819509" y="1354349"/>
            <a:ext cx="10534291" cy="4822614"/>
          </a:xfrm>
        </p:spPr>
        <p:txBody>
          <a:bodyPr>
            <a:normAutofit/>
          </a:bodyPr>
          <a:lstStyle/>
          <a:p>
            <a:pPr marL="0" indent="0">
              <a:buNone/>
            </a:pPr>
            <a:r>
              <a:rPr lang="en-US" sz="2400" dirty="0">
                <a:latin typeface="Cambria Math" panose="02040503050406030204" pitchFamily="18" charset="0"/>
                <a:ea typeface="Cambria Math" panose="02040503050406030204" pitchFamily="18" charset="0"/>
              </a:rPr>
              <a:t>All engineers are educated.</a:t>
            </a:r>
          </a:p>
          <a:p>
            <a:pPr marL="0" indent="0">
              <a:buNone/>
            </a:pPr>
            <a:r>
              <a:rPr lang="en-US" sz="2400" dirty="0">
                <a:latin typeface="Cambria Math" panose="02040503050406030204" pitchFamily="18" charset="0"/>
                <a:ea typeface="Cambria Math" panose="02040503050406030204" pitchFamily="18" charset="0"/>
              </a:rPr>
              <a:t>Some engineers cannot draw good pictures.</a:t>
            </a:r>
          </a:p>
          <a:p>
            <a:pPr marL="0" indent="0">
              <a:buNone/>
            </a:pPr>
            <a:r>
              <a:rPr lang="en-US" sz="2400" dirty="0">
                <a:solidFill>
                  <a:srgbClr val="B31591"/>
                </a:solidFill>
                <a:latin typeface="Cambria Math" panose="02040503050406030204" pitchFamily="18" charset="0"/>
                <a:ea typeface="Cambria Math" panose="02040503050406030204" pitchFamily="18" charset="0"/>
              </a:rPr>
              <a:t>---------------------------------------------------</a:t>
            </a:r>
          </a:p>
          <a:p>
            <a:pPr marL="0" indent="0">
              <a:buNone/>
            </a:pPr>
            <a:r>
              <a:rPr lang="en-US" sz="2400" dirty="0">
                <a:effectLst/>
                <a:latin typeface="Cambria Math" panose="02040503050406030204" pitchFamily="18" charset="0"/>
                <a:ea typeface="Cambria Math" panose="02040503050406030204" pitchFamily="18" charset="0"/>
                <a:cs typeface="Times New Roman" panose="02020603050405020304" pitchFamily="18" charset="0"/>
              </a:rPr>
              <a:t>∴</a:t>
            </a:r>
            <a:r>
              <a:rPr lang="en-US" sz="2400" dirty="0">
                <a:latin typeface="Cambria Math" panose="02040503050406030204" pitchFamily="18" charset="0"/>
                <a:ea typeface="Cambria Math" panose="02040503050406030204" pitchFamily="18" charset="0"/>
              </a:rPr>
              <a:t> Some educated people cannot draw good pictures.</a:t>
            </a:r>
          </a:p>
        </p:txBody>
      </p:sp>
    </p:spTree>
    <p:extLst>
      <p:ext uri="{BB962C8B-B14F-4D97-AF65-F5344CB8AC3E}">
        <p14:creationId xmlns:p14="http://schemas.microsoft.com/office/powerpoint/2010/main" val="29003660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914400"/>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Few More Exercises – </a:t>
            </a:r>
            <a:r>
              <a:rPr lang="en-US" sz="3600" dirty="0">
                <a:solidFill>
                  <a:srgbClr val="C00000"/>
                </a:solidFill>
                <a:latin typeface="Cambria Math" panose="02040503050406030204" pitchFamily="18" charset="0"/>
                <a:ea typeface="Cambria Math" panose="02040503050406030204" pitchFamily="18" charset="0"/>
              </a:rPr>
              <a:t>Do it by yourself </a:t>
            </a:r>
            <a:endParaRPr lang="en-US" dirty="0">
              <a:solidFill>
                <a:srgbClr val="C00000"/>
              </a:solidFill>
              <a:latin typeface="Cambria Math" panose="02040503050406030204" pitchFamily="18" charset="0"/>
              <a:ea typeface="Cambria Math" panose="02040503050406030204" pitchFamily="18" charset="0"/>
            </a:endParaRPr>
          </a:p>
        </p:txBody>
      </p:sp>
      <p:sp>
        <p:nvSpPr>
          <p:cNvPr id="4" name="TextBox 3">
            <a:extLst>
              <a:ext uri="{FF2B5EF4-FFF2-40B4-BE49-F238E27FC236}">
                <a16:creationId xmlns:a16="http://schemas.microsoft.com/office/drawing/2014/main" id="{160D1D6A-7D3E-631B-B45B-6E98069FA00C}"/>
              </a:ext>
            </a:extLst>
          </p:cNvPr>
          <p:cNvSpPr txBox="1"/>
          <p:nvPr/>
        </p:nvSpPr>
        <p:spPr>
          <a:xfrm>
            <a:off x="838200" y="914401"/>
            <a:ext cx="10668719" cy="4893647"/>
          </a:xfrm>
          <a:prstGeom prst="rect">
            <a:avLst/>
          </a:prstGeom>
          <a:noFill/>
        </p:spPr>
        <p:txBody>
          <a:bodyPr wrap="square">
            <a:spAutoFit/>
          </a:bodyPr>
          <a:lstStyle/>
          <a:p>
            <a:pPr marL="0" indent="0">
              <a:buNone/>
            </a:pPr>
            <a:r>
              <a:rPr lang="en-US" sz="2400" dirty="0">
                <a:latin typeface="Cambria Math" panose="02040503050406030204" pitchFamily="18" charset="0"/>
                <a:ea typeface="Cambria Math" panose="02040503050406030204" pitchFamily="18" charset="0"/>
              </a:rPr>
              <a:t>Five friends A, H, K, R and V have access to an online chat room. We know the following are True:</a:t>
            </a:r>
          </a:p>
          <a:p>
            <a:pPr marL="0" indent="0">
              <a:buNone/>
            </a:pPr>
            <a:endParaRPr lang="en-US" sz="2400" dirty="0">
              <a:latin typeface="Cambria Math" panose="02040503050406030204" pitchFamily="18" charset="0"/>
              <a:ea typeface="Cambria Math" panose="02040503050406030204" pitchFamily="18" charset="0"/>
            </a:endParaRPr>
          </a:p>
          <a:p>
            <a:pPr marL="457200" indent="-457200">
              <a:buFont typeface="+mj-lt"/>
              <a:buAutoNum type="arabicPeriod"/>
            </a:pPr>
            <a:r>
              <a:rPr lang="en-US" sz="2200" dirty="0">
                <a:solidFill>
                  <a:schemeClr val="accent5">
                    <a:lumMod val="75000"/>
                  </a:schemeClr>
                </a:solidFill>
                <a:latin typeface="Cambria Math" panose="02040503050406030204" pitchFamily="18" charset="0"/>
                <a:ea typeface="Cambria Math" panose="02040503050406030204" pitchFamily="18" charset="0"/>
              </a:rPr>
              <a:t>Either K or H or both are chatting.</a:t>
            </a:r>
          </a:p>
          <a:p>
            <a:pPr marL="457200" indent="-457200">
              <a:buFont typeface="+mj-lt"/>
              <a:buAutoNum type="arabicPeriod"/>
            </a:pPr>
            <a:r>
              <a:rPr lang="en-US" sz="2200" dirty="0">
                <a:solidFill>
                  <a:schemeClr val="accent5">
                    <a:lumMod val="75000"/>
                  </a:schemeClr>
                </a:solidFill>
                <a:latin typeface="Cambria Math" panose="02040503050406030204" pitchFamily="18" charset="0"/>
                <a:ea typeface="Cambria Math" panose="02040503050406030204" pitchFamily="18" charset="0"/>
              </a:rPr>
              <a:t>Either R or V but not both are chatting</a:t>
            </a:r>
          </a:p>
          <a:p>
            <a:pPr marL="457200" indent="-457200">
              <a:buFont typeface="+mj-lt"/>
              <a:buAutoNum type="arabicPeriod"/>
            </a:pPr>
            <a:r>
              <a:rPr lang="en-US" sz="2200" dirty="0">
                <a:solidFill>
                  <a:schemeClr val="accent5">
                    <a:lumMod val="75000"/>
                  </a:schemeClr>
                </a:solidFill>
                <a:latin typeface="Cambria Math" panose="02040503050406030204" pitchFamily="18" charset="0"/>
                <a:ea typeface="Cambria Math" panose="02040503050406030204" pitchFamily="18" charset="0"/>
              </a:rPr>
              <a:t>If A is chatting, then R is chatting too.</a:t>
            </a:r>
          </a:p>
          <a:p>
            <a:pPr marL="457200" indent="-457200">
              <a:buFont typeface="+mj-lt"/>
              <a:buAutoNum type="arabicPeriod"/>
            </a:pPr>
            <a:r>
              <a:rPr lang="en-US" sz="2200" dirty="0">
                <a:solidFill>
                  <a:schemeClr val="accent5">
                    <a:lumMod val="75000"/>
                  </a:schemeClr>
                </a:solidFill>
                <a:latin typeface="Cambria Math" panose="02040503050406030204" pitchFamily="18" charset="0"/>
                <a:ea typeface="Cambria Math" panose="02040503050406030204" pitchFamily="18" charset="0"/>
              </a:rPr>
              <a:t>V is chatting if and only if K is chatting</a:t>
            </a:r>
          </a:p>
          <a:p>
            <a:pPr marL="457200" indent="-457200">
              <a:buFont typeface="+mj-lt"/>
              <a:buAutoNum type="arabicPeriod"/>
            </a:pPr>
            <a:r>
              <a:rPr lang="en-US" sz="2200" dirty="0">
                <a:solidFill>
                  <a:schemeClr val="accent5">
                    <a:lumMod val="75000"/>
                  </a:schemeClr>
                </a:solidFill>
                <a:latin typeface="Cambria Math" panose="02040503050406030204" pitchFamily="18" charset="0"/>
                <a:ea typeface="Cambria Math" panose="02040503050406030204" pitchFamily="18" charset="0"/>
              </a:rPr>
              <a:t>If H is chatting, both A and K is chatting</a:t>
            </a:r>
          </a:p>
          <a:p>
            <a:endParaRPr lang="en-US" sz="2400" dirty="0">
              <a:latin typeface="Cambria Math" panose="02040503050406030204" pitchFamily="18" charset="0"/>
              <a:ea typeface="Cambria Math" panose="02040503050406030204" pitchFamily="18" charset="0"/>
            </a:endParaRPr>
          </a:p>
          <a:p>
            <a:r>
              <a:rPr lang="en-US" sz="2400" dirty="0">
                <a:latin typeface="Cambria Math" panose="02040503050406030204" pitchFamily="18" charset="0"/>
                <a:ea typeface="Cambria Math" panose="02040503050406030204" pitchFamily="18" charset="0"/>
              </a:rPr>
              <a:t>Determine who is chatting?</a:t>
            </a:r>
          </a:p>
          <a:p>
            <a:pPr marL="457200" indent="-457200">
              <a:buFont typeface="+mj-lt"/>
              <a:buAutoNum type="arabicPeriod"/>
            </a:pPr>
            <a:endParaRPr lang="en-US" sz="2400" dirty="0">
              <a:latin typeface="Cambria Math" panose="02040503050406030204" pitchFamily="18" charset="0"/>
              <a:ea typeface="Cambria Math" panose="02040503050406030204" pitchFamily="18" charset="0"/>
            </a:endParaRPr>
          </a:p>
          <a:p>
            <a:pPr marL="457200" indent="-457200">
              <a:buFont typeface="+mj-lt"/>
              <a:buAutoNum type="arabicPeriod"/>
            </a:pPr>
            <a:endParaRPr lang="en-US" sz="2400" dirty="0">
              <a:latin typeface="Cambria Math" panose="02040503050406030204" pitchFamily="18" charset="0"/>
              <a:ea typeface="Cambria Math" panose="02040503050406030204" pitchFamily="18" charset="0"/>
            </a:endParaRPr>
          </a:p>
          <a:p>
            <a:pPr marL="457200" indent="-457200">
              <a:buFont typeface="+mj-lt"/>
              <a:buAutoNum type="arabicPeriod"/>
            </a:pPr>
            <a:endParaRPr lang="en-US" sz="24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32010725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249" y="0"/>
            <a:ext cx="10515600" cy="1026367"/>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Few More Exercises – </a:t>
            </a:r>
            <a:r>
              <a:rPr lang="en-US" sz="3600" dirty="0">
                <a:solidFill>
                  <a:srgbClr val="C00000"/>
                </a:solidFill>
                <a:latin typeface="Cambria Math" panose="02040503050406030204" pitchFamily="18" charset="0"/>
                <a:ea typeface="Cambria Math" panose="02040503050406030204" pitchFamily="18" charset="0"/>
              </a:rPr>
              <a:t>Do it by yourself </a:t>
            </a:r>
            <a:endParaRPr lang="en-US" dirty="0">
              <a:solidFill>
                <a:srgbClr val="C00000"/>
              </a:solidFill>
              <a:latin typeface="Cambria Math" panose="02040503050406030204" pitchFamily="18" charset="0"/>
              <a:ea typeface="Cambria Math" panose="02040503050406030204" pitchFamily="18" charset="0"/>
            </a:endParaRPr>
          </a:p>
        </p:txBody>
      </p:sp>
      <p:pic>
        <p:nvPicPr>
          <p:cNvPr id="4" name="Picture 3"/>
          <p:cNvPicPr>
            <a:picLocks noChangeAspect="1"/>
          </p:cNvPicPr>
          <p:nvPr/>
        </p:nvPicPr>
        <p:blipFill>
          <a:blip r:embed="rId2"/>
          <a:stretch>
            <a:fillRect/>
          </a:stretch>
        </p:blipFill>
        <p:spPr>
          <a:xfrm>
            <a:off x="838202" y="1026367"/>
            <a:ext cx="8091194" cy="4516332"/>
          </a:xfrm>
          <a:prstGeom prst="rect">
            <a:avLst/>
          </a:prstGeom>
        </p:spPr>
      </p:pic>
    </p:spTree>
    <p:extLst>
      <p:ext uri="{BB962C8B-B14F-4D97-AF65-F5344CB8AC3E}">
        <p14:creationId xmlns:p14="http://schemas.microsoft.com/office/powerpoint/2010/main" val="4394174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23731"/>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Few More Exercises – </a:t>
            </a:r>
            <a:r>
              <a:rPr lang="en-US" sz="3600" dirty="0">
                <a:solidFill>
                  <a:srgbClr val="C00000"/>
                </a:solidFill>
                <a:latin typeface="Cambria Math" panose="02040503050406030204" pitchFamily="18" charset="0"/>
                <a:ea typeface="Cambria Math" panose="02040503050406030204" pitchFamily="18" charset="0"/>
              </a:rPr>
              <a:t>Do it by yourself </a:t>
            </a:r>
            <a:endParaRPr lang="en-US" dirty="0">
              <a:solidFill>
                <a:srgbClr val="C00000"/>
              </a:solidFill>
              <a:latin typeface="Cambria Math" panose="02040503050406030204" pitchFamily="18" charset="0"/>
              <a:ea typeface="Cambria Math" panose="02040503050406030204" pitchFamily="18" charset="0"/>
            </a:endParaRPr>
          </a:p>
        </p:txBody>
      </p:sp>
      <p:pic>
        <p:nvPicPr>
          <p:cNvPr id="4" name="Picture 3"/>
          <p:cNvPicPr>
            <a:picLocks noChangeAspect="1"/>
          </p:cNvPicPr>
          <p:nvPr/>
        </p:nvPicPr>
        <p:blipFill>
          <a:blip r:embed="rId2"/>
          <a:stretch>
            <a:fillRect/>
          </a:stretch>
        </p:blipFill>
        <p:spPr>
          <a:xfrm>
            <a:off x="838200" y="1024816"/>
            <a:ext cx="6956707" cy="3883086"/>
          </a:xfrm>
          <a:prstGeom prst="rect">
            <a:avLst/>
          </a:prstGeom>
        </p:spPr>
      </p:pic>
      <p:pic>
        <p:nvPicPr>
          <p:cNvPr id="5" name="Picture 4"/>
          <p:cNvPicPr>
            <a:picLocks noChangeAspect="1"/>
          </p:cNvPicPr>
          <p:nvPr/>
        </p:nvPicPr>
        <p:blipFill>
          <a:blip r:embed="rId3"/>
          <a:stretch>
            <a:fillRect/>
          </a:stretch>
        </p:blipFill>
        <p:spPr>
          <a:xfrm>
            <a:off x="8140370" y="2584584"/>
            <a:ext cx="2636488" cy="3542276"/>
          </a:xfrm>
          <a:prstGeom prst="rect">
            <a:avLst/>
          </a:prstGeom>
        </p:spPr>
      </p:pic>
    </p:spTree>
    <p:extLst>
      <p:ext uri="{BB962C8B-B14F-4D97-AF65-F5344CB8AC3E}">
        <p14:creationId xmlns:p14="http://schemas.microsoft.com/office/powerpoint/2010/main" val="9219191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793102"/>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Few More Exercises – </a:t>
            </a:r>
            <a:r>
              <a:rPr lang="en-US" sz="3600" dirty="0">
                <a:solidFill>
                  <a:srgbClr val="C00000"/>
                </a:solidFill>
                <a:latin typeface="Cambria Math" panose="02040503050406030204" pitchFamily="18" charset="0"/>
                <a:ea typeface="Cambria Math" panose="02040503050406030204" pitchFamily="18" charset="0"/>
              </a:rPr>
              <a:t>Do it by yourself </a:t>
            </a:r>
            <a:endParaRPr lang="en-US" dirty="0">
              <a:solidFill>
                <a:srgbClr val="C00000"/>
              </a:solidFill>
              <a:latin typeface="Cambria Math" panose="02040503050406030204" pitchFamily="18" charset="0"/>
              <a:ea typeface="Cambria Math" panose="02040503050406030204" pitchFamily="18" charset="0"/>
            </a:endParaRPr>
          </a:p>
        </p:txBody>
      </p:sp>
      <p:pic>
        <p:nvPicPr>
          <p:cNvPr id="3" name="Picture 2"/>
          <p:cNvPicPr>
            <a:picLocks noChangeAspect="1"/>
          </p:cNvPicPr>
          <p:nvPr/>
        </p:nvPicPr>
        <p:blipFill>
          <a:blip r:embed="rId2"/>
          <a:stretch>
            <a:fillRect/>
          </a:stretch>
        </p:blipFill>
        <p:spPr>
          <a:xfrm>
            <a:off x="978160" y="870446"/>
            <a:ext cx="8970907" cy="3337660"/>
          </a:xfrm>
          <a:prstGeom prst="rect">
            <a:avLst/>
          </a:prstGeom>
        </p:spPr>
      </p:pic>
    </p:spTree>
    <p:extLst>
      <p:ext uri="{BB962C8B-B14F-4D97-AF65-F5344CB8AC3E}">
        <p14:creationId xmlns:p14="http://schemas.microsoft.com/office/powerpoint/2010/main" val="38277607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905069"/>
          </a:xfrm>
        </p:spPr>
        <p:txBody>
          <a:bodyPr>
            <a:normAutofit/>
          </a:bodyPr>
          <a:lstStyle/>
          <a:p>
            <a:r>
              <a:rPr lang="en-US" dirty="0">
                <a:solidFill>
                  <a:schemeClr val="tx1">
                    <a:lumMod val="65000"/>
                    <a:lumOff val="35000"/>
                  </a:schemeClr>
                </a:solidFill>
                <a:latin typeface="Cambria Math" panose="02040503050406030204" pitchFamily="18" charset="0"/>
                <a:ea typeface="Cambria Math" panose="02040503050406030204" pitchFamily="18" charset="0"/>
              </a:rPr>
              <a:t>Few More Exercises – </a:t>
            </a:r>
            <a:r>
              <a:rPr lang="en-US" sz="3600" dirty="0">
                <a:solidFill>
                  <a:srgbClr val="C00000"/>
                </a:solidFill>
                <a:latin typeface="Cambria Math" panose="02040503050406030204" pitchFamily="18" charset="0"/>
                <a:ea typeface="Cambria Math" panose="02040503050406030204" pitchFamily="18" charset="0"/>
              </a:rPr>
              <a:t>Do it by yourself </a:t>
            </a:r>
            <a:endParaRPr lang="en-US" dirty="0">
              <a:solidFill>
                <a:srgbClr val="C00000"/>
              </a:solidFill>
              <a:latin typeface="Cambria Math" panose="02040503050406030204" pitchFamily="18" charset="0"/>
              <a:ea typeface="Cambria Math" panose="02040503050406030204" pitchFamily="18" charset="0"/>
            </a:endParaRPr>
          </a:p>
        </p:txBody>
      </p:sp>
      <p:pic>
        <p:nvPicPr>
          <p:cNvPr id="4" name="Picture 3"/>
          <p:cNvPicPr>
            <a:picLocks noChangeAspect="1"/>
          </p:cNvPicPr>
          <p:nvPr/>
        </p:nvPicPr>
        <p:blipFill>
          <a:blip r:embed="rId2"/>
          <a:stretch>
            <a:fillRect/>
          </a:stretch>
        </p:blipFill>
        <p:spPr>
          <a:xfrm>
            <a:off x="940839" y="1141565"/>
            <a:ext cx="7820606" cy="5384035"/>
          </a:xfrm>
          <a:prstGeom prst="rect">
            <a:avLst/>
          </a:prstGeom>
        </p:spPr>
      </p:pic>
    </p:spTree>
    <p:extLst>
      <p:ext uri="{BB962C8B-B14F-4D97-AF65-F5344CB8AC3E}">
        <p14:creationId xmlns:p14="http://schemas.microsoft.com/office/powerpoint/2010/main" val="25654966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Content Placeholder 6"/>
              <p:cNvSpPr>
                <a:spLocks noGrp="1"/>
              </p:cNvSpPr>
              <p:nvPr>
                <p:ph idx="1"/>
              </p:nvPr>
            </p:nvSpPr>
            <p:spPr>
              <a:xfrm>
                <a:off x="1067894" y="556155"/>
                <a:ext cx="10054195" cy="5585853"/>
              </a:xfrm>
            </p:spPr>
            <p:txBody>
              <a:bodyPr>
                <a:normAutofit/>
              </a:bodyPr>
              <a:lstStyle/>
              <a:p>
                <a:pPr lvl="0">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No doctors is enthusiastic; </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You are enthusiastic. </a:t>
                </a:r>
              </a:p>
              <a:p>
                <a:pPr>
                  <a:buFont typeface="Wingdings" panose="05000000000000000000" pitchFamily="2" charset="2"/>
                  <a:buChar char="ü"/>
                </a:pPr>
                <a:r>
                  <a:rPr lang="en-US" dirty="0">
                    <a:latin typeface="Cambria Math" panose="02040503050406030204" pitchFamily="18" charset="0"/>
                    <a:ea typeface="Cambria Math" panose="02040503050406030204" pitchFamily="18" charset="0"/>
                  </a:rPr>
                  <a:t>Therefore, you are not a doctor </a:t>
                </a:r>
              </a:p>
              <a:p>
                <a:pPr marL="0" indent="0">
                  <a:buNone/>
                </a:pPr>
                <a14:m>
                  <m:oMath xmlns:m="http://schemas.openxmlformats.org/officeDocument/2006/math">
                    <m:r>
                      <a:rPr lang="en-US" b="0" i="1" smtClean="0">
                        <a:solidFill>
                          <a:srgbClr val="0070C0"/>
                        </a:solidFill>
                        <a:latin typeface="Cambria Math" panose="02040503050406030204" pitchFamily="18" charset="0"/>
                        <a:ea typeface="Cambria Math" panose="02040503050406030204" pitchFamily="18" charset="0"/>
                      </a:rPr>
                      <m:t>𝑥</m:t>
                    </m:r>
                    <m:r>
                      <a:rPr lang="en-US" b="0" i="1" smtClean="0">
                        <a:solidFill>
                          <a:srgbClr val="0070C0"/>
                        </a:solidFill>
                        <a:latin typeface="Cambria Math" panose="02040503050406030204" pitchFamily="18" charset="0"/>
                        <a:ea typeface="Cambria Math" panose="02040503050406030204" pitchFamily="18" charset="0"/>
                      </a:rPr>
                      <m:t>: </m:t>
                    </m:r>
                  </m:oMath>
                </a14:m>
                <a:r>
                  <a:rPr lang="en-US" dirty="0">
                    <a:solidFill>
                      <a:srgbClr val="0070C0"/>
                    </a:solidFill>
                    <a:latin typeface="Cambria Math" panose="02040503050406030204" pitchFamily="18" charset="0"/>
                    <a:ea typeface="Cambria Math" panose="02040503050406030204" pitchFamily="18" charset="0"/>
                  </a:rPr>
                  <a:t>a person </a:t>
                </a:r>
              </a:p>
              <a:p>
                <a:pPr marL="0" indent="0">
                  <a:buNone/>
                </a:pPr>
                <a14:m>
                  <m:oMath xmlns:m="http://schemas.openxmlformats.org/officeDocument/2006/math">
                    <m:r>
                      <a:rPr lang="en-US" b="0" i="1" smtClean="0">
                        <a:solidFill>
                          <a:srgbClr val="0070C0"/>
                        </a:solidFill>
                        <a:latin typeface="Cambria Math" panose="02040503050406030204" pitchFamily="18" charset="0"/>
                        <a:ea typeface="Cambria Math" panose="02040503050406030204" pitchFamily="18" charset="0"/>
                      </a:rPr>
                      <m:t>𝐷</m:t>
                    </m:r>
                    <m:d>
                      <m:dPr>
                        <m:ctrlPr>
                          <a:rPr lang="en-US" b="0" i="1" smtClean="0">
                            <a:solidFill>
                              <a:srgbClr val="0070C0"/>
                            </a:solidFill>
                            <a:latin typeface="Cambria Math" panose="02040503050406030204" pitchFamily="18" charset="0"/>
                            <a:ea typeface="Cambria Math" panose="02040503050406030204" pitchFamily="18" charset="0"/>
                          </a:rPr>
                        </m:ctrlPr>
                      </m:dPr>
                      <m:e>
                        <m:r>
                          <a:rPr lang="en-US" b="0" i="1" smtClean="0">
                            <a:solidFill>
                              <a:srgbClr val="0070C0"/>
                            </a:solidFill>
                            <a:latin typeface="Cambria Math" panose="02040503050406030204" pitchFamily="18" charset="0"/>
                            <a:ea typeface="Cambria Math" panose="02040503050406030204" pitchFamily="18" charset="0"/>
                          </a:rPr>
                          <m:t>𝑥</m:t>
                        </m:r>
                      </m:e>
                    </m:d>
                    <m:r>
                      <a:rPr lang="en-US" b="0" i="1" smtClean="0">
                        <a:solidFill>
                          <a:srgbClr val="0070C0"/>
                        </a:solidFill>
                        <a:latin typeface="Cambria Math" panose="02040503050406030204" pitchFamily="18" charset="0"/>
                        <a:ea typeface="Cambria Math" panose="02040503050406030204" pitchFamily="18" charset="0"/>
                      </a:rPr>
                      <m:t>:</m:t>
                    </m:r>
                    <m:r>
                      <a:rPr lang="en-US" b="0" i="1" smtClean="0">
                        <a:solidFill>
                          <a:srgbClr val="0070C0"/>
                        </a:solidFill>
                        <a:latin typeface="Cambria Math" panose="02040503050406030204" pitchFamily="18" charset="0"/>
                        <a:ea typeface="Cambria Math" panose="02040503050406030204" pitchFamily="18" charset="0"/>
                      </a:rPr>
                      <m:t>𝑥</m:t>
                    </m:r>
                  </m:oMath>
                </a14:m>
                <a:r>
                  <a:rPr lang="en-US" dirty="0">
                    <a:solidFill>
                      <a:srgbClr val="0070C0"/>
                    </a:solidFill>
                    <a:latin typeface="Cambria Math" panose="02040503050406030204" pitchFamily="18" charset="0"/>
                    <a:ea typeface="Cambria Math" panose="02040503050406030204" pitchFamily="18" charset="0"/>
                  </a:rPr>
                  <a:t> is a Doctor</a:t>
                </a:r>
              </a:p>
              <a:p>
                <a:pPr marL="0" indent="0">
                  <a:buNone/>
                </a:pPr>
                <a14:m>
                  <m:oMath xmlns:m="http://schemas.openxmlformats.org/officeDocument/2006/math">
                    <m:r>
                      <a:rPr lang="en-US" b="0" i="1" smtClean="0">
                        <a:solidFill>
                          <a:srgbClr val="0070C0"/>
                        </a:solidFill>
                        <a:latin typeface="Cambria Math" panose="02040503050406030204" pitchFamily="18" charset="0"/>
                        <a:ea typeface="Cambria Math" panose="02040503050406030204" pitchFamily="18" charset="0"/>
                      </a:rPr>
                      <m:t>𝐸</m:t>
                    </m:r>
                    <m:d>
                      <m:dPr>
                        <m:ctrlPr>
                          <a:rPr lang="en-US" b="0" i="1" smtClean="0">
                            <a:solidFill>
                              <a:srgbClr val="0070C0"/>
                            </a:solidFill>
                            <a:latin typeface="Cambria Math" panose="02040503050406030204" pitchFamily="18" charset="0"/>
                            <a:ea typeface="Cambria Math" panose="02040503050406030204" pitchFamily="18" charset="0"/>
                          </a:rPr>
                        </m:ctrlPr>
                      </m:dPr>
                      <m:e>
                        <m:r>
                          <a:rPr lang="en-US" b="0" i="1" smtClean="0">
                            <a:solidFill>
                              <a:srgbClr val="0070C0"/>
                            </a:solidFill>
                            <a:latin typeface="Cambria Math" panose="02040503050406030204" pitchFamily="18" charset="0"/>
                            <a:ea typeface="Cambria Math" panose="02040503050406030204" pitchFamily="18" charset="0"/>
                          </a:rPr>
                          <m:t>𝑥</m:t>
                        </m:r>
                      </m:e>
                    </m:d>
                    <m:r>
                      <a:rPr lang="en-US" b="0" i="1" smtClean="0">
                        <a:solidFill>
                          <a:srgbClr val="0070C0"/>
                        </a:solidFill>
                        <a:latin typeface="Cambria Math" panose="02040503050406030204" pitchFamily="18" charset="0"/>
                        <a:ea typeface="Cambria Math" panose="02040503050406030204" pitchFamily="18" charset="0"/>
                      </a:rPr>
                      <m:t>:</m:t>
                    </m:r>
                    <m:r>
                      <a:rPr lang="en-US" b="0" i="1" smtClean="0">
                        <a:solidFill>
                          <a:srgbClr val="0070C0"/>
                        </a:solidFill>
                        <a:latin typeface="Cambria Math" panose="02040503050406030204" pitchFamily="18" charset="0"/>
                        <a:ea typeface="Cambria Math" panose="02040503050406030204" pitchFamily="18" charset="0"/>
                      </a:rPr>
                      <m:t>𝑥</m:t>
                    </m:r>
                  </m:oMath>
                </a14:m>
                <a:r>
                  <a:rPr lang="en-US" dirty="0">
                    <a:solidFill>
                      <a:srgbClr val="0070C0"/>
                    </a:solidFill>
                    <a:latin typeface="Cambria Math" panose="02040503050406030204" pitchFamily="18" charset="0"/>
                    <a:ea typeface="Cambria Math" panose="02040503050406030204" pitchFamily="18" charset="0"/>
                  </a:rPr>
                  <a:t> is enthusiastic</a:t>
                </a:r>
              </a:p>
              <a:p>
                <a:pPr marL="0" indent="0">
                  <a:buNone/>
                </a:pPr>
                <a:endParaRPr lang="en-US" b="0" i="1" dirty="0">
                  <a:solidFill>
                    <a:srgbClr val="C00000"/>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𝑥</m:t>
                      </m:r>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𝐷</m:t>
                      </m:r>
                      <m:d>
                        <m:dPr>
                          <m:ctrlPr>
                            <a:rPr lang="en-US" i="1" smtClean="0">
                              <a:solidFill>
                                <a:srgbClr val="C00000"/>
                              </a:solidFill>
                              <a:latin typeface="Cambria Math" panose="02040503050406030204" pitchFamily="18" charset="0"/>
                              <a:ea typeface="Cambria Math" panose="02040503050406030204" pitchFamily="18" charset="0"/>
                            </a:rPr>
                          </m:ctrlPr>
                        </m:dPr>
                        <m:e>
                          <m:r>
                            <a:rPr lang="en-US" b="0" i="1" smtClean="0">
                              <a:solidFill>
                                <a:srgbClr val="C00000"/>
                              </a:solidFill>
                              <a:latin typeface="Cambria Math" panose="02040503050406030204" pitchFamily="18" charset="0"/>
                              <a:ea typeface="Cambria Math" panose="02040503050406030204" pitchFamily="18" charset="0"/>
                            </a:rPr>
                            <m:t>𝑥</m:t>
                          </m:r>
                        </m:e>
                      </m:d>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𝐸</m:t>
                      </m:r>
                      <m:d>
                        <m:dPr>
                          <m:ctrlPr>
                            <a:rPr lang="en-US" i="1" smtClean="0">
                              <a:solidFill>
                                <a:srgbClr val="C00000"/>
                              </a:solidFill>
                              <a:latin typeface="Cambria Math" panose="02040503050406030204" pitchFamily="18" charset="0"/>
                              <a:ea typeface="Cambria Math" panose="02040503050406030204" pitchFamily="18" charset="0"/>
                            </a:rPr>
                          </m:ctrlPr>
                        </m:dPr>
                        <m:e>
                          <m:r>
                            <a:rPr lang="en-US" b="0" i="1" smtClean="0">
                              <a:solidFill>
                                <a:srgbClr val="C00000"/>
                              </a:solidFill>
                              <a:latin typeface="Cambria Math" panose="02040503050406030204" pitchFamily="18" charset="0"/>
                              <a:ea typeface="Cambria Math" panose="02040503050406030204" pitchFamily="18" charset="0"/>
                            </a:rPr>
                            <m:t>𝑥</m:t>
                          </m:r>
                        </m:e>
                      </m:d>
                    </m:oMath>
                  </m:oMathPara>
                </a14:m>
                <a:endParaRPr lang="en-US" dirty="0">
                  <a:solidFill>
                    <a:srgbClr val="C0000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b="0" i="1" smtClean="0">
                          <a:solidFill>
                            <a:srgbClr val="C00000"/>
                          </a:solidFill>
                          <a:latin typeface="Cambria Math" panose="02040503050406030204" pitchFamily="18" charset="0"/>
                          <a:ea typeface="Cambria Math" panose="02040503050406030204" pitchFamily="18" charset="0"/>
                        </a:rPr>
                        <m:t>𝐸</m:t>
                      </m:r>
                      <m:d>
                        <m:dPr>
                          <m:ctrlPr>
                            <a:rPr lang="en-US" i="1" smtClean="0">
                              <a:solidFill>
                                <a:srgbClr val="C00000"/>
                              </a:solidFill>
                              <a:latin typeface="Cambria Math" panose="02040503050406030204" pitchFamily="18" charset="0"/>
                              <a:ea typeface="Cambria Math" panose="02040503050406030204" pitchFamily="18" charset="0"/>
                            </a:rPr>
                          </m:ctrlPr>
                        </m:dPr>
                        <m:e>
                          <m:r>
                            <a:rPr lang="en-US" b="0" i="1" smtClean="0">
                              <a:solidFill>
                                <a:srgbClr val="C00000"/>
                              </a:solidFill>
                              <a:latin typeface="Cambria Math" panose="02040503050406030204" pitchFamily="18" charset="0"/>
                              <a:ea typeface="Cambria Math" panose="02040503050406030204" pitchFamily="18" charset="0"/>
                            </a:rPr>
                            <m:t>𝑦𝑜𝑢</m:t>
                          </m:r>
                        </m:e>
                      </m:d>
                    </m:oMath>
                  </m:oMathPara>
                </a14:m>
                <a:endParaRPr lang="en-US" dirty="0">
                  <a:solidFill>
                    <a:srgbClr val="C00000"/>
                  </a:solidFill>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US" b="0" i="1" smtClean="0">
                        <a:solidFill>
                          <a:srgbClr val="C00000"/>
                        </a:solidFill>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𝐷</m:t>
                    </m:r>
                    <m:d>
                      <m:dPr>
                        <m:ctrlPr>
                          <a:rPr lang="en-US" i="1" smtClean="0">
                            <a:solidFill>
                              <a:srgbClr val="C00000"/>
                            </a:solidFill>
                            <a:latin typeface="Cambria Math" panose="02040503050406030204" pitchFamily="18" charset="0"/>
                            <a:ea typeface="Cambria Math" panose="02040503050406030204" pitchFamily="18" charset="0"/>
                          </a:rPr>
                        </m:ctrlPr>
                      </m:dPr>
                      <m:e>
                        <m:r>
                          <a:rPr lang="en-US" b="0" i="1" smtClean="0">
                            <a:solidFill>
                              <a:srgbClr val="C00000"/>
                            </a:solidFill>
                            <a:latin typeface="Cambria Math" panose="02040503050406030204" pitchFamily="18" charset="0"/>
                            <a:ea typeface="Cambria Math" panose="02040503050406030204" pitchFamily="18" charset="0"/>
                          </a:rPr>
                          <m:t>𝑦𝑜𝑢</m:t>
                        </m:r>
                      </m:e>
                    </m:d>
                  </m:oMath>
                </a14:m>
                <a:r>
                  <a:rPr lang="en-US" dirty="0">
                    <a:solidFill>
                      <a:srgbClr val="C00000"/>
                    </a:solidFill>
                    <a:latin typeface="Cambria Math" panose="02040503050406030204" pitchFamily="18" charset="0"/>
                    <a:ea typeface="Cambria Math" panose="02040503050406030204" pitchFamily="18" charset="0"/>
                  </a:rPr>
                  <a:t> </a:t>
                </a:r>
              </a:p>
              <a:p>
                <a:pPr marL="457200" indent="-457200">
                  <a:buAutoNum type="alphaUcParenR"/>
                </a:pPr>
                <a:endParaRPr lang="en-US" dirty="0"/>
              </a:p>
            </p:txBody>
          </p:sp>
        </mc:Choice>
        <mc:Fallback xmlns="">
          <p:sp>
            <p:nvSpPr>
              <p:cNvPr id="7" name="Content Placeholder 6"/>
              <p:cNvSpPr>
                <a:spLocks noGrp="1" noRot="1" noChangeAspect="1" noMove="1" noResize="1" noEditPoints="1" noAdjustHandles="1" noChangeArrowheads="1" noChangeShapeType="1" noTextEdit="1"/>
              </p:cNvSpPr>
              <p:nvPr>
                <p:ph idx="1"/>
              </p:nvPr>
            </p:nvSpPr>
            <p:spPr>
              <a:xfrm>
                <a:off x="1067894" y="556155"/>
                <a:ext cx="10054195" cy="5585853"/>
              </a:xfrm>
              <a:blipFill>
                <a:blip r:embed="rId2"/>
                <a:stretch>
                  <a:fillRect l="-1031" t="-1854"/>
                </a:stretch>
              </a:blipFill>
            </p:spPr>
            <p:txBody>
              <a:bodyPr/>
              <a:lstStyle/>
              <a:p>
                <a:r>
                  <a:rPr lang="en-US">
                    <a:noFill/>
                  </a:rPr>
                  <a:t> </a:t>
                </a:r>
              </a:p>
            </p:txBody>
          </p:sp>
        </mc:Fallback>
      </mc:AlternateContent>
    </p:spTree>
    <p:extLst>
      <p:ext uri="{BB962C8B-B14F-4D97-AF65-F5344CB8AC3E}">
        <p14:creationId xmlns:p14="http://schemas.microsoft.com/office/powerpoint/2010/main" val="15163584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Freeform: Shape 22">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BC8BA007-143D-5203-7BB6-1AC9D7EF0646}"/>
              </a:ext>
            </a:extLst>
          </p:cNvPr>
          <p:cNvSpPr>
            <a:spLocks noGrp="1"/>
          </p:cNvSpPr>
          <p:nvPr>
            <p:ph idx="1"/>
          </p:nvPr>
        </p:nvSpPr>
        <p:spPr>
          <a:xfrm>
            <a:off x="701086" y="1256212"/>
            <a:ext cx="6393662" cy="4869364"/>
          </a:xfrm>
        </p:spPr>
        <p:txBody>
          <a:bodyPr>
            <a:normAutofit/>
          </a:bodyPr>
          <a:lstStyle/>
          <a:p>
            <a:r>
              <a:rPr lang="en-US" sz="2000" dirty="0"/>
              <a:t>The topics we covered:</a:t>
            </a:r>
          </a:p>
          <a:p>
            <a:pPr marL="457200" indent="-457200">
              <a:buFont typeface="Arial" panose="020B0604020202020204" pitchFamily="34" charset="0"/>
              <a:buChar char="•"/>
            </a:pPr>
            <a:r>
              <a:rPr lang="en-US" sz="2000" dirty="0"/>
              <a:t>Arguments</a:t>
            </a:r>
          </a:p>
          <a:p>
            <a:pPr marL="457200" indent="-457200">
              <a:buFont typeface="Arial" panose="020B0604020202020204" pitchFamily="34" charset="0"/>
              <a:buChar char="•"/>
            </a:pPr>
            <a:r>
              <a:rPr lang="en-US" sz="2000" dirty="0"/>
              <a:t>Valid or Invalid Argument</a:t>
            </a:r>
          </a:p>
          <a:p>
            <a:pPr marL="457200" indent="-457200">
              <a:buFont typeface="Arial" panose="020B0604020202020204" pitchFamily="34" charset="0"/>
              <a:buChar char="•"/>
            </a:pPr>
            <a:r>
              <a:rPr lang="en-US" sz="2000" dirty="0"/>
              <a:t>Checking validity of argument using truth table</a:t>
            </a:r>
          </a:p>
          <a:p>
            <a:pPr marL="457200" indent="-457200">
              <a:buFont typeface="Arial" panose="020B0604020202020204" pitchFamily="34" charset="0"/>
              <a:buChar char="•"/>
            </a:pPr>
            <a:r>
              <a:rPr lang="en-US" sz="2000" dirty="0"/>
              <a:t>Rules of inference.</a:t>
            </a:r>
          </a:p>
          <a:p>
            <a:pPr marL="457200" indent="-457200">
              <a:buFont typeface="Arial" panose="020B0604020202020204" pitchFamily="34" charset="0"/>
              <a:buChar char="•"/>
            </a:pPr>
            <a:r>
              <a:rPr lang="en-US" sz="2000" dirty="0"/>
              <a:t>Building arguments using rules of inference</a:t>
            </a:r>
          </a:p>
          <a:p>
            <a:pPr marL="457200" indent="-457200">
              <a:buFont typeface="Arial" panose="020B0604020202020204" pitchFamily="34" charset="0"/>
              <a:buChar char="•"/>
            </a:pPr>
            <a:r>
              <a:rPr lang="en-US" sz="2000" dirty="0"/>
              <a:t>Practice Questions</a:t>
            </a:r>
            <a:endParaRPr lang="en-PK" sz="2000" dirty="0"/>
          </a:p>
        </p:txBody>
      </p:sp>
      <p:sp>
        <p:nvSpPr>
          <p:cNvPr id="25" name="Oval 24">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Graphic 8" descr="Books">
            <a:extLst>
              <a:ext uri="{FF2B5EF4-FFF2-40B4-BE49-F238E27FC236}">
                <a16:creationId xmlns:a16="http://schemas.microsoft.com/office/drawing/2014/main" id="{15422CC9-DE1C-CDFA-10C5-EC1FEBB1DAA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7" name="Freeform: Shape 26">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29" name="Straight Connector 28">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Freeform: Shape 30">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itle 3">
            <a:extLst>
              <a:ext uri="{FF2B5EF4-FFF2-40B4-BE49-F238E27FC236}">
                <a16:creationId xmlns:a16="http://schemas.microsoft.com/office/drawing/2014/main" id="{32344EE1-CFFD-57AA-4D75-9BBE96554682}"/>
              </a:ext>
            </a:extLst>
          </p:cNvPr>
          <p:cNvSpPr txBox="1">
            <a:spLocks/>
          </p:cNvSpPr>
          <p:nvPr/>
        </p:nvSpPr>
        <p:spPr>
          <a:xfrm>
            <a:off x="841248" y="365760"/>
            <a:ext cx="5120640" cy="132588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solidFill>
                  <a:schemeClr val="tx1"/>
                </a:solidFill>
              </a:rPr>
              <a:t>Summary</a:t>
            </a:r>
            <a:endParaRPr lang="en-US" dirty="0">
              <a:solidFill>
                <a:schemeClr val="tx1"/>
              </a:solidFill>
            </a:endParaRPr>
          </a:p>
        </p:txBody>
      </p:sp>
    </p:spTree>
    <p:extLst>
      <p:ext uri="{BB962C8B-B14F-4D97-AF65-F5344CB8AC3E}">
        <p14:creationId xmlns:p14="http://schemas.microsoft.com/office/powerpoint/2010/main" val="20628280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OPREFERENCE" val="False"/>
  <p:tag name="DELIMITERS" val="3.1"/>
</p:tagLst>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DEF148-1770-458F-8F5B-C3D0A278AA97}">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1A449C04-64B3-4403-94B7-8D2284C38D1B}">
  <ds:schemaRefs>
    <ds:schemaRef ds:uri="http://schemas.microsoft.com/sharepoint/v3/contenttype/forms"/>
  </ds:schemaRefs>
</ds:datastoreItem>
</file>

<file path=customXml/itemProps3.xml><?xml version="1.0" encoding="utf-8"?>
<ds:datastoreItem xmlns:ds="http://schemas.openxmlformats.org/officeDocument/2006/customXml" ds:itemID="{8413533D-8C39-401E-8B75-B1AEEEC56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19272</TotalTime>
  <Words>4796</Words>
  <Application>Microsoft Office PowerPoint</Application>
  <PresentationFormat>Widescreen</PresentationFormat>
  <Paragraphs>923</Paragraphs>
  <Slides>87</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87</vt:i4>
      </vt:variant>
    </vt:vector>
  </HeadingPairs>
  <TitlesOfParts>
    <vt:vector size="97" baseType="lpstr">
      <vt:lpstr>Arial</vt:lpstr>
      <vt:lpstr>Bell MT</vt:lpstr>
      <vt:lpstr>Calibri</vt:lpstr>
      <vt:lpstr>Cambria</vt:lpstr>
      <vt:lpstr>Cambria Math</vt:lpstr>
      <vt:lpstr>Century Gothic</vt:lpstr>
      <vt:lpstr>Comic Sans MS</vt:lpstr>
      <vt:lpstr>Wingdings</vt:lpstr>
      <vt:lpstr>ShapesVTI</vt:lpstr>
      <vt:lpstr>Equation</vt:lpstr>
      <vt:lpstr>PowerPoint Presentation</vt:lpstr>
      <vt:lpstr>Section 1.6   Argument  &amp; Rules of Inference</vt:lpstr>
      <vt:lpstr>Motivation</vt:lpstr>
      <vt:lpstr>PowerPoint Presentation</vt:lpstr>
      <vt:lpstr>Argument</vt:lpstr>
      <vt:lpstr>Example:</vt:lpstr>
      <vt:lpstr>Validity of an Argument</vt:lpstr>
      <vt:lpstr>PowerPoint Presentation</vt:lpstr>
      <vt:lpstr>Note:</vt:lpstr>
      <vt:lpstr>Invalidity of an Argument</vt:lpstr>
      <vt:lpstr>Argument Form</vt:lpstr>
      <vt:lpstr>Argument Form</vt:lpstr>
      <vt:lpstr>Checking the validity of an argument form</vt:lpstr>
      <vt:lpstr>EXAMPLE:</vt:lpstr>
      <vt:lpstr>PowerPoint Presentation</vt:lpstr>
      <vt:lpstr>EXAMPLE OF INVALID ARGUMENT</vt:lpstr>
      <vt:lpstr>PowerPoint Presentation</vt:lpstr>
      <vt:lpstr>EXERCISE</vt:lpstr>
      <vt:lpstr>PowerPoint Presentation</vt:lpstr>
      <vt:lpstr>PowerPoint Presentation</vt:lpstr>
      <vt:lpstr>WORD PROBLEM … Do it yourself</vt:lpstr>
      <vt:lpstr>PowerPoint Presentation</vt:lpstr>
      <vt:lpstr>EXERCISE … Do it yourself</vt:lpstr>
      <vt:lpstr>PowerPoint Presentation</vt:lpstr>
      <vt:lpstr>EXERCISE … Do it yourself</vt:lpstr>
      <vt:lpstr>PowerPoint Presentation</vt:lpstr>
      <vt:lpstr>REMEMBER:</vt:lpstr>
      <vt:lpstr>EXERCISE … Do it yourself</vt:lpstr>
      <vt:lpstr>PowerPoint Presentation</vt:lpstr>
      <vt:lpstr>Rules of Inference</vt:lpstr>
      <vt:lpstr>RULES OF INFERENCE</vt:lpstr>
      <vt:lpstr>RULES OF INFERENCE</vt:lpstr>
      <vt:lpstr>PowerPoint Presentation</vt:lpstr>
      <vt:lpstr>PowerPoint Presentation</vt:lpstr>
      <vt:lpstr>MODUS PONENS</vt:lpstr>
      <vt:lpstr>EXAMPLE</vt:lpstr>
      <vt:lpstr>MODUS TOLLENS</vt:lpstr>
      <vt:lpstr>EXAMPLE</vt:lpstr>
      <vt:lpstr>PowerPoint Presentation</vt:lpstr>
      <vt:lpstr>Exercise:</vt:lpstr>
      <vt:lpstr>Exercise:</vt:lpstr>
      <vt:lpstr>Exercise: </vt:lpstr>
      <vt:lpstr>PowerPoint Presentation</vt:lpstr>
      <vt:lpstr>PowerPoint Presentation</vt:lpstr>
      <vt:lpstr>USING RULES OF INFERENCE TO BUILD ARGUMENTS</vt:lpstr>
      <vt:lpstr>EXAMPLE</vt:lpstr>
      <vt:lpstr>PowerPoint Presentation</vt:lpstr>
      <vt:lpstr>PowerPoint Presentation</vt:lpstr>
      <vt:lpstr>EXAMPLE</vt:lpstr>
      <vt:lpstr>PowerPoint Presentation</vt:lpstr>
      <vt:lpstr>PowerPoint Presentation</vt:lpstr>
      <vt:lpstr>RESOLUTION </vt:lpstr>
      <vt:lpstr>Example: </vt:lpstr>
      <vt:lpstr>PowerPoint Presentation</vt:lpstr>
      <vt:lpstr>EXAMPLE … Do it yourself</vt:lpstr>
      <vt:lpstr>Practice Questions</vt:lpstr>
      <vt:lpstr>Laws of Inference … Example</vt:lpstr>
      <vt:lpstr>Laws of Inference … Example</vt:lpstr>
      <vt:lpstr>Laws of Inference … Example</vt:lpstr>
      <vt:lpstr>Laws of Inference … Example</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Laws of Inference … Exercises</vt:lpstr>
      <vt:lpstr>Validity of Arguments … Exercises</vt:lpstr>
      <vt:lpstr>Validity of Arguments … Exercises</vt:lpstr>
      <vt:lpstr>Validity of Arguments … Exercises</vt:lpstr>
      <vt:lpstr>Validity of Arguments … Exercises</vt:lpstr>
      <vt:lpstr>Validity of Arguments … Exercises</vt:lpstr>
      <vt:lpstr>Validity of Arguments … Exercises</vt:lpstr>
      <vt:lpstr>Few More Exercises – Do it by yourself </vt:lpstr>
      <vt:lpstr>Few More Exercises – Do it by yourself </vt:lpstr>
      <vt:lpstr>Few More Exercises – Do it by yourself </vt:lpstr>
      <vt:lpstr>Few More Exercises – Do it by yourself </vt:lpstr>
      <vt:lpstr>Few More Exercises – Do it by yourself </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CC2031  Digital Logic Design Section – V11</dc:title>
  <dc:creator>IQRA JAVED</dc:creator>
  <cp:lastModifiedBy>IQRA JAVED</cp:lastModifiedBy>
  <cp:revision>64</cp:revision>
  <cp:lastPrinted>2024-03-28T06:21:38Z</cp:lastPrinted>
  <dcterms:created xsi:type="dcterms:W3CDTF">2023-10-03T05:27:31Z</dcterms:created>
  <dcterms:modified xsi:type="dcterms:W3CDTF">2025-03-27T09:00:13Z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