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58"/>
  </p:notesMasterIdLst>
  <p:sldIdLst>
    <p:sldId id="3894" r:id="rId5"/>
    <p:sldId id="3885" r:id="rId6"/>
    <p:sldId id="257" r:id="rId7"/>
    <p:sldId id="258" r:id="rId8"/>
    <p:sldId id="321" r:id="rId9"/>
    <p:sldId id="479" r:id="rId10"/>
    <p:sldId id="323" r:id="rId11"/>
    <p:sldId id="324" r:id="rId12"/>
    <p:sldId id="322" r:id="rId13"/>
    <p:sldId id="485" r:id="rId14"/>
    <p:sldId id="486" r:id="rId15"/>
    <p:sldId id="327" r:id="rId16"/>
    <p:sldId id="480" r:id="rId17"/>
    <p:sldId id="481" r:id="rId18"/>
    <p:sldId id="328" r:id="rId19"/>
    <p:sldId id="329" r:id="rId20"/>
    <p:sldId id="330" r:id="rId21"/>
    <p:sldId id="331" r:id="rId22"/>
    <p:sldId id="519" r:id="rId23"/>
    <p:sldId id="483" r:id="rId24"/>
    <p:sldId id="332" r:id="rId25"/>
    <p:sldId id="333" r:id="rId26"/>
    <p:sldId id="334" r:id="rId27"/>
    <p:sldId id="335" r:id="rId28"/>
    <p:sldId id="336" r:id="rId29"/>
    <p:sldId id="337" r:id="rId30"/>
    <p:sldId id="338" r:id="rId31"/>
    <p:sldId id="339" r:id="rId32"/>
    <p:sldId id="340" r:id="rId33"/>
    <p:sldId id="497" r:id="rId34"/>
    <p:sldId id="3898" r:id="rId35"/>
    <p:sldId id="341" r:id="rId36"/>
    <p:sldId id="342" r:id="rId37"/>
    <p:sldId id="517" r:id="rId38"/>
    <p:sldId id="534" r:id="rId39"/>
    <p:sldId id="518" r:id="rId40"/>
    <p:sldId id="3896" r:id="rId41"/>
    <p:sldId id="346" r:id="rId42"/>
    <p:sldId id="348" r:id="rId43"/>
    <p:sldId id="349" r:id="rId44"/>
    <p:sldId id="351" r:id="rId45"/>
    <p:sldId id="352" r:id="rId46"/>
    <p:sldId id="3895" r:id="rId47"/>
    <p:sldId id="354" r:id="rId48"/>
    <p:sldId id="355" r:id="rId49"/>
    <p:sldId id="523" r:id="rId50"/>
    <p:sldId id="524" r:id="rId51"/>
    <p:sldId id="525" r:id="rId52"/>
    <p:sldId id="526" r:id="rId53"/>
    <p:sldId id="536" r:id="rId54"/>
    <p:sldId id="537" r:id="rId55"/>
    <p:sldId id="528" r:id="rId56"/>
    <p:sldId id="385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8" y="84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4/17/2025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9/3/20XX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Discrete Structures : Lecture 1-2 by IQRA JAVED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9/3/20XX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Discrete Structures : Lecture 1-2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2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6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19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1.bin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2F2B-2D78-EB56-E02E-F61CF209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224" y="2336768"/>
            <a:ext cx="5559552" cy="2533075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Section 1.7</a:t>
            </a:r>
            <a:b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Proofs</a:t>
            </a:r>
            <a:endParaRPr lang="en-PK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43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95044-D182-4BAE-9152-421F005E817B}" type="slidenum">
              <a:rPr lang="en-US"/>
              <a:pPr/>
              <a:t>3</a:t>
            </a:fld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proof</a:t>
            </a:r>
            <a:r>
              <a:rPr lang="en-US" sz="2400" dirty="0"/>
              <a:t> is a </a:t>
            </a:r>
            <a:r>
              <a:rPr lang="en-US" sz="2400" dirty="0">
                <a:solidFill>
                  <a:srgbClr val="C00000"/>
                </a:solidFill>
              </a:rPr>
              <a:t>valid argument</a:t>
            </a:r>
            <a:r>
              <a:rPr lang="en-US" sz="2400" dirty="0"/>
              <a:t> that establishes the </a:t>
            </a:r>
            <a:r>
              <a:rPr lang="en-US" sz="2400" dirty="0">
                <a:solidFill>
                  <a:srgbClr val="C00000"/>
                </a:solidFill>
              </a:rPr>
              <a:t>truth</a:t>
            </a:r>
            <a:r>
              <a:rPr lang="en-US" sz="2400" dirty="0"/>
              <a:t> of a </a:t>
            </a:r>
            <a:r>
              <a:rPr lang="en-US" sz="2400" dirty="0">
                <a:solidFill>
                  <a:srgbClr val="C00000"/>
                </a:solidFill>
              </a:rPr>
              <a:t>mathematical statement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The methods we will study for building proofs are also used throughout computer science.</a:t>
            </a:r>
          </a:p>
          <a:p>
            <a:endParaRPr lang="en-US" sz="2400" dirty="0"/>
          </a:p>
          <a:p>
            <a:r>
              <a:rPr lang="en-US" sz="2400" dirty="0"/>
              <a:t>Many </a:t>
            </a:r>
            <a:r>
              <a:rPr lang="en-US" sz="2400" dirty="0">
                <a:solidFill>
                  <a:srgbClr val="C00000"/>
                </a:solidFill>
              </a:rPr>
              <a:t>theorems</a:t>
            </a:r>
            <a:r>
              <a:rPr lang="en-US" sz="2400" dirty="0"/>
              <a:t> in </a:t>
            </a:r>
            <a:r>
              <a:rPr lang="en-US" sz="2400" dirty="0">
                <a:solidFill>
                  <a:srgbClr val="C00000"/>
                </a:solidFill>
              </a:rPr>
              <a:t>mathematics</a:t>
            </a:r>
            <a:r>
              <a:rPr lang="en-US" sz="2400" dirty="0"/>
              <a:t> are </a:t>
            </a:r>
            <a:r>
              <a:rPr lang="en-US" sz="2400" dirty="0">
                <a:solidFill>
                  <a:srgbClr val="C00000"/>
                </a:solidFill>
              </a:rPr>
              <a:t>implications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p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 </a:t>
            </a:r>
            <a:r>
              <a:rPr lang="en-US" sz="2400" dirty="0">
                <a:solidFill>
                  <a:srgbClr val="C00000"/>
                </a:solidFill>
              </a:rPr>
              <a:t>q</a:t>
            </a:r>
            <a:r>
              <a:rPr lang="en-US" sz="2400" dirty="0"/>
              <a:t>. The techniques of proving implications give rise to different methods of proofs.</a:t>
            </a:r>
          </a:p>
          <a:p>
            <a:endParaRPr lang="en-US" sz="2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496" y="365126"/>
            <a:ext cx="10515600" cy="846724"/>
          </a:xfrm>
        </p:spPr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SOME TERMINOLOGIES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F35CA-D4F4-41A4-954A-F0C2B8818BFD}" type="slidenum">
              <a:rPr lang="en-US"/>
              <a:pPr/>
              <a:t>4</a:t>
            </a:fld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9496" y="1440449"/>
            <a:ext cx="11652504" cy="505242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theorem</a:t>
            </a:r>
            <a:r>
              <a:rPr lang="en-US" dirty="0"/>
              <a:t> is a statement that can be shown as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Less important theorems sometimes are called </a:t>
            </a:r>
            <a:r>
              <a:rPr lang="en-US" dirty="0">
                <a:solidFill>
                  <a:srgbClr val="C00000"/>
                </a:solidFill>
              </a:rPr>
              <a:t>propositions</a:t>
            </a:r>
            <a:r>
              <a:rPr lang="en-US" dirty="0"/>
              <a:t> (facts or results).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 theorem may be </a:t>
            </a:r>
            <a:r>
              <a:rPr lang="en-US" dirty="0">
                <a:solidFill>
                  <a:srgbClr val="C00000"/>
                </a:solidFill>
              </a:rPr>
              <a:t>universal quantification</a:t>
            </a:r>
            <a:r>
              <a:rPr lang="en-US" dirty="0"/>
              <a:t> of a </a:t>
            </a:r>
            <a:r>
              <a:rPr lang="en-US" dirty="0">
                <a:solidFill>
                  <a:srgbClr val="C00000"/>
                </a:solidFill>
              </a:rPr>
              <a:t>conditional statement</a:t>
            </a:r>
            <a:r>
              <a:rPr lang="en-US" dirty="0"/>
              <a:t> with one or more </a:t>
            </a:r>
            <a:r>
              <a:rPr lang="en-US" dirty="0">
                <a:solidFill>
                  <a:srgbClr val="C00000"/>
                </a:solidFill>
              </a:rPr>
              <a:t>premises</a:t>
            </a:r>
            <a:r>
              <a:rPr lang="en-US" dirty="0"/>
              <a:t> and a </a:t>
            </a:r>
            <a:r>
              <a:rPr lang="en-US" dirty="0">
                <a:solidFill>
                  <a:srgbClr val="C00000"/>
                </a:solidFill>
              </a:rPr>
              <a:t>conclusion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proof</a:t>
            </a:r>
            <a:r>
              <a:rPr lang="en-US" dirty="0"/>
              <a:t> is a valid argument that establishes the truth of a theorem.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statement</a:t>
            </a:r>
            <a:r>
              <a:rPr lang="en-US" dirty="0"/>
              <a:t>s used in proof can include </a:t>
            </a:r>
            <a:r>
              <a:rPr lang="en-US" dirty="0">
                <a:solidFill>
                  <a:srgbClr val="C00000"/>
                </a:solidFill>
              </a:rPr>
              <a:t>axioms</a:t>
            </a:r>
            <a:r>
              <a:rPr lang="en-US" dirty="0"/>
              <a:t> (or postulates)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 less important theorem that is helpful in the proof of other results is called a </a:t>
            </a:r>
            <a:r>
              <a:rPr lang="en-US" dirty="0">
                <a:solidFill>
                  <a:srgbClr val="C00000"/>
                </a:solidFill>
              </a:rPr>
              <a:t>lemma</a:t>
            </a:r>
            <a:r>
              <a:rPr lang="en-US" dirty="0"/>
              <a:t> 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  <a:sym typeface="Symbol" charset="2"/>
            </a:endParaRPr>
          </a:p>
          <a:p>
            <a:r>
              <a:rPr lang="en-US" dirty="0">
                <a:sym typeface="Symbol" charset="2"/>
              </a:rPr>
              <a:t>A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 corollary </a:t>
            </a:r>
            <a:r>
              <a:rPr lang="en-US" dirty="0">
                <a:sym typeface="Symbol" charset="2"/>
              </a:rPr>
              <a:t>is a theorem that can be established directly from a theorem that has been proved.</a:t>
            </a:r>
          </a:p>
          <a:p>
            <a:endParaRPr lang="en-US" dirty="0">
              <a:solidFill>
                <a:srgbClr val="C00000"/>
              </a:solidFill>
              <a:sym typeface="Symbol" charset="2"/>
            </a:endParaRPr>
          </a:p>
          <a:p>
            <a:r>
              <a:rPr lang="en-US" dirty="0">
                <a:sym typeface="Symbol" charset="2"/>
              </a:rPr>
              <a:t>A</a:t>
            </a:r>
            <a:r>
              <a:rPr lang="en-US" dirty="0">
                <a:solidFill>
                  <a:srgbClr val="C00000"/>
                </a:solidFill>
                <a:sym typeface="Symbol" charset="2"/>
              </a:rPr>
              <a:t> conjecture </a:t>
            </a:r>
            <a:r>
              <a:rPr lang="en-US" dirty="0">
                <a:sym typeface="Symbol" charset="2"/>
              </a:rPr>
              <a:t>is a statement that is being proposed to be true statement. 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097" name="Group 1"/>
          <p:cNvGrpSpPr>
            <a:grpSpLocks noChangeAspect="1"/>
          </p:cNvGrpSpPr>
          <p:nvPr/>
        </p:nvGrpSpPr>
        <p:grpSpPr bwMode="auto">
          <a:xfrm>
            <a:off x="1524001" y="1"/>
            <a:ext cx="5641975" cy="3313113"/>
            <a:chOff x="1800" y="5046"/>
            <a:chExt cx="8885" cy="5217"/>
          </a:xfrm>
        </p:grpSpPr>
        <p:sp>
          <p:nvSpPr>
            <p:cNvPr id="132098" name="AutoShape 2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100" name="Group 4"/>
          <p:cNvGrpSpPr>
            <a:grpSpLocks noChangeAspect="1"/>
          </p:cNvGrpSpPr>
          <p:nvPr/>
        </p:nvGrpSpPr>
        <p:grpSpPr bwMode="auto">
          <a:xfrm>
            <a:off x="1524001" y="1"/>
            <a:ext cx="5641975" cy="3313113"/>
            <a:chOff x="1800" y="5046"/>
            <a:chExt cx="8885" cy="5217"/>
          </a:xfrm>
        </p:grpSpPr>
        <p:sp>
          <p:nvSpPr>
            <p:cNvPr id="132101" name="AutoShape 5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3" name="Line 7"/>
          <p:cNvSpPr>
            <a:spLocks noChangeShapeType="1"/>
          </p:cNvSpPr>
          <p:nvPr/>
        </p:nvSpPr>
        <p:spPr bwMode="auto">
          <a:xfrm flipV="1">
            <a:off x="4294871" y="1930400"/>
            <a:ext cx="301752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4" name="Line 8"/>
          <p:cNvSpPr>
            <a:spLocks noChangeShapeType="1"/>
          </p:cNvSpPr>
          <p:nvPr/>
        </p:nvSpPr>
        <p:spPr bwMode="auto">
          <a:xfrm>
            <a:off x="4308475" y="19558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5" name="Line 9"/>
          <p:cNvSpPr>
            <a:spLocks noChangeShapeType="1"/>
          </p:cNvSpPr>
          <p:nvPr/>
        </p:nvSpPr>
        <p:spPr bwMode="auto">
          <a:xfrm>
            <a:off x="7300913" y="19304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6" name="Rectangle 10"/>
          <p:cNvSpPr>
            <a:spLocks noChangeArrowheads="1"/>
          </p:cNvSpPr>
          <p:nvPr/>
        </p:nvSpPr>
        <p:spPr bwMode="auto">
          <a:xfrm>
            <a:off x="5895071" y="2274887"/>
            <a:ext cx="2258330" cy="465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INDIRECT PROOF</a:t>
            </a:r>
            <a:endParaRPr lang="en-US" b="1" dirty="0"/>
          </a:p>
        </p:txBody>
      </p: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3092825" y="2344738"/>
            <a:ext cx="2047502" cy="855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DIRECT PROOF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</a:rPr>
              <a:t>p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</a:rPr>
              <a:t>q</a:t>
            </a:r>
          </a:p>
        </p:txBody>
      </p:sp>
      <p:sp>
        <p:nvSpPr>
          <p:cNvPr id="132108" name="Line 12"/>
          <p:cNvSpPr>
            <a:spLocks noChangeShapeType="1"/>
          </p:cNvSpPr>
          <p:nvPr/>
        </p:nvSpPr>
        <p:spPr bwMode="auto">
          <a:xfrm flipV="1">
            <a:off x="5921375" y="3046412"/>
            <a:ext cx="25003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9" name="Line 13"/>
          <p:cNvSpPr>
            <a:spLocks noChangeShapeType="1"/>
          </p:cNvSpPr>
          <p:nvPr/>
        </p:nvSpPr>
        <p:spPr bwMode="auto">
          <a:xfrm>
            <a:off x="5937250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0" name="Line 14"/>
          <p:cNvSpPr>
            <a:spLocks noChangeShapeType="1"/>
          </p:cNvSpPr>
          <p:nvPr/>
        </p:nvSpPr>
        <p:spPr bwMode="auto">
          <a:xfrm>
            <a:off x="8421688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1" name="Rectangle 15"/>
          <p:cNvSpPr>
            <a:spLocks noChangeArrowheads="1"/>
          </p:cNvSpPr>
          <p:nvPr/>
        </p:nvSpPr>
        <p:spPr bwMode="auto">
          <a:xfrm>
            <a:off x="4578556" y="3408824"/>
            <a:ext cx="2370392" cy="1406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PROOF BY 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CONTRAPOSITION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</a:rPr>
              <a:t>p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</a:t>
            </a:r>
            <a:r>
              <a:rPr lang="en-US" b="1" dirty="0">
                <a:solidFill>
                  <a:srgbClr val="C00000"/>
                </a:solidFill>
              </a:rPr>
              <a:t>q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 </a:t>
            </a:r>
            <a:r>
              <a:rPr lang="en-US" b="1" dirty="0">
                <a:solidFill>
                  <a:srgbClr val="C00000"/>
                </a:solidFill>
              </a:rPr>
              <a:t> ~q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</a:rPr>
              <a:t>~p</a:t>
            </a:r>
          </a:p>
        </p:txBody>
      </p:sp>
      <p:sp>
        <p:nvSpPr>
          <p:cNvPr id="132112" name="Rectangle 16"/>
          <p:cNvSpPr>
            <a:spLocks noChangeArrowheads="1"/>
          </p:cNvSpPr>
          <p:nvPr/>
        </p:nvSpPr>
        <p:spPr bwMode="auto">
          <a:xfrm>
            <a:off x="7395884" y="3408824"/>
            <a:ext cx="2496300" cy="1406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PROOF BY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CONTRADICTION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</a:rPr>
              <a:t>p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</a:t>
            </a:r>
            <a:r>
              <a:rPr lang="en-US" b="1" dirty="0">
                <a:solidFill>
                  <a:srgbClr val="C00000"/>
                </a:solidFill>
              </a:rPr>
              <a:t>q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 </a:t>
            </a:r>
            <a:r>
              <a:rPr lang="en-US" b="1" dirty="0">
                <a:solidFill>
                  <a:srgbClr val="C00000"/>
                </a:solidFill>
              </a:rPr>
              <a:t>(p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b="1" dirty="0">
                <a:solidFill>
                  <a:srgbClr val="C00000"/>
                </a:solidFill>
              </a:rPr>
              <a:t>~q)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32113" name="Line 17"/>
          <p:cNvSpPr>
            <a:spLocks noChangeShapeType="1"/>
          </p:cNvSpPr>
          <p:nvPr/>
        </p:nvSpPr>
        <p:spPr bwMode="auto">
          <a:xfrm>
            <a:off x="5921375" y="1600201"/>
            <a:ext cx="0" cy="344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4" name="Line 18"/>
          <p:cNvSpPr>
            <a:spLocks noChangeShapeType="1"/>
          </p:cNvSpPr>
          <p:nvPr/>
        </p:nvSpPr>
        <p:spPr bwMode="auto">
          <a:xfrm>
            <a:off x="7300913" y="2759076"/>
            <a:ext cx="0" cy="276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3950346" y="929389"/>
            <a:ext cx="3973807" cy="67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sz="2800" b="1" u="sng" dirty="0">
                <a:solidFill>
                  <a:srgbClr val="FF0000"/>
                </a:solidFill>
              </a:rPr>
              <a:t>METHODS OF  PROOF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CC185-D753-10FC-8863-487A7E38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130" y="143316"/>
            <a:ext cx="6409764" cy="79547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The Process of Proofs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A822FD-0683-A88F-7F0B-31AC3189B1D4}"/>
              </a:ext>
            </a:extLst>
          </p:cNvPr>
          <p:cNvGrpSpPr/>
          <p:nvPr/>
        </p:nvGrpSpPr>
        <p:grpSpPr>
          <a:xfrm>
            <a:off x="1976263" y="998997"/>
            <a:ext cx="8526753" cy="4797795"/>
            <a:chOff x="3258356" y="1584100"/>
            <a:chExt cx="7416368" cy="4797795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E44884C3-2630-03AF-2B73-AC23B6EA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462" y="1584100"/>
              <a:ext cx="2819400" cy="977720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13C2C248-338C-AB86-18CC-993DD119C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365" y="1859855"/>
              <a:ext cx="189827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Assumptions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A5E96BF3-EB8C-DCF3-FCA7-87EE99E02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9583" y="3286257"/>
              <a:ext cx="2819400" cy="12954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1A664687-6CB8-8B81-0D62-F97B426105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5438" y="3718773"/>
              <a:ext cx="189718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dirty="0">
                  <a:solidFill>
                    <a:srgbClr val="00B05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Logical Steps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674879B4-2EF1-5EE9-17C2-C12A9F3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8356" y="5291066"/>
              <a:ext cx="4648200" cy="1090829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0F2AF932-3C15-9B55-9F86-E24EEDF11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236" y="5449149"/>
              <a:ext cx="4207435" cy="830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070C0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Conclusion</a:t>
              </a:r>
            </a:p>
            <a:p>
              <a:pPr algn="ctr"/>
              <a:r>
                <a:rPr lang="en-US" sz="24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(That which was to be proved)</a:t>
              </a:r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561142B4-7743-37B3-E9C2-9A1B50C90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8787" y="2599383"/>
              <a:ext cx="381000" cy="609600"/>
            </a:xfrm>
            <a:prstGeom prst="downArrow">
              <a:avLst>
                <a:gd name="adj1" fmla="val 50000"/>
                <a:gd name="adj2" fmla="val 40000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2" name="AutoShape 12">
              <a:extLst>
                <a:ext uri="{FF2B5EF4-FFF2-40B4-BE49-F238E27FC236}">
                  <a16:creationId xmlns:a16="http://schemas.microsoft.com/office/drawing/2014/main" id="{FCBF5507-FE4D-D6E5-7968-791833D9A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5904" y="4632099"/>
              <a:ext cx="381000" cy="609600"/>
            </a:xfrm>
            <a:prstGeom prst="downArrow">
              <a:avLst>
                <a:gd name="adj1" fmla="val 50000"/>
                <a:gd name="adj2" fmla="val 40000"/>
              </a:avLst>
            </a:prstGeom>
            <a:solidFill>
              <a:srgbClr val="26910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BFF4BE84-65E9-EAC3-6589-F114215CF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3324" y="2997907"/>
              <a:ext cx="3581400" cy="19389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119063" indent="-119063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-Definitions</a:t>
              </a:r>
            </a:p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-Already-proved equivalences</a:t>
              </a:r>
            </a:p>
            <a:p>
              <a:r>
                <a:rPr lang="en-US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-Statements (e.g., arithmetic or algebraic)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709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SOME BASICS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integer n </a:t>
            </a:r>
            <a:r>
              <a:rPr lang="en-US" dirty="0"/>
              <a:t>is</a:t>
            </a:r>
            <a:r>
              <a:rPr lang="en-US" dirty="0">
                <a:solidFill>
                  <a:srgbClr val="C00000"/>
                </a:solidFill>
              </a:rPr>
              <a:t> even</a:t>
            </a:r>
            <a:r>
              <a:rPr lang="en-US" dirty="0"/>
              <a:t> if, and only if, </a:t>
            </a:r>
            <a:r>
              <a:rPr lang="en-US" dirty="0">
                <a:solidFill>
                  <a:srgbClr val="C00000"/>
                </a:solidFill>
              </a:rPr>
              <a:t>n = 2k</a:t>
            </a:r>
            <a:r>
              <a:rPr lang="en-US" dirty="0"/>
              <a:t> for some integer k.</a:t>
            </a:r>
          </a:p>
          <a:p>
            <a:endParaRPr lang="en-US" dirty="0"/>
          </a:p>
          <a:p>
            <a:r>
              <a:rPr lang="en-US" dirty="0"/>
              <a:t> An </a:t>
            </a:r>
            <a:r>
              <a:rPr lang="en-US" dirty="0">
                <a:solidFill>
                  <a:srgbClr val="C00000"/>
                </a:solidFill>
              </a:rPr>
              <a:t>integer n </a:t>
            </a:r>
            <a:r>
              <a:rPr lang="en-US" dirty="0"/>
              <a:t>is</a:t>
            </a:r>
            <a:r>
              <a:rPr lang="en-US" dirty="0">
                <a:solidFill>
                  <a:srgbClr val="C00000"/>
                </a:solidFill>
              </a:rPr>
              <a:t> odd</a:t>
            </a:r>
            <a:r>
              <a:rPr lang="en-US" dirty="0"/>
              <a:t> if, and only if, </a:t>
            </a:r>
            <a:r>
              <a:rPr lang="en-US" dirty="0">
                <a:solidFill>
                  <a:srgbClr val="C00000"/>
                </a:solidFill>
              </a:rPr>
              <a:t>n = 2k + 1</a:t>
            </a:r>
            <a:r>
              <a:rPr lang="en-US" dirty="0"/>
              <a:t> for some integer k.</a:t>
            </a:r>
          </a:p>
          <a:p>
            <a:endParaRPr lang="en-US" dirty="0"/>
          </a:p>
          <a:p>
            <a:r>
              <a:rPr lang="en-US" dirty="0"/>
              <a:t> An </a:t>
            </a:r>
            <a:r>
              <a:rPr lang="en-US" dirty="0">
                <a:solidFill>
                  <a:srgbClr val="C00000"/>
                </a:solidFill>
              </a:rPr>
              <a:t>integer n </a:t>
            </a:r>
            <a:r>
              <a:rPr lang="en-US" dirty="0"/>
              <a:t>is</a:t>
            </a:r>
            <a:r>
              <a:rPr lang="en-US" dirty="0">
                <a:solidFill>
                  <a:srgbClr val="C00000"/>
                </a:solidFill>
              </a:rPr>
              <a:t> prime</a:t>
            </a:r>
            <a:r>
              <a:rPr lang="en-US" dirty="0"/>
              <a:t> if, and only if, n &gt; 1 and for </a:t>
            </a:r>
            <a:r>
              <a:rPr lang="en-US" dirty="0">
                <a:solidFill>
                  <a:srgbClr val="C00000"/>
                </a:solidFill>
              </a:rPr>
              <a:t>all</a:t>
            </a:r>
            <a:r>
              <a:rPr lang="en-US" dirty="0"/>
              <a:t> positive </a:t>
            </a:r>
            <a:r>
              <a:rPr lang="en-US" dirty="0">
                <a:solidFill>
                  <a:srgbClr val="C00000"/>
                </a:solidFill>
              </a:rPr>
              <a:t>integers r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s</a:t>
            </a:r>
            <a:r>
              <a:rPr lang="en-US" dirty="0"/>
              <a:t>, if </a:t>
            </a:r>
            <a:r>
              <a:rPr lang="en-US" dirty="0">
                <a:solidFill>
                  <a:srgbClr val="C00000"/>
                </a:solidFill>
              </a:rPr>
              <a:t>n = </a:t>
            </a:r>
            <a:r>
              <a:rPr lang="en-US" dirty="0" err="1">
                <a:solidFill>
                  <a:srgbClr val="C00000"/>
                </a:solidFill>
              </a:rPr>
              <a:t>r.s</a:t>
            </a:r>
            <a:r>
              <a:rPr lang="en-US" dirty="0"/>
              <a:t>, then r = 1 or s = 1.</a:t>
            </a:r>
          </a:p>
          <a:p>
            <a:endParaRPr lang="en-US" dirty="0"/>
          </a:p>
          <a:p>
            <a:r>
              <a:rPr lang="en-US" dirty="0"/>
              <a:t>An integer </a:t>
            </a:r>
            <a:r>
              <a:rPr lang="en-US" dirty="0">
                <a:solidFill>
                  <a:srgbClr val="C00000"/>
                </a:solidFill>
              </a:rPr>
              <a:t>n &gt; 1 </a:t>
            </a:r>
            <a:r>
              <a:rPr lang="en-US" dirty="0"/>
              <a:t>is</a:t>
            </a:r>
            <a:r>
              <a:rPr lang="en-US" dirty="0">
                <a:solidFill>
                  <a:srgbClr val="C00000"/>
                </a:solidFill>
              </a:rPr>
              <a:t> composite</a:t>
            </a:r>
            <a:r>
              <a:rPr lang="en-US" dirty="0"/>
              <a:t> if, and only if, </a:t>
            </a:r>
            <a:r>
              <a:rPr lang="en-US" dirty="0">
                <a:solidFill>
                  <a:srgbClr val="C00000"/>
                </a:solidFill>
              </a:rPr>
              <a:t>n = </a:t>
            </a:r>
            <a:r>
              <a:rPr lang="en-US" dirty="0" err="1">
                <a:solidFill>
                  <a:srgbClr val="C00000"/>
                </a:solidFill>
              </a:rPr>
              <a:t>r.s</a:t>
            </a:r>
            <a:r>
              <a:rPr lang="en-US" dirty="0"/>
              <a:t> for </a:t>
            </a:r>
            <a:r>
              <a:rPr lang="en-US" dirty="0">
                <a:solidFill>
                  <a:srgbClr val="C00000"/>
                </a:solidFill>
              </a:rPr>
              <a:t>some</a:t>
            </a:r>
            <a:r>
              <a:rPr lang="en-US" dirty="0"/>
              <a:t> positive </a:t>
            </a:r>
            <a:r>
              <a:rPr lang="en-US" dirty="0">
                <a:solidFill>
                  <a:srgbClr val="C00000"/>
                </a:solidFill>
              </a:rPr>
              <a:t>integers r </a:t>
            </a:r>
            <a:r>
              <a:rPr lang="en-US" dirty="0"/>
              <a:t>and</a:t>
            </a:r>
            <a:r>
              <a:rPr lang="en-US" dirty="0">
                <a:solidFill>
                  <a:srgbClr val="C00000"/>
                </a:solidFill>
              </a:rPr>
              <a:t> s</a:t>
            </a:r>
            <a:r>
              <a:rPr lang="en-US" dirty="0"/>
              <a:t> with r </a:t>
            </a:r>
            <a:r>
              <a:rPr lang="en-US" dirty="0">
                <a:sym typeface="Symbol"/>
              </a:rPr>
              <a:t></a:t>
            </a:r>
            <a:r>
              <a:rPr lang="en-US" dirty="0"/>
              <a:t> 1 and s </a:t>
            </a:r>
            <a:r>
              <a:rPr lang="en-US" dirty="0">
                <a:sym typeface="Symbol"/>
              </a:rPr>
              <a:t></a:t>
            </a:r>
            <a:r>
              <a:rPr lang="en-US" dirty="0"/>
              <a:t> 1.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real number r is rational</a:t>
            </a:r>
            <a:r>
              <a:rPr lang="en-US" dirty="0"/>
              <a:t> if, and only if, </a:t>
            </a:r>
            <a:r>
              <a:rPr lang="en-US" dirty="0">
                <a:solidFill>
                  <a:srgbClr val="C00000"/>
                </a:solidFill>
              </a:rPr>
              <a:t>r =</a:t>
            </a:r>
            <a:r>
              <a:rPr lang="en-US" dirty="0"/>
              <a:t>     for </a:t>
            </a:r>
            <a:r>
              <a:rPr lang="en-US" dirty="0">
                <a:solidFill>
                  <a:srgbClr val="C00000"/>
                </a:solidFill>
              </a:rPr>
              <a:t>some</a:t>
            </a:r>
            <a:r>
              <a:rPr lang="en-US" dirty="0"/>
              <a:t> integers a and b with b </a:t>
            </a:r>
            <a:r>
              <a:rPr lang="en-US" dirty="0">
                <a:sym typeface="Symbol"/>
              </a:rPr>
              <a:t> </a:t>
            </a:r>
            <a:r>
              <a:rPr lang="en-US" dirty="0"/>
              <a:t>0.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d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integers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d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 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dirty="0"/>
              <a:t>, then </a:t>
            </a:r>
            <a:r>
              <a:rPr lang="en-US" dirty="0">
                <a:solidFill>
                  <a:srgbClr val="C00000"/>
                </a:solidFill>
              </a:rPr>
              <a:t>d divides n</a:t>
            </a:r>
            <a:r>
              <a:rPr lang="en-US" dirty="0"/>
              <a:t>, written </a:t>
            </a:r>
            <a:r>
              <a:rPr lang="en-US" dirty="0" err="1">
                <a:solidFill>
                  <a:srgbClr val="C00000"/>
                </a:solidFill>
              </a:rPr>
              <a:t>d|n</a:t>
            </a:r>
            <a:r>
              <a:rPr lang="en-US" dirty="0"/>
              <a:t> if, and only if, </a:t>
            </a:r>
            <a:r>
              <a:rPr lang="en-US" dirty="0">
                <a:solidFill>
                  <a:srgbClr val="C00000"/>
                </a:solidFill>
              </a:rPr>
              <a:t>n = </a:t>
            </a:r>
            <a:r>
              <a:rPr lang="en-US" dirty="0" err="1">
                <a:solidFill>
                  <a:srgbClr val="C00000"/>
                </a:solidFill>
              </a:rPr>
              <a:t>d.k</a:t>
            </a:r>
            <a:r>
              <a:rPr lang="en-US" dirty="0"/>
              <a:t> for some integers k.</a:t>
            </a:r>
          </a:p>
          <a:p>
            <a:endParaRPr lang="en-US" dirty="0"/>
          </a:p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integer n</a:t>
            </a:r>
            <a:r>
              <a:rPr lang="en-US" dirty="0"/>
              <a:t> is called a </a:t>
            </a:r>
            <a:r>
              <a:rPr lang="en-US" dirty="0">
                <a:solidFill>
                  <a:srgbClr val="C00000"/>
                </a:solidFill>
              </a:rPr>
              <a:t>perfect square</a:t>
            </a:r>
            <a:r>
              <a:rPr lang="en-US" dirty="0"/>
              <a:t>, if and only if, </a:t>
            </a:r>
            <a:r>
              <a:rPr lang="en-US" dirty="0">
                <a:solidFill>
                  <a:srgbClr val="C00000"/>
                </a:solidFill>
              </a:rPr>
              <a:t>n = k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/>
              <a:t> for some integer k.</a:t>
            </a:r>
          </a:p>
          <a:p>
            <a:endParaRPr lang="en-US" dirty="0"/>
          </a:p>
        </p:txBody>
      </p:sp>
      <p:sp>
        <p:nvSpPr>
          <p:cNvPr id="1464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643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255313"/>
              </p:ext>
            </p:extLst>
          </p:nvPr>
        </p:nvGraphicFramePr>
        <p:xfrm>
          <a:off x="8088165" y="1779494"/>
          <a:ext cx="323087" cy="807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r:id="rId3" imgW="152334" imgH="393529" progId="">
                  <p:embed/>
                </p:oleObj>
              </mc:Choice>
              <mc:Fallback>
                <p:oleObj r:id="rId3" imgW="152334" imgH="393529" progId="">
                  <p:embed/>
                  <p:pic>
                    <p:nvPicPr>
                      <p:cNvPr id="14643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8165" y="1779494"/>
                        <a:ext cx="323087" cy="80771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DIRECT PROOF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43370" y="1462087"/>
            <a:ext cx="10909133" cy="5030787"/>
          </a:xfrm>
        </p:spPr>
        <p:txBody>
          <a:bodyPr>
            <a:no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Direct proves are of the form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 </a:t>
            </a:r>
            <a: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i.e., if p is true then q must be true</a:t>
            </a:r>
          </a:p>
          <a:p>
            <a:r>
              <a:rPr lang="en-US" b="1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Process</a:t>
            </a:r>
            <a:br>
              <a:rPr lang="en-US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From given situation where p is true, we follow the logical steps leading us to the situation where we prove that in this scenario q is nothing but true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implication p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>
                <a:solidFill>
                  <a:srgbClr val="C00000"/>
                </a:solidFill>
              </a:rPr>
              <a:t>q</a:t>
            </a:r>
            <a:r>
              <a:rPr lang="en-US" dirty="0"/>
              <a:t> can be proved by showing that if </a:t>
            </a:r>
            <a:r>
              <a:rPr lang="en-US" dirty="0">
                <a:solidFill>
                  <a:srgbClr val="C00000"/>
                </a:solidFill>
              </a:rPr>
              <a:t>p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, the </a:t>
            </a:r>
            <a:r>
              <a:rPr lang="en-US" dirty="0">
                <a:solidFill>
                  <a:srgbClr val="C00000"/>
                </a:solidFill>
              </a:rPr>
              <a:t>q</a:t>
            </a:r>
            <a:r>
              <a:rPr lang="en-US" dirty="0"/>
              <a:t> must also be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.</a:t>
            </a:r>
          </a:p>
          <a:p>
            <a:r>
              <a:rPr lang="en-US" dirty="0"/>
              <a:t>This shows that the combination </a:t>
            </a:r>
            <a:r>
              <a:rPr lang="en-US" dirty="0">
                <a:solidFill>
                  <a:srgbClr val="C00000"/>
                </a:solidFill>
              </a:rPr>
              <a:t>p true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q false</a:t>
            </a:r>
            <a:r>
              <a:rPr lang="en-US" dirty="0"/>
              <a:t> never </a:t>
            </a:r>
            <a:r>
              <a:rPr lang="en-US" dirty="0">
                <a:solidFill>
                  <a:srgbClr val="C00000"/>
                </a:solidFill>
              </a:rPr>
              <a:t>occurs</a:t>
            </a:r>
            <a:r>
              <a:rPr lang="en-US" dirty="0"/>
              <a:t>.</a:t>
            </a:r>
          </a:p>
          <a:p>
            <a:r>
              <a:rPr lang="en-US" dirty="0"/>
              <a:t>A proof of this kind is called a </a:t>
            </a:r>
            <a:r>
              <a:rPr lang="en-US" dirty="0">
                <a:solidFill>
                  <a:srgbClr val="C00000"/>
                </a:solidFill>
              </a:rPr>
              <a:t>direct proof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764862"/>
            <a:ext cx="10284897" cy="46166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that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sum of two odd integers is an even integer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  <a:p>
            <a:pPr marL="0" lvl="0" indent="0">
              <a:buNone/>
            </a:pP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87D83-20B8-9557-A3DA-46075D4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9547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3600" b="1" u="sng" dirty="0">
                <a:solidFill>
                  <a:srgbClr val="0070C0"/>
                </a:solidFill>
              </a:rPr>
              <a:t>Example 1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B9264-E1FE-782F-41AF-F5B501985FCF}"/>
              </a:ext>
            </a:extLst>
          </p:cNvPr>
          <p:cNvSpPr txBox="1"/>
          <p:nvPr/>
        </p:nvSpPr>
        <p:spPr>
          <a:xfrm>
            <a:off x="1143000" y="5990209"/>
            <a:ext cx="8718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 proved that the sum of two odd integers is an even integer.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4A331-2CC9-2E4D-0635-FC3844F816EF}"/>
              </a:ext>
            </a:extLst>
          </p:cNvPr>
          <p:cNvSpPr txBox="1"/>
          <p:nvPr/>
        </p:nvSpPr>
        <p:spPr>
          <a:xfrm>
            <a:off x="1000664" y="1647644"/>
            <a:ext cx="104552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>
              <a:buNone/>
            </a:pPr>
            <a:r>
              <a:rPr lang="en-US" sz="2400" b="1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Say a and b be two arbitrary odd integers. As per definition of odd integer: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 = 2k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+1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… k</a:t>
            </a:r>
            <a:r>
              <a:rPr lang="en-US" sz="2400" baseline="-250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integer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b = 2k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+1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…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sz="2400" baseline="-250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integer</a:t>
            </a:r>
          </a:p>
          <a:p>
            <a:pPr marL="0" lv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lv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+ b 	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 2k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+1 + 2k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+1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= 2k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+2k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+ 1+ 1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= 2(k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+ 1)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= 2 k</a:t>
            </a:r>
            <a:r>
              <a:rPr lang="en-US" sz="2400" baseline="-25000" dirty="0">
                <a:latin typeface="Cambria Math" panose="02040503050406030204" pitchFamily="18" charset="0"/>
                <a:ea typeface="Cambria Math" panose="02040503050406030204" pitchFamily="18" charset="0"/>
              </a:rPr>
              <a:t>3	 …</a:t>
            </a:r>
            <a:r>
              <a:rPr lang="en-US" sz="24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where</a:t>
            </a:r>
            <a:r>
              <a:rPr lang="en-US" sz="32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sz="2400" baseline="-250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integer</a:t>
            </a:r>
          </a:p>
          <a:p>
            <a:pPr marL="0" lv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+ b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= 2 . Integer = Even Integer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8316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728418-6D60-1739-1CC1-C6FB6979F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47625"/>
            <a:ext cx="7877175" cy="676275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764862"/>
            <a:ext cx="10284897" cy="532827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that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sum of two even integers is an even integer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87D83-20B8-9557-A3DA-46075D4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9547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Another Proof…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</a:t>
            </a:r>
            <a:r>
              <a:rPr lang="en-US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 … </a:t>
            </a:r>
            <a:r>
              <a:rPr lang="en-US" sz="3200" b="1" u="sng" dirty="0">
                <a:solidFill>
                  <a:srgbClr val="0070C0"/>
                </a:solidFill>
              </a:rPr>
              <a:t>Example 2</a:t>
            </a:r>
            <a:endParaRPr lang="en-US" sz="4000" b="1" dirty="0">
              <a:solidFill>
                <a:srgbClr val="6BA42C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70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6"/>
            <a:ext cx="10515600" cy="835878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3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Prove that </a:t>
            </a:r>
            <a:r>
              <a:rPr lang="en-US" dirty="0">
                <a:solidFill>
                  <a:srgbClr val="002060"/>
                </a:solidFill>
              </a:rPr>
              <a:t>if n is any even integer, then (-1)</a:t>
            </a:r>
            <a:r>
              <a:rPr lang="en-US" baseline="30000" dirty="0">
                <a:solidFill>
                  <a:srgbClr val="002060"/>
                </a:solidFill>
              </a:rPr>
              <a:t>n</a:t>
            </a:r>
            <a:r>
              <a:rPr lang="en-US" dirty="0">
                <a:solidFill>
                  <a:srgbClr val="002060"/>
                </a:solidFill>
              </a:rPr>
              <a:t> = 1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b="1" u="sng" dirty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/>
              <a:t>	Suppose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dirty="0"/>
              <a:t> is an </a:t>
            </a:r>
            <a:r>
              <a:rPr lang="en-US" dirty="0">
                <a:solidFill>
                  <a:srgbClr val="C00000"/>
                </a:solidFill>
              </a:rPr>
              <a:t>even integer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	Then </a:t>
            </a:r>
            <a:r>
              <a:rPr lang="en-US" dirty="0">
                <a:solidFill>
                  <a:srgbClr val="C00000"/>
                </a:solidFill>
              </a:rPr>
              <a:t>n = 2k</a:t>
            </a:r>
            <a:r>
              <a:rPr lang="en-US" dirty="0"/>
              <a:t> for some integer k.</a:t>
            </a:r>
          </a:p>
          <a:p>
            <a:pPr>
              <a:buNone/>
            </a:pPr>
            <a:r>
              <a:rPr lang="en-US" dirty="0"/>
              <a:t>	Now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(-1)</a:t>
            </a:r>
            <a:r>
              <a:rPr lang="en-US" baseline="30000" dirty="0">
                <a:solidFill>
                  <a:srgbClr val="C00000"/>
                </a:solidFill>
              </a:rPr>
              <a:t> n </a:t>
            </a:r>
            <a:r>
              <a:rPr lang="en-US" dirty="0">
                <a:solidFill>
                  <a:srgbClr val="C00000"/>
                </a:solidFill>
              </a:rPr>
              <a:t>= (-1)</a:t>
            </a:r>
            <a:r>
              <a:rPr lang="en-US" baseline="30000" dirty="0">
                <a:solidFill>
                  <a:srgbClr val="C00000"/>
                </a:solidFill>
              </a:rPr>
              <a:t>2k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		        = </a:t>
            </a:r>
            <a:r>
              <a:rPr lang="en-US" dirty="0">
                <a:solidFill>
                  <a:srgbClr val="C00000"/>
                </a:solidFill>
              </a:rPr>
              <a:t>[(-1)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]</a:t>
            </a:r>
            <a:r>
              <a:rPr lang="en-US" baseline="30000" dirty="0">
                <a:solidFill>
                  <a:srgbClr val="C00000"/>
                </a:solidFill>
              </a:rPr>
              <a:t>k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		        = </a:t>
            </a:r>
            <a:r>
              <a:rPr lang="en-US" dirty="0">
                <a:solidFill>
                  <a:srgbClr val="C00000"/>
                </a:solidFill>
              </a:rPr>
              <a:t>(1)</a:t>
            </a:r>
            <a:r>
              <a:rPr lang="en-US" baseline="30000" dirty="0">
                <a:solidFill>
                  <a:srgbClr val="C00000"/>
                </a:solidFill>
              </a:rPr>
              <a:t>k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		        = </a:t>
            </a:r>
            <a:r>
              <a:rPr lang="en-US" dirty="0">
                <a:solidFill>
                  <a:srgbClr val="C00000"/>
                </a:solidFill>
              </a:rPr>
              <a:t>1</a:t>
            </a:r>
            <a:r>
              <a:rPr lang="en-US" dirty="0"/>
              <a:t>		(proved)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416423" y="1164652"/>
            <a:ext cx="7176247" cy="96042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that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 is an even number, so is n</a:t>
            </a:r>
            <a:r>
              <a:rPr lang="en-US" sz="2400" baseline="300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87D83-20B8-9557-A3DA-46075D4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7121" y="188259"/>
            <a:ext cx="5777753" cy="795477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000" b="1" u="sng" dirty="0">
                <a:solidFill>
                  <a:srgbClr val="0070C0"/>
                </a:solidFill>
              </a:rPr>
              <a:t>Example 4</a:t>
            </a:r>
            <a:endParaRPr lang="en-US" sz="4000" dirty="0">
              <a:solidFill>
                <a:srgbClr val="92D05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737B5-F736-04F6-933A-A12B06F2848E}"/>
              </a:ext>
            </a:extLst>
          </p:cNvPr>
          <p:cNvSpPr txBox="1"/>
          <p:nvPr/>
        </p:nvSpPr>
        <p:spPr>
          <a:xfrm>
            <a:off x="876631" y="1858372"/>
            <a:ext cx="10438735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2800" b="1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Given that n is even: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Say, n = 2k                 	…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definition of even number</a:t>
            </a:r>
          </a:p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then, n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= (2k)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= 4k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= 2(2k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= 2k’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	…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 even number as per definition of even numbers</a:t>
            </a:r>
          </a:p>
          <a:p>
            <a:pPr marL="0" indent="0"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000" dirty="0">
                <a:solidFill>
                  <a:srgbClr val="B3159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∵ The value of </a:t>
            </a:r>
            <a:r>
              <a:rPr lang="en-US" sz="2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000" baseline="30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000" dirty="0">
                <a:solidFill>
                  <a:srgbClr val="B3159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multiple of 2 i.e., </a:t>
            </a:r>
            <a:r>
              <a:rPr lang="en-US" sz="2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000" baseline="30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000" dirty="0">
                <a:solidFill>
                  <a:srgbClr val="B31591"/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even</a:t>
            </a:r>
            <a:endParaRPr lang="en-US" sz="2000" dirty="0">
              <a:solidFill>
                <a:srgbClr val="B3159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	Hence proved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91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A9FB9C-DF85-6603-771C-5159E2437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47625"/>
            <a:ext cx="7877175" cy="6762750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764862"/>
            <a:ext cx="10284897" cy="532827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that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 is an odd number, so is n</a:t>
            </a:r>
            <a:r>
              <a:rPr lang="en-US" sz="2400" baseline="300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87D83-20B8-9557-A3DA-46075D4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9547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Another Proof…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Proof… </a:t>
            </a:r>
            <a:r>
              <a:rPr lang="en-US" sz="4000" b="1" u="sng" dirty="0">
                <a:solidFill>
                  <a:srgbClr val="0070C0"/>
                </a:solidFill>
              </a:rPr>
              <a:t>Example 5</a:t>
            </a:r>
            <a:endParaRPr lang="en-US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951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6"/>
            <a:ext cx="10515600" cy="64340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6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037037" y="1129740"/>
            <a:ext cx="10419858" cy="536313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Prove that the product of an even integer and an odd integer is even.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/>
              <a:t>	Suppose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dirty="0"/>
              <a:t> is an </a:t>
            </a:r>
            <a:r>
              <a:rPr lang="en-US" dirty="0">
                <a:solidFill>
                  <a:srgbClr val="C00000"/>
                </a:solidFill>
              </a:rPr>
              <a:t>even integer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dirty="0"/>
              <a:t> is an </a:t>
            </a:r>
            <a:r>
              <a:rPr lang="en-US" dirty="0">
                <a:solidFill>
                  <a:srgbClr val="C00000"/>
                </a:solidFill>
              </a:rPr>
              <a:t>odd integer</a:t>
            </a:r>
            <a:r>
              <a:rPr lang="en-US" dirty="0"/>
              <a:t>.  Then,</a:t>
            </a:r>
          </a:p>
          <a:p>
            <a:pPr>
              <a:buNone/>
            </a:pPr>
            <a:r>
              <a:rPr lang="en-US" dirty="0"/>
              <a:t>		     </a:t>
            </a:r>
            <a:r>
              <a:rPr lang="en-US" dirty="0">
                <a:solidFill>
                  <a:srgbClr val="C00000"/>
                </a:solidFill>
              </a:rPr>
              <a:t>m = 2</a:t>
            </a:r>
            <a:r>
              <a:rPr lang="en-US" i="1" dirty="0">
                <a:solidFill>
                  <a:srgbClr val="C00000"/>
                </a:solidFill>
              </a:rPr>
              <a:t>k</a:t>
            </a:r>
            <a:r>
              <a:rPr lang="en-US" dirty="0"/>
              <a:t>		for some integer </a:t>
            </a:r>
            <a:r>
              <a:rPr lang="en-US" i="1" dirty="0"/>
              <a:t>k</a:t>
            </a:r>
          </a:p>
          <a:p>
            <a:pPr>
              <a:buNone/>
            </a:pPr>
            <a:r>
              <a:rPr lang="en-US" dirty="0"/>
              <a:t>	 and      </a:t>
            </a:r>
            <a:r>
              <a:rPr lang="en-US" dirty="0">
                <a:solidFill>
                  <a:srgbClr val="C00000"/>
                </a:solidFill>
              </a:rPr>
              <a:t>n = 2</a:t>
            </a:r>
            <a:r>
              <a:rPr lang="en-US" i="1" dirty="0">
                <a:solidFill>
                  <a:srgbClr val="C00000"/>
                </a:solidFill>
              </a:rPr>
              <a:t>l</a:t>
            </a:r>
            <a:r>
              <a:rPr lang="en-US" dirty="0">
                <a:solidFill>
                  <a:srgbClr val="C00000"/>
                </a:solidFill>
              </a:rPr>
              <a:t> + 1</a:t>
            </a:r>
            <a:r>
              <a:rPr lang="en-US" dirty="0"/>
              <a:t>		for some integer </a:t>
            </a:r>
            <a:r>
              <a:rPr lang="en-US" i="1" dirty="0"/>
              <a:t>l</a:t>
            </a:r>
          </a:p>
          <a:p>
            <a:pPr>
              <a:buNone/>
            </a:pPr>
            <a:r>
              <a:rPr lang="en-US" dirty="0"/>
              <a:t>	Now</a:t>
            </a:r>
          </a:p>
          <a:p>
            <a:pPr>
              <a:buNone/>
            </a:pPr>
            <a:r>
              <a:rPr lang="en-US" dirty="0"/>
              <a:t>		</a:t>
            </a:r>
            <a:r>
              <a:rPr lang="en-US" dirty="0" err="1">
                <a:solidFill>
                  <a:srgbClr val="C00000"/>
                </a:solidFill>
              </a:rPr>
              <a:t>m.n</a:t>
            </a:r>
            <a:r>
              <a:rPr lang="en-US" dirty="0">
                <a:solidFill>
                  <a:srgbClr val="C00000"/>
                </a:solidFill>
              </a:rPr>
              <a:t> = 2</a:t>
            </a:r>
            <a:r>
              <a:rPr lang="en-US" i="1" dirty="0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 . (2</a:t>
            </a:r>
            <a:r>
              <a:rPr lang="en-US" i="1" dirty="0">
                <a:solidFill>
                  <a:srgbClr val="C00000"/>
                </a:solidFill>
              </a:rPr>
              <a:t>l</a:t>
            </a:r>
            <a:r>
              <a:rPr lang="en-US" dirty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r>
              <a:rPr lang="en-US" dirty="0"/>
              <a:t>		      = </a:t>
            </a:r>
            <a:r>
              <a:rPr lang="en-US" dirty="0">
                <a:solidFill>
                  <a:srgbClr val="C00000"/>
                </a:solidFill>
              </a:rPr>
              <a:t>2.</a:t>
            </a:r>
            <a:r>
              <a:rPr lang="en-US" i="1" dirty="0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 (2</a:t>
            </a:r>
            <a:r>
              <a:rPr lang="en-US" i="1" dirty="0">
                <a:solidFill>
                  <a:srgbClr val="C00000"/>
                </a:solidFill>
              </a:rPr>
              <a:t>l</a:t>
            </a:r>
            <a:r>
              <a:rPr lang="en-US" dirty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r>
              <a:rPr lang="en-US" dirty="0"/>
              <a:t>		      = </a:t>
            </a:r>
            <a:r>
              <a:rPr lang="en-US" dirty="0">
                <a:solidFill>
                  <a:srgbClr val="C00000"/>
                </a:solidFill>
              </a:rPr>
              <a:t>2.r</a:t>
            </a:r>
            <a:r>
              <a:rPr lang="en-US" dirty="0"/>
              <a:t>	where r = </a:t>
            </a:r>
            <a:r>
              <a:rPr lang="en-US" i="1" dirty="0"/>
              <a:t>k</a:t>
            </a:r>
            <a:r>
              <a:rPr lang="en-US" dirty="0"/>
              <a:t>(2</a:t>
            </a:r>
            <a:r>
              <a:rPr lang="en-US" i="1" dirty="0"/>
              <a:t>l</a:t>
            </a:r>
            <a:r>
              <a:rPr lang="en-US" dirty="0"/>
              <a:t> + 1) is an integer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Hence </a:t>
            </a:r>
            <a:r>
              <a:rPr lang="en-US" dirty="0" err="1">
                <a:solidFill>
                  <a:srgbClr val="C00000"/>
                </a:solidFill>
              </a:rPr>
              <a:t>m.n</a:t>
            </a:r>
            <a:r>
              <a:rPr lang="en-US" dirty="0">
                <a:solidFill>
                  <a:srgbClr val="C00000"/>
                </a:solidFill>
              </a:rPr>
              <a:t> is even</a:t>
            </a:r>
            <a:r>
              <a:rPr lang="en-US" dirty="0"/>
              <a:t>.		(Proved)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D80CE4-ED38-4A70-8CF5-31A2E20B1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94" b="13016"/>
          <a:stretch/>
        </p:blipFill>
        <p:spPr>
          <a:xfrm>
            <a:off x="2155888" y="1867087"/>
            <a:ext cx="7877175" cy="47468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033369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7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1398494"/>
            <a:ext cx="9829800" cy="726141"/>
          </a:xfrm>
        </p:spPr>
        <p:txBody>
          <a:bodyPr>
            <a:noAutofit/>
          </a:bodyPr>
          <a:lstStyle/>
          <a:p>
            <a:r>
              <a:rPr lang="en-US" sz="2400" dirty="0"/>
              <a:t>Prove that the square of an even integer is even.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8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36904" y="1421746"/>
            <a:ext cx="9829800" cy="4802188"/>
          </a:xfrm>
        </p:spPr>
        <p:txBody>
          <a:bodyPr>
            <a:noAutofit/>
          </a:bodyPr>
          <a:lstStyle/>
          <a:p>
            <a:r>
              <a:rPr lang="en-US" sz="2400" dirty="0"/>
              <a:t>Prove that if n is an odd integer, then n</a:t>
            </a:r>
            <a:r>
              <a:rPr lang="en-US" sz="2400" baseline="30000" dirty="0"/>
              <a:t>3</a:t>
            </a:r>
            <a:r>
              <a:rPr lang="en-US" sz="2400" dirty="0"/>
              <a:t> + n is even.</a:t>
            </a:r>
          </a:p>
          <a:p>
            <a:r>
              <a:rPr lang="en-US" sz="2400" b="1" u="sng" dirty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sz="2400" b="1" dirty="0"/>
              <a:t>	</a:t>
            </a:r>
            <a:r>
              <a:rPr lang="en-US" sz="2400" dirty="0"/>
              <a:t>Let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be an </a:t>
            </a:r>
            <a:r>
              <a:rPr lang="en-US" sz="2400" dirty="0">
                <a:solidFill>
                  <a:srgbClr val="C00000"/>
                </a:solidFill>
              </a:rPr>
              <a:t>odd integer</a:t>
            </a:r>
            <a:r>
              <a:rPr lang="en-US" sz="2400" dirty="0"/>
              <a:t>, </a:t>
            </a:r>
          </a:p>
          <a:p>
            <a:pPr>
              <a:buNone/>
            </a:pPr>
            <a:r>
              <a:rPr lang="en-US" sz="2400" dirty="0"/>
              <a:t>	then 			</a:t>
            </a:r>
            <a:r>
              <a:rPr lang="en-US" sz="2400" dirty="0">
                <a:solidFill>
                  <a:srgbClr val="C00000"/>
                </a:solidFill>
              </a:rPr>
              <a:t>n = 2k + 1</a:t>
            </a:r>
            <a:r>
              <a:rPr lang="en-US" sz="2400" dirty="0"/>
              <a:t> for some k </a:t>
            </a:r>
            <a:r>
              <a:rPr lang="en-US" sz="2400" dirty="0">
                <a:sym typeface="Symbol"/>
              </a:rPr>
              <a:t></a:t>
            </a:r>
            <a:r>
              <a:rPr lang="en-US" sz="2400" dirty="0"/>
              <a:t>Z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pt-BR" sz="2400" dirty="0"/>
              <a:t>Now,		 	  </a:t>
            </a:r>
            <a:r>
              <a:rPr lang="pt-BR" sz="2400" dirty="0">
                <a:solidFill>
                  <a:srgbClr val="C00000"/>
                </a:solidFill>
              </a:rPr>
              <a:t>n</a:t>
            </a:r>
            <a:r>
              <a:rPr lang="pt-BR" sz="2400" baseline="30000" dirty="0">
                <a:solidFill>
                  <a:srgbClr val="C00000"/>
                </a:solidFill>
              </a:rPr>
              <a:t>3</a:t>
            </a:r>
            <a:r>
              <a:rPr lang="pt-BR" sz="2400" dirty="0">
                <a:solidFill>
                  <a:srgbClr val="C00000"/>
                </a:solidFill>
              </a:rPr>
              <a:t> + n = n (n</a:t>
            </a:r>
            <a:r>
              <a:rPr lang="pt-BR" sz="2400" baseline="30000" dirty="0">
                <a:solidFill>
                  <a:srgbClr val="C00000"/>
                </a:solidFill>
              </a:rPr>
              <a:t>2</a:t>
            </a:r>
            <a:r>
              <a:rPr lang="pt-BR" sz="2400" dirty="0">
                <a:solidFill>
                  <a:srgbClr val="C00000"/>
                </a:solidFill>
              </a:rPr>
              <a:t> + 1)</a:t>
            </a:r>
          </a:p>
          <a:p>
            <a:pPr>
              <a:buNone/>
            </a:pPr>
            <a:r>
              <a:rPr lang="pt-BR" sz="2400" dirty="0"/>
              <a:t>	       		 		= </a:t>
            </a:r>
            <a:r>
              <a:rPr lang="pt-BR" sz="2400" dirty="0">
                <a:solidFill>
                  <a:srgbClr val="C00000"/>
                </a:solidFill>
              </a:rPr>
              <a:t>(2k + 1) ((2k+1)</a:t>
            </a:r>
            <a:r>
              <a:rPr lang="pt-BR" sz="2400" baseline="30000" dirty="0">
                <a:solidFill>
                  <a:srgbClr val="C00000"/>
                </a:solidFill>
              </a:rPr>
              <a:t>2</a:t>
            </a:r>
            <a:r>
              <a:rPr lang="pt-BR" sz="2400" dirty="0">
                <a:solidFill>
                  <a:srgbClr val="C00000"/>
                </a:solidFill>
              </a:rPr>
              <a:t> + 1)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sz="2400" dirty="0"/>
              <a:t>          	    	 		= </a:t>
            </a:r>
            <a:r>
              <a:rPr lang="pt-BR" sz="2400" dirty="0">
                <a:solidFill>
                  <a:srgbClr val="C00000"/>
                </a:solidFill>
              </a:rPr>
              <a:t>(2k + 1) (4k</a:t>
            </a:r>
            <a:r>
              <a:rPr lang="pt-BR" sz="2400" baseline="30000" dirty="0">
                <a:solidFill>
                  <a:srgbClr val="C00000"/>
                </a:solidFill>
              </a:rPr>
              <a:t>2</a:t>
            </a:r>
            <a:r>
              <a:rPr lang="pt-BR" sz="2400" dirty="0">
                <a:solidFill>
                  <a:srgbClr val="C00000"/>
                </a:solidFill>
              </a:rPr>
              <a:t> + 4k + 1 + 1)</a:t>
            </a:r>
            <a:r>
              <a:rPr lang="en-US" sz="2400" dirty="0"/>
              <a:t> 							= </a:t>
            </a:r>
            <a:r>
              <a:rPr lang="en-US" sz="2400" dirty="0">
                <a:solidFill>
                  <a:srgbClr val="C00000"/>
                </a:solidFill>
              </a:rPr>
              <a:t>(2k + 1) (4k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+ 4k + 2)</a:t>
            </a:r>
          </a:p>
          <a:p>
            <a:pPr>
              <a:buNone/>
            </a:pPr>
            <a:r>
              <a:rPr lang="en-US" sz="2400" dirty="0"/>
              <a:t>			       		= </a:t>
            </a:r>
            <a:r>
              <a:rPr lang="en-US" sz="2400" dirty="0">
                <a:solidFill>
                  <a:srgbClr val="C00000"/>
                </a:solidFill>
              </a:rPr>
              <a:t>(2k + 1) 2.(2k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+ 2k + 1)</a:t>
            </a:r>
          </a:p>
          <a:p>
            <a:pPr>
              <a:buNone/>
            </a:pPr>
            <a:r>
              <a:rPr lang="en-US" sz="2400" dirty="0"/>
              <a:t>					= </a:t>
            </a:r>
            <a:r>
              <a:rPr lang="en-US" sz="2400" dirty="0">
                <a:solidFill>
                  <a:srgbClr val="C00000"/>
                </a:solidFill>
              </a:rPr>
              <a:t>2.(2k + 1) (2k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 + 2k + 1)</a:t>
            </a:r>
            <a:r>
              <a:rPr lang="en-US" sz="2400" dirty="0"/>
              <a:t>	 k </a:t>
            </a:r>
            <a:r>
              <a:rPr lang="en-US" sz="2400" dirty="0">
                <a:sym typeface="Symbol"/>
              </a:rPr>
              <a:t></a:t>
            </a:r>
            <a:r>
              <a:rPr lang="en-US" sz="2400" dirty="0"/>
              <a:t>Z</a:t>
            </a:r>
          </a:p>
          <a:p>
            <a:pPr>
              <a:buNone/>
            </a:pPr>
            <a:r>
              <a:rPr lang="en-US" sz="2400" dirty="0"/>
              <a:t>					= </a:t>
            </a:r>
            <a:r>
              <a:rPr lang="en-US" sz="2400" dirty="0">
                <a:solidFill>
                  <a:srgbClr val="C00000"/>
                </a:solidFill>
              </a:rPr>
              <a:t>an even integer</a:t>
            </a:r>
            <a:r>
              <a:rPr lang="en-US" sz="2400" dirty="0"/>
              <a:t>			</a:t>
            </a:r>
          </a:p>
          <a:p>
            <a:pPr>
              <a:buNone/>
            </a:pPr>
            <a:r>
              <a:rPr lang="en-US" sz="2400" dirty="0">
                <a:solidFill>
                  <a:srgbClr val="C00000"/>
                </a:solidFill>
              </a:rPr>
              <a:t>			</a:t>
            </a:r>
            <a:r>
              <a:rPr lang="en-US" sz="2400" dirty="0">
                <a:solidFill>
                  <a:srgbClr val="002060"/>
                </a:solidFill>
              </a:rPr>
              <a:t>Hence Proved</a:t>
            </a:r>
          </a:p>
          <a:p>
            <a:pPr>
              <a:buNone/>
            </a:pPr>
            <a:r>
              <a:rPr lang="pt-BR" sz="2400" dirty="0"/>
              <a:t>			</a:t>
            </a: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6"/>
            <a:ext cx="10515600" cy="818216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9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225296" y="1396440"/>
            <a:ext cx="9829800" cy="530953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Prove that, if the sum of any two integers is even, then so is their difference.</a:t>
            </a:r>
          </a:p>
          <a:p>
            <a:r>
              <a:rPr lang="en-US" b="1" u="sng" dirty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/>
              <a:t>	Suppose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integers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/>
              <a:t>So that </a:t>
            </a:r>
            <a:r>
              <a:rPr lang="en-US" dirty="0">
                <a:solidFill>
                  <a:srgbClr val="C00000"/>
                </a:solidFill>
              </a:rPr>
              <a:t>m + 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even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	Then by definition of even numbers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m + n = 2k</a:t>
            </a:r>
            <a:r>
              <a:rPr lang="en-US" dirty="0"/>
              <a:t> 		for some integer k</a:t>
            </a:r>
          </a:p>
          <a:p>
            <a:pPr>
              <a:buNone/>
            </a:pPr>
            <a:r>
              <a:rPr lang="en-US" dirty="0"/>
              <a:t>   	        </a:t>
            </a:r>
            <a:r>
              <a:rPr lang="en-US" dirty="0">
                <a:sym typeface="Symbol"/>
              </a:rPr>
              <a:t></a:t>
            </a:r>
            <a:r>
              <a:rPr lang="pt-BR" dirty="0"/>
              <a:t>    </a:t>
            </a:r>
            <a:r>
              <a:rPr lang="pt-BR" dirty="0">
                <a:solidFill>
                  <a:srgbClr val="C00000"/>
                </a:solidFill>
              </a:rPr>
              <a:t>m = 2k - n</a:t>
            </a:r>
            <a:r>
              <a:rPr lang="pt-BR" dirty="0"/>
              <a:t>  ……………….(1)</a:t>
            </a:r>
          </a:p>
          <a:p>
            <a:pPr>
              <a:buNone/>
            </a:pPr>
            <a:r>
              <a:rPr lang="pt-BR" dirty="0"/>
              <a:t>	Now, </a:t>
            </a:r>
          </a:p>
          <a:p>
            <a:pPr>
              <a:buNone/>
            </a:pPr>
            <a:r>
              <a:rPr lang="pt-BR" dirty="0"/>
              <a:t>			</a:t>
            </a:r>
            <a:r>
              <a:rPr lang="pt-BR" dirty="0">
                <a:solidFill>
                  <a:srgbClr val="C00000"/>
                </a:solidFill>
              </a:rPr>
              <a:t>m - n	= (2k - n) - n</a:t>
            </a:r>
            <a:r>
              <a:rPr lang="pt-BR" dirty="0"/>
              <a:t>	      using (1)</a:t>
            </a:r>
          </a:p>
          <a:p>
            <a:pPr>
              <a:buNone/>
            </a:pPr>
            <a:r>
              <a:rPr lang="pt-BR" dirty="0"/>
              <a:t>				</a:t>
            </a:r>
            <a:r>
              <a:rPr lang="en-US" dirty="0"/>
              <a:t>= </a:t>
            </a:r>
            <a:r>
              <a:rPr lang="en-US" dirty="0">
                <a:solidFill>
                  <a:srgbClr val="C00000"/>
                </a:solidFill>
              </a:rPr>
              <a:t>2k - 2n</a:t>
            </a:r>
          </a:p>
          <a:p>
            <a:pPr>
              <a:buNone/>
            </a:pPr>
            <a:r>
              <a:rPr lang="en-US" dirty="0"/>
              <a:t>				= </a:t>
            </a:r>
            <a:r>
              <a:rPr lang="en-US" dirty="0">
                <a:solidFill>
                  <a:srgbClr val="C00000"/>
                </a:solidFill>
              </a:rPr>
              <a:t>2(k - n)</a:t>
            </a:r>
            <a:r>
              <a:rPr lang="en-US" dirty="0"/>
              <a:t> = </a:t>
            </a:r>
            <a:r>
              <a:rPr lang="en-US" dirty="0">
                <a:solidFill>
                  <a:srgbClr val="C00000"/>
                </a:solidFill>
              </a:rPr>
              <a:t>2r</a:t>
            </a:r>
            <a:r>
              <a:rPr lang="en-US" dirty="0"/>
              <a:t>      </a:t>
            </a:r>
          </a:p>
          <a:p>
            <a:pPr>
              <a:buNone/>
            </a:pPr>
            <a:r>
              <a:rPr lang="en-US" dirty="0"/>
              <a:t>	where, </a:t>
            </a:r>
          </a:p>
          <a:p>
            <a:pPr>
              <a:buNone/>
            </a:pPr>
            <a:r>
              <a:rPr lang="en-US" dirty="0"/>
              <a:t>				r = k - n is an integer</a:t>
            </a:r>
          </a:p>
          <a:p>
            <a:pPr>
              <a:buNone/>
            </a:pPr>
            <a:r>
              <a:rPr lang="en-US" dirty="0"/>
              <a:t>	Hence </a:t>
            </a:r>
            <a:r>
              <a:rPr lang="en-US" dirty="0">
                <a:solidFill>
                  <a:srgbClr val="C00000"/>
                </a:solidFill>
              </a:rPr>
              <a:t>m - 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even</a:t>
            </a:r>
            <a:r>
              <a:rPr lang="en-US" dirty="0"/>
              <a:t>.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624" y="59360"/>
            <a:ext cx="6214782" cy="99103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000" b="1" u="sng" dirty="0">
                <a:solidFill>
                  <a:srgbClr val="0070C0"/>
                </a:solidFill>
              </a:rPr>
              <a:t>Example 10</a:t>
            </a:r>
            <a:endParaRPr lang="en-US" sz="4000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050396"/>
            <a:ext cx="10515600" cy="991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Give a direct proof of the statement:</a:t>
            </a:r>
          </a:p>
          <a:p>
            <a:pPr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“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 and m are odd integers then </a:t>
            </a:r>
            <a:r>
              <a:rPr lang="en-US" sz="2400" dirty="0" err="1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n+m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even integer.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ECEC8-622B-4B8A-A127-4A7EAAC2EE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794" b="13016"/>
          <a:stretch/>
        </p:blipFill>
        <p:spPr>
          <a:xfrm>
            <a:off x="2155888" y="1867087"/>
            <a:ext cx="7877175" cy="474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96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23050" y="1208615"/>
            <a:ext cx="9300047" cy="79547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that “</a:t>
            </a:r>
            <a:r>
              <a:rPr lang="en-US" sz="2400" dirty="0">
                <a:solidFill>
                  <a:srgbClr val="00206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0!=1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”</a:t>
            </a:r>
          </a:p>
          <a:p>
            <a:pPr marL="0" lvl="0" indent="0"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87D83-20B8-9557-A3DA-46075D4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106" y="413138"/>
            <a:ext cx="6369424" cy="79547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000" b="1" u="sng" dirty="0">
                <a:solidFill>
                  <a:srgbClr val="0070C0"/>
                </a:solidFill>
              </a:rPr>
              <a:t>Example 11</a:t>
            </a:r>
            <a:endParaRPr lang="en-US" sz="4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FCF095-6153-E782-C160-1A660702D10D}"/>
                  </a:ext>
                </a:extLst>
              </p:cNvPr>
              <p:cNvSpPr txBox="1"/>
              <p:nvPr/>
            </p:nvSpPr>
            <p:spPr>
              <a:xfrm>
                <a:off x="1976718" y="2004092"/>
                <a:ext cx="8392232" cy="3431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:r>
                  <a:rPr lang="en-US" sz="2800" b="1" dirty="0">
                    <a:solidFill>
                      <a:srgbClr val="B3159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Proof:</a:t>
                </a:r>
              </a:p>
              <a:p>
                <a:pPr marL="0" lv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As per definition of a factorial…</a:t>
                </a:r>
              </a:p>
              <a:p>
                <a:pPr marL="0" lvl="0" indent="0">
                  <a:buNone/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n! 	= n.(n-1).(n-2).(n-3)….1</a:t>
                </a:r>
              </a:p>
              <a:p>
                <a:pPr marL="0" lvl="0" indent="0">
                  <a:buNone/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= n . ((n-1).(n-2).(n-3)….1)</a:t>
                </a:r>
              </a:p>
              <a:p>
                <a:pPr marL="0" lvl="0" indent="0">
                  <a:buNone/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n!	= n . (n-1)!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2400" b="0" i="1" smtClean="0">
                        <a:solidFill>
                          <a:srgbClr val="B3159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  <m:r>
                      <a:rPr lang="en-US" sz="2400" i="1" smtClean="0">
                        <a:solidFill>
                          <a:srgbClr val="B3159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B3159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	… 1</a:t>
                </a:r>
              </a:p>
              <a:p>
                <a:pPr marL="0" lvl="0" indent="0">
                  <a:buNone/>
                </a:pPr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Putting n = 1 in equation 1, we get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B3159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0!</m:t>
                    </m:r>
                    <m:r>
                      <a:rPr lang="en-US" sz="2400" i="1" smtClean="0">
                        <a:solidFill>
                          <a:srgbClr val="B3159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1!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B3159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Hence proved</a:t>
                </a:r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FCF095-6153-E782-C160-1A660702D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718" y="2004092"/>
                <a:ext cx="8392232" cy="3431773"/>
              </a:xfrm>
              <a:prstGeom prst="rect">
                <a:avLst/>
              </a:prstGeom>
              <a:blipFill>
                <a:blip r:embed="rId2"/>
                <a:stretch>
                  <a:fillRect l="-1452" t="-1954" b="-3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334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12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752601" y="1690688"/>
            <a:ext cx="10107706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Prove that the sum of any two rational numbers is rational.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dirty="0"/>
              <a:t>	Suppose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rational numbers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Then by definition of rational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		and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for some integers a, b, c, d with b</a:t>
            </a:r>
            <a:r>
              <a:rPr lang="en-US" dirty="0">
                <a:sym typeface="Symbol"/>
              </a:rPr>
              <a:t></a:t>
            </a:r>
            <a:r>
              <a:rPr lang="en-US" dirty="0"/>
              <a:t>0 and d</a:t>
            </a:r>
            <a:r>
              <a:rPr lang="en-US" dirty="0">
                <a:sym typeface="Symbol"/>
              </a:rPr>
              <a:t></a:t>
            </a:r>
            <a:r>
              <a:rPr lang="en-US" dirty="0"/>
              <a:t>0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</a:t>
            </a:r>
          </a:p>
        </p:txBody>
      </p:sp>
      <p:graphicFrame>
        <p:nvGraphicFramePr>
          <p:cNvPr id="13824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905727"/>
              </p:ext>
            </p:extLst>
          </p:nvPr>
        </p:nvGraphicFramePr>
        <p:xfrm>
          <a:off x="3601774" y="4023519"/>
          <a:ext cx="838200" cy="67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3" imgW="380880" imgH="393480" progId="Equation.3">
                  <p:embed/>
                </p:oleObj>
              </mc:Choice>
              <mc:Fallback>
                <p:oleObj name="Equation" r:id="rId3" imgW="380880" imgH="393480" progId="Equation.3">
                  <p:embed/>
                  <p:pic>
                    <p:nvPicPr>
                      <p:cNvPr id="138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1774" y="4023519"/>
                        <a:ext cx="838200" cy="674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059497"/>
              </p:ext>
            </p:extLst>
          </p:nvPr>
        </p:nvGraphicFramePr>
        <p:xfrm>
          <a:off x="5541633" y="4023519"/>
          <a:ext cx="787856" cy="72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5" imgW="380880" imgH="393480" progId="Equation.3">
                  <p:embed/>
                </p:oleObj>
              </mc:Choice>
              <mc:Fallback>
                <p:oleObj name="Equation" r:id="rId5" imgW="380880" imgH="393480" progId="Equation.3">
                  <p:embed/>
                  <p:pic>
                    <p:nvPicPr>
                      <p:cNvPr id="1382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1633" y="4023519"/>
                        <a:ext cx="787856" cy="723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Now,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where,</a:t>
            </a:r>
          </a:p>
          <a:p>
            <a:pPr>
              <a:buNone/>
            </a:pPr>
            <a:r>
              <a:rPr lang="en-US" dirty="0"/>
              <a:t>			 p = ad + </a:t>
            </a:r>
            <a:r>
              <a:rPr lang="en-US" dirty="0" err="1"/>
              <a:t>bc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 </a:t>
            </a:r>
            <a:r>
              <a:rPr lang="en-US" dirty="0"/>
              <a:t>Z   and  q = </a:t>
            </a:r>
            <a:r>
              <a:rPr lang="en-US" dirty="0" err="1"/>
              <a:t>bd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</a:t>
            </a:r>
            <a:r>
              <a:rPr lang="en-US" dirty="0"/>
              <a:t>Z</a:t>
            </a:r>
          </a:p>
          <a:p>
            <a:pPr>
              <a:buNone/>
            </a:pPr>
            <a:r>
              <a:rPr lang="en-US" dirty="0"/>
              <a:t>			 and q </a:t>
            </a:r>
            <a:r>
              <a:rPr lang="en-US" dirty="0">
                <a:sym typeface="Symbol"/>
              </a:rPr>
              <a:t> </a:t>
            </a:r>
            <a:r>
              <a:rPr lang="en-US" dirty="0"/>
              <a:t>0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Hence </a:t>
            </a:r>
            <a:r>
              <a:rPr lang="en-US" dirty="0">
                <a:solidFill>
                  <a:srgbClr val="C00000"/>
                </a:solidFill>
              </a:rPr>
              <a:t>r + s is rational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39266" name="Object 2"/>
          <p:cNvGraphicFramePr>
            <a:graphicFrameLocks noChangeAspect="1"/>
          </p:cNvGraphicFramePr>
          <p:nvPr/>
        </p:nvGraphicFramePr>
        <p:xfrm>
          <a:off x="4152899" y="1295400"/>
          <a:ext cx="280021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Equation" r:id="rId3" imgW="1104840" imgH="1257120" progId="Equation.3">
                  <p:embed/>
                </p:oleObj>
              </mc:Choice>
              <mc:Fallback>
                <p:oleObj name="Equation" r:id="rId3" imgW="1104840" imgH="1257120" progId="Equation.3">
                  <p:embed/>
                  <p:pic>
                    <p:nvPicPr>
                      <p:cNvPr id="1392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899" y="1295400"/>
                        <a:ext cx="280021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6"/>
            <a:ext cx="10515600" cy="993028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13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58906" y="1358154"/>
            <a:ext cx="10694894" cy="4966446"/>
          </a:xfrm>
        </p:spPr>
        <p:txBody>
          <a:bodyPr>
            <a:normAutofit/>
          </a:bodyPr>
          <a:lstStyle/>
          <a:p>
            <a:r>
              <a:rPr lang="en-US" sz="2400" dirty="0"/>
              <a:t>Given any two distinct rational numbers r and s with r &lt; s. Prove that there is a rational number x such that r &lt; x &lt; s.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b="1" u="sng" dirty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sz="2400" b="1" dirty="0"/>
              <a:t>	</a:t>
            </a:r>
            <a:r>
              <a:rPr lang="en-US" sz="2400" dirty="0"/>
              <a:t> Given </a:t>
            </a:r>
            <a:r>
              <a:rPr lang="en-US" sz="2400" dirty="0">
                <a:solidFill>
                  <a:srgbClr val="C00000"/>
                </a:solidFill>
              </a:rPr>
              <a:t>two distinct</a:t>
            </a:r>
            <a:r>
              <a:rPr lang="en-US" sz="2400" dirty="0"/>
              <a:t> rational numbers </a:t>
            </a:r>
            <a:r>
              <a:rPr lang="en-US" sz="2400" dirty="0">
                <a:solidFill>
                  <a:srgbClr val="C00000"/>
                </a:solidFill>
              </a:rPr>
              <a:t>r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s</a:t>
            </a:r>
            <a:r>
              <a:rPr lang="en-US" sz="2400" dirty="0"/>
              <a:t> such that </a:t>
            </a:r>
          </a:p>
          <a:p>
            <a:pPr>
              <a:buNone/>
            </a:pPr>
            <a:r>
              <a:rPr lang="en-US" sz="2400" dirty="0"/>
              <a:t>	  		</a:t>
            </a:r>
            <a:r>
              <a:rPr lang="en-US" sz="2400" dirty="0">
                <a:solidFill>
                  <a:srgbClr val="C00000"/>
                </a:solidFill>
              </a:rPr>
              <a:t>r &lt; s</a:t>
            </a:r>
            <a:r>
              <a:rPr lang="en-US" sz="2400" dirty="0"/>
              <a:t>             ………………….(1)</a:t>
            </a:r>
          </a:p>
          <a:p>
            <a:pPr>
              <a:buNone/>
            </a:pPr>
            <a:r>
              <a:rPr lang="en-US" sz="2400" dirty="0"/>
              <a:t>	 Adding </a:t>
            </a:r>
            <a:r>
              <a:rPr lang="en-US" sz="2400" dirty="0">
                <a:solidFill>
                  <a:srgbClr val="C00000"/>
                </a:solidFill>
              </a:rPr>
              <a:t>r</a:t>
            </a:r>
            <a:r>
              <a:rPr lang="en-US" sz="2400" dirty="0"/>
              <a:t> to both sides of (1), we get</a:t>
            </a:r>
          </a:p>
          <a:p>
            <a:pPr>
              <a:buNone/>
            </a:pPr>
            <a:r>
              <a:rPr lang="en-US" sz="2400" dirty="0"/>
              <a:t>			 </a:t>
            </a:r>
            <a:r>
              <a:rPr lang="en-US" sz="2400" dirty="0">
                <a:solidFill>
                  <a:srgbClr val="C00000"/>
                </a:solidFill>
              </a:rPr>
              <a:t>r + r &lt; r + s</a:t>
            </a:r>
          </a:p>
          <a:p>
            <a:pPr>
              <a:buNone/>
            </a:pPr>
            <a:r>
              <a:rPr lang="en-US" sz="2400" dirty="0"/>
              <a:t>			     </a:t>
            </a:r>
            <a:r>
              <a:rPr lang="en-US" sz="2400" dirty="0">
                <a:solidFill>
                  <a:srgbClr val="C00000"/>
                </a:solidFill>
              </a:rPr>
              <a:t>2r &lt; r + s</a:t>
            </a:r>
          </a:p>
          <a:p>
            <a:pPr>
              <a:buNone/>
            </a:pPr>
            <a:r>
              <a:rPr lang="en-US" sz="2400" dirty="0"/>
              <a:t>          </a:t>
            </a:r>
            <a:r>
              <a:rPr lang="en-US" sz="2400" dirty="0">
                <a:solidFill>
                  <a:srgbClr val="C00000"/>
                </a:solidFill>
                <a:sym typeface="Symbol"/>
              </a:rPr>
              <a:t></a:t>
            </a:r>
            <a:r>
              <a:rPr lang="en-US" sz="2400" dirty="0"/>
              <a:t> 				………….(2)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  <p:graphicFrame>
        <p:nvGraphicFramePr>
          <p:cNvPr id="14029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37378"/>
              </p:ext>
            </p:extLst>
          </p:nvPr>
        </p:nvGraphicFramePr>
        <p:xfrm>
          <a:off x="2970194" y="4791657"/>
          <a:ext cx="1320801" cy="708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Equation" r:id="rId3" imgW="558720" imgH="393480" progId="Equation.3">
                  <p:embed/>
                </p:oleObj>
              </mc:Choice>
              <mc:Fallback>
                <p:oleObj name="Equation" r:id="rId3" imgW="558720" imgH="393480" progId="Equation.3">
                  <p:embed/>
                  <p:pic>
                    <p:nvPicPr>
                      <p:cNvPr id="14029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194" y="4791657"/>
                        <a:ext cx="1320801" cy="7081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672353"/>
            <a:ext cx="10828648" cy="509848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Next adding </a:t>
            </a:r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dirty="0"/>
              <a:t> to both sides of (1), we get</a:t>
            </a:r>
          </a:p>
          <a:p>
            <a:pPr>
              <a:buNone/>
            </a:pPr>
            <a:r>
              <a:rPr lang="en-US" dirty="0"/>
              <a:t>				 </a:t>
            </a:r>
            <a:r>
              <a:rPr lang="en-US" dirty="0">
                <a:solidFill>
                  <a:srgbClr val="C00000"/>
                </a:solidFill>
              </a:rPr>
              <a:t>r + s &lt; s + s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ym typeface="Symbol"/>
              </a:rPr>
              <a:t> </a:t>
            </a:r>
            <a:r>
              <a:rPr lang="en-US" dirty="0"/>
              <a:t>        </a:t>
            </a:r>
            <a:r>
              <a:rPr lang="en-US" dirty="0">
                <a:solidFill>
                  <a:srgbClr val="C00000"/>
                </a:solidFill>
              </a:rPr>
              <a:t>r + s &lt; 2s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ym typeface="Symbol"/>
              </a:rPr>
              <a:t> 		 </a:t>
            </a:r>
            <a:r>
              <a:rPr lang="en-US" dirty="0"/>
              <a:t>			…………………(3)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Combining (2) and (3), we may write</a:t>
            </a:r>
          </a:p>
          <a:p>
            <a:pPr>
              <a:buNone/>
            </a:pPr>
            <a:r>
              <a:rPr lang="en-US" dirty="0"/>
              <a:t>					 	..………………..(4)</a:t>
            </a: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Since the </a:t>
            </a:r>
            <a:r>
              <a:rPr lang="en-US" dirty="0">
                <a:solidFill>
                  <a:srgbClr val="C00000"/>
                </a:solidFill>
              </a:rPr>
              <a:t>sum of two rational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rational</a:t>
            </a:r>
            <a:r>
              <a:rPr lang="en-US" dirty="0"/>
              <a:t>, </a:t>
            </a:r>
          </a:p>
          <a:p>
            <a:pPr>
              <a:buNone/>
            </a:pPr>
            <a:r>
              <a:rPr lang="en-US" dirty="0"/>
              <a:t>	Therefore  </a:t>
            </a:r>
            <a:r>
              <a:rPr lang="en-US" dirty="0">
                <a:solidFill>
                  <a:srgbClr val="C00000"/>
                </a:solidFill>
              </a:rPr>
              <a:t>r + s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rational</a:t>
            </a:r>
            <a:r>
              <a:rPr lang="en-US" dirty="0"/>
              <a:t>. </a:t>
            </a:r>
          </a:p>
          <a:p>
            <a:pPr>
              <a:buNone/>
            </a:pPr>
            <a:r>
              <a:rPr lang="en-US" dirty="0"/>
              <a:t>	Also the quotient of a rational by a non-zero rational, is rational,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1413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6210352"/>
              </p:ext>
            </p:extLst>
          </p:nvPr>
        </p:nvGraphicFramePr>
        <p:xfrm>
          <a:off x="4310015" y="1903115"/>
          <a:ext cx="1106129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2" r:id="rId3" imgW="571320" imgH="393480" progId="">
                  <p:embed/>
                </p:oleObj>
              </mc:Choice>
              <mc:Fallback>
                <p:oleObj r:id="rId3" imgW="571320" imgH="393480" progId="">
                  <p:embed/>
                  <p:pic>
                    <p:nvPicPr>
                      <p:cNvPr id="1413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015" y="1903115"/>
                        <a:ext cx="1106129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9179444"/>
              </p:ext>
            </p:extLst>
          </p:nvPr>
        </p:nvGraphicFramePr>
        <p:xfrm>
          <a:off x="3706906" y="3221595"/>
          <a:ext cx="1981200" cy="815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3"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413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906" y="3221595"/>
                        <a:ext cx="1981200" cy="8150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1911096"/>
            <a:ext cx="10452130" cy="3859742"/>
          </a:xfrm>
        </p:spPr>
        <p:txBody>
          <a:bodyPr/>
          <a:lstStyle/>
          <a:p>
            <a:pPr>
              <a:buNone/>
            </a:pPr>
            <a:r>
              <a:rPr lang="en-US" dirty="0"/>
              <a:t>Therefore	     is </a:t>
            </a:r>
            <a:r>
              <a:rPr lang="en-US" dirty="0">
                <a:solidFill>
                  <a:srgbClr val="C00000"/>
                </a:solidFill>
              </a:rPr>
              <a:t>rational</a:t>
            </a:r>
            <a:r>
              <a:rPr lang="en-US" dirty="0"/>
              <a:t> and by (4)  it lies between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&amp; </a:t>
            </a:r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Hence, we have found a rational number</a:t>
            </a:r>
          </a:p>
          <a:p>
            <a:pPr>
              <a:buNone/>
            </a:pPr>
            <a:r>
              <a:rPr lang="en-US" dirty="0"/>
              <a:t>			such that </a:t>
            </a:r>
            <a:r>
              <a:rPr lang="en-US" dirty="0">
                <a:solidFill>
                  <a:srgbClr val="C00000"/>
                </a:solidFill>
              </a:rPr>
              <a:t>r &lt; x &lt; s</a:t>
            </a:r>
            <a:r>
              <a:rPr lang="en-US" dirty="0"/>
              <a:t>.	 (proved)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14233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105031"/>
              </p:ext>
            </p:extLst>
          </p:nvPr>
        </p:nvGraphicFramePr>
        <p:xfrm>
          <a:off x="2805953" y="1911096"/>
          <a:ext cx="685800" cy="699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r:id="rId3" imgW="342720" imgH="393480" progId="">
                  <p:embed/>
                </p:oleObj>
              </mc:Choice>
              <mc:Fallback>
                <p:oleObj r:id="rId3" imgW="342720" imgH="393480" progId="">
                  <p:embed/>
                  <p:pic>
                    <p:nvPicPr>
                      <p:cNvPr id="14233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953" y="1911096"/>
                        <a:ext cx="685800" cy="6999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14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Prove that for all integers a, b and c, if </a:t>
            </a:r>
            <a:r>
              <a:rPr lang="en-US" dirty="0" err="1"/>
              <a:t>a|b</a:t>
            </a:r>
            <a:r>
              <a:rPr lang="en-US" dirty="0"/>
              <a:t> and </a:t>
            </a:r>
            <a:r>
              <a:rPr lang="en-US" dirty="0" err="1"/>
              <a:t>b|c</a:t>
            </a:r>
            <a:r>
              <a:rPr lang="en-US" dirty="0"/>
              <a:t> then </a:t>
            </a:r>
            <a:r>
              <a:rPr lang="en-US" dirty="0" err="1"/>
              <a:t>a|c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	</a:t>
            </a:r>
            <a:r>
              <a:rPr lang="en-US" b="1" u="sng" dirty="0">
                <a:solidFill>
                  <a:srgbClr val="0070C0"/>
                </a:solidFill>
              </a:rPr>
              <a:t>PROOF:</a:t>
            </a:r>
          </a:p>
          <a:p>
            <a:pPr>
              <a:buNone/>
            </a:pPr>
            <a:r>
              <a:rPr lang="en-US" b="1" dirty="0"/>
              <a:t>	</a:t>
            </a:r>
            <a:r>
              <a:rPr lang="en-US" dirty="0"/>
              <a:t>Suppose </a:t>
            </a:r>
            <a:r>
              <a:rPr lang="en-US" dirty="0" err="1">
                <a:solidFill>
                  <a:srgbClr val="C00000"/>
                </a:solidFill>
              </a:rPr>
              <a:t>a|b</a:t>
            </a:r>
            <a:r>
              <a:rPr lang="en-US" dirty="0"/>
              <a:t> and </a:t>
            </a:r>
            <a:r>
              <a:rPr lang="en-US" dirty="0" err="1">
                <a:solidFill>
                  <a:srgbClr val="C00000"/>
                </a:solidFill>
              </a:rPr>
              <a:t>b|c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where a, b, c </a:t>
            </a:r>
            <a:r>
              <a:rPr lang="en-US" dirty="0">
                <a:sym typeface="Symbol"/>
              </a:rPr>
              <a:t></a:t>
            </a:r>
            <a:r>
              <a:rPr lang="en-US" dirty="0"/>
              <a:t>Z. 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Then by </a:t>
            </a:r>
            <a:r>
              <a:rPr lang="en-US" dirty="0">
                <a:solidFill>
                  <a:srgbClr val="C00000"/>
                </a:solidFill>
              </a:rPr>
              <a:t>definition of divisibility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 </a:t>
            </a:r>
            <a:r>
              <a:rPr lang="en-US" dirty="0">
                <a:solidFill>
                  <a:srgbClr val="C00000"/>
                </a:solidFill>
              </a:rPr>
              <a:t>b=</a:t>
            </a:r>
            <a:r>
              <a:rPr lang="en-US" dirty="0" err="1">
                <a:solidFill>
                  <a:srgbClr val="C00000"/>
                </a:solidFill>
              </a:rPr>
              <a:t>a.r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c=</a:t>
            </a:r>
            <a:r>
              <a:rPr lang="en-US" dirty="0" err="1">
                <a:solidFill>
                  <a:srgbClr val="C00000"/>
                </a:solidFill>
              </a:rPr>
              <a:t>b.s</a:t>
            </a:r>
            <a:r>
              <a:rPr lang="en-US" dirty="0"/>
              <a:t> for some integers </a:t>
            </a:r>
            <a:r>
              <a:rPr lang="en-US" dirty="0">
                <a:solidFill>
                  <a:srgbClr val="C00000"/>
                </a:solidFill>
              </a:rPr>
              <a:t>r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	Now,       </a:t>
            </a:r>
            <a:r>
              <a:rPr lang="en-US" dirty="0">
                <a:solidFill>
                  <a:srgbClr val="C00000"/>
                </a:solidFill>
              </a:rPr>
              <a:t>c = </a:t>
            </a:r>
            <a:r>
              <a:rPr lang="en-US" dirty="0" err="1">
                <a:solidFill>
                  <a:srgbClr val="C00000"/>
                </a:solidFill>
              </a:rPr>
              <a:t>b.s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		= 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a.r</a:t>
            </a:r>
            <a:r>
              <a:rPr lang="en-US" dirty="0">
                <a:solidFill>
                  <a:srgbClr val="C00000"/>
                </a:solidFill>
              </a:rPr>
              <a:t>).s</a:t>
            </a:r>
            <a:r>
              <a:rPr lang="en-US" dirty="0"/>
              <a:t>		(substituting value of b)</a:t>
            </a:r>
          </a:p>
          <a:p>
            <a:pPr>
              <a:buNone/>
            </a:pPr>
            <a:r>
              <a:rPr lang="en-US" dirty="0"/>
              <a:t>	                 = a.(</a:t>
            </a:r>
            <a:r>
              <a:rPr lang="en-US" dirty="0" err="1"/>
              <a:t>r.s</a:t>
            </a:r>
            <a:r>
              <a:rPr lang="en-US" dirty="0"/>
              <a:t>)		(associative law)</a:t>
            </a:r>
          </a:p>
          <a:p>
            <a:pPr>
              <a:buNone/>
            </a:pPr>
            <a:r>
              <a:rPr lang="en-US" dirty="0"/>
              <a:t>	                 = </a:t>
            </a:r>
            <a:r>
              <a:rPr lang="en-US" dirty="0" err="1">
                <a:solidFill>
                  <a:srgbClr val="C00000"/>
                </a:solidFill>
              </a:rPr>
              <a:t>a.k</a:t>
            </a:r>
            <a:r>
              <a:rPr lang="en-US" dirty="0"/>
              <a:t>		</a:t>
            </a:r>
          </a:p>
          <a:p>
            <a:pPr>
              <a:buNone/>
            </a:pPr>
            <a:r>
              <a:rPr lang="en-US" dirty="0"/>
              <a:t>	where,</a:t>
            </a:r>
          </a:p>
          <a:p>
            <a:pPr>
              <a:buNone/>
            </a:pPr>
            <a:r>
              <a:rPr lang="en-US" dirty="0"/>
              <a:t>			 </a:t>
            </a:r>
            <a:r>
              <a:rPr lang="en-US" dirty="0">
                <a:solidFill>
                  <a:srgbClr val="C00000"/>
                </a:solidFill>
              </a:rPr>
              <a:t>k = </a:t>
            </a:r>
            <a:r>
              <a:rPr lang="en-US" dirty="0" err="1">
                <a:solidFill>
                  <a:srgbClr val="C00000"/>
                </a:solidFill>
              </a:rPr>
              <a:t>r.s</a:t>
            </a:r>
            <a:r>
              <a:rPr lang="en-US" dirty="0"/>
              <a:t> </a:t>
            </a:r>
            <a:r>
              <a:rPr lang="en-US" dirty="0">
                <a:sym typeface="Symbol"/>
              </a:rPr>
              <a:t></a:t>
            </a:r>
            <a:r>
              <a:rPr lang="en-US" dirty="0"/>
              <a:t> Z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sym typeface="Symbol"/>
              </a:rPr>
              <a:t>         </a:t>
            </a:r>
            <a:r>
              <a:rPr lang="en-US" dirty="0"/>
              <a:t>       </a:t>
            </a:r>
            <a:r>
              <a:rPr lang="en-US" dirty="0" err="1">
                <a:solidFill>
                  <a:srgbClr val="C00000"/>
                </a:solidFill>
              </a:rPr>
              <a:t>a|c</a:t>
            </a:r>
            <a:r>
              <a:rPr lang="en-US" dirty="0"/>
              <a:t>		by definition of divisibility	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613647" y="1179046"/>
            <a:ext cx="8754035" cy="5181600"/>
          </a:xfrm>
        </p:spPr>
        <p:txBody>
          <a:bodyPr>
            <a:noAutofit/>
          </a:bodyPr>
          <a:lstStyle/>
          <a:p>
            <a:r>
              <a:rPr lang="en-US" sz="2400" dirty="0"/>
              <a:t>Prove that for all integers a, b and c if </a:t>
            </a:r>
            <a:r>
              <a:rPr lang="en-US" sz="2400" dirty="0" err="1"/>
              <a:t>a|b</a:t>
            </a:r>
            <a:r>
              <a:rPr lang="en-US" sz="2400" dirty="0"/>
              <a:t> and </a:t>
            </a:r>
            <a:r>
              <a:rPr lang="en-US" sz="2400" dirty="0" err="1"/>
              <a:t>a|c</a:t>
            </a:r>
            <a:r>
              <a:rPr lang="en-US" sz="2400" dirty="0"/>
              <a:t> then a|(</a:t>
            </a:r>
            <a:r>
              <a:rPr lang="en-US" sz="2400" dirty="0" err="1"/>
              <a:t>b+c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b="1" u="sng" dirty="0">
                <a:solidFill>
                  <a:srgbClr val="0070C0"/>
                </a:solidFill>
              </a:rPr>
              <a:t>PROOF: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400" dirty="0"/>
              <a:t>	Suppose </a:t>
            </a:r>
            <a:r>
              <a:rPr lang="en-US" sz="2400" dirty="0" err="1">
                <a:solidFill>
                  <a:srgbClr val="C00000"/>
                </a:solidFill>
              </a:rPr>
              <a:t>a|b</a:t>
            </a:r>
            <a:r>
              <a:rPr lang="en-US" sz="2400" dirty="0"/>
              <a:t> and </a:t>
            </a:r>
            <a:r>
              <a:rPr lang="en-US" sz="2400" dirty="0" err="1">
                <a:solidFill>
                  <a:srgbClr val="C00000"/>
                </a:solidFill>
              </a:rPr>
              <a:t>a|c</a:t>
            </a:r>
            <a:r>
              <a:rPr lang="en-US" sz="2400" dirty="0"/>
              <a:t> where a, b, c </a:t>
            </a:r>
            <a:r>
              <a:rPr lang="en-US" sz="2400" dirty="0">
                <a:sym typeface="Symbol"/>
              </a:rPr>
              <a:t></a:t>
            </a:r>
            <a:r>
              <a:rPr lang="en-US" sz="2400" dirty="0"/>
              <a:t>Z</a:t>
            </a:r>
          </a:p>
          <a:p>
            <a:pPr>
              <a:buNone/>
            </a:pPr>
            <a:r>
              <a:rPr lang="en-US" sz="2400" dirty="0"/>
              <a:t>	By definition of divides</a:t>
            </a:r>
          </a:p>
          <a:p>
            <a:pPr>
              <a:buNone/>
            </a:pPr>
            <a:r>
              <a:rPr lang="en-US" sz="2400" dirty="0"/>
              <a:t>                </a:t>
            </a:r>
            <a:r>
              <a:rPr lang="en-US" sz="2400" dirty="0">
                <a:solidFill>
                  <a:srgbClr val="C00000"/>
                </a:solidFill>
              </a:rPr>
              <a:t>b = </a:t>
            </a:r>
            <a:r>
              <a:rPr lang="en-US" sz="2400" dirty="0" err="1">
                <a:solidFill>
                  <a:srgbClr val="C00000"/>
                </a:solidFill>
              </a:rPr>
              <a:t>a.r</a:t>
            </a:r>
            <a:r>
              <a:rPr lang="en-US" sz="2400" dirty="0"/>
              <a:t>  and  </a:t>
            </a:r>
            <a:r>
              <a:rPr lang="en-US" sz="2400" dirty="0">
                <a:solidFill>
                  <a:srgbClr val="C00000"/>
                </a:solidFill>
              </a:rPr>
              <a:t>c = </a:t>
            </a:r>
            <a:r>
              <a:rPr lang="en-US" sz="2400" dirty="0" err="1">
                <a:solidFill>
                  <a:srgbClr val="C00000"/>
                </a:solidFill>
              </a:rPr>
              <a:t>a.s</a:t>
            </a:r>
            <a:r>
              <a:rPr lang="en-US" sz="2400" dirty="0"/>
              <a:t>  for some r, s </a:t>
            </a:r>
            <a:r>
              <a:rPr lang="en-US" sz="2400" dirty="0">
                <a:sym typeface="Symbol"/>
              </a:rPr>
              <a:t></a:t>
            </a:r>
            <a:r>
              <a:rPr lang="en-US" sz="2400" dirty="0"/>
              <a:t>Z</a:t>
            </a:r>
          </a:p>
          <a:p>
            <a:pPr>
              <a:buNone/>
            </a:pPr>
            <a:r>
              <a:rPr lang="en-US" sz="2400" dirty="0"/>
              <a:t>	Now</a:t>
            </a:r>
          </a:p>
          <a:p>
            <a:pPr>
              <a:buNone/>
            </a:pPr>
            <a:r>
              <a:rPr lang="en-US" sz="2400" dirty="0"/>
              <a:t>                </a:t>
            </a:r>
            <a:r>
              <a:rPr lang="en-US" sz="2400" dirty="0">
                <a:solidFill>
                  <a:srgbClr val="C00000"/>
                </a:solidFill>
              </a:rPr>
              <a:t>b + c = </a:t>
            </a:r>
            <a:r>
              <a:rPr lang="en-US" sz="2400" dirty="0" err="1">
                <a:solidFill>
                  <a:srgbClr val="C00000"/>
                </a:solidFill>
              </a:rPr>
              <a:t>a.r</a:t>
            </a:r>
            <a:r>
              <a:rPr lang="en-US" sz="2400" dirty="0">
                <a:solidFill>
                  <a:srgbClr val="C00000"/>
                </a:solidFill>
              </a:rPr>
              <a:t> + </a:t>
            </a:r>
            <a:r>
              <a:rPr lang="en-US" sz="2400" dirty="0" err="1">
                <a:solidFill>
                  <a:srgbClr val="C00000"/>
                </a:solidFill>
              </a:rPr>
              <a:t>a.s</a:t>
            </a:r>
            <a:r>
              <a:rPr lang="en-US" sz="2400" dirty="0"/>
              <a:t>		(substituting values)</a:t>
            </a:r>
          </a:p>
          <a:p>
            <a:pPr>
              <a:buNone/>
            </a:pPr>
            <a:r>
              <a:rPr lang="en-US" sz="2400" dirty="0"/>
              <a:t>                        = </a:t>
            </a:r>
            <a:r>
              <a:rPr lang="en-US" sz="2400" dirty="0">
                <a:solidFill>
                  <a:srgbClr val="C00000"/>
                </a:solidFill>
              </a:rPr>
              <a:t>a.(</a:t>
            </a:r>
            <a:r>
              <a:rPr lang="en-US" sz="2400" dirty="0" err="1">
                <a:solidFill>
                  <a:srgbClr val="C00000"/>
                </a:solidFill>
              </a:rPr>
              <a:t>r+s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r>
              <a:rPr lang="en-US" sz="2400" dirty="0"/>
              <a:t>		(by distributive law)</a:t>
            </a:r>
          </a:p>
          <a:p>
            <a:pPr>
              <a:buNone/>
            </a:pPr>
            <a:r>
              <a:rPr lang="en-US" sz="2400" dirty="0"/>
              <a:t>                        = </a:t>
            </a:r>
            <a:r>
              <a:rPr lang="en-US" sz="2400" dirty="0" err="1">
                <a:solidFill>
                  <a:srgbClr val="C00000"/>
                </a:solidFill>
              </a:rPr>
              <a:t>a.k</a:t>
            </a:r>
            <a:r>
              <a:rPr lang="en-US" sz="2400" dirty="0"/>
              <a:t>		</a:t>
            </a:r>
          </a:p>
          <a:p>
            <a:pPr>
              <a:buNone/>
            </a:pPr>
            <a:r>
              <a:rPr lang="en-US" sz="2400" dirty="0"/>
              <a:t>	where 	k = (r + s) </a:t>
            </a:r>
            <a:r>
              <a:rPr lang="en-US" sz="2400" dirty="0">
                <a:sym typeface="Symbol"/>
              </a:rPr>
              <a:t></a:t>
            </a:r>
            <a:r>
              <a:rPr lang="en-US" sz="2400" dirty="0"/>
              <a:t>Z</a:t>
            </a:r>
          </a:p>
          <a:p>
            <a:pPr>
              <a:buNone/>
            </a:pPr>
            <a:r>
              <a:rPr lang="en-US" sz="2400" dirty="0"/>
              <a:t>	Hence     </a:t>
            </a:r>
            <a:r>
              <a:rPr lang="en-US" sz="2400" dirty="0">
                <a:solidFill>
                  <a:srgbClr val="C00000"/>
                </a:solidFill>
              </a:rPr>
              <a:t>a|(b + c)</a:t>
            </a:r>
            <a:r>
              <a:rPr lang="en-US" sz="2400" dirty="0"/>
              <a:t>			by definition of divides.</a:t>
            </a:r>
          </a:p>
          <a:p>
            <a:endParaRPr lang="en-US" sz="24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0DE70A-5DD8-46DB-8870-CA2A874EB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018" y="212912"/>
            <a:ext cx="7515292" cy="966134"/>
          </a:xfrm>
        </p:spPr>
        <p:txBody>
          <a:bodyPr/>
          <a:lstStyle/>
          <a:p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15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Direct Proof … </a:t>
            </a:r>
            <a:r>
              <a:rPr lang="en-US" sz="4400" b="1" u="sng" dirty="0">
                <a:solidFill>
                  <a:srgbClr val="0070C0"/>
                </a:solidFill>
              </a:rPr>
              <a:t>Example 16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179576" y="1690688"/>
            <a:ext cx="9829800" cy="408015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Prove that the sum of any three consecutive integers is divisible by 3.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	</a:t>
            </a:r>
            <a:r>
              <a:rPr lang="en-US" b="1" u="sng" dirty="0">
                <a:solidFill>
                  <a:srgbClr val="0070C0"/>
                </a:solidFill>
              </a:rPr>
              <a:t>PROOF:</a:t>
            </a:r>
            <a:endParaRPr lang="en-US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/>
              <a:t>	Let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n + 1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n + 2</a:t>
            </a:r>
            <a:r>
              <a:rPr lang="en-US" dirty="0"/>
              <a:t> be three consecutive integers.</a:t>
            </a:r>
          </a:p>
          <a:p>
            <a:pPr>
              <a:buNone/>
            </a:pPr>
            <a:r>
              <a:rPr lang="pt-BR" dirty="0"/>
              <a:t>	Now</a:t>
            </a:r>
            <a:endParaRPr lang="en-US" dirty="0"/>
          </a:p>
          <a:p>
            <a:pPr>
              <a:buNone/>
            </a:pPr>
            <a:r>
              <a:rPr lang="pt-BR" dirty="0"/>
              <a:t>	             </a:t>
            </a:r>
            <a:r>
              <a:rPr lang="pt-BR" dirty="0">
                <a:solidFill>
                  <a:srgbClr val="C00000"/>
                </a:solidFill>
              </a:rPr>
              <a:t> n + (n + 1) + (n + 2) </a:t>
            </a:r>
            <a:r>
              <a:rPr lang="pt-BR" dirty="0"/>
              <a:t>= </a:t>
            </a:r>
            <a:r>
              <a:rPr lang="pt-BR" dirty="0">
                <a:solidFill>
                  <a:srgbClr val="C00000"/>
                </a:solidFill>
              </a:rPr>
              <a:t>3n + 3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                                                = </a:t>
            </a:r>
            <a:r>
              <a:rPr lang="pt-BR" dirty="0">
                <a:solidFill>
                  <a:srgbClr val="C00000"/>
                </a:solidFill>
              </a:rPr>
              <a:t>3(n + 1)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/>
              <a:t>	                                             = 3k</a:t>
            </a:r>
          </a:p>
          <a:p>
            <a:pPr>
              <a:buNone/>
            </a:pPr>
            <a:r>
              <a:rPr lang="pt-BR" dirty="0"/>
              <a:t>	where k=(n+1)</a:t>
            </a:r>
            <a:r>
              <a:rPr lang="en-US" dirty="0">
                <a:sym typeface="Symbol"/>
              </a:rPr>
              <a:t></a:t>
            </a:r>
            <a:r>
              <a:rPr lang="pt-BR" dirty="0"/>
              <a:t>Z</a:t>
            </a:r>
            <a:endParaRPr lang="en-US" dirty="0"/>
          </a:p>
          <a:p>
            <a:pPr>
              <a:buNone/>
            </a:pPr>
            <a:r>
              <a:rPr lang="en-US" dirty="0"/>
              <a:t>	Hence, the </a:t>
            </a:r>
            <a:r>
              <a:rPr lang="en-US" dirty="0">
                <a:solidFill>
                  <a:srgbClr val="C00000"/>
                </a:solidFill>
              </a:rPr>
              <a:t>sum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three consecutive integers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divisible by 3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196788"/>
            <a:ext cx="10755702" cy="487684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Using direct method prove that: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Prove that, if the sum of any two integers is even, then so is their difference.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additive inverse of an even number is an even number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 is rational and n ≠ 0 then 1/n is a rational number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Show that if x is even so is 3x+2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Show that if x is even so is 5x</a:t>
            </a:r>
            <a:r>
              <a:rPr lang="en-US" sz="2400" baseline="300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87D83-20B8-9557-A3DA-46075D42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1233558" cy="79547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 </a:t>
            </a:r>
            <a:r>
              <a:rPr lang="en-US" sz="3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More Practice Questions</a:t>
            </a:r>
          </a:p>
        </p:txBody>
      </p:sp>
    </p:spTree>
    <p:extLst>
      <p:ext uri="{BB962C8B-B14F-4D97-AF65-F5344CB8AC3E}">
        <p14:creationId xmlns:p14="http://schemas.microsoft.com/office/powerpoint/2010/main" val="543119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097" name="Group 1"/>
          <p:cNvGrpSpPr>
            <a:grpSpLocks noChangeAspect="1"/>
          </p:cNvGrpSpPr>
          <p:nvPr/>
        </p:nvGrpSpPr>
        <p:grpSpPr bwMode="auto">
          <a:xfrm>
            <a:off x="1524001" y="1"/>
            <a:ext cx="5641975" cy="3313113"/>
            <a:chOff x="1800" y="5046"/>
            <a:chExt cx="8885" cy="5217"/>
          </a:xfrm>
        </p:grpSpPr>
        <p:sp>
          <p:nvSpPr>
            <p:cNvPr id="132098" name="AutoShape 2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100" name="Group 4"/>
          <p:cNvGrpSpPr>
            <a:grpSpLocks noChangeAspect="1"/>
          </p:cNvGrpSpPr>
          <p:nvPr/>
        </p:nvGrpSpPr>
        <p:grpSpPr bwMode="auto">
          <a:xfrm>
            <a:off x="1524001" y="1"/>
            <a:ext cx="5641975" cy="3313113"/>
            <a:chOff x="1800" y="5046"/>
            <a:chExt cx="8885" cy="5217"/>
          </a:xfrm>
        </p:grpSpPr>
        <p:sp>
          <p:nvSpPr>
            <p:cNvPr id="132101" name="AutoShape 5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3" name="Line 7"/>
          <p:cNvSpPr>
            <a:spLocks noChangeShapeType="1"/>
          </p:cNvSpPr>
          <p:nvPr/>
        </p:nvSpPr>
        <p:spPr bwMode="auto">
          <a:xfrm flipV="1">
            <a:off x="4294871" y="1930400"/>
            <a:ext cx="301752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4" name="Line 8"/>
          <p:cNvSpPr>
            <a:spLocks noChangeShapeType="1"/>
          </p:cNvSpPr>
          <p:nvPr/>
        </p:nvSpPr>
        <p:spPr bwMode="auto">
          <a:xfrm>
            <a:off x="4308475" y="19558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5" name="Line 9"/>
          <p:cNvSpPr>
            <a:spLocks noChangeShapeType="1"/>
          </p:cNvSpPr>
          <p:nvPr/>
        </p:nvSpPr>
        <p:spPr bwMode="auto">
          <a:xfrm>
            <a:off x="7300913" y="19304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6" name="Rectangle 10"/>
          <p:cNvSpPr>
            <a:spLocks noChangeArrowheads="1"/>
          </p:cNvSpPr>
          <p:nvPr/>
        </p:nvSpPr>
        <p:spPr bwMode="auto">
          <a:xfrm>
            <a:off x="5895071" y="2274887"/>
            <a:ext cx="2258330" cy="465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INDIRECT PROOF</a:t>
            </a:r>
            <a:endParaRPr lang="en-US" b="1" dirty="0"/>
          </a:p>
        </p:txBody>
      </p: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3092825" y="2344738"/>
            <a:ext cx="2047502" cy="855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DIRECT PROOF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</a:rPr>
              <a:t>p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</a:rPr>
              <a:t>q</a:t>
            </a:r>
          </a:p>
        </p:txBody>
      </p:sp>
      <p:sp>
        <p:nvSpPr>
          <p:cNvPr id="132108" name="Line 12"/>
          <p:cNvSpPr>
            <a:spLocks noChangeShapeType="1"/>
          </p:cNvSpPr>
          <p:nvPr/>
        </p:nvSpPr>
        <p:spPr bwMode="auto">
          <a:xfrm flipV="1">
            <a:off x="5921375" y="3046412"/>
            <a:ext cx="25003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9" name="Line 13"/>
          <p:cNvSpPr>
            <a:spLocks noChangeShapeType="1"/>
          </p:cNvSpPr>
          <p:nvPr/>
        </p:nvSpPr>
        <p:spPr bwMode="auto">
          <a:xfrm>
            <a:off x="5937250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0" name="Line 14"/>
          <p:cNvSpPr>
            <a:spLocks noChangeShapeType="1"/>
          </p:cNvSpPr>
          <p:nvPr/>
        </p:nvSpPr>
        <p:spPr bwMode="auto">
          <a:xfrm>
            <a:off x="8421688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1" name="Rectangle 15"/>
          <p:cNvSpPr>
            <a:spLocks noChangeArrowheads="1"/>
          </p:cNvSpPr>
          <p:nvPr/>
        </p:nvSpPr>
        <p:spPr bwMode="auto">
          <a:xfrm>
            <a:off x="4578556" y="3408824"/>
            <a:ext cx="2370392" cy="1406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PROOF BY 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CONTRAPOSITION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</a:rPr>
              <a:t>p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</a:t>
            </a:r>
            <a:r>
              <a:rPr lang="en-US" b="1" dirty="0">
                <a:solidFill>
                  <a:srgbClr val="C00000"/>
                </a:solidFill>
              </a:rPr>
              <a:t>q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 </a:t>
            </a:r>
            <a:r>
              <a:rPr lang="en-US" b="1" dirty="0">
                <a:solidFill>
                  <a:srgbClr val="C00000"/>
                </a:solidFill>
              </a:rPr>
              <a:t> ~q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</a:rPr>
              <a:t>~p</a:t>
            </a:r>
          </a:p>
        </p:txBody>
      </p:sp>
      <p:sp>
        <p:nvSpPr>
          <p:cNvPr id="132112" name="Rectangle 16"/>
          <p:cNvSpPr>
            <a:spLocks noChangeArrowheads="1"/>
          </p:cNvSpPr>
          <p:nvPr/>
        </p:nvSpPr>
        <p:spPr bwMode="auto">
          <a:xfrm>
            <a:off x="7395884" y="3408824"/>
            <a:ext cx="2496300" cy="14065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PROOF BY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</a:rPr>
              <a:t>CONTRADICTION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</a:rPr>
              <a:t>p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</a:t>
            </a:r>
            <a:r>
              <a:rPr lang="en-US" b="1" dirty="0">
                <a:solidFill>
                  <a:srgbClr val="C00000"/>
                </a:solidFill>
              </a:rPr>
              <a:t>q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 </a:t>
            </a:r>
            <a:r>
              <a:rPr lang="en-US" b="1" dirty="0">
                <a:solidFill>
                  <a:srgbClr val="C00000"/>
                </a:solidFill>
              </a:rPr>
              <a:t>(p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</a:t>
            </a:r>
            <a:r>
              <a:rPr lang="en-US" b="1" dirty="0">
                <a:solidFill>
                  <a:srgbClr val="C00000"/>
                </a:solidFill>
              </a:rPr>
              <a:t>~q) </a:t>
            </a:r>
            <a:r>
              <a:rPr lang="en-US" b="1" dirty="0">
                <a:solidFill>
                  <a:srgbClr val="C00000"/>
                </a:solidFill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32113" name="Line 17"/>
          <p:cNvSpPr>
            <a:spLocks noChangeShapeType="1"/>
          </p:cNvSpPr>
          <p:nvPr/>
        </p:nvSpPr>
        <p:spPr bwMode="auto">
          <a:xfrm>
            <a:off x="5921375" y="1600201"/>
            <a:ext cx="0" cy="344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4" name="Line 18"/>
          <p:cNvSpPr>
            <a:spLocks noChangeShapeType="1"/>
          </p:cNvSpPr>
          <p:nvPr/>
        </p:nvSpPr>
        <p:spPr bwMode="auto">
          <a:xfrm>
            <a:off x="7300913" y="2759076"/>
            <a:ext cx="0" cy="276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3950346" y="929389"/>
            <a:ext cx="3973807" cy="67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sz="2800" b="1" u="sng" dirty="0">
                <a:solidFill>
                  <a:srgbClr val="FF0000"/>
                </a:solidFill>
              </a:rPr>
              <a:t>METHODS OF  PROOF</a:t>
            </a:r>
          </a:p>
        </p:txBody>
      </p:sp>
    </p:spTree>
    <p:extLst>
      <p:ext uri="{BB962C8B-B14F-4D97-AF65-F5344CB8AC3E}">
        <p14:creationId xmlns:p14="http://schemas.microsoft.com/office/powerpoint/2010/main" val="26347232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PROOF BY CONTRADICTION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proof</a:t>
            </a:r>
            <a:r>
              <a:rPr lang="en-US" dirty="0"/>
              <a:t> by </a:t>
            </a:r>
            <a:r>
              <a:rPr lang="en-US" dirty="0">
                <a:solidFill>
                  <a:srgbClr val="C00000"/>
                </a:solidFill>
              </a:rPr>
              <a:t>contradiction</a:t>
            </a:r>
            <a:r>
              <a:rPr lang="en-US" dirty="0"/>
              <a:t> is based on the fact that either a statement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or it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but not both.</a:t>
            </a:r>
          </a:p>
          <a:p>
            <a:endParaRPr lang="en-US" dirty="0"/>
          </a:p>
          <a:p>
            <a:r>
              <a:rPr lang="en-US" dirty="0"/>
              <a:t>Hence the </a:t>
            </a:r>
            <a:r>
              <a:rPr lang="en-US" dirty="0">
                <a:solidFill>
                  <a:srgbClr val="C00000"/>
                </a:solidFill>
              </a:rPr>
              <a:t>supposition</a:t>
            </a:r>
            <a:r>
              <a:rPr lang="en-US" dirty="0"/>
              <a:t>, that the </a:t>
            </a:r>
            <a:r>
              <a:rPr lang="en-US" dirty="0">
                <a:solidFill>
                  <a:srgbClr val="C00000"/>
                </a:solidFill>
              </a:rPr>
              <a:t>statement</a:t>
            </a:r>
            <a:r>
              <a:rPr lang="en-US" dirty="0"/>
              <a:t> to be </a:t>
            </a:r>
            <a:r>
              <a:rPr lang="en-US" dirty="0">
                <a:solidFill>
                  <a:srgbClr val="C00000"/>
                </a:solidFill>
              </a:rPr>
              <a:t>proved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, leads logically to a </a:t>
            </a:r>
            <a:r>
              <a:rPr lang="en-US" dirty="0">
                <a:solidFill>
                  <a:srgbClr val="C00000"/>
                </a:solidFill>
              </a:rPr>
              <a:t>contradiction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impossibility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absurdity</a:t>
            </a:r>
            <a:r>
              <a:rPr lang="en-US" dirty="0"/>
              <a:t>, then the </a:t>
            </a:r>
            <a:r>
              <a:rPr lang="en-US" dirty="0">
                <a:solidFill>
                  <a:srgbClr val="C00000"/>
                </a:solidFill>
              </a:rPr>
              <a:t>supposition</a:t>
            </a:r>
            <a:r>
              <a:rPr lang="en-US" dirty="0"/>
              <a:t> must be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Accordingly, the given statement must be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7882" y="672353"/>
            <a:ext cx="10471494" cy="5098485"/>
          </a:xfrm>
        </p:spPr>
        <p:txBody>
          <a:bodyPr>
            <a:normAutofit/>
          </a:bodyPr>
          <a:lstStyle/>
          <a:p>
            <a:r>
              <a:rPr lang="en-US" dirty="0"/>
              <a:t>Thus to </a:t>
            </a:r>
            <a:r>
              <a:rPr lang="en-US" dirty="0">
                <a:solidFill>
                  <a:srgbClr val="C00000"/>
                </a:solidFill>
              </a:rPr>
              <a:t>prove</a:t>
            </a:r>
            <a:r>
              <a:rPr lang="en-US" dirty="0"/>
              <a:t> an</a:t>
            </a:r>
            <a:r>
              <a:rPr lang="en-US" dirty="0">
                <a:solidFill>
                  <a:srgbClr val="C00000"/>
                </a:solidFill>
              </a:rPr>
              <a:t> implication p → q</a:t>
            </a:r>
            <a:r>
              <a:rPr lang="en-US" dirty="0"/>
              <a:t> by </a:t>
            </a:r>
            <a:r>
              <a:rPr lang="en-US" dirty="0">
                <a:solidFill>
                  <a:srgbClr val="C00000"/>
                </a:solidFill>
              </a:rPr>
              <a:t>contradiction method</a:t>
            </a:r>
            <a:r>
              <a:rPr lang="en-US" dirty="0"/>
              <a:t> we suppose that the condition </a:t>
            </a:r>
            <a:r>
              <a:rPr lang="en-US" dirty="0">
                <a:solidFill>
                  <a:srgbClr val="C00000"/>
                </a:solidFill>
              </a:rPr>
              <a:t>p</a:t>
            </a:r>
            <a:r>
              <a:rPr lang="en-US" dirty="0"/>
              <a:t> and the </a:t>
            </a:r>
            <a:r>
              <a:rPr lang="en-US" dirty="0">
                <a:solidFill>
                  <a:srgbClr val="C00000"/>
                </a:solidFill>
              </a:rPr>
              <a:t>negation</a:t>
            </a:r>
            <a:r>
              <a:rPr lang="en-US" dirty="0"/>
              <a:t> of the conclusion </a:t>
            </a:r>
            <a:r>
              <a:rPr lang="en-US" dirty="0">
                <a:solidFill>
                  <a:srgbClr val="C00000"/>
                </a:solidFill>
              </a:rPr>
              <a:t>q</a:t>
            </a:r>
            <a:r>
              <a:rPr lang="en-US" dirty="0"/>
              <a:t>, i.e., </a:t>
            </a:r>
            <a:r>
              <a:rPr lang="en-US" dirty="0">
                <a:solidFill>
                  <a:srgbClr val="C00000"/>
                </a:solidFill>
              </a:rPr>
              <a:t>(p </a:t>
            </a:r>
            <a:r>
              <a:rPr lang="en-US" dirty="0">
                <a:solidFill>
                  <a:srgbClr val="C00000"/>
                </a:solidFill>
                <a:sym typeface="Symbol"/>
              </a:rPr>
              <a:t></a:t>
            </a:r>
            <a:r>
              <a:rPr lang="en-US" dirty="0">
                <a:solidFill>
                  <a:srgbClr val="C00000"/>
                </a:solidFill>
              </a:rPr>
              <a:t> ~q)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 and ultimately arrive at a </a:t>
            </a:r>
            <a:r>
              <a:rPr lang="en-US" dirty="0">
                <a:solidFill>
                  <a:srgbClr val="C00000"/>
                </a:solidFill>
              </a:rPr>
              <a:t>contradiction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method of </a:t>
            </a:r>
            <a:r>
              <a:rPr lang="en-US" dirty="0">
                <a:solidFill>
                  <a:srgbClr val="C00000"/>
                </a:solidFill>
              </a:rPr>
              <a:t>proof by contradiction</a:t>
            </a:r>
            <a:r>
              <a:rPr lang="en-US" dirty="0"/>
              <a:t>, may be summarized as follows: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Suppose</a:t>
            </a:r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statement</a:t>
            </a:r>
            <a:r>
              <a:rPr lang="en-US" dirty="0"/>
              <a:t> to be </a:t>
            </a:r>
            <a:r>
              <a:rPr lang="en-US" dirty="0">
                <a:solidFill>
                  <a:srgbClr val="C00000"/>
                </a:solidFill>
              </a:rPr>
              <a:t>proved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Show</a:t>
            </a:r>
            <a:r>
              <a:rPr lang="en-US" dirty="0"/>
              <a:t> that this </a:t>
            </a:r>
            <a:r>
              <a:rPr lang="en-US" dirty="0">
                <a:solidFill>
                  <a:srgbClr val="C00000"/>
                </a:solidFill>
              </a:rPr>
              <a:t>supposition</a:t>
            </a:r>
            <a:r>
              <a:rPr lang="en-US" dirty="0"/>
              <a:t> leads logically to a </a:t>
            </a:r>
            <a:r>
              <a:rPr lang="en-US" dirty="0">
                <a:solidFill>
                  <a:srgbClr val="C00000"/>
                </a:solidFill>
              </a:rPr>
              <a:t>contradiction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Conclude</a:t>
            </a:r>
            <a:r>
              <a:rPr lang="en-US" dirty="0"/>
              <a:t> that the </a:t>
            </a:r>
            <a:r>
              <a:rPr lang="en-US" dirty="0">
                <a:solidFill>
                  <a:srgbClr val="C00000"/>
                </a:solidFill>
              </a:rPr>
              <a:t>statement</a:t>
            </a:r>
            <a:r>
              <a:rPr lang="en-US" dirty="0"/>
              <a:t> to be proved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Contradiction … </a:t>
            </a:r>
            <a:r>
              <a:rPr lang="en-US" sz="3200" dirty="0">
                <a:solidFill>
                  <a:srgbClr val="92D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Example1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850" y="1009292"/>
            <a:ext cx="9856949" cy="991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Give a proof by contradiction for the statement:</a:t>
            </a:r>
          </a:p>
          <a:p>
            <a:pPr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“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</a:t>
            </a:r>
            <a:r>
              <a:rPr lang="en-US" sz="2400" baseline="30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even integer then n is an even integer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.”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1167526" y="1983598"/>
            <a:ext cx="9856948" cy="483941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Suppose that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200" baseline="30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even integer but n is odd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= 2k+1		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… The definition of odd integers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Now taking square on both sides, we get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	= (2k+1)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	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= 4k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+4k+1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= 2(2k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+2k) + 1</a:t>
            </a:r>
          </a:p>
          <a:p>
            <a:pPr marL="0" indent="0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= 2x+1		… x =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2k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+2k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/>
              </a:rPr>
              <a:t>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Z</a:t>
            </a:r>
            <a:endParaRPr lang="en-US" sz="22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above statement shows that 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odd integer. This, causes a contradiction with the given information. That means our supposition is wrong.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 given statement is proved.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10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Contradiction … </a:t>
            </a:r>
            <a:r>
              <a:rPr lang="en-US" sz="3200" dirty="0">
                <a:solidFill>
                  <a:srgbClr val="92D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Example2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2"/>
            <a:ext cx="10515600" cy="991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that if n is an integer and n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+ 5 is odd, then n is even using contradiction method.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733246" y="1715656"/>
            <a:ext cx="11162580" cy="51423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Suppose for all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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+ 5 is odd but n is odd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∵ n is odd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 = 2p+1 	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… as per definition of odd integers where p 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 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	Taking cube on both sides to above equation, we get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	= 	(2p+1)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= 	8p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+12p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+6p+1			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… Equation-1</a:t>
            </a:r>
            <a:endParaRPr lang="en-US" sz="2400" baseline="30000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2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Adding 5 to both sides of equation-1, we get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0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+5	= 	8p</a:t>
            </a:r>
            <a:r>
              <a:rPr lang="en-US" sz="20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+12p</a:t>
            </a:r>
            <a:r>
              <a:rPr lang="en-US" sz="20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+6p+6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= 	2(4p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+6p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+3p+3)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= 	2s		… where 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 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Z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and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s =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4p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+6p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+3p+3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= 	since s is an integer, 2s is an even integer i.e., </a:t>
            </a:r>
            <a:r>
              <a:rPr lang="en-US" sz="19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 contradiction to given information </a:t>
            </a:r>
            <a:endParaRPr lang="en-US" sz="2400" dirty="0">
              <a:solidFill>
                <a:srgbClr val="B31591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Hence our supposition is wrong and the given statement is proved..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38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Contradiction … </a:t>
            </a:r>
            <a:r>
              <a:rPr lang="en-US" sz="3200" dirty="0">
                <a:solidFill>
                  <a:srgbClr val="92D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Example2 … </a:t>
            </a:r>
            <a:r>
              <a:rPr lang="en-US" sz="32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Proof2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2"/>
            <a:ext cx="10515600" cy="991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that if n is an integer and n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+ 5 is odd, then n is even using contradiction method.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733246" y="1715656"/>
            <a:ext cx="8307237" cy="5142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1FB111-7E33-5354-4129-1CDFD737C5C8}"/>
              </a:ext>
            </a:extLst>
          </p:cNvPr>
          <p:cNvSpPr txBox="1">
            <a:spLocks/>
          </p:cNvSpPr>
          <p:nvPr/>
        </p:nvSpPr>
        <p:spPr>
          <a:xfrm>
            <a:off x="4094671" y="6448244"/>
            <a:ext cx="6373483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Another way to proof…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A79DDC55-249B-9951-6E72-82B192599C6E}"/>
              </a:ext>
            </a:extLst>
          </p:cNvPr>
          <p:cNvSpPr txBox="1">
            <a:spLocks/>
          </p:cNvSpPr>
          <p:nvPr/>
        </p:nvSpPr>
        <p:spPr>
          <a:xfrm>
            <a:off x="733246" y="1715656"/>
            <a:ext cx="11162580" cy="5047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Suppose for all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/>
              </a:rPr>
              <a:t>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Z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+ 5 is odd but n is odd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∵ n is odd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odd too … (n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2400" dirty="0" err="1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n.n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the product of two odd numbers is odd)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Similar to above, 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also odd as (n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n.n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Now we know that 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odd number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Adding 5 to 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we get 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+ 5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Moreover, 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+ 5 is even as both n</a:t>
            </a:r>
            <a:r>
              <a:rPr lang="en-US" sz="2400" baseline="300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</a:t>
            </a: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and 5 are odd numbers and the sum of two odd numbers is an even number.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This is against the supposition i.e. 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 the given statement is proved.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2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96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Contradiction … </a:t>
            </a: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Example1</a:t>
            </a:r>
            <a:endParaRPr lang="en-US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2"/>
            <a:ext cx="10515600" cy="991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Give a proof by contradiction for the statement:</a:t>
            </a:r>
          </a:p>
          <a:p>
            <a:pPr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	“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 n</a:t>
            </a:r>
            <a:r>
              <a:rPr lang="en-US" sz="2400" baseline="30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even integer then n is an even integer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.”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577970" y="2000328"/>
            <a:ext cx="11614030" cy="4839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Suppose that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200" baseline="300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even integer but n is odd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= 2k+1		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… The definition of odd integers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Now taking square on both sides, we get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	= (2k+1)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	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= 4k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+4k+1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= 2(2k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+2k) + 1</a:t>
            </a:r>
          </a:p>
          <a:p>
            <a:pPr marL="0" indent="0">
              <a:buNone/>
            </a:pP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	= 2x+1		… x =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2k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+2k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sym typeface="Symbol"/>
              </a:rPr>
              <a:t>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Z</a:t>
            </a:r>
            <a:endParaRPr lang="en-US" sz="22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above statement shows that 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is an odd integer. This, causes a contradiction with the given information. That means our supposition is wrong. </a:t>
            </a: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 given statement is proved.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endParaRPr lang="en-US" sz="22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0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706531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Contradiction …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 2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9496" y="1071657"/>
            <a:ext cx="11353800" cy="5421218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Prove by contradiction method, the statement:  If n and m are odd integers, then n + m is an even integer.</a:t>
            </a:r>
          </a:p>
          <a:p>
            <a:pPr>
              <a:lnSpc>
                <a:spcPct val="120000"/>
              </a:lnSpc>
            </a:pPr>
            <a:r>
              <a:rPr lang="en-US" sz="2400" b="1" u="sng" dirty="0">
                <a:solidFill>
                  <a:srgbClr val="0070C0"/>
                </a:solidFill>
              </a:rPr>
              <a:t>PROOF:</a:t>
            </a:r>
            <a:endParaRPr lang="en-US" sz="2400" dirty="0">
              <a:solidFill>
                <a:srgbClr val="0070C0"/>
              </a:solidFill>
            </a:endParaRPr>
          </a:p>
          <a:p>
            <a:pPr>
              <a:lnSpc>
                <a:spcPct val="120000"/>
              </a:lnSpc>
              <a:buNone/>
            </a:pPr>
            <a:r>
              <a:rPr lang="en-US" sz="2400" dirty="0"/>
              <a:t>   Suppose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 are </a:t>
            </a:r>
            <a:r>
              <a:rPr lang="en-US" sz="2400" dirty="0">
                <a:solidFill>
                  <a:srgbClr val="C00000"/>
                </a:solidFill>
              </a:rPr>
              <a:t>odd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n + m</a:t>
            </a:r>
            <a:r>
              <a:rPr lang="en-US" sz="2400" dirty="0"/>
              <a:t> is not even (</a:t>
            </a:r>
            <a:r>
              <a:rPr lang="en-US" sz="2400" dirty="0">
                <a:solidFill>
                  <a:srgbClr val="C00000"/>
                </a:solidFill>
              </a:rPr>
              <a:t>odd</a:t>
            </a:r>
            <a:r>
              <a:rPr lang="en-US" sz="2400" dirty="0"/>
              <a:t> </a:t>
            </a:r>
            <a:r>
              <a:rPr lang="en-US" sz="2400" dirty="0" err="1"/>
              <a:t>i.e</a:t>
            </a:r>
            <a:r>
              <a:rPr lang="en-US" sz="2400" dirty="0"/>
              <a:t> by taking contradiction).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/>
              <a:t>	Now 		 </a:t>
            </a:r>
            <a:r>
              <a:rPr lang="en-US" sz="2400" dirty="0">
                <a:solidFill>
                  <a:srgbClr val="C00000"/>
                </a:solidFill>
              </a:rPr>
              <a:t>n = 2p + 1</a:t>
            </a:r>
            <a:r>
              <a:rPr lang="en-US" sz="2400" dirty="0"/>
              <a:t>		for some integer p</a:t>
            </a:r>
          </a:p>
          <a:p>
            <a:pPr>
              <a:lnSpc>
                <a:spcPct val="120000"/>
              </a:lnSpc>
              <a:buNone/>
            </a:pPr>
            <a:r>
              <a:rPr lang="en-US" sz="2400" dirty="0"/>
              <a:t>	and 		 </a:t>
            </a:r>
            <a:r>
              <a:rPr lang="en-US" sz="2400" dirty="0">
                <a:solidFill>
                  <a:srgbClr val="C00000"/>
                </a:solidFill>
              </a:rPr>
              <a:t>m = 2q + 1</a:t>
            </a:r>
            <a:r>
              <a:rPr lang="en-US" sz="2400" dirty="0"/>
              <a:t>		for some integer q</a:t>
            </a:r>
          </a:p>
          <a:p>
            <a:pPr>
              <a:buNone/>
            </a:pPr>
            <a:r>
              <a:rPr lang="pt-BR" sz="2400" dirty="0"/>
              <a:t>Hence</a:t>
            </a:r>
          </a:p>
          <a:p>
            <a:pPr>
              <a:buNone/>
            </a:pPr>
            <a:r>
              <a:rPr lang="pt-BR" sz="2400" dirty="0"/>
              <a:t>		            </a:t>
            </a:r>
            <a:r>
              <a:rPr lang="pt-BR" sz="2400" dirty="0">
                <a:solidFill>
                  <a:srgbClr val="C00000"/>
                </a:solidFill>
              </a:rPr>
              <a:t>n + m = (2p + 1) + (2q + 1)</a:t>
            </a:r>
            <a:endParaRPr lang="en-US" sz="2400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sz="2400" dirty="0"/>
              <a:t>		                      = </a:t>
            </a:r>
            <a:r>
              <a:rPr lang="pt-BR" sz="2400" dirty="0">
                <a:solidFill>
                  <a:srgbClr val="C00000"/>
                </a:solidFill>
              </a:rPr>
              <a:t>2p + 2q + 2 = 2· (p + q + 1)</a:t>
            </a:r>
            <a:endParaRPr lang="en-US" sz="2400" dirty="0">
              <a:solidFill>
                <a:srgbClr val="C00000"/>
              </a:solidFill>
            </a:endParaRPr>
          </a:p>
          <a:p>
            <a:endParaRPr lang="en-US" sz="2400" dirty="0"/>
          </a:p>
          <a:p>
            <a:pPr>
              <a:buNone/>
            </a:pPr>
            <a:r>
              <a:rPr lang="en-US" sz="2400" dirty="0"/>
              <a:t>	which is </a:t>
            </a:r>
            <a:r>
              <a:rPr lang="en-US" sz="2400" dirty="0">
                <a:solidFill>
                  <a:srgbClr val="C00000"/>
                </a:solidFill>
              </a:rPr>
              <a:t>even</a:t>
            </a:r>
            <a:r>
              <a:rPr lang="en-US" sz="2400" dirty="0"/>
              <a:t>, contradicting the assumption that </a:t>
            </a:r>
            <a:r>
              <a:rPr lang="en-US" sz="2400" dirty="0">
                <a:solidFill>
                  <a:srgbClr val="C00000"/>
                </a:solidFill>
              </a:rPr>
              <a:t>n + m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odd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822325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Contradiction …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 3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008529" y="1219200"/>
            <a:ext cx="10206317" cy="5105400"/>
          </a:xfrm>
        </p:spPr>
        <p:txBody>
          <a:bodyPr/>
          <a:lstStyle/>
          <a:p>
            <a:r>
              <a:rPr lang="en-US" dirty="0"/>
              <a:t> Prove that       is irrational.</a:t>
            </a:r>
          </a:p>
          <a:p>
            <a:r>
              <a:rPr lang="en-US" b="1" u="sng" dirty="0">
                <a:solidFill>
                  <a:srgbClr val="0070C0"/>
                </a:solidFill>
              </a:rPr>
              <a:t>PROOF:</a:t>
            </a:r>
            <a:endParaRPr lang="en-US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/>
              <a:t>   Suppose      </a:t>
            </a:r>
          </a:p>
          <a:p>
            <a:pPr>
              <a:buNone/>
            </a:pPr>
            <a:r>
              <a:rPr lang="en-US" dirty="0"/>
              <a:t>				is rational. </a:t>
            </a:r>
          </a:p>
          <a:p>
            <a:pPr>
              <a:buNone/>
            </a:pPr>
            <a:r>
              <a:rPr lang="en-US" dirty="0"/>
              <a:t>	Then there are integers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dirty="0"/>
              <a:t> with </a:t>
            </a:r>
            <a:r>
              <a:rPr lang="en-US" dirty="0">
                <a:solidFill>
                  <a:srgbClr val="C00000"/>
                </a:solidFill>
              </a:rPr>
              <a:t>no common factors</a:t>
            </a:r>
            <a:r>
              <a:rPr lang="en-US" dirty="0"/>
              <a:t> so that</a:t>
            </a:r>
          </a:p>
          <a:p>
            <a:pPr>
              <a:buNone/>
            </a:pPr>
            <a:r>
              <a:rPr lang="en-US" dirty="0"/>
              <a:t>	Squaring both sides gives</a:t>
            </a:r>
          </a:p>
          <a:p>
            <a:endParaRPr lang="en-US" dirty="0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7203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208954"/>
              </p:ext>
            </p:extLst>
          </p:nvPr>
        </p:nvGraphicFramePr>
        <p:xfrm>
          <a:off x="2933519" y="1187450"/>
          <a:ext cx="562716" cy="517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6" name="Equation" r:id="rId3" imgW="241091" imgH="215713" progId="Equation.3">
                  <p:embed/>
                </p:oleObj>
              </mc:Choice>
              <mc:Fallback>
                <p:oleObj name="Equation" r:id="rId3" imgW="241091" imgH="215713" progId="Equation.3">
                  <p:embed/>
                  <p:pic>
                    <p:nvPicPr>
                      <p:cNvPr id="17203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3519" y="1187450"/>
                        <a:ext cx="562716" cy="5176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905641"/>
              </p:ext>
            </p:extLst>
          </p:nvPr>
        </p:nvGraphicFramePr>
        <p:xfrm>
          <a:off x="3188194" y="2648184"/>
          <a:ext cx="616082" cy="565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Equation" r:id="rId5" imgW="241091" imgH="215713" progId="Equation.3">
                  <p:embed/>
                </p:oleObj>
              </mc:Choice>
              <mc:Fallback>
                <p:oleObj name="Equation" r:id="rId5" imgW="241091" imgH="215713" progId="Equation.3">
                  <p:embed/>
                  <p:pic>
                    <p:nvPicPr>
                      <p:cNvPr id="1720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194" y="2648184"/>
                        <a:ext cx="616082" cy="5659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6" name="Object 4"/>
          <p:cNvGraphicFramePr>
            <a:graphicFrameLocks noChangeAspect="1"/>
          </p:cNvGraphicFramePr>
          <p:nvPr/>
        </p:nvGraphicFramePr>
        <p:xfrm>
          <a:off x="4495800" y="4267200"/>
          <a:ext cx="914400" cy="67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8" name="Equation" r:id="rId7" imgW="533160" imgH="393480" progId="Equation.3">
                  <p:embed/>
                </p:oleObj>
              </mc:Choice>
              <mc:Fallback>
                <p:oleObj name="Equation" r:id="rId7" imgW="533160" imgH="393480" progId="Equation.3">
                  <p:embed/>
                  <p:pic>
                    <p:nvPicPr>
                      <p:cNvPr id="1720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267200"/>
                        <a:ext cx="914400" cy="6749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037" name="Object 5"/>
          <p:cNvGraphicFramePr>
            <a:graphicFrameLocks noChangeAspect="1"/>
          </p:cNvGraphicFramePr>
          <p:nvPr/>
        </p:nvGraphicFramePr>
        <p:xfrm>
          <a:off x="4600136" y="5337512"/>
          <a:ext cx="829992" cy="72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9" name="Equation" r:id="rId9" imgW="482400" imgH="419040" progId="Equation.3">
                  <p:embed/>
                </p:oleObj>
              </mc:Choice>
              <mc:Fallback>
                <p:oleObj name="Equation" r:id="rId9" imgW="482400" imgH="419040" progId="Equation.3">
                  <p:embed/>
                  <p:pic>
                    <p:nvPicPr>
                      <p:cNvPr id="1720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136" y="5337512"/>
                        <a:ext cx="829992" cy="7207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045105" y="273407"/>
            <a:ext cx="9829800" cy="3572452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	or		  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= 2n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/>
              <a:t>	………………………(1)</a:t>
            </a:r>
          </a:p>
          <a:p>
            <a:pPr>
              <a:buNone/>
            </a:pPr>
            <a:r>
              <a:rPr lang="en-US" dirty="0"/>
              <a:t>	This implies that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even</a:t>
            </a:r>
            <a:r>
              <a:rPr lang="en-US" dirty="0"/>
              <a:t> (by definition of even). </a:t>
            </a:r>
          </a:p>
          <a:p>
            <a:pPr>
              <a:buNone/>
            </a:pPr>
            <a:r>
              <a:rPr lang="en-US" dirty="0"/>
              <a:t>	It follows that </a:t>
            </a:r>
            <a:r>
              <a:rPr lang="en-US" dirty="0">
                <a:solidFill>
                  <a:srgbClr val="C00000"/>
                </a:solidFill>
              </a:rPr>
              <a:t>m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even</a:t>
            </a:r>
            <a:r>
              <a:rPr lang="en-US" dirty="0"/>
              <a:t>. Hence</a:t>
            </a:r>
          </a:p>
          <a:p>
            <a:pPr>
              <a:buNone/>
            </a:pPr>
            <a:r>
              <a:rPr lang="en-US" dirty="0"/>
              <a:t>			   </a:t>
            </a:r>
            <a:r>
              <a:rPr lang="en-US" dirty="0">
                <a:solidFill>
                  <a:srgbClr val="C00000"/>
                </a:solidFill>
              </a:rPr>
              <a:t>m = 2 k</a:t>
            </a:r>
            <a:r>
              <a:rPr lang="en-US" dirty="0"/>
              <a:t> 	for some integer k…..(2)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pPr>
              <a:buNone/>
            </a:pPr>
            <a:r>
              <a:rPr lang="en-US" dirty="0"/>
              <a:t>	Substituting (2) in (1), we get</a:t>
            </a:r>
          </a:p>
          <a:p>
            <a:pPr>
              <a:buNone/>
            </a:pPr>
            <a:r>
              <a:rPr lang="en-US" dirty="0"/>
              <a:t>			</a:t>
            </a:r>
            <a:r>
              <a:rPr lang="en-US" dirty="0">
                <a:solidFill>
                  <a:srgbClr val="C00000"/>
                </a:solidFill>
              </a:rPr>
              <a:t>(2k)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= 2n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	 	 </a:t>
            </a:r>
            <a:r>
              <a:rPr lang="en-US" dirty="0">
                <a:solidFill>
                  <a:srgbClr val="C00000"/>
                </a:solidFill>
              </a:rPr>
              <a:t>4k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 = 2n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/>
              <a:t>		 	    </a:t>
            </a:r>
            <a:r>
              <a:rPr lang="en-US" dirty="0">
                <a:solidFill>
                  <a:srgbClr val="C00000"/>
                </a:solidFill>
              </a:rPr>
              <a:t>n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 = 2k</a:t>
            </a:r>
            <a:r>
              <a:rPr lang="en-US" baseline="30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53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68172"/>
              </p:ext>
            </p:extLst>
          </p:nvPr>
        </p:nvGraphicFramePr>
        <p:xfrm>
          <a:off x="2261588" y="2926355"/>
          <a:ext cx="457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8" r:id="rId3" imgW="190417" imgH="152334" progId="">
                  <p:embed/>
                </p:oleObj>
              </mc:Choice>
              <mc:Fallback>
                <p:oleObj r:id="rId3" imgW="190417" imgH="152334" progId="">
                  <p:embed/>
                  <p:pic>
                    <p:nvPicPr>
                      <p:cNvPr id="1853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588" y="2926355"/>
                        <a:ext cx="4572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392519"/>
              </p:ext>
            </p:extLst>
          </p:nvPr>
        </p:nvGraphicFramePr>
        <p:xfrm>
          <a:off x="2261588" y="3386107"/>
          <a:ext cx="457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9" r:id="rId5" imgW="190417" imgH="152334" progId="">
                  <p:embed/>
                </p:oleObj>
              </mc:Choice>
              <mc:Fallback>
                <p:oleObj r:id="rId5" imgW="190417" imgH="152334" progId="">
                  <p:embed/>
                  <p:pic>
                    <p:nvPicPr>
                      <p:cNvPr id="185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588" y="3386107"/>
                        <a:ext cx="457200" cy="304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1A64E17-842E-4AE5-AD30-EE5577B53A41}"/>
              </a:ext>
            </a:extLst>
          </p:cNvPr>
          <p:cNvSpPr txBox="1"/>
          <p:nvPr/>
        </p:nvSpPr>
        <p:spPr>
          <a:xfrm>
            <a:off x="1045105" y="3980330"/>
            <a:ext cx="106130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implies that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even</a:t>
            </a:r>
            <a:r>
              <a:rPr lang="en-US" sz="2400" dirty="0"/>
              <a:t>, and so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even</a:t>
            </a:r>
            <a:r>
              <a:rPr lang="en-US" sz="2400" dirty="0"/>
              <a:t>. But we also know that m is even. </a:t>
            </a:r>
          </a:p>
          <a:p>
            <a:endParaRPr lang="en-US" sz="2400" dirty="0"/>
          </a:p>
          <a:p>
            <a:r>
              <a:rPr lang="en-US" sz="2400" dirty="0"/>
              <a:t>Hence both </a:t>
            </a:r>
            <a:r>
              <a:rPr lang="en-US" sz="2400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have a </a:t>
            </a:r>
            <a:r>
              <a:rPr lang="en-US" sz="2400" dirty="0">
                <a:solidFill>
                  <a:srgbClr val="C00000"/>
                </a:solidFill>
              </a:rPr>
              <a:t>common factor 2</a:t>
            </a:r>
            <a:r>
              <a:rPr lang="en-US" sz="2400" dirty="0"/>
              <a:t>. But this </a:t>
            </a:r>
            <a:r>
              <a:rPr lang="en-US" sz="2400" dirty="0">
                <a:solidFill>
                  <a:srgbClr val="C00000"/>
                </a:solidFill>
              </a:rPr>
              <a:t>contradicts</a:t>
            </a:r>
            <a:r>
              <a:rPr lang="en-US" sz="2400" dirty="0"/>
              <a:t> the </a:t>
            </a:r>
            <a:r>
              <a:rPr lang="en-US" sz="2400" dirty="0">
                <a:solidFill>
                  <a:srgbClr val="C00000"/>
                </a:solidFill>
              </a:rPr>
              <a:t>supposition</a:t>
            </a:r>
            <a:r>
              <a:rPr lang="en-US" sz="2400" dirty="0"/>
              <a:t> that </a:t>
            </a:r>
            <a:r>
              <a:rPr lang="en-US" sz="2400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 have </a:t>
            </a:r>
            <a:r>
              <a:rPr lang="en-US" sz="2400" dirty="0">
                <a:solidFill>
                  <a:srgbClr val="C00000"/>
                </a:solidFill>
              </a:rPr>
              <a:t>no common factors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dirty="0"/>
              <a:t>Hence our </a:t>
            </a:r>
            <a:r>
              <a:rPr lang="en-US" sz="2400" dirty="0">
                <a:solidFill>
                  <a:srgbClr val="C00000"/>
                </a:solidFill>
              </a:rPr>
              <a:t>supposition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false</a:t>
            </a:r>
            <a:r>
              <a:rPr lang="en-US" sz="2400" dirty="0"/>
              <a:t> and so the </a:t>
            </a:r>
            <a:r>
              <a:rPr lang="en-US" sz="2400" dirty="0">
                <a:solidFill>
                  <a:srgbClr val="C00000"/>
                </a:solidFill>
              </a:rPr>
              <a:t>theorem</a:t>
            </a:r>
            <a:r>
              <a:rPr lang="en-US" sz="2400" dirty="0"/>
              <a:t> is </a:t>
            </a:r>
            <a:r>
              <a:rPr lang="en-US" sz="2400" dirty="0">
                <a:solidFill>
                  <a:srgbClr val="C00000"/>
                </a:solidFill>
              </a:rPr>
              <a:t>true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Contradiction … </a:t>
            </a:r>
            <a:r>
              <a:rPr lang="en-US" sz="4000" dirty="0">
                <a:solidFill>
                  <a:schemeClr val="accent2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 4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Prove by contradiction that                           is irrational.</a:t>
            </a:r>
          </a:p>
          <a:p>
            <a:endParaRPr lang="en-US" dirty="0"/>
          </a:p>
          <a:p>
            <a:r>
              <a:rPr lang="en-US" b="1" u="sng" dirty="0">
                <a:solidFill>
                  <a:srgbClr val="0070C0"/>
                </a:solidFill>
              </a:rPr>
              <a:t>PROOF:</a:t>
            </a:r>
            <a:endParaRPr lang="en-US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/>
              <a:t>	</a:t>
            </a:r>
          </a:p>
          <a:p>
            <a:pPr>
              <a:buNone/>
            </a:pPr>
            <a:r>
              <a:rPr lang="en-US" dirty="0"/>
              <a:t>	Suppose                       is </a:t>
            </a:r>
            <a:r>
              <a:rPr lang="en-US" dirty="0">
                <a:solidFill>
                  <a:srgbClr val="C00000"/>
                </a:solidFill>
              </a:rPr>
              <a:t>rational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Then by </a:t>
            </a:r>
            <a:r>
              <a:rPr lang="en-US" dirty="0">
                <a:solidFill>
                  <a:srgbClr val="C00000"/>
                </a:solidFill>
              </a:rPr>
              <a:t>definition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rational</a:t>
            </a:r>
            <a:r>
              <a:rPr lang="en-US" dirty="0"/>
              <a:t>,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for some integers a and b with  b≠0.</a:t>
            </a:r>
          </a:p>
          <a:p>
            <a:pPr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636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915413"/>
              </p:ext>
            </p:extLst>
          </p:nvPr>
        </p:nvGraphicFramePr>
        <p:xfrm>
          <a:off x="4754344" y="1761477"/>
          <a:ext cx="1709626" cy="457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3" r:id="rId3" imgW="520474" imgH="215806" progId="">
                  <p:embed/>
                </p:oleObj>
              </mc:Choice>
              <mc:Fallback>
                <p:oleObj r:id="rId3" imgW="520474" imgH="215806" progId="">
                  <p:embed/>
                  <p:pic>
                    <p:nvPicPr>
                      <p:cNvPr id="18636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4344" y="1761477"/>
                        <a:ext cx="1709626" cy="4573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332985"/>
              </p:ext>
            </p:extLst>
          </p:nvPr>
        </p:nvGraphicFramePr>
        <p:xfrm>
          <a:off x="2572681" y="3320608"/>
          <a:ext cx="1267264" cy="36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r:id="rId5" imgW="520474" imgH="215806" progId="">
                  <p:embed/>
                </p:oleObj>
              </mc:Choice>
              <mc:Fallback>
                <p:oleObj r:id="rId5" imgW="520474" imgH="215806" progId="">
                  <p:embed/>
                  <p:pic>
                    <p:nvPicPr>
                      <p:cNvPr id="18637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681" y="3320608"/>
                        <a:ext cx="1267264" cy="361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372" name="Object 4"/>
          <p:cNvGraphicFramePr>
            <a:graphicFrameLocks noChangeAspect="1"/>
          </p:cNvGraphicFramePr>
          <p:nvPr/>
        </p:nvGraphicFramePr>
        <p:xfrm>
          <a:off x="3681464" y="4267200"/>
          <a:ext cx="1752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Equation" r:id="rId7" imgW="787320" imgH="393480" progId="Equation.3">
                  <p:embed/>
                </p:oleObj>
              </mc:Choice>
              <mc:Fallback>
                <p:oleObj name="Equation" r:id="rId7" imgW="787320" imgH="393480" progId="Equation.3">
                  <p:embed/>
                  <p:pic>
                    <p:nvPicPr>
                      <p:cNvPr id="1863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64" y="4267200"/>
                        <a:ext cx="17526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6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018211" y="136525"/>
            <a:ext cx="9829800" cy="41288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Now consider,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dirty="0"/>
              <a:t>	Since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b</a:t>
            </a:r>
            <a:r>
              <a:rPr lang="en-US" dirty="0"/>
              <a:t> are integers, so are </a:t>
            </a:r>
            <a:r>
              <a:rPr lang="en-US" dirty="0">
                <a:solidFill>
                  <a:srgbClr val="C00000"/>
                </a:solidFill>
              </a:rPr>
              <a:t>6b-a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7b</a:t>
            </a:r>
            <a:r>
              <a:rPr lang="en-US" dirty="0"/>
              <a:t> and 7b≠0;</a:t>
            </a:r>
          </a:p>
          <a:p>
            <a:pPr>
              <a:buNone/>
            </a:pPr>
            <a:r>
              <a:rPr lang="en-US" dirty="0"/>
              <a:t>	Hence  is a </a:t>
            </a:r>
            <a:r>
              <a:rPr lang="en-US" dirty="0">
                <a:solidFill>
                  <a:srgbClr val="C00000"/>
                </a:solidFill>
              </a:rPr>
              <a:t>quotient</a:t>
            </a:r>
            <a:r>
              <a:rPr lang="en-US" dirty="0"/>
              <a:t> of the two integers </a:t>
            </a:r>
            <a:r>
              <a:rPr lang="en-US" dirty="0">
                <a:solidFill>
                  <a:srgbClr val="C00000"/>
                </a:solidFill>
              </a:rPr>
              <a:t>6b-a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7b</a:t>
            </a:r>
            <a:r>
              <a:rPr lang="en-US" dirty="0"/>
              <a:t> with 7b≠0.</a:t>
            </a:r>
          </a:p>
          <a:p>
            <a:pPr>
              <a:buNone/>
            </a:pPr>
            <a:r>
              <a:rPr lang="en-US" dirty="0"/>
              <a:t>	 Accordingly,        is </a:t>
            </a:r>
            <a:r>
              <a:rPr lang="en-US" dirty="0">
                <a:solidFill>
                  <a:srgbClr val="C00000"/>
                </a:solidFill>
              </a:rPr>
              <a:t>rational</a:t>
            </a:r>
            <a:r>
              <a:rPr lang="en-US" dirty="0"/>
              <a:t> (by definition of rational).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188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227666"/>
              </p:ext>
            </p:extLst>
          </p:nvPr>
        </p:nvGraphicFramePr>
        <p:xfrm>
          <a:off x="4128771" y="184666"/>
          <a:ext cx="2476500" cy="2055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6" r:id="rId3" imgW="1333440" imgH="1218960" progId="">
                  <p:embed/>
                </p:oleObj>
              </mc:Choice>
              <mc:Fallback>
                <p:oleObj r:id="rId3" imgW="1333440" imgH="1218960" progId="">
                  <p:embed/>
                  <p:pic>
                    <p:nvPicPr>
                      <p:cNvPr id="1884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8771" y="184666"/>
                        <a:ext cx="2476500" cy="20552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84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340186"/>
              </p:ext>
            </p:extLst>
          </p:nvPr>
        </p:nvGraphicFramePr>
        <p:xfrm>
          <a:off x="3276041" y="3677874"/>
          <a:ext cx="558549" cy="479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7" r:id="rId5" imgW="241091" imgH="215713" progId="">
                  <p:embed/>
                </p:oleObj>
              </mc:Choice>
              <mc:Fallback>
                <p:oleObj r:id="rId5" imgW="241091" imgH="215713" progId="">
                  <p:embed/>
                  <p:pic>
                    <p:nvPicPr>
                      <p:cNvPr id="1884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041" y="3677874"/>
                        <a:ext cx="558549" cy="4793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0E30A0B-5188-4C6C-98A6-BFF7E7579E05}"/>
              </a:ext>
            </a:extLst>
          </p:cNvPr>
          <p:cNvSpPr txBox="1">
            <a:spLocks/>
          </p:cNvSpPr>
          <p:nvPr/>
        </p:nvSpPr>
        <p:spPr>
          <a:xfrm>
            <a:off x="1018211" y="4802997"/>
            <a:ext cx="9829800" cy="1705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</a:t>
            </a:r>
            <a:r>
              <a:rPr lang="en-US" dirty="0">
                <a:solidFill>
                  <a:srgbClr val="C00000"/>
                </a:solidFill>
              </a:rPr>
              <a:t>contradicts</a:t>
            </a:r>
            <a:r>
              <a:rPr lang="en-US" dirty="0"/>
              <a:t> the fact because       is </a:t>
            </a:r>
            <a:r>
              <a:rPr lang="en-US" dirty="0">
                <a:solidFill>
                  <a:srgbClr val="C00000"/>
                </a:solidFill>
              </a:rPr>
              <a:t>irrational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Hence our </a:t>
            </a:r>
            <a:r>
              <a:rPr lang="en-US" dirty="0">
                <a:solidFill>
                  <a:srgbClr val="C00000"/>
                </a:solidFill>
              </a:rPr>
              <a:t>supposition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false</a:t>
            </a:r>
            <a:r>
              <a:rPr lang="en-US" dirty="0"/>
              <a:t> and so                     is </a:t>
            </a:r>
            <a:r>
              <a:rPr lang="en-US" dirty="0">
                <a:solidFill>
                  <a:srgbClr val="C00000"/>
                </a:solidFill>
              </a:rPr>
              <a:t>irrational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DFB0CE18-24AD-4B2C-95F9-0DE0EEA8C1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449473"/>
              </p:ext>
            </p:extLst>
          </p:nvPr>
        </p:nvGraphicFramePr>
        <p:xfrm>
          <a:off x="6361981" y="4802997"/>
          <a:ext cx="486579" cy="417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8" r:id="rId7" imgW="241091" imgH="215713" progId="">
                  <p:embed/>
                </p:oleObj>
              </mc:Choice>
              <mc:Fallback>
                <p:oleObj r:id="rId7" imgW="241091" imgH="215713" progId="">
                  <p:embed/>
                  <p:pic>
                    <p:nvPicPr>
                      <p:cNvPr id="1894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1981" y="4802997"/>
                        <a:ext cx="486579" cy="4173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A5645D4E-B738-4321-82C9-CF0CCF125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657605"/>
              </p:ext>
            </p:extLst>
          </p:nvPr>
        </p:nvGraphicFramePr>
        <p:xfrm>
          <a:off x="7180823" y="5820878"/>
          <a:ext cx="1268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9" r:id="rId9" imgW="520474" imgH="215806" progId="">
                  <p:embed/>
                </p:oleObj>
              </mc:Choice>
              <mc:Fallback>
                <p:oleObj r:id="rId9" imgW="520474" imgH="215806" progId="">
                  <p:embed/>
                  <p:pic>
                    <p:nvPicPr>
                      <p:cNvPr id="1894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0823" y="5820878"/>
                        <a:ext cx="1268412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097" name="Group 1"/>
          <p:cNvGrpSpPr>
            <a:grpSpLocks noChangeAspect="1"/>
          </p:cNvGrpSpPr>
          <p:nvPr/>
        </p:nvGrpSpPr>
        <p:grpSpPr bwMode="auto">
          <a:xfrm>
            <a:off x="1524001" y="1"/>
            <a:ext cx="5641975" cy="3313113"/>
            <a:chOff x="1800" y="5046"/>
            <a:chExt cx="8885" cy="5217"/>
          </a:xfrm>
        </p:grpSpPr>
        <p:sp>
          <p:nvSpPr>
            <p:cNvPr id="132098" name="AutoShape 2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2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32100" name="Group 4"/>
          <p:cNvGrpSpPr>
            <a:grpSpLocks noChangeAspect="1"/>
          </p:cNvGrpSpPr>
          <p:nvPr/>
        </p:nvGrpSpPr>
        <p:grpSpPr bwMode="auto">
          <a:xfrm>
            <a:off x="1524001" y="1"/>
            <a:ext cx="5641975" cy="3313113"/>
            <a:chOff x="1800" y="5046"/>
            <a:chExt cx="8885" cy="5217"/>
          </a:xfrm>
        </p:grpSpPr>
        <p:sp>
          <p:nvSpPr>
            <p:cNvPr id="132101" name="AutoShape 5"/>
            <p:cNvSpPr>
              <a:spLocks noChangeAspect="1" noChangeArrowheads="1" noTextEdit="1"/>
            </p:cNvSpPr>
            <p:nvPr/>
          </p:nvSpPr>
          <p:spPr bwMode="auto">
            <a:xfrm>
              <a:off x="1800" y="5046"/>
              <a:ext cx="8885" cy="52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2103" name="Line 7"/>
          <p:cNvSpPr>
            <a:spLocks noChangeShapeType="1"/>
          </p:cNvSpPr>
          <p:nvPr/>
        </p:nvSpPr>
        <p:spPr bwMode="auto">
          <a:xfrm flipV="1">
            <a:off x="4298951" y="1930400"/>
            <a:ext cx="3001963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4" name="Line 8"/>
          <p:cNvSpPr>
            <a:spLocks noChangeShapeType="1"/>
          </p:cNvSpPr>
          <p:nvPr/>
        </p:nvSpPr>
        <p:spPr bwMode="auto">
          <a:xfrm>
            <a:off x="4308475" y="19558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5" name="Line 9"/>
          <p:cNvSpPr>
            <a:spLocks noChangeShapeType="1"/>
          </p:cNvSpPr>
          <p:nvPr/>
        </p:nvSpPr>
        <p:spPr bwMode="auto">
          <a:xfrm>
            <a:off x="7300913" y="1930400"/>
            <a:ext cx="0" cy="3683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6" name="Rectangle 10"/>
          <p:cNvSpPr>
            <a:spLocks noChangeArrowheads="1"/>
          </p:cNvSpPr>
          <p:nvPr/>
        </p:nvSpPr>
        <p:spPr bwMode="auto">
          <a:xfrm>
            <a:off x="6265863" y="2274887"/>
            <a:ext cx="1887537" cy="465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INDIRECT PROOF</a:t>
            </a:r>
            <a:endParaRPr lang="en-US" b="1" dirty="0">
              <a:latin typeface="Arial" pitchFamily="34" charset="0"/>
            </a:endParaRPr>
          </a:p>
        </p:txBody>
      </p:sp>
      <p:sp>
        <p:nvSpPr>
          <p:cNvPr id="132107" name="Rectangle 11"/>
          <p:cNvSpPr>
            <a:spLocks noChangeArrowheads="1"/>
          </p:cNvSpPr>
          <p:nvPr/>
        </p:nvSpPr>
        <p:spPr bwMode="auto">
          <a:xfrm>
            <a:off x="3429001" y="2344738"/>
            <a:ext cx="1711325" cy="8556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DIRECT PROOF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p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q</a:t>
            </a:r>
            <a:endParaRPr lang="en-US" b="1" dirty="0">
              <a:solidFill>
                <a:srgbClr val="C00000"/>
              </a:solidFill>
              <a:latin typeface="Arial" pitchFamily="34" charset="0"/>
            </a:endParaRPr>
          </a:p>
        </p:txBody>
      </p:sp>
      <p:sp>
        <p:nvSpPr>
          <p:cNvPr id="132108" name="Line 12"/>
          <p:cNvSpPr>
            <a:spLocks noChangeShapeType="1"/>
          </p:cNvSpPr>
          <p:nvPr/>
        </p:nvSpPr>
        <p:spPr bwMode="auto">
          <a:xfrm>
            <a:off x="5937250" y="3046412"/>
            <a:ext cx="24844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09" name="Line 13"/>
          <p:cNvSpPr>
            <a:spLocks noChangeShapeType="1"/>
          </p:cNvSpPr>
          <p:nvPr/>
        </p:nvSpPr>
        <p:spPr bwMode="auto">
          <a:xfrm>
            <a:off x="5937250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0" name="Line 14"/>
          <p:cNvSpPr>
            <a:spLocks noChangeShapeType="1"/>
          </p:cNvSpPr>
          <p:nvPr/>
        </p:nvSpPr>
        <p:spPr bwMode="auto">
          <a:xfrm>
            <a:off x="8421688" y="3035300"/>
            <a:ext cx="0" cy="3667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1" name="Rectangle 15"/>
          <p:cNvSpPr>
            <a:spLocks noChangeArrowheads="1"/>
          </p:cNvSpPr>
          <p:nvPr/>
        </p:nvSpPr>
        <p:spPr bwMode="auto">
          <a:xfrm>
            <a:off x="4967748" y="3408824"/>
            <a:ext cx="1981200" cy="12541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PROOF BY 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CONTRAPOSITION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p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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q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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Gill Sans MT" pitchFamily="34" charset="0"/>
              </a:rPr>
              <a:t>~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q 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  <a:latin typeface="Gill Sans MT" pitchFamily="34" charset="0"/>
              </a:rPr>
              <a:t>~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p</a:t>
            </a:r>
            <a:endParaRPr lang="en-US" b="1" dirty="0">
              <a:solidFill>
                <a:srgbClr val="C00000"/>
              </a:solidFill>
              <a:latin typeface="Arial" pitchFamily="34" charset="0"/>
            </a:endParaRPr>
          </a:p>
        </p:txBody>
      </p:sp>
      <p:sp>
        <p:nvSpPr>
          <p:cNvPr id="132112" name="Rectangle 16"/>
          <p:cNvSpPr>
            <a:spLocks noChangeArrowheads="1"/>
          </p:cNvSpPr>
          <p:nvPr/>
        </p:nvSpPr>
        <p:spPr bwMode="auto">
          <a:xfrm>
            <a:off x="7438566" y="3408824"/>
            <a:ext cx="2086435" cy="1406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PROOF BY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</a:rPr>
              <a:t>CONTRADICTION</a:t>
            </a:r>
          </a:p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p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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q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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(p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</a:t>
            </a:r>
            <a:r>
              <a:rPr lang="en-US" b="1" dirty="0">
                <a:solidFill>
                  <a:srgbClr val="C00000"/>
                </a:solidFill>
                <a:latin typeface="Gill Sans MT" pitchFamily="34" charset="0"/>
              </a:rPr>
              <a:t>~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q)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  <a:sym typeface="Symbol" pitchFamily="18" charset="2"/>
              </a:rPr>
              <a:t> </a:t>
            </a:r>
            <a:r>
              <a:rPr lang="en-US" b="1" dirty="0">
                <a:solidFill>
                  <a:srgbClr val="C00000"/>
                </a:solidFill>
                <a:latin typeface="Calibri" pitchFamily="34" charset="0"/>
              </a:rPr>
              <a:t>c</a:t>
            </a:r>
          </a:p>
        </p:txBody>
      </p:sp>
      <p:sp>
        <p:nvSpPr>
          <p:cNvPr id="132113" name="Line 17"/>
          <p:cNvSpPr>
            <a:spLocks noChangeShapeType="1"/>
          </p:cNvSpPr>
          <p:nvPr/>
        </p:nvSpPr>
        <p:spPr bwMode="auto">
          <a:xfrm>
            <a:off x="5921375" y="1600201"/>
            <a:ext cx="0" cy="344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2114" name="Line 18"/>
          <p:cNvSpPr>
            <a:spLocks noChangeShapeType="1"/>
          </p:cNvSpPr>
          <p:nvPr/>
        </p:nvSpPr>
        <p:spPr bwMode="auto">
          <a:xfrm>
            <a:off x="7300913" y="2759076"/>
            <a:ext cx="0" cy="276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4343400" y="1125792"/>
            <a:ext cx="30480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3210" tIns="41605" rIns="83210" bIns="41605" numCol="1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ts val="1000"/>
              </a:spcAft>
            </a:pPr>
            <a:r>
              <a:rPr lang="en-US" sz="2400" b="1" u="sng" dirty="0">
                <a:solidFill>
                  <a:srgbClr val="FF0000"/>
                </a:solidFill>
                <a:latin typeface="Calibri" pitchFamily="34" charset="0"/>
              </a:rPr>
              <a:t>METHODS OF  PROOF</a:t>
            </a:r>
            <a:endParaRPr lang="en-US" sz="2400" b="1" u="sng" dirty="0">
              <a:solidFill>
                <a:srgbClr val="FF0000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99896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>
                <a:solidFill>
                  <a:srgbClr val="0070C0"/>
                </a:solidFill>
              </a:rPr>
              <a:t>PROOF BY CONTRAPOSITION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proof</a:t>
            </a:r>
            <a:r>
              <a:rPr lang="en-US" dirty="0"/>
              <a:t> by </a:t>
            </a:r>
            <a:r>
              <a:rPr lang="en-US" dirty="0">
                <a:solidFill>
                  <a:srgbClr val="C00000"/>
                </a:solidFill>
              </a:rPr>
              <a:t>contraposition</a:t>
            </a:r>
            <a:r>
              <a:rPr lang="en-US" dirty="0"/>
              <a:t> is based on the </a:t>
            </a:r>
            <a:r>
              <a:rPr lang="en-US" dirty="0">
                <a:solidFill>
                  <a:srgbClr val="C00000"/>
                </a:solidFill>
              </a:rPr>
              <a:t>logical equivalence</a:t>
            </a:r>
            <a:r>
              <a:rPr lang="en-US" dirty="0"/>
              <a:t> between a </a:t>
            </a:r>
            <a:r>
              <a:rPr lang="en-US" dirty="0">
                <a:solidFill>
                  <a:srgbClr val="C00000"/>
                </a:solidFill>
              </a:rPr>
              <a:t>statement</a:t>
            </a:r>
            <a:r>
              <a:rPr lang="en-US" dirty="0"/>
              <a:t> and its </a:t>
            </a:r>
            <a:r>
              <a:rPr lang="en-US" dirty="0" err="1">
                <a:solidFill>
                  <a:srgbClr val="C00000"/>
                </a:solidFill>
              </a:rPr>
              <a:t>contrapositive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Therefore, the implication </a:t>
            </a:r>
            <a:r>
              <a:rPr lang="en-US" dirty="0">
                <a:solidFill>
                  <a:srgbClr val="C00000"/>
                </a:solidFill>
              </a:rPr>
              <a:t>p→ q</a:t>
            </a:r>
            <a:r>
              <a:rPr lang="en-US" dirty="0"/>
              <a:t> can be proved by showing that its </a:t>
            </a:r>
            <a:r>
              <a:rPr lang="en-US" dirty="0" err="1">
                <a:solidFill>
                  <a:srgbClr val="C00000"/>
                </a:solidFill>
              </a:rPr>
              <a:t>contrapositive</a:t>
            </a:r>
            <a:r>
              <a:rPr lang="en-US" dirty="0">
                <a:solidFill>
                  <a:srgbClr val="C00000"/>
                </a:solidFill>
              </a:rPr>
              <a:t> ~ q → ~ p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true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>
                <a:solidFill>
                  <a:srgbClr val="C00000"/>
                </a:solidFill>
              </a:rPr>
              <a:t>contrapositive</a:t>
            </a:r>
            <a:r>
              <a:rPr lang="en-US" dirty="0"/>
              <a:t> is usually proved </a:t>
            </a:r>
            <a:r>
              <a:rPr lang="en-US" dirty="0">
                <a:solidFill>
                  <a:srgbClr val="C00000"/>
                </a:solidFill>
              </a:rPr>
              <a:t>directly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9944-04AC-4CD8-BA69-63C2A678C21A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method</a:t>
            </a:r>
            <a:r>
              <a:rPr lang="en-US" dirty="0"/>
              <a:t> of </a:t>
            </a:r>
            <a:r>
              <a:rPr lang="en-US" dirty="0">
                <a:solidFill>
                  <a:srgbClr val="C00000"/>
                </a:solidFill>
              </a:rPr>
              <a:t>proof</a:t>
            </a:r>
            <a:r>
              <a:rPr lang="en-US" dirty="0"/>
              <a:t> by </a:t>
            </a:r>
            <a:r>
              <a:rPr lang="en-US" dirty="0" err="1">
                <a:solidFill>
                  <a:srgbClr val="C00000"/>
                </a:solidFill>
              </a:rPr>
              <a:t>contrapositive</a:t>
            </a:r>
            <a:r>
              <a:rPr lang="en-US" dirty="0"/>
              <a:t> may be summarized as:</a:t>
            </a:r>
          </a:p>
          <a:p>
            <a:pPr lvl="1"/>
            <a:r>
              <a:rPr lang="en-US" dirty="0"/>
              <a:t>Express the statement </a:t>
            </a:r>
            <a:r>
              <a:rPr lang="en-US" dirty="0">
                <a:solidFill>
                  <a:srgbClr val="C00000"/>
                </a:solidFill>
              </a:rPr>
              <a:t>in the form if p then q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Rewrite</a:t>
            </a:r>
            <a:r>
              <a:rPr lang="en-US" dirty="0"/>
              <a:t> this statement in the </a:t>
            </a:r>
            <a:r>
              <a:rPr lang="en-US" dirty="0" err="1">
                <a:solidFill>
                  <a:srgbClr val="C00000"/>
                </a:solidFill>
              </a:rPr>
              <a:t>contrapositive</a:t>
            </a:r>
            <a:r>
              <a:rPr lang="en-US" dirty="0"/>
              <a:t> form </a:t>
            </a:r>
          </a:p>
          <a:p>
            <a:pPr lvl="1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if not q then not p</a:t>
            </a:r>
            <a:r>
              <a:rPr lang="en-US" dirty="0"/>
              <a:t>.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Prove</a:t>
            </a:r>
            <a:r>
              <a:rPr lang="en-US" dirty="0"/>
              <a:t> the </a:t>
            </a:r>
            <a:r>
              <a:rPr lang="en-US" dirty="0" err="1">
                <a:solidFill>
                  <a:srgbClr val="C00000"/>
                </a:solidFill>
              </a:rPr>
              <a:t>contrapositive</a:t>
            </a:r>
            <a:r>
              <a:rPr lang="en-US" dirty="0"/>
              <a:t> by a </a:t>
            </a:r>
            <a:r>
              <a:rPr lang="en-US" dirty="0">
                <a:solidFill>
                  <a:srgbClr val="C00000"/>
                </a:solidFill>
              </a:rPr>
              <a:t>direct proof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Contraposition … </a:t>
            </a:r>
            <a:r>
              <a:rPr lang="en-US" sz="3200" dirty="0">
                <a:solidFill>
                  <a:srgbClr val="6BA42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Example1</a:t>
            </a:r>
            <a:endParaRPr lang="en-US" sz="4000" dirty="0">
              <a:solidFill>
                <a:srgbClr val="6BA42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3"/>
            <a:ext cx="10515600" cy="655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by contraposition that if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an even integer, so is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n.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838200" y="1474116"/>
            <a:ext cx="10515600" cy="4839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Above statement 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q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 if its contraposition statement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¬q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true.</a:t>
            </a:r>
            <a:endParaRPr lang="en-US" sz="1800" dirty="0">
              <a:solidFill>
                <a:schemeClr val="accent5">
                  <a:lumMod val="75000"/>
                </a:schemeClr>
              </a:solidFill>
              <a:effectLst/>
              <a:latin typeface="Cambria Math" panose="02040503050406030204" pitchFamily="18" charset="0"/>
              <a:ea typeface="Calibri" panose="020F0502020204030204" pitchFamily="34" charset="0"/>
              <a:cs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Suppose that n is odd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 = 2p+1		… for some integer p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= (2p+1)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… taking square on both sides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= 4p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+4p+1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= 2(2p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+2p)+1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is an odd number as per definition of odd integers i.e., contrapositive statement is true.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Hence proved that the given statement is true.</a:t>
            </a:r>
            <a:endParaRPr lang="en-US" sz="22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59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Contraposition … </a:t>
            </a:r>
            <a:r>
              <a:rPr lang="en-US" sz="3200" dirty="0">
                <a:solidFill>
                  <a:srgbClr val="6BA42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Example2</a:t>
            </a:r>
            <a:endParaRPr lang="en-US" sz="4000" dirty="0">
              <a:solidFill>
                <a:srgbClr val="6BA42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3"/>
            <a:ext cx="10515600" cy="655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by contraposition that if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3n+2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an odd integer, so is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n.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838200" y="1474116"/>
            <a:ext cx="10515600" cy="4839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Above statement 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q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 if its contraposition statement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¬q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Suppose that n is even i.e. n = 2p for some integer p as per definition of even numbers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 = 2p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3n = 3(2p)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3n = 2(3p)			… 3n is an even number for some integer 3p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3n+2 = 2(3p)+2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3n+2 = 2(3p+1)		… 3n+2 is an even number for some integer 3p+1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Hence, the contraposition statement proves to be true.</a:t>
            </a:r>
          </a:p>
          <a:p>
            <a:pPr marL="0" indent="0">
              <a:buNone/>
            </a:pPr>
            <a:r>
              <a:rPr lang="en-US" sz="22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Hence the given statement is true. 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sz="22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17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Contraposition … </a:t>
            </a:r>
            <a:r>
              <a:rPr lang="en-US" sz="3200" dirty="0">
                <a:solidFill>
                  <a:srgbClr val="6BA42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Example3</a:t>
            </a:r>
            <a:endParaRPr lang="en-US" sz="4000" dirty="0">
              <a:solidFill>
                <a:srgbClr val="6BA42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3"/>
            <a:ext cx="10515600" cy="65560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by contraposition that if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not divisible by 25 then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not divisible by 5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838200" y="1474116"/>
            <a:ext cx="10515600" cy="4839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Above statement 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q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 if its contraposition statement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¬q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Suppose that n is divisible by 5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 = 5p 			… for some integer p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= (5p)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			… taking square on both sides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= 25p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= 25K 			… for some integer k = p2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Shows that n</a:t>
            </a:r>
            <a:r>
              <a:rPr lang="en-US" sz="22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2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 is divisible by 25 i.e., the contraposition of the given statement is true.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Hence the given statement is true.</a:t>
            </a:r>
          </a:p>
          <a:p>
            <a:pPr>
              <a:buFont typeface="Wingdings" panose="05000000000000000000" pitchFamily="2" charset="2"/>
              <a:buChar char="è"/>
            </a:pPr>
            <a:endParaRPr lang="en-US" sz="22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651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Contraposition … </a:t>
            </a:r>
            <a:r>
              <a:rPr lang="en-US" sz="3200" dirty="0">
                <a:solidFill>
                  <a:srgbClr val="6BA42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Example4</a:t>
            </a:r>
            <a:endParaRPr lang="en-US" sz="4000" dirty="0">
              <a:solidFill>
                <a:srgbClr val="6BA42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2"/>
            <a:ext cx="10997242" cy="9910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the following statement by contraposition: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"If for any two integers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if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m+n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even then either both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are even or both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are odd."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838200" y="2096219"/>
            <a:ext cx="10515600" cy="474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Proof: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Above statement 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Wingdings" panose="05000000000000000000" pitchFamily="2" charset="2"/>
              </a:rPr>
              <a:t> q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 if its contraposition statement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¬q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  <a:sym typeface="Wingdings" panose="05000000000000000000" pitchFamily="2" charset="2"/>
              </a:rPr>
              <a:t>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¬p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is true.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Suppose that neither both m and n are even or both m and n are odd.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i.e. one of m and n is even and the other is odd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Two possibilities arise:</a:t>
            </a:r>
          </a:p>
          <a:p>
            <a:pPr marL="0" indent="0">
              <a:buNone/>
            </a:pP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 m is even, n is odd	ii. m is odd, n is even</a:t>
            </a:r>
          </a:p>
        </p:txBody>
      </p:sp>
    </p:spTree>
    <p:extLst>
      <p:ext uri="{BB962C8B-B14F-4D97-AF65-F5344CB8AC3E}">
        <p14:creationId xmlns:p14="http://schemas.microsoft.com/office/powerpoint/2010/main" val="340182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13538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Contraposition … </a:t>
            </a:r>
            <a:r>
              <a:rPr lang="en-US" sz="3200" dirty="0">
                <a:solidFill>
                  <a:srgbClr val="6BA42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Example4  … </a:t>
            </a:r>
            <a:r>
              <a:rPr lang="en-US" sz="2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continue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2"/>
            <a:ext cx="10997242" cy="9910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the following statement by contraposition: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"If for any two integers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if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m+n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even then either both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are even or both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are odd."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838200" y="2096219"/>
            <a:ext cx="11083506" cy="474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Case 1: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m is even, n is odd</a:t>
            </a:r>
            <a:endParaRPr lang="en-US" sz="2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= 2p				… by the definition of even numbers for some integer p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= 2q + 1			… by the definition of odd numbers for some integer q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+ n 	= 2p + 2q + 1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+ n	= 2(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p+q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+ 1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Shows that m + n is an odd number for some integer 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p+q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contraposition statement is proven to be true.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 the given statement is true.</a:t>
            </a:r>
          </a:p>
          <a:p>
            <a:pPr marL="0" indent="0">
              <a:buNone/>
            </a:pPr>
            <a:endParaRPr lang="en-US" sz="22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595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13538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Contraposition … </a:t>
            </a:r>
            <a:r>
              <a:rPr lang="en-US" sz="3200" dirty="0">
                <a:solidFill>
                  <a:srgbClr val="6BA42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Example4  … </a:t>
            </a:r>
            <a:r>
              <a:rPr lang="en-US" sz="2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continue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2"/>
            <a:ext cx="10997242" cy="9910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the following statement by contraposition:</a:t>
            </a:r>
          </a:p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"If for any two integers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if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m+n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even then either both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are even or both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are odd."</a:t>
            </a:r>
          </a:p>
        </p:txBody>
      </p:sp>
      <p:sp>
        <p:nvSpPr>
          <p:cNvPr id="4" name="Content Placeholder 6">
            <a:extLst>
              <a:ext uri="{FF2B5EF4-FFF2-40B4-BE49-F238E27FC236}">
                <a16:creationId xmlns:a16="http://schemas.microsoft.com/office/drawing/2014/main" id="{221C56A2-E61C-64E1-32D3-52CB81B72B8C}"/>
              </a:ext>
            </a:extLst>
          </p:cNvPr>
          <p:cNvSpPr txBox="1">
            <a:spLocks/>
          </p:cNvSpPr>
          <p:nvPr/>
        </p:nvSpPr>
        <p:spPr>
          <a:xfrm>
            <a:off x="838200" y="2096219"/>
            <a:ext cx="11083506" cy="474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Case 2: </a:t>
            </a:r>
            <a:r>
              <a:rPr lang="en-US" sz="2200" dirty="0">
                <a:latin typeface="Cambria Math" panose="02040503050406030204" pitchFamily="18" charset="0"/>
                <a:ea typeface="Cambria Math" panose="02040503050406030204" pitchFamily="18" charset="0"/>
              </a:rPr>
              <a:t>m is odd, n is even</a:t>
            </a:r>
            <a:endParaRPr lang="en-US" sz="22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= 2p				… by the definition of even numbers for some integer p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= 2q + 1			… by the definition of odd numbers for some integer q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+ n 	= 2q + 1 + 2p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+ n	= 2(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q+p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 + 1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Shows that m + n is an odd number for some integer 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q+p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 contraposition statement is proven to be true. 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Hence the given statement is true.</a:t>
            </a:r>
          </a:p>
          <a:p>
            <a:pPr marL="0" indent="0">
              <a:buNone/>
            </a:pPr>
            <a:endParaRPr lang="en-US" sz="2200" dirty="0">
              <a:solidFill>
                <a:schemeClr val="accent5">
                  <a:lumMod val="75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89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C58501-B8A2-ADC3-C792-9FF9BFD80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3" y="1663905"/>
            <a:ext cx="5994549" cy="51464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060D7A-D9B8-FBBC-8AF0-712307F8E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91036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ambria Math" panose="02040503050406030204" pitchFamily="18" charset="0"/>
                <a:ea typeface="Cambria Math" panose="02040503050406030204" pitchFamily="18" charset="0"/>
              </a:rPr>
              <a:t>Proofs…</a:t>
            </a:r>
            <a:r>
              <a:rPr lang="en-US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3600" dirty="0">
                <a:solidFill>
                  <a:srgbClr val="B3159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Proof by Contraposition … </a:t>
            </a:r>
            <a:r>
              <a:rPr lang="en-US" sz="3200" dirty="0">
                <a:solidFill>
                  <a:srgbClr val="6BA42C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Exercises</a:t>
            </a:r>
            <a:endParaRPr lang="en-US" sz="4000" dirty="0">
              <a:solidFill>
                <a:srgbClr val="6BA42C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36F3A-8075-4AB5-BE9E-AC957642C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291"/>
            <a:ext cx="10997242" cy="52793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Prove the following statement by contraposition: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 for any two integers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if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m+n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an odd integer then one of m and n is odd and the other is even.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If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</a:t>
            </a:r>
            <a:r>
              <a:rPr lang="en-US" sz="2400" baseline="300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is not divisible by 9 then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 not divisible by 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05061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A007-143D-5203-7BB6-1AC9D7E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086" y="1256212"/>
            <a:ext cx="6393662" cy="4869364"/>
          </a:xfrm>
        </p:spPr>
        <p:txBody>
          <a:bodyPr>
            <a:normAutofit/>
          </a:bodyPr>
          <a:lstStyle/>
          <a:p>
            <a:r>
              <a:rPr lang="en-US" sz="2000" dirty="0"/>
              <a:t>The topics we covered: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Intro to Proofs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Basic Terminologies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Methods of Proofs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Direct proofs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Indirect Proof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Practice Questions</a:t>
            </a:r>
            <a:endParaRPr lang="en-PK" sz="20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41248" y="36576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Summary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19577</TotalTime>
  <Words>4602</Words>
  <Application>Microsoft Office PowerPoint</Application>
  <PresentationFormat>Widescreen</PresentationFormat>
  <Paragraphs>524</Paragraphs>
  <Slides>53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</vt:lpstr>
      <vt:lpstr>Calibri</vt:lpstr>
      <vt:lpstr>Cambria</vt:lpstr>
      <vt:lpstr>Cambria Math</vt:lpstr>
      <vt:lpstr>Century Gothic</vt:lpstr>
      <vt:lpstr>Comic Sans MS</vt:lpstr>
      <vt:lpstr>Gill Sans MT</vt:lpstr>
      <vt:lpstr>Times New Roman</vt:lpstr>
      <vt:lpstr>Wingdings</vt:lpstr>
      <vt:lpstr>ShapesVTI</vt:lpstr>
      <vt:lpstr>Equation</vt:lpstr>
      <vt:lpstr>PowerPoint Presentation</vt:lpstr>
      <vt:lpstr>Section 1.7   Proofs</vt:lpstr>
      <vt:lpstr>INTRODUCTION</vt:lpstr>
      <vt:lpstr>SOME TERMINOLOGIES</vt:lpstr>
      <vt:lpstr>PowerPoint Presentation</vt:lpstr>
      <vt:lpstr>The Process of Proofs</vt:lpstr>
      <vt:lpstr>SOME BASICS</vt:lpstr>
      <vt:lpstr>PowerPoint Presentation</vt:lpstr>
      <vt:lpstr>DIRECT PROOF</vt:lpstr>
      <vt:lpstr>Direct Proof … Example 1</vt:lpstr>
      <vt:lpstr>Another Proof… Direct Proof … Example 2</vt:lpstr>
      <vt:lpstr>Direct Proof … Example 3</vt:lpstr>
      <vt:lpstr>Direct Proof … Example 4</vt:lpstr>
      <vt:lpstr>Another Proof… Direct Proof… Example 5</vt:lpstr>
      <vt:lpstr>Direct Proof … Example 6</vt:lpstr>
      <vt:lpstr>Direct Proof … Example 7</vt:lpstr>
      <vt:lpstr>Direct Proof … Example 8</vt:lpstr>
      <vt:lpstr>Direct Proof … Example 9</vt:lpstr>
      <vt:lpstr>Direct Proof … Example 10</vt:lpstr>
      <vt:lpstr>Direct Proof … Example 11</vt:lpstr>
      <vt:lpstr>Direct Proof … Example 12</vt:lpstr>
      <vt:lpstr>PowerPoint Presentation</vt:lpstr>
      <vt:lpstr>Direct Proof … Example 13</vt:lpstr>
      <vt:lpstr>PowerPoint Presentation</vt:lpstr>
      <vt:lpstr>PowerPoint Presentation</vt:lpstr>
      <vt:lpstr>Direct Proof … Example 14</vt:lpstr>
      <vt:lpstr>PowerPoint Presentation</vt:lpstr>
      <vt:lpstr>Direct Proof … Example 15</vt:lpstr>
      <vt:lpstr>Direct Proof … Example 16</vt:lpstr>
      <vt:lpstr>Proofs… More Practice Questions</vt:lpstr>
      <vt:lpstr>PowerPoint Presentation</vt:lpstr>
      <vt:lpstr>PROOF BY CONTRADICTION</vt:lpstr>
      <vt:lpstr>PowerPoint Presentation</vt:lpstr>
      <vt:lpstr>Proofs… Proof by Contradiction … Example1</vt:lpstr>
      <vt:lpstr>Proofs… Proof by Contradiction … Example2 </vt:lpstr>
      <vt:lpstr>Proofs… Proof by Contradiction … Example2 … Proof2</vt:lpstr>
      <vt:lpstr>Proofs… Proof by Contradiction … Example1</vt:lpstr>
      <vt:lpstr>Proof by Contradiction … Example 2</vt:lpstr>
      <vt:lpstr>Proof by Contradiction … Example 3</vt:lpstr>
      <vt:lpstr>PowerPoint Presentation</vt:lpstr>
      <vt:lpstr>Proof by Contradiction … Example 4</vt:lpstr>
      <vt:lpstr>PowerPoint Presentation</vt:lpstr>
      <vt:lpstr>PowerPoint Presentation</vt:lpstr>
      <vt:lpstr>PROOF BY CONTRAPOSITION</vt:lpstr>
      <vt:lpstr>PowerPoint Presentation</vt:lpstr>
      <vt:lpstr>Proofs… Proof by Contraposition … Example1</vt:lpstr>
      <vt:lpstr>Proofs… Proof by Contraposition … Example2</vt:lpstr>
      <vt:lpstr>Proofs… Proof by Contraposition … Example3</vt:lpstr>
      <vt:lpstr>Proofs… Proof by Contraposition … Example4</vt:lpstr>
      <vt:lpstr>Proofs… Proof by Contraposition … Example4  … continue</vt:lpstr>
      <vt:lpstr>Proofs… Proof by Contraposition … Example4  … continue</vt:lpstr>
      <vt:lpstr>Proofs… Proof by Contraposition … Exercises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77</cp:revision>
  <cp:lastPrinted>2024-03-28T06:21:38Z</cp:lastPrinted>
  <dcterms:created xsi:type="dcterms:W3CDTF">2023-10-03T05:27:31Z</dcterms:created>
  <dcterms:modified xsi:type="dcterms:W3CDTF">2025-04-17T11:00:35Z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