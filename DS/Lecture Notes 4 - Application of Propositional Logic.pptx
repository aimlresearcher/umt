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27"/>
  </p:notesMasterIdLst>
  <p:sldIdLst>
    <p:sldId id="3891" r:id="rId5"/>
    <p:sldId id="3864" r:id="rId6"/>
    <p:sldId id="3836" r:id="rId7"/>
    <p:sldId id="261" r:id="rId8"/>
    <p:sldId id="291" r:id="rId9"/>
    <p:sldId id="294" r:id="rId10"/>
    <p:sldId id="296" r:id="rId11"/>
    <p:sldId id="264" r:id="rId12"/>
    <p:sldId id="3865" r:id="rId13"/>
    <p:sldId id="3866" r:id="rId14"/>
    <p:sldId id="3882" r:id="rId15"/>
    <p:sldId id="703" r:id="rId16"/>
    <p:sldId id="3867" r:id="rId17"/>
    <p:sldId id="375" r:id="rId18"/>
    <p:sldId id="377" r:id="rId19"/>
    <p:sldId id="3880" r:id="rId20"/>
    <p:sldId id="3879" r:id="rId21"/>
    <p:sldId id="3881" r:id="rId22"/>
    <p:sldId id="3883" r:id="rId23"/>
    <p:sldId id="3884" r:id="rId24"/>
    <p:sldId id="3886" r:id="rId25"/>
    <p:sldId id="385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601" autoAdjust="0"/>
    <p:restoredTop sz="94660"/>
  </p:normalViewPr>
  <p:slideViewPr>
    <p:cSldViewPr snapToGrid="0">
      <p:cViewPr varScale="1">
        <p:scale>
          <a:sx n="72" d="100"/>
          <a:sy n="72" d="100"/>
        </p:scale>
        <p:origin x="228" y="66"/>
      </p:cViewPr>
      <p:guideLst>
        <p:guide orient="horz" pos="1200"/>
        <p:guide orient="horz" pos="3408"/>
        <p:guide pos="6936"/>
        <p:guide pos="744"/>
      </p:guideLst>
    </p:cSldViewPr>
  </p:slideViewPr>
  <p:notesTextViewPr>
    <p:cViewPr>
      <p:scale>
        <a:sx n="1" d="1"/>
        <a:sy n="1" d="1"/>
      </p:scale>
      <p:origin x="0" y="0"/>
    </p:cViewPr>
  </p:notesTextViewPr>
  <p:sorterViewPr>
    <p:cViewPr>
      <p:scale>
        <a:sx n="100" d="100"/>
        <a:sy n="100" d="100"/>
      </p:scale>
      <p:origin x="0" y="-482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95BF9C-E21E-4370-8433-7E7B76D13EF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2E4A118-A1E2-495F-A0D8-E15ED07CC067}">
      <dgm:prSet/>
      <dgm:spPr/>
      <dgm:t>
        <a:bodyPr/>
        <a:lstStyle/>
        <a:p>
          <a:pPr>
            <a:lnSpc>
              <a:spcPct val="100000"/>
            </a:lnSpc>
          </a:pPr>
          <a:r>
            <a:rPr lang="en-US"/>
            <a:t>Step 1 : find logical connectives</a:t>
          </a:r>
        </a:p>
      </dgm:t>
    </dgm:pt>
    <dgm:pt modelId="{E352E90E-B409-481D-AB83-2B7F93332D6D}" type="parTrans" cxnId="{C3714DC8-62B1-49DB-82C4-D2B064BD55BD}">
      <dgm:prSet/>
      <dgm:spPr/>
      <dgm:t>
        <a:bodyPr/>
        <a:lstStyle/>
        <a:p>
          <a:endParaRPr lang="en-US"/>
        </a:p>
      </dgm:t>
    </dgm:pt>
    <dgm:pt modelId="{FB3E544F-E0C5-4B5C-AF47-CB8EBFF63CC4}" type="sibTrans" cxnId="{C3714DC8-62B1-49DB-82C4-D2B064BD55BD}">
      <dgm:prSet/>
      <dgm:spPr/>
      <dgm:t>
        <a:bodyPr/>
        <a:lstStyle/>
        <a:p>
          <a:endParaRPr lang="en-US"/>
        </a:p>
      </dgm:t>
    </dgm:pt>
    <dgm:pt modelId="{02FE11BC-02E2-4A8E-98A7-944DEE85D0D2}">
      <dgm:prSet/>
      <dgm:spPr/>
      <dgm:t>
        <a:bodyPr/>
        <a:lstStyle/>
        <a:p>
          <a:pPr>
            <a:lnSpc>
              <a:spcPct val="100000"/>
            </a:lnSpc>
          </a:pPr>
          <a:r>
            <a:rPr lang="en-US"/>
            <a:t>Step 2: break the sentence into basic  propositions</a:t>
          </a:r>
        </a:p>
      </dgm:t>
    </dgm:pt>
    <dgm:pt modelId="{6EB722AB-C2A6-4965-8DE9-23D858FCFAC0}" type="parTrans" cxnId="{8FDF341C-2707-42BD-A647-03797C22273B}">
      <dgm:prSet/>
      <dgm:spPr/>
      <dgm:t>
        <a:bodyPr/>
        <a:lstStyle/>
        <a:p>
          <a:endParaRPr lang="en-US"/>
        </a:p>
      </dgm:t>
    </dgm:pt>
    <dgm:pt modelId="{155937F1-0D67-4BC7-928F-286604833AE2}" type="sibTrans" cxnId="{8FDF341C-2707-42BD-A647-03797C22273B}">
      <dgm:prSet/>
      <dgm:spPr/>
      <dgm:t>
        <a:bodyPr/>
        <a:lstStyle/>
        <a:p>
          <a:endParaRPr lang="en-US"/>
        </a:p>
      </dgm:t>
    </dgm:pt>
    <dgm:pt modelId="{6A3E584B-5EDD-4ABE-9526-2A931091DABE}">
      <dgm:prSet/>
      <dgm:spPr/>
      <dgm:t>
        <a:bodyPr/>
        <a:lstStyle/>
        <a:p>
          <a:pPr>
            <a:lnSpc>
              <a:spcPct val="100000"/>
            </a:lnSpc>
          </a:pPr>
          <a:r>
            <a:rPr lang="en-US"/>
            <a:t>Step 3: rewrite the sentence in propositional logic</a:t>
          </a:r>
        </a:p>
      </dgm:t>
    </dgm:pt>
    <dgm:pt modelId="{675C2C03-88C7-4378-8D04-2B0EF0D53C0A}" type="parTrans" cxnId="{C263B02D-0DFB-4ED4-9381-B5FFC5C11DEF}">
      <dgm:prSet/>
      <dgm:spPr/>
      <dgm:t>
        <a:bodyPr/>
        <a:lstStyle/>
        <a:p>
          <a:endParaRPr lang="en-US"/>
        </a:p>
      </dgm:t>
    </dgm:pt>
    <dgm:pt modelId="{76C9A8A4-A07F-48BA-ACB7-A9DA69105531}" type="sibTrans" cxnId="{C263B02D-0DFB-4ED4-9381-B5FFC5C11DEF}">
      <dgm:prSet/>
      <dgm:spPr/>
      <dgm:t>
        <a:bodyPr/>
        <a:lstStyle/>
        <a:p>
          <a:endParaRPr lang="en-US"/>
        </a:p>
      </dgm:t>
    </dgm:pt>
    <dgm:pt modelId="{F5E809C5-2AF0-417E-B36D-B800644A976C}" type="pres">
      <dgm:prSet presAssocID="{E195BF9C-E21E-4370-8433-7E7B76D13EFC}" presName="root" presStyleCnt="0">
        <dgm:presLayoutVars>
          <dgm:dir/>
          <dgm:resizeHandles val="exact"/>
        </dgm:presLayoutVars>
      </dgm:prSet>
      <dgm:spPr/>
    </dgm:pt>
    <dgm:pt modelId="{12BE6C43-15C1-466C-B481-F3B4A8D22042}" type="pres">
      <dgm:prSet presAssocID="{42E4A118-A1E2-495F-A0D8-E15ED07CC067}" presName="compNode" presStyleCnt="0"/>
      <dgm:spPr/>
    </dgm:pt>
    <dgm:pt modelId="{B60C4227-B547-4A9A-85F8-25B986EEDB1B}" type="pres">
      <dgm:prSet presAssocID="{42E4A118-A1E2-495F-A0D8-E15ED07CC067}" presName="bgRect" presStyleLbl="bgShp" presStyleIdx="0" presStyleCnt="3"/>
      <dgm:spPr/>
    </dgm:pt>
    <dgm:pt modelId="{B43978A1-6D7D-4115-ACEB-F3ACC64AF0F4}" type="pres">
      <dgm:prSet presAssocID="{42E4A118-A1E2-495F-A0D8-E15ED07CC06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6F8CC04F-355D-4A6D-A0F8-35A27E4BD470}" type="pres">
      <dgm:prSet presAssocID="{42E4A118-A1E2-495F-A0D8-E15ED07CC067}" presName="spaceRect" presStyleCnt="0"/>
      <dgm:spPr/>
    </dgm:pt>
    <dgm:pt modelId="{9D2E494E-4679-4B2D-A70B-57E9F5B5CA70}" type="pres">
      <dgm:prSet presAssocID="{42E4A118-A1E2-495F-A0D8-E15ED07CC067}" presName="parTx" presStyleLbl="revTx" presStyleIdx="0" presStyleCnt="3">
        <dgm:presLayoutVars>
          <dgm:chMax val="0"/>
          <dgm:chPref val="0"/>
        </dgm:presLayoutVars>
      </dgm:prSet>
      <dgm:spPr/>
    </dgm:pt>
    <dgm:pt modelId="{2302C62B-11E9-4650-BD39-DF06B02316FD}" type="pres">
      <dgm:prSet presAssocID="{FB3E544F-E0C5-4B5C-AF47-CB8EBFF63CC4}" presName="sibTrans" presStyleCnt="0"/>
      <dgm:spPr/>
    </dgm:pt>
    <dgm:pt modelId="{DA5FAD1F-A29C-4508-915C-A5E316A49CA2}" type="pres">
      <dgm:prSet presAssocID="{02FE11BC-02E2-4A8E-98A7-944DEE85D0D2}" presName="compNode" presStyleCnt="0"/>
      <dgm:spPr/>
    </dgm:pt>
    <dgm:pt modelId="{EB3FA35D-BA23-4C5C-9AA5-12CFD0036FD3}" type="pres">
      <dgm:prSet presAssocID="{02FE11BC-02E2-4A8E-98A7-944DEE85D0D2}" presName="bgRect" presStyleLbl="bgShp" presStyleIdx="1" presStyleCnt="3"/>
      <dgm:spPr/>
    </dgm:pt>
    <dgm:pt modelId="{68806695-6D72-4EE4-94FC-E6FBA035FEC7}" type="pres">
      <dgm:prSet presAssocID="{02FE11BC-02E2-4A8E-98A7-944DEE85D0D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D8630562-56F7-43D8-8712-F44F6B155B45}" type="pres">
      <dgm:prSet presAssocID="{02FE11BC-02E2-4A8E-98A7-944DEE85D0D2}" presName="spaceRect" presStyleCnt="0"/>
      <dgm:spPr/>
    </dgm:pt>
    <dgm:pt modelId="{16501221-5B54-4A37-8462-C905D81C0788}" type="pres">
      <dgm:prSet presAssocID="{02FE11BC-02E2-4A8E-98A7-944DEE85D0D2}" presName="parTx" presStyleLbl="revTx" presStyleIdx="1" presStyleCnt="3">
        <dgm:presLayoutVars>
          <dgm:chMax val="0"/>
          <dgm:chPref val="0"/>
        </dgm:presLayoutVars>
      </dgm:prSet>
      <dgm:spPr/>
    </dgm:pt>
    <dgm:pt modelId="{DD123B82-B3A3-428E-AD7A-EB509CFA1E7B}" type="pres">
      <dgm:prSet presAssocID="{155937F1-0D67-4BC7-928F-286604833AE2}" presName="sibTrans" presStyleCnt="0"/>
      <dgm:spPr/>
    </dgm:pt>
    <dgm:pt modelId="{E1AF86BE-C446-4CF6-B7C7-DABF3B7302D3}" type="pres">
      <dgm:prSet presAssocID="{6A3E584B-5EDD-4ABE-9526-2A931091DABE}" presName="compNode" presStyleCnt="0"/>
      <dgm:spPr/>
    </dgm:pt>
    <dgm:pt modelId="{9AD9B77C-9DAE-4702-87FF-EA2FD3BD473A}" type="pres">
      <dgm:prSet presAssocID="{6A3E584B-5EDD-4ABE-9526-2A931091DABE}" presName="bgRect" presStyleLbl="bgShp" presStyleIdx="2" presStyleCnt="3"/>
      <dgm:spPr/>
    </dgm:pt>
    <dgm:pt modelId="{3BA490FC-8C74-4747-A4BF-D9BF8F3E8BDB}" type="pres">
      <dgm:prSet presAssocID="{6A3E584B-5EDD-4ABE-9526-2A931091DA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ncil"/>
        </a:ext>
      </dgm:extLst>
    </dgm:pt>
    <dgm:pt modelId="{8832B2A8-519E-4DCE-9971-2BA3C1A6B71C}" type="pres">
      <dgm:prSet presAssocID="{6A3E584B-5EDD-4ABE-9526-2A931091DABE}" presName="spaceRect" presStyleCnt="0"/>
      <dgm:spPr/>
    </dgm:pt>
    <dgm:pt modelId="{B85BF592-41F0-42F9-86B6-720B91B35D13}" type="pres">
      <dgm:prSet presAssocID="{6A3E584B-5EDD-4ABE-9526-2A931091DABE}" presName="parTx" presStyleLbl="revTx" presStyleIdx="2" presStyleCnt="3">
        <dgm:presLayoutVars>
          <dgm:chMax val="0"/>
          <dgm:chPref val="0"/>
        </dgm:presLayoutVars>
      </dgm:prSet>
      <dgm:spPr/>
    </dgm:pt>
  </dgm:ptLst>
  <dgm:cxnLst>
    <dgm:cxn modelId="{E681A911-8325-48E9-998E-CF3BC2CFD64D}" type="presOf" srcId="{E195BF9C-E21E-4370-8433-7E7B76D13EFC}" destId="{F5E809C5-2AF0-417E-B36D-B800644A976C}" srcOrd="0" destOrd="0" presId="urn:microsoft.com/office/officeart/2018/2/layout/IconVerticalSolidList"/>
    <dgm:cxn modelId="{0941E018-6E07-4BAF-BCB8-E81091069B3D}" type="presOf" srcId="{42E4A118-A1E2-495F-A0D8-E15ED07CC067}" destId="{9D2E494E-4679-4B2D-A70B-57E9F5B5CA70}" srcOrd="0" destOrd="0" presId="urn:microsoft.com/office/officeart/2018/2/layout/IconVerticalSolidList"/>
    <dgm:cxn modelId="{8FDF341C-2707-42BD-A647-03797C22273B}" srcId="{E195BF9C-E21E-4370-8433-7E7B76D13EFC}" destId="{02FE11BC-02E2-4A8E-98A7-944DEE85D0D2}" srcOrd="1" destOrd="0" parTransId="{6EB722AB-C2A6-4965-8DE9-23D858FCFAC0}" sibTransId="{155937F1-0D67-4BC7-928F-286604833AE2}"/>
    <dgm:cxn modelId="{C263B02D-0DFB-4ED4-9381-B5FFC5C11DEF}" srcId="{E195BF9C-E21E-4370-8433-7E7B76D13EFC}" destId="{6A3E584B-5EDD-4ABE-9526-2A931091DABE}" srcOrd="2" destOrd="0" parTransId="{675C2C03-88C7-4378-8D04-2B0EF0D53C0A}" sibTransId="{76C9A8A4-A07F-48BA-ACB7-A9DA69105531}"/>
    <dgm:cxn modelId="{C3714DC8-62B1-49DB-82C4-D2B064BD55BD}" srcId="{E195BF9C-E21E-4370-8433-7E7B76D13EFC}" destId="{42E4A118-A1E2-495F-A0D8-E15ED07CC067}" srcOrd="0" destOrd="0" parTransId="{E352E90E-B409-481D-AB83-2B7F93332D6D}" sibTransId="{FB3E544F-E0C5-4B5C-AF47-CB8EBFF63CC4}"/>
    <dgm:cxn modelId="{70C1C8CC-225F-4C9F-AAB6-48EA310CE2E6}" type="presOf" srcId="{6A3E584B-5EDD-4ABE-9526-2A931091DABE}" destId="{B85BF592-41F0-42F9-86B6-720B91B35D13}" srcOrd="0" destOrd="0" presId="urn:microsoft.com/office/officeart/2018/2/layout/IconVerticalSolidList"/>
    <dgm:cxn modelId="{50CEDCF0-AA2B-4480-9D5A-5E2919A87150}" type="presOf" srcId="{02FE11BC-02E2-4A8E-98A7-944DEE85D0D2}" destId="{16501221-5B54-4A37-8462-C905D81C0788}" srcOrd="0" destOrd="0" presId="urn:microsoft.com/office/officeart/2018/2/layout/IconVerticalSolidList"/>
    <dgm:cxn modelId="{09FE31E0-25A8-418F-9E3F-CCEBF75A501B}" type="presParOf" srcId="{F5E809C5-2AF0-417E-B36D-B800644A976C}" destId="{12BE6C43-15C1-466C-B481-F3B4A8D22042}" srcOrd="0" destOrd="0" presId="urn:microsoft.com/office/officeart/2018/2/layout/IconVerticalSolidList"/>
    <dgm:cxn modelId="{A4594EC9-543B-4958-B32D-AED925887545}" type="presParOf" srcId="{12BE6C43-15C1-466C-B481-F3B4A8D22042}" destId="{B60C4227-B547-4A9A-85F8-25B986EEDB1B}" srcOrd="0" destOrd="0" presId="urn:microsoft.com/office/officeart/2018/2/layout/IconVerticalSolidList"/>
    <dgm:cxn modelId="{97F3B10C-AF73-453E-9C2B-9F46399F7698}" type="presParOf" srcId="{12BE6C43-15C1-466C-B481-F3B4A8D22042}" destId="{B43978A1-6D7D-4115-ACEB-F3ACC64AF0F4}" srcOrd="1" destOrd="0" presId="urn:microsoft.com/office/officeart/2018/2/layout/IconVerticalSolidList"/>
    <dgm:cxn modelId="{A75255FF-7F57-463D-B48F-0E22E764E281}" type="presParOf" srcId="{12BE6C43-15C1-466C-B481-F3B4A8D22042}" destId="{6F8CC04F-355D-4A6D-A0F8-35A27E4BD470}" srcOrd="2" destOrd="0" presId="urn:microsoft.com/office/officeart/2018/2/layout/IconVerticalSolidList"/>
    <dgm:cxn modelId="{5505E92F-E654-42B0-9133-B724605973ED}" type="presParOf" srcId="{12BE6C43-15C1-466C-B481-F3B4A8D22042}" destId="{9D2E494E-4679-4B2D-A70B-57E9F5B5CA70}" srcOrd="3" destOrd="0" presId="urn:microsoft.com/office/officeart/2018/2/layout/IconVerticalSolidList"/>
    <dgm:cxn modelId="{80C5CACD-F02F-4507-993D-B7DB5C4C0EA6}" type="presParOf" srcId="{F5E809C5-2AF0-417E-B36D-B800644A976C}" destId="{2302C62B-11E9-4650-BD39-DF06B02316FD}" srcOrd="1" destOrd="0" presId="urn:microsoft.com/office/officeart/2018/2/layout/IconVerticalSolidList"/>
    <dgm:cxn modelId="{7A3897EB-2BBC-4F98-B3E5-66CBB4532B01}" type="presParOf" srcId="{F5E809C5-2AF0-417E-B36D-B800644A976C}" destId="{DA5FAD1F-A29C-4508-915C-A5E316A49CA2}" srcOrd="2" destOrd="0" presId="urn:microsoft.com/office/officeart/2018/2/layout/IconVerticalSolidList"/>
    <dgm:cxn modelId="{499076D5-4C30-4294-B4D7-AD3CE6ED2B3C}" type="presParOf" srcId="{DA5FAD1F-A29C-4508-915C-A5E316A49CA2}" destId="{EB3FA35D-BA23-4C5C-9AA5-12CFD0036FD3}" srcOrd="0" destOrd="0" presId="urn:microsoft.com/office/officeart/2018/2/layout/IconVerticalSolidList"/>
    <dgm:cxn modelId="{9C886A6B-6D0D-4797-A51A-A34579E9C39C}" type="presParOf" srcId="{DA5FAD1F-A29C-4508-915C-A5E316A49CA2}" destId="{68806695-6D72-4EE4-94FC-E6FBA035FEC7}" srcOrd="1" destOrd="0" presId="urn:microsoft.com/office/officeart/2018/2/layout/IconVerticalSolidList"/>
    <dgm:cxn modelId="{0208E2FD-9573-42E9-B2E0-1AC5D5425AB7}" type="presParOf" srcId="{DA5FAD1F-A29C-4508-915C-A5E316A49CA2}" destId="{D8630562-56F7-43D8-8712-F44F6B155B45}" srcOrd="2" destOrd="0" presId="urn:microsoft.com/office/officeart/2018/2/layout/IconVerticalSolidList"/>
    <dgm:cxn modelId="{B33183A4-76E5-4E97-BF6A-E3DD1B1CFAA7}" type="presParOf" srcId="{DA5FAD1F-A29C-4508-915C-A5E316A49CA2}" destId="{16501221-5B54-4A37-8462-C905D81C0788}" srcOrd="3" destOrd="0" presId="urn:microsoft.com/office/officeart/2018/2/layout/IconVerticalSolidList"/>
    <dgm:cxn modelId="{E89D5721-0333-429C-B2AE-CAEEAB26B8A1}" type="presParOf" srcId="{F5E809C5-2AF0-417E-B36D-B800644A976C}" destId="{DD123B82-B3A3-428E-AD7A-EB509CFA1E7B}" srcOrd="3" destOrd="0" presId="urn:microsoft.com/office/officeart/2018/2/layout/IconVerticalSolidList"/>
    <dgm:cxn modelId="{1CBE8A3E-61E2-4CF4-98EE-CFBC19536DDA}" type="presParOf" srcId="{F5E809C5-2AF0-417E-B36D-B800644A976C}" destId="{E1AF86BE-C446-4CF6-B7C7-DABF3B7302D3}" srcOrd="4" destOrd="0" presId="urn:microsoft.com/office/officeart/2018/2/layout/IconVerticalSolidList"/>
    <dgm:cxn modelId="{051B527D-461F-4033-9308-A5717E1915CF}" type="presParOf" srcId="{E1AF86BE-C446-4CF6-B7C7-DABF3B7302D3}" destId="{9AD9B77C-9DAE-4702-87FF-EA2FD3BD473A}" srcOrd="0" destOrd="0" presId="urn:microsoft.com/office/officeart/2018/2/layout/IconVerticalSolidList"/>
    <dgm:cxn modelId="{AB5FCADC-68AB-4384-926A-2435C5B1EA5A}" type="presParOf" srcId="{E1AF86BE-C446-4CF6-B7C7-DABF3B7302D3}" destId="{3BA490FC-8C74-4747-A4BF-D9BF8F3E8BDB}" srcOrd="1" destOrd="0" presId="urn:microsoft.com/office/officeart/2018/2/layout/IconVerticalSolidList"/>
    <dgm:cxn modelId="{526C8735-3B88-4F87-B959-72CB88036D8E}" type="presParOf" srcId="{E1AF86BE-C446-4CF6-B7C7-DABF3B7302D3}" destId="{8832B2A8-519E-4DCE-9971-2BA3C1A6B71C}" srcOrd="2" destOrd="0" presId="urn:microsoft.com/office/officeart/2018/2/layout/IconVerticalSolidList"/>
    <dgm:cxn modelId="{6D9E33B1-34CF-4AD5-BBFA-BAFF7336041C}" type="presParOf" srcId="{E1AF86BE-C446-4CF6-B7C7-DABF3B7302D3}" destId="{B85BF592-41F0-42F9-86B6-720B91B35D1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0C4227-B547-4A9A-85F8-25B986EEDB1B}">
      <dsp:nvSpPr>
        <dsp:cNvPr id="0" name=""/>
        <dsp:cNvSpPr/>
      </dsp:nvSpPr>
      <dsp:spPr>
        <a:xfrm>
          <a:off x="0" y="678"/>
          <a:ext cx="6303729" cy="15884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3978A1-6D7D-4115-ACEB-F3ACC64AF0F4}">
      <dsp:nvSpPr>
        <dsp:cNvPr id="0" name=""/>
        <dsp:cNvSpPr/>
      </dsp:nvSpPr>
      <dsp:spPr>
        <a:xfrm>
          <a:off x="480498" y="358074"/>
          <a:ext cx="873632" cy="8736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2E494E-4679-4B2D-A70B-57E9F5B5CA70}">
      <dsp:nvSpPr>
        <dsp:cNvPr id="0" name=""/>
        <dsp:cNvSpPr/>
      </dsp:nvSpPr>
      <dsp:spPr>
        <a:xfrm>
          <a:off x="1834628" y="678"/>
          <a:ext cx="4469100" cy="1588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108" tIns="168108" rIns="168108" bIns="168108" numCol="1" spcCol="1270" anchor="ctr" anchorCtr="0">
          <a:noAutofit/>
        </a:bodyPr>
        <a:lstStyle/>
        <a:p>
          <a:pPr marL="0" lvl="0" indent="0" algn="l" defTabSz="1111250">
            <a:lnSpc>
              <a:spcPct val="100000"/>
            </a:lnSpc>
            <a:spcBef>
              <a:spcPct val="0"/>
            </a:spcBef>
            <a:spcAft>
              <a:spcPct val="35000"/>
            </a:spcAft>
            <a:buNone/>
          </a:pPr>
          <a:r>
            <a:rPr lang="en-US" sz="2500" kern="1200"/>
            <a:t>Step 1 : find logical connectives</a:t>
          </a:r>
        </a:p>
      </dsp:txBody>
      <dsp:txXfrm>
        <a:off x="1834628" y="678"/>
        <a:ext cx="4469100" cy="1588423"/>
      </dsp:txXfrm>
    </dsp:sp>
    <dsp:sp modelId="{EB3FA35D-BA23-4C5C-9AA5-12CFD0036FD3}">
      <dsp:nvSpPr>
        <dsp:cNvPr id="0" name=""/>
        <dsp:cNvSpPr/>
      </dsp:nvSpPr>
      <dsp:spPr>
        <a:xfrm>
          <a:off x="0" y="1986207"/>
          <a:ext cx="6303729" cy="15884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806695-6D72-4EE4-94FC-E6FBA035FEC7}">
      <dsp:nvSpPr>
        <dsp:cNvPr id="0" name=""/>
        <dsp:cNvSpPr/>
      </dsp:nvSpPr>
      <dsp:spPr>
        <a:xfrm>
          <a:off x="480498" y="2343603"/>
          <a:ext cx="873632" cy="8736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501221-5B54-4A37-8462-C905D81C0788}">
      <dsp:nvSpPr>
        <dsp:cNvPr id="0" name=""/>
        <dsp:cNvSpPr/>
      </dsp:nvSpPr>
      <dsp:spPr>
        <a:xfrm>
          <a:off x="1834628" y="1986207"/>
          <a:ext cx="4469100" cy="1588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108" tIns="168108" rIns="168108" bIns="168108" numCol="1" spcCol="1270" anchor="ctr" anchorCtr="0">
          <a:noAutofit/>
        </a:bodyPr>
        <a:lstStyle/>
        <a:p>
          <a:pPr marL="0" lvl="0" indent="0" algn="l" defTabSz="1111250">
            <a:lnSpc>
              <a:spcPct val="100000"/>
            </a:lnSpc>
            <a:spcBef>
              <a:spcPct val="0"/>
            </a:spcBef>
            <a:spcAft>
              <a:spcPct val="35000"/>
            </a:spcAft>
            <a:buNone/>
          </a:pPr>
          <a:r>
            <a:rPr lang="en-US" sz="2500" kern="1200"/>
            <a:t>Step 2: break the sentence into basic  propositions</a:t>
          </a:r>
        </a:p>
      </dsp:txBody>
      <dsp:txXfrm>
        <a:off x="1834628" y="1986207"/>
        <a:ext cx="4469100" cy="1588423"/>
      </dsp:txXfrm>
    </dsp:sp>
    <dsp:sp modelId="{9AD9B77C-9DAE-4702-87FF-EA2FD3BD473A}">
      <dsp:nvSpPr>
        <dsp:cNvPr id="0" name=""/>
        <dsp:cNvSpPr/>
      </dsp:nvSpPr>
      <dsp:spPr>
        <a:xfrm>
          <a:off x="0" y="3971736"/>
          <a:ext cx="6303729" cy="15884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A490FC-8C74-4747-A4BF-D9BF8F3E8BDB}">
      <dsp:nvSpPr>
        <dsp:cNvPr id="0" name=""/>
        <dsp:cNvSpPr/>
      </dsp:nvSpPr>
      <dsp:spPr>
        <a:xfrm>
          <a:off x="480498" y="4329132"/>
          <a:ext cx="873632" cy="8736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5BF592-41F0-42F9-86B6-720B91B35D13}">
      <dsp:nvSpPr>
        <dsp:cNvPr id="0" name=""/>
        <dsp:cNvSpPr/>
      </dsp:nvSpPr>
      <dsp:spPr>
        <a:xfrm>
          <a:off x="1834628" y="3971736"/>
          <a:ext cx="4469100" cy="1588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108" tIns="168108" rIns="168108" bIns="168108" numCol="1" spcCol="1270" anchor="ctr" anchorCtr="0">
          <a:noAutofit/>
        </a:bodyPr>
        <a:lstStyle/>
        <a:p>
          <a:pPr marL="0" lvl="0" indent="0" algn="l" defTabSz="1111250">
            <a:lnSpc>
              <a:spcPct val="100000"/>
            </a:lnSpc>
            <a:spcBef>
              <a:spcPct val="0"/>
            </a:spcBef>
            <a:spcAft>
              <a:spcPct val="35000"/>
            </a:spcAft>
            <a:buNone/>
          </a:pPr>
          <a:r>
            <a:rPr lang="en-US" sz="2500" kern="1200"/>
            <a:t>Step 3: rewrite the sentence in propositional logic</a:t>
          </a:r>
        </a:p>
      </dsp:txBody>
      <dsp:txXfrm>
        <a:off x="1834628" y="3971736"/>
        <a:ext cx="4469100" cy="158842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3/10/2025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a:t>9/3/20XX</a:t>
            </a:r>
            <a:endParaRPr lang="en-US" dirty="0"/>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fr-FR"/>
              <a:t>Discrete Structures : Lecture 1-2 by IQRA JAVED</a:t>
            </a:r>
            <a:endParaRPr lang="en-US" dirty="0"/>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BB25E70-F951-4043-8895-D1EFDDA97DDE}"/>
              </a:ext>
            </a:extLst>
          </p:cNvPr>
          <p:cNvSpPr txBox="1">
            <a:spLocks/>
          </p:cNvSpPr>
          <p:nvPr/>
        </p:nvSpPr>
        <p:spPr>
          <a:xfrm>
            <a:off x="460375" y="1948069"/>
            <a:ext cx="11594776" cy="407377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solidFill>
                  <a:srgbClr val="C00000"/>
                </a:solidFill>
                <a:latin typeface="Cambria Math" panose="02040503050406030204" pitchFamily="18" charset="0"/>
                <a:ea typeface="Cambria Math" panose="02040503050406030204" pitchFamily="18" charset="0"/>
              </a:rPr>
              <a:t>CC 141 </a:t>
            </a:r>
            <a:br>
              <a:rPr lang="en-US" sz="4800" dirty="0">
                <a:solidFill>
                  <a:srgbClr val="C00000"/>
                </a:solidFill>
                <a:latin typeface="Cambria Math" panose="02040503050406030204" pitchFamily="18" charset="0"/>
                <a:ea typeface="Cambria Math" panose="02040503050406030204" pitchFamily="18" charset="0"/>
              </a:rPr>
            </a:br>
            <a:r>
              <a:rPr lang="en-US" sz="4800" dirty="0">
                <a:solidFill>
                  <a:srgbClr val="C00000"/>
                </a:solidFill>
                <a:latin typeface="Cambria Math" panose="02040503050406030204" pitchFamily="18" charset="0"/>
                <a:ea typeface="Cambria Math" panose="02040503050406030204" pitchFamily="18" charset="0"/>
              </a:rPr>
              <a:t>Discrete Structures</a:t>
            </a:r>
            <a:br>
              <a:rPr lang="en-US" sz="4800" dirty="0">
                <a:solidFill>
                  <a:srgbClr val="C00000"/>
                </a:solidFill>
                <a:latin typeface="Cambria Math" panose="02040503050406030204" pitchFamily="18" charset="0"/>
                <a:ea typeface="Cambria Math" panose="02040503050406030204" pitchFamily="18" charset="0"/>
              </a:rPr>
            </a:br>
            <a:br>
              <a:rPr lang="en-US" dirty="0">
                <a:solidFill>
                  <a:srgbClr val="C00000"/>
                </a:solidFill>
                <a:latin typeface="Cambria Math" panose="02040503050406030204" pitchFamily="18"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Department of Computer Science</a:t>
            </a:r>
            <a:br>
              <a:rPr lang="en-US" sz="3200" dirty="0">
                <a:solidFill>
                  <a:schemeClr val="accent5">
                    <a:lumMod val="50000"/>
                  </a:schemeClr>
                </a:solidFill>
                <a:latin typeface="Century Gothic" panose="020B0502020202020204" pitchFamily="34"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School of Systems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University of Management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Lahore, Pakistan</a:t>
            </a:r>
          </a:p>
        </p:txBody>
      </p:sp>
      <p:pic>
        <p:nvPicPr>
          <p:cNvPr id="6" name="Picture 5">
            <a:extLst>
              <a:ext uri="{FF2B5EF4-FFF2-40B4-BE49-F238E27FC236}">
                <a16:creationId xmlns:a16="http://schemas.microsoft.com/office/drawing/2014/main" id="{C01BB6BA-659C-4C58-A7BC-E779ADA85127}"/>
              </a:ext>
            </a:extLst>
          </p:cNvPr>
          <p:cNvPicPr>
            <a:picLocks noChangeAspect="1"/>
          </p:cNvPicPr>
          <p:nvPr/>
        </p:nvPicPr>
        <p:blipFill>
          <a:blip r:embed="rId2"/>
          <a:stretch>
            <a:fillRect/>
          </a:stretch>
        </p:blipFill>
        <p:spPr>
          <a:xfrm>
            <a:off x="460375" y="223319"/>
            <a:ext cx="2220849" cy="2228277"/>
          </a:xfrm>
          <a:prstGeom prst="rect">
            <a:avLst/>
          </a:prstGeom>
        </p:spPr>
      </p:pic>
    </p:spTree>
    <p:extLst>
      <p:ext uri="{BB962C8B-B14F-4D97-AF65-F5344CB8AC3E}">
        <p14:creationId xmlns:p14="http://schemas.microsoft.com/office/powerpoint/2010/main" val="381578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352F7-2FEE-06D6-03BA-6CF3FFC18341}"/>
              </a:ext>
            </a:extLst>
          </p:cNvPr>
          <p:cNvSpPr>
            <a:spLocks noGrp="1"/>
          </p:cNvSpPr>
          <p:nvPr>
            <p:ph type="title"/>
          </p:nvPr>
        </p:nvSpPr>
        <p:spPr>
          <a:xfrm>
            <a:off x="3319272" y="1380744"/>
            <a:ext cx="5559552" cy="933248"/>
          </a:xfrm>
        </p:spPr>
        <p:txBody>
          <a:bodyPr>
            <a:normAutofit/>
          </a:bodyPr>
          <a:lstStyle/>
          <a:p>
            <a:r>
              <a:rPr lang="en-US" sz="4400" dirty="0"/>
              <a:t>Section 1.2</a:t>
            </a:r>
            <a:endParaRPr lang="en-PK" sz="4400" dirty="0"/>
          </a:p>
        </p:txBody>
      </p:sp>
      <p:sp>
        <p:nvSpPr>
          <p:cNvPr id="3" name="Text Placeholder 2">
            <a:extLst>
              <a:ext uri="{FF2B5EF4-FFF2-40B4-BE49-F238E27FC236}">
                <a16:creationId xmlns:a16="http://schemas.microsoft.com/office/drawing/2014/main" id="{42277E4F-E237-FCD9-602F-0F0236F6D200}"/>
              </a:ext>
            </a:extLst>
          </p:cNvPr>
          <p:cNvSpPr>
            <a:spLocks noGrp="1"/>
          </p:cNvSpPr>
          <p:nvPr>
            <p:ph type="body" idx="1"/>
          </p:nvPr>
        </p:nvSpPr>
        <p:spPr>
          <a:xfrm>
            <a:off x="3316224" y="2660904"/>
            <a:ext cx="5559552" cy="1536192"/>
          </a:xfrm>
        </p:spPr>
        <p:txBody>
          <a:bodyPr>
            <a:normAutofit/>
          </a:bodyPr>
          <a:lstStyle/>
          <a:p>
            <a:r>
              <a:rPr lang="en-US" sz="4800" dirty="0">
                <a:latin typeface="+mj-lt"/>
              </a:rPr>
              <a:t>Application of Propositional Logic</a:t>
            </a:r>
            <a:endParaRPr lang="en-PK" sz="4800" dirty="0">
              <a:latin typeface="+mj-lt"/>
            </a:endParaRPr>
          </a:p>
        </p:txBody>
      </p:sp>
    </p:spTree>
    <p:extLst>
      <p:ext uri="{BB962C8B-B14F-4D97-AF65-F5344CB8AC3E}">
        <p14:creationId xmlns:p14="http://schemas.microsoft.com/office/powerpoint/2010/main" val="3681802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06C9-F26D-46CA-93BF-8C27012F6B12}"/>
              </a:ext>
            </a:extLst>
          </p:cNvPr>
          <p:cNvSpPr>
            <a:spLocks noGrp="1"/>
          </p:cNvSpPr>
          <p:nvPr>
            <p:ph type="title"/>
          </p:nvPr>
        </p:nvSpPr>
        <p:spPr>
          <a:xfrm>
            <a:off x="1389888" y="814562"/>
            <a:ext cx="3236976" cy="4069080"/>
          </a:xfrm>
        </p:spPr>
        <p:txBody>
          <a:bodyPr/>
          <a:lstStyle/>
          <a:p>
            <a:r>
              <a:rPr lang="en-US" dirty="0"/>
              <a:t>Application of Logic</a:t>
            </a:r>
          </a:p>
        </p:txBody>
      </p:sp>
      <p:sp>
        <p:nvSpPr>
          <p:cNvPr id="3" name="Content Placeholder 2">
            <a:extLst>
              <a:ext uri="{FF2B5EF4-FFF2-40B4-BE49-F238E27FC236}">
                <a16:creationId xmlns:a16="http://schemas.microsoft.com/office/drawing/2014/main" id="{21F0B6E0-1F7C-4E6A-87B1-554ADE739CD1}"/>
              </a:ext>
            </a:extLst>
          </p:cNvPr>
          <p:cNvSpPr>
            <a:spLocks noGrp="1"/>
          </p:cNvSpPr>
          <p:nvPr>
            <p:ph idx="1"/>
          </p:nvPr>
        </p:nvSpPr>
        <p:spPr>
          <a:xfrm>
            <a:off x="5868955" y="1660849"/>
            <a:ext cx="5506181" cy="2645975"/>
          </a:xfrm>
        </p:spPr>
        <p:txBody>
          <a:bodyPr>
            <a:normAutofit/>
          </a:bodyPr>
          <a:lstStyle/>
          <a:p>
            <a:pPr>
              <a:buFont typeface="Arial" pitchFamily="34" charset="0"/>
              <a:buChar char="•"/>
            </a:pPr>
            <a:r>
              <a:rPr lang="en-US" sz="2400" dirty="0"/>
              <a:t>Translating English Sentences</a:t>
            </a:r>
          </a:p>
          <a:p>
            <a:pPr>
              <a:buFont typeface="Arial" pitchFamily="34" charset="0"/>
              <a:buChar char="•"/>
            </a:pPr>
            <a:r>
              <a:rPr lang="en-US" sz="2400" dirty="0"/>
              <a:t>System Specifications</a:t>
            </a:r>
          </a:p>
          <a:p>
            <a:pPr>
              <a:buFont typeface="Arial" pitchFamily="34" charset="0"/>
              <a:buChar char="•"/>
            </a:pPr>
            <a:r>
              <a:rPr lang="en-US" dirty="0"/>
              <a:t>Boolean Searches </a:t>
            </a:r>
          </a:p>
          <a:p>
            <a:pPr>
              <a:buFont typeface="Arial" pitchFamily="34" charset="0"/>
              <a:buChar char="•"/>
            </a:pPr>
            <a:r>
              <a:rPr lang="en-US" sz="2400" dirty="0"/>
              <a:t>Logic Puzzles</a:t>
            </a:r>
          </a:p>
          <a:p>
            <a:pPr>
              <a:buFont typeface="Arial" pitchFamily="34" charset="0"/>
              <a:buChar char="•"/>
            </a:pPr>
            <a:r>
              <a:rPr lang="en-US" sz="2400" dirty="0"/>
              <a:t>Logic Circuits</a:t>
            </a:r>
          </a:p>
        </p:txBody>
      </p:sp>
    </p:spTree>
    <p:extLst>
      <p:ext uri="{BB962C8B-B14F-4D97-AF65-F5344CB8AC3E}">
        <p14:creationId xmlns:p14="http://schemas.microsoft.com/office/powerpoint/2010/main" val="2119032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Arc 19">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object 2"/>
          <p:cNvSpPr txBox="1">
            <a:spLocks noGrp="1"/>
          </p:cNvSpPr>
          <p:nvPr>
            <p:ph type="title"/>
          </p:nvPr>
        </p:nvSpPr>
        <p:spPr>
          <a:xfrm>
            <a:off x="838200" y="643467"/>
            <a:ext cx="2951205" cy="5571066"/>
          </a:xfrm>
          <a:prstGeom prst="rect">
            <a:avLst/>
          </a:prstGeom>
        </p:spPr>
        <p:txBody>
          <a:bodyPr vert="horz" lIns="91440" tIns="45720" rIns="91440" bIns="45720" rtlCol="0">
            <a:normAutofit/>
          </a:bodyPr>
          <a:lstStyle/>
          <a:p>
            <a:pPr marL="12700"/>
            <a:r>
              <a:rPr lang="en-US" kern="1200" spc="-40" dirty="0">
                <a:solidFill>
                  <a:srgbClr val="FFFFFF"/>
                </a:solidFill>
                <a:latin typeface="+mj-lt"/>
                <a:ea typeface="+mj-ea"/>
                <a:cs typeface="+mj-cs"/>
              </a:rPr>
              <a:t>Translating English Sentences</a:t>
            </a:r>
          </a:p>
        </p:txBody>
      </p:sp>
      <p:graphicFrame>
        <p:nvGraphicFramePr>
          <p:cNvPr id="5" name="object 3">
            <a:extLst>
              <a:ext uri="{FF2B5EF4-FFF2-40B4-BE49-F238E27FC236}">
                <a16:creationId xmlns:a16="http://schemas.microsoft.com/office/drawing/2014/main" id="{70A78164-7F9C-F2A4-4B85-76B49F676A82}"/>
              </a:ext>
            </a:extLst>
          </p:cNvPr>
          <p:cNvGraphicFramePr/>
          <p:nvPr>
            <p:extLst>
              <p:ext uri="{D42A27DB-BD31-4B8C-83A1-F6EECF244321}">
                <p14:modId xmlns:p14="http://schemas.microsoft.com/office/powerpoint/2010/main" val="1910908086"/>
              </p:ext>
            </p:extLst>
          </p:nvPr>
        </p:nvGraphicFramePr>
        <p:xfrm>
          <a:off x="5237018" y="653693"/>
          <a:ext cx="6303729" cy="55608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Translating English Sentences</a:t>
            </a:r>
          </a:p>
        </p:txBody>
      </p:sp>
      <p:sp>
        <p:nvSpPr>
          <p:cNvPr id="3" name="Content Placeholder 2"/>
          <p:cNvSpPr>
            <a:spLocks noGrp="1"/>
          </p:cNvSpPr>
          <p:nvPr>
            <p:ph idx="1"/>
          </p:nvPr>
        </p:nvSpPr>
        <p:spPr/>
        <p:txBody>
          <a:bodyPr/>
          <a:lstStyle/>
          <a:p>
            <a:pPr marL="0" indent="0">
              <a:buNone/>
            </a:pPr>
            <a:r>
              <a:rPr lang="en-US" dirty="0">
                <a:solidFill>
                  <a:srgbClr val="FF0000"/>
                </a:solidFill>
              </a:rPr>
              <a:t>Example</a:t>
            </a:r>
            <a:r>
              <a:rPr lang="en-US" dirty="0"/>
              <a:t>: </a:t>
            </a:r>
          </a:p>
          <a:p>
            <a:r>
              <a:rPr lang="en-US" dirty="0"/>
              <a:t>If you are senior citizen and it is a Tuesday, then you can have free coffee</a:t>
            </a:r>
          </a:p>
          <a:p>
            <a:pPr marL="0" indent="0">
              <a:buNone/>
            </a:pPr>
            <a:r>
              <a:rPr lang="en-US" dirty="0">
                <a:solidFill>
                  <a:srgbClr val="FF0000"/>
                </a:solidFill>
              </a:rPr>
              <a:t>Step 1 </a:t>
            </a:r>
            <a:r>
              <a:rPr lang="en-US" dirty="0"/>
              <a:t>: find logical connectives</a:t>
            </a:r>
          </a:p>
        </p:txBody>
      </p:sp>
      <p:sp>
        <p:nvSpPr>
          <p:cNvPr id="4" name="Content Placeholder 2">
            <a:extLst>
              <a:ext uri="{FF2B5EF4-FFF2-40B4-BE49-F238E27FC236}">
                <a16:creationId xmlns:a16="http://schemas.microsoft.com/office/drawing/2014/main" id="{7D9DFF6F-1C34-B94B-3159-90E47AAC3C80}"/>
              </a:ext>
            </a:extLst>
          </p:cNvPr>
          <p:cNvSpPr txBox="1">
            <a:spLocks/>
          </p:cNvSpPr>
          <p:nvPr/>
        </p:nvSpPr>
        <p:spPr>
          <a:xfrm>
            <a:off x="1179576" y="1911096"/>
            <a:ext cx="9829800" cy="3859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Example</a:t>
            </a:r>
            <a:r>
              <a:rPr lang="en-US" dirty="0"/>
              <a:t>: </a:t>
            </a:r>
          </a:p>
          <a:p>
            <a:r>
              <a:rPr lang="en-US" dirty="0">
                <a:solidFill>
                  <a:srgbClr val="FF0000"/>
                </a:solidFill>
              </a:rPr>
              <a:t>If</a:t>
            </a:r>
            <a:r>
              <a:rPr lang="en-US" dirty="0"/>
              <a:t> you are senior citizen </a:t>
            </a:r>
            <a:r>
              <a:rPr lang="en-US" dirty="0">
                <a:solidFill>
                  <a:srgbClr val="FF0000"/>
                </a:solidFill>
              </a:rPr>
              <a:t>and </a:t>
            </a:r>
            <a:r>
              <a:rPr lang="en-US" dirty="0"/>
              <a:t>it is a Tuesday, </a:t>
            </a:r>
            <a:r>
              <a:rPr lang="en-US" dirty="0">
                <a:solidFill>
                  <a:srgbClr val="FF0000"/>
                </a:solidFill>
              </a:rPr>
              <a:t>then</a:t>
            </a:r>
            <a:r>
              <a:rPr lang="en-US" dirty="0"/>
              <a:t> you can have free coffee</a:t>
            </a:r>
          </a:p>
          <a:p>
            <a:pPr marL="0" indent="0">
              <a:buFont typeface="Arial" panose="020B0604020202020204" pitchFamily="34" charset="0"/>
              <a:buNone/>
            </a:pPr>
            <a:r>
              <a:rPr lang="en-US" dirty="0">
                <a:solidFill>
                  <a:srgbClr val="FF0000"/>
                </a:solidFill>
              </a:rPr>
              <a:t>Step 1 </a:t>
            </a:r>
            <a:r>
              <a:rPr lang="en-US" dirty="0"/>
              <a:t>: find logical connectives</a:t>
            </a:r>
          </a:p>
          <a:p>
            <a:pPr marL="0" indent="0">
              <a:buNone/>
            </a:pPr>
            <a:r>
              <a:rPr lang="en-US" dirty="0">
                <a:solidFill>
                  <a:srgbClr val="FF0000"/>
                </a:solidFill>
              </a:rPr>
              <a:t>Step 2</a:t>
            </a:r>
            <a:r>
              <a:rPr lang="en-US" dirty="0"/>
              <a:t>: break the sentence into basic propositions</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15611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Translating English Sentences</a:t>
            </a:r>
          </a:p>
        </p:txBody>
      </p:sp>
      <p:sp>
        <p:nvSpPr>
          <p:cNvPr id="3" name="Content Placeholder 2"/>
          <p:cNvSpPr>
            <a:spLocks noGrp="1"/>
          </p:cNvSpPr>
          <p:nvPr>
            <p:ph idx="1"/>
          </p:nvPr>
        </p:nvSpPr>
        <p:spPr>
          <a:xfrm>
            <a:off x="699796" y="1548882"/>
            <a:ext cx="10266908" cy="4413379"/>
          </a:xfrm>
        </p:spPr>
        <p:txBody>
          <a:bodyPr>
            <a:normAutofit/>
          </a:bodyPr>
          <a:lstStyle/>
          <a:p>
            <a:pPr marL="0" indent="0">
              <a:buNone/>
            </a:pPr>
            <a:r>
              <a:rPr lang="en-US" dirty="0">
                <a:solidFill>
                  <a:srgbClr val="FF0000"/>
                </a:solidFill>
              </a:rPr>
              <a:t>Step 2</a:t>
            </a:r>
            <a:r>
              <a:rPr lang="en-US" dirty="0"/>
              <a:t>: break the sentence into basic propositions</a:t>
            </a:r>
          </a:p>
          <a:p>
            <a:pPr marL="0" indent="0">
              <a:buNone/>
            </a:pPr>
            <a:endParaRPr lang="en-US" dirty="0">
              <a:solidFill>
                <a:srgbClr val="FF0000"/>
              </a:solidFill>
            </a:endParaRPr>
          </a:p>
          <a:p>
            <a:pPr marL="0" indent="0">
              <a:buNone/>
            </a:pPr>
            <a:r>
              <a:rPr lang="en-US" dirty="0">
                <a:solidFill>
                  <a:srgbClr val="FF0000"/>
                </a:solidFill>
              </a:rPr>
              <a:t>Example</a:t>
            </a:r>
            <a:r>
              <a:rPr lang="en-US" dirty="0"/>
              <a:t>: </a:t>
            </a:r>
          </a:p>
          <a:p>
            <a:pPr marL="0" indent="0">
              <a:buNone/>
            </a:pPr>
            <a:r>
              <a:rPr lang="en-US" dirty="0">
                <a:solidFill>
                  <a:srgbClr val="FF0000"/>
                </a:solidFill>
              </a:rPr>
              <a:t>if</a:t>
            </a:r>
            <a:r>
              <a:rPr lang="en-US" dirty="0"/>
              <a:t> </a:t>
            </a:r>
            <a:r>
              <a:rPr lang="en-US" u="sng" dirty="0"/>
              <a:t>you are senior citizen</a:t>
            </a:r>
            <a:r>
              <a:rPr lang="en-US" dirty="0"/>
              <a:t> </a:t>
            </a:r>
            <a:r>
              <a:rPr lang="en-US" dirty="0">
                <a:solidFill>
                  <a:srgbClr val="FF0000"/>
                </a:solidFill>
              </a:rPr>
              <a:t>and</a:t>
            </a:r>
            <a:r>
              <a:rPr lang="en-US" dirty="0"/>
              <a:t> </a:t>
            </a:r>
            <a:r>
              <a:rPr lang="en-US" u="sng" dirty="0"/>
              <a:t>it is a Tuesday </a:t>
            </a:r>
            <a:r>
              <a:rPr lang="en-US" dirty="0">
                <a:solidFill>
                  <a:srgbClr val="FF0000"/>
                </a:solidFill>
              </a:rPr>
              <a:t>then</a:t>
            </a:r>
            <a:r>
              <a:rPr lang="en-US" u="sng" dirty="0"/>
              <a:t> </a:t>
            </a:r>
          </a:p>
          <a:p>
            <a:pPr marL="0" indent="0">
              <a:buNone/>
            </a:pPr>
            <a:r>
              <a:rPr lang="en-US" dirty="0"/>
              <a:t>		a				b</a:t>
            </a:r>
          </a:p>
          <a:p>
            <a:pPr marL="0" indent="0">
              <a:buNone/>
            </a:pPr>
            <a:r>
              <a:rPr lang="en-US" u="sng" dirty="0"/>
              <a:t>you can have free coffee</a:t>
            </a:r>
            <a:r>
              <a:rPr lang="en-US" dirty="0"/>
              <a:t> </a:t>
            </a:r>
            <a:endParaRPr lang="en-US" u="sng" dirty="0"/>
          </a:p>
          <a:p>
            <a:pPr marL="0" indent="0">
              <a:buNone/>
            </a:pPr>
            <a:r>
              <a:rPr lang="en-US" dirty="0"/>
              <a:t>		c</a:t>
            </a:r>
          </a:p>
        </p:txBody>
      </p:sp>
    </p:spTree>
    <p:extLst>
      <p:ext uri="{BB962C8B-B14F-4D97-AF65-F5344CB8AC3E}">
        <p14:creationId xmlns:p14="http://schemas.microsoft.com/office/powerpoint/2010/main" val="2687215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Translating English Sentences</a:t>
            </a:r>
          </a:p>
        </p:txBody>
      </p:sp>
      <p:sp>
        <p:nvSpPr>
          <p:cNvPr id="3" name="Content Placeholder 2"/>
          <p:cNvSpPr>
            <a:spLocks noGrp="1"/>
          </p:cNvSpPr>
          <p:nvPr>
            <p:ph idx="1"/>
          </p:nvPr>
        </p:nvSpPr>
        <p:spPr>
          <a:xfrm>
            <a:off x="1073611" y="1752600"/>
            <a:ext cx="9671304" cy="4489580"/>
          </a:xfrm>
        </p:spPr>
        <p:txBody>
          <a:bodyPr>
            <a:normAutofit/>
          </a:bodyPr>
          <a:lstStyle/>
          <a:p>
            <a:pPr marL="0" indent="0">
              <a:buNone/>
            </a:pPr>
            <a:r>
              <a:rPr lang="en-US" dirty="0">
                <a:solidFill>
                  <a:srgbClr val="FF0000"/>
                </a:solidFill>
              </a:rPr>
              <a:t>Step 3:</a:t>
            </a:r>
            <a:r>
              <a:rPr lang="en-US" dirty="0"/>
              <a:t> rewrite the sentence in propositional logic</a:t>
            </a:r>
          </a:p>
          <a:p>
            <a:pPr marL="0" indent="0">
              <a:buNone/>
            </a:pPr>
            <a:endParaRPr lang="en-US" dirty="0">
              <a:solidFill>
                <a:srgbClr val="FF0000"/>
              </a:solidFill>
            </a:endParaRPr>
          </a:p>
          <a:p>
            <a:pPr marL="0" indent="0">
              <a:buNone/>
            </a:pPr>
            <a:r>
              <a:rPr lang="en-US" dirty="0">
                <a:solidFill>
                  <a:srgbClr val="FF0000"/>
                </a:solidFill>
              </a:rPr>
              <a:t>Example</a:t>
            </a:r>
            <a:r>
              <a:rPr lang="en-US" dirty="0"/>
              <a:t>: </a:t>
            </a:r>
          </a:p>
          <a:p>
            <a:pPr marL="0" indent="0">
              <a:buNone/>
            </a:pPr>
            <a:r>
              <a:rPr lang="en-US" dirty="0">
                <a:solidFill>
                  <a:srgbClr val="FF0000"/>
                </a:solidFill>
              </a:rPr>
              <a:t>if</a:t>
            </a:r>
            <a:r>
              <a:rPr lang="en-US" dirty="0"/>
              <a:t> </a:t>
            </a:r>
            <a:r>
              <a:rPr lang="en-US" u="sng" dirty="0"/>
              <a:t>you are senior citizen</a:t>
            </a:r>
            <a:r>
              <a:rPr lang="en-US" dirty="0"/>
              <a:t> </a:t>
            </a:r>
            <a:r>
              <a:rPr lang="en-US" dirty="0">
                <a:solidFill>
                  <a:srgbClr val="FF0000"/>
                </a:solidFill>
              </a:rPr>
              <a:t>and</a:t>
            </a:r>
            <a:r>
              <a:rPr lang="en-US" dirty="0"/>
              <a:t> </a:t>
            </a:r>
            <a:r>
              <a:rPr lang="en-US" u="sng" dirty="0"/>
              <a:t>it is a Tuesday </a:t>
            </a:r>
            <a:r>
              <a:rPr lang="en-US" dirty="0">
                <a:solidFill>
                  <a:srgbClr val="FF0000"/>
                </a:solidFill>
              </a:rPr>
              <a:t>then</a:t>
            </a:r>
            <a:r>
              <a:rPr lang="en-US" u="sng" dirty="0"/>
              <a:t> </a:t>
            </a:r>
          </a:p>
          <a:p>
            <a:pPr marL="0" indent="0">
              <a:buNone/>
            </a:pPr>
            <a:r>
              <a:rPr lang="en-US" dirty="0"/>
              <a:t>		a				b</a:t>
            </a:r>
          </a:p>
          <a:p>
            <a:pPr marL="0" indent="0">
              <a:buNone/>
            </a:pPr>
            <a:r>
              <a:rPr lang="en-US" u="sng" dirty="0"/>
              <a:t>you can have free coffee</a:t>
            </a:r>
            <a:r>
              <a:rPr lang="en-US" dirty="0"/>
              <a:t> </a:t>
            </a:r>
            <a:endParaRPr lang="en-US" u="sng" dirty="0"/>
          </a:p>
          <a:p>
            <a:pPr marL="0" indent="0">
              <a:buNone/>
            </a:pPr>
            <a:r>
              <a:rPr lang="en-US" dirty="0"/>
              <a:t>		c</a:t>
            </a:r>
          </a:p>
          <a:p>
            <a:pPr marL="0" indent="0" algn="ctr">
              <a:buNone/>
            </a:pPr>
            <a:r>
              <a:rPr lang="en-US" sz="4800" b="1" dirty="0">
                <a:solidFill>
                  <a:srgbClr val="FF0000"/>
                </a:solidFill>
              </a:rPr>
              <a:t>a</a:t>
            </a:r>
            <a:r>
              <a:rPr lang="en-US" sz="4800" b="1" dirty="0">
                <a:solidFill>
                  <a:srgbClr val="FF0000"/>
                </a:solidFill>
                <a:latin typeface="Calibri" panose="020F0502020204030204" pitchFamily="34" charset="0"/>
              </a:rPr>
              <a:t> Ʌ b → c</a:t>
            </a:r>
            <a:endParaRPr lang="en-US" sz="4800" b="1" dirty="0">
              <a:solidFill>
                <a:srgbClr val="FF0000"/>
              </a:solidFill>
            </a:endParaRPr>
          </a:p>
          <a:p>
            <a:pPr marL="0" indent="0">
              <a:buNone/>
            </a:pPr>
            <a:endParaRPr lang="en-US" dirty="0"/>
          </a:p>
        </p:txBody>
      </p:sp>
    </p:spTree>
    <p:extLst>
      <p:ext uri="{BB962C8B-B14F-4D97-AF65-F5344CB8AC3E}">
        <p14:creationId xmlns:p14="http://schemas.microsoft.com/office/powerpoint/2010/main" val="237489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33" name="Rectangle 1048632">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628" name="Title 2"/>
          <p:cNvSpPr>
            <a:spLocks noGrp="1"/>
          </p:cNvSpPr>
          <p:nvPr>
            <p:ph type="title"/>
          </p:nvPr>
        </p:nvSpPr>
        <p:spPr>
          <a:xfrm>
            <a:off x="838200" y="365125"/>
            <a:ext cx="5558489" cy="1325563"/>
          </a:xfrm>
        </p:spPr>
        <p:txBody>
          <a:bodyPr>
            <a:normAutofit/>
          </a:bodyPr>
          <a:lstStyle/>
          <a:p>
            <a:r>
              <a:rPr lang="en-US" dirty="0"/>
              <a:t>System Specifications</a:t>
            </a:r>
          </a:p>
        </p:txBody>
      </p:sp>
      <p:sp>
        <p:nvSpPr>
          <p:cNvPr id="1048635" name="Freeform: Shape 1048634">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627" name="Content Placeholder 1"/>
          <p:cNvSpPr>
            <a:spLocks noGrp="1"/>
          </p:cNvSpPr>
          <p:nvPr>
            <p:ph idx="1"/>
          </p:nvPr>
        </p:nvSpPr>
        <p:spPr>
          <a:xfrm>
            <a:off x="838200" y="1825625"/>
            <a:ext cx="5558489" cy="2736436"/>
          </a:xfrm>
        </p:spPr>
        <p:txBody>
          <a:bodyPr>
            <a:normAutofit/>
          </a:bodyPr>
          <a:lstStyle/>
          <a:p>
            <a:endParaRPr lang="en-US" dirty="0"/>
          </a:p>
          <a:p>
            <a:r>
              <a:rPr lang="en-US" dirty="0"/>
              <a:t>“The automated reply cannot be sent when the file system is full”</a:t>
            </a:r>
          </a:p>
        </p:txBody>
      </p:sp>
      <p:sp>
        <p:nvSpPr>
          <p:cNvPr id="1048637" name="Oval 1048636">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48639" name="Block Arc 1048638">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641" name="Freeform: Shape 1048640">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48643" name="Straight Connector 1048642">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048645" name="Freeform: Shape 1048644">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647" name="Arc 1048646">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8649" name="Freeform: Shape 1048648">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35" name="Rectangle 1048634">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630" name="Title 2"/>
          <p:cNvSpPr>
            <a:spLocks noGrp="1"/>
          </p:cNvSpPr>
          <p:nvPr>
            <p:ph type="title"/>
          </p:nvPr>
        </p:nvSpPr>
        <p:spPr>
          <a:xfrm>
            <a:off x="838200" y="365125"/>
            <a:ext cx="5558489" cy="1325563"/>
          </a:xfrm>
        </p:spPr>
        <p:txBody>
          <a:bodyPr>
            <a:normAutofit/>
          </a:bodyPr>
          <a:lstStyle/>
          <a:p>
            <a:r>
              <a:rPr lang="en-US" dirty="0"/>
              <a:t>System Specifications</a:t>
            </a:r>
          </a:p>
        </p:txBody>
      </p:sp>
      <p:sp>
        <p:nvSpPr>
          <p:cNvPr id="1048637" name="Freeform: Shape 1048636">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629" name="Content Placeholder 1"/>
          <p:cNvSpPr>
            <a:spLocks noGrp="1"/>
          </p:cNvSpPr>
          <p:nvPr>
            <p:ph idx="1"/>
          </p:nvPr>
        </p:nvSpPr>
        <p:spPr>
          <a:xfrm>
            <a:off x="599934" y="1723254"/>
            <a:ext cx="6795537" cy="4351338"/>
          </a:xfrm>
        </p:spPr>
        <p:txBody>
          <a:bodyPr>
            <a:normAutofit/>
          </a:bodyPr>
          <a:lstStyle/>
          <a:p>
            <a:pPr marL="0" indent="0">
              <a:buNone/>
            </a:pPr>
            <a:r>
              <a:rPr lang="en-US" dirty="0"/>
              <a:t>p=“The automated reply can be sent”</a:t>
            </a:r>
          </a:p>
          <a:p>
            <a:pPr marL="0" indent="0">
              <a:buNone/>
            </a:pPr>
            <a:r>
              <a:rPr lang="en-US" dirty="0"/>
              <a:t>q=“The file system is full.” </a:t>
            </a:r>
          </a:p>
          <a:p>
            <a:pPr marL="0" indent="0">
              <a:buNone/>
            </a:pPr>
            <a:endParaRPr lang="en-US" dirty="0"/>
          </a:p>
          <a:p>
            <a:pPr marL="0" indent="0">
              <a:buNone/>
            </a:pPr>
            <a:r>
              <a:rPr lang="en-US" dirty="0"/>
              <a:t>Then ￢p represents “It is not the case that the automated reply can be sent,” which can also be expressed as “The automated reply cannot be sent.”</a:t>
            </a:r>
          </a:p>
          <a:p>
            <a:endParaRPr lang="en-US" dirty="0"/>
          </a:p>
        </p:txBody>
      </p:sp>
      <p:sp>
        <p:nvSpPr>
          <p:cNvPr id="1048639" name="Oval 1048638">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48641" name="Block Arc 1048640">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643" name="Freeform: Shape 1048642">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48645" name="Straight Connector 1048644">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048647" name="Freeform: Shape 1048646">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649" name="Arc 1048648">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8651" name="Freeform: Shape 1048650">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Content Placeholder 1"/>
          <p:cNvSpPr>
            <a:spLocks noGrp="1"/>
          </p:cNvSpPr>
          <p:nvPr>
            <p:ph sz="half" idx="1"/>
          </p:nvPr>
        </p:nvSpPr>
        <p:spPr>
          <a:xfrm>
            <a:off x="1066800" y="1399269"/>
            <a:ext cx="5244548" cy="4525963"/>
          </a:xfrm>
        </p:spPr>
        <p:txBody>
          <a:bodyPr>
            <a:normAutofit/>
          </a:bodyPr>
          <a:lstStyle/>
          <a:p>
            <a:pPr marL="0" indent="0">
              <a:buNone/>
            </a:pPr>
            <a:r>
              <a:rPr lang="en-US" dirty="0"/>
              <a:t>“The automated reply cannot be sent when the file system is full”</a:t>
            </a:r>
          </a:p>
          <a:p>
            <a:endParaRPr lang="en-US" dirty="0"/>
          </a:p>
          <a:p>
            <a:r>
              <a:rPr lang="en-US" dirty="0"/>
              <a:t>p=“The automated reply can be sent”</a:t>
            </a:r>
          </a:p>
          <a:p>
            <a:endParaRPr lang="en-US" dirty="0"/>
          </a:p>
          <a:p>
            <a:r>
              <a:rPr lang="en-US" dirty="0"/>
              <a:t>q=“The file system is full.” </a:t>
            </a:r>
          </a:p>
          <a:p>
            <a:endParaRPr lang="en-US" dirty="0"/>
          </a:p>
          <a:p>
            <a:endParaRPr lang="en-US" dirty="0"/>
          </a:p>
        </p:txBody>
      </p:sp>
      <p:sp>
        <p:nvSpPr>
          <p:cNvPr id="1048632" name="Content Placeholder 3"/>
          <p:cNvSpPr>
            <a:spLocks noGrp="1"/>
          </p:cNvSpPr>
          <p:nvPr>
            <p:ph sz="half" idx="2"/>
          </p:nvPr>
        </p:nvSpPr>
        <p:spPr>
          <a:xfrm>
            <a:off x="6804992" y="1580721"/>
            <a:ext cx="3733800" cy="4525963"/>
          </a:xfrm>
        </p:spPr>
        <p:txBody>
          <a:bodyPr>
            <a:normAutofit/>
          </a:bodyPr>
          <a:lstStyle/>
          <a:p>
            <a:r>
              <a:rPr lang="en-US" dirty="0"/>
              <a:t>Consequently, our specification can be represented by the conditional statement </a:t>
            </a:r>
          </a:p>
          <a:p>
            <a:pPr lvl="1"/>
            <a:r>
              <a:rPr lang="en-US" sz="3300" dirty="0"/>
              <a:t>q →￢p</a:t>
            </a:r>
          </a:p>
          <a:p>
            <a:endParaRPr lang="en-US" dirty="0"/>
          </a:p>
        </p:txBody>
      </p:sp>
      <p:sp>
        <p:nvSpPr>
          <p:cNvPr id="1048633" name="Title 2"/>
          <p:cNvSpPr>
            <a:spLocks noGrp="1"/>
          </p:cNvSpPr>
          <p:nvPr>
            <p:ph type="title"/>
          </p:nvPr>
        </p:nvSpPr>
        <p:spPr>
          <a:xfrm>
            <a:off x="838200" y="292606"/>
            <a:ext cx="10515600" cy="1116204"/>
          </a:xfrm>
        </p:spPr>
        <p:txBody>
          <a:bodyPr>
            <a:normAutofit/>
          </a:bodyPr>
          <a:lstStyle/>
          <a:p>
            <a:r>
              <a:rPr lang="en-US" dirty="0"/>
              <a:t>System Specifications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4840A0-375F-A15E-ADAD-1753EF4AD4EC}"/>
              </a:ext>
            </a:extLst>
          </p:cNvPr>
          <p:cNvSpPr>
            <a:spLocks noGrp="1"/>
          </p:cNvSpPr>
          <p:nvPr>
            <p:ph type="title"/>
          </p:nvPr>
        </p:nvSpPr>
        <p:spPr>
          <a:xfrm>
            <a:off x="970908" y="1220919"/>
            <a:ext cx="5425781" cy="2387600"/>
          </a:xfrm>
        </p:spPr>
        <p:txBody>
          <a:bodyPr vert="horz" lIns="91440" tIns="45720" rIns="91440" bIns="45720" rtlCol="0" anchor="b">
            <a:normAutofit/>
          </a:bodyPr>
          <a:lstStyle/>
          <a:p>
            <a:r>
              <a:rPr lang="en-US" sz="6000" kern="1200">
                <a:solidFill>
                  <a:schemeClr val="tx1"/>
                </a:solidFill>
                <a:latin typeface="+mj-lt"/>
                <a:ea typeface="+mj-ea"/>
                <a:cs typeface="+mj-cs"/>
              </a:rPr>
              <a:t>Boolean Searches</a:t>
            </a:r>
            <a:endParaRPr lang="en-US" sz="6000" kern="1200" dirty="0">
              <a:solidFill>
                <a:schemeClr val="tx1"/>
              </a:solidFill>
              <a:latin typeface="+mj-lt"/>
              <a:ea typeface="+mj-ea"/>
              <a:cs typeface="+mj-cs"/>
            </a:endParaRPr>
          </a:p>
        </p:txBody>
      </p:sp>
      <p:sp>
        <p:nvSpPr>
          <p:cNvPr id="17" name="Freeform: Shape 16">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Block Arc 20">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5" name="Straight Connector 24">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Arc 28">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7767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標題 1">
            <a:extLst>
              <a:ext uri="{FF2B5EF4-FFF2-40B4-BE49-F238E27FC236}">
                <a16:creationId xmlns:a16="http://schemas.microsoft.com/office/drawing/2014/main" id="{C8309AD3-812D-B590-C419-ABBC21E778A4}"/>
              </a:ext>
            </a:extLst>
          </p:cNvPr>
          <p:cNvSpPr>
            <a:spLocks noGrp="1"/>
          </p:cNvSpPr>
          <p:nvPr>
            <p:ph type="title"/>
          </p:nvPr>
        </p:nvSpPr>
        <p:spPr/>
        <p:txBody>
          <a:bodyPr/>
          <a:lstStyle/>
          <a:p>
            <a:r>
              <a:rPr lang="en-US" altLang="zh-TW" dirty="0"/>
              <a:t>Boolean Searches</a:t>
            </a:r>
            <a:endParaRPr lang="zh-TW" altLang="en-US" dirty="0"/>
          </a:p>
        </p:txBody>
      </p:sp>
      <p:sp>
        <p:nvSpPr>
          <p:cNvPr id="7" name="TextBox 6">
            <a:extLst>
              <a:ext uri="{FF2B5EF4-FFF2-40B4-BE49-F238E27FC236}">
                <a16:creationId xmlns:a16="http://schemas.microsoft.com/office/drawing/2014/main" id="{664E68F9-95CE-986A-9D6B-D40060D4E1A0}"/>
              </a:ext>
            </a:extLst>
          </p:cNvPr>
          <p:cNvSpPr txBox="1"/>
          <p:nvPr/>
        </p:nvSpPr>
        <p:spPr>
          <a:xfrm>
            <a:off x="5399315" y="2690336"/>
            <a:ext cx="5760097" cy="3139321"/>
          </a:xfrm>
          <a:prstGeom prst="rect">
            <a:avLst/>
          </a:prstGeom>
          <a:noFill/>
        </p:spPr>
        <p:txBody>
          <a:bodyPr wrap="square">
            <a:spAutoFit/>
          </a:bodyPr>
          <a:lstStyle/>
          <a:p>
            <a:r>
              <a:rPr lang="en-US" dirty="0"/>
              <a:t>Logical connectives are used extensively in searches of large collections of information, such as indexes of Web pages. Because these searches employ techniques from propositional logic, Links they are called Boolean searches</a:t>
            </a:r>
          </a:p>
          <a:p>
            <a:endParaRPr lang="en-US" dirty="0"/>
          </a:p>
          <a:p>
            <a:r>
              <a:rPr lang="en-US" dirty="0"/>
              <a:t>Example: Web Search:</a:t>
            </a:r>
          </a:p>
          <a:p>
            <a:endParaRPr lang="en-US" dirty="0"/>
          </a:p>
          <a:p>
            <a:r>
              <a:rPr lang="en-US" dirty="0"/>
              <a:t>UMT AND CS AND DISCRETE</a:t>
            </a:r>
          </a:p>
          <a:p>
            <a:endParaRPr lang="en-US" dirty="0"/>
          </a:p>
          <a:p>
            <a:r>
              <a:rPr lang="en-US" dirty="0"/>
              <a:t>UMT OR CS OR DISCRETE</a:t>
            </a:r>
            <a:endParaRPr lang="en-PK"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Arc 33">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35" name="Rectangle 34">
            <a:extLst>
              <a:ext uri="{FF2B5EF4-FFF2-40B4-BE49-F238E27FC236}">
                <a16:creationId xmlns:a16="http://schemas.microsoft.com/office/drawing/2014/main" id="{D1A671DE-D529-4A2A-A35D-E97400239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4840A0-375F-A15E-ADAD-1753EF4AD4EC}"/>
              </a:ext>
            </a:extLst>
          </p:cNvPr>
          <p:cNvSpPr>
            <a:spLocks noGrp="1"/>
          </p:cNvSpPr>
          <p:nvPr>
            <p:ph type="title"/>
          </p:nvPr>
        </p:nvSpPr>
        <p:spPr>
          <a:xfrm>
            <a:off x="6406055" y="1273766"/>
            <a:ext cx="4947745" cy="1072070"/>
          </a:xfrm>
        </p:spPr>
        <p:txBody>
          <a:bodyPr vert="horz" lIns="91440" tIns="45720" rIns="91440" bIns="45720" rtlCol="0" anchor="b">
            <a:normAutofit/>
          </a:bodyPr>
          <a:lstStyle/>
          <a:p>
            <a:r>
              <a:rPr lang="en-US" sz="6000" kern="1200" dirty="0">
                <a:solidFill>
                  <a:schemeClr val="tx1"/>
                </a:solidFill>
                <a:latin typeface="+mj-lt"/>
                <a:ea typeface="+mj-ea"/>
                <a:cs typeface="+mj-cs"/>
              </a:rPr>
              <a:t>Logical Puzzles</a:t>
            </a:r>
          </a:p>
        </p:txBody>
      </p:sp>
      <p:sp>
        <p:nvSpPr>
          <p:cNvPr id="3" name="Content Placeholder 2">
            <a:extLst>
              <a:ext uri="{FF2B5EF4-FFF2-40B4-BE49-F238E27FC236}">
                <a16:creationId xmlns:a16="http://schemas.microsoft.com/office/drawing/2014/main" id="{3B1AF774-4A4F-AC51-7AB8-FFC6C16214FF}"/>
              </a:ext>
            </a:extLst>
          </p:cNvPr>
          <p:cNvSpPr>
            <a:spLocks noGrp="1"/>
          </p:cNvSpPr>
          <p:nvPr>
            <p:ph sz="half" idx="1"/>
          </p:nvPr>
        </p:nvSpPr>
        <p:spPr>
          <a:xfrm>
            <a:off x="6338478" y="2949185"/>
            <a:ext cx="4947745" cy="1746803"/>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Puzzles that can be solved using logical reasoning are known as logic puzzles</a:t>
            </a:r>
          </a:p>
        </p:txBody>
      </p:sp>
      <p:sp>
        <p:nvSpPr>
          <p:cNvPr id="36" name="Freeform: Shape 35">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12599"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7" name="Straight Connector 3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63649" y="127376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8" name="Block Arc 37">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631431" y="1382395"/>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Shape 38">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31329"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Oval 39">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20126" y="2345836"/>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Freeform: Shape 40">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03228"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Arc 42">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27948" flipH="1">
            <a:off x="2309492"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1928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solidFill>
                  <a:srgbClr val="C00000"/>
                </a:solidFill>
                <a:latin typeface="Cambria Math" panose="02040503050406030204" pitchFamily="18" charset="0"/>
                <a:ea typeface="Cambria Math" panose="02040503050406030204" pitchFamily="18" charset="0"/>
              </a:rPr>
              <a:t>Examples – Logical Puzzles</a:t>
            </a:r>
          </a:p>
        </p:txBody>
      </p:sp>
      <p:pic>
        <p:nvPicPr>
          <p:cNvPr id="7" name="Picture 6"/>
          <p:cNvPicPr>
            <a:picLocks noChangeAspect="1"/>
          </p:cNvPicPr>
          <p:nvPr/>
        </p:nvPicPr>
        <p:blipFill>
          <a:blip r:embed="rId2"/>
          <a:stretch>
            <a:fillRect/>
          </a:stretch>
        </p:blipFill>
        <p:spPr>
          <a:xfrm>
            <a:off x="9718156" y="278468"/>
            <a:ext cx="2125911" cy="2754541"/>
          </a:xfrm>
          <a:prstGeom prst="rect">
            <a:avLst/>
          </a:prstGeom>
        </p:spPr>
      </p:pic>
      <p:pic>
        <p:nvPicPr>
          <p:cNvPr id="16" name="Picture 15"/>
          <p:cNvPicPr>
            <a:picLocks noChangeAspect="1"/>
          </p:cNvPicPr>
          <p:nvPr/>
        </p:nvPicPr>
        <p:blipFill>
          <a:blip r:embed="rId3"/>
          <a:stretch>
            <a:fillRect/>
          </a:stretch>
        </p:blipFill>
        <p:spPr>
          <a:xfrm>
            <a:off x="743921" y="1516780"/>
            <a:ext cx="5692130" cy="4269098"/>
          </a:xfrm>
          <a:prstGeom prst="rect">
            <a:avLst/>
          </a:prstGeom>
        </p:spPr>
      </p:pic>
      <p:pic>
        <p:nvPicPr>
          <p:cNvPr id="19" name="Picture 18"/>
          <p:cNvPicPr>
            <a:picLocks noChangeAspect="1"/>
          </p:cNvPicPr>
          <p:nvPr/>
        </p:nvPicPr>
        <p:blipFill>
          <a:blip r:embed="rId4"/>
          <a:stretch>
            <a:fillRect/>
          </a:stretch>
        </p:blipFill>
        <p:spPr>
          <a:xfrm>
            <a:off x="8748002" y="4166559"/>
            <a:ext cx="3226038" cy="2481960"/>
          </a:xfrm>
          <a:prstGeom prst="rect">
            <a:avLst/>
          </a:prstGeom>
        </p:spPr>
      </p:pic>
      <p:pic>
        <p:nvPicPr>
          <p:cNvPr id="20" name="Picture 19"/>
          <p:cNvPicPr>
            <a:picLocks noChangeAspect="1"/>
          </p:cNvPicPr>
          <p:nvPr/>
        </p:nvPicPr>
        <p:blipFill>
          <a:blip r:embed="rId5"/>
          <a:stretch>
            <a:fillRect/>
          </a:stretch>
        </p:blipFill>
        <p:spPr>
          <a:xfrm>
            <a:off x="6530329" y="1655738"/>
            <a:ext cx="3053617" cy="2290213"/>
          </a:xfrm>
          <a:prstGeom prst="rect">
            <a:avLst/>
          </a:prstGeom>
        </p:spPr>
      </p:pic>
    </p:spTree>
    <p:extLst>
      <p:ext uri="{BB962C8B-B14F-4D97-AF65-F5344CB8AC3E}">
        <p14:creationId xmlns:p14="http://schemas.microsoft.com/office/powerpoint/2010/main" val="210188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224" y="30168"/>
            <a:ext cx="10515600" cy="902894"/>
          </a:xfrm>
        </p:spPr>
        <p:txBody>
          <a:bodyPr>
            <a:normAutofit/>
          </a:bodyPr>
          <a:lstStyle/>
          <a:p>
            <a:pPr algn="l"/>
            <a:r>
              <a:rPr lang="en-US" dirty="0">
                <a:solidFill>
                  <a:srgbClr val="C00000"/>
                </a:solidFill>
                <a:latin typeface="Cambria Math" panose="02040503050406030204" pitchFamily="18" charset="0"/>
                <a:ea typeface="Cambria Math" panose="02040503050406030204" pitchFamily="18" charset="0"/>
              </a:rPr>
              <a:t>Examples – Logical Puzzles</a:t>
            </a:r>
          </a:p>
        </p:txBody>
      </p:sp>
      <p:pic>
        <p:nvPicPr>
          <p:cNvPr id="5" name="Picture 4"/>
          <p:cNvPicPr>
            <a:picLocks noChangeAspect="1"/>
          </p:cNvPicPr>
          <p:nvPr/>
        </p:nvPicPr>
        <p:blipFill>
          <a:blip r:embed="rId2"/>
          <a:stretch>
            <a:fillRect/>
          </a:stretch>
        </p:blipFill>
        <p:spPr>
          <a:xfrm>
            <a:off x="754224" y="1059701"/>
            <a:ext cx="8759686" cy="1749246"/>
          </a:xfrm>
          <a:prstGeom prst="rect">
            <a:avLst/>
          </a:prstGeom>
        </p:spPr>
      </p:pic>
      <p:pic>
        <p:nvPicPr>
          <p:cNvPr id="7" name="Picture 6"/>
          <p:cNvPicPr>
            <a:picLocks noChangeAspect="1"/>
          </p:cNvPicPr>
          <p:nvPr/>
        </p:nvPicPr>
        <p:blipFill>
          <a:blip r:embed="rId3"/>
          <a:stretch>
            <a:fillRect/>
          </a:stretch>
        </p:blipFill>
        <p:spPr>
          <a:xfrm>
            <a:off x="9755471" y="2921297"/>
            <a:ext cx="2206373" cy="2858795"/>
          </a:xfrm>
          <a:prstGeom prst="rect">
            <a:avLst/>
          </a:prstGeom>
        </p:spPr>
      </p:pic>
      <p:cxnSp>
        <p:nvCxnSpPr>
          <p:cNvPr id="4" name="Straight Connector 3"/>
          <p:cNvCxnSpPr>
            <a:cxnSpLocks/>
          </p:cNvCxnSpPr>
          <p:nvPr/>
        </p:nvCxnSpPr>
        <p:spPr>
          <a:xfrm>
            <a:off x="2770927" y="2808947"/>
            <a:ext cx="210312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5329893" y="2768162"/>
            <a:ext cx="4114800" cy="214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754224" y="1791516"/>
            <a:ext cx="868249" cy="32197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993778" y="1792656"/>
            <a:ext cx="868249" cy="32197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2779888" y="2400038"/>
            <a:ext cx="2103120" cy="521259"/>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315380" y="2371010"/>
            <a:ext cx="4114800" cy="521259"/>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4"/>
          <a:stretch>
            <a:fillRect/>
          </a:stretch>
        </p:blipFill>
        <p:spPr>
          <a:xfrm>
            <a:off x="1132049" y="3143068"/>
            <a:ext cx="2206373" cy="3586117"/>
          </a:xfrm>
          <a:prstGeom prst="round2DiagRect">
            <a:avLst>
              <a:gd name="adj1" fmla="val 16667"/>
              <a:gd name="adj2" fmla="val 0"/>
            </a:avLst>
          </a:prstGeom>
          <a:ln w="88900" cap="sq">
            <a:solidFill>
              <a:schemeClr val="tx2">
                <a:lumMod val="75000"/>
              </a:schemeClr>
            </a:solidFill>
            <a:miter lim="800000"/>
          </a:ln>
          <a:effectLst>
            <a:outerShdw blurRad="254000" algn="tl" rotWithShape="0">
              <a:srgbClr val="000000">
                <a:alpha val="43000"/>
              </a:srgbClr>
            </a:outerShdw>
          </a:effectLst>
        </p:spPr>
      </p:pic>
      <p:pic>
        <p:nvPicPr>
          <p:cNvPr id="6" name="Picture 5"/>
          <p:cNvPicPr>
            <a:picLocks noChangeAspect="1"/>
          </p:cNvPicPr>
          <p:nvPr/>
        </p:nvPicPr>
        <p:blipFill>
          <a:blip r:embed="rId5"/>
          <a:stretch>
            <a:fillRect/>
          </a:stretch>
        </p:blipFill>
        <p:spPr>
          <a:xfrm>
            <a:off x="5315381" y="3289421"/>
            <a:ext cx="3396862" cy="339686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53569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D1A671DE-D529-4A2A-A35D-E97400239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4840A0-375F-A15E-ADAD-1753EF4AD4EC}"/>
              </a:ext>
            </a:extLst>
          </p:cNvPr>
          <p:cNvSpPr>
            <a:spLocks noGrp="1"/>
          </p:cNvSpPr>
          <p:nvPr>
            <p:ph type="title"/>
          </p:nvPr>
        </p:nvSpPr>
        <p:spPr>
          <a:xfrm>
            <a:off x="6406055" y="780057"/>
            <a:ext cx="4947745" cy="2828462"/>
          </a:xfrm>
        </p:spPr>
        <p:txBody>
          <a:bodyPr vert="horz" lIns="91440" tIns="45720" rIns="91440" bIns="45720" rtlCol="0" anchor="b">
            <a:normAutofit/>
          </a:bodyPr>
          <a:lstStyle/>
          <a:p>
            <a:r>
              <a:rPr lang="en-US" sz="6000" kern="1200" dirty="0">
                <a:solidFill>
                  <a:schemeClr val="tx1"/>
                </a:solidFill>
                <a:latin typeface="+mj-lt"/>
                <a:ea typeface="+mj-ea"/>
                <a:cs typeface="+mj-cs"/>
              </a:rPr>
              <a:t>Logical Circuits</a:t>
            </a:r>
          </a:p>
        </p:txBody>
      </p:sp>
      <p:sp>
        <p:nvSpPr>
          <p:cNvPr id="3" name="Content Placeholder 2">
            <a:extLst>
              <a:ext uri="{FF2B5EF4-FFF2-40B4-BE49-F238E27FC236}">
                <a16:creationId xmlns:a16="http://schemas.microsoft.com/office/drawing/2014/main" id="{3B1AF774-4A4F-AC51-7AB8-FFC6C16214FF}"/>
              </a:ext>
            </a:extLst>
          </p:cNvPr>
          <p:cNvSpPr>
            <a:spLocks noGrp="1"/>
          </p:cNvSpPr>
          <p:nvPr>
            <p:ph sz="half" idx="1"/>
          </p:nvPr>
        </p:nvSpPr>
        <p:spPr>
          <a:xfrm>
            <a:off x="6406055" y="4185581"/>
            <a:ext cx="4947745" cy="962682"/>
          </a:xfrm>
        </p:spPr>
        <p:txBody>
          <a:bodyPr vert="horz" lIns="91440" tIns="45720" rIns="91440" bIns="45720" rtlCol="0">
            <a:normAutofit/>
          </a:bodyPr>
          <a:lstStyle/>
          <a:p>
            <a:pPr>
              <a:buNone/>
            </a:pPr>
            <a:r>
              <a:rPr lang="en-US" sz="2400" b="1" dirty="0">
                <a:solidFill>
                  <a:srgbClr val="00B0F0"/>
                </a:solidFill>
              </a:rPr>
              <a:t>Switches “in series”</a:t>
            </a:r>
          </a:p>
          <a:p>
            <a:pPr>
              <a:buNone/>
            </a:pPr>
            <a:r>
              <a:rPr lang="en-US" sz="2400" b="1" dirty="0">
                <a:solidFill>
                  <a:srgbClr val="00B0F0"/>
                </a:solidFill>
              </a:rPr>
              <a:t>Switches “in parallel”</a:t>
            </a:r>
          </a:p>
        </p:txBody>
      </p:sp>
      <p:sp>
        <p:nvSpPr>
          <p:cNvPr id="17" name="Freeform: Shape 16">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12599"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Connector 18">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63649" y="127376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1" name="Block Arc 20">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631431" y="1382395"/>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31329"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20126" y="2345836"/>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Freeform: Shape 26">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03228"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Arc 3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27948" flipH="1">
            <a:off x="2309492"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9438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B149E-98AD-1B68-5E3A-1793FBE579AD}"/>
              </a:ext>
            </a:extLst>
          </p:cNvPr>
          <p:cNvSpPr>
            <a:spLocks noGrp="1"/>
          </p:cNvSpPr>
          <p:nvPr>
            <p:ph type="title"/>
          </p:nvPr>
        </p:nvSpPr>
        <p:spPr>
          <a:xfrm>
            <a:off x="838200" y="40776"/>
            <a:ext cx="10515600" cy="1325563"/>
          </a:xfrm>
        </p:spPr>
        <p:txBody>
          <a:bodyPr/>
          <a:lstStyle/>
          <a:p>
            <a:r>
              <a:rPr lang="en-US" altLang="en-PK" dirty="0"/>
              <a:t>Switching Circuits – Series Circuit</a:t>
            </a:r>
            <a:endParaRPr lang="en-PK" dirty="0"/>
          </a:p>
        </p:txBody>
      </p:sp>
      <p:pic>
        <p:nvPicPr>
          <p:cNvPr id="3" name="Picture 3">
            <a:extLst>
              <a:ext uri="{FF2B5EF4-FFF2-40B4-BE49-F238E27FC236}">
                <a16:creationId xmlns:a16="http://schemas.microsoft.com/office/drawing/2014/main" id="{2DDA0BD3-78D5-F7B2-BBF7-0DA58C7F91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0343" y="3071746"/>
            <a:ext cx="506412" cy="906463"/>
          </a:xfrm>
          <a:prstGeom prst="rect">
            <a:avLst/>
          </a:prstGeom>
          <a:noFill/>
          <a:extLst>
            <a:ext uri="{909E8E84-426E-40DD-AFC4-6F175D3DCCD1}">
              <a14:hiddenFill xmlns:a14="http://schemas.microsoft.com/office/drawing/2010/main">
                <a:solidFill>
                  <a:srgbClr val="FFFFFF"/>
                </a:solidFill>
              </a14:hiddenFill>
            </a:ext>
          </a:extLst>
        </p:spPr>
      </p:pic>
      <p:sp>
        <p:nvSpPr>
          <p:cNvPr id="4" name="Line 4">
            <a:extLst>
              <a:ext uri="{FF2B5EF4-FFF2-40B4-BE49-F238E27FC236}">
                <a16:creationId xmlns:a16="http://schemas.microsoft.com/office/drawing/2014/main" id="{9A88BFB0-0542-7AD3-6BA6-0EB8242E4C8C}"/>
              </a:ext>
            </a:extLst>
          </p:cNvPr>
          <p:cNvSpPr>
            <a:spLocks noChangeShapeType="1"/>
          </p:cNvSpPr>
          <p:nvPr/>
        </p:nvSpPr>
        <p:spPr bwMode="auto">
          <a:xfrm flipV="1">
            <a:off x="1716405" y="2712971"/>
            <a:ext cx="0" cy="3587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5" name="Line 5">
            <a:extLst>
              <a:ext uri="{FF2B5EF4-FFF2-40B4-BE49-F238E27FC236}">
                <a16:creationId xmlns:a16="http://schemas.microsoft.com/office/drawing/2014/main" id="{B3ACA100-A28A-F9B7-2326-987CBE40F274}"/>
              </a:ext>
            </a:extLst>
          </p:cNvPr>
          <p:cNvSpPr>
            <a:spLocks noChangeShapeType="1"/>
          </p:cNvSpPr>
          <p:nvPr/>
        </p:nvSpPr>
        <p:spPr bwMode="auto">
          <a:xfrm flipV="1">
            <a:off x="1716406" y="2711384"/>
            <a:ext cx="817563"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6" name="Line 6">
            <a:extLst>
              <a:ext uri="{FF2B5EF4-FFF2-40B4-BE49-F238E27FC236}">
                <a16:creationId xmlns:a16="http://schemas.microsoft.com/office/drawing/2014/main" id="{8BF70819-047C-B712-518D-31FEB2E11B5A}"/>
              </a:ext>
            </a:extLst>
          </p:cNvPr>
          <p:cNvSpPr>
            <a:spLocks noChangeShapeType="1"/>
          </p:cNvSpPr>
          <p:nvPr/>
        </p:nvSpPr>
        <p:spPr bwMode="auto">
          <a:xfrm flipV="1">
            <a:off x="1716405" y="3973446"/>
            <a:ext cx="0" cy="3587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7" name="Line 7">
            <a:extLst>
              <a:ext uri="{FF2B5EF4-FFF2-40B4-BE49-F238E27FC236}">
                <a16:creationId xmlns:a16="http://schemas.microsoft.com/office/drawing/2014/main" id="{E8A61291-E95C-6C9D-4B26-0AAEDAC18402}"/>
              </a:ext>
            </a:extLst>
          </p:cNvPr>
          <p:cNvSpPr>
            <a:spLocks noChangeShapeType="1"/>
          </p:cNvSpPr>
          <p:nvPr/>
        </p:nvSpPr>
        <p:spPr bwMode="auto">
          <a:xfrm>
            <a:off x="1716405" y="4332220"/>
            <a:ext cx="26177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9" name="Litebulb">
            <a:extLst>
              <a:ext uri="{FF2B5EF4-FFF2-40B4-BE49-F238E27FC236}">
                <a16:creationId xmlns:a16="http://schemas.microsoft.com/office/drawing/2014/main" id="{A0250504-4BBE-673B-585D-40413DC9B66A}"/>
              </a:ext>
            </a:extLst>
          </p:cNvPr>
          <p:cNvSpPr>
            <a:spLocks noChangeAspect="1" noEditPoints="1" noChangeArrowheads="1"/>
          </p:cNvSpPr>
          <p:nvPr/>
        </p:nvSpPr>
        <p:spPr bwMode="auto">
          <a:xfrm rot="5400000">
            <a:off x="4291331" y="3039996"/>
            <a:ext cx="658813" cy="900113"/>
          </a:xfrm>
          <a:custGeom>
            <a:avLst/>
            <a:gdLst>
              <a:gd name="T0" fmla="*/ 10800 w 21600"/>
              <a:gd name="T1" fmla="*/ 0 h 21600"/>
              <a:gd name="T2" fmla="*/ 21600 w 21600"/>
              <a:gd name="T3" fmla="*/ 7782 h 21600"/>
              <a:gd name="T4" fmla="*/ 0 w 21600"/>
              <a:gd name="T5" fmla="*/ 7782 h 21600"/>
              <a:gd name="T6" fmla="*/ 10800 w 21600"/>
              <a:gd name="T7" fmla="*/ 21600 h 21600"/>
              <a:gd name="T8" fmla="*/ 3556 w 21600"/>
              <a:gd name="T9" fmla="*/ 2188 h 21600"/>
              <a:gd name="T10" fmla="*/ 18277 w 21600"/>
              <a:gd name="T11" fmla="*/ 9282 h 21600"/>
            </a:gdLst>
            <a:ahLst/>
            <a:cxnLst>
              <a:cxn ang="0">
                <a:pos x="T0" y="T1"/>
              </a:cxn>
              <a:cxn ang="0">
                <a:pos x="T2" y="T3"/>
              </a:cxn>
              <a:cxn ang="0">
                <a:pos x="T4" y="T5"/>
              </a:cxn>
              <a:cxn ang="0">
                <a:pos x="T6" y="T7"/>
              </a:cxn>
            </a:cxnLst>
            <a:rect l="T8" t="T9" r="T10" b="T11"/>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19050">
            <a:solidFill>
              <a:srgbClr val="000000"/>
            </a:solidFill>
            <a:miter lim="800000"/>
            <a:headEnd/>
            <a:tailEnd/>
          </a:ln>
        </p:spPr>
        <p:txBody>
          <a:bodyPr/>
          <a:lstStyle/>
          <a:p>
            <a:endParaRPr lang="en-PK"/>
          </a:p>
        </p:txBody>
      </p:sp>
      <p:sp>
        <p:nvSpPr>
          <p:cNvPr id="10" name="Line 9">
            <a:extLst>
              <a:ext uri="{FF2B5EF4-FFF2-40B4-BE49-F238E27FC236}">
                <a16:creationId xmlns:a16="http://schemas.microsoft.com/office/drawing/2014/main" id="{6B968A9C-6B9B-D3F6-9D39-02A69D199F22}"/>
              </a:ext>
            </a:extLst>
          </p:cNvPr>
          <p:cNvSpPr>
            <a:spLocks noChangeShapeType="1"/>
          </p:cNvSpPr>
          <p:nvPr/>
        </p:nvSpPr>
        <p:spPr bwMode="auto">
          <a:xfrm flipV="1">
            <a:off x="4334193" y="3522596"/>
            <a:ext cx="0" cy="809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11" name="Line 10">
            <a:extLst>
              <a:ext uri="{FF2B5EF4-FFF2-40B4-BE49-F238E27FC236}">
                <a16:creationId xmlns:a16="http://schemas.microsoft.com/office/drawing/2014/main" id="{FC6F91E8-83D4-D27A-C816-1ED88F99E06C}"/>
              </a:ext>
            </a:extLst>
          </p:cNvPr>
          <p:cNvSpPr>
            <a:spLocks noChangeShapeType="1"/>
          </p:cNvSpPr>
          <p:nvPr/>
        </p:nvSpPr>
        <p:spPr bwMode="auto">
          <a:xfrm flipV="1">
            <a:off x="4170680" y="2711384"/>
            <a:ext cx="0" cy="809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12" name="Line 11">
            <a:extLst>
              <a:ext uri="{FF2B5EF4-FFF2-40B4-BE49-F238E27FC236}">
                <a16:creationId xmlns:a16="http://schemas.microsoft.com/office/drawing/2014/main" id="{D6BC3876-E084-EC06-59CB-F0E65DE681EB}"/>
              </a:ext>
            </a:extLst>
          </p:cNvPr>
          <p:cNvSpPr>
            <a:spLocks noChangeShapeType="1"/>
          </p:cNvSpPr>
          <p:nvPr/>
        </p:nvSpPr>
        <p:spPr bwMode="auto">
          <a:xfrm flipV="1">
            <a:off x="3353118" y="2711384"/>
            <a:ext cx="819150"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13" name="Line 12">
            <a:extLst>
              <a:ext uri="{FF2B5EF4-FFF2-40B4-BE49-F238E27FC236}">
                <a16:creationId xmlns:a16="http://schemas.microsoft.com/office/drawing/2014/main" id="{2A8B0249-EF67-AC0C-8B40-80564BF231EA}"/>
              </a:ext>
            </a:extLst>
          </p:cNvPr>
          <p:cNvSpPr>
            <a:spLocks noChangeShapeType="1"/>
          </p:cNvSpPr>
          <p:nvPr/>
        </p:nvSpPr>
        <p:spPr bwMode="auto">
          <a:xfrm flipV="1">
            <a:off x="2533968" y="2531996"/>
            <a:ext cx="246062" cy="1809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14" name="Line 13">
            <a:extLst>
              <a:ext uri="{FF2B5EF4-FFF2-40B4-BE49-F238E27FC236}">
                <a16:creationId xmlns:a16="http://schemas.microsoft.com/office/drawing/2014/main" id="{11FB5A9D-59BC-019E-7508-F22C2A6A0398}"/>
              </a:ext>
            </a:extLst>
          </p:cNvPr>
          <p:cNvSpPr>
            <a:spLocks noChangeShapeType="1"/>
          </p:cNvSpPr>
          <p:nvPr/>
        </p:nvSpPr>
        <p:spPr bwMode="auto">
          <a:xfrm flipV="1">
            <a:off x="3108644" y="2531996"/>
            <a:ext cx="244475" cy="1809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15" name="Line 14">
            <a:extLst>
              <a:ext uri="{FF2B5EF4-FFF2-40B4-BE49-F238E27FC236}">
                <a16:creationId xmlns:a16="http://schemas.microsoft.com/office/drawing/2014/main" id="{77C871D5-7A6F-441E-936D-335548FD1BF8}"/>
              </a:ext>
            </a:extLst>
          </p:cNvPr>
          <p:cNvSpPr>
            <a:spLocks noChangeShapeType="1"/>
          </p:cNvSpPr>
          <p:nvPr/>
        </p:nvSpPr>
        <p:spPr bwMode="auto">
          <a:xfrm flipV="1">
            <a:off x="2780031" y="2711384"/>
            <a:ext cx="328613"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16" name="Text Box 15">
            <a:extLst>
              <a:ext uri="{FF2B5EF4-FFF2-40B4-BE49-F238E27FC236}">
                <a16:creationId xmlns:a16="http://schemas.microsoft.com/office/drawing/2014/main" id="{7A14F7CE-7D2B-B3E4-39AC-F103B8243229}"/>
              </a:ext>
            </a:extLst>
          </p:cNvPr>
          <p:cNvSpPr txBox="1">
            <a:spLocks noChangeArrowheads="1"/>
          </p:cNvSpPr>
          <p:nvPr/>
        </p:nvSpPr>
        <p:spPr bwMode="auto">
          <a:xfrm>
            <a:off x="1470344" y="1939859"/>
            <a:ext cx="3240087"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0" hangingPunct="0">
              <a:lnSpc>
                <a:spcPct val="90000"/>
              </a:lnSpc>
              <a:spcBef>
                <a:spcPct val="50000"/>
              </a:spcBef>
              <a:buClr>
                <a:schemeClr val="bg1"/>
              </a:buClr>
              <a:buFont typeface="Arial" panose="020B0604020202020204" pitchFamily="34" charset="0"/>
              <a:buNone/>
            </a:pPr>
            <a:r>
              <a:rPr lang="en-US" altLang="en-PK" sz="2800" b="1" dirty="0">
                <a:solidFill>
                  <a:schemeClr val="accent2"/>
                </a:solidFill>
                <a:latin typeface="Arial" panose="020B0604020202020204" pitchFamily="34" charset="0"/>
                <a:cs typeface="Arial" panose="020B0604020202020204" pitchFamily="34" charset="0"/>
              </a:rPr>
              <a:t>AND</a:t>
            </a:r>
          </a:p>
        </p:txBody>
      </p:sp>
      <p:pic>
        <p:nvPicPr>
          <p:cNvPr id="33" name="Picture 32">
            <a:extLst>
              <a:ext uri="{FF2B5EF4-FFF2-40B4-BE49-F238E27FC236}">
                <a16:creationId xmlns:a16="http://schemas.microsoft.com/office/drawing/2014/main" id="{6C0FAAE3-437E-3450-852B-5E537B822D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429528">
            <a:off x="1584643" y="1890645"/>
            <a:ext cx="1230312" cy="484188"/>
          </a:xfrm>
          <a:prstGeom prst="rect">
            <a:avLst/>
          </a:prstGeom>
          <a:noFill/>
          <a:extLst>
            <a:ext uri="{909E8E84-426E-40DD-AFC4-6F175D3DCCD1}">
              <a14:hiddenFill xmlns:a14="http://schemas.microsoft.com/office/drawing/2010/main">
                <a:solidFill>
                  <a:srgbClr val="FFFFFF"/>
                </a:solidFill>
              </a14:hiddenFill>
            </a:ext>
          </a:extLst>
        </p:spPr>
      </p:pic>
      <p:sp>
        <p:nvSpPr>
          <p:cNvPr id="34" name="Line 33">
            <a:extLst>
              <a:ext uri="{FF2B5EF4-FFF2-40B4-BE49-F238E27FC236}">
                <a16:creationId xmlns:a16="http://schemas.microsoft.com/office/drawing/2014/main" id="{9BD1C4FD-4E7D-A38B-BA88-A35466F2AD51}"/>
              </a:ext>
            </a:extLst>
          </p:cNvPr>
          <p:cNvSpPr>
            <a:spLocks noChangeShapeType="1"/>
          </p:cNvSpPr>
          <p:nvPr/>
        </p:nvSpPr>
        <p:spPr bwMode="auto">
          <a:xfrm flipV="1">
            <a:off x="2549843" y="2711383"/>
            <a:ext cx="296862" cy="0"/>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35" name="Line 34">
            <a:extLst>
              <a:ext uri="{FF2B5EF4-FFF2-40B4-BE49-F238E27FC236}">
                <a16:creationId xmlns:a16="http://schemas.microsoft.com/office/drawing/2014/main" id="{66B627DA-D620-4615-635B-FB8D640B101A}"/>
              </a:ext>
            </a:extLst>
          </p:cNvPr>
          <p:cNvSpPr>
            <a:spLocks noChangeShapeType="1"/>
          </p:cNvSpPr>
          <p:nvPr/>
        </p:nvSpPr>
        <p:spPr bwMode="auto">
          <a:xfrm flipV="1">
            <a:off x="3089593" y="2711383"/>
            <a:ext cx="296862" cy="0"/>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graphicFrame>
        <p:nvGraphicFramePr>
          <p:cNvPr id="8" name="Group 2">
            <a:extLst>
              <a:ext uri="{FF2B5EF4-FFF2-40B4-BE49-F238E27FC236}">
                <a16:creationId xmlns:a16="http://schemas.microsoft.com/office/drawing/2014/main" id="{6A391665-FAA3-525B-BD67-88D09E04D24F}"/>
              </a:ext>
            </a:extLst>
          </p:cNvPr>
          <p:cNvGraphicFramePr>
            <a:graphicFrameLocks noGrp="1"/>
          </p:cNvGraphicFramePr>
          <p:nvPr>
            <p:extLst>
              <p:ext uri="{D42A27DB-BD31-4B8C-83A1-F6EECF244321}">
                <p14:modId xmlns:p14="http://schemas.microsoft.com/office/powerpoint/2010/main" val="3450888879"/>
              </p:ext>
            </p:extLst>
          </p:nvPr>
        </p:nvGraphicFramePr>
        <p:xfrm>
          <a:off x="6570347" y="1829890"/>
          <a:ext cx="5105400" cy="2971800"/>
        </p:xfrm>
        <a:graphic>
          <a:graphicData uri="http://schemas.openxmlformats.org/drawingml/2006/table">
            <a:tbl>
              <a:tblPr/>
              <a:tblGrid>
                <a:gridCol w="2552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Switches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Light Bulb</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494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State</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  Closed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Closed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  Open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  Open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0877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 presetClass="exit" presetSubtype="0" fill="hold" nodeType="after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par>
                          <p:cTn id="15" fill="hold">
                            <p:stCondLst>
                              <p:cond delay="500"/>
                            </p:stCondLst>
                            <p:childTnLst>
                              <p:par>
                                <p:cTn id="16" presetID="64" presetClass="path" presetSubtype="0" accel="50000" decel="50000" fill="hold" nodeType="afterEffect">
                                  <p:stCondLst>
                                    <p:cond delay="0"/>
                                  </p:stCondLst>
                                  <p:childTnLst>
                                    <p:animMotion origin="layout" path="M 1.45833E-6 3.7037E-7 L -0.00104 -0.04676 " pathEditMode="relative" rAng="0" ptsTypes="AA">
                                      <p:cBhvr>
                                        <p:cTn id="17" dur="500" fill="hold"/>
                                        <p:tgtEl>
                                          <p:spTgt spid="33"/>
                                        </p:tgtEl>
                                        <p:attrNameLst>
                                          <p:attrName>ppt_x</p:attrName>
                                          <p:attrName>ppt_y</p:attrName>
                                        </p:attrNameLst>
                                      </p:cBhvr>
                                      <p:rCtr x="-52" y="-2338"/>
                                    </p:animMotion>
                                  </p:childTnLst>
                                </p:cTn>
                              </p:par>
                            </p:childTnLst>
                          </p:cTn>
                        </p:par>
                        <p:par>
                          <p:cTn id="18" fill="hold">
                            <p:stCondLst>
                              <p:cond delay="1000"/>
                            </p:stCondLst>
                            <p:childTnLst>
                              <p:par>
                                <p:cTn id="19" presetID="49" presetClass="path" presetSubtype="0" accel="50000" decel="50000" fill="hold" nodeType="afterEffect">
                                  <p:stCondLst>
                                    <p:cond delay="0"/>
                                  </p:stCondLst>
                                  <p:childTnLst>
                                    <p:animMotion origin="layout" path="M -0.00104 -0.04676 L 0.07773 0.00579 " pathEditMode="relative" rAng="0" ptsTypes="AA">
                                      <p:cBhvr>
                                        <p:cTn id="20" dur="500" fill="hold"/>
                                        <p:tgtEl>
                                          <p:spTgt spid="33"/>
                                        </p:tgtEl>
                                        <p:attrNameLst>
                                          <p:attrName>ppt_x</p:attrName>
                                          <p:attrName>ppt_y</p:attrName>
                                        </p:attrNameLst>
                                      </p:cBhvr>
                                      <p:rCtr x="3932" y="2616"/>
                                    </p:animMotion>
                                  </p:childTnLst>
                                </p:cTn>
                              </p:par>
                            </p:childTnLst>
                          </p:cTn>
                        </p:par>
                        <p:par>
                          <p:cTn id="21" fill="hold">
                            <p:stCondLst>
                              <p:cond delay="1500"/>
                            </p:stCondLst>
                            <p:childTnLst>
                              <p:par>
                                <p:cTn id="22" presetID="1" presetClass="exit" presetSubtype="0" fill="hold" nodeType="afterEffect">
                                  <p:stCondLst>
                                    <p:cond delay="0"/>
                                  </p:stCondLst>
                                  <p:childTnLst>
                                    <p:set>
                                      <p:cBhvr>
                                        <p:cTn id="23" dur="1" fill="hold">
                                          <p:stCondLst>
                                            <p:cond delay="0"/>
                                          </p:stCondLst>
                                        </p:cTn>
                                        <p:tgtEl>
                                          <p:spTgt spid="14"/>
                                        </p:tgtEl>
                                        <p:attrNameLst>
                                          <p:attrName>style.visibility</p:attrName>
                                        </p:attrNameLst>
                                      </p:cBhvr>
                                      <p:to>
                                        <p:strVal val="hidden"/>
                                      </p:to>
                                    </p:set>
                                  </p:childTnLst>
                                </p:cTn>
                              </p:par>
                            </p:childTnLst>
                          </p:cTn>
                        </p:par>
                        <p:par>
                          <p:cTn id="24" fill="hold">
                            <p:stCondLst>
                              <p:cond delay="1500"/>
                            </p:stCondLst>
                            <p:childTnLst>
                              <p:par>
                                <p:cTn id="25" presetID="1" presetClass="entr" presetSubtype="0"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par>
                          <p:cTn id="27" fill="hold">
                            <p:stCondLst>
                              <p:cond delay="1500"/>
                            </p:stCondLst>
                            <p:childTnLst>
                              <p:par>
                                <p:cTn id="28" presetID="56" presetClass="path" presetSubtype="0" accel="50000" decel="50000" fill="hold" nodeType="afterEffect">
                                  <p:stCondLst>
                                    <p:cond delay="0"/>
                                  </p:stCondLst>
                                  <p:childTnLst>
                                    <p:animMotion origin="layout" path="M 0.07773 0.00579 L -0.00104 -0.04676 " pathEditMode="relative" rAng="0" ptsTypes="AA">
                                      <p:cBhvr>
                                        <p:cTn id="29" dur="500" fill="hold"/>
                                        <p:tgtEl>
                                          <p:spTgt spid="33"/>
                                        </p:tgtEl>
                                        <p:attrNameLst>
                                          <p:attrName>ppt_x</p:attrName>
                                          <p:attrName>ppt_y</p:attrName>
                                        </p:attrNameLst>
                                      </p:cBhvr>
                                      <p:rCtr x="-3945" y="-2639"/>
                                    </p:animMotion>
                                  </p:childTnLst>
                                </p:cTn>
                              </p:par>
                            </p:childTnLst>
                          </p:cTn>
                        </p:par>
                        <p:par>
                          <p:cTn id="30" fill="hold">
                            <p:stCondLst>
                              <p:cond delay="2000"/>
                            </p:stCondLst>
                            <p:childTnLst>
                              <p:par>
                                <p:cTn id="31" presetID="1" presetClass="emph" presetSubtype="2" fill="hold" nodeType="afterEffect">
                                  <p:stCondLst>
                                    <p:cond delay="0"/>
                                  </p:stCondLst>
                                  <p:childTnLst>
                                    <p:animClr clrSpc="rgb" dir="cw">
                                      <p:cBhvr>
                                        <p:cTn id="32" dur="500" fill="hold"/>
                                        <p:tgtEl>
                                          <p:spTgt spid="9"/>
                                        </p:tgtEl>
                                        <p:attrNameLst>
                                          <p:attrName>fillcolor</p:attrName>
                                        </p:attrNameLst>
                                      </p:cBhvr>
                                      <p:to>
                                        <a:srgbClr val="FF6161"/>
                                      </p:to>
                                    </p:animClr>
                                    <p:set>
                                      <p:cBhvr>
                                        <p:cTn id="33" dur="500" fill="hold"/>
                                        <p:tgtEl>
                                          <p:spTgt spid="9"/>
                                        </p:tgtEl>
                                        <p:attrNameLst>
                                          <p:attrName>fill.type</p:attrName>
                                        </p:attrNameLst>
                                      </p:cBhvr>
                                      <p:to>
                                        <p:strVal val="solid"/>
                                      </p:to>
                                    </p:set>
                                    <p:set>
                                      <p:cBhvr>
                                        <p:cTn id="34" dur="500" fill="hold"/>
                                        <p:tgtEl>
                                          <p:spTgt spid="9"/>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B149E-98AD-1B68-5E3A-1793FBE579AD}"/>
              </a:ext>
            </a:extLst>
          </p:cNvPr>
          <p:cNvSpPr>
            <a:spLocks noGrp="1"/>
          </p:cNvSpPr>
          <p:nvPr>
            <p:ph type="title"/>
          </p:nvPr>
        </p:nvSpPr>
        <p:spPr>
          <a:xfrm>
            <a:off x="838200" y="40776"/>
            <a:ext cx="10515600" cy="1325563"/>
          </a:xfrm>
        </p:spPr>
        <p:txBody>
          <a:bodyPr/>
          <a:lstStyle/>
          <a:p>
            <a:r>
              <a:rPr lang="en-US" altLang="en-PK" dirty="0"/>
              <a:t>Switching Circuits – Parallel Circuit</a:t>
            </a:r>
            <a:endParaRPr lang="en-PK" dirty="0"/>
          </a:p>
        </p:txBody>
      </p:sp>
      <p:sp>
        <p:nvSpPr>
          <p:cNvPr id="17" name="Text Box 16">
            <a:extLst>
              <a:ext uri="{FF2B5EF4-FFF2-40B4-BE49-F238E27FC236}">
                <a16:creationId xmlns:a16="http://schemas.microsoft.com/office/drawing/2014/main" id="{49B3CDEA-DBCE-7EB3-AEB6-F2C00A2FA041}"/>
              </a:ext>
            </a:extLst>
          </p:cNvPr>
          <p:cNvSpPr txBox="1">
            <a:spLocks noChangeArrowheads="1"/>
          </p:cNvSpPr>
          <p:nvPr/>
        </p:nvSpPr>
        <p:spPr bwMode="auto">
          <a:xfrm>
            <a:off x="1812290" y="1956888"/>
            <a:ext cx="27003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0" hangingPunct="0">
              <a:lnSpc>
                <a:spcPct val="90000"/>
              </a:lnSpc>
              <a:spcBef>
                <a:spcPct val="50000"/>
              </a:spcBef>
              <a:buClr>
                <a:schemeClr val="bg1"/>
              </a:buClr>
              <a:buFont typeface="Arial" panose="020B0604020202020204" pitchFamily="34" charset="0"/>
              <a:buNone/>
            </a:pPr>
            <a:r>
              <a:rPr lang="en-US" altLang="en-PK" sz="2800" b="1" dirty="0">
                <a:solidFill>
                  <a:schemeClr val="accent2"/>
                </a:solidFill>
                <a:latin typeface="Arial" panose="020B0604020202020204" pitchFamily="34" charset="0"/>
                <a:cs typeface="Arial" panose="020B0604020202020204" pitchFamily="34" charset="0"/>
              </a:rPr>
              <a:t>OR</a:t>
            </a:r>
          </a:p>
        </p:txBody>
      </p:sp>
      <p:pic>
        <p:nvPicPr>
          <p:cNvPr id="18" name="Picture 17">
            <a:extLst>
              <a:ext uri="{FF2B5EF4-FFF2-40B4-BE49-F238E27FC236}">
                <a16:creationId xmlns:a16="http://schemas.microsoft.com/office/drawing/2014/main" id="{A7BF73D1-7709-9C69-0230-23EF208AA2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903" y="3088775"/>
            <a:ext cx="506412" cy="904875"/>
          </a:xfrm>
          <a:prstGeom prst="rect">
            <a:avLst/>
          </a:prstGeom>
          <a:noFill/>
          <a:extLst>
            <a:ext uri="{909E8E84-426E-40DD-AFC4-6F175D3DCCD1}">
              <a14:hiddenFill xmlns:a14="http://schemas.microsoft.com/office/drawing/2010/main">
                <a:solidFill>
                  <a:srgbClr val="FFFFFF"/>
                </a:solidFill>
              </a14:hiddenFill>
            </a:ext>
          </a:extLst>
        </p:spPr>
      </p:pic>
      <p:sp>
        <p:nvSpPr>
          <p:cNvPr id="19" name="Line 18">
            <a:extLst>
              <a:ext uri="{FF2B5EF4-FFF2-40B4-BE49-F238E27FC236}">
                <a16:creationId xmlns:a16="http://schemas.microsoft.com/office/drawing/2014/main" id="{42DC27FE-9519-A339-62A5-4D94603A2BF5}"/>
              </a:ext>
            </a:extLst>
          </p:cNvPr>
          <p:cNvSpPr>
            <a:spLocks noChangeShapeType="1"/>
          </p:cNvSpPr>
          <p:nvPr/>
        </p:nvSpPr>
        <p:spPr bwMode="auto">
          <a:xfrm flipV="1">
            <a:off x="1878965" y="2728412"/>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0" name="Line 19">
            <a:extLst>
              <a:ext uri="{FF2B5EF4-FFF2-40B4-BE49-F238E27FC236}">
                <a16:creationId xmlns:a16="http://schemas.microsoft.com/office/drawing/2014/main" id="{916AE8E6-24F8-87B7-4901-0825F87C28FD}"/>
              </a:ext>
            </a:extLst>
          </p:cNvPr>
          <p:cNvSpPr>
            <a:spLocks noChangeShapeType="1"/>
          </p:cNvSpPr>
          <p:nvPr/>
        </p:nvSpPr>
        <p:spPr bwMode="auto">
          <a:xfrm flipV="1">
            <a:off x="1878965" y="2728412"/>
            <a:ext cx="11445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2" name="Line 20">
            <a:extLst>
              <a:ext uri="{FF2B5EF4-FFF2-40B4-BE49-F238E27FC236}">
                <a16:creationId xmlns:a16="http://schemas.microsoft.com/office/drawing/2014/main" id="{A29470DF-EC3E-56E4-6E88-7B014C96D64F}"/>
              </a:ext>
            </a:extLst>
          </p:cNvPr>
          <p:cNvSpPr>
            <a:spLocks noChangeShapeType="1"/>
          </p:cNvSpPr>
          <p:nvPr/>
        </p:nvSpPr>
        <p:spPr bwMode="auto">
          <a:xfrm flipV="1">
            <a:off x="1878965" y="3988888"/>
            <a:ext cx="0" cy="3587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3" name="Line 21">
            <a:extLst>
              <a:ext uri="{FF2B5EF4-FFF2-40B4-BE49-F238E27FC236}">
                <a16:creationId xmlns:a16="http://schemas.microsoft.com/office/drawing/2014/main" id="{93352175-B7CE-320F-FA7B-209E48B08BA8}"/>
              </a:ext>
            </a:extLst>
          </p:cNvPr>
          <p:cNvSpPr>
            <a:spLocks noChangeShapeType="1"/>
          </p:cNvSpPr>
          <p:nvPr/>
        </p:nvSpPr>
        <p:spPr bwMode="auto">
          <a:xfrm>
            <a:off x="1878966" y="4347662"/>
            <a:ext cx="26193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4" name="Litebulb">
            <a:extLst>
              <a:ext uri="{FF2B5EF4-FFF2-40B4-BE49-F238E27FC236}">
                <a16:creationId xmlns:a16="http://schemas.microsoft.com/office/drawing/2014/main" id="{1E1FF417-D2EA-EBE1-21C9-1630E43B7467}"/>
              </a:ext>
            </a:extLst>
          </p:cNvPr>
          <p:cNvSpPr>
            <a:spLocks noChangeAspect="1" noEditPoints="1" noChangeArrowheads="1"/>
          </p:cNvSpPr>
          <p:nvPr/>
        </p:nvSpPr>
        <p:spPr bwMode="auto">
          <a:xfrm rot="5400000">
            <a:off x="4455479" y="3057025"/>
            <a:ext cx="657225" cy="898525"/>
          </a:xfrm>
          <a:custGeom>
            <a:avLst/>
            <a:gdLst>
              <a:gd name="T0" fmla="*/ 10800 w 21600"/>
              <a:gd name="T1" fmla="*/ 0 h 21600"/>
              <a:gd name="T2" fmla="*/ 21600 w 21600"/>
              <a:gd name="T3" fmla="*/ 7782 h 21600"/>
              <a:gd name="T4" fmla="*/ 0 w 21600"/>
              <a:gd name="T5" fmla="*/ 7782 h 21600"/>
              <a:gd name="T6" fmla="*/ 10800 w 21600"/>
              <a:gd name="T7" fmla="*/ 21600 h 21600"/>
              <a:gd name="T8" fmla="*/ 3556 w 21600"/>
              <a:gd name="T9" fmla="*/ 2188 h 21600"/>
              <a:gd name="T10" fmla="*/ 18277 w 21600"/>
              <a:gd name="T11" fmla="*/ 9282 h 21600"/>
            </a:gdLst>
            <a:ahLst/>
            <a:cxnLst>
              <a:cxn ang="0">
                <a:pos x="T0" y="T1"/>
              </a:cxn>
              <a:cxn ang="0">
                <a:pos x="T2" y="T3"/>
              </a:cxn>
              <a:cxn ang="0">
                <a:pos x="T4" y="T5"/>
              </a:cxn>
              <a:cxn ang="0">
                <a:pos x="T6" y="T7"/>
              </a:cxn>
            </a:cxnLst>
            <a:rect l="T8" t="T9" r="T10" b="T11"/>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19050">
            <a:solidFill>
              <a:srgbClr val="000000"/>
            </a:solidFill>
            <a:miter lim="800000"/>
            <a:headEnd/>
            <a:tailEnd/>
          </a:ln>
        </p:spPr>
        <p:txBody>
          <a:bodyPr/>
          <a:lstStyle/>
          <a:p>
            <a:endParaRPr lang="en-PK"/>
          </a:p>
        </p:txBody>
      </p:sp>
      <p:sp>
        <p:nvSpPr>
          <p:cNvPr id="25" name="Line 23">
            <a:extLst>
              <a:ext uri="{FF2B5EF4-FFF2-40B4-BE49-F238E27FC236}">
                <a16:creationId xmlns:a16="http://schemas.microsoft.com/office/drawing/2014/main" id="{2B7522B7-8561-50DF-CD0F-4DB201C6984D}"/>
              </a:ext>
            </a:extLst>
          </p:cNvPr>
          <p:cNvSpPr>
            <a:spLocks noChangeShapeType="1"/>
          </p:cNvSpPr>
          <p:nvPr/>
        </p:nvSpPr>
        <p:spPr bwMode="auto">
          <a:xfrm flipV="1">
            <a:off x="4498340" y="3538038"/>
            <a:ext cx="0" cy="809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6" name="Line 24">
            <a:extLst>
              <a:ext uri="{FF2B5EF4-FFF2-40B4-BE49-F238E27FC236}">
                <a16:creationId xmlns:a16="http://schemas.microsoft.com/office/drawing/2014/main" id="{3F8B5DED-9A30-7430-723F-B1504A2339BE}"/>
              </a:ext>
            </a:extLst>
          </p:cNvPr>
          <p:cNvSpPr>
            <a:spLocks noChangeShapeType="1"/>
          </p:cNvSpPr>
          <p:nvPr/>
        </p:nvSpPr>
        <p:spPr bwMode="auto">
          <a:xfrm flipV="1">
            <a:off x="4334828" y="2726825"/>
            <a:ext cx="0" cy="809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7" name="Line 25">
            <a:extLst>
              <a:ext uri="{FF2B5EF4-FFF2-40B4-BE49-F238E27FC236}">
                <a16:creationId xmlns:a16="http://schemas.microsoft.com/office/drawing/2014/main" id="{7CF29CA0-0C55-9340-8B09-473545FE4118}"/>
              </a:ext>
            </a:extLst>
          </p:cNvPr>
          <p:cNvSpPr>
            <a:spLocks noChangeShapeType="1"/>
          </p:cNvSpPr>
          <p:nvPr/>
        </p:nvSpPr>
        <p:spPr bwMode="auto">
          <a:xfrm flipV="1">
            <a:off x="3271203" y="2728413"/>
            <a:ext cx="1065212"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8" name="Line 26">
            <a:extLst>
              <a:ext uri="{FF2B5EF4-FFF2-40B4-BE49-F238E27FC236}">
                <a16:creationId xmlns:a16="http://schemas.microsoft.com/office/drawing/2014/main" id="{A1728594-C253-E225-E91A-67C5D853FA5C}"/>
              </a:ext>
            </a:extLst>
          </p:cNvPr>
          <p:cNvSpPr>
            <a:spLocks noChangeShapeType="1"/>
          </p:cNvSpPr>
          <p:nvPr/>
        </p:nvSpPr>
        <p:spPr bwMode="auto">
          <a:xfrm flipV="1">
            <a:off x="3023553" y="2549024"/>
            <a:ext cx="246062" cy="1793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29" name="Line 27">
            <a:extLst>
              <a:ext uri="{FF2B5EF4-FFF2-40B4-BE49-F238E27FC236}">
                <a16:creationId xmlns:a16="http://schemas.microsoft.com/office/drawing/2014/main" id="{84C1E146-01DC-DCC1-D4A0-5B7F0C61BFDC}"/>
              </a:ext>
            </a:extLst>
          </p:cNvPr>
          <p:cNvSpPr>
            <a:spLocks noChangeShapeType="1"/>
          </p:cNvSpPr>
          <p:nvPr/>
        </p:nvSpPr>
        <p:spPr bwMode="auto">
          <a:xfrm flipV="1">
            <a:off x="2948941" y="2901449"/>
            <a:ext cx="246063" cy="1793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30" name="Line 28">
            <a:extLst>
              <a:ext uri="{FF2B5EF4-FFF2-40B4-BE49-F238E27FC236}">
                <a16:creationId xmlns:a16="http://schemas.microsoft.com/office/drawing/2014/main" id="{9340D805-D64E-DB7F-FB17-1D60F6E5913C}"/>
              </a:ext>
            </a:extLst>
          </p:cNvPr>
          <p:cNvSpPr>
            <a:spLocks noChangeShapeType="1"/>
          </p:cNvSpPr>
          <p:nvPr/>
        </p:nvSpPr>
        <p:spPr bwMode="auto">
          <a:xfrm>
            <a:off x="3274379" y="3066549"/>
            <a:ext cx="2365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31" name="Line 29">
            <a:extLst>
              <a:ext uri="{FF2B5EF4-FFF2-40B4-BE49-F238E27FC236}">
                <a16:creationId xmlns:a16="http://schemas.microsoft.com/office/drawing/2014/main" id="{476E86E1-705E-142F-B802-EFDE587EB982}"/>
              </a:ext>
            </a:extLst>
          </p:cNvPr>
          <p:cNvSpPr>
            <a:spLocks noChangeShapeType="1"/>
          </p:cNvSpPr>
          <p:nvPr/>
        </p:nvSpPr>
        <p:spPr bwMode="auto">
          <a:xfrm flipV="1">
            <a:off x="2953703" y="2728413"/>
            <a:ext cx="0" cy="3444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32" name="Line 30">
            <a:extLst>
              <a:ext uri="{FF2B5EF4-FFF2-40B4-BE49-F238E27FC236}">
                <a16:creationId xmlns:a16="http://schemas.microsoft.com/office/drawing/2014/main" id="{179AAC7D-0EE6-94CC-C881-3645BF59C257}"/>
              </a:ext>
            </a:extLst>
          </p:cNvPr>
          <p:cNvSpPr>
            <a:spLocks noChangeShapeType="1"/>
          </p:cNvSpPr>
          <p:nvPr/>
        </p:nvSpPr>
        <p:spPr bwMode="auto">
          <a:xfrm flipV="1">
            <a:off x="3498215" y="2728413"/>
            <a:ext cx="0" cy="3444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sp>
        <p:nvSpPr>
          <p:cNvPr id="36" name="Line 35">
            <a:extLst>
              <a:ext uri="{FF2B5EF4-FFF2-40B4-BE49-F238E27FC236}">
                <a16:creationId xmlns:a16="http://schemas.microsoft.com/office/drawing/2014/main" id="{B5A00C38-8704-22DC-2BCA-70A3F4240E20}"/>
              </a:ext>
            </a:extLst>
          </p:cNvPr>
          <p:cNvSpPr>
            <a:spLocks noChangeShapeType="1"/>
          </p:cNvSpPr>
          <p:nvPr/>
        </p:nvSpPr>
        <p:spPr bwMode="auto">
          <a:xfrm flipV="1">
            <a:off x="3025141" y="2728412"/>
            <a:ext cx="296863" cy="0"/>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1">
            <a:spAutoFit/>
          </a:bodyPr>
          <a:lstStyle/>
          <a:p>
            <a:endParaRPr lang="en-PK"/>
          </a:p>
        </p:txBody>
      </p:sp>
      <p:graphicFrame>
        <p:nvGraphicFramePr>
          <p:cNvPr id="8" name="Group 2">
            <a:extLst>
              <a:ext uri="{FF2B5EF4-FFF2-40B4-BE49-F238E27FC236}">
                <a16:creationId xmlns:a16="http://schemas.microsoft.com/office/drawing/2014/main" id="{5FB3A517-9C9C-404F-8A2D-6929D22F48E3}"/>
              </a:ext>
            </a:extLst>
          </p:cNvPr>
          <p:cNvGraphicFramePr>
            <a:graphicFrameLocks noGrp="1"/>
          </p:cNvGraphicFramePr>
          <p:nvPr>
            <p:extLst>
              <p:ext uri="{D42A27DB-BD31-4B8C-83A1-F6EECF244321}">
                <p14:modId xmlns:p14="http://schemas.microsoft.com/office/powerpoint/2010/main" val="1493801449"/>
              </p:ext>
            </p:extLst>
          </p:nvPr>
        </p:nvGraphicFramePr>
        <p:xfrm>
          <a:off x="6671085" y="2019300"/>
          <a:ext cx="4397826" cy="2819400"/>
        </p:xfrm>
        <a:graphic>
          <a:graphicData uri="http://schemas.openxmlformats.org/drawingml/2006/table">
            <a:tbl>
              <a:tblPr/>
              <a:tblGrid>
                <a:gridCol w="2416626">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tblGrid>
              <a:tr h="44958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Switches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Light Bulb</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State</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Closed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Closed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Open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Open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5991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par>
                          <p:cTn id="37" fill="hold">
                            <p:stCondLst>
                              <p:cond delay="0"/>
                            </p:stCondLst>
                            <p:childTnLst>
                              <p:par>
                                <p:cTn id="38" presetID="1" presetClass="exit" presetSubtype="0" fill="hold" nodeType="afterEffect">
                                  <p:stCondLst>
                                    <p:cond delay="0"/>
                                  </p:stCondLst>
                                  <p:childTnLst>
                                    <p:set>
                                      <p:cBhvr>
                                        <p:cTn id="39" dur="1" fill="hold">
                                          <p:stCondLst>
                                            <p:cond delay="0"/>
                                          </p:stCondLst>
                                        </p:cTn>
                                        <p:tgtEl>
                                          <p:spTgt spid="28"/>
                                        </p:tgtEl>
                                        <p:attrNameLst>
                                          <p:attrName>style.visibility</p:attrName>
                                        </p:attrNameLst>
                                      </p:cBhvr>
                                      <p:to>
                                        <p:strVal val="hidden"/>
                                      </p:to>
                                    </p:set>
                                  </p:childTnLst>
                                </p:cTn>
                              </p:par>
                            </p:childTnLst>
                          </p:cTn>
                        </p:par>
                        <p:par>
                          <p:cTn id="40" fill="hold">
                            <p:stCondLst>
                              <p:cond delay="0"/>
                            </p:stCondLst>
                            <p:childTnLst>
                              <p:par>
                                <p:cTn id="41" presetID="1" presetClass="emph" presetSubtype="2" fill="hold" nodeType="afterEffect">
                                  <p:stCondLst>
                                    <p:cond delay="0"/>
                                  </p:stCondLst>
                                  <p:childTnLst>
                                    <p:animClr clrSpc="rgb" dir="cw">
                                      <p:cBhvr>
                                        <p:cTn id="42" dur="500" fill="hold"/>
                                        <p:tgtEl>
                                          <p:spTgt spid="24"/>
                                        </p:tgtEl>
                                        <p:attrNameLst>
                                          <p:attrName>fillcolor</p:attrName>
                                        </p:attrNameLst>
                                      </p:cBhvr>
                                      <p:to>
                                        <a:srgbClr val="FF6161"/>
                                      </p:to>
                                    </p:animClr>
                                    <p:set>
                                      <p:cBhvr>
                                        <p:cTn id="43" dur="500" fill="hold"/>
                                        <p:tgtEl>
                                          <p:spTgt spid="24"/>
                                        </p:tgtEl>
                                        <p:attrNameLst>
                                          <p:attrName>fill.type</p:attrName>
                                        </p:attrNameLst>
                                      </p:cBhvr>
                                      <p:to>
                                        <p:strVal val="solid"/>
                                      </p:to>
                                    </p:set>
                                    <p:set>
                                      <p:cBhvr>
                                        <p:cTn id="44" dur="500" fill="hold"/>
                                        <p:tgtEl>
                                          <p:spTgt spid="24"/>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Title 2"/>
          <p:cNvSpPr>
            <a:spLocks noGrp="1"/>
          </p:cNvSpPr>
          <p:nvPr>
            <p:ph type="title"/>
          </p:nvPr>
        </p:nvSpPr>
        <p:spPr/>
        <p:txBody>
          <a:bodyPr>
            <a:normAutofit/>
          </a:bodyPr>
          <a:lstStyle/>
          <a:p>
            <a:r>
              <a:rPr lang="en-US" dirty="0"/>
              <a:t>Logic Circuits</a:t>
            </a:r>
          </a:p>
        </p:txBody>
      </p:sp>
      <p:pic>
        <p:nvPicPr>
          <p:cNvPr id="2097152" name="Picture 2"/>
          <p:cNvPicPr>
            <a:picLocks noGrp="1" noChangeAspect="1" noChangeArrowheads="1"/>
          </p:cNvPicPr>
          <p:nvPr>
            <p:ph idx="1"/>
          </p:nvPr>
        </p:nvPicPr>
        <p:blipFill>
          <a:blip r:embed="rId2"/>
          <a:srcRect/>
          <a:stretch>
            <a:fillRect/>
          </a:stretch>
        </p:blipFill>
        <p:spPr bwMode="auto">
          <a:xfrm>
            <a:off x="1125088" y="2438400"/>
            <a:ext cx="9488197" cy="2189584"/>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Title 2"/>
          <p:cNvSpPr>
            <a:spLocks noGrp="1"/>
          </p:cNvSpPr>
          <p:nvPr>
            <p:ph type="title"/>
          </p:nvPr>
        </p:nvSpPr>
        <p:spPr/>
        <p:txBody>
          <a:bodyPr>
            <a:normAutofit/>
          </a:bodyPr>
          <a:lstStyle/>
          <a:p>
            <a:r>
              <a:rPr lang="en-US" dirty="0"/>
              <a:t>Logic Circuits</a:t>
            </a:r>
          </a:p>
        </p:txBody>
      </p:sp>
      <p:sp>
        <p:nvSpPr>
          <p:cNvPr id="1048654" name="Content Placeholder 3"/>
          <p:cNvSpPr>
            <a:spLocks noGrp="1"/>
          </p:cNvSpPr>
          <p:nvPr>
            <p:ph idx="1"/>
          </p:nvPr>
        </p:nvSpPr>
        <p:spPr/>
        <p:txBody>
          <a:bodyPr/>
          <a:lstStyle/>
          <a:p>
            <a:r>
              <a:rPr lang="en-US" dirty="0"/>
              <a:t>Determine the output for the combinatorial circuit in following Figure</a:t>
            </a:r>
          </a:p>
          <a:p>
            <a:endParaRPr lang="en-US" dirty="0"/>
          </a:p>
          <a:p>
            <a:endParaRPr lang="en-US" dirty="0"/>
          </a:p>
        </p:txBody>
      </p:sp>
      <p:pic>
        <p:nvPicPr>
          <p:cNvPr id="5" name="Picture 4">
            <a:extLst>
              <a:ext uri="{FF2B5EF4-FFF2-40B4-BE49-F238E27FC236}">
                <a16:creationId xmlns:a16="http://schemas.microsoft.com/office/drawing/2014/main" id="{E8F21D34-24A0-1975-C846-4EF719137DB8}"/>
              </a:ext>
            </a:extLst>
          </p:cNvPr>
          <p:cNvPicPr>
            <a:picLocks noChangeAspect="1"/>
          </p:cNvPicPr>
          <p:nvPr/>
        </p:nvPicPr>
        <p:blipFill>
          <a:blip r:embed="rId2"/>
          <a:stretch>
            <a:fillRect/>
          </a:stretch>
        </p:blipFill>
        <p:spPr>
          <a:xfrm>
            <a:off x="1284515" y="3092869"/>
            <a:ext cx="10199914" cy="2677969"/>
          </a:xfrm>
          <a:prstGeom prst="rect">
            <a:avLst/>
          </a:prstGeom>
        </p:spPr>
      </p:pic>
      <p:pic>
        <p:nvPicPr>
          <p:cNvPr id="6" name="Picture 5">
            <a:extLst>
              <a:ext uri="{FF2B5EF4-FFF2-40B4-BE49-F238E27FC236}">
                <a16:creationId xmlns:a16="http://schemas.microsoft.com/office/drawing/2014/main" id="{347872AB-F503-08EA-B1D4-69746F7A73F2}"/>
              </a:ext>
            </a:extLst>
          </p:cNvPr>
          <p:cNvPicPr>
            <a:picLocks noChangeAspect="1"/>
          </p:cNvPicPr>
          <p:nvPr/>
        </p:nvPicPr>
        <p:blipFill rotWithShape="1">
          <a:blip r:embed="rId3"/>
          <a:srcRect l="9675" t="27867" r="12500" b="36032"/>
          <a:stretch/>
        </p:blipFill>
        <p:spPr>
          <a:xfrm>
            <a:off x="1350263" y="3429000"/>
            <a:ext cx="10351879" cy="24758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Content Placeholder 1"/>
          <p:cNvSpPr>
            <a:spLocks noGrp="1"/>
          </p:cNvSpPr>
          <p:nvPr>
            <p:ph idx="1"/>
          </p:nvPr>
        </p:nvSpPr>
        <p:spPr>
          <a:xfrm>
            <a:off x="1181100" y="1449231"/>
            <a:ext cx="9829800" cy="1979769"/>
          </a:xfrm>
        </p:spPr>
        <p:txBody>
          <a:bodyPr>
            <a:normAutofit/>
          </a:bodyPr>
          <a:lstStyle/>
          <a:p>
            <a:r>
              <a:rPr lang="en-US" sz="2400" dirty="0"/>
              <a:t>Build a digital circuit that produces the output </a:t>
            </a:r>
          </a:p>
          <a:p>
            <a:pPr marL="914400" lvl="2" indent="0">
              <a:buNone/>
            </a:pPr>
            <a:r>
              <a:rPr lang="en-US" sz="3600" b="1" dirty="0">
                <a:solidFill>
                  <a:schemeClr val="accent4"/>
                </a:solidFill>
              </a:rPr>
              <a:t>(p ∨￢r) ∧ (￢p ∨ (q ∨￢r))</a:t>
            </a:r>
            <a:r>
              <a:rPr lang="en-US" sz="1800" b="1" dirty="0">
                <a:solidFill>
                  <a:schemeClr val="accent4"/>
                </a:solidFill>
              </a:rPr>
              <a:t> </a:t>
            </a:r>
          </a:p>
          <a:p>
            <a:r>
              <a:rPr lang="en-US" sz="2400" dirty="0"/>
              <a:t>when given input bits p, q, and r.</a:t>
            </a:r>
          </a:p>
        </p:txBody>
      </p:sp>
      <p:sp>
        <p:nvSpPr>
          <p:cNvPr id="1048658" name="Title 2"/>
          <p:cNvSpPr>
            <a:spLocks noGrp="1"/>
          </p:cNvSpPr>
          <p:nvPr>
            <p:ph type="title"/>
          </p:nvPr>
        </p:nvSpPr>
        <p:spPr/>
        <p:txBody>
          <a:bodyPr/>
          <a:lstStyle/>
          <a:p>
            <a:r>
              <a:rPr lang="en-US" dirty="0"/>
              <a:t>Logic Circuits</a:t>
            </a:r>
          </a:p>
        </p:txBody>
      </p:sp>
      <p:pic>
        <p:nvPicPr>
          <p:cNvPr id="3" name="Picture 2">
            <a:extLst>
              <a:ext uri="{FF2B5EF4-FFF2-40B4-BE49-F238E27FC236}">
                <a16:creationId xmlns:a16="http://schemas.microsoft.com/office/drawing/2014/main" id="{27F4A4FD-5B7F-2D16-BDCB-ED4702BF30B9}"/>
              </a:ext>
            </a:extLst>
          </p:cNvPr>
          <p:cNvPicPr>
            <a:picLocks noChangeAspect="1"/>
          </p:cNvPicPr>
          <p:nvPr/>
        </p:nvPicPr>
        <p:blipFill rotWithShape="1">
          <a:blip r:embed="rId2"/>
          <a:srcRect l="3214" t="31905" r="3750" b="23810"/>
          <a:stretch/>
        </p:blipFill>
        <p:spPr>
          <a:xfrm>
            <a:off x="424543" y="3166512"/>
            <a:ext cx="11342914" cy="30371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BA007-143D-5203-7BB6-1AC9D7EF0646}"/>
              </a:ext>
            </a:extLst>
          </p:cNvPr>
          <p:cNvSpPr>
            <a:spLocks noGrp="1"/>
          </p:cNvSpPr>
          <p:nvPr>
            <p:ph idx="1"/>
          </p:nvPr>
        </p:nvSpPr>
        <p:spPr>
          <a:xfrm>
            <a:off x="841248" y="2057400"/>
            <a:ext cx="5120640" cy="3101184"/>
          </a:xfrm>
        </p:spPr>
        <p:txBody>
          <a:bodyPr>
            <a:normAutofit/>
          </a:bodyPr>
          <a:lstStyle/>
          <a:p>
            <a:r>
              <a:rPr lang="en-US" sz="2000" b="1" dirty="0"/>
              <a:t>1.2 Application of Propositional Logic</a:t>
            </a:r>
          </a:p>
          <a:p>
            <a:pPr marL="342900" indent="-342900">
              <a:buFont typeface="Wingdings" panose="05000000000000000000" pitchFamily="2" charset="2"/>
              <a:buChar char="ü"/>
            </a:pPr>
            <a:r>
              <a:rPr lang="en-US" sz="2000" dirty="0"/>
              <a:t>Translating English Sentences</a:t>
            </a:r>
          </a:p>
          <a:p>
            <a:pPr marL="342900" indent="-342900">
              <a:buFont typeface="Wingdings" panose="05000000000000000000" pitchFamily="2" charset="2"/>
              <a:buChar char="ü"/>
            </a:pPr>
            <a:r>
              <a:rPr lang="en-US" sz="2000" dirty="0"/>
              <a:t>System Specifications</a:t>
            </a:r>
          </a:p>
          <a:p>
            <a:pPr marL="285750" indent="-285750">
              <a:buFont typeface="Wingdings" panose="05000000000000000000" pitchFamily="2" charset="2"/>
              <a:buChar char="ü"/>
            </a:pPr>
            <a:r>
              <a:rPr lang="en-US" sz="1800" dirty="0"/>
              <a:t>Boolean Searches </a:t>
            </a:r>
          </a:p>
          <a:p>
            <a:pPr marL="342900" indent="-342900">
              <a:buFont typeface="Wingdings" panose="05000000000000000000" pitchFamily="2" charset="2"/>
              <a:buChar char="ü"/>
            </a:pPr>
            <a:r>
              <a:rPr lang="en-US" sz="2000" dirty="0"/>
              <a:t>Logic Puzzles</a:t>
            </a:r>
          </a:p>
          <a:p>
            <a:pPr marL="342900" indent="-342900">
              <a:buFont typeface="Wingdings" panose="05000000000000000000" pitchFamily="2" charset="2"/>
              <a:buChar char="ü"/>
            </a:pPr>
            <a:r>
              <a:rPr lang="en-US" sz="2000" dirty="0"/>
              <a:t>Logic Circuits</a:t>
            </a:r>
          </a:p>
        </p:txBody>
      </p:sp>
      <p:sp>
        <p:nvSpPr>
          <p:cNvPr id="25" name="Oval 2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descr="Books">
            <a:extLst>
              <a:ext uri="{FF2B5EF4-FFF2-40B4-BE49-F238E27FC236}">
                <a16:creationId xmlns:a16="http://schemas.microsoft.com/office/drawing/2014/main" id="{15422CC9-DE1C-CDFA-10C5-EC1FEBB1DA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7" name="Freeform: Shape 2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itle 3">
            <a:extLst>
              <a:ext uri="{FF2B5EF4-FFF2-40B4-BE49-F238E27FC236}">
                <a16:creationId xmlns:a16="http://schemas.microsoft.com/office/drawing/2014/main" id="{32344EE1-CFFD-57AA-4D75-9BBE96554682}"/>
              </a:ext>
            </a:extLst>
          </p:cNvPr>
          <p:cNvSpPr txBox="1">
            <a:spLocks/>
          </p:cNvSpPr>
          <p:nvPr/>
        </p:nvSpPr>
        <p:spPr>
          <a:xfrm>
            <a:off x="841248" y="365760"/>
            <a:ext cx="5120640" cy="13258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solidFill>
                  <a:schemeClr val="tx1"/>
                </a:solidFill>
              </a:rPr>
              <a:t>Summary</a:t>
            </a:r>
            <a:endParaRPr lang="en-US" dirty="0">
              <a:solidFill>
                <a:schemeClr val="tx1"/>
              </a:solidFill>
            </a:endParaRPr>
          </a:p>
        </p:txBody>
      </p:sp>
    </p:spTree>
    <p:extLst>
      <p:ext uri="{BB962C8B-B14F-4D97-AF65-F5344CB8AC3E}">
        <p14:creationId xmlns:p14="http://schemas.microsoft.com/office/powerpoint/2010/main" val="2062828042"/>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2.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Office Theme</Template>
  <TotalTime>669</TotalTime>
  <Words>549</Words>
  <Application>Microsoft Office PowerPoint</Application>
  <PresentationFormat>Widescreen</PresentationFormat>
  <Paragraphs>112</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Avenir Next LT Pro</vt:lpstr>
      <vt:lpstr>Bell MT</vt:lpstr>
      <vt:lpstr>Calibri</vt:lpstr>
      <vt:lpstr>Cambria Math</vt:lpstr>
      <vt:lpstr>Century Gothic</vt:lpstr>
      <vt:lpstr>Comic Sans MS</vt:lpstr>
      <vt:lpstr>Tw Cen MT</vt:lpstr>
      <vt:lpstr>Wingdings</vt:lpstr>
      <vt:lpstr>ShapesVTI</vt:lpstr>
      <vt:lpstr>PowerPoint Presentation</vt:lpstr>
      <vt:lpstr>Section 1.2</vt:lpstr>
      <vt:lpstr>Application of Logic</vt:lpstr>
      <vt:lpstr>Translating English Sentences</vt:lpstr>
      <vt:lpstr>Translating English Sentences</vt:lpstr>
      <vt:lpstr>Translating English Sentences</vt:lpstr>
      <vt:lpstr>Translating English Sentences</vt:lpstr>
      <vt:lpstr>System Specifications</vt:lpstr>
      <vt:lpstr>System Specifications</vt:lpstr>
      <vt:lpstr>System Specifications</vt:lpstr>
      <vt:lpstr>Boolean Searches</vt:lpstr>
      <vt:lpstr>Boolean Searches</vt:lpstr>
      <vt:lpstr>Logical Puzzles</vt:lpstr>
      <vt:lpstr>Examples – Logical Puzzles</vt:lpstr>
      <vt:lpstr>Examples – Logical Puzzles</vt:lpstr>
      <vt:lpstr>Logical Circuits</vt:lpstr>
      <vt:lpstr>Switching Circuits – Series Circuit</vt:lpstr>
      <vt:lpstr>Switching Circuits – Parallel Circuit</vt:lpstr>
      <vt:lpstr>Logic Circuits</vt:lpstr>
      <vt:lpstr>Logic Circuits</vt:lpstr>
      <vt:lpstr>Logic Circuits</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CC2031  Digital Logic Design Section – V11</dc:title>
  <dc:creator>IQRA JAVED</dc:creator>
  <cp:lastModifiedBy>IQRA JAVED</cp:lastModifiedBy>
  <cp:revision>34</cp:revision>
  <dcterms:created xsi:type="dcterms:W3CDTF">2023-10-03T05:27:31Z</dcterms:created>
  <dcterms:modified xsi:type="dcterms:W3CDTF">2025-03-10T06:36:07Z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