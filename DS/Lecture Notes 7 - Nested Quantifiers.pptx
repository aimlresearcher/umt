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36"/>
  </p:notesMasterIdLst>
  <p:sldIdLst>
    <p:sldId id="3894" r:id="rId5"/>
    <p:sldId id="370" r:id="rId6"/>
    <p:sldId id="371" r:id="rId7"/>
    <p:sldId id="443" r:id="rId8"/>
    <p:sldId id="444" r:id="rId9"/>
    <p:sldId id="445" r:id="rId10"/>
    <p:sldId id="446" r:id="rId11"/>
    <p:sldId id="447" r:id="rId12"/>
    <p:sldId id="427" r:id="rId13"/>
    <p:sldId id="448" r:id="rId14"/>
    <p:sldId id="450" r:id="rId15"/>
    <p:sldId id="452" r:id="rId16"/>
    <p:sldId id="451" r:id="rId17"/>
    <p:sldId id="453" r:id="rId18"/>
    <p:sldId id="456" r:id="rId19"/>
    <p:sldId id="457" r:id="rId20"/>
    <p:sldId id="458" r:id="rId21"/>
    <p:sldId id="459" r:id="rId22"/>
    <p:sldId id="460" r:id="rId23"/>
    <p:sldId id="461" r:id="rId24"/>
    <p:sldId id="462" r:id="rId25"/>
    <p:sldId id="463" r:id="rId26"/>
    <p:sldId id="3895" r:id="rId27"/>
    <p:sldId id="382" r:id="rId28"/>
    <p:sldId id="416" r:id="rId29"/>
    <p:sldId id="3896" r:id="rId30"/>
    <p:sldId id="383" r:id="rId31"/>
    <p:sldId id="454" r:id="rId32"/>
    <p:sldId id="422" r:id="rId33"/>
    <p:sldId id="397" r:id="rId34"/>
    <p:sldId id="385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6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Spring 2003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CMSC 203 - Discrete Structures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Spring 2003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CMSC 203 - Discrete Structures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Title 104884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NESTED QUANTIFIERS</a:t>
            </a:r>
          </a:p>
        </p:txBody>
      </p:sp>
      <p:sp>
        <p:nvSpPr>
          <p:cNvPr id="1048850" name="Text Placeholder 104884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Section 1.5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Content Placeholder 1"/>
          <p:cNvSpPr>
            <a:spLocks noGrp="1"/>
          </p:cNvSpPr>
          <p:nvPr>
            <p:ph idx="1"/>
          </p:nvPr>
        </p:nvSpPr>
        <p:spPr>
          <a:xfrm>
            <a:off x="810332" y="1948867"/>
            <a:ext cx="10842172" cy="326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Nested Quantifiers</a:t>
            </a:r>
          </a:p>
          <a:p>
            <a:pPr lvl="1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One Quantifier within scope of another Quantifier</a:t>
            </a:r>
          </a:p>
          <a:p>
            <a:pPr lvl="1"/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55600" indent="-342900">
              <a:lnSpc>
                <a:spcPts val="3829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Examples: </a:t>
            </a:r>
          </a:p>
          <a:p>
            <a:pPr marL="12700" indent="0">
              <a:lnSpc>
                <a:spcPts val="3829"/>
              </a:lnSpc>
              <a:spcBef>
                <a:spcPts val="105"/>
              </a:spcBef>
              <a:buNone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proposition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</a:rPr>
              <a:t>∀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y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</a:rPr>
              <a:t>∃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x </a:t>
            </a:r>
            <a:r>
              <a:rPr lang="en-US" sz="2400" b="1" spc="-5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(x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+ y = 1 )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with</a:t>
            </a:r>
            <a:r>
              <a:rPr lang="en-US" sz="2400" spc="6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en-US"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two quantifiers,</a:t>
            </a:r>
          </a:p>
          <a:p>
            <a:pPr marL="12700" indent="0">
              <a:spcBef>
                <a:spcPts val="790"/>
              </a:spcBef>
              <a:buNone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where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</a:rPr>
              <a:t>∀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y is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applied </a:t>
            </a:r>
            <a:r>
              <a:rPr lang="en-US"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to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</a:rPr>
              <a:t>∃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x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(x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+ y = 1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),</a:t>
            </a:r>
            <a:r>
              <a:rPr lang="en-US"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and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</a:rPr>
              <a:t>∃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x is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applied </a:t>
            </a:r>
            <a:r>
              <a:rPr lang="en-US"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to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x + y =</a:t>
            </a:r>
            <a:r>
              <a:rPr lang="en-US" sz="2400" spc="3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1</a:t>
            </a:r>
          </a:p>
          <a:p>
            <a:pPr lvl="1"/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8852" name="Title 2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006475"/>
          </a:xfrm>
        </p:spPr>
        <p:txBody>
          <a:bodyPr/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Nested Quantifiers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921" y="160693"/>
            <a:ext cx="10515600" cy="8209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 –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0EC64B0-FA6F-0FA8-C7FB-14B4F2D962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155940"/>
                <a:ext cx="10660811" cy="41493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Both universal and existential quantifiers can be combined together to quantify the predicates. For example:</a:t>
                </a: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400" b="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0EC64B0-FA6F-0FA8-C7FB-14B4F2D96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155940"/>
                <a:ext cx="10660811" cy="4149305"/>
              </a:xfrm>
              <a:prstGeom prst="rect">
                <a:avLst/>
              </a:prstGeom>
              <a:blipFill>
                <a:blip r:embed="rId2"/>
                <a:stretch>
                  <a:fillRect l="-858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99F1-4BB8-FFF4-E8B0-3E1C66499163}"/>
              </a:ext>
            </a:extLst>
          </p:cNvPr>
          <p:cNvSpPr txBox="1">
            <a:spLocks/>
          </p:cNvSpPr>
          <p:nvPr/>
        </p:nvSpPr>
        <p:spPr>
          <a:xfrm>
            <a:off x="757921" y="5322498"/>
            <a:ext cx="10515600" cy="759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Be careful while evaluating them, these quantifiers are applied from left to right and their order is important.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251D1-E524-6055-B887-7036D47D4BE5}"/>
              </a:ext>
            </a:extLst>
          </p:cNvPr>
          <p:cNvSpPr txBox="1"/>
          <p:nvPr/>
        </p:nvSpPr>
        <p:spPr>
          <a:xfrm>
            <a:off x="4436493" y="3429000"/>
            <a:ext cx="33190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All six forms are valid.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07A03B-7D42-187C-E23D-46069E60FED4}"/>
                  </a:ext>
                </a:extLst>
              </p:cNvPr>
              <p:cNvSpPr txBox="1"/>
              <p:nvPr/>
            </p:nvSpPr>
            <p:spPr>
              <a:xfrm>
                <a:off x="2527539" y="6256057"/>
                <a:ext cx="694337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𝒚𝑷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</m:t>
                    </m:r>
                    <m:r>
                      <a:rPr lang="en-US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8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not same.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07A03B-7D42-187C-E23D-46069E60F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539" y="6256057"/>
                <a:ext cx="6943376" cy="523220"/>
              </a:xfrm>
              <a:prstGeom prst="rect">
                <a:avLst/>
              </a:prstGeom>
              <a:blipFill>
                <a:blip r:embed="rId3"/>
                <a:stretch>
                  <a:fillRect t="-11628" r="-1054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47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 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06CBE-5BA6-A091-C62D-66986C960137}"/>
                  </a:ext>
                </a:extLst>
              </p:cNvPr>
              <p:cNvSpPr txBox="1"/>
              <p:nvPr/>
            </p:nvSpPr>
            <p:spPr>
              <a:xfrm>
                <a:off x="2708694" y="989101"/>
                <a:ext cx="58757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not same.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306CBE-5BA6-A091-C62D-66986C960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694" y="989101"/>
                <a:ext cx="5875711" cy="461665"/>
              </a:xfrm>
              <a:prstGeom prst="rect">
                <a:avLst/>
              </a:prstGeom>
              <a:blipFill>
                <a:blip r:embed="rId2"/>
                <a:stretch>
                  <a:fillRect l="-104" t="-10526" r="-51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44128"/>
                <a:ext cx="10660811" cy="2018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example: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there is one (some) x for which P(x, y) is True for every y. </a:t>
                </a:r>
              </a:p>
              <a:p>
                <a:pPr marL="0" indent="0" algn="ctr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for every y, there will be </a:t>
                </a:r>
                <a:r>
                  <a:rPr lang="en-US" sz="240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some x 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which P(x, y) is True.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44128"/>
                <a:ext cx="10660811" cy="2018581"/>
              </a:xfrm>
              <a:prstGeom prst="rect">
                <a:avLst/>
              </a:prstGeom>
              <a:blipFill>
                <a:blip r:embed="rId3"/>
                <a:stretch>
                  <a:fillRect l="-915" t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BB88782-C063-6B3C-D4E4-C82F578AA494}"/>
              </a:ext>
            </a:extLst>
          </p:cNvPr>
          <p:cNvSpPr txBox="1"/>
          <p:nvPr/>
        </p:nvSpPr>
        <p:spPr>
          <a:xfrm>
            <a:off x="3364301" y="4572000"/>
            <a:ext cx="3602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</a:rPr>
              <a:t>Still confusing?</a:t>
            </a:r>
          </a:p>
        </p:txBody>
      </p:sp>
    </p:spTree>
    <p:extLst>
      <p:ext uri="{BB962C8B-B14F-4D97-AF65-F5344CB8AC3E}">
        <p14:creationId xmlns:p14="http://schemas.microsoft.com/office/powerpoint/2010/main" val="23470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 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there is one (some) x for which P(x, y) is True for every y. 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for every y, there will be some y for which P(x, y) is True.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  <a:blipFill>
                <a:blip r:embed="rId2"/>
                <a:stretch>
                  <a:fillRect l="-629" t="-3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287AD59-DC63-43AF-24C4-E4D7F901EA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092600"/>
                <a:ext cx="10660811" cy="14621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Say P(x, y) denotes “x is the leader of y”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Now for first statement: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means: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A3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is one x that is the leader of every y.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287AD59-DC63-43AF-24C4-E4D7F901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092600"/>
                <a:ext cx="10660811" cy="1462147"/>
              </a:xfrm>
              <a:prstGeom prst="rect">
                <a:avLst/>
              </a:prstGeom>
              <a:blipFill>
                <a:blip r:embed="rId3"/>
                <a:stretch>
                  <a:fillRect l="-572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E93D185-CC32-5C96-BFE3-58059DB0F6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4335" y="4725869"/>
                <a:ext cx="10660811" cy="14621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Say P(x, y) denotes “x is the follower of y”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Now for first statement: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means: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A3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every y, there is some leader x.                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// for every follower there is some leader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E93D185-CC32-5C96-BFE3-58059DB0F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5" y="4725869"/>
                <a:ext cx="10660811" cy="1462147"/>
              </a:xfrm>
              <a:prstGeom prst="rect">
                <a:avLst/>
              </a:prstGeom>
              <a:blipFill>
                <a:blip r:embed="rId4"/>
                <a:stretch>
                  <a:fillRect l="-572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74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 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 that: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same 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∀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same as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  <a:blipFill>
                <a:blip r:embed="rId2"/>
                <a:stretch>
                  <a:fillRect l="-629" t="-3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85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 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Likes (x, y) = x likes y,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“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every x likes some y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OR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Simply put “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everyone likes someone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F80628-9DEA-5FF5-86D3-770F3C9D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95739"/>
                <a:ext cx="10660811" cy="2018581"/>
              </a:xfrm>
              <a:prstGeom prst="rect">
                <a:avLst/>
              </a:prstGeom>
              <a:blipFill>
                <a:blip r:embed="rId2"/>
                <a:stretch>
                  <a:fillRect l="-915" t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49214-06BB-855E-C803-EF078EA64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67819"/>
                <a:ext cx="10660811" cy="2018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Likes (x, y) = x likes y,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means “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is some y that is liked by every x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OR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Simply put “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Someone is liked by everyone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49214-06BB-855E-C803-EF078EA6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67819"/>
                <a:ext cx="10660811" cy="2018581"/>
              </a:xfrm>
              <a:prstGeom prst="rect">
                <a:avLst/>
              </a:prstGeom>
              <a:blipFill>
                <a:blip r:embed="rId3"/>
                <a:stretch>
                  <a:fillRect l="-915" t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80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8811"/>
            <a:ext cx="10515600" cy="8992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Mixing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5036" y="830425"/>
                <a:ext cx="9553869" cy="420810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is a person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6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is a country</a:t>
                </a: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National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60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6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600" i="1" dirty="0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national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60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6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600" b="0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600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National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Everyone belongs to some country</a:t>
                </a:r>
              </a:p>
              <a:p>
                <a:pPr marL="0" indent="0">
                  <a:buNone/>
                </a:pPr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600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6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National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 smtClean="0">
                            <a:solidFill>
                              <a:srgbClr val="007A3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600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is a country, everybody belongs to</a:t>
                </a:r>
                <a:r>
                  <a:rPr lang="en-US" sz="2600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036" y="830425"/>
                <a:ext cx="9553869" cy="4208106"/>
              </a:xfrm>
              <a:blipFill>
                <a:blip r:embed="rId2"/>
                <a:stretch>
                  <a:fillRect l="-1149" t="-2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5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 – </a:t>
            </a:r>
            <a:r>
              <a:rPr lang="en-US" dirty="0">
                <a:solidFill>
                  <a:srgbClr val="ED7D3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Truth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8723" y="1186986"/>
            <a:ext cx="2534475" cy="44575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AFBA03C-8FDF-AA9F-DD73-BD7D0A0FF2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04" y="1690688"/>
              <a:ext cx="9023230" cy="3749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3690">
                      <a:extLst>
                        <a:ext uri="{9D8B030D-6E8A-4147-A177-3AD203B41FA5}">
                          <a16:colId xmlns:a16="http://schemas.microsoft.com/office/drawing/2014/main" val="4140791021"/>
                        </a:ext>
                      </a:extLst>
                    </a:gridCol>
                    <a:gridCol w="3554083">
                      <a:extLst>
                        <a:ext uri="{9D8B030D-6E8A-4147-A177-3AD203B41FA5}">
                          <a16:colId xmlns:a16="http://schemas.microsoft.com/office/drawing/2014/main" val="3443498042"/>
                        </a:ext>
                      </a:extLst>
                    </a:gridCol>
                    <a:gridCol w="3545457">
                      <a:extLst>
                        <a:ext uri="{9D8B030D-6E8A-4147-A177-3AD203B41FA5}">
                          <a16:colId xmlns:a16="http://schemas.microsoft.com/office/drawing/2014/main" val="3794356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True, when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False, when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9251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P(x, y) is </a:t>
                          </a:r>
                          <a:r>
                            <a:rPr lang="en-US" sz="24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pair (x, 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one pair (x, y) for which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9388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 every x there is some y for which P(x, y) is </a:t>
                          </a:r>
                          <a:r>
                            <a:rPr lang="en-US" sz="24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one x for which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all y.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1301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some x for which P(x, y) is </a:t>
                          </a:r>
                          <a:r>
                            <a:rPr lang="en-US" sz="2400" kern="12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 every x,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some 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20823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some x for which P(x, y) is </a:t>
                          </a:r>
                          <a:r>
                            <a:rPr lang="en-US" sz="2400" kern="12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some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pair (x, 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5623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AFBA03C-8FDF-AA9F-DD73-BD7D0A0FF2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595996"/>
                  </p:ext>
                </p:extLst>
              </p:nvPr>
            </p:nvGraphicFramePr>
            <p:xfrm>
              <a:off x="327804" y="1690688"/>
              <a:ext cx="9023230" cy="3749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3690">
                      <a:extLst>
                        <a:ext uri="{9D8B030D-6E8A-4147-A177-3AD203B41FA5}">
                          <a16:colId xmlns:a16="http://schemas.microsoft.com/office/drawing/2014/main" val="4140791021"/>
                        </a:ext>
                      </a:extLst>
                    </a:gridCol>
                    <a:gridCol w="3554083">
                      <a:extLst>
                        <a:ext uri="{9D8B030D-6E8A-4147-A177-3AD203B41FA5}">
                          <a16:colId xmlns:a16="http://schemas.microsoft.com/office/drawing/2014/main" val="3443498042"/>
                        </a:ext>
                      </a:extLst>
                    </a:gridCol>
                    <a:gridCol w="3545457">
                      <a:extLst>
                        <a:ext uri="{9D8B030D-6E8A-4147-A177-3AD203B41FA5}">
                          <a16:colId xmlns:a16="http://schemas.microsoft.com/office/drawing/2014/main" val="37943563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True, when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False, when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925128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6" t="-61481" r="-370253" b="-31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P(x, y) is </a:t>
                          </a:r>
                          <a:r>
                            <a:rPr lang="en-US" sz="24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pair (x, 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one pair (x, y) for which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938859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6" t="-160294" r="-370253" b="-2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 every x there is some y for which P(x, y) is </a:t>
                          </a:r>
                          <a:r>
                            <a:rPr lang="en-US" sz="24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one x for which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all y.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13014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6" t="-262222" r="-370253" b="-11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some x for which P(x, y) is </a:t>
                          </a:r>
                          <a:r>
                            <a:rPr lang="en-US" sz="2400" kern="12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 every x, 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some 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20823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6" t="-362222" r="-370253" b="-1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There is some x for which P(x, y) is </a:t>
                          </a:r>
                          <a:r>
                            <a:rPr lang="en-US" sz="2400" kern="1200" dirty="0">
                              <a:solidFill>
                                <a:srgbClr val="007A3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True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some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P(x, y) is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False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for every pair (x, 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56233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EBB07C1-69F8-1687-4417-B96A85FD6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36" y="3044436"/>
            <a:ext cx="2690682" cy="752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3E1BF6-01B7-FCB6-4A4F-3727197F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836" y="3856117"/>
            <a:ext cx="2690683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A81248-376B-85AE-6E56-4E49DFC37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836" y="4687252"/>
            <a:ext cx="2690684" cy="752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79559D-4FBC-F52B-FC75-5AB60AF01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838" y="2170747"/>
            <a:ext cx="2690682" cy="72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0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540"/>
            <a:ext cx="10515600" cy="9920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 – </a:t>
            </a:r>
            <a:r>
              <a:rPr lang="en-US" sz="4000" dirty="0">
                <a:solidFill>
                  <a:srgbClr val="ED7D3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Loops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sz="4000" dirty="0" err="1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x∀yP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97AB51-A86B-3349-B015-8A55F59F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061"/>
            <a:ext cx="11014494" cy="1325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 working with quantifications of more than one variable, it is sometimes helpful to think in terms of nested loops. For example, to see whether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x∀yP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we loop through the values for x, and for each x we loop through the values for y.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21A1C0-AF65-7A24-B2BD-A219F20A20B7}"/>
              </a:ext>
            </a:extLst>
          </p:cNvPr>
          <p:cNvSpPr txBox="1">
            <a:spLocks/>
          </p:cNvSpPr>
          <p:nvPr/>
        </p:nvSpPr>
        <p:spPr>
          <a:xfrm>
            <a:off x="709522" y="2294626"/>
            <a:ext cx="10772955" cy="4399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 X and Y are the sets (arrays) having finite elements: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(j = 0; j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j++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for (k = 0; k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k++)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if (P(x, y) ==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return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True;</a:t>
            </a:r>
          </a:p>
        </p:txBody>
      </p:sp>
    </p:spTree>
    <p:extLst>
      <p:ext uri="{BB962C8B-B14F-4D97-AF65-F5344CB8AC3E}">
        <p14:creationId xmlns:p14="http://schemas.microsoft.com/office/powerpoint/2010/main" val="175003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540"/>
            <a:ext cx="10515600" cy="9920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 – </a:t>
            </a:r>
            <a:r>
              <a:rPr lang="en-US" sz="4000" dirty="0">
                <a:solidFill>
                  <a:srgbClr val="ED7D3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Loops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4000" dirty="0" err="1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x∃yP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97AB51-A86B-3349-B015-8A55F59F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084"/>
            <a:ext cx="11353800" cy="1325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 working with quantifications of more than one variable, it is sometimes helpful to think in terms of nested loops. For example, to see whether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x∃yP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we can loop through the values for x, and for each x we loop through the values for y.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21A1C0-AF65-7A24-B2BD-A219F20A20B7}"/>
              </a:ext>
            </a:extLst>
          </p:cNvPr>
          <p:cNvSpPr txBox="1">
            <a:spLocks/>
          </p:cNvSpPr>
          <p:nvPr/>
        </p:nvSpPr>
        <p:spPr>
          <a:xfrm>
            <a:off x="709522" y="2432648"/>
            <a:ext cx="10772955" cy="4399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 X and Y are the sets (arrays) having finite elements: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(j = 0; j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j++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for (k = 0; k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k++)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if (P(x, y) ==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return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False;</a:t>
            </a:r>
          </a:p>
        </p:txBody>
      </p:sp>
    </p:spTree>
    <p:extLst>
      <p:ext uri="{BB962C8B-B14F-4D97-AF65-F5344CB8AC3E}">
        <p14:creationId xmlns:p14="http://schemas.microsoft.com/office/powerpoint/2010/main" val="51528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540"/>
            <a:ext cx="10515600" cy="9920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 – </a:t>
            </a:r>
            <a:r>
              <a:rPr lang="en-US" sz="4000" dirty="0">
                <a:solidFill>
                  <a:srgbClr val="ED7D3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Loops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4000" dirty="0" err="1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x∀yP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97AB51-A86B-3349-B015-8A55F59F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084"/>
            <a:ext cx="11353800" cy="1325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to see whether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x∀yP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we can loop through the values for x, and for each x we loop through the values for y. Overall result 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if P(x, y) is True for every iteration of internal loop in one iteration of external loop.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21A1C0-AF65-7A24-B2BD-A219F20A20B7}"/>
              </a:ext>
            </a:extLst>
          </p:cNvPr>
          <p:cNvSpPr txBox="1">
            <a:spLocks/>
          </p:cNvSpPr>
          <p:nvPr/>
        </p:nvSpPr>
        <p:spPr>
          <a:xfrm>
            <a:off x="709522" y="2432648"/>
            <a:ext cx="10772955" cy="4399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 X and Y are the sets (arrays) having finite elements: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(j = 0; j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j++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bool result =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for (k = 0; k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k++)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if (P(x, y) ==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result =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break;</a:t>
            </a:r>
            <a:endParaRPr lang="en-US" sz="2400" dirty="0">
              <a:solidFill>
                <a:srgbClr val="007A3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if (result ==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return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False;</a:t>
            </a:r>
          </a:p>
        </p:txBody>
      </p:sp>
    </p:spTree>
    <p:extLst>
      <p:ext uri="{BB962C8B-B14F-4D97-AF65-F5344CB8AC3E}">
        <p14:creationId xmlns:p14="http://schemas.microsoft.com/office/powerpoint/2010/main" val="129277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540"/>
            <a:ext cx="10515600" cy="9920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Nested Quantifiers – </a:t>
            </a:r>
            <a:r>
              <a:rPr lang="en-US" sz="4000" dirty="0">
                <a:solidFill>
                  <a:srgbClr val="ED7D3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Loops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sz="4000" dirty="0" err="1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x∃yP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97AB51-A86B-3349-B015-8A55F59F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084"/>
            <a:ext cx="11353800" cy="1325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to see whether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x∃yP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we can loop through the values for x, and for each x we loop through the values for y. Overall result is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if P(x, y) is True for one iteration of internal loop in every iteration of external loop.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21A1C0-AF65-7A24-B2BD-A219F20A20B7}"/>
              </a:ext>
            </a:extLst>
          </p:cNvPr>
          <p:cNvSpPr txBox="1">
            <a:spLocks/>
          </p:cNvSpPr>
          <p:nvPr/>
        </p:nvSpPr>
        <p:spPr>
          <a:xfrm>
            <a:off x="709522" y="2432648"/>
            <a:ext cx="10772955" cy="4399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 X and Y are the sets (arrays) having finite elements: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(j = 0; j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j++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bool result =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for (k = 0; k &lt;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Y.length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 k++)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if (P(x, y) ==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result =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break;</a:t>
            </a:r>
            <a:endParaRPr lang="en-US" sz="2400" dirty="0">
              <a:solidFill>
                <a:srgbClr val="007A3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if (result ==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return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sz="24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True;</a:t>
            </a:r>
          </a:p>
        </p:txBody>
      </p:sp>
    </p:spTree>
    <p:extLst>
      <p:ext uri="{BB962C8B-B14F-4D97-AF65-F5344CB8AC3E}">
        <p14:creationId xmlns:p14="http://schemas.microsoft.com/office/powerpoint/2010/main" val="288280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Mathematical Statements into 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9"/>
            <a:ext cx="10646434" cy="1043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Translate into logical expression: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b="0" i="0" u="none" strike="noStrike" baseline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sum of two positive integers is always positive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3826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Mathematical Statements into 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9"/>
            <a:ext cx="10646434" cy="1043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Translate into logical expression: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b="0" i="0" u="none" strike="noStrike" baseline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sum of two positive integers is always positive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60C1CF-2B31-78DA-6049-33B7EEA4B58C}"/>
              </a:ext>
            </a:extLst>
          </p:cNvPr>
          <p:cNvSpPr txBox="1">
            <a:spLocks/>
          </p:cNvSpPr>
          <p:nvPr/>
        </p:nvSpPr>
        <p:spPr>
          <a:xfrm>
            <a:off x="868392" y="2385204"/>
            <a:ext cx="10646434" cy="1043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x, y </a:t>
            </a:r>
            <a:r>
              <a:rPr lang="az-Cyrl-AZ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Є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∀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x + y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≥ 0) </a:t>
            </a:r>
          </a:p>
        </p:txBody>
      </p:sp>
    </p:spTree>
    <p:extLst>
      <p:ext uri="{BB962C8B-B14F-4D97-AF65-F5344CB8AC3E}">
        <p14:creationId xmlns:p14="http://schemas.microsoft.com/office/powerpoint/2010/main" val="5076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Mathematical Statements into 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9"/>
            <a:ext cx="10646434" cy="1043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Translate into logical expression: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b="0" i="0" u="none" strike="noStrike" baseline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subtraction of two positive integers does not always results positive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60C1CF-2B31-78DA-6049-33B7EEA4B58C}"/>
              </a:ext>
            </a:extLst>
          </p:cNvPr>
          <p:cNvSpPr txBox="1">
            <a:spLocks/>
          </p:cNvSpPr>
          <p:nvPr/>
        </p:nvSpPr>
        <p:spPr>
          <a:xfrm>
            <a:off x="868392" y="2385204"/>
            <a:ext cx="10646434" cy="1043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x, y </a:t>
            </a:r>
            <a:r>
              <a:rPr lang="az-Cyrl-AZ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Є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∀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(x - y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≥ 0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∨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(x - y &lt;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0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))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338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Mathematical Statements into 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9"/>
            <a:ext cx="10646434" cy="1043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Translate into logical expression: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b="0" i="0" u="none" strike="noStrike" baseline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real number has an additive inverse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60C1CF-2B31-78DA-6049-33B7EEA4B5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8392" y="2385204"/>
                <a:ext cx="10646434" cy="10437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 y </a:t>
                </a:r>
                <a:r>
                  <a:rPr lang="az-Cyrl-AZ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Є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R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∀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(x + y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)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60C1CF-2B31-78DA-6049-33B7EEA4B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92" y="2385204"/>
                <a:ext cx="10646434" cy="1043796"/>
              </a:xfrm>
              <a:prstGeom prst="rect">
                <a:avLst/>
              </a:prstGeom>
              <a:blipFill>
                <a:blip r:embed="rId2"/>
                <a:stretch>
                  <a:fillRect l="-1145" t="-9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31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Mathematical Statements into 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9"/>
            <a:ext cx="10646434" cy="1043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Translate into logical expression: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b="0" i="0" u="none" strike="noStrike" baseline="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real number except 0 has a multiplicative inverse inverse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60C1CF-2B31-78DA-6049-33B7EEA4B5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8392" y="2385204"/>
                <a:ext cx="10646434" cy="10437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 y </a:t>
                </a:r>
                <a:r>
                  <a:rPr lang="az-Cyrl-AZ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Є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R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∀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((x ≠ 0)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(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x.y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1)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)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360C1CF-2B31-78DA-6049-33B7EEA4B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92" y="2385204"/>
                <a:ext cx="10646434" cy="1043796"/>
              </a:xfrm>
              <a:prstGeom prst="rect">
                <a:avLst/>
              </a:prstGeom>
              <a:blipFill>
                <a:blip r:embed="rId2"/>
                <a:stretch>
                  <a:fillRect l="-1145" t="-9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9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Logical Expressions into English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8"/>
            <a:ext cx="10646434" cy="20789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mathematical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notation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s-E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∀x(C(x) ∨ ∃y(C(y) ∧ F(x,  y)))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into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English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where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C(x) = x has a computer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F(x, y) = x and y are friends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domain of x and y is “all students in the class”.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160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Logical Expressions into English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8"/>
            <a:ext cx="10646434" cy="2078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∃x∀y∀z((F(x, y) ∧ F(x, z) ∧ (y ≠ z))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¬F(y,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z))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into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English </a:t>
            </a:r>
            <a:r>
              <a:rPr lang="es-E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where</a:t>
            </a:r>
            <a:r>
              <a:rPr lang="es-E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F(x, y) = x and y are friends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domain of x and y is “all students in the class”.</a:t>
            </a:r>
          </a:p>
        </p:txBody>
      </p:sp>
    </p:spTree>
    <p:extLst>
      <p:ext uri="{BB962C8B-B14F-4D97-AF65-F5344CB8AC3E}">
        <p14:creationId xmlns:p14="http://schemas.microsoft.com/office/powerpoint/2010/main" val="3927971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E847-9FCD-87FB-7882-48D846D9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2213"/>
            <a:ext cx="11662914" cy="652792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Logical Expressions into English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9430-8F58-0B94-93E5-E5995D34B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061048"/>
            <a:ext cx="10646434" cy="20789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following statements into English where domain for each variable is the set of Real Numbers: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∀x∃y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 &lt; y)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∀x∀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z(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x.y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z)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∀x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((x ≠ 0)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pl-PL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y(</a:t>
            </a:r>
            <a:r>
              <a:rPr lang="en-US" sz="24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x.y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=1))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605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825"/>
            <a:ext cx="10515600" cy="9056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Logical Equivalence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0838" y="1966824"/>
                <a:ext cx="3915834" cy="6642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0838" y="1966824"/>
                <a:ext cx="3915834" cy="66423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5CCA432-CCA3-57FC-7048-7FBD4671DC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107084"/>
                <a:ext cx="11353800" cy="13255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¬∀</m:t>
                    </m:r>
                    <m:r>
                      <a:rPr lang="en-US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→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)∧¬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007A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>
                    <a:solidFill>
                      <a:srgbClr val="007A3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are logically equivalent.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5CCA432-CCA3-57FC-7048-7FBD4671D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07084"/>
                <a:ext cx="11353800" cy="1325564"/>
              </a:xfrm>
              <a:prstGeom prst="rect">
                <a:avLst/>
              </a:prstGeom>
              <a:blipFill>
                <a:blip r:embed="rId3"/>
                <a:stretch>
                  <a:fillRect l="-859" t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74F0BF2-4891-50EE-1E2E-19AB39BE1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475" y="1971137"/>
            <a:ext cx="4667250" cy="704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FA2360-A590-B49B-DE28-D13348C22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48284"/>
            <a:ext cx="5791200" cy="704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4EEFFF-6257-2DD7-74B2-9E04AE1CC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050" y="3429000"/>
            <a:ext cx="4638675" cy="933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8E62B3-8C7B-DBBD-A109-9CBDA07D9C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050" y="4991123"/>
            <a:ext cx="4343400" cy="933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B0FAF7-4ECF-D267-37D9-07BD90996EF7}"/>
              </a:ext>
            </a:extLst>
          </p:cNvPr>
          <p:cNvSpPr txBox="1"/>
          <p:nvPr/>
        </p:nvSpPr>
        <p:spPr>
          <a:xfrm>
            <a:off x="6515100" y="4425353"/>
            <a:ext cx="46386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Using De Morgan’s Law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F3F933-CF9B-FB2F-D51F-7A721A63BD10}"/>
              </a:ext>
            </a:extLst>
          </p:cNvPr>
          <p:cNvSpPr txBox="1"/>
          <p:nvPr/>
        </p:nvSpPr>
        <p:spPr>
          <a:xfrm>
            <a:off x="4303862" y="6130508"/>
            <a:ext cx="46386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Proved</a:t>
            </a:r>
          </a:p>
        </p:txBody>
      </p:sp>
    </p:spTree>
    <p:extLst>
      <p:ext uri="{BB962C8B-B14F-4D97-AF65-F5344CB8AC3E}">
        <p14:creationId xmlns:p14="http://schemas.microsoft.com/office/powerpoint/2010/main" val="112237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208"/>
            <a:ext cx="10515600" cy="8385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rgbClr val="007A3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42A02-9B01-AE30-03A4-818ECEADEC1B}"/>
              </a:ext>
            </a:extLst>
          </p:cNvPr>
          <p:cNvSpPr txBox="1"/>
          <p:nvPr/>
        </p:nvSpPr>
        <p:spPr>
          <a:xfrm>
            <a:off x="916556" y="1207701"/>
            <a:ext cx="1027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using predicates and quantifiers 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Some student in this class has visited Murree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and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student in this class has visited Karachi and Faisalabad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4166411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084" y="-11726"/>
            <a:ext cx="10515600" cy="8789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96823" y="2269573"/>
                <a:ext cx="4414932" cy="32732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Students in the class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Murree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𝑥𝑀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================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Karachi</m:t>
                    </m:r>
                  </m:oMath>
                </a14:m>
                <a:endParaRPr lang="en-US" b="0" i="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Faisalabad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6823" y="2269573"/>
                <a:ext cx="4414932" cy="3273287"/>
              </a:xfrm>
              <a:blipFill>
                <a:blip r:embed="rId2"/>
                <a:stretch>
                  <a:fillRect l="-2486" t="-2980" r="-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041884" y="2192695"/>
                <a:ext cx="4854714" cy="381091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Students</a:t>
                </a:r>
              </a:p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𝑙𝑎𝑠𝑠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student in this class</a:t>
                </a:r>
              </a:p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Murree</a:t>
                </a: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𝑥𝐶𝑙𝑎𝑠𝑠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Arial"/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====================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Karachi</m:t>
                    </m:r>
                  </m:oMath>
                </a14:m>
                <a:endParaRPr lang="en-US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visited Faisalabad</a:t>
                </a: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𝐶𝑙𝑎𝑠𝑠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Arial"/>
                  <a:buNone/>
                </a:pPr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884" y="2192695"/>
                <a:ext cx="4854714" cy="3810914"/>
              </a:xfrm>
              <a:prstGeom prst="rect">
                <a:avLst/>
              </a:prstGeom>
              <a:blipFill>
                <a:blip r:embed="rId3"/>
                <a:stretch>
                  <a:fillRect l="-1884" t="-2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3D7E626-0D8A-884B-7F46-F4646B346420}"/>
              </a:ext>
            </a:extLst>
          </p:cNvPr>
          <p:cNvSpPr txBox="1"/>
          <p:nvPr/>
        </p:nvSpPr>
        <p:spPr>
          <a:xfrm>
            <a:off x="784084" y="867272"/>
            <a:ext cx="10271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Some student in this class has visited Murree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and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student in this class has visited Karachi and Faisalabad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2135460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208"/>
            <a:ext cx="10515600" cy="8385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rgbClr val="007A3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42A02-9B01-AE30-03A4-818ECEADEC1B}"/>
              </a:ext>
            </a:extLst>
          </p:cNvPr>
          <p:cNvSpPr txBox="1"/>
          <p:nvPr/>
        </p:nvSpPr>
        <p:spPr>
          <a:xfrm>
            <a:off x="916556" y="1207701"/>
            <a:ext cx="1027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using predicates and quantifiers </a:t>
            </a:r>
          </a:p>
          <a:p>
            <a:pPr marL="0" indent="0">
              <a:buNone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Everyone has exactly one best friend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468C5-C0B0-4480-890A-DA07BBC02132}"/>
              </a:ext>
            </a:extLst>
          </p:cNvPr>
          <p:cNvSpPr txBox="1"/>
          <p:nvPr/>
        </p:nvSpPr>
        <p:spPr>
          <a:xfrm>
            <a:off x="2618442" y="2689796"/>
            <a:ext cx="6098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26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B(x, y):=“y is the best friend of x”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86E1B-7D8D-4102-AE8E-8232197C05A4}"/>
              </a:ext>
            </a:extLst>
          </p:cNvPr>
          <p:cNvSpPr txBox="1"/>
          <p:nvPr/>
        </p:nvSpPr>
        <p:spPr>
          <a:xfrm>
            <a:off x="4669118" y="3676303"/>
            <a:ext cx="37218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∀x ∃!y B(x, y)</a:t>
            </a:r>
            <a:endParaRPr lang="en-PK" sz="260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83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6B3E3-DD13-CE67-7398-180EAD52A516}"/>
              </a:ext>
            </a:extLst>
          </p:cNvPr>
          <p:cNvSpPr txBox="1"/>
          <p:nvPr/>
        </p:nvSpPr>
        <p:spPr>
          <a:xfrm>
            <a:off x="916556" y="1207701"/>
            <a:ext cx="1027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using predicates and quantifiers 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mail message larger than one megabyte will be compressed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and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 user is live, at least one network link will be available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439473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83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6B3E3-DD13-CE67-7398-180EAD52A516}"/>
              </a:ext>
            </a:extLst>
          </p:cNvPr>
          <p:cNvSpPr txBox="1"/>
          <p:nvPr/>
        </p:nvSpPr>
        <p:spPr>
          <a:xfrm>
            <a:off x="916556" y="1207701"/>
            <a:ext cx="1027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using predicates and quantifiers 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mail message larger than one megabyte will be compressed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and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 user is active, at least one network link will be available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12850C9E-CC95-BD8B-733F-60D0F1073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8722" y="2749108"/>
                <a:ext cx="3686795" cy="3529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statement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mail message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compressed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&gt;1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Megabyte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12850C9E-CC95-BD8B-733F-60D0F1073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8722" y="2749108"/>
                <a:ext cx="3686795" cy="3529338"/>
              </a:xfrm>
              <a:blipFill>
                <a:blip r:embed="rId2"/>
                <a:stretch>
                  <a:fillRect l="-3306" t="-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81242C-1FE8-9E87-92BF-F0F909A1CBAE}"/>
              </a:ext>
            </a:extLst>
          </p:cNvPr>
          <p:cNvSpPr txBox="1"/>
          <p:nvPr/>
        </p:nvSpPr>
        <p:spPr>
          <a:xfrm>
            <a:off x="5244860" y="3795623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2273-1BEE-DCCA-4895-51F5C56F728A}"/>
                  </a:ext>
                </a:extLst>
              </p:cNvPr>
              <p:cNvSpPr txBox="1"/>
              <p:nvPr/>
            </p:nvSpPr>
            <p:spPr>
              <a:xfrm>
                <a:off x="6480594" y="3887956"/>
                <a:ext cx="54238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Megabyte</m:t>
                    </m:r>
                    <m:r>
                      <a:rPr lang="en-US" sz="28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2273-1BEE-DCCA-4895-51F5C56F7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594" y="3887956"/>
                <a:ext cx="542385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45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Predicates &amp; Quantifiers … </a:t>
            </a:r>
            <a:r>
              <a:rPr lang="en-US" sz="4000" dirty="0">
                <a:solidFill>
                  <a:srgbClr val="007A3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/>
              <p:cNvSpPr txBox="1">
                <a:spLocks/>
              </p:cNvSpPr>
              <p:nvPr/>
            </p:nvSpPr>
            <p:spPr>
              <a:xfrm>
                <a:off x="931508" y="2597778"/>
                <a:ext cx="6930280" cy="314244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800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nd</a:t>
                </a: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statement</a:t>
                </a:r>
              </a:p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user,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network link</a:t>
                </a:r>
              </a:p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𝐴𝑐𝑖𝑣𝑒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an active user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𝑣𝑎𝑖𝑙𝑎𝑏𝑙𝑒</m:t>
                    </m:r>
                    <m:d>
                      <m:d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link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available to user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𝐴𝑐𝑡𝑖𝑣𝑒</m:t>
                    </m:r>
                    <m:d>
                      <m:dPr>
                        <m:ctrlP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08" y="2597778"/>
                <a:ext cx="6930280" cy="3142445"/>
              </a:xfrm>
              <a:prstGeom prst="rect">
                <a:avLst/>
              </a:prstGeom>
              <a:blipFill>
                <a:blip r:embed="rId2"/>
                <a:stretch>
                  <a:fillRect l="-1847" t="-1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CE082EE-13E5-6E59-2CF8-BECC2F2C18DA}"/>
              </a:ext>
            </a:extLst>
          </p:cNvPr>
          <p:cNvSpPr txBox="1"/>
          <p:nvPr/>
        </p:nvSpPr>
        <p:spPr>
          <a:xfrm>
            <a:off x="916556" y="1207701"/>
            <a:ext cx="1027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 the statements using predicates and quantifiers “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mail message larger than one megabyte will be compressed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 and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 user is active, at least one network link will be available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2322998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Questions for Practice</a:t>
            </a:r>
          </a:p>
          <a:p>
            <a:pPr lvl="1"/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 1-20</a:t>
            </a:r>
          </a:p>
          <a:p>
            <a:pPr lvl="1"/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All Odd Exercises form 21 to 47</a:t>
            </a:r>
          </a:p>
          <a:p>
            <a:pPr lvl="1">
              <a:buNone/>
            </a:pPr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890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1.5: Nested Quantifiers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86" y="1256212"/>
            <a:ext cx="6393662" cy="3781051"/>
          </a:xfrm>
        </p:spPr>
        <p:txBody>
          <a:bodyPr>
            <a:normAutofit/>
          </a:bodyPr>
          <a:lstStyle/>
          <a:p>
            <a:r>
              <a:rPr lang="en-US" sz="2000" dirty="0"/>
              <a:t>The topics we covered in this section: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Nested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Truth Values of Nested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Negating Nested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Translation English to Logical statements</a:t>
            </a:r>
            <a:endParaRPr lang="en-PK" sz="20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{FF24DC02-2B8A-471C-B42D-D3B73C291671}tf78504181_win32</Template>
  <TotalTime>19336</TotalTime>
  <Words>2270</Words>
  <Application>Microsoft Office PowerPoint</Application>
  <PresentationFormat>Widescreen</PresentationFormat>
  <Paragraphs>217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Algerian</vt:lpstr>
      <vt:lpstr>Arial</vt:lpstr>
      <vt:lpstr>Avenir Next LT Pro</vt:lpstr>
      <vt:lpstr>Calibri</vt:lpstr>
      <vt:lpstr>Cambria Math</vt:lpstr>
      <vt:lpstr>Century Gothic</vt:lpstr>
      <vt:lpstr>Comic Sans MS</vt:lpstr>
      <vt:lpstr>Tw Cen MT</vt:lpstr>
      <vt:lpstr>ShapesVTI</vt:lpstr>
      <vt:lpstr>PowerPoint Presentation</vt:lpstr>
      <vt:lpstr>NESTED QUANTIFIERS</vt:lpstr>
      <vt:lpstr>Nested Quantifiers</vt:lpstr>
      <vt:lpstr>Mixing Quantifiers – Nested Quantifiers</vt:lpstr>
      <vt:lpstr>Mixing Quantifiers … </vt:lpstr>
      <vt:lpstr>Mixing Quantifiers … </vt:lpstr>
      <vt:lpstr>Mixing Quantifiers … </vt:lpstr>
      <vt:lpstr>Mixing Quantifiers … </vt:lpstr>
      <vt:lpstr>Mixing Quantifiers</vt:lpstr>
      <vt:lpstr>Nested Quantifiers – Truth Values</vt:lpstr>
      <vt:lpstr>Nested Quantifiers – Loops … ∀x∀yP(x, y) </vt:lpstr>
      <vt:lpstr>Nested Quantifiers – Loops … ∃x∃yP(x, y) </vt:lpstr>
      <vt:lpstr>Nested Quantifiers – Loops … ∃x∀yP(x, y) </vt:lpstr>
      <vt:lpstr>Nested Quantifiers – Loops … ∀x∃yP(x, y) </vt:lpstr>
      <vt:lpstr>Translating Mathematical Statements into Logical Expressions</vt:lpstr>
      <vt:lpstr>Translating Mathematical Statements into Logical Expressions</vt:lpstr>
      <vt:lpstr>Translating Mathematical Statements into Logical Expressions</vt:lpstr>
      <vt:lpstr>Translating Mathematical Statements into Logical Expressions</vt:lpstr>
      <vt:lpstr>Translating Mathematical Statements into Logical Expressions</vt:lpstr>
      <vt:lpstr>Translating Logical Expressions into English Statement</vt:lpstr>
      <vt:lpstr>Translating Logical Expressions into English Statement</vt:lpstr>
      <vt:lpstr>Translating Logical Expressions into English Statement</vt:lpstr>
      <vt:lpstr>Logical Equivalence</vt:lpstr>
      <vt:lpstr>Predicates &amp; Quantifiers … Example</vt:lpstr>
      <vt:lpstr>Predicates &amp; Quantifiers … Example</vt:lpstr>
      <vt:lpstr>Predicates &amp; Quantifiers … Example</vt:lpstr>
      <vt:lpstr>Predicates &amp; Quantifiers … Example</vt:lpstr>
      <vt:lpstr>Predicates &amp; Quantifiers … Example</vt:lpstr>
      <vt:lpstr>Predicates &amp; Quantifiers … Example</vt:lpstr>
      <vt:lpstr>Section 1.5: Nested Quantifiers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65</cp:revision>
  <cp:lastPrinted>2024-03-28T06:21:38Z</cp:lastPrinted>
  <dcterms:created xsi:type="dcterms:W3CDTF">2023-10-03T05:27:31Z</dcterms:created>
  <dcterms:modified xsi:type="dcterms:W3CDTF">2025-03-24T08:56:50Z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