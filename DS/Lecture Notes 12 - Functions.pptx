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96"/>
  </p:notesMasterIdLst>
  <p:sldIdLst>
    <p:sldId id="3894" r:id="rId5"/>
    <p:sldId id="3885" r:id="rId6"/>
    <p:sldId id="3895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70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3896" r:id="rId31"/>
    <p:sldId id="3897" r:id="rId32"/>
    <p:sldId id="3898" r:id="rId33"/>
    <p:sldId id="3899" r:id="rId34"/>
    <p:sldId id="3915" r:id="rId35"/>
    <p:sldId id="3900" r:id="rId36"/>
    <p:sldId id="3901" r:id="rId37"/>
    <p:sldId id="3902" r:id="rId38"/>
    <p:sldId id="296" r:id="rId39"/>
    <p:sldId id="3903" r:id="rId40"/>
    <p:sldId id="289" r:id="rId41"/>
    <p:sldId id="3905" r:id="rId42"/>
    <p:sldId id="3906" r:id="rId43"/>
    <p:sldId id="3907" r:id="rId44"/>
    <p:sldId id="268" r:id="rId45"/>
    <p:sldId id="3908" r:id="rId46"/>
    <p:sldId id="3912" r:id="rId47"/>
    <p:sldId id="3913" r:id="rId48"/>
    <p:sldId id="3914" r:id="rId49"/>
    <p:sldId id="282" r:id="rId50"/>
    <p:sldId id="283" r:id="rId51"/>
    <p:sldId id="286" r:id="rId52"/>
    <p:sldId id="287" r:id="rId53"/>
    <p:sldId id="288" r:id="rId54"/>
    <p:sldId id="302" r:id="rId55"/>
    <p:sldId id="3917" r:id="rId56"/>
    <p:sldId id="3918" r:id="rId57"/>
    <p:sldId id="3919" r:id="rId58"/>
    <p:sldId id="290" r:id="rId59"/>
    <p:sldId id="291" r:id="rId60"/>
    <p:sldId id="292" r:id="rId61"/>
    <p:sldId id="293" r:id="rId62"/>
    <p:sldId id="295" r:id="rId63"/>
    <p:sldId id="294" r:id="rId64"/>
    <p:sldId id="3920" r:id="rId65"/>
    <p:sldId id="297" r:id="rId66"/>
    <p:sldId id="298" r:id="rId67"/>
    <p:sldId id="299" r:id="rId68"/>
    <p:sldId id="3921" r:id="rId69"/>
    <p:sldId id="303" r:id="rId70"/>
    <p:sldId id="307" r:id="rId71"/>
    <p:sldId id="312" r:id="rId72"/>
    <p:sldId id="313" r:id="rId73"/>
    <p:sldId id="314" r:id="rId74"/>
    <p:sldId id="315" r:id="rId75"/>
    <p:sldId id="316" r:id="rId76"/>
    <p:sldId id="317" r:id="rId77"/>
    <p:sldId id="318" r:id="rId78"/>
    <p:sldId id="319" r:id="rId79"/>
    <p:sldId id="320" r:id="rId80"/>
    <p:sldId id="321" r:id="rId81"/>
    <p:sldId id="322" r:id="rId82"/>
    <p:sldId id="323" r:id="rId83"/>
    <p:sldId id="324" r:id="rId84"/>
    <p:sldId id="325" r:id="rId85"/>
    <p:sldId id="326" r:id="rId86"/>
    <p:sldId id="327" r:id="rId87"/>
    <p:sldId id="328" r:id="rId88"/>
    <p:sldId id="329" r:id="rId89"/>
    <p:sldId id="330" r:id="rId90"/>
    <p:sldId id="331" r:id="rId91"/>
    <p:sldId id="332" r:id="rId92"/>
    <p:sldId id="333" r:id="rId93"/>
    <p:sldId id="335" r:id="rId94"/>
    <p:sldId id="3855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24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theme" Target="theme/theme1.xml"/><Relationship Id="rId10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viewProps" Target="viewProps.xml"/><Relationship Id="rId3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9/3/20XX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/>
              <a:t>Discrete Structures : Lecture 1-2 by IQRA JAVED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4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  <p:sldLayoutId id="214748378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4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4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6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7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5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46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51.w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53.wmf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B25E70-F951-4043-8895-D1EFDDA97DDE}"/>
              </a:ext>
            </a:extLst>
          </p:cNvPr>
          <p:cNvSpPr txBox="1">
            <a:spLocks/>
          </p:cNvSpPr>
          <p:nvPr/>
        </p:nvSpPr>
        <p:spPr>
          <a:xfrm>
            <a:off x="460375" y="1948069"/>
            <a:ext cx="11594776" cy="4073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CC 141 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Structures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Department of Computer Science</a:t>
            </a:r>
            <a:b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School of Systems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University of Management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Lahore, Pakistan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BB6BA-659C-4C58-A7BC-E779ADA8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23319"/>
            <a:ext cx="2220849" cy="2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8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2F2B-2D78-EB56-E02E-F61CF209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224" y="2336768"/>
            <a:ext cx="5559552" cy="253307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Section 2.3</a:t>
            </a:r>
            <a:b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Functions</a:t>
            </a:r>
            <a:endParaRPr 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43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D3E0279-12CE-4F32-A5D7-4303F8DAD88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l="19765" r="18552" b="10046"/>
          <a:stretch/>
        </p:blipFill>
        <p:spPr>
          <a:xfrm>
            <a:off x="7933764" y="2366062"/>
            <a:ext cx="3361765" cy="24543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2F82A79-496A-4F75-AECB-69F484DE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8467344" cy="1325880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Application of Functions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8F1FDA-DEA6-4A38-9DFE-7C4F6A689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5" y="1825624"/>
            <a:ext cx="7098433" cy="487235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Functions find their application in various fields like: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Computational complexity of algorithms,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Counting objects,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Study of sequences and strings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Modeling Real-world Relationships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Cryptography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Artificial intelligence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101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FUNCTIONS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function </a:t>
            </a:r>
            <a:r>
              <a:rPr lang="en-US" b="1" i="1" dirty="0">
                <a:solidFill>
                  <a:srgbClr val="C00000"/>
                </a:solidFill>
              </a:rPr>
              <a:t>f</a:t>
            </a:r>
            <a:r>
              <a:rPr lang="en-US" dirty="0"/>
              <a:t> from a set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to a set </a:t>
            </a:r>
            <a:r>
              <a:rPr lang="en-US" b="1" dirty="0">
                <a:solidFill>
                  <a:srgbClr val="C00000"/>
                </a:solidFill>
              </a:rPr>
              <a:t>Y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C00000"/>
                </a:solidFill>
              </a:rPr>
              <a:t>relationship</a:t>
            </a:r>
            <a:r>
              <a:rPr lang="en-US" dirty="0"/>
              <a:t> between elements of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and elements of </a:t>
            </a:r>
            <a:r>
              <a:rPr lang="en-US" b="1" dirty="0">
                <a:solidFill>
                  <a:srgbClr val="C00000"/>
                </a:solidFill>
              </a:rPr>
              <a:t>Y</a:t>
            </a:r>
            <a:r>
              <a:rPr lang="en-US" dirty="0"/>
              <a:t> such that </a:t>
            </a:r>
            <a:r>
              <a:rPr lang="en-US" b="1" i="1" dirty="0">
                <a:solidFill>
                  <a:srgbClr val="00B050"/>
                </a:solidFill>
              </a:rPr>
              <a:t>each</a:t>
            </a:r>
            <a:r>
              <a:rPr lang="en-US" dirty="0"/>
              <a:t> element of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is related to a </a:t>
            </a:r>
            <a:r>
              <a:rPr lang="en-US" b="1" i="1" dirty="0">
                <a:solidFill>
                  <a:srgbClr val="00B050"/>
                </a:solidFill>
              </a:rPr>
              <a:t>unique</a:t>
            </a:r>
            <a:r>
              <a:rPr lang="en-US" dirty="0"/>
              <a:t> element of </a:t>
            </a:r>
            <a:r>
              <a:rPr lang="en-US" b="1" dirty="0">
                <a:solidFill>
                  <a:srgbClr val="C00000"/>
                </a:solidFill>
              </a:rPr>
              <a:t>Y</a:t>
            </a:r>
            <a:r>
              <a:rPr lang="en-US" dirty="0"/>
              <a:t>, and is denoted  </a:t>
            </a:r>
            <a:r>
              <a:rPr lang="en-US" i="1" dirty="0">
                <a:solidFill>
                  <a:srgbClr val="C00000"/>
                </a:solidFill>
              </a:rPr>
              <a:t>f</a:t>
            </a:r>
            <a:r>
              <a:rPr lang="en-US" dirty="0">
                <a:solidFill>
                  <a:srgbClr val="C00000"/>
                </a:solidFill>
              </a:rPr>
              <a:t> 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The set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is called the </a:t>
            </a:r>
            <a:r>
              <a:rPr lang="en-US" b="1" dirty="0">
                <a:solidFill>
                  <a:srgbClr val="C00000"/>
                </a:solidFill>
              </a:rPr>
              <a:t>domain</a:t>
            </a:r>
            <a:r>
              <a:rPr lang="en-US" dirty="0"/>
              <a:t> of </a:t>
            </a:r>
            <a:r>
              <a:rPr lang="en-US" b="1" i="1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Y</a:t>
            </a:r>
            <a:r>
              <a:rPr lang="en-US" dirty="0"/>
              <a:t> is called the </a:t>
            </a:r>
            <a:r>
              <a:rPr lang="en-US" b="1" dirty="0">
                <a:solidFill>
                  <a:srgbClr val="C00000"/>
                </a:solidFill>
              </a:rPr>
              <a:t>co-domain</a:t>
            </a:r>
            <a:r>
              <a:rPr lang="en-US" dirty="0"/>
              <a:t> of </a:t>
            </a:r>
            <a:r>
              <a:rPr lang="en-US" b="1" i="1" dirty="0">
                <a:solidFill>
                  <a:srgbClr val="C00000"/>
                </a:solidFill>
              </a:rPr>
              <a:t>f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Functions</a:t>
            </a:r>
            <a:r>
              <a:rPr lang="en-US" dirty="0"/>
              <a:t> are sometimes also called </a:t>
            </a:r>
            <a:r>
              <a:rPr lang="en-US" b="1" dirty="0">
                <a:solidFill>
                  <a:srgbClr val="C00000"/>
                </a:solidFill>
              </a:rPr>
              <a:t>mappings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transformations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unique element y </a:t>
            </a:r>
            <a:r>
              <a:rPr lang="en-US" dirty="0"/>
              <a:t>of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/>
              <a:t> that is related to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by </a:t>
            </a:r>
            <a:r>
              <a:rPr lang="en-US" i="1" dirty="0">
                <a:solidFill>
                  <a:srgbClr val="C00000"/>
                </a:solidFill>
              </a:rPr>
              <a:t>f</a:t>
            </a:r>
            <a:r>
              <a:rPr lang="en-US" dirty="0"/>
              <a:t> is denoted </a:t>
            </a:r>
            <a:r>
              <a:rPr lang="en-US" i="1" dirty="0">
                <a:solidFill>
                  <a:srgbClr val="C00000"/>
                </a:solidFill>
              </a:rPr>
              <a:t>f</a:t>
            </a:r>
            <a:r>
              <a:rPr lang="en-US" dirty="0">
                <a:solidFill>
                  <a:srgbClr val="C00000"/>
                </a:solidFill>
              </a:rPr>
              <a:t>(x)</a:t>
            </a:r>
            <a:r>
              <a:rPr lang="en-US" dirty="0"/>
              <a:t> and is called                                                                                      	</a:t>
            </a:r>
          </a:p>
          <a:p>
            <a:pPr>
              <a:buNone/>
            </a:pPr>
            <a:r>
              <a:rPr lang="en-US" dirty="0"/>
              <a:t>			 the value of </a:t>
            </a:r>
            <a:r>
              <a:rPr lang="en-US" i="1" dirty="0">
                <a:solidFill>
                  <a:srgbClr val="C00000"/>
                </a:solidFill>
              </a:rPr>
              <a:t>f</a:t>
            </a:r>
            <a:r>
              <a:rPr lang="en-US" dirty="0"/>
              <a:t> at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, </a:t>
            </a:r>
          </a:p>
          <a:p>
            <a:pPr>
              <a:buNone/>
            </a:pPr>
            <a:r>
              <a:rPr lang="en-US" dirty="0"/>
              <a:t>				or</a:t>
            </a:r>
          </a:p>
          <a:p>
            <a:pPr>
              <a:buNone/>
            </a:pPr>
            <a:r>
              <a:rPr lang="en-US" dirty="0"/>
              <a:t>			 the image of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under </a:t>
            </a:r>
            <a:r>
              <a:rPr lang="en-US" i="1" dirty="0">
                <a:solidFill>
                  <a:srgbClr val="C00000"/>
                </a:solidFill>
              </a:rPr>
              <a:t>f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ARROW DIAGRAM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36904" y="1690688"/>
            <a:ext cx="10222006" cy="4937760"/>
          </a:xfrm>
        </p:spPr>
        <p:txBody>
          <a:bodyPr/>
          <a:lstStyle/>
          <a:p>
            <a:r>
              <a:rPr lang="en-US" dirty="0"/>
              <a:t>The definition of a function implies that the </a:t>
            </a:r>
            <a:r>
              <a:rPr lang="en-US" b="1" dirty="0">
                <a:solidFill>
                  <a:srgbClr val="C00000"/>
                </a:solidFill>
              </a:rPr>
              <a:t>arrow diagram</a:t>
            </a:r>
            <a:r>
              <a:rPr lang="en-US" dirty="0"/>
              <a:t> for a function f has the following </a:t>
            </a:r>
            <a:r>
              <a:rPr lang="en-US" b="1" dirty="0">
                <a:solidFill>
                  <a:srgbClr val="C00000"/>
                </a:solidFill>
              </a:rPr>
              <a:t>two properties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	1.</a:t>
            </a:r>
            <a:r>
              <a:rPr lang="en-US" dirty="0"/>
              <a:t>  </a:t>
            </a:r>
            <a:r>
              <a:rPr lang="en-US" dirty="0">
                <a:solidFill>
                  <a:srgbClr val="C00000"/>
                </a:solidFill>
              </a:rPr>
              <a:t>Every element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has an arrow coming out of it		    	</a:t>
            </a:r>
          </a:p>
          <a:p>
            <a:pPr>
              <a:buNone/>
            </a:pPr>
            <a:r>
              <a:rPr lang="en-US" b="1" dirty="0"/>
              <a:t>	2.</a:t>
            </a:r>
            <a:r>
              <a:rPr lang="en-US" dirty="0"/>
              <a:t>  </a:t>
            </a:r>
            <a:r>
              <a:rPr lang="en-US" dirty="0">
                <a:solidFill>
                  <a:srgbClr val="C00000"/>
                </a:solidFill>
              </a:rPr>
              <a:t>No two elements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has </a:t>
            </a:r>
            <a:r>
              <a:rPr lang="en-US" dirty="0">
                <a:solidFill>
                  <a:srgbClr val="C00000"/>
                </a:solidFill>
              </a:rPr>
              <a:t>two arrows</a:t>
            </a:r>
            <a:r>
              <a:rPr lang="en-US" dirty="0"/>
              <a:t> coming out of it that point to two different elements of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-1063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021977"/>
            <a:ext cx="8229600" cy="56477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Let X = </a:t>
            </a:r>
            <a:r>
              <a:rPr lang="en-US" dirty="0">
                <a:solidFill>
                  <a:srgbClr val="C00000"/>
                </a:solidFill>
              </a:rPr>
              <a:t>{a, b, c} </a:t>
            </a:r>
            <a:r>
              <a:rPr lang="en-US" dirty="0"/>
              <a:t>and Y = </a:t>
            </a:r>
            <a:r>
              <a:rPr lang="en-US" dirty="0">
                <a:solidFill>
                  <a:srgbClr val="C00000"/>
                </a:solidFill>
              </a:rPr>
              <a:t>{1, 2, 3, 4}.</a:t>
            </a:r>
          </a:p>
          <a:p>
            <a:r>
              <a:rPr lang="en-US" dirty="0"/>
              <a:t>Define a function </a:t>
            </a:r>
            <a:r>
              <a:rPr lang="en-US" i="1" dirty="0"/>
              <a:t>f</a:t>
            </a:r>
            <a:r>
              <a:rPr lang="en-US" dirty="0"/>
              <a:t> from X to Y by the arrow diagram.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>
              <a:buNone/>
            </a:pPr>
            <a:r>
              <a:rPr lang="en-US" dirty="0"/>
              <a:t>	f(a) = 2, f(b) = 4,and f(c) = 2 OR</a:t>
            </a:r>
          </a:p>
          <a:p>
            <a:pPr algn="ctr">
              <a:buNone/>
            </a:pPr>
            <a:r>
              <a:rPr lang="en-US" dirty="0"/>
              <a:t>	image of a = 2, image of b = 4, image of c = 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06687" y="1879534"/>
            <a:ext cx="2974041" cy="344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NONFUNCTIONS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25296" y="1550458"/>
            <a:ext cx="9829800" cy="470242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X = </a:t>
            </a:r>
            <a:r>
              <a:rPr lang="en-US" dirty="0">
                <a:solidFill>
                  <a:srgbClr val="C00000"/>
                </a:solidFill>
              </a:rPr>
              <a:t>{2, 4, 5} </a:t>
            </a:r>
            <a:r>
              <a:rPr lang="en-US" dirty="0"/>
              <a:t>to Y = </a:t>
            </a:r>
            <a:r>
              <a:rPr lang="en-US" dirty="0">
                <a:solidFill>
                  <a:srgbClr val="C00000"/>
                </a:solidFill>
              </a:rPr>
              <a:t>{1, 2, 4, 6}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		             </a:t>
            </a:r>
            <a:r>
              <a:rPr lang="en-US" b="1" dirty="0">
                <a:solidFill>
                  <a:srgbClr val="C00000"/>
                </a:solidFill>
              </a:rPr>
              <a:t>NOT A FUNCTION</a:t>
            </a:r>
            <a:r>
              <a:rPr lang="en-US" dirty="0"/>
              <a:t> 	                       </a:t>
            </a:r>
            <a:r>
              <a:rPr lang="en-US" b="1" dirty="0">
                <a:solidFill>
                  <a:srgbClr val="C00000"/>
                </a:solidFill>
              </a:rPr>
              <a:t>NOT A FUNCTION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5895" y="2149070"/>
            <a:ext cx="8003869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RANGE OF A FUNCTION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f: X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/>
              <a:t>. The range of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consists of those elements of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/>
              <a:t> that are </a:t>
            </a:r>
            <a:r>
              <a:rPr lang="en-US" dirty="0">
                <a:solidFill>
                  <a:srgbClr val="C00000"/>
                </a:solidFill>
              </a:rPr>
              <a:t>images</a:t>
            </a:r>
            <a:r>
              <a:rPr lang="en-US" dirty="0"/>
              <a:t> of elements of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Symbolically: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	Range </a:t>
            </a:r>
            <a:r>
              <a:rPr lang="en-US" dirty="0"/>
              <a:t>of </a:t>
            </a:r>
            <a:r>
              <a:rPr lang="en-US" dirty="0">
                <a:solidFill>
                  <a:srgbClr val="C00000"/>
                </a:solidFill>
              </a:rPr>
              <a:t>f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= {y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>
                <a:solidFill>
                  <a:srgbClr val="C00000"/>
                </a:solidFill>
              </a:rPr>
              <a:t>Y | y = f(x),</a:t>
            </a:r>
            <a:r>
              <a:rPr lang="en-US" dirty="0"/>
              <a:t>	for some </a:t>
            </a:r>
            <a:r>
              <a:rPr lang="en-US" dirty="0">
                <a:solidFill>
                  <a:srgbClr val="C00000"/>
                </a:solidFill>
              </a:rPr>
              <a:t>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>
                <a:solidFill>
                  <a:srgbClr val="C00000"/>
                </a:solidFill>
              </a:rPr>
              <a:t>X}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72671" y="1434353"/>
            <a:ext cx="10874188" cy="493776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range</a:t>
            </a:r>
            <a:r>
              <a:rPr lang="en-US" dirty="0"/>
              <a:t> of a function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is always a </a:t>
            </a:r>
            <a:r>
              <a:rPr lang="en-US" dirty="0">
                <a:solidFill>
                  <a:srgbClr val="C00000"/>
                </a:solidFill>
              </a:rPr>
              <a:t>subset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co-domain</a:t>
            </a:r>
            <a:r>
              <a:rPr lang="en-US" dirty="0"/>
              <a:t> of f.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range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f: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Y </a:t>
            </a:r>
            <a:r>
              <a:rPr lang="en-US" dirty="0"/>
              <a:t>is also called the </a:t>
            </a:r>
            <a:r>
              <a:rPr lang="en-US" dirty="0">
                <a:solidFill>
                  <a:srgbClr val="C00000"/>
                </a:solidFill>
              </a:rPr>
              <a:t>image of X </a:t>
            </a:r>
            <a:r>
              <a:rPr lang="en-US" dirty="0"/>
              <a:t>under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When </a:t>
            </a:r>
            <a:r>
              <a:rPr lang="en-US" dirty="0">
                <a:solidFill>
                  <a:srgbClr val="C00000"/>
                </a:solidFill>
              </a:rPr>
              <a:t>y = f(x), </a:t>
            </a:r>
            <a:r>
              <a:rPr lang="en-US" dirty="0"/>
              <a:t>then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is called the </a:t>
            </a:r>
            <a:r>
              <a:rPr lang="en-US" dirty="0">
                <a:solidFill>
                  <a:srgbClr val="C00000"/>
                </a:solidFill>
              </a:rPr>
              <a:t>pre-image of 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set of all elements of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, that are related to some </a:t>
            </a:r>
            <a:r>
              <a:rPr lang="en-US" dirty="0">
                <a:solidFill>
                  <a:srgbClr val="C00000"/>
                </a:solidFill>
              </a:rPr>
              <a:t>y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/>
              <a:t>   is called </a:t>
            </a:r>
            <a:r>
              <a:rPr lang="en-US" dirty="0">
                <a:solidFill>
                  <a:srgbClr val="C00000"/>
                </a:solidFill>
              </a:rPr>
              <a:t>the inverse image of 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731" y="806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88459" y="1219200"/>
            <a:ext cx="10515599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Determine the </a:t>
            </a:r>
            <a:r>
              <a:rPr lang="en-US" b="1" dirty="0">
                <a:solidFill>
                  <a:srgbClr val="C00000"/>
                </a:solidFill>
              </a:rPr>
              <a:t>range</a:t>
            </a:r>
            <a:r>
              <a:rPr lang="en-US" dirty="0"/>
              <a:t> of the functions </a:t>
            </a:r>
            <a:r>
              <a:rPr lang="en-US" b="1" dirty="0">
                <a:solidFill>
                  <a:srgbClr val="C00000"/>
                </a:solidFill>
              </a:rPr>
              <a:t>f, g, h </a:t>
            </a:r>
            <a:r>
              <a:rPr lang="en-US" dirty="0"/>
              <a:t>from </a:t>
            </a:r>
          </a:p>
          <a:p>
            <a:pPr>
              <a:buNone/>
            </a:pPr>
            <a:r>
              <a:rPr lang="en-US" dirty="0"/>
              <a:t>	X = </a:t>
            </a:r>
            <a:r>
              <a:rPr lang="en-US" b="1" dirty="0">
                <a:solidFill>
                  <a:srgbClr val="C00000"/>
                </a:solidFill>
              </a:rPr>
              <a:t>{2, 4, 5} </a:t>
            </a:r>
            <a:r>
              <a:rPr lang="en-US" dirty="0"/>
              <a:t>to Y = </a:t>
            </a:r>
            <a:r>
              <a:rPr lang="en-US" b="1" dirty="0">
                <a:solidFill>
                  <a:srgbClr val="C00000"/>
                </a:solidFill>
              </a:rPr>
              <a:t>{1, 2, 4, 6} </a:t>
            </a:r>
            <a:r>
              <a:rPr lang="en-US" dirty="0"/>
              <a:t>defined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pt-BR" dirty="0"/>
              <a:t>2.	g = </a:t>
            </a:r>
            <a:r>
              <a:rPr lang="pt-BR" dirty="0">
                <a:solidFill>
                  <a:srgbClr val="C00000"/>
                </a:solidFill>
              </a:rPr>
              <a:t>{ (2, 6), (4, 2), (5,1) }</a:t>
            </a:r>
          </a:p>
          <a:p>
            <a:r>
              <a:rPr lang="pt-BR" dirty="0"/>
              <a:t>3.	</a:t>
            </a:r>
            <a:r>
              <a:rPr lang="pt-BR" dirty="0">
                <a:solidFill>
                  <a:srgbClr val="C00000"/>
                </a:solidFill>
              </a:rPr>
              <a:t>h(2) = 4,	h(4) = 4,	h(5) = 1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1905000"/>
            <a:ext cx="4625788" cy="341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Range of </a:t>
            </a:r>
            <a:r>
              <a:rPr lang="en-US" dirty="0">
                <a:solidFill>
                  <a:srgbClr val="C00000"/>
                </a:solidFill>
              </a:rPr>
              <a:t>f = {1, 6}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Range of </a:t>
            </a:r>
            <a:r>
              <a:rPr lang="en-US" dirty="0">
                <a:solidFill>
                  <a:srgbClr val="C00000"/>
                </a:solidFill>
              </a:rPr>
              <a:t>g = {1, 2, 6}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Range of </a:t>
            </a:r>
            <a:r>
              <a:rPr lang="en-US" dirty="0">
                <a:solidFill>
                  <a:srgbClr val="C00000"/>
                </a:solidFill>
              </a:rPr>
              <a:t>h = {1, 4}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GRAPH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/>
              <a:t> be a real-valued function of a real variable. i.e. </a:t>
            </a:r>
            <a:r>
              <a:rPr lang="en-US" b="1" dirty="0">
                <a:solidFill>
                  <a:srgbClr val="C00000"/>
                </a:solidFill>
              </a:rPr>
              <a:t>f: R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>
                <a:solidFill>
                  <a:srgbClr val="C00000"/>
                </a:solidFill>
              </a:rPr>
              <a:t>R.</a:t>
            </a:r>
            <a:r>
              <a:rPr lang="en-US" dirty="0"/>
              <a:t> The graph of f is the set of all points (x, y) in the Cartesian coordinate plane with the property that x is in the </a:t>
            </a:r>
            <a:r>
              <a:rPr lang="en-US" b="1" dirty="0">
                <a:solidFill>
                  <a:srgbClr val="C00000"/>
                </a:solidFill>
              </a:rPr>
              <a:t>domain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y = f(x).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163419"/>
            <a:ext cx="10515600" cy="57616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93776" y="916014"/>
            <a:ext cx="10680730" cy="1262410"/>
          </a:xfrm>
        </p:spPr>
        <p:txBody>
          <a:bodyPr>
            <a:normAutofit/>
          </a:bodyPr>
          <a:lstStyle/>
          <a:p>
            <a:r>
              <a:rPr lang="en-US" sz="3200" dirty="0"/>
              <a:t>We have the function </a:t>
            </a:r>
          </a:p>
          <a:p>
            <a:pPr>
              <a:buNone/>
            </a:pPr>
            <a:r>
              <a:rPr lang="en-US" sz="3200" dirty="0"/>
              <a:t>	</a:t>
            </a:r>
            <a:r>
              <a:rPr lang="en-US" sz="3200" b="1" dirty="0">
                <a:solidFill>
                  <a:srgbClr val="C00000"/>
                </a:solidFill>
              </a:rPr>
              <a:t>y = x</a:t>
            </a:r>
            <a:r>
              <a:rPr lang="en-US" sz="3200" b="1" baseline="30000" dirty="0">
                <a:solidFill>
                  <a:srgbClr val="C00000"/>
                </a:solidFill>
              </a:rPr>
              <a:t>2</a:t>
            </a:r>
            <a:r>
              <a:rPr lang="en-US" sz="3200" dirty="0"/>
              <a:t> From set of real numbers to set of real numbers.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E84F5E2-94EA-4DF4-945C-809CC7103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47563" y="1923383"/>
            <a:ext cx="6589061" cy="493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6729" y="363502"/>
            <a:ext cx="8686800" cy="990600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VERTICAL LINE TEST FOR THE GRAPH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58906" y="1655122"/>
            <a:ext cx="11389659" cy="5108749"/>
          </a:xfrm>
        </p:spPr>
        <p:txBody>
          <a:bodyPr>
            <a:normAutofit/>
          </a:bodyPr>
          <a:lstStyle/>
          <a:p>
            <a:r>
              <a:rPr lang="en-US" sz="2400" dirty="0"/>
              <a:t>For a graph to be the graph of a function, any given vertical line in its domain intersects the graph in at most one point. 		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	For y = x</a:t>
            </a:r>
            <a:r>
              <a:rPr lang="en-US" sz="2400" b="1" baseline="30000" dirty="0">
                <a:solidFill>
                  <a:srgbClr val="C00000"/>
                </a:solidFill>
              </a:rPr>
              <a:t>2     </a:t>
            </a:r>
            <a:r>
              <a:rPr lang="en-US" sz="2400" b="1" dirty="0">
                <a:solidFill>
                  <a:srgbClr val="C00000"/>
                </a:solidFill>
              </a:rPr>
              <a:t>  </a:t>
            </a:r>
            <a:endParaRPr lang="en-US" sz="2400" b="1" baseline="30000" dirty="0">
              <a:solidFill>
                <a:srgbClr val="C00000"/>
              </a:solidFill>
            </a:endParaRP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				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 algn="ctr">
              <a:buNone/>
            </a:pPr>
            <a:r>
              <a:rPr lang="en-US" sz="2400" dirty="0"/>
              <a:t>So, it’s the </a:t>
            </a:r>
            <a:r>
              <a:rPr lang="en-US" sz="2400" b="1" dirty="0">
                <a:solidFill>
                  <a:srgbClr val="C00000"/>
                </a:solidFill>
              </a:rPr>
              <a:t>graph of a function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2282" y="2418661"/>
            <a:ext cx="4130129" cy="358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182245"/>
            <a:ext cx="10515600" cy="860171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3736" y="871729"/>
            <a:ext cx="7872984" cy="385974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Define a binary relation </a:t>
            </a:r>
            <a:r>
              <a:rPr lang="en-US" b="1" dirty="0">
                <a:solidFill>
                  <a:srgbClr val="C00000"/>
                </a:solidFill>
              </a:rPr>
              <a:t>P </a:t>
            </a:r>
            <a:r>
              <a:rPr lang="en-US" dirty="0"/>
              <a:t>from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dirty="0"/>
              <a:t> as follows: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C00000"/>
                </a:solidFill>
              </a:rPr>
              <a:t>for all </a:t>
            </a:r>
            <a:r>
              <a:rPr lang="en-US" dirty="0"/>
              <a:t>real numbers x and </a:t>
            </a:r>
            <a:r>
              <a:rPr lang="en-US" b="1" dirty="0">
                <a:solidFill>
                  <a:srgbClr val="C00000"/>
                </a:solidFill>
              </a:rPr>
              <a:t>y (x, y)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</a:t>
            </a:r>
            <a:r>
              <a:rPr lang="en-US" b="1" dirty="0">
                <a:solidFill>
                  <a:srgbClr val="C00000"/>
                </a:solidFill>
              </a:rPr>
              <a:t> P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</a:t>
            </a:r>
            <a:r>
              <a:rPr lang="en-US" b="1" dirty="0">
                <a:solidFill>
                  <a:srgbClr val="C00000"/>
                </a:solidFill>
              </a:rPr>
              <a:t> x = y</a:t>
            </a:r>
            <a:r>
              <a:rPr lang="en-US" b="1" baseline="30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                                       </a:t>
            </a:r>
          </a:p>
          <a:p>
            <a:pPr>
              <a:buNone/>
            </a:pPr>
            <a:r>
              <a:rPr lang="en-US" dirty="0"/>
              <a:t>	Is </a:t>
            </a:r>
            <a:r>
              <a:rPr lang="en-US" b="1" dirty="0">
                <a:solidFill>
                  <a:srgbClr val="C00000"/>
                </a:solidFill>
              </a:rPr>
              <a:t>P</a:t>
            </a:r>
            <a:r>
              <a:rPr lang="en-US" dirty="0"/>
              <a:t> a function?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4E4B1-70BB-4BDD-9133-EE6766C00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565" y="2314655"/>
            <a:ext cx="3899620" cy="4180274"/>
          </a:xfrm>
          <a:prstGeom prst="rect">
            <a:avLst/>
          </a:prstGeom>
        </p:spPr>
      </p:pic>
      <p:graphicFrame>
        <p:nvGraphicFramePr>
          <p:cNvPr id="5" name="Group 80">
            <a:extLst>
              <a:ext uri="{FF2B5EF4-FFF2-40B4-BE49-F238E27FC236}">
                <a16:creationId xmlns:a16="http://schemas.microsoft.com/office/drawing/2014/main" id="{59FD0DBB-3C23-43C2-ABBF-80B99DE54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795036"/>
              </p:ext>
            </p:extLst>
          </p:nvPr>
        </p:nvGraphicFramePr>
        <p:xfrm>
          <a:off x="1184149" y="2599894"/>
          <a:ext cx="2590800" cy="365190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Y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T="45731" marB="45731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E86004D-FDC0-4515-888C-4F4238FCC89B}"/>
              </a:ext>
            </a:extLst>
          </p:cNvPr>
          <p:cNvSpPr/>
          <p:nvPr/>
        </p:nvSpPr>
        <p:spPr>
          <a:xfrm>
            <a:off x="5482767" y="1929753"/>
            <a:ext cx="5646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</a:rPr>
              <a:t>The graph of the relation x = y</a:t>
            </a:r>
            <a:r>
              <a:rPr lang="en-US" altLang="en-US" sz="2000" b="1" baseline="300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</a:rPr>
              <a:t> is shown below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B2B9C20-6715-4D91-AA62-5600789F4F51}"/>
              </a:ext>
            </a:extLst>
          </p:cNvPr>
          <p:cNvSpPr txBox="1">
            <a:spLocks/>
          </p:cNvSpPr>
          <p:nvPr/>
        </p:nvSpPr>
        <p:spPr>
          <a:xfrm>
            <a:off x="3114383" y="6395402"/>
            <a:ext cx="5365825" cy="560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400" dirty="0"/>
              <a:t>This is not a </a:t>
            </a:r>
            <a:r>
              <a:rPr lang="en-US" sz="2400" b="1" dirty="0">
                <a:solidFill>
                  <a:srgbClr val="C00000"/>
                </a:solidFill>
              </a:rPr>
              <a:t>graph of a function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</a:t>
            </a:r>
            <a:r>
              <a:rPr lang="en-US" b="1" dirty="0">
                <a:solidFill>
                  <a:srgbClr val="C00000"/>
                </a:solidFill>
              </a:rPr>
              <a:t>all functions</a:t>
            </a:r>
            <a:r>
              <a:rPr lang="en-US" dirty="0"/>
              <a:t> from X = </a:t>
            </a:r>
            <a:r>
              <a:rPr lang="en-US" dirty="0">
                <a:solidFill>
                  <a:srgbClr val="C00000"/>
                </a:solidFill>
              </a:rPr>
              <a:t>{ a, b } </a:t>
            </a:r>
            <a:r>
              <a:rPr lang="en-US" dirty="0"/>
              <a:t>to Y = </a:t>
            </a:r>
            <a:r>
              <a:rPr lang="en-US" dirty="0">
                <a:solidFill>
                  <a:srgbClr val="C00000"/>
                </a:solidFill>
              </a:rPr>
              <a:t>{ u, v }</a:t>
            </a:r>
          </a:p>
          <a:p>
            <a:r>
              <a:rPr lang="en-US" b="1" u="sng" dirty="0">
                <a:solidFill>
                  <a:srgbClr val="C00000"/>
                </a:solidFill>
              </a:rPr>
              <a:t>SOLUTION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9196" y="3429000"/>
            <a:ext cx="7696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6" y="1087162"/>
            <a:ext cx="9829800" cy="3859742"/>
          </a:xfrm>
        </p:spPr>
        <p:txBody>
          <a:bodyPr/>
          <a:lstStyle/>
          <a:p>
            <a:r>
              <a:rPr lang="en-US" dirty="0"/>
              <a:t>Find </a:t>
            </a:r>
            <a:r>
              <a:rPr lang="en-US" b="1" dirty="0">
                <a:solidFill>
                  <a:srgbClr val="C00000"/>
                </a:solidFill>
              </a:rPr>
              <a:t>all functions</a:t>
            </a:r>
            <a:r>
              <a:rPr lang="en-US" dirty="0"/>
              <a:t> from X = </a:t>
            </a:r>
            <a:r>
              <a:rPr lang="en-US" dirty="0">
                <a:solidFill>
                  <a:srgbClr val="C00000"/>
                </a:solidFill>
              </a:rPr>
              <a:t>{ a, b } </a:t>
            </a:r>
            <a:r>
              <a:rPr lang="en-US" dirty="0"/>
              <a:t>to Y = </a:t>
            </a:r>
            <a:r>
              <a:rPr lang="en-US" dirty="0">
                <a:solidFill>
                  <a:srgbClr val="C00000"/>
                </a:solidFill>
              </a:rPr>
              <a:t>{ u, v }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0176" y="2418038"/>
            <a:ext cx="78486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36904" y="1499129"/>
            <a:ext cx="10952002" cy="3859742"/>
          </a:xfrm>
        </p:spPr>
        <p:txBody>
          <a:bodyPr/>
          <a:lstStyle/>
          <a:p>
            <a:r>
              <a:rPr lang="en-US" dirty="0"/>
              <a:t>Find four binary relations from X = { a, b }to Y = { u, v } that are not functions.</a:t>
            </a:r>
          </a:p>
          <a:p>
            <a:r>
              <a:rPr lang="en-US" b="1" u="sng" dirty="0">
                <a:solidFill>
                  <a:srgbClr val="C00000"/>
                </a:solidFill>
              </a:rPr>
              <a:t>SOLUTION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4222377" y="2454275"/>
            <a:ext cx="57912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6096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56763" y="1066800"/>
            <a:ext cx="10228729" cy="5638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How many functions are there from a set with three elements to a set with four elements?</a:t>
            </a:r>
          </a:p>
          <a:p>
            <a:endParaRPr lang="en-US" dirty="0"/>
          </a:p>
          <a:p>
            <a:r>
              <a:rPr lang="es-ES" b="1" u="sng" dirty="0">
                <a:solidFill>
                  <a:srgbClr val="C00000"/>
                </a:solidFill>
              </a:rPr>
              <a:t>SOLUTION</a:t>
            </a:r>
          </a:p>
          <a:p>
            <a:pPr>
              <a:buNone/>
            </a:pPr>
            <a:r>
              <a:rPr lang="es-ES" dirty="0"/>
              <a:t>	</a:t>
            </a:r>
            <a:r>
              <a:rPr lang="es-ES" dirty="0" err="1"/>
              <a:t>Let</a:t>
            </a:r>
            <a:r>
              <a:rPr lang="es-ES" dirty="0"/>
              <a:t> 		X = </a:t>
            </a:r>
            <a:r>
              <a:rPr lang="es-ES" dirty="0">
                <a:solidFill>
                  <a:srgbClr val="C00000"/>
                </a:solidFill>
              </a:rPr>
              <a:t>{x</a:t>
            </a:r>
            <a:r>
              <a:rPr lang="es-ES" baseline="-25000" dirty="0">
                <a:solidFill>
                  <a:srgbClr val="C00000"/>
                </a:solidFill>
              </a:rPr>
              <a:t>1</a:t>
            </a:r>
            <a:r>
              <a:rPr lang="es-ES" dirty="0">
                <a:solidFill>
                  <a:srgbClr val="C00000"/>
                </a:solidFill>
              </a:rPr>
              <a:t>, x</a:t>
            </a:r>
            <a:r>
              <a:rPr lang="es-ES" baseline="-25000" dirty="0">
                <a:solidFill>
                  <a:srgbClr val="C00000"/>
                </a:solidFill>
              </a:rPr>
              <a:t>2</a:t>
            </a:r>
            <a:r>
              <a:rPr lang="es-ES" dirty="0">
                <a:solidFill>
                  <a:srgbClr val="C00000"/>
                </a:solidFill>
              </a:rPr>
              <a:t>, x</a:t>
            </a:r>
            <a:r>
              <a:rPr lang="es-ES" baseline="-25000" dirty="0">
                <a:solidFill>
                  <a:srgbClr val="C00000"/>
                </a:solidFill>
              </a:rPr>
              <a:t>3</a:t>
            </a:r>
            <a:r>
              <a:rPr lang="es-ES" dirty="0">
                <a:solidFill>
                  <a:srgbClr val="C00000"/>
                </a:solidFill>
              </a:rPr>
              <a:t>} </a:t>
            </a:r>
            <a:r>
              <a:rPr lang="es-ES" dirty="0"/>
              <a:t>and</a:t>
            </a:r>
          </a:p>
          <a:p>
            <a:pPr>
              <a:buNone/>
            </a:pPr>
            <a:r>
              <a:rPr lang="es-ES" dirty="0"/>
              <a:t>	     		 Y = </a:t>
            </a:r>
            <a:r>
              <a:rPr lang="es-ES" dirty="0">
                <a:solidFill>
                  <a:srgbClr val="C00000"/>
                </a:solidFill>
              </a:rPr>
              <a:t>{y</a:t>
            </a:r>
            <a:r>
              <a:rPr lang="es-ES" baseline="-25000" dirty="0">
                <a:solidFill>
                  <a:srgbClr val="C00000"/>
                </a:solidFill>
              </a:rPr>
              <a:t>1</a:t>
            </a:r>
            <a:r>
              <a:rPr lang="es-ES" dirty="0">
                <a:solidFill>
                  <a:srgbClr val="C00000"/>
                </a:solidFill>
              </a:rPr>
              <a:t>, y</a:t>
            </a:r>
            <a:r>
              <a:rPr lang="es-ES" baseline="-25000" dirty="0">
                <a:solidFill>
                  <a:srgbClr val="C00000"/>
                </a:solidFill>
              </a:rPr>
              <a:t>2</a:t>
            </a:r>
            <a:r>
              <a:rPr lang="es-ES" dirty="0">
                <a:solidFill>
                  <a:srgbClr val="C00000"/>
                </a:solidFill>
              </a:rPr>
              <a:t>, y</a:t>
            </a:r>
            <a:r>
              <a:rPr lang="es-ES" baseline="-25000" dirty="0">
                <a:solidFill>
                  <a:srgbClr val="C00000"/>
                </a:solidFill>
              </a:rPr>
              <a:t>3</a:t>
            </a:r>
            <a:r>
              <a:rPr lang="es-ES" dirty="0">
                <a:solidFill>
                  <a:srgbClr val="C00000"/>
                </a:solidFill>
              </a:rPr>
              <a:t>, y</a:t>
            </a:r>
            <a:r>
              <a:rPr lang="es-ES" baseline="-25000" dirty="0">
                <a:solidFill>
                  <a:srgbClr val="C00000"/>
                </a:solidFill>
              </a:rPr>
              <a:t>4</a:t>
            </a:r>
            <a:r>
              <a:rPr lang="es-ES" dirty="0">
                <a:solidFill>
                  <a:srgbClr val="C00000"/>
                </a:solidFill>
              </a:rPr>
              <a:t>}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/>
              <a:t> may be related to any of the four elements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, y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, y</a:t>
            </a:r>
            <a:r>
              <a:rPr lang="en-US" baseline="-25000" dirty="0">
                <a:solidFill>
                  <a:srgbClr val="C00000"/>
                </a:solidFill>
              </a:rPr>
              <a:t>3</a:t>
            </a:r>
            <a:r>
              <a:rPr lang="en-US" dirty="0">
                <a:solidFill>
                  <a:srgbClr val="C00000"/>
                </a:solidFill>
              </a:rPr>
              <a:t>, y</a:t>
            </a:r>
            <a:r>
              <a:rPr lang="en-US" baseline="-25000" dirty="0">
                <a:solidFill>
                  <a:srgbClr val="C00000"/>
                </a:solidFill>
              </a:rPr>
              <a:t>4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 Y.</a:t>
            </a:r>
          </a:p>
          <a:p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/>
              <a:t> has </a:t>
            </a:r>
            <a:r>
              <a:rPr lang="en-US" dirty="0">
                <a:solidFill>
                  <a:srgbClr val="C00000"/>
                </a:solidFill>
              </a:rPr>
              <a:t>four</a:t>
            </a:r>
            <a:r>
              <a:rPr lang="en-US" dirty="0"/>
              <a:t> possibilities.</a:t>
            </a:r>
          </a:p>
          <a:p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has </a:t>
            </a:r>
            <a:r>
              <a:rPr lang="en-US" dirty="0">
                <a:solidFill>
                  <a:srgbClr val="C00000"/>
                </a:solidFill>
              </a:rPr>
              <a:t>four</a:t>
            </a:r>
            <a:r>
              <a:rPr lang="en-US" dirty="0"/>
              <a:t> possibilities.</a:t>
            </a:r>
          </a:p>
          <a:p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3</a:t>
            </a:r>
            <a:r>
              <a:rPr lang="en-US" dirty="0"/>
              <a:t> has </a:t>
            </a:r>
            <a:r>
              <a:rPr lang="en-US" dirty="0">
                <a:solidFill>
                  <a:srgbClr val="C00000"/>
                </a:solidFill>
              </a:rPr>
              <a:t>four</a:t>
            </a:r>
            <a:r>
              <a:rPr lang="en-US" dirty="0"/>
              <a:t> possibilities.</a:t>
            </a:r>
          </a:p>
          <a:p>
            <a:pPr algn="ctr">
              <a:buNone/>
            </a:pPr>
            <a:r>
              <a:rPr lang="en-US" dirty="0"/>
              <a:t>Total number of function </a:t>
            </a:r>
            <a:r>
              <a:rPr lang="en-US" dirty="0">
                <a:solidFill>
                  <a:srgbClr val="C00000"/>
                </a:solidFill>
              </a:rPr>
              <a:t>= 4 x 4 x 4 = 64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Suppose </a:t>
            </a:r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dirty="0"/>
              <a:t> is a set with </a:t>
            </a:r>
            <a:r>
              <a:rPr lang="en-US" b="1" dirty="0">
                <a:solidFill>
                  <a:srgbClr val="C00000"/>
                </a:solidFill>
              </a:rPr>
              <a:t>m elements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B</a:t>
            </a:r>
            <a:r>
              <a:rPr lang="en-US" dirty="0"/>
              <a:t> is a set with </a:t>
            </a:r>
            <a:r>
              <a:rPr lang="en-US" b="1" dirty="0">
                <a:solidFill>
                  <a:srgbClr val="C00000"/>
                </a:solidFill>
              </a:rPr>
              <a:t>n elements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How many </a:t>
            </a:r>
            <a:r>
              <a:rPr lang="en-US" dirty="0">
                <a:solidFill>
                  <a:srgbClr val="C00000"/>
                </a:solidFill>
              </a:rPr>
              <a:t>functions</a:t>
            </a:r>
            <a:r>
              <a:rPr lang="en-US" dirty="0"/>
              <a:t> are there from </a:t>
            </a:r>
            <a:r>
              <a:rPr lang="en-US" dirty="0">
                <a:solidFill>
                  <a:srgbClr val="C00000"/>
                </a:solidFill>
              </a:rPr>
              <a:t>A to B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r>
              <a:rPr lang="en-US" b="1" u="sng" dirty="0"/>
              <a:t>SOLUTION:</a:t>
            </a:r>
            <a:endParaRPr lang="en-US" dirty="0"/>
          </a:p>
          <a:p>
            <a:pPr>
              <a:buNone/>
            </a:pPr>
            <a:r>
              <a:rPr lang="en-US" dirty="0"/>
              <a:t>	Number of functions from</a:t>
            </a:r>
          </a:p>
          <a:p>
            <a:pPr>
              <a:buNone/>
            </a:pPr>
            <a:r>
              <a:rPr lang="en-US" dirty="0"/>
              <a:t>	 </a:t>
            </a:r>
            <a:r>
              <a:rPr lang="en-US" b="1" dirty="0">
                <a:solidFill>
                  <a:srgbClr val="C00000"/>
                </a:solidFill>
              </a:rPr>
              <a:t>A to B = </a:t>
            </a:r>
            <a:r>
              <a:rPr lang="en-US" b="1" dirty="0" err="1">
                <a:solidFill>
                  <a:srgbClr val="C00000"/>
                </a:solidFill>
              </a:rPr>
              <a:t>n.n.n</a:t>
            </a:r>
            <a:r>
              <a:rPr lang="en-US" b="1" dirty="0">
                <a:solidFill>
                  <a:srgbClr val="C00000"/>
                </a:solidFill>
              </a:rPr>
              <a:t>. … .n       </a:t>
            </a:r>
            <a:r>
              <a:rPr lang="en-US" b="1" dirty="0">
                <a:solidFill>
                  <a:srgbClr val="0070C0"/>
                </a:solidFill>
              </a:rPr>
              <a:t>(m times)</a:t>
            </a:r>
            <a:r>
              <a:rPr lang="en-US" dirty="0"/>
              <a:t>			    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b="1" dirty="0">
                <a:solidFill>
                  <a:srgbClr val="C00000"/>
                </a:solidFill>
              </a:rPr>
              <a:t>= n</a:t>
            </a:r>
            <a:r>
              <a:rPr lang="en-US" b="1" baseline="30000" dirty="0">
                <a:solidFill>
                  <a:srgbClr val="C00000"/>
                </a:solidFill>
              </a:rPr>
              <a:t> m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FUNCTIONS NOT WELL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Determine whether f is a function from Z to R if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16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856891"/>
              </p:ext>
            </p:extLst>
          </p:nvPr>
        </p:nvGraphicFramePr>
        <p:xfrm>
          <a:off x="2483223" y="2545567"/>
          <a:ext cx="6323798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r:id="rId3" imgW="2781300" imgH="901700" progId="">
                  <p:embed/>
                </p:oleObj>
              </mc:Choice>
              <mc:Fallback>
                <p:oleObj r:id="rId3" imgW="2781300" imgH="901700" progId="">
                  <p:embed/>
                  <p:pic>
                    <p:nvPicPr>
                      <p:cNvPr id="716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223" y="2545567"/>
                        <a:ext cx="6323798" cy="2590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NOT well defined </a:t>
            </a:r>
            <a:r>
              <a:rPr lang="en-US" dirty="0"/>
              <a:t>since each </a:t>
            </a:r>
            <a:r>
              <a:rPr lang="en-US" b="1" dirty="0">
                <a:solidFill>
                  <a:srgbClr val="C00000"/>
                </a:solidFill>
              </a:rPr>
              <a:t>integer n </a:t>
            </a:r>
            <a:r>
              <a:rPr lang="en-US" dirty="0"/>
              <a:t>has two images </a:t>
            </a:r>
            <a:r>
              <a:rPr lang="en-US" b="1" dirty="0">
                <a:solidFill>
                  <a:srgbClr val="C00000"/>
                </a:solidFill>
              </a:rPr>
              <a:t>+n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–n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NOT well defined </a:t>
            </a:r>
            <a:r>
              <a:rPr lang="en-US" dirty="0"/>
              <a:t>since </a:t>
            </a:r>
            <a:r>
              <a:rPr lang="en-US" b="1" dirty="0">
                <a:solidFill>
                  <a:srgbClr val="C00000"/>
                </a:solidFill>
              </a:rPr>
              <a:t>f(2)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f(-2) </a:t>
            </a:r>
            <a:r>
              <a:rPr lang="en-US" dirty="0"/>
              <a:t>are not defined.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is NOT defined </a:t>
            </a:r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n &lt; 0 </a:t>
            </a:r>
            <a:r>
              <a:rPr lang="en-US" dirty="0"/>
              <a:t>since f then results in </a:t>
            </a:r>
            <a:r>
              <a:rPr lang="en-US" b="1" dirty="0">
                <a:solidFill>
                  <a:srgbClr val="C00000"/>
                </a:solidFill>
              </a:rPr>
              <a:t>imaginary</a:t>
            </a:r>
            <a:r>
              <a:rPr lang="en-US" dirty="0"/>
              <a:t> values (not real).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b="1" dirty="0">
                <a:solidFill>
                  <a:srgbClr val="C00000"/>
                </a:solidFill>
              </a:rPr>
              <a:t>f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well defined </a:t>
            </a:r>
            <a:r>
              <a:rPr lang="en-US" dirty="0"/>
              <a:t>because each integer has </a:t>
            </a:r>
            <a:r>
              <a:rPr lang="en-US" b="1" dirty="0">
                <a:solidFill>
                  <a:srgbClr val="C00000"/>
                </a:solidFill>
              </a:rPr>
              <a:t>unique</a:t>
            </a:r>
            <a:r>
              <a:rPr lang="en-US" dirty="0"/>
              <a:t> (one and only one) image in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dirty="0"/>
              <a:t> under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Student </a:t>
            </a:r>
            <a:r>
              <a:rPr lang="en-US" b="1" dirty="0">
                <a:solidFill>
                  <a:srgbClr val="C00000"/>
                </a:solidFill>
              </a:rPr>
              <a:t>B</a:t>
            </a:r>
            <a:r>
              <a:rPr lang="en-US" dirty="0"/>
              <a:t> tries to define a function </a:t>
            </a:r>
            <a:r>
              <a:rPr lang="en-US" b="1" dirty="0">
                <a:solidFill>
                  <a:srgbClr val="C00000"/>
                </a:solidFill>
              </a:rPr>
              <a:t>h : Q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>
                <a:solidFill>
                  <a:srgbClr val="C00000"/>
                </a:solidFill>
              </a:rPr>
              <a:t> Q </a:t>
            </a:r>
            <a:r>
              <a:rPr lang="en-US" dirty="0"/>
              <a:t>by the rule.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all integers </a:t>
            </a:r>
            <a:r>
              <a:rPr lang="en-US" b="1" dirty="0">
                <a:solidFill>
                  <a:srgbClr val="C00000"/>
                </a:solidFill>
              </a:rPr>
              <a:t>m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n</a:t>
            </a:r>
            <a:r>
              <a:rPr lang="en-US" dirty="0"/>
              <a:t> with </a:t>
            </a:r>
            <a:r>
              <a:rPr lang="en-US" b="1" dirty="0">
                <a:solidFill>
                  <a:srgbClr val="C00000"/>
                </a:solidFill>
              </a:rPr>
              <a:t>n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</a:t>
            </a:r>
            <a:r>
              <a:rPr lang="en-US" b="1" dirty="0">
                <a:solidFill>
                  <a:srgbClr val="C00000"/>
                </a:solidFill>
              </a:rPr>
              <a:t> 0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Students </a:t>
            </a:r>
            <a:r>
              <a:rPr lang="en-US" b="1" dirty="0">
                <a:solidFill>
                  <a:srgbClr val="C00000"/>
                </a:solidFill>
              </a:rPr>
              <a:t>C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claims</a:t>
            </a:r>
            <a:r>
              <a:rPr lang="en-US" dirty="0"/>
              <a:t> that h is not well defined. Justify Student </a:t>
            </a:r>
            <a:r>
              <a:rPr lang="en-US" b="1" dirty="0">
                <a:solidFill>
                  <a:srgbClr val="C00000"/>
                </a:solidFill>
              </a:rPr>
              <a:t>C’s claim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075941"/>
              </p:ext>
            </p:extLst>
          </p:nvPr>
        </p:nvGraphicFramePr>
        <p:xfrm>
          <a:off x="5035296" y="2348753"/>
          <a:ext cx="1524000" cy="874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r:id="rId3" imgW="774360" imgH="444240" progId="">
                  <p:embed/>
                </p:oleObj>
              </mc:Choice>
              <mc:Fallback>
                <p:oleObj r:id="rId3" imgW="774360" imgH="444240" progId="">
                  <p:embed/>
                  <p:pic>
                    <p:nvPicPr>
                      <p:cNvPr id="378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296" y="2348753"/>
                        <a:ext cx="1524000" cy="8744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6"/>
            <a:ext cx="10515600" cy="872004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99247" y="1237130"/>
            <a:ext cx="11214847" cy="5443490"/>
          </a:xfrm>
        </p:spPr>
        <p:txBody>
          <a:bodyPr>
            <a:normAutofit/>
          </a:bodyPr>
          <a:lstStyle/>
          <a:p>
            <a:r>
              <a:rPr lang="en-US" sz="2400" dirty="0"/>
              <a:t>The function </a:t>
            </a:r>
            <a:r>
              <a:rPr lang="en-US" sz="2400" b="1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 is well defined if each </a:t>
            </a:r>
            <a:r>
              <a:rPr lang="en-US" sz="2400" b="1" dirty="0">
                <a:solidFill>
                  <a:srgbClr val="C00000"/>
                </a:solidFill>
              </a:rPr>
              <a:t>rational number </a:t>
            </a:r>
            <a:r>
              <a:rPr lang="en-US" sz="2400" dirty="0"/>
              <a:t>has a </a:t>
            </a:r>
            <a:r>
              <a:rPr lang="en-US" sz="2400" b="1" dirty="0">
                <a:solidFill>
                  <a:srgbClr val="C00000"/>
                </a:solidFill>
              </a:rPr>
              <a:t>unique</a:t>
            </a:r>
            <a:r>
              <a:rPr lang="en-US" sz="2400" dirty="0"/>
              <a:t> (one and only one) image.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Hence an element of </a:t>
            </a:r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dirty="0"/>
              <a:t> has more than </a:t>
            </a:r>
            <a:r>
              <a:rPr lang="en-US" sz="2400" b="1" dirty="0">
                <a:solidFill>
                  <a:srgbClr val="C00000"/>
                </a:solidFill>
              </a:rPr>
              <a:t>one images </a:t>
            </a:r>
            <a:r>
              <a:rPr lang="en-US" sz="2400" dirty="0"/>
              <a:t>under h.  Accordingly </a:t>
            </a:r>
            <a:r>
              <a:rPr lang="en-US" sz="2400" b="1" dirty="0">
                <a:solidFill>
                  <a:srgbClr val="C00000"/>
                </a:solidFill>
              </a:rPr>
              <a:t>h is not well defined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764480"/>
              </p:ext>
            </p:extLst>
          </p:nvPr>
        </p:nvGraphicFramePr>
        <p:xfrm>
          <a:off x="4585447" y="1859984"/>
          <a:ext cx="2209800" cy="78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r:id="rId3" imgW="1091880" imgH="393480" progId="">
                  <p:embed/>
                </p:oleObj>
              </mc:Choice>
              <mc:Fallback>
                <p:oleObj r:id="rId3" imgW="1091880" imgH="393480" progId="">
                  <p:embed/>
                  <p:pic>
                    <p:nvPicPr>
                      <p:cNvPr id="389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447" y="1859984"/>
                        <a:ext cx="2209800" cy="7849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096940"/>
              </p:ext>
            </p:extLst>
          </p:nvPr>
        </p:nvGraphicFramePr>
        <p:xfrm>
          <a:off x="4191001" y="2688455"/>
          <a:ext cx="3276600" cy="2540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r:id="rId5" imgW="1193760" imgH="1307880" progId="">
                  <p:embed/>
                </p:oleObj>
              </mc:Choice>
              <mc:Fallback>
                <p:oleObj r:id="rId5" imgW="1193760" imgH="1307880" progId="">
                  <p:embed/>
                  <p:pic>
                    <p:nvPicPr>
                      <p:cNvPr id="389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2688455"/>
                        <a:ext cx="3276600" cy="25408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8001000" y="2895600"/>
            <a:ext cx="2286000" cy="16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Hence, an element of ‘</a:t>
            </a:r>
            <a:r>
              <a:rPr lang="en-US" b="1" dirty="0">
                <a:solidFill>
                  <a:srgbClr val="C00000"/>
                </a:solidFill>
              </a:rPr>
              <a:t>h</a:t>
            </a:r>
            <a:r>
              <a:rPr lang="en-US" dirty="0">
                <a:solidFill>
                  <a:schemeClr val="tx1"/>
                </a:solidFill>
              </a:rPr>
              <a:t>’ has more than </a:t>
            </a:r>
            <a:r>
              <a:rPr lang="en-US" b="1" dirty="0">
                <a:solidFill>
                  <a:srgbClr val="C00000"/>
                </a:solidFill>
              </a:rPr>
              <a:t>two images</a:t>
            </a:r>
            <a:r>
              <a:rPr lang="en-US" dirty="0">
                <a:solidFill>
                  <a:schemeClr val="tx1"/>
                </a:solidFill>
              </a:rPr>
              <a:t> so </a:t>
            </a:r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dirty="0">
                <a:solidFill>
                  <a:schemeClr val="tx1"/>
                </a:solidFill>
              </a:rPr>
              <a:t> a function.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u="sng" dirty="0">
                <a:solidFill>
                  <a:srgbClr val="00B050"/>
                </a:solidFill>
              </a:rPr>
              <a:t>Mathematical Formulation of Function’s Properties:</a:t>
            </a:r>
          </a:p>
          <a:p>
            <a:pPr>
              <a:buNone/>
            </a:pPr>
            <a:endParaRPr lang="en-US" u="sng" dirty="0">
              <a:solidFill>
                <a:srgbClr val="00B050"/>
              </a:solidFill>
            </a:endParaRPr>
          </a:p>
          <a:p>
            <a:r>
              <a:rPr lang="en-US" dirty="0"/>
              <a:t>A function </a:t>
            </a:r>
            <a:r>
              <a:rPr lang="en-US" b="1" dirty="0">
                <a:solidFill>
                  <a:srgbClr val="C00000"/>
                </a:solidFill>
              </a:rPr>
              <a:t>f: X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>
                <a:solidFill>
                  <a:srgbClr val="C00000"/>
                </a:solidFill>
              </a:rPr>
              <a:t> Y </a:t>
            </a:r>
            <a:r>
              <a:rPr lang="en-US" dirty="0"/>
              <a:t>is well defined </a:t>
            </a:r>
            <a:r>
              <a:rPr lang="en-US" dirty="0" err="1"/>
              <a:t>iff</a:t>
            </a:r>
            <a:r>
              <a:rPr lang="en-US" dirty="0"/>
              <a:t>  </a:t>
            </a:r>
          </a:p>
          <a:p>
            <a:pPr>
              <a:buNone/>
            </a:pPr>
            <a:r>
              <a:rPr lang="en-US" dirty="0">
                <a:sym typeface="Symbol"/>
              </a:rPr>
              <a:t>			</a:t>
            </a:r>
          </a:p>
          <a:p>
            <a:pPr>
              <a:buNone/>
            </a:pPr>
            <a:r>
              <a:rPr lang="en-US" dirty="0">
                <a:sym typeface="Symbol"/>
              </a:rPr>
              <a:t>			</a:t>
            </a:r>
            <a:r>
              <a:rPr lang="en-US" b="1" dirty="0">
                <a:sym typeface="Symbol"/>
              </a:rPr>
              <a:t></a:t>
            </a:r>
            <a:r>
              <a:rPr lang="en-US" b="1" dirty="0">
                <a:solidFill>
                  <a:srgbClr val="C00000"/>
                </a:solidFill>
              </a:rPr>
              <a:t> x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, x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b="1" dirty="0">
                <a:solidFill>
                  <a:srgbClr val="C00000"/>
                </a:solidFill>
              </a:rPr>
              <a:t>X,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if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 = x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then </a:t>
            </a:r>
            <a:r>
              <a:rPr lang="en-US" b="1" dirty="0">
                <a:solidFill>
                  <a:srgbClr val="C00000"/>
                </a:solidFill>
              </a:rPr>
              <a:t>f(x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) = f(x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Means an element can not have two images.  Rephrase the properties of function.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2728-FBCC-4269-AB40-42867BA2D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1BAAC-E476-4A36-80F6-3D22EB93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870448" cy="393192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C00000"/>
                </a:solidFill>
              </a:rPr>
              <a:t>Injective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ONE-TO-ONE Function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C00000"/>
                </a:solidFill>
              </a:rPr>
              <a:t>Surjective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ON-TO Function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C00000"/>
                </a:solidFill>
              </a:rPr>
              <a:t>Bijective Function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C00000"/>
                </a:solidFill>
              </a:rPr>
              <a:t>Identity Function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C00000"/>
                </a:solidFill>
              </a:rPr>
              <a:t>Constant Function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39331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 </a:t>
            </a:r>
            <a:r>
              <a:rPr lang="en-US" sz="3600" b="1" u="sng" dirty="0">
                <a:solidFill>
                  <a:srgbClr val="0070C0"/>
                </a:solidFill>
              </a:rPr>
              <a:t>ONE-TO-ONE FUNCTION / INJECTIVE FUNCTION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36903" y="1499129"/>
            <a:ext cx="10515599" cy="3859742"/>
          </a:xfrm>
        </p:spPr>
        <p:txBody>
          <a:bodyPr>
            <a:normAutofit/>
          </a:bodyPr>
          <a:lstStyle/>
          <a:p>
            <a:r>
              <a:rPr lang="en-US" sz="2400" dirty="0"/>
              <a:t>Let </a:t>
            </a:r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sz="2400" dirty="0"/>
              <a:t>: X 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dirty="0">
                <a:sym typeface="Symbol"/>
              </a:rPr>
              <a:t> </a:t>
            </a:r>
            <a:r>
              <a:rPr lang="en-US" sz="2400" dirty="0"/>
              <a:t>Y be a </a:t>
            </a:r>
            <a:r>
              <a:rPr lang="en-US" sz="2400" b="1" dirty="0">
                <a:solidFill>
                  <a:srgbClr val="C00000"/>
                </a:solidFill>
              </a:rPr>
              <a:t>function</a:t>
            </a:r>
            <a:r>
              <a:rPr lang="en-US" sz="2400" dirty="0"/>
              <a:t>. </a:t>
            </a:r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C00000"/>
                </a:solidFill>
              </a:rPr>
              <a:t>injective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one-to-one </a:t>
            </a:r>
            <a:r>
              <a:rPr lang="en-US" sz="2400" dirty="0"/>
              <a:t>if, and only if, </a:t>
            </a:r>
            <a:r>
              <a:rPr lang="en-US" sz="2400" dirty="0">
                <a:sym typeface="Symbol"/>
              </a:rPr>
              <a:t>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, if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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 then </a:t>
            </a:r>
            <a:r>
              <a:rPr lang="en-US" sz="2400" dirty="0">
                <a:solidFill>
                  <a:srgbClr val="C00000"/>
                </a:solidFill>
              </a:rPr>
              <a:t>f(x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)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</a:t>
            </a:r>
            <a:r>
              <a:rPr lang="en-US" sz="2400" dirty="0">
                <a:solidFill>
                  <a:srgbClr val="C00000"/>
                </a:solidFill>
              </a:rPr>
              <a:t> f(x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).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/>
              <a:t>That is, </a:t>
            </a:r>
            <a:r>
              <a:rPr lang="en-US" sz="2400" b="1" dirty="0">
                <a:solidFill>
                  <a:srgbClr val="C00000"/>
                </a:solidFill>
              </a:rPr>
              <a:t>f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rgbClr val="C00000"/>
                </a:solidFill>
              </a:rPr>
              <a:t>one-to-one</a:t>
            </a:r>
            <a:r>
              <a:rPr lang="en-US" sz="2400" dirty="0"/>
              <a:t> if it maps </a:t>
            </a:r>
            <a:r>
              <a:rPr lang="en-US" sz="2400" b="1" dirty="0">
                <a:solidFill>
                  <a:srgbClr val="C00000"/>
                </a:solidFill>
              </a:rPr>
              <a:t>distinct points </a:t>
            </a:r>
            <a:r>
              <a:rPr lang="en-US" sz="2400" dirty="0"/>
              <a:t>of the </a:t>
            </a:r>
            <a:r>
              <a:rPr lang="en-US" sz="2400" b="1" dirty="0">
                <a:solidFill>
                  <a:srgbClr val="C00000"/>
                </a:solidFill>
              </a:rPr>
              <a:t>domain</a:t>
            </a:r>
            <a:r>
              <a:rPr lang="en-US" sz="2400" dirty="0"/>
              <a:t> into the </a:t>
            </a:r>
            <a:r>
              <a:rPr lang="en-US" sz="2400" b="1" dirty="0">
                <a:solidFill>
                  <a:srgbClr val="C00000"/>
                </a:solidFill>
              </a:rPr>
              <a:t>distinct points </a:t>
            </a:r>
            <a:r>
              <a:rPr lang="en-US" sz="2400" dirty="0"/>
              <a:t>of the </a:t>
            </a:r>
            <a:r>
              <a:rPr lang="en-US" sz="2400" b="1" dirty="0">
                <a:solidFill>
                  <a:srgbClr val="C00000"/>
                </a:solidFill>
              </a:rPr>
              <a:t>co-domain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4483" y="3756212"/>
            <a:ext cx="3204882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FUNCTION NOT ONE-TO-ONE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6" y="1438835"/>
            <a:ext cx="9829800" cy="4332003"/>
          </a:xfrm>
        </p:spPr>
        <p:txBody>
          <a:bodyPr>
            <a:normAutofit/>
          </a:bodyPr>
          <a:lstStyle/>
          <a:p>
            <a:r>
              <a:rPr lang="en-US" sz="2400" dirty="0"/>
              <a:t>A function </a:t>
            </a:r>
            <a:r>
              <a:rPr lang="en-US" sz="2400" dirty="0">
                <a:solidFill>
                  <a:srgbClr val="C00000"/>
                </a:solidFill>
              </a:rPr>
              <a:t>f</a:t>
            </a:r>
            <a:r>
              <a:rPr lang="en-US" sz="2400" dirty="0"/>
              <a:t>: X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dirty="0"/>
              <a:t>Y is </a:t>
            </a:r>
            <a:r>
              <a:rPr lang="en-US" sz="2400" dirty="0">
                <a:solidFill>
                  <a:srgbClr val="C00000"/>
                </a:solidFill>
              </a:rPr>
              <a:t>not one-to-one </a:t>
            </a:r>
            <a:r>
              <a:rPr lang="en-US" sz="2400" dirty="0" err="1"/>
              <a:t>iff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there exist </a:t>
            </a:r>
            <a:r>
              <a:rPr lang="en-US" sz="2400" dirty="0"/>
              <a:t>elements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 such that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</a:t>
            </a:r>
            <a:r>
              <a:rPr lang="en-US" sz="2400" dirty="0">
                <a:solidFill>
                  <a:srgbClr val="C00000"/>
                </a:solidFill>
              </a:rPr>
              <a:t> 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but  </a:t>
            </a:r>
            <a:r>
              <a:rPr lang="en-US" sz="2400" dirty="0">
                <a:solidFill>
                  <a:srgbClr val="C00000"/>
                </a:solidFill>
              </a:rPr>
              <a:t>f(x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) = f(x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).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/>
              <a:t>That is, if</a:t>
            </a:r>
            <a:r>
              <a:rPr lang="en-US" sz="2400" dirty="0">
                <a:solidFill>
                  <a:srgbClr val="C00000"/>
                </a:solidFill>
              </a:rPr>
              <a:t> distinct elements  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  can found in </a:t>
            </a:r>
            <a:r>
              <a:rPr lang="en-US" sz="2400" dirty="0">
                <a:solidFill>
                  <a:srgbClr val="C00000"/>
                </a:solidFill>
              </a:rPr>
              <a:t>domain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C00000"/>
                </a:solidFill>
              </a:rPr>
              <a:t>f</a:t>
            </a:r>
            <a:r>
              <a:rPr lang="en-US" sz="2400" dirty="0"/>
              <a:t> then they have the </a:t>
            </a:r>
            <a:r>
              <a:rPr lang="en-US" sz="2400" dirty="0">
                <a:solidFill>
                  <a:srgbClr val="C00000"/>
                </a:solidFill>
              </a:rPr>
              <a:t>same function value</a:t>
            </a:r>
            <a:r>
              <a:rPr lang="en-US" sz="2400" dirty="0"/>
              <a:t>.</a:t>
            </a:r>
          </a:p>
          <a:p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5976" y="3749675"/>
            <a:ext cx="6477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04900" y="1569720"/>
            <a:ext cx="9829800" cy="3859742"/>
          </a:xfrm>
        </p:spPr>
        <p:txBody>
          <a:bodyPr>
            <a:normAutofit/>
          </a:bodyPr>
          <a:lstStyle/>
          <a:p>
            <a:r>
              <a:rPr lang="en-US" sz="2400" dirty="0"/>
              <a:t>Which of the </a:t>
            </a:r>
            <a:r>
              <a:rPr lang="en-US" sz="2400" b="1" dirty="0">
                <a:solidFill>
                  <a:srgbClr val="C00000"/>
                </a:solidFill>
              </a:rPr>
              <a:t>arrow diagrams </a:t>
            </a:r>
            <a:r>
              <a:rPr lang="en-US" sz="2400" dirty="0"/>
              <a:t>define </a:t>
            </a:r>
            <a:r>
              <a:rPr lang="en-US" sz="2400" b="1" dirty="0">
                <a:solidFill>
                  <a:srgbClr val="C00000"/>
                </a:solidFill>
              </a:rPr>
              <a:t>one-to-one functions</a:t>
            </a:r>
            <a:r>
              <a:rPr lang="en-US" sz="2400" dirty="0"/>
              <a:t>?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2133600"/>
            <a:ext cx="6553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292096" y="5440680"/>
            <a:ext cx="3505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 Black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Arial Black" pitchFamily="34" charset="0"/>
              </a:rPr>
              <a:t>is</a:t>
            </a:r>
            <a:r>
              <a:rPr lang="en-US" dirty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Arial Black" pitchFamily="34" charset="0"/>
              </a:rPr>
              <a:t>one-to-one</a:t>
            </a:r>
            <a:r>
              <a:rPr lang="en-US" dirty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Arial Black" pitchFamily="34" charset="0"/>
              </a:rPr>
              <a:t>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1720" y="5440680"/>
            <a:ext cx="3886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 Black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Arial Black" pitchFamily="34" charset="0"/>
              </a:rPr>
              <a:t>is NOT </a:t>
            </a:r>
            <a:r>
              <a:rPr lang="en-US" dirty="0">
                <a:solidFill>
                  <a:srgbClr val="C00000"/>
                </a:solidFill>
                <a:latin typeface="Arial Black" pitchFamily="34" charset="0"/>
              </a:rPr>
              <a:t>one-to-one</a:t>
            </a:r>
            <a:r>
              <a:rPr lang="en-US" dirty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Arial Black" pitchFamily="34" charset="0"/>
              </a:rPr>
              <a:t>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3238500"/>
            <a:ext cx="3619500" cy="361950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907212" y="1062831"/>
            <a:ext cx="10515600" cy="217566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Which of the following function is injective (one-to-one) 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f: 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N, f(x) = 5x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f: Z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+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Z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+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, f(x)=x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f: RR, f(x)=x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		</a:t>
            </a:r>
            <a:endParaRPr lang="en-US" baseline="30000" dirty="0">
              <a:latin typeface="Cambria Math" panose="02040503050406030204" pitchFamily="18" charset="0"/>
              <a:ea typeface="Cambria Math" panose="020405030504060302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57FC23-C9B1-4964-A44E-874054A759F2}"/>
              </a:ext>
            </a:extLst>
          </p:cNvPr>
          <p:cNvSpPr txBox="1">
            <a:spLocks/>
          </p:cNvSpPr>
          <p:nvPr/>
        </p:nvSpPr>
        <p:spPr>
          <a:xfrm>
            <a:off x="539496" y="365126"/>
            <a:ext cx="10515600" cy="69770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C72C5A-B0A7-4F9B-801D-FD709151A1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015" y="2632682"/>
            <a:ext cx="461963" cy="3978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5D170C-68D0-4B78-911F-16323D689A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602" y="1588524"/>
            <a:ext cx="342900" cy="3924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7CF320-15CE-42A8-A4A9-E3EF35EF40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926" y="2115115"/>
            <a:ext cx="342900" cy="3924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D35E75-A063-40D8-85DE-7274535B5BD3}"/>
              </a:ext>
            </a:extLst>
          </p:cNvPr>
          <p:cNvSpPr txBox="1"/>
          <p:nvPr/>
        </p:nvSpPr>
        <p:spPr>
          <a:xfrm>
            <a:off x="5384694" y="2632682"/>
            <a:ext cx="3033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since (-x)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= (x)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29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46412" y="1488141"/>
            <a:ext cx="10408024" cy="5248835"/>
          </a:xfrm>
        </p:spPr>
        <p:txBody>
          <a:bodyPr>
            <a:normAutofit/>
          </a:bodyPr>
          <a:lstStyle/>
          <a:p>
            <a:r>
              <a:rPr lang="en-US" sz="2400" dirty="0"/>
              <a:t>Find all </a:t>
            </a:r>
            <a:r>
              <a:rPr lang="en-US" sz="2400" b="1" dirty="0">
                <a:solidFill>
                  <a:srgbClr val="C00000"/>
                </a:solidFill>
              </a:rPr>
              <a:t>one-to-one</a:t>
            </a:r>
            <a:r>
              <a:rPr lang="en-US" sz="2400" dirty="0"/>
              <a:t> functions from X = </a:t>
            </a:r>
            <a:r>
              <a:rPr lang="en-US" sz="2400" dirty="0">
                <a:solidFill>
                  <a:srgbClr val="C00000"/>
                </a:solidFill>
              </a:rPr>
              <a:t>{ a, b } </a:t>
            </a:r>
            <a:r>
              <a:rPr lang="en-US" sz="2400" dirty="0"/>
              <a:t>to Y = </a:t>
            </a:r>
            <a:r>
              <a:rPr lang="en-US" sz="2400" dirty="0">
                <a:solidFill>
                  <a:srgbClr val="C00000"/>
                </a:solidFill>
              </a:rPr>
              <a:t>{ u, v }</a:t>
            </a:r>
          </a:p>
          <a:p>
            <a:r>
              <a:rPr lang="en-US" sz="2400" b="1" u="sng" dirty="0">
                <a:solidFill>
                  <a:srgbClr val="C00000"/>
                </a:solidFill>
              </a:rPr>
              <a:t>SOLUTION</a:t>
            </a:r>
            <a:r>
              <a:rPr lang="en-US" sz="2400" b="1" u="sng" dirty="0"/>
              <a:t>:</a:t>
            </a:r>
          </a:p>
          <a:p>
            <a:r>
              <a:rPr lang="en-US" sz="2400" dirty="0"/>
              <a:t>There are </a:t>
            </a:r>
            <a:r>
              <a:rPr lang="en-US" sz="2400" dirty="0">
                <a:solidFill>
                  <a:srgbClr val="C00000"/>
                </a:solidFill>
              </a:rPr>
              <a:t>two one-to-one functions </a:t>
            </a:r>
            <a:r>
              <a:rPr lang="en-US" sz="2400" dirty="0"/>
              <a:t>from X to Y defined by the arrow diagrams.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algn="ctr">
              <a:buNone/>
            </a:pPr>
            <a:r>
              <a:rPr lang="en-US" sz="2400" dirty="0"/>
              <a:t>We have only </a:t>
            </a:r>
            <a:r>
              <a:rPr lang="en-US" sz="2400" b="1" dirty="0">
                <a:solidFill>
                  <a:srgbClr val="C00000"/>
                </a:solidFill>
              </a:rPr>
              <a:t>two one-to-one functions</a:t>
            </a:r>
            <a:r>
              <a:rPr lang="en-US" sz="2400" dirty="0"/>
              <a:t>.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6235" y="2819401"/>
            <a:ext cx="5795684" cy="2819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6" y="1911095"/>
            <a:ext cx="9829800" cy="4581779"/>
          </a:xfrm>
        </p:spPr>
        <p:txBody>
          <a:bodyPr>
            <a:normAutofit/>
          </a:bodyPr>
          <a:lstStyle/>
          <a:p>
            <a:r>
              <a:rPr lang="en-US" sz="2400" dirty="0"/>
              <a:t>How many </a:t>
            </a:r>
            <a:r>
              <a:rPr lang="en-US" sz="2400" b="1" dirty="0">
                <a:solidFill>
                  <a:srgbClr val="C00000"/>
                </a:solidFill>
              </a:rPr>
              <a:t>one-to-one</a:t>
            </a:r>
            <a:r>
              <a:rPr lang="en-US" sz="2400" dirty="0"/>
              <a:t> functions are there from a </a:t>
            </a:r>
            <a:r>
              <a:rPr lang="en-US" sz="2400" b="1" dirty="0">
                <a:solidFill>
                  <a:srgbClr val="C00000"/>
                </a:solidFill>
              </a:rPr>
              <a:t>set</a:t>
            </a:r>
            <a:r>
              <a:rPr lang="en-US" sz="2400" dirty="0"/>
              <a:t> with </a:t>
            </a:r>
            <a:r>
              <a:rPr lang="en-US" sz="2400" b="1" dirty="0">
                <a:solidFill>
                  <a:srgbClr val="C00000"/>
                </a:solidFill>
              </a:rPr>
              <a:t>three elements </a:t>
            </a:r>
            <a:r>
              <a:rPr lang="en-US" sz="2400" dirty="0"/>
              <a:t>to a </a:t>
            </a:r>
            <a:r>
              <a:rPr lang="en-US" sz="2400" b="1" dirty="0">
                <a:solidFill>
                  <a:srgbClr val="C00000"/>
                </a:solidFill>
              </a:rPr>
              <a:t>set</a:t>
            </a:r>
            <a:r>
              <a:rPr lang="en-US" sz="2400" dirty="0"/>
              <a:t> with </a:t>
            </a:r>
            <a:r>
              <a:rPr lang="en-US" sz="2400" b="1" dirty="0">
                <a:solidFill>
                  <a:srgbClr val="C00000"/>
                </a:solidFill>
              </a:rPr>
              <a:t>four elements</a:t>
            </a:r>
            <a:r>
              <a:rPr lang="en-US" sz="2400" dirty="0"/>
              <a:t>.</a:t>
            </a:r>
          </a:p>
          <a:p>
            <a:r>
              <a:rPr lang="en-US" sz="2400" b="1" u="sng" dirty="0"/>
              <a:t>SOLUTION</a:t>
            </a:r>
          </a:p>
          <a:p>
            <a:pPr>
              <a:buNone/>
            </a:pPr>
            <a:r>
              <a:rPr lang="en-US" sz="2400" dirty="0"/>
              <a:t>	Let X = </a:t>
            </a:r>
            <a:r>
              <a:rPr lang="en-US" sz="2400" dirty="0">
                <a:solidFill>
                  <a:srgbClr val="C00000"/>
                </a:solidFill>
              </a:rPr>
              <a:t>{ 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, 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, x</a:t>
            </a:r>
            <a:r>
              <a:rPr lang="en-US" sz="2400" baseline="-25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} </a:t>
            </a:r>
            <a:r>
              <a:rPr lang="en-US" sz="2400" dirty="0"/>
              <a:t>and Y = </a:t>
            </a:r>
            <a:r>
              <a:rPr lang="en-US" sz="2400" dirty="0">
                <a:solidFill>
                  <a:srgbClr val="C00000"/>
                </a:solidFill>
              </a:rPr>
              <a:t>{ y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, y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, y</a:t>
            </a:r>
            <a:r>
              <a:rPr lang="en-US" sz="2400" baseline="-25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, y</a:t>
            </a:r>
            <a:r>
              <a:rPr lang="en-US" sz="2400" baseline="-25000" dirty="0">
                <a:solidFill>
                  <a:srgbClr val="C00000"/>
                </a:solidFill>
              </a:rPr>
              <a:t>4 </a:t>
            </a:r>
            <a:r>
              <a:rPr lang="en-US" sz="2400" dirty="0">
                <a:solidFill>
                  <a:srgbClr val="C00000"/>
                </a:solidFill>
              </a:rPr>
              <a:t>}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may be mapped to any of the </a:t>
            </a:r>
            <a:r>
              <a:rPr lang="en-US" sz="2400" dirty="0">
                <a:solidFill>
                  <a:srgbClr val="C00000"/>
                </a:solidFill>
              </a:rPr>
              <a:t>4 elements of Y</a:t>
            </a:r>
            <a:r>
              <a:rPr lang="en-US" sz="2400" dirty="0"/>
              <a:t>.  Then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 may be mapped to any of the </a:t>
            </a:r>
            <a:r>
              <a:rPr lang="en-US" sz="2400" dirty="0">
                <a:solidFill>
                  <a:srgbClr val="C00000"/>
                </a:solidFill>
              </a:rPr>
              <a:t>remaining 3 elements of Y </a:t>
            </a:r>
            <a:r>
              <a:rPr lang="en-US" sz="2400" dirty="0"/>
              <a:t>&amp; finally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</a:rPr>
              <a:t>3</a:t>
            </a:r>
            <a:r>
              <a:rPr lang="en-US" sz="2400" dirty="0"/>
              <a:t> may be mapped to any of the </a:t>
            </a:r>
            <a:r>
              <a:rPr lang="en-US" sz="2400" dirty="0">
                <a:solidFill>
                  <a:srgbClr val="C00000"/>
                </a:solidFill>
              </a:rPr>
              <a:t>remaining 2 elements of Y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	 Hence, total no. of </a:t>
            </a:r>
            <a:r>
              <a:rPr lang="en-US" sz="2400" dirty="0">
                <a:solidFill>
                  <a:srgbClr val="C00000"/>
                </a:solidFill>
              </a:rPr>
              <a:t>one-to-one</a:t>
            </a:r>
            <a:r>
              <a:rPr lang="en-US" sz="2400" dirty="0"/>
              <a:t> functions from </a:t>
            </a:r>
            <a:r>
              <a:rPr lang="en-US" sz="2400" dirty="0">
                <a:solidFill>
                  <a:srgbClr val="C00000"/>
                </a:solidFill>
              </a:rPr>
              <a:t>X to Y </a:t>
            </a:r>
            <a:r>
              <a:rPr lang="en-US" sz="2400" dirty="0"/>
              <a:t>are</a:t>
            </a:r>
          </a:p>
          <a:p>
            <a:pPr algn="ctr">
              <a:buNone/>
            </a:pPr>
            <a:r>
              <a:rPr lang="en-US" sz="2400" dirty="0"/>
              <a:t>	 4 </a:t>
            </a:r>
            <a:r>
              <a:rPr lang="en-US" sz="2400" dirty="0">
                <a:solidFill>
                  <a:srgbClr val="C00000"/>
                </a:solidFill>
              </a:rPr>
              <a:t>×</a:t>
            </a:r>
            <a:r>
              <a:rPr lang="en-US" sz="2400" dirty="0"/>
              <a:t> 3 </a:t>
            </a:r>
            <a:r>
              <a:rPr lang="en-US" sz="2400" dirty="0">
                <a:solidFill>
                  <a:srgbClr val="C00000"/>
                </a:solidFill>
              </a:rPr>
              <a:t>×</a:t>
            </a:r>
            <a:r>
              <a:rPr lang="en-US" sz="2400" b="1" dirty="0"/>
              <a:t> </a:t>
            </a:r>
            <a:r>
              <a:rPr lang="en-US" sz="2400" dirty="0"/>
              <a:t>2 </a:t>
            </a:r>
            <a:r>
              <a:rPr lang="en-US" sz="2400" dirty="0">
                <a:solidFill>
                  <a:srgbClr val="C00000"/>
                </a:solidFill>
              </a:rPr>
              <a:t>= 24</a:t>
            </a:r>
          </a:p>
          <a:p>
            <a:pPr>
              <a:buNone/>
            </a:pP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25296" y="1690688"/>
            <a:ext cx="10150916" cy="3859742"/>
          </a:xfrm>
        </p:spPr>
        <p:txBody>
          <a:bodyPr>
            <a:noAutofit/>
          </a:bodyPr>
          <a:lstStyle/>
          <a:p>
            <a:r>
              <a:rPr lang="en-US" sz="2400" dirty="0"/>
              <a:t>How many </a:t>
            </a:r>
            <a:r>
              <a:rPr lang="en-US" sz="2400" dirty="0">
                <a:solidFill>
                  <a:srgbClr val="C00000"/>
                </a:solidFill>
              </a:rPr>
              <a:t>one-to-one</a:t>
            </a:r>
            <a:r>
              <a:rPr lang="en-US" sz="2400" dirty="0"/>
              <a:t> functions are there from a set with </a:t>
            </a:r>
            <a:r>
              <a:rPr lang="en-US" sz="2400" dirty="0">
                <a:solidFill>
                  <a:srgbClr val="C00000"/>
                </a:solidFill>
              </a:rPr>
              <a:t>three elements </a:t>
            </a:r>
            <a:r>
              <a:rPr lang="en-US" sz="2400" dirty="0"/>
              <a:t>to a set with </a:t>
            </a:r>
            <a:r>
              <a:rPr lang="en-US" sz="2400" dirty="0">
                <a:solidFill>
                  <a:srgbClr val="C00000"/>
                </a:solidFill>
              </a:rPr>
              <a:t>two elements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u="sng" dirty="0"/>
              <a:t>SOLUTION</a:t>
            </a:r>
          </a:p>
          <a:p>
            <a:endParaRPr lang="en-US" sz="2400" b="1" u="sng" dirty="0"/>
          </a:p>
          <a:p>
            <a:r>
              <a:rPr lang="en-US" sz="2400" dirty="0"/>
              <a:t>Let  X = </a:t>
            </a:r>
            <a:r>
              <a:rPr lang="en-US" sz="2400" dirty="0">
                <a:solidFill>
                  <a:srgbClr val="C00000"/>
                </a:solidFill>
              </a:rPr>
              <a:t>{x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, 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, x</a:t>
            </a:r>
            <a:r>
              <a:rPr lang="en-US" sz="2400" baseline="-25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}</a:t>
            </a:r>
            <a:r>
              <a:rPr lang="en-US" sz="2400" dirty="0"/>
              <a:t>	and Y = </a:t>
            </a:r>
            <a:r>
              <a:rPr lang="en-US" sz="2400" dirty="0">
                <a:solidFill>
                  <a:srgbClr val="C00000"/>
                </a:solidFill>
              </a:rPr>
              <a:t>{y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, y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}</a:t>
            </a:r>
          </a:p>
          <a:p>
            <a:endParaRPr lang="en-US" sz="2400" b="1" u="sng" dirty="0"/>
          </a:p>
          <a:p>
            <a:r>
              <a:rPr lang="en-US" sz="2400" dirty="0"/>
              <a:t>Two elements in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 could be </a:t>
            </a:r>
            <a:r>
              <a:rPr lang="en-US" sz="2400" dirty="0">
                <a:solidFill>
                  <a:srgbClr val="C00000"/>
                </a:solidFill>
              </a:rPr>
              <a:t>mapped </a:t>
            </a:r>
            <a:r>
              <a:rPr lang="en-US" sz="2400" dirty="0"/>
              <a:t>to the two elements in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  <a:r>
              <a:rPr lang="en-US" sz="2400" dirty="0"/>
              <a:t> separately. But there is no new element in Y to which the third element in X could be mapped. Accordingly there is </a:t>
            </a:r>
            <a:r>
              <a:rPr lang="en-US" sz="2400" dirty="0">
                <a:solidFill>
                  <a:srgbClr val="C00000"/>
                </a:solidFill>
              </a:rPr>
              <a:t>no one-to-one </a:t>
            </a:r>
            <a:r>
              <a:rPr lang="en-US" sz="2400" dirty="0"/>
              <a:t>function from a set with three elements to a set with two elements.</a:t>
            </a:r>
          </a:p>
          <a:p>
            <a:endParaRPr lang="en-US" sz="24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95082" y="1219200"/>
            <a:ext cx="10657422" cy="5334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How many </a:t>
            </a:r>
            <a:r>
              <a:rPr lang="en-US" sz="2400" dirty="0">
                <a:solidFill>
                  <a:srgbClr val="C00000"/>
                </a:solidFill>
              </a:rPr>
              <a:t>one-to-one functions </a:t>
            </a:r>
            <a:r>
              <a:rPr lang="en-US" sz="2400" dirty="0"/>
              <a:t>are there from </a:t>
            </a:r>
            <a:r>
              <a:rPr lang="en-US" sz="2400" dirty="0">
                <a:solidFill>
                  <a:srgbClr val="C00000"/>
                </a:solidFill>
              </a:rPr>
              <a:t>a set </a:t>
            </a:r>
            <a:r>
              <a:rPr lang="en-US" sz="2400" dirty="0"/>
              <a:t>with </a:t>
            </a:r>
            <a:r>
              <a:rPr lang="en-US" sz="2400" dirty="0">
                <a:solidFill>
                  <a:srgbClr val="C00000"/>
                </a:solidFill>
              </a:rPr>
              <a:t>three elements </a:t>
            </a:r>
            <a:r>
              <a:rPr lang="en-US" sz="2400" dirty="0"/>
              <a:t>to </a:t>
            </a:r>
            <a:r>
              <a:rPr lang="en-US" sz="2400" dirty="0">
                <a:solidFill>
                  <a:srgbClr val="C00000"/>
                </a:solidFill>
              </a:rPr>
              <a:t>a set </a:t>
            </a:r>
            <a:r>
              <a:rPr lang="en-US" sz="2400" dirty="0"/>
              <a:t>with </a:t>
            </a:r>
            <a:r>
              <a:rPr lang="en-US" sz="2400" dirty="0">
                <a:solidFill>
                  <a:srgbClr val="C00000"/>
                </a:solidFill>
              </a:rPr>
              <a:t>two elements</a:t>
            </a:r>
            <a:r>
              <a:rPr lang="en-US" sz="2400" dirty="0"/>
              <a:t>.</a:t>
            </a:r>
          </a:p>
          <a:p>
            <a:pPr>
              <a:lnSpc>
                <a:spcPct val="110000"/>
              </a:lnSpc>
              <a:buNone/>
            </a:pPr>
            <a:r>
              <a:rPr lang="en-US" sz="2400" b="1" dirty="0"/>
              <a:t>	</a:t>
            </a:r>
            <a:r>
              <a:rPr lang="en-US" sz="2400" b="1" u="sng" dirty="0"/>
              <a:t>SOLUTION:</a:t>
            </a:r>
            <a:endParaRPr lang="en-US" sz="2400" dirty="0"/>
          </a:p>
          <a:p>
            <a:pPr>
              <a:lnSpc>
                <a:spcPct val="110000"/>
              </a:lnSpc>
              <a:buNone/>
            </a:pPr>
            <a:r>
              <a:rPr lang="en-US" sz="2400" b="1" dirty="0"/>
              <a:t>	 </a:t>
            </a:r>
            <a:r>
              <a:rPr lang="en-US" sz="2400" dirty="0"/>
              <a:t>Let X = </a:t>
            </a:r>
            <a:r>
              <a:rPr lang="en-US" sz="2400" dirty="0">
                <a:solidFill>
                  <a:srgbClr val="C00000"/>
                </a:solidFill>
              </a:rPr>
              <a:t>{x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, x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, x</a:t>
            </a:r>
            <a:r>
              <a:rPr lang="en-US" sz="2400" baseline="-25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}</a:t>
            </a:r>
            <a:r>
              <a:rPr lang="en-US" sz="2400" dirty="0"/>
              <a:t>	and Y = </a:t>
            </a:r>
            <a:r>
              <a:rPr lang="en-US" sz="2400" dirty="0">
                <a:solidFill>
                  <a:srgbClr val="C00000"/>
                </a:solidFill>
              </a:rPr>
              <a:t>{y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, y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}</a:t>
            </a:r>
          </a:p>
          <a:p>
            <a:pPr>
              <a:lnSpc>
                <a:spcPct val="110000"/>
              </a:lnSpc>
              <a:buNone/>
            </a:pPr>
            <a:endParaRPr lang="en-US" sz="2400" dirty="0"/>
          </a:p>
          <a:p>
            <a:pPr>
              <a:lnSpc>
                <a:spcPct val="110000"/>
              </a:lnSpc>
              <a:buNone/>
            </a:pPr>
            <a:endParaRPr lang="en-US" sz="2400" dirty="0"/>
          </a:p>
          <a:p>
            <a:pPr>
              <a:lnSpc>
                <a:spcPct val="110000"/>
              </a:lnSpc>
              <a:buNone/>
            </a:pPr>
            <a:endParaRPr lang="en-US" sz="2400" dirty="0"/>
          </a:p>
          <a:p>
            <a:pPr>
              <a:lnSpc>
                <a:spcPct val="110000"/>
              </a:lnSpc>
              <a:buNone/>
            </a:pPr>
            <a:endParaRPr lang="en-US" sz="2400" dirty="0"/>
          </a:p>
          <a:p>
            <a:pPr>
              <a:lnSpc>
                <a:spcPct val="110000"/>
              </a:lnSpc>
              <a:buNone/>
            </a:pPr>
            <a:endParaRPr lang="en-US" sz="2400" dirty="0"/>
          </a:p>
          <a:p>
            <a:pPr algn="just">
              <a:lnSpc>
                <a:spcPct val="110000"/>
              </a:lnSpc>
              <a:buNone/>
            </a:pPr>
            <a:r>
              <a:rPr lang="en-US" sz="2400" dirty="0"/>
              <a:t>	Two elements in X could be mapped to the two elements in Y separately. But there is no new element in Y to which the third element in X could be mapped. Accordingly there is </a:t>
            </a:r>
            <a:r>
              <a:rPr lang="en-US" sz="2400" dirty="0">
                <a:solidFill>
                  <a:srgbClr val="C00000"/>
                </a:solidFill>
              </a:rPr>
              <a:t>no one-to-one function </a:t>
            </a:r>
            <a:r>
              <a:rPr lang="en-US" sz="2400" dirty="0"/>
              <a:t>from </a:t>
            </a:r>
            <a:r>
              <a:rPr lang="en-US" sz="2400" dirty="0">
                <a:solidFill>
                  <a:srgbClr val="C00000"/>
                </a:solidFill>
              </a:rPr>
              <a:t>a set </a:t>
            </a:r>
            <a:r>
              <a:rPr lang="en-US" sz="2400" dirty="0"/>
              <a:t>with </a:t>
            </a:r>
            <a:r>
              <a:rPr lang="en-US" sz="2400" dirty="0">
                <a:solidFill>
                  <a:srgbClr val="C00000"/>
                </a:solidFill>
              </a:rPr>
              <a:t>three elements </a:t>
            </a:r>
            <a:r>
              <a:rPr lang="en-US" sz="2400" dirty="0"/>
              <a:t>to </a:t>
            </a:r>
            <a:r>
              <a:rPr lang="en-US" sz="2400" dirty="0">
                <a:solidFill>
                  <a:srgbClr val="C00000"/>
                </a:solidFill>
              </a:rPr>
              <a:t>a set </a:t>
            </a:r>
            <a:r>
              <a:rPr lang="en-US" sz="2400" dirty="0"/>
              <a:t>with </a:t>
            </a:r>
            <a:r>
              <a:rPr lang="en-US" sz="2400" dirty="0">
                <a:solidFill>
                  <a:srgbClr val="C00000"/>
                </a:solidFill>
              </a:rPr>
              <a:t>two elements</a:t>
            </a:r>
            <a:r>
              <a:rPr lang="en-US" sz="2400" dirty="0"/>
              <a:t>.</a:t>
            </a:r>
          </a:p>
          <a:p>
            <a:pPr>
              <a:lnSpc>
                <a:spcPct val="110000"/>
              </a:lnSpc>
              <a:buNone/>
            </a:pPr>
            <a:endParaRPr lang="en-US" sz="2400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7296" y="2675965"/>
            <a:ext cx="3657600" cy="2162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615"/>
            <a:ext cx="10515600" cy="809256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GRAPH OF ONE-TO-ONE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4559" y="1048871"/>
            <a:ext cx="9829800" cy="3859742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graph</a:t>
            </a:r>
            <a:r>
              <a:rPr lang="en-US" dirty="0"/>
              <a:t> of a </a:t>
            </a:r>
            <a:r>
              <a:rPr lang="en-US" b="1" dirty="0">
                <a:solidFill>
                  <a:srgbClr val="C00000"/>
                </a:solidFill>
              </a:rPr>
              <a:t>function f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one-to-one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every </a:t>
            </a:r>
            <a:r>
              <a:rPr lang="en-US" b="1" dirty="0">
                <a:solidFill>
                  <a:srgbClr val="C00000"/>
                </a:solidFill>
              </a:rPr>
              <a:t>horizontal line </a:t>
            </a:r>
            <a:r>
              <a:rPr lang="en-US" dirty="0"/>
              <a:t>intersects the </a:t>
            </a:r>
            <a:r>
              <a:rPr lang="en-US" b="1" dirty="0">
                <a:solidFill>
                  <a:srgbClr val="C00000"/>
                </a:solidFill>
              </a:rPr>
              <a:t>graph</a:t>
            </a:r>
            <a:r>
              <a:rPr lang="en-US" dirty="0"/>
              <a:t> in </a:t>
            </a:r>
            <a:r>
              <a:rPr lang="en-US" b="1" dirty="0">
                <a:solidFill>
                  <a:srgbClr val="C00000"/>
                </a:solidFill>
              </a:rPr>
              <a:t>at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most one point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AE5A0C2-FF9F-41B0-8373-05BC7CC02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9482" y="2019503"/>
            <a:ext cx="7960659" cy="4704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ALTERNATIVE DEFINITION OF ONE-TO-ONE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6" y="1911095"/>
            <a:ext cx="9829800" cy="45817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Let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/>
              <a:t>: X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ym typeface="Symbol"/>
              </a:rPr>
              <a:t> </a:t>
            </a:r>
            <a:r>
              <a:rPr lang="en-US" dirty="0"/>
              <a:t>Y be a </a:t>
            </a:r>
            <a:r>
              <a:rPr lang="en-US" b="1" dirty="0">
                <a:solidFill>
                  <a:srgbClr val="C00000"/>
                </a:solidFill>
              </a:rPr>
              <a:t>function</a:t>
            </a:r>
            <a:r>
              <a:rPr lang="en-US" dirty="0"/>
              <a:t>.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injective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one-to-one </a:t>
            </a:r>
            <a:r>
              <a:rPr lang="en-US" dirty="0"/>
              <a:t>if, and only if, </a:t>
            </a:r>
            <a:r>
              <a:rPr lang="en-US" dirty="0">
                <a:sym typeface="Symbol"/>
              </a:rPr>
              <a:t>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, IF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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THEN </a:t>
            </a:r>
            <a:r>
              <a:rPr lang="en-US" dirty="0">
                <a:solidFill>
                  <a:srgbClr val="C00000"/>
                </a:solidFill>
              </a:rPr>
              <a:t>f(x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>
                <a:solidFill>
                  <a:srgbClr val="C00000"/>
                </a:solidFill>
              </a:rPr>
              <a:t> f(x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).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The contra-positive of definition is: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  <a:buNone/>
            </a:pPr>
            <a:r>
              <a:rPr lang="en-US" dirty="0"/>
              <a:t>			If </a:t>
            </a:r>
            <a:r>
              <a:rPr lang="en-US" dirty="0">
                <a:solidFill>
                  <a:srgbClr val="C00000"/>
                </a:solidFill>
              </a:rPr>
              <a:t>f(x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=</a:t>
            </a:r>
            <a:r>
              <a:rPr lang="en-US" dirty="0">
                <a:solidFill>
                  <a:srgbClr val="C00000"/>
                </a:solidFill>
              </a:rPr>
              <a:t> f(x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/>
              <a:t>then</a:t>
            </a:r>
            <a:r>
              <a:rPr lang="en-US" dirty="0">
                <a:solidFill>
                  <a:srgbClr val="C00000"/>
                </a:solidFill>
              </a:rPr>
              <a:t> 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2  </a:t>
            </a:r>
          </a:p>
          <a:p>
            <a:pPr>
              <a:lnSpc>
                <a:spcPct val="110000"/>
              </a:lnSpc>
              <a:buNone/>
            </a:pPr>
            <a:endParaRPr lang="en-US" baseline="-25000" dirty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  <a:buNone/>
            </a:pPr>
            <a:r>
              <a:rPr lang="en-US" dirty="0"/>
              <a:t>	If the contrapositive of the definition is also satisfied then the function is also one-to-one.</a:t>
            </a:r>
            <a:r>
              <a:rPr lang="en-US" baseline="-25000" dirty="0">
                <a:solidFill>
                  <a:srgbClr val="C00000"/>
                </a:solidFill>
              </a:rPr>
              <a:t>	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SURJECTIVE FUNCTION /ONTO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: X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/>
              <a:t>Y be a </a:t>
            </a:r>
            <a:r>
              <a:rPr lang="en-US" dirty="0">
                <a:solidFill>
                  <a:srgbClr val="C00000"/>
                </a:solidFill>
              </a:rPr>
              <a:t>function</a:t>
            </a:r>
            <a:r>
              <a:rPr lang="en-US" dirty="0"/>
              <a:t>.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surjective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onto</a:t>
            </a:r>
            <a:r>
              <a:rPr lang="en-US" dirty="0"/>
              <a:t> if, and only if,</a:t>
            </a:r>
            <a:endParaRPr lang="en-US" dirty="0">
              <a:sym typeface="Times New Roman"/>
            </a:endParaRPr>
          </a:p>
          <a:p>
            <a:pPr>
              <a:buNone/>
            </a:pPr>
            <a:r>
              <a:rPr lang="en-US" dirty="0">
                <a:sym typeface="Times New Roman"/>
              </a:rPr>
              <a:t>			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 </a:t>
            </a:r>
            <a:r>
              <a:rPr lang="en-US" dirty="0"/>
              <a:t> y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/>
              <a:t>Y, 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</a:t>
            </a:r>
            <a:r>
              <a:rPr lang="en-US" dirty="0"/>
              <a:t> 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/>
              <a:t>X such that </a:t>
            </a:r>
            <a:r>
              <a:rPr lang="en-US" dirty="0">
                <a:solidFill>
                  <a:srgbClr val="C00000"/>
                </a:solidFill>
              </a:rPr>
              <a:t>f(x) = 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 That is, f is onto if </a:t>
            </a:r>
            <a:r>
              <a:rPr lang="en-US" dirty="0">
                <a:solidFill>
                  <a:srgbClr val="C00000"/>
                </a:solidFill>
              </a:rPr>
              <a:t>every element </a:t>
            </a:r>
            <a:r>
              <a:rPr lang="en-US" dirty="0"/>
              <a:t>of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/>
              <a:t> is the </a:t>
            </a:r>
            <a:r>
              <a:rPr lang="en-US" dirty="0">
                <a:solidFill>
                  <a:srgbClr val="C00000"/>
                </a:solidFill>
              </a:rPr>
              <a:t>image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some element </a:t>
            </a:r>
            <a:r>
              <a:rPr lang="en-US" dirty="0"/>
              <a:t>of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 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6" y="726141"/>
            <a:ext cx="9829800" cy="5044697"/>
          </a:xfrm>
        </p:spPr>
        <p:txBody>
          <a:bodyPr/>
          <a:lstStyle/>
          <a:p>
            <a:r>
              <a:rPr lang="en-US" dirty="0"/>
              <a:t>That is,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onto</a:t>
            </a:r>
            <a:r>
              <a:rPr lang="en-US" dirty="0"/>
              <a:t> if </a:t>
            </a:r>
            <a:r>
              <a:rPr lang="en-US" dirty="0">
                <a:solidFill>
                  <a:srgbClr val="C00000"/>
                </a:solidFill>
              </a:rPr>
              <a:t>every element </a:t>
            </a:r>
            <a:r>
              <a:rPr lang="en-US" dirty="0"/>
              <a:t>of its </a:t>
            </a:r>
            <a:r>
              <a:rPr lang="en-US" dirty="0">
                <a:solidFill>
                  <a:srgbClr val="C00000"/>
                </a:solidFill>
              </a:rPr>
              <a:t>co-domain</a:t>
            </a:r>
            <a:r>
              <a:rPr lang="en-US" dirty="0"/>
              <a:t> is the </a:t>
            </a:r>
            <a:r>
              <a:rPr lang="en-US" dirty="0">
                <a:solidFill>
                  <a:srgbClr val="C00000"/>
                </a:solidFill>
              </a:rPr>
              <a:t>image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some element(s) </a:t>
            </a:r>
            <a:r>
              <a:rPr lang="en-US" dirty="0"/>
              <a:t>of its </a:t>
            </a:r>
            <a:r>
              <a:rPr lang="en-US" dirty="0">
                <a:solidFill>
                  <a:srgbClr val="C00000"/>
                </a:solidFill>
              </a:rPr>
              <a:t>domain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			i.e., co-domain of </a:t>
            </a:r>
            <a:r>
              <a:rPr lang="en-US" dirty="0">
                <a:solidFill>
                  <a:srgbClr val="C00000"/>
                </a:solidFill>
              </a:rPr>
              <a:t>f = range </a:t>
            </a:r>
            <a:r>
              <a:rPr lang="en-US" dirty="0"/>
              <a:t>of </a:t>
            </a:r>
            <a:r>
              <a:rPr lang="en-US" dirty="0">
                <a:solidFill>
                  <a:srgbClr val="C00000"/>
                </a:solidFill>
              </a:rPr>
              <a:t>f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2153" y="2245659"/>
            <a:ext cx="5455024" cy="3886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FUNCTION NOT ONTO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25296" y="1499129"/>
            <a:ext cx="9829800" cy="3859742"/>
          </a:xfrm>
        </p:spPr>
        <p:txBody>
          <a:bodyPr/>
          <a:lstStyle/>
          <a:p>
            <a:r>
              <a:rPr lang="en-US" dirty="0"/>
              <a:t>A function </a:t>
            </a:r>
            <a:r>
              <a:rPr lang="en-US" dirty="0">
                <a:solidFill>
                  <a:srgbClr val="C00000"/>
                </a:solidFill>
              </a:rPr>
              <a:t>f:</a:t>
            </a:r>
            <a:r>
              <a:rPr lang="en-US" dirty="0"/>
              <a:t>X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/>
              <a:t>Y is </a:t>
            </a:r>
            <a:r>
              <a:rPr lang="en-US" dirty="0">
                <a:solidFill>
                  <a:srgbClr val="C00000"/>
                </a:solidFill>
              </a:rPr>
              <a:t>not onto </a:t>
            </a:r>
            <a:r>
              <a:rPr lang="en-US" dirty="0" err="1"/>
              <a:t>iff</a:t>
            </a:r>
            <a:r>
              <a:rPr lang="en-US" dirty="0"/>
              <a:t> there </a:t>
            </a:r>
            <a:r>
              <a:rPr lang="en-US" dirty="0">
                <a:solidFill>
                  <a:srgbClr val="C00000"/>
                </a:solidFill>
              </a:rPr>
              <a:t>exists</a:t>
            </a:r>
            <a:r>
              <a:rPr lang="en-US" dirty="0"/>
              <a:t> y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/>
              <a:t> Y such that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</a:t>
            </a:r>
            <a:r>
              <a:rPr lang="en-US" dirty="0">
                <a:sym typeface="Symbol"/>
              </a:rPr>
              <a:t> </a:t>
            </a:r>
            <a:r>
              <a:rPr lang="en-US" dirty="0"/>
              <a:t>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/>
              <a:t>X, f(x) </a:t>
            </a:r>
            <a:r>
              <a:rPr lang="en-US" dirty="0">
                <a:solidFill>
                  <a:srgbClr val="C00000"/>
                </a:solidFill>
              </a:rPr>
              <a:t>≠</a:t>
            </a:r>
            <a:r>
              <a:rPr lang="en-US" dirty="0"/>
              <a:t> y. </a:t>
            </a:r>
          </a:p>
          <a:p>
            <a:endParaRPr lang="en-US" dirty="0"/>
          </a:p>
          <a:p>
            <a:r>
              <a:rPr lang="en-US" dirty="0"/>
              <a:t>That is, there is </a:t>
            </a:r>
            <a:r>
              <a:rPr lang="en-US" dirty="0">
                <a:solidFill>
                  <a:srgbClr val="C00000"/>
                </a:solidFill>
              </a:rPr>
              <a:t>some element </a:t>
            </a:r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/>
              <a:t> that is not the </a:t>
            </a:r>
            <a:r>
              <a:rPr lang="en-US" dirty="0">
                <a:solidFill>
                  <a:srgbClr val="C00000"/>
                </a:solidFill>
              </a:rPr>
              <a:t>image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any element </a:t>
            </a:r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3597275"/>
            <a:ext cx="4370294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Which of the </a:t>
            </a:r>
            <a:r>
              <a:rPr lang="en-US" b="1" dirty="0">
                <a:solidFill>
                  <a:srgbClr val="C00000"/>
                </a:solidFill>
              </a:rPr>
              <a:t>arrow diagrams </a:t>
            </a:r>
            <a:r>
              <a:rPr lang="en-US" dirty="0"/>
              <a:t>define </a:t>
            </a:r>
            <a:r>
              <a:rPr lang="en-US" b="1" dirty="0">
                <a:solidFill>
                  <a:srgbClr val="C00000"/>
                </a:solidFill>
              </a:rPr>
              <a:t>onto functions</a:t>
            </a:r>
            <a:r>
              <a:rPr lang="en-US" dirty="0"/>
              <a:t>?</a:t>
            </a: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81836" y="2743200"/>
            <a:ext cx="67056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6" y="672353"/>
            <a:ext cx="9829800" cy="564776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u="sng" dirty="0"/>
              <a:t>SOLUTION:</a:t>
            </a: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C00000"/>
                </a:solidFill>
              </a:rPr>
              <a:t>not onto </a:t>
            </a:r>
            <a:r>
              <a:rPr lang="en-US" sz="2400" dirty="0"/>
              <a:t>because </a:t>
            </a:r>
            <a:r>
              <a:rPr lang="en-US" sz="2400" dirty="0">
                <a:solidFill>
                  <a:srgbClr val="C00000"/>
                </a:solidFill>
              </a:rPr>
              <a:t>3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</a:t>
            </a:r>
            <a:r>
              <a:rPr lang="en-US" sz="2400" dirty="0">
                <a:solidFill>
                  <a:srgbClr val="C00000"/>
                </a:solidFill>
              </a:rPr>
              <a:t> f(x) </a:t>
            </a:r>
            <a:r>
              <a:rPr lang="en-US" sz="2400" dirty="0"/>
              <a:t>for any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 in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.  (3 an element which is not image of any element of set X)	</a:t>
            </a:r>
          </a:p>
          <a:p>
            <a:pPr>
              <a:lnSpc>
                <a:spcPct val="110000"/>
              </a:lnSpc>
            </a:pP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g </a:t>
            </a:r>
            <a:r>
              <a:rPr lang="en-US" sz="2400" dirty="0"/>
              <a:t>is clearly </a:t>
            </a:r>
            <a:r>
              <a:rPr lang="en-US" sz="2400" b="1" dirty="0">
                <a:solidFill>
                  <a:srgbClr val="C00000"/>
                </a:solidFill>
              </a:rPr>
              <a:t>onto</a:t>
            </a:r>
            <a:r>
              <a:rPr lang="en-US" sz="2400" dirty="0"/>
              <a:t> because </a:t>
            </a:r>
            <a:r>
              <a:rPr lang="en-US" sz="2400" b="1" dirty="0">
                <a:solidFill>
                  <a:srgbClr val="C00000"/>
                </a:solidFill>
              </a:rPr>
              <a:t>each element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C00000"/>
                </a:solidFill>
              </a:rPr>
              <a:t> Y </a:t>
            </a:r>
            <a:r>
              <a:rPr lang="en-US" sz="2400" dirty="0"/>
              <a:t>equals </a:t>
            </a:r>
            <a:r>
              <a:rPr lang="en-US" sz="2400" b="1" dirty="0">
                <a:solidFill>
                  <a:srgbClr val="C00000"/>
                </a:solidFill>
              </a:rPr>
              <a:t>g(x)</a:t>
            </a:r>
            <a:r>
              <a:rPr lang="en-US" sz="2400" dirty="0"/>
              <a:t> for </a:t>
            </a:r>
            <a:r>
              <a:rPr lang="en-US" sz="2400" b="1" dirty="0">
                <a:solidFill>
                  <a:srgbClr val="C00000"/>
                </a:solidFill>
              </a:rPr>
              <a:t>some x</a:t>
            </a:r>
            <a:r>
              <a:rPr lang="en-US" sz="2400" dirty="0"/>
              <a:t> in </a:t>
            </a:r>
            <a:r>
              <a:rPr lang="en-US" sz="2400" b="1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. (co-domain all elements are images of some elements of domain)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	as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			 </a:t>
            </a:r>
            <a:r>
              <a:rPr lang="en-US" sz="2400" b="1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 = </a:t>
            </a:r>
            <a:r>
              <a:rPr lang="en-US" sz="2400" b="1" dirty="0">
                <a:solidFill>
                  <a:srgbClr val="C00000"/>
                </a:solidFill>
              </a:rPr>
              <a:t>g(c)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			 </a:t>
            </a:r>
            <a:r>
              <a:rPr lang="en-US" sz="2400" b="1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 = </a:t>
            </a:r>
            <a:r>
              <a:rPr lang="en-US" sz="2400" b="1" dirty="0">
                <a:solidFill>
                  <a:srgbClr val="C00000"/>
                </a:solidFill>
              </a:rPr>
              <a:t>g(d)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			 </a:t>
            </a:r>
            <a:r>
              <a:rPr lang="en-US" sz="2400" b="1" dirty="0">
                <a:solidFill>
                  <a:srgbClr val="C00000"/>
                </a:solidFill>
              </a:rPr>
              <a:t>3</a:t>
            </a:r>
            <a:r>
              <a:rPr lang="en-US" sz="2400" dirty="0"/>
              <a:t> = </a:t>
            </a:r>
            <a:r>
              <a:rPr lang="en-US" sz="2400" b="1" dirty="0">
                <a:solidFill>
                  <a:srgbClr val="C00000"/>
                </a:solidFill>
              </a:rPr>
              <a:t>g(a)</a:t>
            </a:r>
            <a:r>
              <a:rPr lang="en-US" sz="2400" dirty="0"/>
              <a:t> = </a:t>
            </a:r>
            <a:r>
              <a:rPr lang="en-US" sz="2400" b="1" dirty="0">
                <a:solidFill>
                  <a:srgbClr val="C00000"/>
                </a:solidFill>
              </a:rPr>
              <a:t>g(b)</a:t>
            </a:r>
          </a:p>
          <a:p>
            <a:pPr>
              <a:lnSpc>
                <a:spcPct val="110000"/>
              </a:lnSpc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GRAPH OF ONTO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36904" y="1506070"/>
            <a:ext cx="10293096" cy="4650889"/>
          </a:xfrm>
        </p:spPr>
        <p:txBody>
          <a:bodyPr>
            <a:normAutofit/>
          </a:bodyPr>
          <a:lstStyle/>
          <a:p>
            <a:r>
              <a:rPr lang="en-US" sz="2400" dirty="0"/>
              <a:t>A graph of a function </a:t>
            </a:r>
            <a:r>
              <a:rPr lang="en-US" sz="2400" b="1" dirty="0">
                <a:solidFill>
                  <a:srgbClr val="C00000"/>
                </a:solidFill>
              </a:rPr>
              <a:t>f </a:t>
            </a:r>
            <a:r>
              <a:rPr lang="en-US" sz="2400" dirty="0"/>
              <a:t>is</a:t>
            </a:r>
            <a:r>
              <a:rPr lang="en-US" sz="2400" b="1" dirty="0">
                <a:solidFill>
                  <a:srgbClr val="C00000"/>
                </a:solidFill>
              </a:rPr>
              <a:t> onto </a:t>
            </a:r>
            <a:r>
              <a:rPr lang="en-US" sz="2400" dirty="0" err="1"/>
              <a:t>iff</a:t>
            </a:r>
            <a:r>
              <a:rPr lang="en-US" sz="2400" dirty="0"/>
              <a:t> every </a:t>
            </a:r>
            <a:r>
              <a:rPr lang="en-US" sz="2400" b="1" dirty="0">
                <a:solidFill>
                  <a:srgbClr val="C00000"/>
                </a:solidFill>
              </a:rPr>
              <a:t>horizontal line </a:t>
            </a:r>
            <a:r>
              <a:rPr lang="en-US" sz="2400" dirty="0"/>
              <a:t>intersects the graph in </a:t>
            </a:r>
            <a:r>
              <a:rPr lang="en-US" sz="2400" b="1" dirty="0">
                <a:solidFill>
                  <a:srgbClr val="C00000"/>
                </a:solidFill>
              </a:rPr>
              <a:t>at least one point </a:t>
            </a:r>
            <a:r>
              <a:rPr lang="en-US" sz="2400" dirty="0"/>
              <a:t>within the </a:t>
            </a:r>
            <a:r>
              <a:rPr lang="en-US" sz="2400" dirty="0" err="1"/>
              <a:t>codomain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b="1" dirty="0"/>
              <a:t>	</a:t>
            </a:r>
            <a:r>
              <a:rPr lang="en-US" sz="2400" b="1" u="sng" dirty="0"/>
              <a:t>EXAMPLE</a:t>
            </a:r>
            <a:endParaRPr lang="en-US" sz="2400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07976" y="2831633"/>
            <a:ext cx="6671176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X = </a:t>
            </a:r>
            <a:r>
              <a:rPr lang="en-US" dirty="0">
                <a:solidFill>
                  <a:srgbClr val="C00000"/>
                </a:solidFill>
              </a:rPr>
              <a:t>{1, 5, 9} </a:t>
            </a:r>
            <a:r>
              <a:rPr lang="en-US" dirty="0"/>
              <a:t>and Y = </a:t>
            </a:r>
            <a:r>
              <a:rPr lang="en-US" dirty="0">
                <a:solidFill>
                  <a:srgbClr val="C00000"/>
                </a:solidFill>
              </a:rPr>
              <a:t>{3, 4, 7}.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Define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/>
              <a:t>Y by specifying that</a:t>
            </a:r>
          </a:p>
          <a:p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g(1) = 7,	g(5) = 3,	g(9) = 4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Is g </a:t>
            </a:r>
            <a:r>
              <a:rPr lang="en-US" dirty="0">
                <a:solidFill>
                  <a:srgbClr val="C00000"/>
                </a:solidFill>
              </a:rPr>
              <a:t>one-to-one</a:t>
            </a:r>
            <a:r>
              <a:rPr lang="en-US" dirty="0"/>
              <a:t>? Is g </a:t>
            </a:r>
            <a:r>
              <a:rPr lang="en-US" dirty="0">
                <a:solidFill>
                  <a:srgbClr val="C00000"/>
                </a:solidFill>
              </a:rPr>
              <a:t>onto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	X = </a:t>
            </a:r>
            <a:r>
              <a:rPr lang="en-US" dirty="0">
                <a:solidFill>
                  <a:srgbClr val="C00000"/>
                </a:solidFill>
              </a:rPr>
              <a:t>{1, 5, 9} </a:t>
            </a:r>
            <a:r>
              <a:rPr lang="en-US" dirty="0"/>
              <a:t>and Y = </a:t>
            </a:r>
            <a:r>
              <a:rPr lang="en-US" dirty="0">
                <a:solidFill>
                  <a:srgbClr val="C00000"/>
                </a:solidFill>
              </a:rPr>
              <a:t>{3, 4, 7}.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>
                <a:solidFill>
                  <a:srgbClr val="00B050"/>
                </a:solidFill>
              </a:rPr>
              <a:t>g(1) = 7,	g(5) = 3,	g(9) = 4</a:t>
            </a:r>
          </a:p>
          <a:p>
            <a:pPr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	g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one-to-one</a:t>
            </a:r>
            <a:r>
              <a:rPr lang="en-US" dirty="0"/>
              <a:t> because each of the </a:t>
            </a:r>
            <a:r>
              <a:rPr lang="en-US" b="1" dirty="0">
                <a:solidFill>
                  <a:srgbClr val="C00000"/>
                </a:solidFill>
              </a:rPr>
              <a:t>three elements </a:t>
            </a:r>
            <a:r>
              <a:rPr lang="en-US" dirty="0"/>
              <a:t>of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mapped</a:t>
            </a:r>
            <a:r>
              <a:rPr lang="en-US" dirty="0"/>
              <a:t> to a </a:t>
            </a:r>
            <a:r>
              <a:rPr lang="en-US" b="1" dirty="0">
                <a:solidFill>
                  <a:srgbClr val="C00000"/>
                </a:solidFill>
              </a:rPr>
              <a:t>different elements </a:t>
            </a:r>
            <a:r>
              <a:rPr lang="en-US" dirty="0"/>
              <a:t>of </a:t>
            </a:r>
            <a:r>
              <a:rPr lang="en-US" b="1" dirty="0">
                <a:solidFill>
                  <a:srgbClr val="C00000"/>
                </a:solidFill>
              </a:rPr>
              <a:t>Y</a:t>
            </a:r>
            <a:r>
              <a:rPr lang="en-US" dirty="0"/>
              <a:t> by </a:t>
            </a:r>
            <a:r>
              <a:rPr lang="en-US" b="1" dirty="0">
                <a:solidFill>
                  <a:srgbClr val="C00000"/>
                </a:solidFill>
              </a:rPr>
              <a:t>g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g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onto</a:t>
            </a:r>
            <a:r>
              <a:rPr lang="en-US" dirty="0"/>
              <a:t> as well, because </a:t>
            </a:r>
            <a:r>
              <a:rPr lang="en-US" b="1" dirty="0">
                <a:solidFill>
                  <a:srgbClr val="C00000"/>
                </a:solidFill>
              </a:rPr>
              <a:t>each</a:t>
            </a:r>
            <a:r>
              <a:rPr lang="en-US" dirty="0"/>
              <a:t> of the </a:t>
            </a:r>
            <a:r>
              <a:rPr lang="en-US" b="1" dirty="0">
                <a:solidFill>
                  <a:srgbClr val="C00000"/>
                </a:solidFill>
              </a:rPr>
              <a:t>three elements </a:t>
            </a:r>
            <a:r>
              <a:rPr lang="en-US" dirty="0"/>
              <a:t>of </a:t>
            </a:r>
            <a:r>
              <a:rPr lang="en-US" b="1" dirty="0">
                <a:solidFill>
                  <a:srgbClr val="C00000"/>
                </a:solidFill>
              </a:rPr>
              <a:t>co-domain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Y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g</a:t>
            </a:r>
            <a:r>
              <a:rPr lang="en-US" dirty="0"/>
              <a:t> is the </a:t>
            </a:r>
            <a:r>
              <a:rPr lang="en-US" b="1" dirty="0">
                <a:solidFill>
                  <a:srgbClr val="C00000"/>
                </a:solidFill>
              </a:rPr>
              <a:t>image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some element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domain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g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7030A0"/>
                </a:solidFill>
              </a:rPr>
              <a:t>3 = g(5),	4 = g(9),	7 = g(1)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BIJECTIVE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81100" y="1690688"/>
            <a:ext cx="10141324" cy="385974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function f</a:t>
            </a:r>
            <a:r>
              <a:rPr lang="en-US" sz="2400" dirty="0"/>
              <a:t>: X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dirty="0"/>
              <a:t>Y that is both </a:t>
            </a:r>
            <a:r>
              <a:rPr lang="en-US" sz="2400" dirty="0">
                <a:solidFill>
                  <a:srgbClr val="C00000"/>
                </a:solidFill>
              </a:rPr>
              <a:t>one-to-one (injective)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C00000"/>
                </a:solidFill>
              </a:rPr>
              <a:t>onto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C00000"/>
                </a:solidFill>
              </a:rPr>
              <a:t>surjective</a:t>
            </a:r>
            <a:r>
              <a:rPr lang="en-US" sz="2400" dirty="0"/>
              <a:t>) is called a </a:t>
            </a:r>
            <a:r>
              <a:rPr lang="en-US" sz="2400" dirty="0">
                <a:solidFill>
                  <a:srgbClr val="C00000"/>
                </a:solidFill>
              </a:rPr>
              <a:t>bijective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function</a:t>
            </a:r>
            <a:r>
              <a:rPr lang="en-US" sz="2400" dirty="0"/>
              <a:t> or a </a:t>
            </a:r>
            <a:r>
              <a:rPr lang="en-US" sz="2400" dirty="0">
                <a:solidFill>
                  <a:srgbClr val="C00000"/>
                </a:solidFill>
              </a:rPr>
              <a:t>one-to-one correspondence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pic>
        <p:nvPicPr>
          <p:cNvPr id="40964" name="Picture 4" descr="Bijection - Wikipedia">
            <a:extLst>
              <a:ext uri="{FF2B5EF4-FFF2-40B4-BE49-F238E27FC236}">
                <a16:creationId xmlns:a16="http://schemas.microsoft.com/office/drawing/2014/main" id="{ABBABA9D-125C-AE27-A703-90CA3180D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294" y="3272118"/>
            <a:ext cx="31242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6" y="1543050"/>
            <a:ext cx="9875520" cy="42277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function f</a:t>
            </a:r>
            <a:r>
              <a:rPr lang="en-US" dirty="0"/>
              <a:t>: X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/>
              <a:t>Y defined by the </a:t>
            </a:r>
            <a:r>
              <a:rPr lang="en-US" dirty="0">
                <a:solidFill>
                  <a:srgbClr val="C00000"/>
                </a:solidFill>
              </a:rPr>
              <a:t>arrow diagram </a:t>
            </a:r>
            <a:r>
              <a:rPr lang="en-US" dirty="0"/>
              <a:t>is both </a:t>
            </a:r>
            <a:r>
              <a:rPr lang="en-US" dirty="0">
                <a:solidFill>
                  <a:srgbClr val="C00000"/>
                </a:solidFill>
              </a:rPr>
              <a:t>one-to-one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onto</a:t>
            </a:r>
            <a:r>
              <a:rPr lang="en-US" dirty="0"/>
              <a:t>; hence a </a:t>
            </a:r>
            <a:r>
              <a:rPr lang="en-US" dirty="0" err="1">
                <a:solidFill>
                  <a:srgbClr val="C00000"/>
                </a:solidFill>
              </a:rPr>
              <a:t>bijective</a:t>
            </a:r>
            <a:r>
              <a:rPr lang="en-US" dirty="0">
                <a:solidFill>
                  <a:srgbClr val="C00000"/>
                </a:solidFill>
              </a:rPr>
              <a:t> function.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48150" y="3048000"/>
            <a:ext cx="3992656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GRAPH OF BIJECTIVE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25296" y="1690687"/>
            <a:ext cx="9829800" cy="36681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graph</a:t>
            </a:r>
            <a:r>
              <a:rPr lang="en-US" dirty="0"/>
              <a:t> of a </a:t>
            </a:r>
            <a:r>
              <a:rPr lang="en-US" dirty="0">
                <a:solidFill>
                  <a:srgbClr val="C00000"/>
                </a:solidFill>
              </a:rPr>
              <a:t>function f</a:t>
            </a:r>
            <a:r>
              <a:rPr lang="en-US" dirty="0"/>
              <a:t> is </a:t>
            </a:r>
            <a:r>
              <a:rPr lang="en-US" dirty="0" err="1">
                <a:solidFill>
                  <a:srgbClr val="C00000"/>
                </a:solidFill>
              </a:rPr>
              <a:t>bijective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every horizontal line intersects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graph</a:t>
            </a:r>
            <a:r>
              <a:rPr lang="en-US" dirty="0"/>
              <a:t> at </a:t>
            </a:r>
            <a:r>
              <a:rPr lang="en-US" dirty="0">
                <a:solidFill>
                  <a:srgbClr val="C00000"/>
                </a:solidFill>
              </a:rPr>
              <a:t>exactly one point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572" y="2824692"/>
            <a:ext cx="7750224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>
            <a:off x="2440860" y="3657600"/>
            <a:ext cx="3276600" cy="1588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428572" y="5027612"/>
            <a:ext cx="3276600" cy="1588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IDENTITY FUNCTION ON A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Given a </a:t>
            </a:r>
            <a:r>
              <a:rPr lang="en-US" b="1" dirty="0">
                <a:solidFill>
                  <a:srgbClr val="C00000"/>
                </a:solidFill>
              </a:rPr>
              <a:t>set X</a:t>
            </a:r>
            <a:r>
              <a:rPr lang="en-US" dirty="0">
                <a:solidFill>
                  <a:srgbClr val="C00000"/>
                </a:solidFill>
              </a:rPr>
              <a:t>,</a:t>
            </a:r>
            <a:r>
              <a:rPr lang="en-US" dirty="0"/>
              <a:t> define a </a:t>
            </a:r>
            <a:r>
              <a:rPr lang="en-US" b="1" dirty="0">
                <a:solidFill>
                  <a:srgbClr val="C00000"/>
                </a:solidFill>
              </a:rPr>
              <a:t>function i</a:t>
            </a:r>
            <a:r>
              <a:rPr lang="en-US" b="1" baseline="-25000" dirty="0">
                <a:solidFill>
                  <a:srgbClr val="C00000"/>
                </a:solidFill>
              </a:rPr>
              <a:t>x</a:t>
            </a:r>
            <a:r>
              <a:rPr lang="en-US" dirty="0"/>
              <a:t> from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 by 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b="1" dirty="0">
                <a:solidFill>
                  <a:srgbClr val="C00000"/>
                </a:solidFill>
              </a:rPr>
              <a:t>i</a:t>
            </a:r>
            <a:r>
              <a:rPr lang="en-US" b="1" baseline="-25000" dirty="0">
                <a:solidFill>
                  <a:srgbClr val="C00000"/>
                </a:solidFill>
              </a:rPr>
              <a:t>x</a:t>
            </a:r>
            <a:r>
              <a:rPr lang="en-US" b="1" dirty="0">
                <a:solidFill>
                  <a:srgbClr val="C00000"/>
                </a:solidFill>
              </a:rPr>
              <a:t>(x) = x</a:t>
            </a:r>
            <a:r>
              <a:rPr lang="en-US" dirty="0"/>
              <a:t>  from all </a:t>
            </a:r>
            <a:r>
              <a:rPr lang="en-US" b="1" dirty="0">
                <a:solidFill>
                  <a:srgbClr val="C00000"/>
                </a:solidFill>
              </a:rPr>
              <a:t>x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function i</a:t>
            </a:r>
            <a:r>
              <a:rPr lang="en-US" b="1" baseline="-25000" dirty="0">
                <a:solidFill>
                  <a:srgbClr val="C00000"/>
                </a:solidFill>
              </a:rPr>
              <a:t>x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is called the </a:t>
            </a:r>
            <a:r>
              <a:rPr lang="en-US" b="1" dirty="0">
                <a:solidFill>
                  <a:srgbClr val="C00000"/>
                </a:solidFill>
              </a:rPr>
              <a:t>identity function </a:t>
            </a:r>
            <a:r>
              <a:rPr lang="en-US" dirty="0"/>
              <a:t>on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because it sends </a:t>
            </a:r>
            <a:r>
              <a:rPr lang="en-US" b="1" dirty="0">
                <a:solidFill>
                  <a:srgbClr val="C00000"/>
                </a:solidFill>
              </a:rPr>
              <a:t>each element </a:t>
            </a:r>
            <a:r>
              <a:rPr lang="en-US" dirty="0"/>
              <a:t>of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mapped to </a:t>
            </a:r>
            <a:r>
              <a:rPr lang="en-US" b="1" dirty="0">
                <a:solidFill>
                  <a:srgbClr val="C00000"/>
                </a:solidFill>
              </a:rPr>
              <a:t>itself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X = </a:t>
            </a:r>
            <a:r>
              <a:rPr lang="en-US" dirty="0">
                <a:solidFill>
                  <a:srgbClr val="C00000"/>
                </a:solidFill>
              </a:rPr>
              <a:t>{1, 2, 3, 4}.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identity function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i</a:t>
            </a:r>
            <a:r>
              <a:rPr lang="en-US" b="1" baseline="-25000" dirty="0">
                <a:solidFill>
                  <a:srgbClr val="C00000"/>
                </a:solidFill>
              </a:rPr>
              <a:t>x</a:t>
            </a:r>
            <a:r>
              <a:rPr lang="en-US" dirty="0"/>
              <a:t> on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is represented by the </a:t>
            </a:r>
            <a:r>
              <a:rPr lang="en-US" dirty="0">
                <a:solidFill>
                  <a:srgbClr val="C00000"/>
                </a:solidFill>
              </a:rPr>
              <a:t>arrow diagram.</a:t>
            </a:r>
          </a:p>
          <a:p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15996" y="2868705"/>
            <a:ext cx="55626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CONSTANT FUNCTION ON A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36904" y="1509395"/>
            <a:ext cx="10345271" cy="4937760"/>
          </a:xfrm>
        </p:spPr>
        <p:txBody>
          <a:bodyPr>
            <a:normAutofit/>
          </a:bodyPr>
          <a:lstStyle/>
          <a:p>
            <a:r>
              <a:rPr lang="en-US" sz="2400" dirty="0"/>
              <a:t>A function </a:t>
            </a:r>
            <a:r>
              <a:rPr lang="en-US" sz="2400" dirty="0">
                <a:solidFill>
                  <a:srgbClr val="C00000"/>
                </a:solidFill>
              </a:rPr>
              <a:t>f:</a:t>
            </a:r>
            <a:r>
              <a:rPr lang="en-US" sz="2400" dirty="0"/>
              <a:t>X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dirty="0"/>
              <a:t>Y is </a:t>
            </a:r>
            <a:r>
              <a:rPr lang="en-US" sz="2400" dirty="0">
                <a:solidFill>
                  <a:srgbClr val="C00000"/>
                </a:solidFill>
              </a:rPr>
              <a:t>constant function </a:t>
            </a:r>
            <a:r>
              <a:rPr lang="en-US" sz="2400" dirty="0"/>
              <a:t>if it maps (sends) </a:t>
            </a:r>
            <a:r>
              <a:rPr lang="en-US" sz="2400" dirty="0">
                <a:solidFill>
                  <a:srgbClr val="C00000"/>
                </a:solidFill>
              </a:rPr>
              <a:t>all elements </a:t>
            </a:r>
            <a:r>
              <a:rPr lang="en-US" sz="2400" dirty="0"/>
              <a:t>of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 to </a:t>
            </a:r>
            <a:r>
              <a:rPr lang="en-US" sz="2400" dirty="0">
                <a:solidFill>
                  <a:srgbClr val="C00000"/>
                </a:solidFill>
              </a:rPr>
              <a:t>one element </a:t>
            </a:r>
            <a:r>
              <a:rPr lang="en-US" sz="2400" dirty="0"/>
              <a:t>of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  <a:r>
              <a:rPr lang="en-US" sz="2400" dirty="0"/>
              <a:t> i.e. </a:t>
            </a:r>
            <a:endParaRPr lang="en-US" sz="2400" dirty="0">
              <a:solidFill>
                <a:srgbClr val="C00000"/>
              </a:solidFill>
              <a:sym typeface="Symbol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  <a:sym typeface="Symbol"/>
              </a:rPr>
              <a:t>		</a:t>
            </a:r>
            <a:r>
              <a:rPr lang="en-US" sz="2400" dirty="0">
                <a:sym typeface="Symbol"/>
              </a:rPr>
              <a:t> </a:t>
            </a:r>
            <a:r>
              <a:rPr lang="en-US" sz="2400" dirty="0"/>
              <a:t>x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2400" dirty="0"/>
              <a:t>X, f(x) </a:t>
            </a:r>
            <a:r>
              <a:rPr lang="en-US" sz="2400" dirty="0">
                <a:solidFill>
                  <a:srgbClr val="C00000"/>
                </a:solidFill>
              </a:rPr>
              <a:t>=</a:t>
            </a:r>
            <a:r>
              <a:rPr lang="en-US" sz="2400" dirty="0"/>
              <a:t> c for some c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 </a:t>
            </a:r>
            <a:r>
              <a:rPr lang="en-US" sz="2400" dirty="0">
                <a:sym typeface="Symbol"/>
              </a:rPr>
              <a:t>Y</a:t>
            </a:r>
            <a:r>
              <a:rPr lang="en-US" sz="2400" dirty="0"/>
              <a:t>. </a:t>
            </a:r>
          </a:p>
          <a:p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constant function </a:t>
            </a:r>
            <a:r>
              <a:rPr lang="en-US" sz="2400" dirty="0"/>
              <a:t>is </a:t>
            </a:r>
            <a:r>
              <a:rPr lang="en-US" sz="2400" dirty="0">
                <a:solidFill>
                  <a:srgbClr val="C00000"/>
                </a:solidFill>
              </a:rPr>
              <a:t>one-to-one</a:t>
            </a:r>
            <a:r>
              <a:rPr lang="en-US" sz="2400" dirty="0"/>
              <a:t> </a:t>
            </a:r>
            <a:r>
              <a:rPr lang="en-US" sz="2400" dirty="0" err="1"/>
              <a:t>iff</a:t>
            </a:r>
            <a:r>
              <a:rPr lang="en-US" sz="2400" dirty="0"/>
              <a:t> its </a:t>
            </a:r>
            <a:r>
              <a:rPr lang="en-US" sz="2400" dirty="0">
                <a:solidFill>
                  <a:srgbClr val="C00000"/>
                </a:solidFill>
              </a:rPr>
              <a:t>domain</a:t>
            </a:r>
            <a:r>
              <a:rPr lang="en-US" sz="2400" dirty="0"/>
              <a:t> is a </a:t>
            </a:r>
            <a:r>
              <a:rPr lang="en-US" sz="2400" dirty="0">
                <a:solidFill>
                  <a:srgbClr val="C00000"/>
                </a:solidFill>
              </a:rPr>
              <a:t>singleton.</a:t>
            </a:r>
          </a:p>
          <a:p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constant function </a:t>
            </a:r>
            <a:r>
              <a:rPr lang="en-US" sz="2400" dirty="0"/>
              <a:t>is </a:t>
            </a:r>
            <a:r>
              <a:rPr lang="en-US" sz="2400" dirty="0">
                <a:solidFill>
                  <a:srgbClr val="C00000"/>
                </a:solidFill>
              </a:rPr>
              <a:t>onto</a:t>
            </a:r>
            <a:r>
              <a:rPr lang="en-US" sz="2400" dirty="0"/>
              <a:t> </a:t>
            </a:r>
            <a:r>
              <a:rPr lang="en-US" sz="2400" dirty="0" err="1"/>
              <a:t>iff</a:t>
            </a:r>
            <a:r>
              <a:rPr lang="en-US" sz="2400" dirty="0"/>
              <a:t> its </a:t>
            </a:r>
            <a:r>
              <a:rPr lang="en-US" sz="2400" dirty="0">
                <a:solidFill>
                  <a:srgbClr val="C00000"/>
                </a:solidFill>
              </a:rPr>
              <a:t>co-domain</a:t>
            </a:r>
            <a:r>
              <a:rPr lang="en-US" sz="2400" dirty="0"/>
              <a:t> is a </a:t>
            </a:r>
            <a:r>
              <a:rPr lang="en-US" sz="2400" dirty="0">
                <a:solidFill>
                  <a:srgbClr val="C00000"/>
                </a:solidFill>
              </a:rPr>
              <a:t>singleton</a:t>
            </a:r>
            <a:r>
              <a:rPr lang="en-US" sz="2400" dirty="0"/>
              <a:t>. </a:t>
            </a:r>
          </a:p>
        </p:txBody>
      </p:sp>
      <p:pic>
        <p:nvPicPr>
          <p:cNvPr id="41986" name="Picture 2" descr="Constant function - Simple English Wikipedia, the free encyclopedia">
            <a:extLst>
              <a:ext uri="{FF2B5EF4-FFF2-40B4-BE49-F238E27FC236}">
                <a16:creationId xmlns:a16="http://schemas.microsoft.com/office/drawing/2014/main" id="{8852790E-ACE7-4D68-1D46-F53BC3468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699" y="3978275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06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8272-A7FC-4221-8FBE-A35309A99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224" y="1200150"/>
            <a:ext cx="5559552" cy="4114800"/>
          </a:xfrm>
        </p:spPr>
        <p:txBody>
          <a:bodyPr>
            <a:normAutofit fontScale="90000"/>
          </a:bodyPr>
          <a:lstStyle/>
          <a:p>
            <a:r>
              <a:rPr lang="en-US" dirty="0"/>
              <a:t>INVERSE </a:t>
            </a:r>
            <a:br>
              <a:rPr lang="en-US" dirty="0"/>
            </a:br>
            <a:r>
              <a:rPr lang="en-US" dirty="0"/>
              <a:t>&amp;</a:t>
            </a:r>
            <a:br>
              <a:rPr lang="en-US" dirty="0"/>
            </a:br>
            <a:r>
              <a:rPr lang="en-US" dirty="0"/>
              <a:t> COMPOSITIONS</a:t>
            </a:r>
            <a:br>
              <a:rPr lang="en-US" dirty="0"/>
            </a:br>
            <a:r>
              <a:rPr lang="en-US" dirty="0"/>
              <a:t>OF</a:t>
            </a:r>
            <a:br>
              <a:rPr lang="en-US" dirty="0"/>
            </a:br>
            <a:r>
              <a:rPr lang="en-US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21050305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831663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EQUALITY OF FUNCTIONS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02433" y="1196788"/>
            <a:ext cx="10515600" cy="466451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Suppose </a:t>
            </a:r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g</a:t>
            </a:r>
            <a:r>
              <a:rPr lang="en-US" sz="2400" dirty="0"/>
              <a:t> are functions from </a:t>
            </a:r>
            <a:r>
              <a:rPr lang="en-US" sz="2400" b="1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C00000"/>
                </a:solidFill>
              </a:rPr>
              <a:t>Y</a:t>
            </a:r>
            <a:r>
              <a:rPr lang="en-US" sz="2400" dirty="0"/>
              <a:t>.  Then </a:t>
            </a:r>
            <a:r>
              <a:rPr lang="en-US" sz="2400" b="1" dirty="0">
                <a:solidFill>
                  <a:srgbClr val="C00000"/>
                </a:solidFill>
              </a:rPr>
              <a:t>f equals g,</a:t>
            </a:r>
            <a:r>
              <a:rPr lang="en-US" sz="2400" dirty="0"/>
              <a:t> written  </a:t>
            </a:r>
            <a:r>
              <a:rPr lang="en-US" sz="2400" b="1" dirty="0">
                <a:solidFill>
                  <a:srgbClr val="C00000"/>
                </a:solidFill>
              </a:rPr>
              <a:t>f = g</a:t>
            </a:r>
            <a:r>
              <a:rPr lang="en-US" sz="2400" dirty="0"/>
              <a:t>, if, and only if, </a:t>
            </a:r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  <a:buNone/>
            </a:pPr>
            <a:r>
              <a:rPr lang="en-US" sz="2400" dirty="0"/>
              <a:t>			</a:t>
            </a:r>
            <a:r>
              <a:rPr lang="en-US" sz="2400" dirty="0">
                <a:solidFill>
                  <a:srgbClr val="C00000"/>
                </a:solidFill>
              </a:rPr>
              <a:t>f(x) = g(x)    </a:t>
            </a:r>
            <a:r>
              <a:rPr lang="en-US" sz="2400" dirty="0"/>
              <a:t>for all    </a:t>
            </a:r>
            <a:r>
              <a:rPr lang="en-US" sz="2400" dirty="0">
                <a:solidFill>
                  <a:srgbClr val="C00000"/>
                </a:solidFill>
              </a:rPr>
              <a:t>x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i.e. </a:t>
            </a:r>
          </a:p>
          <a:p>
            <a:pPr>
              <a:lnSpc>
                <a:spcPct val="120000"/>
              </a:lnSpc>
              <a:buNone/>
            </a:pPr>
            <a:r>
              <a:rPr lang="en-US" sz="2400" dirty="0">
                <a:solidFill>
                  <a:srgbClr val="C00000"/>
                </a:solidFill>
              </a:rPr>
              <a:t>		image of x under f </a:t>
            </a:r>
            <a:r>
              <a:rPr lang="en-US" sz="2400" dirty="0"/>
              <a:t>=</a:t>
            </a:r>
            <a:r>
              <a:rPr lang="en-US" sz="2400" dirty="0">
                <a:solidFill>
                  <a:srgbClr val="C00000"/>
                </a:solidFill>
              </a:rPr>
              <a:t> image of x under g</a:t>
            </a:r>
          </a:p>
          <a:p>
            <a:pPr>
              <a:lnSpc>
                <a:spcPct val="120000"/>
              </a:lnSpc>
            </a:pPr>
            <a:r>
              <a:rPr lang="en-US" sz="2400" b="1" u="sng" dirty="0"/>
              <a:t>Note:</a:t>
            </a:r>
          </a:p>
          <a:p>
            <a:pPr>
              <a:lnSpc>
                <a:spcPct val="120000"/>
              </a:lnSpc>
              <a:buNone/>
            </a:pPr>
            <a:r>
              <a:rPr lang="en-US" sz="2400" dirty="0">
                <a:solidFill>
                  <a:srgbClr val="C00000"/>
                </a:solidFill>
              </a:rPr>
              <a:t>   For functions to be equal, their </a:t>
            </a:r>
            <a:r>
              <a:rPr lang="en-US" sz="2400" b="1" i="1" dirty="0">
                <a:solidFill>
                  <a:srgbClr val="00B050"/>
                </a:solidFill>
              </a:rPr>
              <a:t>domain</a:t>
            </a:r>
            <a:r>
              <a:rPr lang="en-US" sz="2400" dirty="0">
                <a:solidFill>
                  <a:srgbClr val="C00000"/>
                </a:solidFill>
              </a:rPr>
              <a:t> and </a:t>
            </a:r>
            <a:r>
              <a:rPr lang="en-US" sz="2400" b="1" i="1" dirty="0">
                <a:solidFill>
                  <a:srgbClr val="00B050"/>
                </a:solidFill>
              </a:rPr>
              <a:t>co-domain</a:t>
            </a:r>
            <a:r>
              <a:rPr lang="en-US" sz="2400" dirty="0">
                <a:solidFill>
                  <a:srgbClr val="C00000"/>
                </a:solidFill>
              </a:rPr>
              <a:t> must be the </a:t>
            </a:r>
            <a:r>
              <a:rPr lang="en-US" sz="2400" b="1" i="1" dirty="0">
                <a:solidFill>
                  <a:srgbClr val="00B050"/>
                </a:solidFill>
              </a:rPr>
              <a:t>same</a:t>
            </a:r>
            <a:r>
              <a:rPr lang="en-US" sz="2400" dirty="0">
                <a:solidFill>
                  <a:srgbClr val="C00000"/>
                </a:solidFill>
              </a:rPr>
              <a:t>. If domain and co-domain are not equal then their functions equality is not possible.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5" y="1911096"/>
            <a:ext cx="10515599" cy="385974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Define </a:t>
            </a:r>
            <a:r>
              <a:rPr lang="en-US" b="1" dirty="0">
                <a:solidFill>
                  <a:srgbClr val="C00000"/>
                </a:solidFill>
              </a:rPr>
              <a:t>f: R →R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g: R→R </a:t>
            </a:r>
            <a:r>
              <a:rPr lang="en-US" dirty="0"/>
              <a:t>by formulas:</a:t>
            </a:r>
          </a:p>
          <a:p>
            <a:pPr>
              <a:buNone/>
            </a:pPr>
            <a:r>
              <a:rPr lang="en-US" dirty="0"/>
              <a:t>				</a:t>
            </a:r>
          </a:p>
          <a:p>
            <a:pPr>
              <a:buNone/>
            </a:pPr>
            <a:r>
              <a:rPr lang="en-US" dirty="0"/>
              <a:t>			    </a:t>
            </a:r>
            <a:r>
              <a:rPr lang="en-US" b="1" dirty="0">
                <a:solidFill>
                  <a:srgbClr val="C00000"/>
                </a:solidFill>
              </a:rPr>
              <a:t>f(x) =</a:t>
            </a:r>
            <a:r>
              <a:rPr lang="en-US" dirty="0"/>
              <a:t> |x|		for all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/>
              <a:t>R</a:t>
            </a:r>
          </a:p>
          <a:p>
            <a:pPr>
              <a:buNone/>
            </a:pPr>
            <a:r>
              <a:rPr lang="en-US" dirty="0"/>
              <a:t>                       </a:t>
            </a:r>
            <a:r>
              <a:rPr lang="en-US" b="1" dirty="0">
                <a:solidFill>
                  <a:srgbClr val="C00000"/>
                </a:solidFill>
              </a:rPr>
              <a:t>g(x) =      </a:t>
            </a:r>
            <a:r>
              <a:rPr lang="en-US" dirty="0"/>
              <a:t>		for all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/>
              <a:t>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Since the </a:t>
            </a:r>
            <a:r>
              <a:rPr lang="en-US" dirty="0">
                <a:solidFill>
                  <a:srgbClr val="C00000"/>
                </a:solidFill>
              </a:rPr>
              <a:t>absolute value</a:t>
            </a:r>
            <a:r>
              <a:rPr lang="en-US" dirty="0"/>
              <a:t> of a </a:t>
            </a:r>
            <a:r>
              <a:rPr lang="en-US" dirty="0">
                <a:solidFill>
                  <a:srgbClr val="C00000"/>
                </a:solidFill>
              </a:rPr>
              <a:t>real number </a:t>
            </a:r>
            <a:r>
              <a:rPr lang="en-US" dirty="0"/>
              <a:t>equals to </a:t>
            </a:r>
            <a:r>
              <a:rPr lang="en-US" dirty="0">
                <a:solidFill>
                  <a:srgbClr val="C00000"/>
                </a:solidFill>
              </a:rPr>
              <a:t>square root </a:t>
            </a:r>
            <a:r>
              <a:rPr lang="en-US" dirty="0"/>
              <a:t>of its </a:t>
            </a:r>
            <a:r>
              <a:rPr lang="en-US" dirty="0">
                <a:solidFill>
                  <a:srgbClr val="C00000"/>
                </a:solidFill>
              </a:rPr>
              <a:t>square.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i.e., 	 |x| = 	       for all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/>
              <a:t>R</a:t>
            </a:r>
          </a:p>
          <a:p>
            <a:pPr>
              <a:buNone/>
            </a:pPr>
            <a:r>
              <a:rPr lang="en-US" dirty="0"/>
              <a:t>	Therefore  </a:t>
            </a:r>
            <a:r>
              <a:rPr lang="en-US" b="1" dirty="0">
                <a:solidFill>
                  <a:srgbClr val="C00000"/>
                </a:solidFill>
              </a:rPr>
              <a:t>f(x) = g(x) </a:t>
            </a:r>
            <a:r>
              <a:rPr lang="en-US" dirty="0"/>
              <a:t>for all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/>
              <a:t>R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5105400" y="2667000"/>
          <a:ext cx="68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3" imgW="304560" imgH="253800" progId="Equation.3">
                  <p:embed/>
                </p:oleObj>
              </mc:Choice>
              <mc:Fallback>
                <p:oleObj name="Equation" r:id="rId3" imgW="304560" imgH="253800" progId="Equation.3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667000"/>
                        <a:ext cx="685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491607"/>
              </p:ext>
            </p:extLst>
          </p:nvPr>
        </p:nvGraphicFramePr>
        <p:xfrm>
          <a:off x="2862922" y="4799145"/>
          <a:ext cx="68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5" imgW="304560" imgH="253800" progId="Equation.3">
                  <p:embed/>
                </p:oleObj>
              </mc:Choice>
              <mc:Fallback>
                <p:oleObj name="Equation" r:id="rId5" imgW="304560" imgH="253800" progId="Equation.3">
                  <p:embed/>
                  <p:pic>
                    <p:nvPicPr>
                      <p:cNvPr id="358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922" y="4799145"/>
                        <a:ext cx="685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Define functions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 from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to</a:t>
            </a:r>
            <a:r>
              <a:rPr lang="en-US" dirty="0">
                <a:solidFill>
                  <a:srgbClr val="C00000"/>
                </a:solidFill>
              </a:rPr>
              <a:t> R </a:t>
            </a:r>
            <a:r>
              <a:rPr lang="en-US" dirty="0"/>
              <a:t>by formulas: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f(x) = 2x 	and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for all </a:t>
            </a:r>
            <a:r>
              <a:rPr lang="en-US" dirty="0">
                <a:solidFill>
                  <a:srgbClr val="C00000"/>
                </a:solidFill>
              </a:rPr>
              <a:t>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		Show that </a:t>
            </a:r>
          </a:p>
          <a:p>
            <a:pPr>
              <a:buNone/>
            </a:pPr>
            <a:r>
              <a:rPr lang="en-US" dirty="0"/>
              <a:t>					</a:t>
            </a:r>
            <a:r>
              <a:rPr lang="en-US" b="1" dirty="0">
                <a:solidFill>
                  <a:srgbClr val="C00000"/>
                </a:solidFill>
              </a:rPr>
              <a:t>f = g</a:t>
            </a:r>
          </a:p>
          <a:p>
            <a:endParaRPr lang="en-US" dirty="0"/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323521"/>
              </p:ext>
            </p:extLst>
          </p:nvPr>
        </p:nvGraphicFramePr>
        <p:xfrm>
          <a:off x="4873659" y="2810436"/>
          <a:ext cx="184727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r:id="rId3" imgW="1015920" imgH="419040" progId="">
                  <p:embed/>
                </p:oleObj>
              </mc:Choice>
              <mc:Fallback>
                <p:oleObj r:id="rId3" imgW="1015920" imgH="419040" progId="">
                  <p:embed/>
                  <p:pic>
                    <p:nvPicPr>
                      <p:cNvPr id="368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59" y="2810436"/>
                        <a:ext cx="184727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				Accordingly  </a:t>
            </a:r>
            <a:r>
              <a:rPr lang="en-US" b="1" dirty="0">
                <a:solidFill>
                  <a:srgbClr val="C00000"/>
                </a:solidFill>
              </a:rPr>
              <a:t>f = g</a:t>
            </a: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315819"/>
              </p:ext>
            </p:extLst>
          </p:nvPr>
        </p:nvGraphicFramePr>
        <p:xfrm>
          <a:off x="3648635" y="1690688"/>
          <a:ext cx="6172200" cy="3191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r:id="rId3" imgW="2603160" imgH="1346040" progId="">
                  <p:embed/>
                </p:oleObj>
              </mc:Choice>
              <mc:Fallback>
                <p:oleObj r:id="rId3" imgW="2603160" imgH="1346040" progId="">
                  <p:embed/>
                  <p:pic>
                    <p:nvPicPr>
                      <p:cNvPr id="378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635" y="1690688"/>
                        <a:ext cx="6172200" cy="31914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INVERSE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25296" y="5192992"/>
            <a:ext cx="9829800" cy="1223683"/>
          </a:xfrm>
        </p:spPr>
        <p:txBody>
          <a:bodyPr>
            <a:normAutofit/>
          </a:bodyPr>
          <a:lstStyle/>
          <a:p>
            <a:endParaRPr lang="en-US" dirty="0"/>
          </a:p>
          <a:p>
            <a:pPr algn="ctr">
              <a:buNone/>
            </a:pPr>
            <a:r>
              <a:rPr lang="en-US" b="1" dirty="0">
                <a:solidFill>
                  <a:srgbClr val="C00000"/>
                </a:solidFill>
              </a:rPr>
              <a:t>Inverse</a:t>
            </a:r>
            <a:r>
              <a:rPr lang="en-US" dirty="0"/>
              <a:t> of a </a:t>
            </a:r>
            <a:r>
              <a:rPr lang="en-US" b="1" dirty="0">
                <a:solidFill>
                  <a:srgbClr val="C00000"/>
                </a:solidFill>
              </a:rPr>
              <a:t>function</a:t>
            </a:r>
            <a:r>
              <a:rPr lang="en-US" dirty="0"/>
              <a:t> may not be a </a:t>
            </a:r>
            <a:r>
              <a:rPr lang="en-US" b="1" dirty="0">
                <a:solidFill>
                  <a:srgbClr val="C00000"/>
                </a:solidFill>
              </a:rPr>
              <a:t>function</a:t>
            </a:r>
            <a:r>
              <a:rPr lang="en-US" dirty="0"/>
              <a:t>.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9070" y="1219200"/>
            <a:ext cx="7028329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INVERSE OF INJECTIVE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40188" y="5755341"/>
            <a:ext cx="8515753" cy="632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Inverse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Injective function</a:t>
            </a:r>
            <a:r>
              <a:rPr lang="en-US" dirty="0"/>
              <a:t> may not be a </a:t>
            </a:r>
            <a:r>
              <a:rPr lang="en-US" b="1" dirty="0">
                <a:solidFill>
                  <a:srgbClr val="C00000"/>
                </a:solidFill>
              </a:rPr>
              <a:t>function</a:t>
            </a:r>
            <a:r>
              <a:rPr lang="en-US" dirty="0"/>
              <a:t>.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8035" y="1447800"/>
            <a:ext cx="6875929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INVERSE OF SURJECTIVE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83976" y="5835584"/>
            <a:ext cx="9829800" cy="657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Inverse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Surjective function</a:t>
            </a:r>
            <a:r>
              <a:rPr lang="en-US" dirty="0"/>
              <a:t> may not be a </a:t>
            </a:r>
            <a:r>
              <a:rPr lang="en-US" b="1" dirty="0">
                <a:solidFill>
                  <a:srgbClr val="C00000"/>
                </a:solidFill>
              </a:rPr>
              <a:t>function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295400"/>
            <a:ext cx="6938682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INVERSE OF BIJECTIVE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05000" y="1143000"/>
            <a:ext cx="8229600" cy="52578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6115" y="1361748"/>
            <a:ext cx="6875929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057400" y="6031210"/>
            <a:ext cx="90174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Note: </a:t>
            </a:r>
            <a:r>
              <a:rPr lang="en-US" sz="2400" b="1" i="1" dirty="0">
                <a:solidFill>
                  <a:srgbClr val="C00000"/>
                </a:solidFill>
              </a:rPr>
              <a:t>Inverse of a </a:t>
            </a:r>
            <a:r>
              <a:rPr lang="en-US" sz="2400" b="1" i="1" dirty="0" err="1">
                <a:solidFill>
                  <a:srgbClr val="C00000"/>
                </a:solidFill>
              </a:rPr>
              <a:t>Bijective</a:t>
            </a:r>
            <a:r>
              <a:rPr lang="en-US" sz="2400" b="1" i="1" dirty="0">
                <a:solidFill>
                  <a:srgbClr val="C00000"/>
                </a:solidFill>
              </a:rPr>
              <a:t> function will always be a function.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INVERSE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7" y="1911096"/>
            <a:ext cx="8999848" cy="43821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Suppose </a:t>
            </a:r>
            <a:r>
              <a:rPr lang="en-US" sz="2400" b="1" dirty="0">
                <a:solidFill>
                  <a:srgbClr val="C00000"/>
                </a:solidFill>
              </a:rPr>
              <a:t>f: X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b="1" dirty="0">
                <a:solidFill>
                  <a:srgbClr val="C00000"/>
                </a:solidFill>
              </a:rPr>
              <a:t>Y</a:t>
            </a:r>
            <a:r>
              <a:rPr lang="en-US" sz="2400" dirty="0"/>
              <a:t> is a </a:t>
            </a:r>
            <a:r>
              <a:rPr lang="en-US" sz="2400" dirty="0" err="1">
                <a:solidFill>
                  <a:srgbClr val="C00000"/>
                </a:solidFill>
              </a:rPr>
              <a:t>Bijective</a:t>
            </a:r>
            <a:r>
              <a:rPr lang="en-US" sz="2400" dirty="0">
                <a:solidFill>
                  <a:srgbClr val="C00000"/>
                </a:solidFill>
              </a:rPr>
              <a:t> function</a:t>
            </a:r>
            <a:r>
              <a:rPr lang="en-US" sz="2400" dirty="0"/>
              <a:t>. Then the </a:t>
            </a:r>
            <a:r>
              <a:rPr lang="en-US" sz="2400" dirty="0">
                <a:solidFill>
                  <a:srgbClr val="C00000"/>
                </a:solidFill>
              </a:rPr>
              <a:t>inverse function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sz="2400" b="1" baseline="30000" dirty="0">
                <a:solidFill>
                  <a:srgbClr val="C00000"/>
                </a:solidFill>
              </a:rPr>
              <a:t>-1</a:t>
            </a:r>
            <a:r>
              <a:rPr lang="en-US" sz="2400" b="1" dirty="0">
                <a:solidFill>
                  <a:srgbClr val="C00000"/>
                </a:solidFill>
              </a:rPr>
              <a:t>: Y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b="1" dirty="0">
                <a:solidFill>
                  <a:srgbClr val="C00000"/>
                </a:solidFill>
              </a:rPr>
              <a:t>X </a:t>
            </a:r>
            <a:r>
              <a:rPr lang="en-US" sz="2400" dirty="0"/>
              <a:t>is defined as: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  <a:buNone/>
            </a:pPr>
            <a:r>
              <a:rPr lang="en-US" sz="2400" dirty="0">
                <a:sym typeface="Symbol"/>
              </a:rPr>
              <a:t>			</a:t>
            </a:r>
            <a:r>
              <a:rPr lang="en-US" sz="2400" dirty="0">
                <a:solidFill>
                  <a:srgbClr val="C00000"/>
                </a:solidFill>
              </a:rPr>
              <a:t>f</a:t>
            </a:r>
            <a:r>
              <a:rPr lang="en-US" sz="2400" baseline="30000" dirty="0">
                <a:solidFill>
                  <a:srgbClr val="C00000"/>
                </a:solidFill>
              </a:rPr>
              <a:t>-1</a:t>
            </a:r>
            <a:r>
              <a:rPr lang="en-US" sz="2400" dirty="0">
                <a:solidFill>
                  <a:srgbClr val="C00000"/>
                </a:solidFill>
              </a:rPr>
              <a:t>(y) = x 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</a:t>
            </a:r>
            <a:r>
              <a:rPr lang="en-US" sz="2400" dirty="0">
                <a:solidFill>
                  <a:srgbClr val="C00000"/>
                </a:solidFill>
              </a:rPr>
              <a:t> y = f(x) 	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  </a:t>
            </a:r>
            <a:r>
              <a:rPr lang="en-US" sz="2400" dirty="0">
                <a:solidFill>
                  <a:srgbClr val="C00000"/>
                </a:solidFill>
              </a:rPr>
              <a:t> y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That is, </a:t>
            </a:r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sz="2400" b="1" baseline="30000" dirty="0">
                <a:solidFill>
                  <a:srgbClr val="C00000"/>
                </a:solidFill>
              </a:rPr>
              <a:t>-1</a:t>
            </a:r>
            <a:r>
              <a:rPr lang="en-US" sz="2400" dirty="0"/>
              <a:t> sends </a:t>
            </a:r>
            <a:r>
              <a:rPr lang="en-US" sz="2400" b="1" dirty="0">
                <a:solidFill>
                  <a:srgbClr val="C00000"/>
                </a:solidFill>
              </a:rPr>
              <a:t>each element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C00000"/>
                </a:solidFill>
              </a:rPr>
              <a:t>Y</a:t>
            </a:r>
            <a:r>
              <a:rPr lang="en-US" sz="2400" dirty="0"/>
              <a:t> back to the element of </a:t>
            </a:r>
            <a:r>
              <a:rPr lang="en-US" sz="2400" b="1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 that it came from under </a:t>
            </a:r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ARROW DIAGRAM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1524000"/>
            <a:ext cx="716728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function</a:t>
            </a:r>
            <a:r>
              <a:rPr lang="en-US" dirty="0"/>
              <a:t> whose </a:t>
            </a:r>
            <a:r>
              <a:rPr lang="en-US" dirty="0">
                <a:solidFill>
                  <a:srgbClr val="C00000"/>
                </a:solidFill>
              </a:rPr>
              <a:t>inverse function </a:t>
            </a:r>
            <a:r>
              <a:rPr lang="en-US" dirty="0"/>
              <a:t>exists is called an </a:t>
            </a:r>
            <a:r>
              <a:rPr lang="en-US" b="1" dirty="0">
                <a:solidFill>
                  <a:srgbClr val="C00000"/>
                </a:solidFill>
              </a:rPr>
              <a:t>invertible function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Only </a:t>
            </a:r>
            <a:r>
              <a:rPr lang="en-US" b="1" dirty="0" err="1">
                <a:solidFill>
                  <a:srgbClr val="C00000"/>
                </a:solidFill>
              </a:rPr>
              <a:t>Bijective</a:t>
            </a:r>
            <a:r>
              <a:rPr lang="en-US" b="1" dirty="0">
                <a:solidFill>
                  <a:srgbClr val="C00000"/>
                </a:solidFill>
              </a:rPr>
              <a:t> functions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invertible functions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13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600" b="1" u="sng" dirty="0">
                <a:solidFill>
                  <a:srgbClr val="0070C0"/>
                </a:solidFill>
              </a:rPr>
              <a:t>INVERSE FUNCTION FROM AN ARROW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72671" y="1524000"/>
            <a:ext cx="10659035" cy="515918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Let the </a:t>
            </a:r>
            <a:r>
              <a:rPr lang="en-US" sz="2400" dirty="0">
                <a:solidFill>
                  <a:srgbClr val="C00000"/>
                </a:solidFill>
              </a:rPr>
              <a:t>bijection f:X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dirty="0">
                <a:solidFill>
                  <a:srgbClr val="C00000"/>
                </a:solidFill>
              </a:rPr>
              <a:t>Y </a:t>
            </a:r>
            <a:r>
              <a:rPr lang="en-US" sz="2400" dirty="0"/>
              <a:t>be defined by the arrow diagram.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inverse function </a:t>
            </a:r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sz="2400" b="1" baseline="30000" dirty="0">
                <a:solidFill>
                  <a:srgbClr val="C00000"/>
                </a:solidFill>
              </a:rPr>
              <a:t>-1</a:t>
            </a:r>
            <a:r>
              <a:rPr lang="en-US" sz="2400" b="1" dirty="0">
                <a:solidFill>
                  <a:srgbClr val="C00000"/>
                </a:solidFill>
              </a:rPr>
              <a:t>:Y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b="1" dirty="0">
                <a:solidFill>
                  <a:srgbClr val="C00000"/>
                </a:solidFill>
              </a:rPr>
              <a:t>X </a:t>
            </a:r>
            <a:r>
              <a:rPr lang="en-US" sz="2400" dirty="0"/>
              <a:t>is represented below by the arrow diagram.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8742" y="2274794"/>
            <a:ext cx="324802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10879" y="2274794"/>
            <a:ext cx="2971800" cy="3236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u="sng" dirty="0">
                <a:solidFill>
                  <a:srgbClr val="0070C0"/>
                </a:solidFill>
              </a:rPr>
              <a:t>WORKING RULE TO FIND INVERSE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6" y="1911096"/>
            <a:ext cx="9752884" cy="3859742"/>
          </a:xfrm>
        </p:spPr>
        <p:txBody>
          <a:bodyPr/>
          <a:lstStyle/>
          <a:p>
            <a:r>
              <a:rPr lang="en-US" dirty="0"/>
              <a:t>First we write the function </a:t>
            </a:r>
            <a:r>
              <a:rPr lang="en-US" dirty="0">
                <a:solidFill>
                  <a:srgbClr val="C00000"/>
                </a:solidFill>
              </a:rPr>
              <a:t>f(x)</a:t>
            </a:r>
            <a:r>
              <a:rPr lang="en-US" dirty="0"/>
              <a:t> and solve </a:t>
            </a:r>
            <a:r>
              <a:rPr lang="en-US" dirty="0">
                <a:solidFill>
                  <a:srgbClr val="C00000"/>
                </a:solidFill>
              </a:rPr>
              <a:t>f(x) = y </a:t>
            </a:r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(after putting the value of </a:t>
            </a:r>
            <a:r>
              <a:rPr lang="en-US" dirty="0">
                <a:solidFill>
                  <a:srgbClr val="C00000"/>
                </a:solidFill>
              </a:rPr>
              <a:t>f(x)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Then we write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baseline="30000" dirty="0">
                <a:solidFill>
                  <a:srgbClr val="C00000"/>
                </a:solidFill>
              </a:rPr>
              <a:t>-1</a:t>
            </a:r>
            <a:r>
              <a:rPr lang="en-US" dirty="0">
                <a:solidFill>
                  <a:srgbClr val="C00000"/>
                </a:solidFill>
              </a:rPr>
              <a:t> (y) = </a:t>
            </a:r>
            <a:r>
              <a:rPr lang="en-US" b="1" dirty="0">
                <a:solidFill>
                  <a:srgbClr val="C00000"/>
                </a:solidFill>
              </a:rPr>
              <a:t>Right hand side of our equation</a:t>
            </a:r>
            <a:r>
              <a:rPr lang="en-US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a function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/>
              <a:t> be defined on a set of real numbers as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			 for all real numbers </a:t>
            </a:r>
            <a:r>
              <a:rPr lang="en-US" dirty="0">
                <a:solidFill>
                  <a:srgbClr val="C00000"/>
                </a:solidFill>
              </a:rPr>
              <a:t>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>
                <a:solidFill>
                  <a:srgbClr val="C00000"/>
                </a:solidFill>
              </a:rPr>
              <a:t>1</a:t>
            </a:r>
            <a:r>
              <a:rPr lang="en-US" dirty="0"/>
              <a:t>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Find the </a:t>
            </a:r>
            <a:r>
              <a:rPr lang="en-US" dirty="0">
                <a:solidFill>
                  <a:srgbClr val="C00000"/>
                </a:solidFill>
              </a:rPr>
              <a:t>inverse function f</a:t>
            </a:r>
            <a:r>
              <a:rPr lang="en-US" baseline="30000" dirty="0">
                <a:solidFill>
                  <a:srgbClr val="C00000"/>
                </a:solidFill>
              </a:rPr>
              <a:t>-1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885549"/>
              </p:ext>
            </p:extLst>
          </p:nvPr>
        </p:nvGraphicFramePr>
        <p:xfrm>
          <a:off x="2347452" y="2784498"/>
          <a:ext cx="1524000" cy="774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r:id="rId3" imgW="774360" imgH="393480" progId="">
                  <p:embed/>
                </p:oleObj>
              </mc:Choice>
              <mc:Fallback>
                <p:oleObj r:id="rId3" imgW="774360" imgH="393480" progId="">
                  <p:embed/>
                  <p:pic>
                    <p:nvPicPr>
                      <p:cNvPr id="460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452" y="2784498"/>
                        <a:ext cx="1524000" cy="7744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Inverse function of f</a:t>
            </a:r>
          </a:p>
          <a:p>
            <a:pPr marL="514350" indent="-514350">
              <a:buNone/>
            </a:pPr>
            <a:r>
              <a:rPr lang="en-US" b="1" dirty="0"/>
              <a:t>	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given function</a:t>
            </a:r>
            <a:r>
              <a:rPr lang="en-US" dirty="0"/>
              <a:t> f is defined by the </a:t>
            </a:r>
            <a:r>
              <a:rPr lang="en-US" dirty="0">
                <a:solidFill>
                  <a:srgbClr val="C00000"/>
                </a:solidFill>
              </a:rPr>
              <a:t>rule</a:t>
            </a:r>
          </a:p>
          <a:p>
            <a:pPr marL="514350" indent="-514350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</a:t>
            </a:r>
          </a:p>
          <a:p>
            <a:pPr>
              <a:buNone/>
            </a:pPr>
            <a:r>
              <a:rPr lang="en-US" dirty="0">
                <a:sym typeface="Symbol"/>
              </a:rPr>
              <a:t>			</a:t>
            </a:r>
            <a:r>
              <a:rPr lang="es-ES" dirty="0"/>
              <a:t>	</a:t>
            </a:r>
            <a:r>
              <a:rPr lang="es-ES" dirty="0">
                <a:solidFill>
                  <a:srgbClr val="C00000"/>
                </a:solidFill>
              </a:rPr>
              <a:t>x + 1 = y (x-1)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>
                <a:sym typeface="Symbol"/>
              </a:rPr>
              <a:t>			</a:t>
            </a:r>
            <a:r>
              <a:rPr lang="es-ES" dirty="0"/>
              <a:t>	</a:t>
            </a:r>
            <a:r>
              <a:rPr lang="es-ES" dirty="0">
                <a:solidFill>
                  <a:srgbClr val="C00000"/>
                </a:solidFill>
              </a:rPr>
              <a:t>x + 1 = </a:t>
            </a:r>
            <a:r>
              <a:rPr lang="es-ES" dirty="0" err="1">
                <a:solidFill>
                  <a:srgbClr val="C00000"/>
                </a:solidFill>
              </a:rPr>
              <a:t>yx</a:t>
            </a:r>
            <a:r>
              <a:rPr lang="es-ES" dirty="0">
                <a:solidFill>
                  <a:srgbClr val="C00000"/>
                </a:solidFill>
              </a:rPr>
              <a:t>-y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>
                <a:sym typeface="Symbol"/>
              </a:rPr>
              <a:t>			</a:t>
            </a:r>
            <a:r>
              <a:rPr lang="es-ES" dirty="0"/>
              <a:t>	</a:t>
            </a:r>
            <a:r>
              <a:rPr lang="es-ES" dirty="0">
                <a:solidFill>
                  <a:srgbClr val="C00000"/>
                </a:solidFill>
              </a:rPr>
              <a:t>y + 1 = </a:t>
            </a:r>
            <a:r>
              <a:rPr lang="es-ES" dirty="0" err="1">
                <a:solidFill>
                  <a:srgbClr val="C00000"/>
                </a:solidFill>
              </a:rPr>
              <a:t>yx</a:t>
            </a:r>
            <a:r>
              <a:rPr lang="es-ES" dirty="0">
                <a:solidFill>
                  <a:srgbClr val="C00000"/>
                </a:solidFill>
              </a:rPr>
              <a:t>-x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>
                <a:sym typeface="Symbol"/>
              </a:rPr>
              <a:t>			</a:t>
            </a: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y + 1 = x(y-1)</a:t>
            </a:r>
          </a:p>
          <a:p>
            <a:pPr>
              <a:buNone/>
            </a:pPr>
            <a:r>
              <a:rPr lang="en-US" dirty="0">
                <a:sym typeface="Symbol"/>
              </a:rPr>
              <a:t>			</a:t>
            </a:r>
          </a:p>
          <a:p>
            <a:pPr>
              <a:buNone/>
            </a:pPr>
            <a:endParaRPr lang="en-US" dirty="0">
              <a:sym typeface="Symbol"/>
            </a:endParaRPr>
          </a:p>
          <a:p>
            <a:pPr>
              <a:buNone/>
            </a:pPr>
            <a:r>
              <a:rPr lang="en-US" dirty="0"/>
              <a:t>			Hence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b="1" baseline="30000" dirty="0">
                <a:solidFill>
                  <a:srgbClr val="C00000"/>
                </a:solidFill>
              </a:rPr>
              <a:t>-1</a:t>
            </a:r>
            <a:r>
              <a:rPr lang="en-US" b="1" dirty="0">
                <a:solidFill>
                  <a:srgbClr val="C00000"/>
                </a:solidFill>
              </a:rPr>
              <a:t>(y) =</a:t>
            </a:r>
            <a:r>
              <a:rPr lang="en-US" dirty="0"/>
              <a:t> </a:t>
            </a:r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endParaRPr lang="en-US" dirty="0"/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4838700" y="2116392"/>
          <a:ext cx="3242510" cy="779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r:id="rId3" imgW="1638000" imgH="393480" progId="">
                  <p:embed/>
                </p:oleObj>
              </mc:Choice>
              <mc:Fallback>
                <p:oleObj r:id="rId3" imgW="1638000" imgH="393480" progId="">
                  <p:embed/>
                  <p:pic>
                    <p:nvPicPr>
                      <p:cNvPr id="696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2116392"/>
                        <a:ext cx="3242510" cy="779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5334000" y="4599940"/>
          <a:ext cx="1104900" cy="810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r:id="rId5" imgW="571320" imgH="419040" progId="">
                  <p:embed/>
                </p:oleObj>
              </mc:Choice>
              <mc:Fallback>
                <p:oleObj r:id="rId5" imgW="571320" imgH="419040" progId="">
                  <p:embed/>
                  <p:pic>
                    <p:nvPicPr>
                      <p:cNvPr id="696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599940"/>
                        <a:ext cx="1104900" cy="8102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5894294" y="5363496"/>
          <a:ext cx="279250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r:id="rId7" imgW="1269720" imgH="419040" progId="">
                  <p:embed/>
                </p:oleObj>
              </mc:Choice>
              <mc:Fallback>
                <p:oleObj r:id="rId7" imgW="1269720" imgH="419040" progId="">
                  <p:embed/>
                  <p:pic>
                    <p:nvPicPr>
                      <p:cNvPr id="696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4294" y="5363496"/>
                        <a:ext cx="2792507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COMPOSITION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82496" y="1690688"/>
            <a:ext cx="9372600" cy="28956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Note:</a:t>
            </a:r>
          </a:p>
          <a:p>
            <a:pPr marL="788670" lvl="1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Composition of function is always a function.</a:t>
            </a:r>
          </a:p>
          <a:p>
            <a:pPr marL="788670" lvl="1" indent="-514350">
              <a:lnSpc>
                <a:spcPct val="150000"/>
              </a:lnSpc>
              <a:buNone/>
            </a:pPr>
            <a:endParaRPr lang="en-US" dirty="0"/>
          </a:p>
          <a:p>
            <a:pPr marL="788670" lvl="1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The condition to apply composition of function is </a:t>
            </a:r>
            <a:r>
              <a:rPr lang="en-US" b="1" dirty="0">
                <a:solidFill>
                  <a:srgbClr val="C00000"/>
                </a:solidFill>
              </a:rPr>
              <a:t>1</a:t>
            </a:r>
            <a:r>
              <a:rPr lang="en-US" b="1" baseline="30000" dirty="0">
                <a:solidFill>
                  <a:srgbClr val="C00000"/>
                </a:solidFill>
              </a:rPr>
              <a:t>st</a:t>
            </a:r>
            <a:r>
              <a:rPr lang="en-US" b="1" dirty="0">
                <a:solidFill>
                  <a:srgbClr val="C00000"/>
                </a:solidFill>
              </a:rPr>
              <a:t> function range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2</a:t>
            </a:r>
            <a:r>
              <a:rPr lang="en-US" b="1" baseline="30000" dirty="0">
                <a:solidFill>
                  <a:srgbClr val="C00000"/>
                </a:solidFill>
              </a:rPr>
              <a:t>nd</a:t>
            </a:r>
            <a:r>
              <a:rPr lang="en-US" b="1" dirty="0">
                <a:solidFill>
                  <a:srgbClr val="C00000"/>
                </a:solidFill>
              </a:rPr>
              <a:t> function domain’s subset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COMPOSITION OF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36904" y="1690688"/>
            <a:ext cx="9829800" cy="3859742"/>
          </a:xfrm>
        </p:spPr>
        <p:txBody>
          <a:bodyPr>
            <a:normAutofit/>
          </a:bodyPr>
          <a:lstStyle/>
          <a:p>
            <a:r>
              <a:rPr lang="en-US" sz="2400" dirty="0"/>
              <a:t>Let </a:t>
            </a:r>
            <a:r>
              <a:rPr lang="en-US" sz="2400" b="1" dirty="0">
                <a:solidFill>
                  <a:srgbClr val="C00000"/>
                </a:solidFill>
              </a:rPr>
              <a:t>f: X 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b="1" dirty="0">
                <a:solidFill>
                  <a:srgbClr val="C00000"/>
                </a:solidFill>
              </a:rPr>
              <a:t>Y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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g: Y 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b="1" dirty="0">
                <a:solidFill>
                  <a:srgbClr val="C00000"/>
                </a:solidFill>
              </a:rPr>
              <a:t>Z</a:t>
            </a:r>
            <a:r>
              <a:rPr lang="en-US" sz="2400" dirty="0"/>
              <a:t> be functions with the property that the </a:t>
            </a:r>
            <a:r>
              <a:rPr lang="en-US" sz="2400" b="1" dirty="0">
                <a:solidFill>
                  <a:srgbClr val="C00000"/>
                </a:solidFill>
              </a:rPr>
              <a:t>range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sz="2400" dirty="0"/>
              <a:t> is a </a:t>
            </a:r>
            <a:r>
              <a:rPr lang="en-US" sz="2400" b="1" dirty="0">
                <a:solidFill>
                  <a:srgbClr val="C00000"/>
                </a:solidFill>
              </a:rPr>
              <a:t>subset</a:t>
            </a:r>
            <a:r>
              <a:rPr lang="en-US" sz="2400" dirty="0"/>
              <a:t> of the </a:t>
            </a:r>
            <a:r>
              <a:rPr lang="en-US" sz="2400" b="1" dirty="0">
                <a:solidFill>
                  <a:srgbClr val="C00000"/>
                </a:solidFill>
              </a:rPr>
              <a:t>domain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C00000"/>
                </a:solidFill>
              </a:rPr>
              <a:t>g </a:t>
            </a:r>
            <a:r>
              <a:rPr lang="en-US" sz="2400" dirty="0"/>
              <a:t>i.e. </a:t>
            </a:r>
            <a:r>
              <a:rPr lang="en-US" sz="2400" b="1" dirty="0">
                <a:solidFill>
                  <a:srgbClr val="C00000"/>
                </a:solidFill>
              </a:rPr>
              <a:t>f(X) 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 </a:t>
            </a:r>
            <a:r>
              <a:rPr lang="en-US" sz="2400" b="1" dirty="0">
                <a:solidFill>
                  <a:srgbClr val="C00000"/>
                </a:solidFill>
              </a:rPr>
              <a:t>Y</a:t>
            </a:r>
            <a:r>
              <a:rPr lang="en-US" sz="2400" dirty="0"/>
              <a:t>.</a:t>
            </a:r>
          </a:p>
          <a:p>
            <a:r>
              <a:rPr lang="en-US" sz="2400" dirty="0"/>
              <a:t>Define a new function </a:t>
            </a:r>
            <a:r>
              <a:rPr lang="en-US" sz="2400" b="1" dirty="0" err="1">
                <a:solidFill>
                  <a:srgbClr val="C00000"/>
                </a:solidFill>
              </a:rPr>
              <a:t>gof</a:t>
            </a:r>
            <a:r>
              <a:rPr lang="en-US" sz="2400" b="1" dirty="0">
                <a:solidFill>
                  <a:srgbClr val="C00000"/>
                </a:solidFill>
              </a:rPr>
              <a:t>: X 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2400" b="1" dirty="0">
                <a:solidFill>
                  <a:srgbClr val="C00000"/>
                </a:solidFill>
              </a:rPr>
              <a:t>Z</a:t>
            </a:r>
            <a:r>
              <a:rPr lang="en-US" sz="2400" dirty="0"/>
              <a:t> as follows:</a:t>
            </a:r>
          </a:p>
          <a:p>
            <a:pPr>
              <a:buNone/>
            </a:pPr>
            <a:r>
              <a:rPr lang="en-US" sz="2400" dirty="0"/>
              <a:t>	 		</a:t>
            </a:r>
            <a:r>
              <a:rPr lang="en-US" sz="2400" dirty="0">
                <a:solidFill>
                  <a:srgbClr val="C00000"/>
                </a:solidFill>
              </a:rPr>
              <a:t>(</a:t>
            </a:r>
            <a:r>
              <a:rPr lang="en-US" sz="2400" dirty="0" err="1">
                <a:solidFill>
                  <a:srgbClr val="C00000"/>
                </a:solidFill>
              </a:rPr>
              <a:t>gof</a:t>
            </a:r>
            <a:r>
              <a:rPr lang="en-US" sz="2400" dirty="0">
                <a:solidFill>
                  <a:srgbClr val="C00000"/>
                </a:solidFill>
              </a:rPr>
              <a:t>)(x)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C00000"/>
                </a:solidFill>
              </a:rPr>
              <a:t>g(f(x))</a:t>
            </a:r>
            <a:r>
              <a:rPr lang="en-US" sz="2400" dirty="0"/>
              <a:t>	for all </a:t>
            </a:r>
            <a:r>
              <a:rPr lang="en-US" sz="2400" dirty="0">
                <a:solidFill>
                  <a:srgbClr val="C00000"/>
                </a:solidFill>
              </a:rPr>
              <a:t>x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</a:t>
            </a:r>
            <a:r>
              <a:rPr lang="en-US" sz="2400" dirty="0"/>
              <a:t>The function </a:t>
            </a:r>
            <a:r>
              <a:rPr lang="en-US" sz="2400" dirty="0" err="1">
                <a:solidFill>
                  <a:srgbClr val="C00000"/>
                </a:solidFill>
              </a:rPr>
              <a:t>gof</a:t>
            </a:r>
            <a:r>
              <a:rPr lang="en-US" sz="2400" dirty="0"/>
              <a:t> is called the </a:t>
            </a:r>
            <a:r>
              <a:rPr lang="en-US" sz="2400" dirty="0">
                <a:solidFill>
                  <a:srgbClr val="C00000"/>
                </a:solidFill>
              </a:rPr>
              <a:t>composition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C00000"/>
                </a:solidFill>
              </a:rPr>
              <a:t>f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g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endParaRPr lang="en-US" sz="2400" dirty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6500" y="4274080"/>
            <a:ext cx="72390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>
                <a:solidFill>
                  <a:srgbClr val="0070C0"/>
                </a:solidFill>
              </a:rPr>
              <a:t>COMPOSITION OF FUNCTIONS DEFINED BY ARROW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463675"/>
            <a:ext cx="8229600" cy="5029200"/>
          </a:xfrm>
        </p:spPr>
        <p:txBody>
          <a:bodyPr/>
          <a:lstStyle/>
          <a:p>
            <a:r>
              <a:rPr lang="en-US" dirty="0"/>
              <a:t>Let 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X = {1, 2, 3}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</a:t>
            </a:r>
            <a:r>
              <a:rPr lang="en-US" dirty="0">
                <a:solidFill>
                  <a:srgbClr val="C00000"/>
                </a:solidFill>
              </a:rPr>
              <a:t>= {a, b, c, d}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Y = {a, b, c, d, e}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Z = {x, y, z}.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/>
              <a:t>Define functions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 </a:t>
            </a:r>
            <a:r>
              <a:rPr lang="en-US" dirty="0">
                <a:solidFill>
                  <a:srgbClr val="C00000"/>
                </a:solidFill>
              </a:rPr>
              <a:t>f: X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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g: Y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Z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by the arrow diagrams: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 rotWithShape="1">
          <a:blip r:embed="rId2"/>
          <a:srcRect l="7443" r="13478"/>
          <a:stretch/>
        </p:blipFill>
        <p:spPr bwMode="auto">
          <a:xfrm>
            <a:off x="2590802" y="311020"/>
            <a:ext cx="6970058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A = {1, 2, 3, 4, 5}</a:t>
            </a:r>
            <a:r>
              <a:rPr lang="en-US" dirty="0"/>
              <a:t> and we define functions </a:t>
            </a:r>
            <a:r>
              <a:rPr lang="en-US" dirty="0">
                <a:solidFill>
                  <a:srgbClr val="C00000"/>
                </a:solidFill>
              </a:rPr>
              <a:t>f: A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/>
              <a:t> and then </a:t>
            </a:r>
            <a:r>
              <a:rPr lang="en-US" dirty="0">
                <a:solidFill>
                  <a:srgbClr val="C00000"/>
                </a:solidFill>
              </a:rPr>
              <a:t>g: A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A </a:t>
            </a:r>
            <a:r>
              <a:rPr lang="en-US" dirty="0"/>
              <a:t>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f(1)=3</a:t>
            </a:r>
            <a:r>
              <a:rPr lang="en-US" dirty="0"/>
              <a:t>,     </a:t>
            </a:r>
            <a:r>
              <a:rPr lang="en-US" dirty="0">
                <a:solidFill>
                  <a:srgbClr val="C00000"/>
                </a:solidFill>
              </a:rPr>
              <a:t>f(2)=5</a:t>
            </a:r>
            <a:r>
              <a:rPr lang="en-US" dirty="0"/>
              <a:t>,     </a:t>
            </a:r>
            <a:r>
              <a:rPr lang="en-US" dirty="0">
                <a:solidFill>
                  <a:srgbClr val="C00000"/>
                </a:solidFill>
              </a:rPr>
              <a:t>f(3)=3</a:t>
            </a:r>
            <a:r>
              <a:rPr lang="en-US" dirty="0"/>
              <a:t>,      </a:t>
            </a:r>
            <a:r>
              <a:rPr lang="en-US" dirty="0">
                <a:solidFill>
                  <a:srgbClr val="C00000"/>
                </a:solidFill>
              </a:rPr>
              <a:t>f(4)=1</a:t>
            </a:r>
            <a:r>
              <a:rPr lang="en-US" dirty="0"/>
              <a:t>,	  </a:t>
            </a:r>
            <a:r>
              <a:rPr lang="en-US" dirty="0">
                <a:solidFill>
                  <a:srgbClr val="C00000"/>
                </a:solidFill>
              </a:rPr>
              <a:t>f(5)=2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g(1)=4</a:t>
            </a:r>
            <a:r>
              <a:rPr lang="en-US" dirty="0"/>
              <a:t>,    </a:t>
            </a:r>
            <a:r>
              <a:rPr lang="en-US" dirty="0">
                <a:solidFill>
                  <a:srgbClr val="C00000"/>
                </a:solidFill>
              </a:rPr>
              <a:t>g(2)=1</a:t>
            </a:r>
            <a:r>
              <a:rPr lang="en-US" dirty="0"/>
              <a:t>,     </a:t>
            </a:r>
            <a:r>
              <a:rPr lang="en-US" dirty="0">
                <a:solidFill>
                  <a:srgbClr val="C00000"/>
                </a:solidFill>
              </a:rPr>
              <a:t>g(3)=1</a:t>
            </a:r>
            <a:r>
              <a:rPr lang="en-US" dirty="0"/>
              <a:t>,     </a:t>
            </a:r>
            <a:r>
              <a:rPr lang="en-US" dirty="0">
                <a:solidFill>
                  <a:srgbClr val="C00000"/>
                </a:solidFill>
              </a:rPr>
              <a:t>g(4)=2</a:t>
            </a:r>
            <a:r>
              <a:rPr lang="en-US" dirty="0"/>
              <a:t>,     </a:t>
            </a:r>
            <a:r>
              <a:rPr lang="en-US" dirty="0">
                <a:solidFill>
                  <a:srgbClr val="C00000"/>
                </a:solidFill>
              </a:rPr>
              <a:t>g(5)=3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Find the composition functions </a:t>
            </a:r>
            <a:r>
              <a:rPr lang="en-US" b="1" dirty="0">
                <a:solidFill>
                  <a:srgbClr val="C00000"/>
                </a:solidFill>
              </a:rPr>
              <a:t>fog</a:t>
            </a:r>
            <a:r>
              <a:rPr lang="en-US" dirty="0"/>
              <a:t> and </a:t>
            </a:r>
            <a:r>
              <a:rPr lang="en-US" b="1" dirty="0" err="1">
                <a:solidFill>
                  <a:srgbClr val="C00000"/>
                </a:solidFill>
              </a:rPr>
              <a:t>gof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 </a:t>
            </a:r>
            <a:br>
              <a:rPr lang="en-US" dirty="0"/>
            </a:br>
            <a:r>
              <a:rPr lang="en-US" sz="3600" b="1" u="sng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 have the definition of the </a:t>
            </a:r>
            <a:r>
              <a:rPr lang="en-US" dirty="0">
                <a:solidFill>
                  <a:srgbClr val="C00000"/>
                </a:solidFill>
              </a:rPr>
              <a:t>composition of functions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compute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	f(1)=3,	f(2)=5,	       f(3)=3,	   f(4)=1,	f(5)=2</a:t>
            </a:r>
          </a:p>
          <a:p>
            <a:pPr>
              <a:buNone/>
            </a:pPr>
            <a:r>
              <a:rPr lang="en-US" dirty="0"/>
              <a:t>	g(1)=4,       g(2)=1,       g(3)=1,      g(4)=2,       g(5)=3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(fog) (1) = f(g(1)) = f(4) = 1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(fog) (2) = f(g(2)) = f(1) = 3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(fog) (3) = f(g(3)) = f(1) = 3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(fog) (4) = f(g(4)) = f(2) = 5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(fog) (5) = f(g(5)) = f(3) = 3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Also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r>
              <a:rPr lang="en-US" dirty="0">
                <a:solidFill>
                  <a:srgbClr val="C00000"/>
                </a:solidFill>
              </a:rPr>
              <a:t>) (1) = g(f(1)) = g(3) = 1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		(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r>
              <a:rPr lang="en-US" dirty="0">
                <a:solidFill>
                  <a:srgbClr val="C00000"/>
                </a:solidFill>
              </a:rPr>
              <a:t>) (2) = g(f(2)) = g(5) = 3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		(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r>
              <a:rPr lang="en-US" dirty="0">
                <a:solidFill>
                  <a:srgbClr val="C00000"/>
                </a:solidFill>
              </a:rPr>
              <a:t>) (3) = g(f(3)) = g(3) = 1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		(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r>
              <a:rPr lang="en-US" dirty="0">
                <a:solidFill>
                  <a:srgbClr val="C00000"/>
                </a:solidFill>
              </a:rPr>
              <a:t>) (4) = g(f(4)) = g(1) = 4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		(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r>
              <a:rPr lang="en-US" dirty="0">
                <a:solidFill>
                  <a:srgbClr val="C00000"/>
                </a:solidFill>
              </a:rPr>
              <a:t>) (5) = g(f(5)) = g(2) = 1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	</a:t>
            </a:r>
            <a:r>
              <a:rPr lang="en-US" b="1" u="sng" dirty="0">
                <a:solidFill>
                  <a:srgbClr val="C00000"/>
                </a:solidFill>
              </a:rPr>
              <a:t>REMARK:</a:t>
            </a:r>
            <a:r>
              <a:rPr lang="en-US" dirty="0"/>
              <a:t> The functions </a:t>
            </a:r>
            <a:r>
              <a:rPr lang="en-US" dirty="0">
                <a:solidFill>
                  <a:srgbClr val="C00000"/>
                </a:solidFill>
              </a:rPr>
              <a:t>fog</a:t>
            </a:r>
            <a:r>
              <a:rPr lang="en-US" dirty="0"/>
              <a:t> and 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r>
              <a:rPr lang="en-US" dirty="0"/>
              <a:t> are not equal.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u="sng" dirty="0">
                <a:solidFill>
                  <a:srgbClr val="0070C0"/>
                </a:solidFill>
              </a:rPr>
              <a:t>COMPOSITION OF FUNCTIONS DEFINED BY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f: Z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Z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g: Z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 Z </a:t>
            </a:r>
            <a:r>
              <a:rPr lang="en-US" dirty="0"/>
              <a:t>be defined by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		</a:t>
            </a:r>
            <a:r>
              <a:rPr lang="pt-BR" dirty="0">
                <a:solidFill>
                  <a:srgbClr val="C00000"/>
                </a:solidFill>
              </a:rPr>
              <a:t>f(n) = n+1</a:t>
            </a:r>
            <a:r>
              <a:rPr lang="pt-BR" dirty="0"/>
              <a:t>	for </a:t>
            </a:r>
            <a:r>
              <a:rPr lang="pt-BR" dirty="0">
                <a:solidFill>
                  <a:srgbClr val="C00000"/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>
                <a:solidFill>
                  <a:srgbClr val="C00000"/>
                </a:solidFill>
              </a:rPr>
              <a:t>Z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/>
              <a:t>	and 		</a:t>
            </a:r>
            <a:r>
              <a:rPr lang="pt-BR" dirty="0">
                <a:solidFill>
                  <a:srgbClr val="C00000"/>
                </a:solidFill>
              </a:rPr>
              <a:t>g(n) = n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/>
              <a:t>	for </a:t>
            </a:r>
            <a:r>
              <a:rPr lang="pt-BR" dirty="0">
                <a:solidFill>
                  <a:srgbClr val="C00000"/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>
                <a:solidFill>
                  <a:srgbClr val="C00000"/>
                </a:solidFill>
              </a:rPr>
              <a:t>Z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a.	Find the compositions 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fog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	b.	Is 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r>
              <a:rPr lang="en-US" dirty="0">
                <a:solidFill>
                  <a:srgbClr val="C00000"/>
                </a:solidFill>
              </a:rPr>
              <a:t> = fog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lphaLcPeriod"/>
            </a:pPr>
            <a:r>
              <a:rPr lang="en-US" dirty="0"/>
              <a:t>By definition of the composition of functions</a:t>
            </a:r>
          </a:p>
          <a:p>
            <a:pPr marL="514350" indent="-514350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</a:t>
            </a:r>
            <a:r>
              <a:rPr lang="pt-BR" dirty="0"/>
              <a:t>(gof) (n) = </a:t>
            </a:r>
            <a:r>
              <a:rPr lang="pt-BR" dirty="0">
                <a:solidFill>
                  <a:srgbClr val="C00000"/>
                </a:solidFill>
              </a:rPr>
              <a:t>g(f(n))</a:t>
            </a:r>
          </a:p>
          <a:p>
            <a:pPr>
              <a:buNone/>
            </a:pPr>
            <a:r>
              <a:rPr lang="pt-BR" dirty="0"/>
              <a:t>			     = </a:t>
            </a:r>
            <a:r>
              <a:rPr lang="pt-BR" dirty="0">
                <a:solidFill>
                  <a:srgbClr val="C00000"/>
                </a:solidFill>
              </a:rPr>
              <a:t>g(n+1)</a:t>
            </a:r>
            <a:r>
              <a:rPr lang="pt-BR" dirty="0"/>
              <a:t> 		(Since </a:t>
            </a:r>
            <a:r>
              <a:rPr lang="pt-BR" dirty="0">
                <a:solidFill>
                  <a:srgbClr val="C00000"/>
                </a:solidFill>
              </a:rPr>
              <a:t>f(n) = n+1</a:t>
            </a:r>
            <a:r>
              <a:rPr lang="pt-BR" dirty="0"/>
              <a:t>)</a:t>
            </a:r>
          </a:p>
          <a:p>
            <a:pPr>
              <a:buNone/>
            </a:pPr>
            <a:r>
              <a:rPr lang="pt-BR" dirty="0"/>
              <a:t>			     = </a:t>
            </a:r>
            <a:r>
              <a:rPr lang="pt-BR" dirty="0">
                <a:solidFill>
                  <a:srgbClr val="C00000"/>
                </a:solidFill>
              </a:rPr>
              <a:t>(n+1)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>
                <a:solidFill>
                  <a:srgbClr val="C00000"/>
                </a:solidFill>
              </a:rPr>
              <a:t> </a:t>
            </a:r>
            <a:r>
              <a:rPr lang="pt-BR" dirty="0"/>
              <a:t>		(Since </a:t>
            </a:r>
            <a:r>
              <a:rPr lang="pt-BR" dirty="0">
                <a:solidFill>
                  <a:srgbClr val="C00000"/>
                </a:solidFill>
              </a:rPr>
              <a:t>g(n) = n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/>
              <a:t>)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		 </a:t>
            </a:r>
            <a:r>
              <a:rPr lang="pt-BR" dirty="0">
                <a:solidFill>
                  <a:srgbClr val="C00000"/>
                </a:solidFill>
              </a:rPr>
              <a:t>(gof) (n) =</a:t>
            </a:r>
            <a:r>
              <a:rPr lang="pt-BR" dirty="0"/>
              <a:t> </a:t>
            </a:r>
            <a:r>
              <a:rPr lang="pt-BR" dirty="0">
                <a:solidFill>
                  <a:srgbClr val="C00000"/>
                </a:solidFill>
              </a:rPr>
              <a:t>(n+1)</a:t>
            </a:r>
            <a:r>
              <a:rPr lang="pt-BR" baseline="30000" dirty="0">
                <a:solidFill>
                  <a:srgbClr val="C00000"/>
                </a:solidFill>
              </a:rPr>
              <a:t>2 </a:t>
            </a:r>
            <a:r>
              <a:rPr lang="pt-BR" dirty="0"/>
              <a:t>		for all n </a:t>
            </a:r>
            <a:r>
              <a:rPr lang="en-US" dirty="0">
                <a:sym typeface="Symbol"/>
              </a:rPr>
              <a:t></a:t>
            </a:r>
            <a:r>
              <a:rPr lang="pt-BR" dirty="0"/>
              <a:t>Z and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/>
              <a:t>		</a:t>
            </a:r>
            <a:r>
              <a:rPr lang="pt-BR" dirty="0">
                <a:solidFill>
                  <a:srgbClr val="C00000"/>
                </a:solidFill>
              </a:rPr>
              <a:t>(fog) (n) = f(g(n)) </a:t>
            </a:r>
          </a:p>
          <a:p>
            <a:pPr>
              <a:buNone/>
            </a:pPr>
            <a:r>
              <a:rPr lang="pt-BR" dirty="0"/>
              <a:t>			(By definition of composition of function)</a:t>
            </a:r>
          </a:p>
          <a:p>
            <a:pPr>
              <a:buNone/>
            </a:pPr>
            <a:r>
              <a:rPr lang="pt-BR" dirty="0"/>
              <a:t>			   </a:t>
            </a:r>
            <a:r>
              <a:rPr lang="pt-BR" dirty="0">
                <a:solidFill>
                  <a:srgbClr val="C00000"/>
                </a:solidFill>
              </a:rPr>
              <a:t>= f(n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>
                <a:solidFill>
                  <a:srgbClr val="C00000"/>
                </a:solidFill>
              </a:rPr>
              <a:t>)</a:t>
            </a:r>
            <a:r>
              <a:rPr lang="pt-BR" dirty="0"/>
              <a:t>	(Since </a:t>
            </a:r>
            <a:r>
              <a:rPr lang="pt-BR" dirty="0">
                <a:solidFill>
                  <a:srgbClr val="C00000"/>
                </a:solidFill>
              </a:rPr>
              <a:t>g(n) = n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/>
              <a:t>)</a:t>
            </a:r>
          </a:p>
          <a:p>
            <a:pPr>
              <a:buNone/>
            </a:pPr>
            <a:r>
              <a:rPr lang="pt-BR" dirty="0"/>
              <a:t>                       </a:t>
            </a:r>
            <a:r>
              <a:rPr lang="pt-BR" dirty="0">
                <a:solidFill>
                  <a:srgbClr val="C00000"/>
                </a:solidFill>
              </a:rPr>
              <a:t>= n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>
                <a:solidFill>
                  <a:srgbClr val="C00000"/>
                </a:solidFill>
              </a:rPr>
              <a:t>+1 </a:t>
            </a:r>
            <a:r>
              <a:rPr lang="pt-BR" dirty="0"/>
              <a:t>	(Since </a:t>
            </a:r>
            <a:r>
              <a:rPr lang="pt-BR" dirty="0">
                <a:solidFill>
                  <a:srgbClr val="C00000"/>
                </a:solidFill>
              </a:rPr>
              <a:t>f(n) = n+1</a:t>
            </a:r>
            <a:r>
              <a:rPr lang="pt-BR" dirty="0"/>
              <a:t>)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		</a:t>
            </a:r>
            <a:r>
              <a:rPr lang="pt-BR" dirty="0">
                <a:solidFill>
                  <a:srgbClr val="C00000"/>
                </a:solidFill>
              </a:rPr>
              <a:t> (fog) (n) = n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>
                <a:solidFill>
                  <a:srgbClr val="C00000"/>
                </a:solidFill>
              </a:rPr>
              <a:t>+1</a:t>
            </a:r>
            <a:r>
              <a:rPr lang="pt-BR" dirty="0"/>
              <a:t>		for all n </a:t>
            </a:r>
            <a:r>
              <a:rPr lang="en-US" dirty="0">
                <a:sym typeface="Symbol"/>
              </a:rPr>
              <a:t></a:t>
            </a:r>
            <a:r>
              <a:rPr lang="pt-BR" dirty="0"/>
              <a:t>Z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Wingdings 3"/>
              <a:buAutoNum type="alphaLcPeriod" startAt="2"/>
            </a:pPr>
            <a:r>
              <a:rPr lang="en-US" dirty="0"/>
              <a:t>Is 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r>
              <a:rPr lang="en-US" dirty="0">
                <a:solidFill>
                  <a:srgbClr val="C00000"/>
                </a:solidFill>
              </a:rPr>
              <a:t> = fog</a:t>
            </a:r>
            <a:r>
              <a:rPr lang="en-US" dirty="0"/>
              <a:t>?</a:t>
            </a:r>
          </a:p>
          <a:p>
            <a:pPr marL="514350" indent="-514350">
              <a:buNone/>
            </a:pPr>
            <a:r>
              <a:rPr lang="en-US" dirty="0"/>
              <a:t>	In this case,</a:t>
            </a:r>
          </a:p>
          <a:p>
            <a:pPr marL="514350" indent="-514350">
              <a:buNone/>
            </a:pPr>
            <a:r>
              <a:rPr lang="en-US" dirty="0"/>
              <a:t>	For </a:t>
            </a:r>
            <a:r>
              <a:rPr lang="en-US" dirty="0">
                <a:solidFill>
                  <a:srgbClr val="C00000"/>
                </a:solidFill>
              </a:rPr>
              <a:t>n = 1</a:t>
            </a:r>
          </a:p>
          <a:p>
            <a:pPr marL="514350" indent="-51435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r>
              <a:rPr lang="en-US" dirty="0">
                <a:solidFill>
                  <a:srgbClr val="C00000"/>
                </a:solidFill>
              </a:rPr>
              <a:t>)(1) = g(f(1))</a:t>
            </a:r>
          </a:p>
          <a:p>
            <a:pPr marL="514350" indent="-514350">
              <a:buNone/>
            </a:pPr>
            <a:r>
              <a:rPr lang="en-US" dirty="0"/>
              <a:t>				  </a:t>
            </a:r>
            <a:r>
              <a:rPr lang="en-US" dirty="0">
                <a:solidFill>
                  <a:srgbClr val="C00000"/>
                </a:solidFill>
              </a:rPr>
              <a:t>= g(1 + 1)</a:t>
            </a:r>
            <a:r>
              <a:rPr lang="en-US" baseline="30000" dirty="0"/>
              <a:t> 	</a:t>
            </a:r>
            <a:r>
              <a:rPr lang="pt-BR" dirty="0"/>
              <a:t>(Since </a:t>
            </a:r>
            <a:r>
              <a:rPr lang="pt-BR" dirty="0">
                <a:solidFill>
                  <a:srgbClr val="C00000"/>
                </a:solidFill>
              </a:rPr>
              <a:t>f(n) = n+1</a:t>
            </a:r>
            <a:r>
              <a:rPr lang="pt-BR" dirty="0"/>
              <a:t>)</a:t>
            </a:r>
            <a:endParaRPr lang="en-US" baseline="30000" dirty="0"/>
          </a:p>
          <a:p>
            <a:pPr marL="514350" indent="-514350">
              <a:buNone/>
            </a:pPr>
            <a:r>
              <a:rPr lang="en-US" baseline="30000" dirty="0"/>
              <a:t>				 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= (1 + 1)</a:t>
            </a:r>
            <a:r>
              <a:rPr lang="en-US" baseline="30000" dirty="0">
                <a:solidFill>
                  <a:srgbClr val="C00000"/>
                </a:solidFill>
              </a:rPr>
              <a:t> 2</a:t>
            </a:r>
            <a:r>
              <a:rPr lang="en-US" baseline="30000" dirty="0"/>
              <a:t>	</a:t>
            </a:r>
            <a:r>
              <a:rPr lang="pt-BR" dirty="0"/>
              <a:t>(Since </a:t>
            </a:r>
            <a:r>
              <a:rPr lang="pt-BR" dirty="0">
                <a:solidFill>
                  <a:srgbClr val="C00000"/>
                </a:solidFill>
              </a:rPr>
              <a:t>g(n) = n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/>
              <a:t>)</a:t>
            </a:r>
          </a:p>
          <a:p>
            <a:pPr marL="514350" indent="-514350">
              <a:buNone/>
            </a:pPr>
            <a:endParaRPr lang="en-US" baseline="30000" dirty="0"/>
          </a:p>
          <a:p>
            <a:pPr marL="514350" indent="-514350">
              <a:buNone/>
            </a:pPr>
            <a:r>
              <a:rPr lang="en-US" baseline="30000" dirty="0"/>
              <a:t>				</a:t>
            </a:r>
            <a:r>
              <a:rPr lang="en-US" dirty="0"/>
              <a:t>  </a:t>
            </a:r>
            <a:r>
              <a:rPr lang="en-US" dirty="0">
                <a:solidFill>
                  <a:srgbClr val="C00000"/>
                </a:solidFill>
              </a:rPr>
              <a:t>= 4</a:t>
            </a:r>
            <a:r>
              <a:rPr lang="en-US" dirty="0"/>
              <a:t>  where as</a:t>
            </a:r>
          </a:p>
          <a:p>
            <a:pPr marL="514350" indent="-514350">
              <a:buNone/>
            </a:pPr>
            <a:r>
              <a:rPr lang="en-US" dirty="0"/>
              <a:t> 			</a:t>
            </a:r>
            <a:r>
              <a:rPr lang="en-US" dirty="0">
                <a:solidFill>
                  <a:srgbClr val="C00000"/>
                </a:solidFill>
              </a:rPr>
              <a:t>(fog)(1) = f(g(1))=1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+ 1 = 2</a:t>
            </a:r>
          </a:p>
          <a:p>
            <a:pPr marL="514350" indent="-514350">
              <a:buNone/>
            </a:pPr>
            <a:r>
              <a:rPr lang="en-US" dirty="0"/>
              <a:t>	 		Thus 	</a:t>
            </a:r>
            <a:r>
              <a:rPr lang="en-US" dirty="0">
                <a:solidFill>
                  <a:srgbClr val="C00000"/>
                </a:solidFill>
              </a:rPr>
              <a:t>fog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gof</a:t>
            </a:r>
            <a:endParaRPr lang="en-US" dirty="0">
              <a:solidFill>
                <a:srgbClr val="C00000"/>
              </a:solidFill>
            </a:endParaRPr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composition</a:t>
            </a:r>
            <a:r>
              <a:rPr lang="en-US" dirty="0"/>
              <a:t> of functions is </a:t>
            </a:r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dirty="0"/>
              <a:t> a </a:t>
            </a:r>
            <a:r>
              <a:rPr lang="en-US" b="1" dirty="0">
                <a:solidFill>
                  <a:srgbClr val="C00000"/>
                </a:solidFill>
              </a:rPr>
              <a:t>commutative</a:t>
            </a:r>
            <a:r>
              <a:rPr lang="en-US" dirty="0"/>
              <a:t> operation.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OPERATIONS 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SUM OF FUNCTIONS</a:t>
            </a:r>
          </a:p>
          <a:p>
            <a:r>
              <a:rPr lang="en-US" b="1" dirty="0">
                <a:solidFill>
                  <a:srgbClr val="C00000"/>
                </a:solidFill>
              </a:rPr>
              <a:t>DIFFERENCE OF FUNCTIONS</a:t>
            </a:r>
          </a:p>
          <a:p>
            <a:r>
              <a:rPr lang="en-US" b="1" dirty="0">
                <a:solidFill>
                  <a:srgbClr val="C00000"/>
                </a:solidFill>
              </a:rPr>
              <a:t>PRODUCT OF FUNCTIONS</a:t>
            </a:r>
          </a:p>
          <a:p>
            <a:r>
              <a:rPr lang="en-US" b="1" dirty="0">
                <a:solidFill>
                  <a:srgbClr val="C00000"/>
                </a:solidFill>
              </a:rPr>
              <a:t>QUOTIENT OF FUNCTIONS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SUM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g</a:t>
            </a:r>
            <a:r>
              <a:rPr lang="en-US" dirty="0"/>
              <a:t> be real valued functions with the </a:t>
            </a:r>
            <a:r>
              <a:rPr lang="en-US" b="1" dirty="0">
                <a:solidFill>
                  <a:srgbClr val="C00000"/>
                </a:solidFill>
              </a:rPr>
              <a:t>same domain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X.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	That is </a:t>
            </a:r>
            <a:r>
              <a:rPr lang="en-US" dirty="0">
                <a:solidFill>
                  <a:srgbClr val="C00000"/>
                </a:solidFill>
              </a:rPr>
              <a:t>f: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 The </a:t>
            </a:r>
            <a:r>
              <a:rPr lang="en-US" dirty="0">
                <a:solidFill>
                  <a:srgbClr val="C00000"/>
                </a:solidFill>
              </a:rPr>
              <a:t>sum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 denoted </a:t>
            </a:r>
            <a:r>
              <a:rPr lang="en-US" dirty="0">
                <a:solidFill>
                  <a:srgbClr val="C00000"/>
                </a:solidFill>
              </a:rPr>
              <a:t>f + g</a:t>
            </a:r>
            <a:r>
              <a:rPr lang="en-US" dirty="0"/>
              <a:t> is a real valued function with the </a:t>
            </a:r>
            <a:r>
              <a:rPr lang="en-US" dirty="0">
                <a:solidFill>
                  <a:srgbClr val="C00000"/>
                </a:solidFill>
              </a:rPr>
              <a:t>same domain X </a:t>
            </a:r>
          </a:p>
          <a:p>
            <a:pPr>
              <a:buNone/>
            </a:pPr>
            <a:r>
              <a:rPr lang="en-US" dirty="0"/>
              <a:t>	i.e. </a:t>
            </a:r>
            <a:r>
              <a:rPr lang="en-US" dirty="0" err="1">
                <a:solidFill>
                  <a:srgbClr val="C00000"/>
                </a:solidFill>
              </a:rPr>
              <a:t>f+g</a:t>
            </a:r>
            <a:r>
              <a:rPr lang="en-US" dirty="0">
                <a:solidFill>
                  <a:srgbClr val="C00000"/>
                </a:solidFill>
              </a:rPr>
              <a:t>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defined by</a:t>
            </a:r>
          </a:p>
          <a:p>
            <a:pPr>
              <a:buNone/>
            </a:pPr>
            <a:r>
              <a:rPr lang="en-US" dirty="0"/>
              <a:t>			 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f+g</a:t>
            </a:r>
            <a:r>
              <a:rPr lang="en-US" dirty="0">
                <a:solidFill>
                  <a:srgbClr val="C00000"/>
                </a:solidFill>
              </a:rPr>
              <a:t>)(x) = f(x) + g(x)</a:t>
            </a:r>
            <a:r>
              <a:rPr lang="en-US" dirty="0"/>
              <a:t>	</a:t>
            </a:r>
            <a:r>
              <a:rPr lang="en-US" dirty="0">
                <a:sym typeface="Symbol"/>
              </a:rPr>
              <a:t></a:t>
            </a:r>
            <a:r>
              <a:rPr lang="en-US" dirty="0"/>
              <a:t> x </a:t>
            </a:r>
            <a:r>
              <a:rPr lang="en-US" dirty="0">
                <a:sym typeface="Symbol"/>
              </a:rPr>
              <a:t> </a:t>
            </a:r>
            <a:r>
              <a:rPr lang="en-US" dirty="0"/>
              <a:t>X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f(x) = x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+ 1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g(x) = x + 2</a:t>
            </a:r>
            <a:r>
              <a:rPr lang="en-US" dirty="0"/>
              <a:t> defines functions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 from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	 Then		  </a:t>
            </a:r>
          </a:p>
          <a:p>
            <a:pPr>
              <a:buNone/>
            </a:pPr>
            <a:r>
              <a:rPr lang="en-US" dirty="0"/>
              <a:t>				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f+g</a:t>
            </a:r>
            <a:r>
              <a:rPr lang="en-US" dirty="0">
                <a:solidFill>
                  <a:srgbClr val="C00000"/>
                </a:solidFill>
              </a:rPr>
              <a:t>) (x) =  f(x) + g(x)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  <a:r>
              <a:rPr lang="en-US" dirty="0">
                <a:solidFill>
                  <a:srgbClr val="C00000"/>
                </a:solidFill>
              </a:rPr>
              <a:t>= (x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+ 1) + (x + 2)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  <a:r>
              <a:rPr lang="en-US" dirty="0">
                <a:solidFill>
                  <a:srgbClr val="C00000"/>
                </a:solidFill>
              </a:rPr>
              <a:t>= x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x + 3</a:t>
            </a:r>
            <a:r>
              <a:rPr lang="en-US" dirty="0"/>
              <a:t>	</a:t>
            </a:r>
            <a:r>
              <a:rPr lang="en-US" dirty="0">
                <a:sym typeface="Symbol"/>
              </a:rPr>
              <a:t> </a:t>
            </a:r>
            <a:r>
              <a:rPr lang="en-US" dirty="0"/>
              <a:t>x </a:t>
            </a:r>
            <a:r>
              <a:rPr lang="en-US" dirty="0">
                <a:sym typeface="Symbol"/>
              </a:rPr>
              <a:t> </a:t>
            </a:r>
            <a:r>
              <a:rPr lang="en-US" dirty="0"/>
              <a:t>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 which defines the </a:t>
            </a:r>
            <a:r>
              <a:rPr lang="en-US" dirty="0">
                <a:solidFill>
                  <a:srgbClr val="C00000"/>
                </a:solidFill>
              </a:rPr>
              <a:t>sum functions </a:t>
            </a:r>
            <a:r>
              <a:rPr lang="en-US" dirty="0" err="1">
                <a:solidFill>
                  <a:srgbClr val="C00000"/>
                </a:solidFill>
              </a:rPr>
              <a:t>f+g</a:t>
            </a:r>
            <a:r>
              <a:rPr lang="en-US" dirty="0">
                <a:solidFill>
                  <a:srgbClr val="C00000"/>
                </a:solidFill>
              </a:rPr>
              <a:t>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DIFFERENCE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g:X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be real valued functions. The </a:t>
            </a:r>
            <a:r>
              <a:rPr lang="en-US" dirty="0">
                <a:solidFill>
                  <a:srgbClr val="C00000"/>
                </a:solidFill>
              </a:rPr>
              <a:t>difference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 denoted by </a:t>
            </a:r>
            <a:r>
              <a:rPr lang="en-US" dirty="0">
                <a:solidFill>
                  <a:srgbClr val="C00000"/>
                </a:solidFill>
              </a:rPr>
              <a:t>f-g</a:t>
            </a:r>
            <a:r>
              <a:rPr lang="en-US" dirty="0"/>
              <a:t> which is a function from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defined by: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(f-g)(x) = f(x) - g(x)</a:t>
            </a:r>
            <a:r>
              <a:rPr lang="en-US" dirty="0"/>
              <a:t>	   </a:t>
            </a:r>
            <a:r>
              <a:rPr lang="en-US" dirty="0">
                <a:sym typeface="Symbol"/>
              </a:rPr>
              <a:t></a:t>
            </a:r>
            <a:r>
              <a:rPr lang="en-US" dirty="0"/>
              <a:t> 	x </a:t>
            </a:r>
            <a:r>
              <a:rPr lang="en-US" dirty="0">
                <a:sym typeface="Symbol"/>
              </a:rPr>
              <a:t> </a:t>
            </a:r>
            <a:r>
              <a:rPr lang="en-US" dirty="0"/>
              <a:t>X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f(x) = x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+ 1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g(x) = x + 2</a:t>
            </a:r>
            <a:r>
              <a:rPr lang="en-US" dirty="0"/>
              <a:t> define functions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 from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	 Then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pt-BR" dirty="0"/>
              <a:t> 	</a:t>
            </a:r>
            <a:r>
              <a:rPr lang="pt-BR" dirty="0">
                <a:solidFill>
                  <a:srgbClr val="C00000"/>
                </a:solidFill>
              </a:rPr>
              <a:t>(f-g) (x) =  f(x) - g(x)</a:t>
            </a:r>
          </a:p>
          <a:p>
            <a:pPr>
              <a:buNone/>
            </a:pPr>
            <a:r>
              <a:rPr lang="pt-BR" dirty="0"/>
              <a:t>         			  </a:t>
            </a:r>
            <a:r>
              <a:rPr lang="pt-BR" dirty="0">
                <a:solidFill>
                  <a:srgbClr val="C00000"/>
                </a:solidFill>
              </a:rPr>
              <a:t>=  (x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>
                <a:solidFill>
                  <a:srgbClr val="C00000"/>
                </a:solidFill>
              </a:rPr>
              <a:t> + 1) - (x + 2)</a:t>
            </a:r>
          </a:p>
          <a:p>
            <a:pPr>
              <a:buNone/>
            </a:pPr>
            <a:r>
              <a:rPr lang="pt-BR" dirty="0"/>
              <a:t>				  </a:t>
            </a:r>
            <a:r>
              <a:rPr lang="pt-BR" dirty="0">
                <a:solidFill>
                  <a:srgbClr val="C00000"/>
                </a:solidFill>
              </a:rPr>
              <a:t>= x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>
                <a:solidFill>
                  <a:srgbClr val="C00000"/>
                </a:solidFill>
              </a:rPr>
              <a:t> - x – 1</a:t>
            </a:r>
            <a:r>
              <a:rPr lang="pt-BR" dirty="0"/>
              <a:t>  </a:t>
            </a:r>
            <a:r>
              <a:rPr lang="en-US" dirty="0">
                <a:sym typeface="Symbol"/>
              </a:rPr>
              <a:t>   </a:t>
            </a:r>
            <a:r>
              <a:rPr lang="pt-BR" dirty="0"/>
              <a:t>x </a:t>
            </a:r>
            <a:r>
              <a:rPr lang="en-US" dirty="0">
                <a:sym typeface="Symbol"/>
              </a:rPr>
              <a:t> </a:t>
            </a:r>
            <a:r>
              <a:rPr lang="pt-BR" dirty="0"/>
              <a:t>R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 which defines the </a:t>
            </a:r>
            <a:r>
              <a:rPr lang="en-US" dirty="0">
                <a:solidFill>
                  <a:srgbClr val="C00000"/>
                </a:solidFill>
              </a:rPr>
              <a:t>difference function f-g: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PRODUCT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be real valued functions. The </a:t>
            </a:r>
            <a:r>
              <a:rPr lang="en-US" dirty="0">
                <a:solidFill>
                  <a:srgbClr val="C00000"/>
                </a:solidFill>
              </a:rPr>
              <a:t>product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 denoted </a:t>
            </a:r>
            <a:r>
              <a:rPr lang="en-US" dirty="0" err="1">
                <a:solidFill>
                  <a:srgbClr val="C00000"/>
                </a:solidFill>
              </a:rPr>
              <a:t>f</a:t>
            </a:r>
            <a:r>
              <a:rPr lang="en-US" b="1" dirty="0" err="1">
                <a:solidFill>
                  <a:srgbClr val="C00000"/>
                </a:solidFill>
              </a:rPr>
              <a:t>.</a:t>
            </a:r>
            <a:r>
              <a:rPr lang="en-US" dirty="0" err="1">
                <a:solidFill>
                  <a:srgbClr val="C00000"/>
                </a:solidFill>
              </a:rPr>
              <a:t>g</a:t>
            </a:r>
            <a:r>
              <a:rPr lang="en-US" dirty="0"/>
              <a:t>  or simply </a:t>
            </a:r>
            <a:r>
              <a:rPr lang="en-US" dirty="0" err="1">
                <a:solidFill>
                  <a:srgbClr val="C00000"/>
                </a:solidFill>
              </a:rPr>
              <a:t>fg</a:t>
            </a:r>
            <a:r>
              <a:rPr lang="en-US" dirty="0"/>
              <a:t> is a function from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defined by: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		 </a:t>
            </a:r>
            <a:r>
              <a:rPr lang="en-US" dirty="0">
                <a:solidFill>
                  <a:srgbClr val="C00000"/>
                </a:solidFill>
              </a:rPr>
              <a:t>(f 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r>
              <a:rPr lang="en-US" dirty="0">
                <a:solidFill>
                  <a:srgbClr val="C00000"/>
                </a:solidFill>
              </a:rPr>
              <a:t> g)(x) = f(x) 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r>
              <a:rPr lang="en-US" dirty="0">
                <a:solidFill>
                  <a:srgbClr val="C00000"/>
                </a:solidFill>
              </a:rPr>
              <a:t> g(x)</a:t>
            </a:r>
            <a:r>
              <a:rPr lang="en-US" dirty="0"/>
              <a:t>	</a:t>
            </a:r>
            <a:r>
              <a:rPr lang="en-US" dirty="0">
                <a:sym typeface="Symbol"/>
              </a:rPr>
              <a:t></a:t>
            </a:r>
            <a:r>
              <a:rPr lang="en-US" dirty="0"/>
              <a:t>       x </a:t>
            </a:r>
            <a:r>
              <a:rPr lang="en-US" dirty="0">
                <a:sym typeface="Symbol"/>
              </a:rPr>
              <a:t> </a:t>
            </a:r>
            <a:r>
              <a:rPr lang="en-US" dirty="0"/>
              <a:t>X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f(x) = x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+ 1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g(x) = x + 2</a:t>
            </a:r>
            <a:r>
              <a:rPr lang="en-US" dirty="0"/>
              <a:t> define functions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 from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	 Then	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(f 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r>
              <a:rPr lang="en-US" dirty="0">
                <a:solidFill>
                  <a:srgbClr val="C00000"/>
                </a:solidFill>
              </a:rPr>
              <a:t> g) (x) = f(x) 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r>
              <a:rPr lang="en-US" dirty="0">
                <a:solidFill>
                  <a:srgbClr val="C00000"/>
                </a:solidFill>
              </a:rPr>
              <a:t> g(x)</a:t>
            </a:r>
          </a:p>
          <a:p>
            <a:pPr>
              <a:buNone/>
            </a:pPr>
            <a:r>
              <a:rPr lang="en-US" dirty="0"/>
              <a:t>				    </a:t>
            </a:r>
            <a:r>
              <a:rPr lang="en-US" dirty="0">
                <a:solidFill>
                  <a:srgbClr val="C00000"/>
                </a:solidFill>
              </a:rPr>
              <a:t>= (x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+ 1) 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r>
              <a:rPr lang="en-US" dirty="0">
                <a:solidFill>
                  <a:srgbClr val="C00000"/>
                </a:solidFill>
              </a:rPr>
              <a:t> (x + 2)</a:t>
            </a:r>
          </a:p>
          <a:p>
            <a:pPr>
              <a:buNone/>
            </a:pPr>
            <a:r>
              <a:rPr lang="en-US" dirty="0"/>
              <a:t>				    </a:t>
            </a:r>
            <a:r>
              <a:rPr lang="en-US" dirty="0">
                <a:solidFill>
                  <a:srgbClr val="C00000"/>
                </a:solidFill>
              </a:rPr>
              <a:t>= x</a:t>
            </a:r>
            <a:r>
              <a:rPr lang="en-US" baseline="30000" dirty="0">
                <a:solidFill>
                  <a:srgbClr val="C00000"/>
                </a:solidFill>
              </a:rPr>
              <a:t>3</a:t>
            </a:r>
            <a:r>
              <a:rPr lang="en-US" dirty="0">
                <a:solidFill>
                  <a:srgbClr val="C00000"/>
                </a:solidFill>
              </a:rPr>
              <a:t> + 2x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x + 2</a:t>
            </a:r>
            <a:r>
              <a:rPr lang="en-US" dirty="0"/>
              <a:t>	</a:t>
            </a:r>
            <a:r>
              <a:rPr lang="en-US" dirty="0">
                <a:sym typeface="Symbol"/>
              </a:rPr>
              <a:t> </a:t>
            </a:r>
            <a:r>
              <a:rPr lang="en-US" dirty="0"/>
              <a:t>x </a:t>
            </a:r>
            <a:r>
              <a:rPr lang="en-US" dirty="0">
                <a:sym typeface="Symbol"/>
              </a:rPr>
              <a:t> </a:t>
            </a:r>
            <a:r>
              <a:rPr lang="en-US" dirty="0"/>
              <a:t>R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 which defines the </a:t>
            </a:r>
            <a:r>
              <a:rPr lang="en-US" dirty="0">
                <a:solidFill>
                  <a:srgbClr val="C00000"/>
                </a:solidFill>
              </a:rPr>
              <a:t>product function f 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r>
              <a:rPr lang="en-US" dirty="0">
                <a:solidFill>
                  <a:srgbClr val="C00000"/>
                </a:solidFill>
              </a:rPr>
              <a:t> g: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QUOTIENT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f: X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 </a:t>
            </a:r>
            <a:r>
              <a:rPr lang="en-US" dirty="0"/>
              <a:t>be real valued functions. The </a:t>
            </a:r>
            <a:r>
              <a:rPr lang="en-US" dirty="0">
                <a:solidFill>
                  <a:srgbClr val="C00000"/>
                </a:solidFill>
              </a:rPr>
              <a:t>quotient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by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 denoted       is a function from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defined by:</a:t>
            </a:r>
          </a:p>
          <a:p>
            <a:pPr>
              <a:buNone/>
            </a:pPr>
            <a:r>
              <a:rPr lang="en-US" dirty="0"/>
              <a:t>	</a:t>
            </a:r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4753" name="Object 1"/>
          <p:cNvGraphicFramePr>
            <a:graphicFrameLocks noChangeAspect="1"/>
          </p:cNvGraphicFramePr>
          <p:nvPr/>
        </p:nvGraphicFramePr>
        <p:xfrm>
          <a:off x="5791201" y="1541208"/>
          <a:ext cx="652923" cy="789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r:id="rId3" imgW="177723" imgH="418918" progId="">
                  <p:embed/>
                </p:oleObj>
              </mc:Choice>
              <mc:Fallback>
                <p:oleObj r:id="rId3" imgW="177723" imgH="418918" progId="">
                  <p:embed/>
                  <p:pic>
                    <p:nvPicPr>
                      <p:cNvPr id="7475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1541208"/>
                        <a:ext cx="652923" cy="7895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3119966" y="2895600"/>
          <a:ext cx="6328834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r:id="rId5" imgW="2920680" imgH="457200" progId="">
                  <p:embed/>
                </p:oleObj>
              </mc:Choice>
              <mc:Fallback>
                <p:oleObj r:id="rId5" imgW="2920680" imgH="457200" progId="">
                  <p:embed/>
                  <p:pic>
                    <p:nvPicPr>
                      <p:cNvPr id="747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966" y="2895600"/>
                        <a:ext cx="6328834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f(x) = x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+ 1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g(x) = x + 2</a:t>
            </a:r>
            <a:r>
              <a:rPr lang="en-US" dirty="0"/>
              <a:t> defines functions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 from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	 Then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 which defines the </a:t>
            </a:r>
            <a:r>
              <a:rPr lang="en-US" dirty="0">
                <a:solidFill>
                  <a:srgbClr val="C00000"/>
                </a:solidFill>
              </a:rPr>
              <a:t>quotient function</a:t>
            </a:r>
            <a:r>
              <a:rPr lang="en-US" dirty="0"/>
              <a:t>        : X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95234" name="Object 2"/>
          <p:cNvGraphicFramePr>
            <a:graphicFrameLocks noChangeAspect="1"/>
          </p:cNvGraphicFramePr>
          <p:nvPr/>
        </p:nvGraphicFramePr>
        <p:xfrm>
          <a:off x="3924300" y="2362201"/>
          <a:ext cx="5067300" cy="990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r:id="rId3" imgW="2552400" imgH="457200" progId="">
                  <p:embed/>
                </p:oleObj>
              </mc:Choice>
              <mc:Fallback>
                <p:oleObj r:id="rId3" imgW="2552400" imgH="457200" progId="">
                  <p:embed/>
                  <p:pic>
                    <p:nvPicPr>
                      <p:cNvPr id="952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362201"/>
                        <a:ext cx="5067300" cy="9906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7240382" y="4331162"/>
          <a:ext cx="652463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r:id="rId5" imgW="177723" imgH="418918" progId="">
                  <p:embed/>
                </p:oleObj>
              </mc:Choice>
              <mc:Fallback>
                <p:oleObj r:id="rId5" imgW="177723" imgH="418918" progId="">
                  <p:embed/>
                  <p:pic>
                    <p:nvPicPr>
                      <p:cNvPr id="952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0382" y="4331162"/>
                        <a:ext cx="652463" cy="788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005388" y="3429000"/>
          <a:ext cx="96361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7" imgW="545760" imgH="457200" progId="Equation.3">
                  <p:embed/>
                </p:oleObj>
              </mc:Choice>
              <mc:Fallback>
                <p:oleObj name="Equation" r:id="rId7" imgW="545760" imgH="45720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388" y="3429000"/>
                        <a:ext cx="963612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3820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SCALAR MULTIPLICATION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f: X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be a real valued function and c is a non-zero number. </a:t>
            </a:r>
          </a:p>
          <a:p>
            <a:r>
              <a:rPr lang="en-US" dirty="0"/>
              <a:t>Then the scalar multiplication of f is a function </a:t>
            </a:r>
            <a:r>
              <a:rPr lang="en-US" dirty="0" err="1">
                <a:solidFill>
                  <a:srgbClr val="C00000"/>
                </a:solidFill>
              </a:rPr>
              <a:t>c.f</a:t>
            </a:r>
            <a:r>
              <a:rPr lang="en-US" dirty="0">
                <a:solidFill>
                  <a:srgbClr val="C00000"/>
                </a:solidFill>
              </a:rPr>
              <a:t>: R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defined by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(</a:t>
            </a:r>
            <a:r>
              <a:rPr lang="en-US" dirty="0" err="1">
                <a:solidFill>
                  <a:srgbClr val="C00000"/>
                </a:solidFill>
              </a:rPr>
              <a:t>c.f</a:t>
            </a:r>
            <a:r>
              <a:rPr lang="en-US" dirty="0">
                <a:solidFill>
                  <a:srgbClr val="C00000"/>
                </a:solidFill>
              </a:rPr>
              <a:t>)(x) = </a:t>
            </a:r>
            <a:r>
              <a:rPr lang="en-US" dirty="0" err="1">
                <a:solidFill>
                  <a:srgbClr val="C00000"/>
                </a:solidFill>
              </a:rPr>
              <a:t>c.f</a:t>
            </a:r>
            <a:r>
              <a:rPr lang="en-US" dirty="0">
                <a:solidFill>
                  <a:srgbClr val="C00000"/>
                </a:solidFill>
              </a:rPr>
              <a:t> (x) </a:t>
            </a:r>
            <a:r>
              <a:rPr lang="en-US" dirty="0"/>
              <a:t>	</a:t>
            </a:r>
            <a:r>
              <a:rPr lang="en-US" dirty="0">
                <a:sym typeface="Symbol"/>
              </a:rPr>
              <a:t></a:t>
            </a:r>
            <a:r>
              <a:rPr lang="en-US" dirty="0"/>
              <a:t> x </a:t>
            </a:r>
            <a:r>
              <a:rPr lang="en-US" dirty="0">
                <a:sym typeface="Symbol"/>
              </a:rPr>
              <a:t> </a:t>
            </a:r>
            <a:r>
              <a:rPr lang="en-US" dirty="0"/>
              <a:t>X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	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9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f(x) = x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+ 1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g(x) = x + 2</a:t>
            </a:r>
            <a:r>
              <a:rPr lang="en-US" dirty="0"/>
              <a:t> define functions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</a:t>
            </a:r>
            <a:r>
              <a:rPr lang="en-US" dirty="0"/>
              <a:t> from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	 Then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pt-BR" dirty="0"/>
              <a:t> 	</a:t>
            </a:r>
            <a:r>
              <a:rPr lang="pt-BR" dirty="0">
                <a:solidFill>
                  <a:srgbClr val="C00000"/>
                </a:solidFill>
              </a:rPr>
              <a:t>(3f-2g) (x) =  (3f)(x) – (2g)(x)</a:t>
            </a:r>
          </a:p>
          <a:p>
            <a:pPr>
              <a:buNone/>
            </a:pPr>
            <a:r>
              <a:rPr lang="pt-BR" dirty="0">
                <a:solidFill>
                  <a:srgbClr val="C00000"/>
                </a:solidFill>
              </a:rPr>
              <a:t>				     =   3. f(x) – 2. g(x)</a:t>
            </a:r>
          </a:p>
          <a:p>
            <a:pPr>
              <a:buNone/>
            </a:pPr>
            <a:r>
              <a:rPr lang="pt-BR" dirty="0"/>
              <a:t>         			     </a:t>
            </a:r>
            <a:r>
              <a:rPr lang="pt-BR" dirty="0">
                <a:solidFill>
                  <a:srgbClr val="C00000"/>
                </a:solidFill>
              </a:rPr>
              <a:t>=  3(x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>
                <a:solidFill>
                  <a:srgbClr val="C00000"/>
                </a:solidFill>
              </a:rPr>
              <a:t> + 1) - 2(x + 2)</a:t>
            </a:r>
          </a:p>
          <a:p>
            <a:pPr>
              <a:buNone/>
            </a:pPr>
            <a:r>
              <a:rPr lang="pt-BR" dirty="0"/>
              <a:t>				  </a:t>
            </a:r>
            <a:r>
              <a:rPr lang="pt-BR" dirty="0">
                <a:solidFill>
                  <a:srgbClr val="C00000"/>
                </a:solidFill>
              </a:rPr>
              <a:t>= 3x</a:t>
            </a:r>
            <a:r>
              <a:rPr lang="pt-BR" baseline="30000" dirty="0">
                <a:solidFill>
                  <a:srgbClr val="C00000"/>
                </a:solidFill>
              </a:rPr>
              <a:t>2</a:t>
            </a:r>
            <a:r>
              <a:rPr lang="pt-BR" dirty="0">
                <a:solidFill>
                  <a:srgbClr val="C00000"/>
                </a:solidFill>
              </a:rPr>
              <a:t> - 2x – 1</a:t>
            </a:r>
            <a:r>
              <a:rPr lang="pt-BR" dirty="0"/>
              <a:t>  </a:t>
            </a:r>
            <a:r>
              <a:rPr lang="en-US" dirty="0">
                <a:sym typeface="Symbol"/>
              </a:rPr>
              <a:t>   </a:t>
            </a:r>
            <a:r>
              <a:rPr lang="pt-BR" dirty="0"/>
              <a:t>x </a:t>
            </a:r>
            <a:r>
              <a:rPr lang="en-US" dirty="0">
                <a:sym typeface="Symbol"/>
              </a:rPr>
              <a:t> X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72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15422CC9-DE1C-CDFA-10C5-EC1FEBB1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2344EE1-CFFD-57AA-4D75-9BBE96554682}"/>
              </a:ext>
            </a:extLst>
          </p:cNvPr>
          <p:cNvSpPr txBox="1">
            <a:spLocks/>
          </p:cNvSpPr>
          <p:nvPr/>
        </p:nvSpPr>
        <p:spPr>
          <a:xfrm>
            <a:off x="841248" y="365760"/>
            <a:ext cx="512064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3425AC-ED1E-40F1-8FF4-F3357609CC0E}"/>
              </a:ext>
            </a:extLst>
          </p:cNvPr>
          <p:cNvSpPr txBox="1">
            <a:spLocks/>
          </p:cNvSpPr>
          <p:nvPr/>
        </p:nvSpPr>
        <p:spPr>
          <a:xfrm>
            <a:off x="684934" y="1691640"/>
            <a:ext cx="6393662" cy="4601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 topics we covered: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Domain, Range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Types of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Graphs of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Line Tests of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Inverse of Function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Composition of Function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Operations of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Practice Questions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062828042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19787</TotalTime>
  <Words>5156</Words>
  <Application>Microsoft Office PowerPoint</Application>
  <PresentationFormat>Widescreen</PresentationFormat>
  <Paragraphs>613</Paragraphs>
  <Slides>91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102" baseType="lpstr">
      <vt:lpstr>Arial</vt:lpstr>
      <vt:lpstr>Arial Black</vt:lpstr>
      <vt:lpstr>Calibri</vt:lpstr>
      <vt:lpstr>Cambria</vt:lpstr>
      <vt:lpstr>Cambria Math</vt:lpstr>
      <vt:lpstr>Century Gothic</vt:lpstr>
      <vt:lpstr>Comic Sans MS</vt:lpstr>
      <vt:lpstr>Wingdings</vt:lpstr>
      <vt:lpstr>Wingdings 3</vt:lpstr>
      <vt:lpstr>ShapesVTI</vt:lpstr>
      <vt:lpstr>Equation</vt:lpstr>
      <vt:lpstr>PowerPoint Presentation</vt:lpstr>
      <vt:lpstr>Section 2.3   Functions</vt:lpstr>
      <vt:lpstr>Application of Functions</vt:lpstr>
      <vt:lpstr>FUNCTIONS </vt:lpstr>
      <vt:lpstr>REMARK</vt:lpstr>
      <vt:lpstr>ARROW DIAGRAM OF A FUNCTION</vt:lpstr>
      <vt:lpstr>EXAMPLE</vt:lpstr>
      <vt:lpstr>NONFUNCTIONS</vt:lpstr>
      <vt:lpstr>RANGE OF A FUNCTION</vt:lpstr>
      <vt:lpstr>REMARKS</vt:lpstr>
      <vt:lpstr>EXERCISE</vt:lpstr>
      <vt:lpstr>SOLUTION</vt:lpstr>
      <vt:lpstr>GRAPH OF A FUNCTION</vt:lpstr>
      <vt:lpstr>EXAMPLE</vt:lpstr>
      <vt:lpstr>VERTICAL LINE TEST FOR THE GRAPH OF A FUNCTION</vt:lpstr>
      <vt:lpstr>EXERCISE</vt:lpstr>
      <vt:lpstr>EXERCISE</vt:lpstr>
      <vt:lpstr>PowerPoint Presentation</vt:lpstr>
      <vt:lpstr>EXERCISE</vt:lpstr>
      <vt:lpstr>EXERCISE</vt:lpstr>
      <vt:lpstr>EXERCISE</vt:lpstr>
      <vt:lpstr>FUNCTIONS NOT WELL DEFINED</vt:lpstr>
      <vt:lpstr>SOLUTION</vt:lpstr>
      <vt:lpstr>EXERCISE</vt:lpstr>
      <vt:lpstr>SOLUTION</vt:lpstr>
      <vt:lpstr>REMARK</vt:lpstr>
      <vt:lpstr>Types of Functions</vt:lpstr>
      <vt:lpstr> ONE-TO-ONE FUNCTION / INJECTIVE FUNCTION  </vt:lpstr>
      <vt:lpstr>FUNCTION NOT ONE-TO-ONE</vt:lpstr>
      <vt:lpstr>EXAMPLE</vt:lpstr>
      <vt:lpstr>PowerPoint Presentation</vt:lpstr>
      <vt:lpstr>EXERCISE</vt:lpstr>
      <vt:lpstr>EXERCISE</vt:lpstr>
      <vt:lpstr>EXERCISE</vt:lpstr>
      <vt:lpstr>EXERCISE</vt:lpstr>
      <vt:lpstr>GRAPH OF ONE-TO-ONE FUNCTION</vt:lpstr>
      <vt:lpstr>ALTERNATIVE DEFINITION OF ONE-TO-ONE FUNCTION</vt:lpstr>
      <vt:lpstr>SURJECTIVE FUNCTION /ONTO FUNCTION</vt:lpstr>
      <vt:lpstr>PowerPoint Presentation</vt:lpstr>
      <vt:lpstr>FUNCTION NOT ONTO</vt:lpstr>
      <vt:lpstr>EXAMPLE</vt:lpstr>
      <vt:lpstr>PowerPoint Presentation</vt:lpstr>
      <vt:lpstr>GRAPH OF ONTO FUNCTION</vt:lpstr>
      <vt:lpstr>EXERCISE</vt:lpstr>
      <vt:lpstr>SOLUTION</vt:lpstr>
      <vt:lpstr>BIJECTIVE FUNCTION </vt:lpstr>
      <vt:lpstr>EXAMPLE</vt:lpstr>
      <vt:lpstr>GRAPH OF BIJECTIVE FUNCTION</vt:lpstr>
      <vt:lpstr>IDENTITY FUNCTION ON A SET</vt:lpstr>
      <vt:lpstr>EXAMPLE</vt:lpstr>
      <vt:lpstr>CONSTANT FUNCTION ON A SET</vt:lpstr>
      <vt:lpstr>INVERSE  &amp;  COMPOSITIONS OF FUNCTIONS</vt:lpstr>
      <vt:lpstr>EQUALITY OF FUNCTIONS</vt:lpstr>
      <vt:lpstr>EXAMPLE</vt:lpstr>
      <vt:lpstr>EXERCISE</vt:lpstr>
      <vt:lpstr>SOLUTION</vt:lpstr>
      <vt:lpstr>INVERSE OF A FUNCTION</vt:lpstr>
      <vt:lpstr>INVERSE OF INJECTIVE FUNCTION</vt:lpstr>
      <vt:lpstr>INVERSE OF SURJECTIVE FUNCTION</vt:lpstr>
      <vt:lpstr>INVERSE OF BIJECTIVE FUNCTION</vt:lpstr>
      <vt:lpstr>INVERSE FUNCTION</vt:lpstr>
      <vt:lpstr>ARROW DIAGRAM</vt:lpstr>
      <vt:lpstr>REMARK</vt:lpstr>
      <vt:lpstr>INVERSE FUNCTION FROM AN ARROW DIAGRAM</vt:lpstr>
      <vt:lpstr>WORKING RULE TO FIND INVERSE FUNCTION</vt:lpstr>
      <vt:lpstr>EXAMPLE</vt:lpstr>
      <vt:lpstr>PowerPoint Presentation</vt:lpstr>
      <vt:lpstr>COMPOSITION OF FUNCTIONS</vt:lpstr>
      <vt:lpstr>COMPOSITION OF FUNCTIONS</vt:lpstr>
      <vt:lpstr>COMPOSITION OF FUNCTIONS DEFINED BY ARROW DIAGRAMS</vt:lpstr>
      <vt:lpstr> </vt:lpstr>
      <vt:lpstr>EXERCISE</vt:lpstr>
      <vt:lpstr>  SOLUTION</vt:lpstr>
      <vt:lpstr>PowerPoint Presentation</vt:lpstr>
      <vt:lpstr>COMPOSITION OF FUNCTIONS DEFINED BY FORMULAS</vt:lpstr>
      <vt:lpstr>SOLUTION</vt:lpstr>
      <vt:lpstr>PowerPoint Presentation</vt:lpstr>
      <vt:lpstr>PowerPoint Presentation</vt:lpstr>
      <vt:lpstr>REMARK</vt:lpstr>
      <vt:lpstr>OPERATIONS ON FUNCTIONS</vt:lpstr>
      <vt:lpstr>SUM OF FUNCTIONS</vt:lpstr>
      <vt:lpstr>EXAMPLE</vt:lpstr>
      <vt:lpstr>DIFFERENCE OF FUNCTIONS</vt:lpstr>
      <vt:lpstr>EXAMPLE</vt:lpstr>
      <vt:lpstr>PRODUCT OF FUNCTIONS</vt:lpstr>
      <vt:lpstr>EXAMPLE</vt:lpstr>
      <vt:lpstr>QUOTIENT OF FUNCTIONS</vt:lpstr>
      <vt:lpstr>EXAMPLE</vt:lpstr>
      <vt:lpstr>SCALAR MULTIPLICATION OF FUNCTIONS</vt:lpstr>
      <vt:lpstr>EXAMPLE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CC2031  Digital Logic Design Section – V11</dc:title>
  <dc:creator>IQRA JAVED</dc:creator>
  <cp:lastModifiedBy>IQRA JAVED</cp:lastModifiedBy>
  <cp:revision>107</cp:revision>
  <cp:lastPrinted>2024-03-28T06:21:38Z</cp:lastPrinted>
  <dcterms:created xsi:type="dcterms:W3CDTF">2023-10-03T05:27:31Z</dcterms:created>
  <dcterms:modified xsi:type="dcterms:W3CDTF">2025-04-28T06:54:02Z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