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73"/>
  </p:notesMasterIdLst>
  <p:sldIdLst>
    <p:sldId id="3894" r:id="rId5"/>
    <p:sldId id="3885" r:id="rId6"/>
    <p:sldId id="391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3913" r:id="rId15"/>
    <p:sldId id="267" r:id="rId16"/>
    <p:sldId id="274" r:id="rId17"/>
    <p:sldId id="432" r:id="rId18"/>
    <p:sldId id="468" r:id="rId19"/>
    <p:sldId id="3914" r:id="rId20"/>
    <p:sldId id="467" r:id="rId21"/>
    <p:sldId id="431" r:id="rId22"/>
    <p:sldId id="275" r:id="rId23"/>
    <p:sldId id="276" r:id="rId24"/>
    <p:sldId id="3915" r:id="rId25"/>
    <p:sldId id="278" r:id="rId26"/>
    <p:sldId id="279" r:id="rId27"/>
    <p:sldId id="280" r:id="rId28"/>
    <p:sldId id="281" r:id="rId29"/>
    <p:sldId id="283" r:id="rId30"/>
    <p:sldId id="284" r:id="rId31"/>
    <p:sldId id="352" r:id="rId32"/>
    <p:sldId id="354" r:id="rId33"/>
    <p:sldId id="355" r:id="rId34"/>
    <p:sldId id="390" r:id="rId35"/>
    <p:sldId id="356" r:id="rId36"/>
    <p:sldId id="292" r:id="rId37"/>
    <p:sldId id="3916" r:id="rId38"/>
    <p:sldId id="257" r:id="rId39"/>
    <p:sldId id="258" r:id="rId40"/>
    <p:sldId id="3917" r:id="rId41"/>
    <p:sldId id="3901" r:id="rId42"/>
    <p:sldId id="3918" r:id="rId43"/>
    <p:sldId id="3903" r:id="rId44"/>
    <p:sldId id="3904" r:id="rId45"/>
    <p:sldId id="3905" r:id="rId46"/>
    <p:sldId id="3919" r:id="rId47"/>
    <p:sldId id="470" r:id="rId48"/>
    <p:sldId id="472" r:id="rId49"/>
    <p:sldId id="3907" r:id="rId50"/>
    <p:sldId id="287" r:id="rId51"/>
    <p:sldId id="3908" r:id="rId52"/>
    <p:sldId id="305" r:id="rId53"/>
    <p:sldId id="3909" r:id="rId54"/>
    <p:sldId id="271" r:id="rId55"/>
    <p:sldId id="3910" r:id="rId56"/>
    <p:sldId id="273" r:id="rId57"/>
    <p:sldId id="384" r:id="rId58"/>
    <p:sldId id="388" r:id="rId59"/>
    <p:sldId id="385" r:id="rId60"/>
    <p:sldId id="288" r:id="rId61"/>
    <p:sldId id="289" r:id="rId62"/>
    <p:sldId id="290" r:id="rId63"/>
    <p:sldId id="363" r:id="rId64"/>
    <p:sldId id="294" r:id="rId65"/>
    <p:sldId id="295" r:id="rId66"/>
    <p:sldId id="297" r:id="rId67"/>
    <p:sldId id="291" r:id="rId68"/>
    <p:sldId id="303" r:id="rId69"/>
    <p:sldId id="386" r:id="rId70"/>
    <p:sldId id="3911" r:id="rId71"/>
    <p:sldId id="3855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24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78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4/24/2025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60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65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699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098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truth set of Q(x) is Ø.</a:t>
            </a:r>
          </a:p>
          <a:p>
            <a:r>
              <a:rPr lang="en-US" dirty="0"/>
              <a:t> truth set of </a:t>
            </a:r>
            <a:r>
              <a:rPr lang="en-US" i="1" dirty="0"/>
              <a:t>R</a:t>
            </a:r>
            <a:r>
              <a:rPr lang="en-US" dirty="0"/>
              <a:t>, is the set of integers for which |</a:t>
            </a:r>
            <a:r>
              <a:rPr lang="en-US" i="1" dirty="0"/>
              <a:t>x</a:t>
            </a:r>
            <a:r>
              <a:rPr lang="en-US" dirty="0"/>
              <a:t>| = </a:t>
            </a:r>
            <a:r>
              <a:rPr lang="en-US" i="1" dirty="0"/>
              <a:t>x</a:t>
            </a:r>
            <a:r>
              <a:rPr lang="en-US" dirty="0"/>
              <a:t>. |</a:t>
            </a:r>
            <a:r>
              <a:rPr lang="en-US" i="1" dirty="0"/>
              <a:t>x</a:t>
            </a:r>
            <a:r>
              <a:rPr lang="en-US" dirty="0"/>
              <a:t>| = </a:t>
            </a:r>
            <a:r>
              <a:rPr lang="en-US" i="1" dirty="0"/>
              <a:t>x </a:t>
            </a:r>
            <a:r>
              <a:rPr lang="en-US" dirty="0"/>
              <a:t>iff </a:t>
            </a:r>
            <a:r>
              <a:rPr lang="en-US" i="1" dirty="0"/>
              <a:t>x </a:t>
            </a:r>
            <a:r>
              <a:rPr lang="en-US" dirty="0"/>
              <a:t>≥ 0, it follows that the truth set of </a:t>
            </a:r>
            <a:r>
              <a:rPr lang="en-US" i="1" dirty="0"/>
              <a:t>R </a:t>
            </a:r>
            <a:r>
              <a:rPr lang="en-US" dirty="0"/>
              <a:t>is </a:t>
            </a:r>
            <a:r>
              <a:rPr lang="en-US" b="1" dirty="0"/>
              <a:t>N</a:t>
            </a:r>
            <a:r>
              <a:rPr lang="en-US" dirty="0"/>
              <a:t>, the set of nonnegative</a:t>
            </a:r>
          </a:p>
          <a:p>
            <a:r>
              <a:rPr lang="en-US" dirty="0"/>
              <a:t>integers.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409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95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7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00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97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5468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0540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361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9/3/20XX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Discrete Structures : Lecture 1-2 by IQRA JAVED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28978" y="1124158"/>
            <a:ext cx="8941283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886" y="3840480"/>
            <a:ext cx="8539468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356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70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  <p:sldLayoutId id="2147483789" r:id="rId17"/>
    <p:sldLayoutId id="2147483790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B25E70-F951-4043-8895-D1EFDDA97DDE}"/>
              </a:ext>
            </a:extLst>
          </p:cNvPr>
          <p:cNvSpPr txBox="1">
            <a:spLocks/>
          </p:cNvSpPr>
          <p:nvPr/>
        </p:nvSpPr>
        <p:spPr>
          <a:xfrm>
            <a:off x="460375" y="1948069"/>
            <a:ext cx="11594776" cy="4073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CC 141 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Structures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Department of Computer Science</a:t>
            </a:r>
            <a:b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School of Systems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University of Management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Lahore, Pakistan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BB6BA-659C-4C58-A7BC-E779ADA8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23319"/>
            <a:ext cx="2220849" cy="2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2F2B-2D78-EB56-E02E-F61CF209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224" y="2336768"/>
            <a:ext cx="5559552" cy="253307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Section 2.1</a:t>
            </a:r>
            <a:b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Sets</a:t>
            </a:r>
            <a:endParaRPr 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43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348A-194D-4F17-B54B-AEBBBF91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… </a:t>
            </a:r>
            <a:r>
              <a:rPr lang="en-US" sz="4400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DE3E2-DB1B-422F-A38B-07645F3A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847" y="1690688"/>
            <a:ext cx="9973952" cy="4341423"/>
          </a:xfrm>
        </p:spPr>
        <p:txBody>
          <a:bodyPr>
            <a:normAutofit/>
          </a:bodyPr>
          <a:lstStyle/>
          <a:p>
            <a:pPr marL="623061">
              <a:lnSpc>
                <a:spcPct val="100000"/>
              </a:lnSpc>
              <a:spcBef>
                <a:spcPts val="95"/>
              </a:spcBef>
            </a:pPr>
            <a:r>
              <a:rPr lang="en-US" sz="2400" spc="-5" dirty="0">
                <a:solidFill>
                  <a:srgbClr val="FF0000"/>
                </a:solidFill>
              </a:rPr>
              <a:t>Sets </a:t>
            </a:r>
            <a:r>
              <a:rPr lang="en-US" sz="2400" spc="-14" dirty="0"/>
              <a:t>are </a:t>
            </a:r>
            <a:r>
              <a:rPr lang="en-US" sz="2400" spc="-5" dirty="0"/>
              <a:t>used </a:t>
            </a:r>
            <a:r>
              <a:rPr lang="en-US" sz="2400" spc="-18" dirty="0"/>
              <a:t>to </a:t>
            </a:r>
            <a:r>
              <a:rPr lang="en-US" sz="2400" spc="-9" dirty="0"/>
              <a:t>group </a:t>
            </a:r>
            <a:r>
              <a:rPr lang="en-US" sz="2400" spc="-5" dirty="0"/>
              <a:t>objects </a:t>
            </a:r>
            <a:r>
              <a:rPr lang="en-US" sz="2400" spc="-45" dirty="0"/>
              <a:t>together. </a:t>
            </a:r>
            <a:r>
              <a:rPr lang="en-US" sz="2400" spc="-14" dirty="0"/>
              <a:t>Often </a:t>
            </a:r>
            <a:r>
              <a:rPr lang="en-US" sz="2400" dirty="0"/>
              <a:t>the</a:t>
            </a:r>
            <a:r>
              <a:rPr lang="en-US" sz="2400" spc="113" dirty="0"/>
              <a:t> </a:t>
            </a:r>
            <a:r>
              <a:rPr lang="en-US" sz="2400" spc="-5" dirty="0"/>
              <a:t>objects </a:t>
            </a:r>
            <a:r>
              <a:rPr lang="en-US" sz="2400" dirty="0"/>
              <a:t>in a </a:t>
            </a:r>
            <a:r>
              <a:rPr lang="en-US" sz="2400" spc="-9" dirty="0"/>
              <a:t>set </a:t>
            </a:r>
            <a:r>
              <a:rPr lang="en-US" sz="2400" spc="-23" dirty="0"/>
              <a:t>have </a:t>
            </a:r>
            <a:r>
              <a:rPr lang="en-US" sz="2400" spc="-5" dirty="0"/>
              <a:t>similar</a:t>
            </a:r>
            <a:r>
              <a:rPr lang="en-US" sz="2400" spc="50" dirty="0"/>
              <a:t> </a:t>
            </a:r>
            <a:r>
              <a:rPr lang="en-US" sz="2400" spc="-9" dirty="0"/>
              <a:t>properties</a:t>
            </a:r>
          </a:p>
          <a:p>
            <a:pPr marL="623061">
              <a:lnSpc>
                <a:spcPct val="100000"/>
              </a:lnSpc>
              <a:spcBef>
                <a:spcPts val="95"/>
              </a:spcBef>
            </a:pPr>
            <a:endParaRPr lang="en-US" sz="2400" spc="-9" dirty="0"/>
          </a:p>
          <a:p>
            <a:pPr marL="623061">
              <a:lnSpc>
                <a:spcPct val="100000"/>
              </a:lnSpc>
            </a:pPr>
            <a:r>
              <a:rPr lang="en-US" sz="2400" dirty="0">
                <a:cs typeface="Calibri"/>
              </a:rPr>
              <a:t>A </a:t>
            </a:r>
            <a:r>
              <a:rPr lang="en-US" sz="2400" spc="-9" dirty="0">
                <a:solidFill>
                  <a:srgbClr val="FF0000"/>
                </a:solidFill>
                <a:cs typeface="Calibri"/>
              </a:rPr>
              <a:t>set </a:t>
            </a:r>
            <a:r>
              <a:rPr lang="en-US" sz="2400" dirty="0">
                <a:cs typeface="Calibri"/>
              </a:rPr>
              <a:t>is an </a:t>
            </a:r>
            <a:r>
              <a:rPr lang="en-US" sz="2400" spc="-14" dirty="0">
                <a:cs typeface="Calibri"/>
              </a:rPr>
              <a:t>unordered </a:t>
            </a:r>
            <a:r>
              <a:rPr lang="en-US" sz="2400" spc="-9" dirty="0">
                <a:cs typeface="Calibri"/>
              </a:rPr>
              <a:t>collection </a:t>
            </a:r>
            <a:r>
              <a:rPr lang="en-US" sz="2400" dirty="0">
                <a:cs typeface="Calibri"/>
              </a:rPr>
              <a:t>of</a:t>
            </a:r>
            <a:r>
              <a:rPr lang="en-US" sz="2400" spc="14" dirty="0">
                <a:cs typeface="Calibri"/>
              </a:rPr>
              <a:t> </a:t>
            </a:r>
            <a:r>
              <a:rPr lang="en-US" sz="2400" spc="-5" dirty="0">
                <a:cs typeface="Calibri"/>
              </a:rPr>
              <a:t>objects</a:t>
            </a:r>
          </a:p>
          <a:p>
            <a:pPr marL="623061">
              <a:lnSpc>
                <a:spcPct val="100000"/>
              </a:lnSpc>
            </a:pPr>
            <a:endParaRPr lang="en-US" sz="2400" spc="-5" dirty="0">
              <a:cs typeface="Calibri"/>
            </a:endParaRPr>
          </a:p>
          <a:p>
            <a:pPr marL="0" indent="0">
              <a:buNone/>
            </a:pPr>
            <a:r>
              <a:rPr lang="en-US" sz="2400" spc="-9" dirty="0">
                <a:cs typeface="Calibri"/>
              </a:rPr>
              <a:t>Example:</a:t>
            </a:r>
            <a:endParaRPr lang="en-US" sz="2400" dirty="0">
              <a:cs typeface="Calibri"/>
            </a:endParaRPr>
          </a:p>
          <a:p>
            <a:pPr marL="514350" indent="-514350" algn="just">
              <a:lnSpc>
                <a:spcPct val="8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ea typeface="Cambria Math" panose="02040503050406030204" pitchFamily="18" charset="0"/>
              </a:rPr>
              <a:t>Students in the class: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a typeface="Cambria Math" panose="02040503050406030204" pitchFamily="18" charset="0"/>
              </a:rPr>
              <a:t>{Ahmad, Sana, Ali, Shahbaz, Farah}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ea typeface="Cambria Math" panose="02040503050406030204" pitchFamily="18" charset="0"/>
              </a:rPr>
              <a:t>Cities in Punjab: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a typeface="Cambria Math" panose="02040503050406030204" pitchFamily="18" charset="0"/>
              </a:rPr>
              <a:t>{Lahore, Faisalabad, Gujranwala,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a typeface="Cambria Math" panose="02040503050406030204" pitchFamily="18" charset="0"/>
              </a:rPr>
              <a:t>Jehlam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a typeface="Cambria Math" panose="02040503050406030204" pitchFamily="18" charset="0"/>
              </a:rPr>
              <a:t>}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ea typeface="Cambria Math" panose="02040503050406030204" pitchFamily="18" charset="0"/>
              </a:rPr>
              <a:t>Set of Integers: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a typeface="Cambria Math" panose="02040503050406030204" pitchFamily="18" charset="0"/>
              </a:rPr>
              <a:t>{ … , -3, -2, -1, 0, 1, 2, 3, … }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  <a:ea typeface="Cambria Math" panose="02040503050406030204" pitchFamily="18" charset="0"/>
            </a:endParaRPr>
          </a:p>
          <a:p>
            <a:pPr marL="11506"/>
            <a:endParaRPr lang="en-US" sz="2400" dirty="0">
              <a:cs typeface="Calibri"/>
            </a:endParaRPr>
          </a:p>
          <a:p>
            <a:pPr marL="623061">
              <a:lnSpc>
                <a:spcPct val="1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315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9951" y="1542916"/>
            <a:ext cx="11234143" cy="3956870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>
              <a:spcBef>
                <a:spcPts val="95"/>
              </a:spcBef>
            </a:pPr>
            <a:r>
              <a:rPr sz="2400" spc="-5" dirty="0">
                <a:cs typeface="Calibri"/>
              </a:rPr>
              <a:t>The objects </a:t>
            </a:r>
            <a:r>
              <a:rPr sz="2400" dirty="0">
                <a:cs typeface="Calibri"/>
              </a:rPr>
              <a:t>in a </a:t>
            </a:r>
            <a:r>
              <a:rPr sz="2400" spc="-9" dirty="0">
                <a:cs typeface="Calibri"/>
              </a:rPr>
              <a:t>set </a:t>
            </a:r>
            <a:r>
              <a:rPr sz="2400" spc="-14" dirty="0">
                <a:cs typeface="Calibri"/>
              </a:rPr>
              <a:t>are </a:t>
            </a:r>
            <a:r>
              <a:rPr sz="2400" spc="-9" dirty="0">
                <a:cs typeface="Calibri"/>
              </a:rPr>
              <a:t>called </a:t>
            </a:r>
            <a:r>
              <a:rPr sz="2400" dirty="0">
                <a:cs typeface="Calibri"/>
              </a:rPr>
              <a:t>the </a:t>
            </a:r>
            <a:r>
              <a:rPr sz="2400" spc="-5" dirty="0">
                <a:solidFill>
                  <a:srgbClr val="FF0000"/>
                </a:solidFill>
                <a:cs typeface="Calibri"/>
              </a:rPr>
              <a:t>elements</a:t>
            </a:r>
            <a:r>
              <a:rPr sz="2400" spc="-5" dirty="0">
                <a:cs typeface="Calibri"/>
              </a:rPr>
              <a:t>, </a:t>
            </a:r>
            <a:r>
              <a:rPr sz="2400" dirty="0">
                <a:cs typeface="Calibri"/>
              </a:rPr>
              <a:t>or</a:t>
            </a:r>
            <a:r>
              <a:rPr sz="2400" spc="23" dirty="0"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cs typeface="Calibri"/>
              </a:rPr>
              <a:t>members</a:t>
            </a:r>
            <a:r>
              <a:rPr sz="2400" spc="-9" dirty="0">
                <a:cs typeface="Calibri"/>
              </a:rPr>
              <a:t>,</a:t>
            </a:r>
            <a:r>
              <a:rPr lang="en-US" sz="2400" spc="-9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 the</a:t>
            </a:r>
            <a:r>
              <a:rPr sz="2400" spc="-9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set.</a:t>
            </a:r>
            <a:endParaRPr lang="en-US" sz="2400" spc="-5" dirty="0">
              <a:cs typeface="Calibri"/>
            </a:endParaRPr>
          </a:p>
          <a:p>
            <a:pPr marL="11506">
              <a:spcBef>
                <a:spcPts val="95"/>
              </a:spcBef>
            </a:pPr>
            <a:endParaRPr sz="2400" dirty="0">
              <a:cs typeface="Calibri"/>
            </a:endParaRPr>
          </a:p>
          <a:p>
            <a:pPr marL="425729" indent="-414223">
              <a:spcBef>
                <a:spcPts val="18"/>
              </a:spcBef>
              <a:buFont typeface="Arial"/>
              <a:buChar char="•"/>
              <a:tabLst>
                <a:tab pos="425154" algn="l"/>
                <a:tab pos="426304" algn="l"/>
              </a:tabLst>
            </a:pPr>
            <a:r>
              <a:rPr sz="2400" dirty="0">
                <a:cs typeface="Calibri"/>
              </a:rPr>
              <a:t>a is </a:t>
            </a:r>
            <a:r>
              <a:rPr sz="2400" spc="-5" dirty="0">
                <a:cs typeface="Calibri"/>
              </a:rPr>
              <a:t>an element of the set </a:t>
            </a:r>
            <a:r>
              <a:rPr sz="2400" dirty="0">
                <a:cs typeface="Calibri"/>
              </a:rPr>
              <a:t>A, </a:t>
            </a:r>
            <a:r>
              <a:rPr sz="2400" spc="-9" dirty="0">
                <a:cs typeface="Calibri"/>
              </a:rPr>
              <a:t>denoted </a:t>
            </a:r>
            <a:r>
              <a:rPr sz="2400" spc="-5" dirty="0">
                <a:cs typeface="Calibri"/>
              </a:rPr>
              <a:t>by </a:t>
            </a:r>
            <a:r>
              <a:rPr sz="2400" i="1" dirty="0">
                <a:solidFill>
                  <a:srgbClr val="FF0000"/>
                </a:solidFill>
                <a:cs typeface="Calibri"/>
              </a:rPr>
              <a:t>a </a:t>
            </a:r>
            <a:r>
              <a:rPr sz="2400" dirty="0">
                <a:solidFill>
                  <a:srgbClr val="FF0000"/>
                </a:solidFill>
                <a:cs typeface="Cambria Math"/>
              </a:rPr>
              <a:t>∈</a:t>
            </a:r>
            <a:r>
              <a:rPr sz="2400" spc="32" dirty="0">
                <a:solidFill>
                  <a:srgbClr val="FF0000"/>
                </a:solidFill>
                <a:cs typeface="Cambria Math"/>
              </a:rPr>
              <a:t> </a:t>
            </a:r>
            <a:r>
              <a:rPr sz="2400" i="1" spc="-5" dirty="0">
                <a:solidFill>
                  <a:srgbClr val="FF0000"/>
                </a:solidFill>
                <a:cs typeface="Calibri"/>
              </a:rPr>
              <a:t>A</a:t>
            </a:r>
            <a:r>
              <a:rPr sz="2400" spc="-5" dirty="0">
                <a:cs typeface="Calibri"/>
              </a:rPr>
              <a:t>.</a:t>
            </a:r>
            <a:endParaRPr sz="2400" dirty="0">
              <a:cs typeface="Calibri"/>
            </a:endParaRPr>
          </a:p>
          <a:p>
            <a:pPr marL="425729" indent="-414223">
              <a:lnSpc>
                <a:spcPts val="3469"/>
              </a:lnSpc>
              <a:buFont typeface="Arial"/>
              <a:buChar char="•"/>
              <a:tabLst>
                <a:tab pos="425154" algn="l"/>
                <a:tab pos="426304" algn="l"/>
                <a:tab pos="7225318" algn="l"/>
              </a:tabLst>
            </a:pPr>
            <a:r>
              <a:rPr sz="2400" dirty="0">
                <a:cs typeface="Calibri"/>
              </a:rPr>
              <a:t>a is </a:t>
            </a:r>
            <a:r>
              <a:rPr sz="2400" spc="-5" dirty="0">
                <a:cs typeface="Calibri"/>
              </a:rPr>
              <a:t>not </a:t>
            </a:r>
            <a:r>
              <a:rPr sz="2400" dirty="0">
                <a:cs typeface="Calibri"/>
              </a:rPr>
              <a:t>an </a:t>
            </a:r>
            <a:r>
              <a:rPr sz="2400" spc="-5" dirty="0">
                <a:cs typeface="Calibri"/>
              </a:rPr>
              <a:t>element </a:t>
            </a:r>
            <a:r>
              <a:rPr sz="2400" dirty="0">
                <a:cs typeface="Calibri"/>
              </a:rPr>
              <a:t>of </a:t>
            </a:r>
            <a:r>
              <a:rPr sz="2400" spc="-9" dirty="0">
                <a:cs typeface="Calibri"/>
              </a:rPr>
              <a:t>the set </a:t>
            </a:r>
            <a:r>
              <a:rPr sz="2400" dirty="0">
                <a:cs typeface="Calibri"/>
              </a:rPr>
              <a:t>A,</a:t>
            </a:r>
            <a:r>
              <a:rPr sz="2400" spc="72" dirty="0">
                <a:cs typeface="Calibri"/>
              </a:rPr>
              <a:t> </a:t>
            </a:r>
            <a:r>
              <a:rPr sz="2400" spc="-9" dirty="0">
                <a:cs typeface="Calibri"/>
              </a:rPr>
              <a:t>denoted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by	</a:t>
            </a:r>
            <a:r>
              <a:rPr sz="2400" i="1" dirty="0">
                <a:solidFill>
                  <a:srgbClr val="FF0000"/>
                </a:solidFill>
                <a:cs typeface="Calibri"/>
              </a:rPr>
              <a:t>a </a:t>
            </a:r>
            <a:r>
              <a:rPr sz="2400" dirty="0">
                <a:solidFill>
                  <a:srgbClr val="FF0000"/>
                </a:solidFill>
                <a:cs typeface="Cambria Math"/>
              </a:rPr>
              <a:t>∉</a:t>
            </a:r>
            <a:r>
              <a:rPr sz="2400" spc="-14" dirty="0">
                <a:solidFill>
                  <a:srgbClr val="FF0000"/>
                </a:solidFill>
                <a:cs typeface="Cambria Math"/>
              </a:rPr>
              <a:t> </a:t>
            </a:r>
            <a:r>
              <a:rPr sz="2400" i="1" spc="-5" dirty="0">
                <a:solidFill>
                  <a:srgbClr val="FF0000"/>
                </a:solidFill>
                <a:cs typeface="Calibri"/>
              </a:rPr>
              <a:t>A</a:t>
            </a:r>
            <a:r>
              <a:rPr sz="2400" spc="-5" dirty="0">
                <a:cs typeface="Calibri"/>
              </a:rPr>
              <a:t>.</a:t>
            </a:r>
            <a:endParaRPr lang="en-US" sz="2400" spc="-5" dirty="0">
              <a:cs typeface="Calibri"/>
            </a:endParaRPr>
          </a:p>
          <a:p>
            <a:pPr marL="425729" indent="-414223">
              <a:lnSpc>
                <a:spcPts val="3469"/>
              </a:lnSpc>
              <a:buFont typeface="Arial"/>
              <a:buChar char="•"/>
              <a:tabLst>
                <a:tab pos="425154" algn="l"/>
                <a:tab pos="426304" algn="l"/>
                <a:tab pos="7225318" algn="l"/>
              </a:tabLst>
            </a:pPr>
            <a:endParaRPr sz="2400" dirty="0">
              <a:cs typeface="Calibri"/>
            </a:endParaRPr>
          </a:p>
          <a:p>
            <a:pPr marL="11506">
              <a:lnSpc>
                <a:spcPts val="3469"/>
              </a:lnSpc>
            </a:pPr>
            <a:r>
              <a:rPr sz="2400" spc="-9" dirty="0">
                <a:solidFill>
                  <a:srgbClr val="FF0000"/>
                </a:solidFill>
                <a:cs typeface="Calibri"/>
              </a:rPr>
              <a:t>Example</a:t>
            </a:r>
            <a:r>
              <a:rPr sz="2400" spc="-9" dirty="0">
                <a:cs typeface="Calibri"/>
              </a:rPr>
              <a:t>:</a:t>
            </a:r>
            <a:endParaRPr sz="2400" dirty="0">
              <a:cs typeface="Calibri"/>
            </a:endParaRPr>
          </a:p>
          <a:p>
            <a:pPr marL="11506" marR="343460"/>
            <a:r>
              <a:rPr sz="2400" spc="-5" dirty="0">
                <a:solidFill>
                  <a:srgbClr val="FF0000"/>
                </a:solidFill>
                <a:cs typeface="Calibri"/>
              </a:rPr>
              <a:t>Set D: </a:t>
            </a:r>
            <a:r>
              <a:rPr sz="2400" spc="-5" dirty="0">
                <a:cs typeface="Calibri"/>
              </a:rPr>
              <a:t>all </a:t>
            </a:r>
            <a:r>
              <a:rPr sz="2400" spc="-9" dirty="0">
                <a:cs typeface="Calibri"/>
              </a:rPr>
              <a:t>students </a:t>
            </a:r>
            <a:r>
              <a:rPr sz="2400" spc="-14" dirty="0">
                <a:cs typeface="Calibri"/>
              </a:rPr>
              <a:t>taking Discrete </a:t>
            </a:r>
            <a:r>
              <a:rPr sz="2400" spc="-5" dirty="0">
                <a:cs typeface="Calibri"/>
              </a:rPr>
              <a:t>Mathematics </a:t>
            </a:r>
            <a:r>
              <a:rPr sz="2400" spc="-14" dirty="0">
                <a:cs typeface="Calibri"/>
              </a:rPr>
              <a:t>course.  </a:t>
            </a:r>
            <a:r>
              <a:rPr sz="2400" spc="-5" dirty="0">
                <a:cs typeface="Calibri"/>
              </a:rPr>
              <a:t>Assume </a:t>
            </a:r>
            <a:r>
              <a:rPr sz="2400" dirty="0">
                <a:cs typeface="Calibri"/>
              </a:rPr>
              <a:t>Bill is </a:t>
            </a:r>
            <a:r>
              <a:rPr sz="2400" spc="-9" dirty="0">
                <a:cs typeface="Calibri"/>
              </a:rPr>
              <a:t>taking </a:t>
            </a:r>
            <a:r>
              <a:rPr sz="2400" spc="-14" dirty="0">
                <a:cs typeface="Calibri"/>
              </a:rPr>
              <a:t>Discrete </a:t>
            </a:r>
            <a:r>
              <a:rPr sz="2400" spc="-5" dirty="0">
                <a:cs typeface="Calibri"/>
              </a:rPr>
              <a:t>Mathematics </a:t>
            </a:r>
            <a:r>
              <a:rPr sz="2400" spc="-18" dirty="0">
                <a:cs typeface="Calibri"/>
              </a:rPr>
              <a:t>course </a:t>
            </a:r>
            <a:r>
              <a:rPr sz="2400" spc="-5" dirty="0">
                <a:cs typeface="Calibri"/>
              </a:rPr>
              <a:t>and  </a:t>
            </a:r>
            <a:r>
              <a:rPr sz="2400" spc="-14" dirty="0">
                <a:cs typeface="Calibri"/>
              </a:rPr>
              <a:t>George </a:t>
            </a:r>
            <a:r>
              <a:rPr sz="2400" dirty="0">
                <a:cs typeface="Calibri"/>
              </a:rPr>
              <a:t>is </a:t>
            </a:r>
            <a:r>
              <a:rPr sz="2400" spc="-5" dirty="0">
                <a:cs typeface="Calibri"/>
              </a:rPr>
              <a:t>not </a:t>
            </a:r>
            <a:r>
              <a:rPr sz="2400" spc="-14" dirty="0">
                <a:cs typeface="Calibri"/>
              </a:rPr>
              <a:t>taking Discrete </a:t>
            </a:r>
            <a:r>
              <a:rPr sz="2400" spc="-5" dirty="0">
                <a:cs typeface="Calibri"/>
              </a:rPr>
              <a:t>Mathematics</a:t>
            </a:r>
            <a:r>
              <a:rPr sz="2400" spc="27" dirty="0">
                <a:cs typeface="Calibri"/>
              </a:rPr>
              <a:t> </a:t>
            </a:r>
            <a:r>
              <a:rPr sz="2400" spc="-14" dirty="0">
                <a:cs typeface="Calibri"/>
              </a:rPr>
              <a:t>course.</a:t>
            </a:r>
            <a:endParaRPr sz="2400" dirty="0">
              <a:cs typeface="Calibri"/>
            </a:endParaRPr>
          </a:p>
          <a:p>
            <a:pPr marL="11506" marR="6830656">
              <a:spcBef>
                <a:spcPts val="23"/>
              </a:spcBef>
            </a:pPr>
            <a:r>
              <a:rPr lang="en-US" sz="2400" spc="-5" dirty="0">
                <a:cs typeface="Calibri"/>
              </a:rPr>
              <a:t>		</a:t>
            </a:r>
            <a:r>
              <a:rPr sz="2400" spc="-5" dirty="0">
                <a:cs typeface="Calibri"/>
              </a:rPr>
              <a:t>Bill </a:t>
            </a:r>
            <a:r>
              <a:rPr sz="2400" dirty="0">
                <a:solidFill>
                  <a:srgbClr val="FF0000"/>
                </a:solidFill>
                <a:cs typeface="Cambria Math"/>
              </a:rPr>
              <a:t>∈ </a:t>
            </a:r>
            <a:r>
              <a:rPr sz="2400" dirty="0">
                <a:cs typeface="Calibri"/>
              </a:rPr>
              <a:t>D </a:t>
            </a:r>
            <a:endParaRPr lang="en-US" sz="2400" dirty="0">
              <a:cs typeface="Calibri"/>
            </a:endParaRPr>
          </a:p>
          <a:p>
            <a:pPr marL="11506" marR="6830656">
              <a:spcBef>
                <a:spcPts val="23"/>
              </a:spcBef>
            </a:pPr>
            <a:r>
              <a:rPr lang="en-US" sz="2400" spc="-14" dirty="0">
                <a:cs typeface="Calibri"/>
              </a:rPr>
              <a:t>		</a:t>
            </a:r>
            <a:r>
              <a:rPr sz="2400" spc="-14" dirty="0">
                <a:cs typeface="Calibri"/>
              </a:rPr>
              <a:t>George </a:t>
            </a:r>
            <a:r>
              <a:rPr sz="2400" dirty="0">
                <a:solidFill>
                  <a:srgbClr val="FF0000"/>
                </a:solidFill>
                <a:cs typeface="Cambria Math"/>
              </a:rPr>
              <a:t>∉</a:t>
            </a:r>
            <a:r>
              <a:rPr sz="2400" spc="-45" dirty="0">
                <a:solidFill>
                  <a:srgbClr val="FF0000"/>
                </a:solidFill>
                <a:cs typeface="Cambria Math"/>
              </a:rPr>
              <a:t> </a:t>
            </a:r>
            <a:r>
              <a:rPr sz="2400" dirty="0">
                <a:cs typeface="Calibri"/>
              </a:rPr>
              <a:t>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3FE858-DF0A-47F2-889D-C399A66884B0}"/>
              </a:ext>
            </a:extLst>
          </p:cNvPr>
          <p:cNvSpPr txBox="1">
            <a:spLocks/>
          </p:cNvSpPr>
          <p:nvPr/>
        </p:nvSpPr>
        <p:spPr>
          <a:xfrm>
            <a:off x="1628708" y="432506"/>
            <a:ext cx="48796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Membership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35444" y="1959876"/>
            <a:ext cx="8517838" cy="1796791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>
              <a:spcBef>
                <a:spcPts val="95"/>
              </a:spcBef>
            </a:pPr>
            <a:r>
              <a:rPr sz="2899" spc="-9" dirty="0">
                <a:cs typeface="Calibri"/>
              </a:rPr>
              <a:t>There </a:t>
            </a:r>
            <a:r>
              <a:rPr sz="2899" spc="-14" dirty="0">
                <a:cs typeface="Calibri"/>
              </a:rPr>
              <a:t>are many </a:t>
            </a:r>
            <a:r>
              <a:rPr sz="2899" spc="-27" dirty="0">
                <a:cs typeface="Calibri"/>
              </a:rPr>
              <a:t>ways </a:t>
            </a:r>
            <a:r>
              <a:rPr sz="2899" spc="-18" dirty="0">
                <a:cs typeface="Calibri"/>
              </a:rPr>
              <a:t>to </a:t>
            </a:r>
            <a:r>
              <a:rPr sz="2899" spc="-14" dirty="0">
                <a:cs typeface="Calibri"/>
              </a:rPr>
              <a:t>express </a:t>
            </a:r>
            <a:r>
              <a:rPr sz="2899" dirty="0">
                <a:cs typeface="Calibri"/>
              </a:rPr>
              <a:t>the </a:t>
            </a:r>
            <a:r>
              <a:rPr sz="2899" spc="-5" dirty="0">
                <a:cs typeface="Calibri"/>
              </a:rPr>
              <a:t>sets</a:t>
            </a:r>
            <a:endParaRPr sz="2899" dirty="0">
              <a:cs typeface="Calibri"/>
            </a:endParaRPr>
          </a:p>
          <a:p>
            <a:pPr marL="478083" indent="-466576">
              <a:buAutoNum type="arabicPeriod"/>
              <a:tabLst>
                <a:tab pos="478083" algn="l"/>
                <a:tab pos="478658" algn="l"/>
              </a:tabLst>
            </a:pPr>
            <a:r>
              <a:rPr sz="2899" spc="-9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Listing </a:t>
            </a:r>
            <a:r>
              <a:rPr sz="2899" spc="-5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all </a:t>
            </a:r>
            <a:r>
              <a:rPr sz="2899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the</a:t>
            </a:r>
            <a:r>
              <a:rPr sz="2899" spc="32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 </a:t>
            </a:r>
            <a:r>
              <a:rPr sz="2899" spc="-5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elements</a:t>
            </a:r>
            <a:endParaRPr sz="2899" dirty="0">
              <a:solidFill>
                <a:schemeClr val="accent2">
                  <a:lumMod val="75000"/>
                </a:schemeClr>
              </a:solidFill>
              <a:cs typeface="Calibri"/>
            </a:endParaRPr>
          </a:p>
          <a:p>
            <a:pPr marL="560927" indent="-549421">
              <a:buAutoNum type="arabicPeriod"/>
              <a:tabLst>
                <a:tab pos="560927" algn="l"/>
                <a:tab pos="561503" algn="l"/>
              </a:tabLst>
            </a:pPr>
            <a:r>
              <a:rPr sz="2899" spc="-5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Set builder </a:t>
            </a:r>
            <a:r>
              <a:rPr sz="2899" spc="-14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notation</a:t>
            </a:r>
            <a:endParaRPr sz="2899" dirty="0">
              <a:solidFill>
                <a:schemeClr val="accent2">
                  <a:lumMod val="75000"/>
                </a:schemeClr>
              </a:solidFill>
              <a:cs typeface="Calibri"/>
            </a:endParaRPr>
          </a:p>
          <a:p>
            <a:pPr marL="560927" indent="-549421">
              <a:buAutoNum type="arabicPeriod"/>
              <a:tabLst>
                <a:tab pos="560927" algn="l"/>
                <a:tab pos="561503" algn="l"/>
              </a:tabLst>
            </a:pPr>
            <a:r>
              <a:rPr sz="2899" spc="-36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Venn</a:t>
            </a:r>
            <a:r>
              <a:rPr sz="2899" spc="-5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 </a:t>
            </a:r>
            <a:r>
              <a:rPr sz="2899" spc="-14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diagrams</a:t>
            </a:r>
            <a:endParaRPr sz="2899" dirty="0">
              <a:solidFill>
                <a:schemeClr val="accent2">
                  <a:lumMod val="75000"/>
                </a:schemeClr>
              </a:solidFill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634399-D165-4E66-8909-2EAE1F44E063}"/>
              </a:ext>
            </a:extLst>
          </p:cNvPr>
          <p:cNvSpPr txBox="1">
            <a:spLocks/>
          </p:cNvSpPr>
          <p:nvPr/>
        </p:nvSpPr>
        <p:spPr>
          <a:xfrm>
            <a:off x="93544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Expressing Set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90165" y="1744477"/>
            <a:ext cx="9238130" cy="4444182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>
              <a:spcBef>
                <a:spcPts val="95"/>
              </a:spcBef>
            </a:pPr>
            <a:r>
              <a:rPr sz="2400" dirty="0">
                <a:cs typeface="Calibri"/>
              </a:rPr>
              <a:t>S = </a:t>
            </a:r>
            <a:r>
              <a:rPr sz="2400" spc="-5" dirty="0">
                <a:cs typeface="Calibri"/>
              </a:rPr>
              <a:t>{e1 </a:t>
            </a:r>
            <a:r>
              <a:rPr sz="2400" dirty="0">
                <a:cs typeface="Calibri"/>
              </a:rPr>
              <a:t>, e2 , e3 ,…,en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}</a:t>
            </a:r>
          </a:p>
          <a:p>
            <a:pPr marL="11506"/>
            <a:r>
              <a:rPr sz="2400" spc="-9" dirty="0">
                <a:cs typeface="Calibri"/>
              </a:rPr>
              <a:t>where </a:t>
            </a:r>
            <a:r>
              <a:rPr sz="2400" spc="-14" dirty="0">
                <a:cs typeface="Cambria Math"/>
              </a:rPr>
              <a:t>𝑒</a:t>
            </a:r>
            <a:r>
              <a:rPr sz="2400" spc="-20" baseline="-15700" dirty="0">
                <a:cs typeface="Cambria Math"/>
              </a:rPr>
              <a:t>𝑖 </a:t>
            </a:r>
            <a:r>
              <a:rPr sz="2400" dirty="0">
                <a:cs typeface="Calibri"/>
              </a:rPr>
              <a:t>is </a:t>
            </a:r>
            <a:r>
              <a:rPr sz="2400" spc="-5" dirty="0">
                <a:cs typeface="Calibri"/>
              </a:rPr>
              <a:t>element </a:t>
            </a:r>
            <a:r>
              <a:rPr sz="2400" spc="-9" dirty="0">
                <a:cs typeface="Calibri"/>
              </a:rPr>
              <a:t>in </a:t>
            </a:r>
            <a:r>
              <a:rPr sz="2400" dirty="0">
                <a:cs typeface="Calibri"/>
              </a:rPr>
              <a:t>the</a:t>
            </a:r>
            <a:r>
              <a:rPr sz="2400" spc="-59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set</a:t>
            </a:r>
            <a:endParaRPr sz="2400" dirty="0">
              <a:cs typeface="Calibri"/>
            </a:endParaRPr>
          </a:p>
          <a:p>
            <a:pPr>
              <a:spcBef>
                <a:spcPts val="36"/>
              </a:spcBef>
            </a:pPr>
            <a:endParaRPr sz="2400" dirty="0">
              <a:cs typeface="Times New Roman"/>
            </a:endParaRPr>
          </a:p>
          <a:p>
            <a:pPr marL="11506"/>
            <a:r>
              <a:rPr sz="2400" spc="-14" dirty="0">
                <a:solidFill>
                  <a:srgbClr val="FF0000"/>
                </a:solidFill>
                <a:cs typeface="Calibri"/>
              </a:rPr>
              <a:t>Example</a:t>
            </a:r>
            <a:endParaRPr sz="2400" dirty="0">
              <a:cs typeface="Calibri"/>
            </a:endParaRPr>
          </a:p>
          <a:p>
            <a:pPr marL="11506"/>
            <a:r>
              <a:rPr sz="2400" spc="-5" dirty="0">
                <a:cs typeface="Calibri"/>
              </a:rPr>
              <a:t>All </a:t>
            </a:r>
            <a:r>
              <a:rPr sz="2400" spc="-9" dirty="0">
                <a:cs typeface="Calibri"/>
              </a:rPr>
              <a:t>vowels </a:t>
            </a:r>
            <a:r>
              <a:rPr sz="2400" dirty="0">
                <a:cs typeface="Calibri"/>
              </a:rPr>
              <a:t>in the </a:t>
            </a:r>
            <a:r>
              <a:rPr sz="2400" spc="-5" dirty="0">
                <a:cs typeface="Calibri"/>
              </a:rPr>
              <a:t>English</a:t>
            </a:r>
            <a:r>
              <a:rPr sz="2400" spc="-32" dirty="0">
                <a:cs typeface="Calibri"/>
              </a:rPr>
              <a:t> </a:t>
            </a:r>
            <a:r>
              <a:rPr sz="2400" spc="-5" dirty="0">
                <a:cs typeface="Calibri"/>
              </a:rPr>
              <a:t>alphabet.</a:t>
            </a:r>
            <a:endParaRPr sz="2400" dirty="0">
              <a:cs typeface="Calibri"/>
            </a:endParaRPr>
          </a:p>
          <a:p>
            <a:pPr marL="425729" indent="-414223">
              <a:buFont typeface="Arial"/>
              <a:buChar char="•"/>
              <a:tabLst>
                <a:tab pos="425154" algn="l"/>
                <a:tab pos="426304" algn="l"/>
              </a:tabLst>
            </a:pPr>
            <a:r>
              <a:rPr sz="2400" dirty="0">
                <a:cs typeface="Calibri"/>
              </a:rPr>
              <a:t>V = </a:t>
            </a:r>
            <a:r>
              <a:rPr sz="2400" spc="-5" dirty="0">
                <a:cs typeface="Calibri"/>
              </a:rPr>
              <a:t>{a, </a:t>
            </a:r>
            <a:r>
              <a:rPr sz="2400" dirty="0">
                <a:cs typeface="Calibri"/>
              </a:rPr>
              <a:t>e, i , </a:t>
            </a:r>
            <a:r>
              <a:rPr sz="2400" spc="-27" dirty="0">
                <a:cs typeface="Calibri"/>
              </a:rPr>
              <a:t>o,</a:t>
            </a:r>
            <a:r>
              <a:rPr sz="2400" spc="-9" dirty="0">
                <a:cs typeface="Calibri"/>
              </a:rPr>
              <a:t> </a:t>
            </a:r>
            <a:r>
              <a:rPr sz="2400" spc="-5" dirty="0">
                <a:cs typeface="Calibri"/>
              </a:rPr>
              <a:t>u}</a:t>
            </a:r>
            <a:endParaRPr lang="en-US" sz="2400" spc="-5" dirty="0">
              <a:cs typeface="Calibri"/>
            </a:endParaRPr>
          </a:p>
          <a:p>
            <a:pPr marL="425729" indent="-414223">
              <a:buFont typeface="Arial"/>
              <a:buChar char="•"/>
              <a:tabLst>
                <a:tab pos="425154" algn="l"/>
                <a:tab pos="426304" algn="l"/>
              </a:tabLst>
            </a:pPr>
            <a:endParaRPr sz="2400" dirty="0">
              <a:cs typeface="Calibri"/>
            </a:endParaRPr>
          </a:p>
          <a:p>
            <a:pPr marL="11506" marR="1098267"/>
            <a:r>
              <a:rPr sz="2400" spc="-5" dirty="0">
                <a:cs typeface="Calibri"/>
              </a:rPr>
              <a:t>Odd </a:t>
            </a:r>
            <a:r>
              <a:rPr sz="2400" spc="-9" dirty="0">
                <a:cs typeface="Calibri"/>
              </a:rPr>
              <a:t>positive </a:t>
            </a:r>
            <a:r>
              <a:rPr sz="2400" spc="-18" dirty="0">
                <a:cs typeface="Calibri"/>
              </a:rPr>
              <a:t>integers </a:t>
            </a:r>
            <a:r>
              <a:rPr sz="2400" dirty="0">
                <a:cs typeface="Calibri"/>
              </a:rPr>
              <a:t>&lt; 10. </a:t>
            </a:r>
            <a:endParaRPr lang="en-US" sz="2400" dirty="0">
              <a:cs typeface="Calibri"/>
            </a:endParaRPr>
          </a:p>
          <a:p>
            <a:pPr marL="11506" marR="1098267"/>
            <a:r>
              <a:rPr sz="2400" dirty="0">
                <a:cs typeface="Calibri"/>
              </a:rPr>
              <a:t>O = </a:t>
            </a:r>
            <a:r>
              <a:rPr sz="2400" spc="-5" dirty="0">
                <a:cs typeface="Calibri"/>
              </a:rPr>
              <a:t>{1, </a:t>
            </a:r>
            <a:r>
              <a:rPr sz="2400" dirty="0">
                <a:cs typeface="Calibri"/>
              </a:rPr>
              <a:t>3, 5, 7,</a:t>
            </a:r>
            <a:r>
              <a:rPr sz="2400" spc="-5" dirty="0">
                <a:cs typeface="Calibri"/>
              </a:rPr>
              <a:t> </a:t>
            </a:r>
            <a:r>
              <a:rPr sz="2400" dirty="0">
                <a:cs typeface="Calibri"/>
              </a:rPr>
              <a:t>9}</a:t>
            </a:r>
            <a:endParaRPr lang="en-US" sz="2400" dirty="0">
              <a:cs typeface="Calibri"/>
            </a:endParaRPr>
          </a:p>
          <a:p>
            <a:pPr marL="11506" marR="1098267"/>
            <a:endParaRPr sz="2400" dirty="0">
              <a:cs typeface="Calibri"/>
            </a:endParaRPr>
          </a:p>
          <a:p>
            <a:pPr marL="11506"/>
            <a:r>
              <a:rPr sz="2400" spc="-14" dirty="0">
                <a:cs typeface="Calibri"/>
              </a:rPr>
              <a:t>Positive </a:t>
            </a:r>
            <a:r>
              <a:rPr sz="2400" spc="-18" dirty="0">
                <a:cs typeface="Calibri"/>
              </a:rPr>
              <a:t>integers </a:t>
            </a:r>
            <a:r>
              <a:rPr sz="2400" dirty="0">
                <a:cs typeface="Calibri"/>
              </a:rPr>
              <a:t>less </a:t>
            </a:r>
            <a:r>
              <a:rPr sz="2400" spc="-5" dirty="0">
                <a:cs typeface="Calibri"/>
              </a:rPr>
              <a:t>than</a:t>
            </a:r>
            <a:r>
              <a:rPr sz="2400" spc="23" dirty="0">
                <a:cs typeface="Calibri"/>
              </a:rPr>
              <a:t> </a:t>
            </a:r>
            <a:r>
              <a:rPr sz="2400" spc="-5" dirty="0">
                <a:cs typeface="Calibri"/>
              </a:rPr>
              <a:t>100.</a:t>
            </a:r>
            <a:endParaRPr sz="2400" dirty="0">
              <a:cs typeface="Calibri"/>
            </a:endParaRPr>
          </a:p>
          <a:p>
            <a:pPr marL="11506"/>
            <a:r>
              <a:rPr sz="2400" spc="-5" dirty="0">
                <a:cs typeface="Calibri"/>
              </a:rPr>
              <a:t>{1, </a:t>
            </a:r>
            <a:r>
              <a:rPr sz="2400" dirty="0">
                <a:cs typeface="Calibri"/>
              </a:rPr>
              <a:t>2, 3, </a:t>
            </a:r>
            <a:r>
              <a:rPr sz="2400" spc="-5" dirty="0">
                <a:cs typeface="Calibri"/>
              </a:rPr>
              <a:t>…,</a:t>
            </a:r>
            <a:r>
              <a:rPr sz="2400" spc="-14" dirty="0">
                <a:cs typeface="Calibri"/>
              </a:rPr>
              <a:t> </a:t>
            </a:r>
            <a:r>
              <a:rPr sz="2400" dirty="0">
                <a:cs typeface="Calibri"/>
              </a:rPr>
              <a:t>99}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08953C-DAD4-446B-A5AC-1EF609509A14}"/>
              </a:ext>
            </a:extLst>
          </p:cNvPr>
          <p:cNvSpPr txBox="1">
            <a:spLocks/>
          </p:cNvSpPr>
          <p:nvPr/>
        </p:nvSpPr>
        <p:spPr>
          <a:xfrm>
            <a:off x="1676400" y="4189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Listing all elements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23682" y="1760906"/>
            <a:ext cx="9386047" cy="3336187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>
              <a:spcBef>
                <a:spcPts val="95"/>
              </a:spcBef>
            </a:pPr>
            <a:r>
              <a:rPr sz="2400" spc="-5" dirty="0">
                <a:cs typeface="Calibri"/>
              </a:rPr>
              <a:t>Describe the </a:t>
            </a:r>
            <a:r>
              <a:rPr sz="2400" spc="-9" dirty="0">
                <a:cs typeface="Calibri"/>
              </a:rPr>
              <a:t>properties </a:t>
            </a:r>
            <a:r>
              <a:rPr sz="2400" spc="-5" dirty="0">
                <a:cs typeface="Calibri"/>
              </a:rPr>
              <a:t>the elements </a:t>
            </a:r>
            <a:r>
              <a:rPr sz="2400" spc="-14" dirty="0">
                <a:cs typeface="Calibri"/>
              </a:rPr>
              <a:t>must </a:t>
            </a:r>
            <a:r>
              <a:rPr sz="2400" spc="-23" dirty="0">
                <a:cs typeface="Calibri"/>
              </a:rPr>
              <a:t>have to</a:t>
            </a:r>
            <a:r>
              <a:rPr sz="2400" spc="59" dirty="0">
                <a:cs typeface="Calibri"/>
              </a:rPr>
              <a:t> </a:t>
            </a:r>
            <a:r>
              <a:rPr sz="2400" spc="-5" dirty="0">
                <a:cs typeface="Calibri"/>
              </a:rPr>
              <a:t>be</a:t>
            </a:r>
            <a:r>
              <a:rPr lang="en-US" sz="2400" spc="-5" dirty="0">
                <a:cs typeface="Calibri"/>
              </a:rPr>
              <a:t> </a:t>
            </a:r>
            <a:r>
              <a:rPr sz="2400" spc="-9" dirty="0">
                <a:cs typeface="Calibri"/>
              </a:rPr>
              <a:t>members</a:t>
            </a:r>
            <a:endParaRPr sz="2400" dirty="0">
              <a:cs typeface="Calibri"/>
            </a:endParaRPr>
          </a:p>
          <a:p>
            <a:pPr marL="1668399"/>
            <a:r>
              <a:rPr sz="2400" dirty="0">
                <a:cs typeface="Calibri"/>
              </a:rPr>
              <a:t>S = {x |</a:t>
            </a:r>
            <a:r>
              <a:rPr sz="2400" spc="-14" dirty="0">
                <a:cs typeface="Calibri"/>
              </a:rPr>
              <a:t> </a:t>
            </a:r>
            <a:r>
              <a:rPr sz="2400" dirty="0">
                <a:cs typeface="Calibri"/>
              </a:rPr>
              <a:t>P(x)}</a:t>
            </a:r>
            <a:endParaRPr lang="en-US" sz="2400" dirty="0">
              <a:cs typeface="Calibri"/>
            </a:endParaRPr>
          </a:p>
          <a:p>
            <a:pPr marL="1668399"/>
            <a:endParaRPr sz="2400" dirty="0">
              <a:cs typeface="Calibri"/>
            </a:endParaRPr>
          </a:p>
          <a:p>
            <a:pPr marL="11506"/>
            <a:r>
              <a:rPr sz="2400" dirty="0">
                <a:cs typeface="Calibri"/>
              </a:rPr>
              <a:t>S </a:t>
            </a:r>
            <a:r>
              <a:rPr sz="2400" spc="-14" dirty="0">
                <a:cs typeface="Calibri"/>
              </a:rPr>
              <a:t>contains </a:t>
            </a:r>
            <a:r>
              <a:rPr sz="2400" spc="-5" dirty="0">
                <a:solidFill>
                  <a:srgbClr val="FF0000"/>
                </a:solidFill>
                <a:cs typeface="Calibri"/>
              </a:rPr>
              <a:t>all </a:t>
            </a:r>
            <a:r>
              <a:rPr sz="2400" dirty="0">
                <a:solidFill>
                  <a:srgbClr val="FF0000"/>
                </a:solidFill>
                <a:cs typeface="Calibri"/>
              </a:rPr>
              <a:t>the </a:t>
            </a:r>
            <a:r>
              <a:rPr sz="2400" spc="-5" dirty="0">
                <a:solidFill>
                  <a:srgbClr val="FF0000"/>
                </a:solidFill>
                <a:cs typeface="Calibri"/>
              </a:rPr>
              <a:t>elements </a:t>
            </a:r>
            <a:r>
              <a:rPr sz="2400" dirty="0">
                <a:cs typeface="Calibri"/>
              </a:rPr>
              <a:t>which </a:t>
            </a:r>
            <a:r>
              <a:rPr sz="2400" spc="-27" dirty="0">
                <a:cs typeface="Calibri"/>
              </a:rPr>
              <a:t>make </a:t>
            </a:r>
            <a:r>
              <a:rPr sz="2400" dirty="0">
                <a:cs typeface="Calibri"/>
              </a:rPr>
              <a:t>the </a:t>
            </a:r>
            <a:r>
              <a:rPr sz="2400" spc="-14" dirty="0">
                <a:cs typeface="Calibri"/>
              </a:rPr>
              <a:t>predicate</a:t>
            </a:r>
            <a:r>
              <a:rPr sz="2400" spc="27" dirty="0">
                <a:cs typeface="Calibri"/>
              </a:rPr>
              <a:t> </a:t>
            </a:r>
            <a:r>
              <a:rPr sz="2400" dirty="0">
                <a:cs typeface="Calibri"/>
              </a:rPr>
              <a:t>P</a:t>
            </a:r>
            <a:r>
              <a:rPr lang="en-US" sz="2400" dirty="0"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cs typeface="Calibri"/>
              </a:rPr>
              <a:t>true  </a:t>
            </a:r>
            <a:endParaRPr lang="en-US" sz="2400" spc="-5" dirty="0">
              <a:solidFill>
                <a:srgbClr val="FF0000"/>
              </a:solidFill>
              <a:cs typeface="Calibri"/>
            </a:endParaRPr>
          </a:p>
          <a:p>
            <a:pPr marL="11506"/>
            <a:r>
              <a:rPr sz="2400" spc="-5" dirty="0">
                <a:cs typeface="Calibri"/>
              </a:rPr>
              <a:t>E</a:t>
            </a:r>
            <a:r>
              <a:rPr sz="2400" spc="-54" dirty="0">
                <a:cs typeface="Calibri"/>
              </a:rPr>
              <a:t>x</a:t>
            </a:r>
            <a:r>
              <a:rPr sz="2400" spc="-5" dirty="0">
                <a:cs typeface="Calibri"/>
              </a:rPr>
              <a:t>amp</a:t>
            </a:r>
            <a:r>
              <a:rPr sz="2400" spc="-9" dirty="0">
                <a:cs typeface="Calibri"/>
              </a:rPr>
              <a:t>l</a:t>
            </a:r>
            <a:r>
              <a:rPr sz="2400" dirty="0">
                <a:cs typeface="Calibri"/>
              </a:rPr>
              <a:t>e:</a:t>
            </a:r>
          </a:p>
          <a:p>
            <a:pPr marL="510875" indent="-499369">
              <a:buFont typeface="Arial"/>
              <a:buChar char="•"/>
              <a:tabLst>
                <a:tab pos="425154" algn="l"/>
                <a:tab pos="426304" algn="l"/>
              </a:tabLst>
            </a:pPr>
            <a:r>
              <a:rPr sz="2400" dirty="0">
                <a:cs typeface="Calibri"/>
              </a:rPr>
              <a:t>R = { x | x is </a:t>
            </a:r>
            <a:r>
              <a:rPr sz="2400" spc="-14" dirty="0">
                <a:cs typeface="Calibri"/>
              </a:rPr>
              <a:t>integer </a:t>
            </a:r>
            <a:r>
              <a:rPr sz="2400" dirty="0">
                <a:cs typeface="Calibri"/>
              </a:rPr>
              <a:t>&lt; 100 </a:t>
            </a:r>
            <a:r>
              <a:rPr sz="2400" spc="-5" dirty="0">
                <a:cs typeface="Calibri"/>
              </a:rPr>
              <a:t>and </a:t>
            </a:r>
            <a:r>
              <a:rPr sz="2400" dirty="0">
                <a:cs typeface="Calibri"/>
              </a:rPr>
              <a:t>&gt;</a:t>
            </a:r>
            <a:r>
              <a:rPr sz="2400" spc="5" dirty="0">
                <a:cs typeface="Calibri"/>
              </a:rPr>
              <a:t> </a:t>
            </a:r>
            <a:r>
              <a:rPr sz="2400" dirty="0">
                <a:cs typeface="Calibri"/>
              </a:rPr>
              <a:t>40}</a:t>
            </a:r>
          </a:p>
          <a:p>
            <a:pPr marL="510875" marR="433784" indent="-499369">
              <a:buFont typeface="Arial"/>
              <a:buChar char="•"/>
              <a:tabLst>
                <a:tab pos="507999" algn="l"/>
                <a:tab pos="509149" algn="l"/>
              </a:tabLst>
            </a:pPr>
            <a:r>
              <a:rPr sz="2400" spc="-5" dirty="0">
                <a:cs typeface="Calibri"/>
              </a:rPr>
              <a:t>Z+ </a:t>
            </a:r>
            <a:r>
              <a:rPr sz="2400" dirty="0">
                <a:cs typeface="Calibri"/>
              </a:rPr>
              <a:t>= { x | x is a </a:t>
            </a:r>
            <a:r>
              <a:rPr sz="2400" spc="-9" dirty="0">
                <a:cs typeface="Calibri"/>
              </a:rPr>
              <a:t>positive</a:t>
            </a:r>
            <a:r>
              <a:rPr sz="2400" spc="5" dirty="0">
                <a:cs typeface="Calibri"/>
              </a:rPr>
              <a:t> </a:t>
            </a:r>
            <a:r>
              <a:rPr sz="2400" spc="-14" dirty="0">
                <a:cs typeface="Calibri"/>
              </a:rPr>
              <a:t>integer}</a:t>
            </a:r>
            <a:endParaRPr lang="en-US" sz="2400" spc="-14" dirty="0">
              <a:cs typeface="Calibri"/>
            </a:endParaRPr>
          </a:p>
          <a:p>
            <a:pPr marL="510875" marR="433784" indent="-499369">
              <a:buFont typeface="Arial"/>
              <a:buChar char="•"/>
              <a:tabLst>
                <a:tab pos="507999" algn="l"/>
                <a:tab pos="509149" algn="l"/>
              </a:tabLst>
            </a:pPr>
            <a:endParaRPr sz="2400" dirty="0">
              <a:cs typeface="Calibri"/>
            </a:endParaRPr>
          </a:p>
          <a:p>
            <a:pPr marL="510875" indent="-499369">
              <a:buFont typeface="Arial"/>
              <a:buChar char="•"/>
              <a:tabLst>
                <a:tab pos="425154" algn="l"/>
                <a:tab pos="426304" algn="l"/>
              </a:tabLst>
            </a:pPr>
            <a:r>
              <a:rPr sz="2400" spc="-5" dirty="0">
                <a:solidFill>
                  <a:srgbClr val="FF0000"/>
                </a:solidFill>
                <a:cs typeface="Calibri"/>
              </a:rPr>
              <a:t>O= {1,3,5,7,9} </a:t>
            </a:r>
            <a:r>
              <a:rPr lang="en-US" sz="2400" spc="-5" dirty="0">
                <a:solidFill>
                  <a:srgbClr val="FF0000"/>
                </a:solidFill>
                <a:cs typeface="Calibri"/>
              </a:rPr>
              <a:t> </a:t>
            </a:r>
            <a:r>
              <a:rPr sz="2400" b="1" spc="-9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write set builder</a:t>
            </a:r>
            <a:r>
              <a:rPr sz="2400" b="1" spc="36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 </a:t>
            </a:r>
            <a:r>
              <a:rPr sz="2400" b="1" spc="-9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notation.</a:t>
            </a:r>
            <a:endParaRPr sz="2400" b="1" dirty="0">
              <a:solidFill>
                <a:schemeClr val="accent2">
                  <a:lumMod val="75000"/>
                </a:schemeClr>
              </a:solidFill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A5695A-B7FB-43CA-AAF9-426A144D4C73}"/>
              </a:ext>
            </a:extLst>
          </p:cNvPr>
          <p:cNvSpPr txBox="1">
            <a:spLocks/>
          </p:cNvSpPr>
          <p:nvPr/>
        </p:nvSpPr>
        <p:spPr>
          <a:xfrm>
            <a:off x="1676400" y="4189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Set builder notation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96967" y="1946429"/>
            <a:ext cx="9590986" cy="3601709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425729" indent="-414223">
              <a:spcBef>
                <a:spcPts val="95"/>
              </a:spcBef>
              <a:buFont typeface="Arial"/>
              <a:buChar char="•"/>
              <a:tabLst>
                <a:tab pos="425154" algn="l"/>
                <a:tab pos="425729" algn="l"/>
              </a:tabLst>
            </a:pPr>
            <a:r>
              <a:rPr sz="2400" dirty="0">
                <a:cs typeface="Calibri"/>
              </a:rPr>
              <a:t>N = </a:t>
            </a:r>
            <a:r>
              <a:rPr sz="2400" spc="-5" dirty="0">
                <a:cs typeface="Calibri"/>
              </a:rPr>
              <a:t>{0,1,2,3,…} </a:t>
            </a:r>
            <a:r>
              <a:rPr sz="2400" dirty="0">
                <a:cs typeface="Calibri"/>
              </a:rPr>
              <a:t>, </a:t>
            </a:r>
            <a:r>
              <a:rPr sz="2400" spc="-5" dirty="0">
                <a:cs typeface="Calibri"/>
              </a:rPr>
              <a:t>Set </a:t>
            </a:r>
            <a:r>
              <a:rPr sz="2400" dirty="0">
                <a:cs typeface="Calibri"/>
              </a:rPr>
              <a:t>of </a:t>
            </a:r>
            <a:r>
              <a:rPr sz="2400" spc="-14" dirty="0">
                <a:solidFill>
                  <a:srgbClr val="FF0000"/>
                </a:solidFill>
                <a:cs typeface="Calibri"/>
              </a:rPr>
              <a:t>natural</a:t>
            </a:r>
            <a:r>
              <a:rPr sz="2400" spc="14" dirty="0">
                <a:solidFill>
                  <a:srgbClr val="FF0000"/>
                </a:solidFill>
                <a:cs typeface="Calibri"/>
              </a:rPr>
              <a:t> </a:t>
            </a:r>
            <a:r>
              <a:rPr sz="2400" spc="-14" dirty="0">
                <a:solidFill>
                  <a:srgbClr val="FF0000"/>
                </a:solidFill>
                <a:cs typeface="Calibri"/>
              </a:rPr>
              <a:t>numbers</a:t>
            </a:r>
            <a:endParaRPr sz="2400" dirty="0">
              <a:cs typeface="Calibri"/>
            </a:endParaRPr>
          </a:p>
          <a:p>
            <a:pPr marL="425729" indent="-414223">
              <a:buFont typeface="Arial"/>
              <a:buChar char="•"/>
              <a:tabLst>
                <a:tab pos="425154" algn="l"/>
                <a:tab pos="425729" algn="l"/>
              </a:tabLst>
            </a:pPr>
            <a:r>
              <a:rPr sz="2400" dirty="0">
                <a:cs typeface="Calibri"/>
              </a:rPr>
              <a:t>Z = {…,-2,-1,0,1,2,…}, </a:t>
            </a:r>
            <a:r>
              <a:rPr sz="2400" spc="-5" dirty="0">
                <a:cs typeface="Calibri"/>
              </a:rPr>
              <a:t>Set of</a:t>
            </a:r>
            <a:r>
              <a:rPr sz="2400" spc="-23" dirty="0">
                <a:cs typeface="Calibri"/>
              </a:rPr>
              <a:t> </a:t>
            </a:r>
            <a:r>
              <a:rPr sz="2400" spc="-18" dirty="0">
                <a:solidFill>
                  <a:srgbClr val="FF0000"/>
                </a:solidFill>
                <a:cs typeface="Calibri"/>
              </a:rPr>
              <a:t>integers</a:t>
            </a:r>
            <a:endParaRPr sz="2400" dirty="0">
              <a:cs typeface="Calibri"/>
            </a:endParaRPr>
          </a:p>
          <a:p>
            <a:pPr marL="425729" indent="-414223">
              <a:buFont typeface="Arial"/>
              <a:buChar char="•"/>
              <a:tabLst>
                <a:tab pos="425154" algn="l"/>
                <a:tab pos="425729" algn="l"/>
              </a:tabLst>
            </a:pPr>
            <a:r>
              <a:rPr sz="2400" dirty="0">
                <a:cs typeface="Calibri"/>
              </a:rPr>
              <a:t>Z + = </a:t>
            </a:r>
            <a:r>
              <a:rPr sz="2400" spc="-5" dirty="0">
                <a:cs typeface="Calibri"/>
              </a:rPr>
              <a:t>{1,2,3,…} </a:t>
            </a:r>
            <a:r>
              <a:rPr sz="2400" dirty="0">
                <a:cs typeface="Calibri"/>
              </a:rPr>
              <a:t>, </a:t>
            </a:r>
            <a:r>
              <a:rPr sz="2400" spc="-5" dirty="0">
                <a:cs typeface="Calibri"/>
              </a:rPr>
              <a:t>Set of </a:t>
            </a:r>
            <a:r>
              <a:rPr sz="2400" spc="-9" dirty="0">
                <a:solidFill>
                  <a:srgbClr val="FF0000"/>
                </a:solidFill>
                <a:cs typeface="Calibri"/>
              </a:rPr>
              <a:t>positive</a:t>
            </a:r>
            <a:r>
              <a:rPr sz="2400" spc="45" dirty="0">
                <a:solidFill>
                  <a:srgbClr val="FF0000"/>
                </a:solidFill>
                <a:cs typeface="Calibri"/>
              </a:rPr>
              <a:t> </a:t>
            </a:r>
            <a:r>
              <a:rPr sz="2400" spc="-18" dirty="0">
                <a:solidFill>
                  <a:srgbClr val="FF0000"/>
                </a:solidFill>
                <a:cs typeface="Calibri"/>
              </a:rPr>
              <a:t>integers</a:t>
            </a:r>
            <a:endParaRPr sz="2400" dirty="0">
              <a:cs typeface="Calibri"/>
            </a:endParaRPr>
          </a:p>
          <a:p>
            <a:pPr marL="425729" indent="-414223">
              <a:lnSpc>
                <a:spcPts val="3469"/>
              </a:lnSpc>
              <a:spcBef>
                <a:spcPts val="23"/>
              </a:spcBef>
              <a:buFont typeface="Arial"/>
              <a:buChar char="•"/>
              <a:tabLst>
                <a:tab pos="425154" algn="l"/>
                <a:tab pos="425729" algn="l"/>
              </a:tabLst>
            </a:pPr>
            <a:r>
              <a:rPr sz="2400" dirty="0">
                <a:cs typeface="Calibri"/>
              </a:rPr>
              <a:t>Q = </a:t>
            </a:r>
            <a:r>
              <a:rPr sz="2400" spc="-5" dirty="0">
                <a:cs typeface="Calibri"/>
              </a:rPr>
              <a:t>{p/q </a:t>
            </a:r>
            <a:r>
              <a:rPr sz="2400" dirty="0">
                <a:cs typeface="Calibri"/>
              </a:rPr>
              <a:t>| p </a:t>
            </a:r>
            <a:r>
              <a:rPr sz="2400" dirty="0">
                <a:cs typeface="Cambria Math"/>
              </a:rPr>
              <a:t>∈ </a:t>
            </a:r>
            <a:r>
              <a:rPr sz="2400" spc="-5" dirty="0">
                <a:cs typeface="Calibri"/>
              </a:rPr>
              <a:t>Z, </a:t>
            </a:r>
            <a:r>
              <a:rPr sz="2400" dirty="0">
                <a:cs typeface="Calibri"/>
              </a:rPr>
              <a:t>q </a:t>
            </a:r>
            <a:r>
              <a:rPr sz="2400" dirty="0">
                <a:cs typeface="Cambria Math"/>
              </a:rPr>
              <a:t>∈ </a:t>
            </a:r>
            <a:r>
              <a:rPr sz="2400" spc="-5" dirty="0">
                <a:cs typeface="Calibri"/>
              </a:rPr>
              <a:t>Z, and </a:t>
            </a:r>
            <a:r>
              <a:rPr sz="2400" dirty="0">
                <a:cs typeface="Calibri"/>
              </a:rPr>
              <a:t>q </a:t>
            </a:r>
            <a:r>
              <a:rPr lang="en-PK" sz="2400" dirty="0">
                <a:cs typeface="Calibri"/>
              </a:rPr>
              <a:t>≠</a:t>
            </a:r>
            <a:r>
              <a:rPr sz="2400" dirty="0">
                <a:cs typeface="Calibri"/>
              </a:rPr>
              <a:t> 0}, </a:t>
            </a:r>
            <a:r>
              <a:rPr sz="2400" spc="-5" dirty="0">
                <a:cs typeface="Calibri"/>
              </a:rPr>
              <a:t>Set </a:t>
            </a:r>
            <a:r>
              <a:rPr sz="2400" dirty="0">
                <a:cs typeface="Calibri"/>
              </a:rPr>
              <a:t>of </a:t>
            </a:r>
            <a:r>
              <a:rPr sz="2400" spc="-14" dirty="0">
                <a:solidFill>
                  <a:srgbClr val="FF0000"/>
                </a:solidFill>
                <a:cs typeface="Calibri"/>
              </a:rPr>
              <a:t>rational</a:t>
            </a:r>
            <a:r>
              <a:rPr sz="2400" spc="91" dirty="0">
                <a:solidFill>
                  <a:srgbClr val="FF0000"/>
                </a:solidFill>
                <a:cs typeface="Calibri"/>
              </a:rPr>
              <a:t> </a:t>
            </a:r>
            <a:r>
              <a:rPr sz="2400" spc="-14" dirty="0">
                <a:solidFill>
                  <a:srgbClr val="FF0000"/>
                </a:solidFill>
                <a:cs typeface="Calibri"/>
              </a:rPr>
              <a:t>numbers</a:t>
            </a:r>
            <a:endParaRPr sz="2400" dirty="0">
              <a:cs typeface="Calibri"/>
            </a:endParaRPr>
          </a:p>
          <a:p>
            <a:pPr marL="508574" indent="-497068">
              <a:lnSpc>
                <a:spcPts val="3469"/>
              </a:lnSpc>
              <a:buFont typeface="Arial"/>
              <a:buChar char="•"/>
              <a:tabLst>
                <a:tab pos="507999" algn="l"/>
                <a:tab pos="508574" algn="l"/>
              </a:tabLst>
            </a:pPr>
            <a:r>
              <a:rPr sz="2400" dirty="0">
                <a:cs typeface="Calibri"/>
              </a:rPr>
              <a:t>R , </a:t>
            </a:r>
            <a:r>
              <a:rPr sz="2400" spc="-5" dirty="0">
                <a:cs typeface="Calibri"/>
              </a:rPr>
              <a:t>Set of </a:t>
            </a:r>
            <a:r>
              <a:rPr sz="2400" spc="-9" dirty="0">
                <a:solidFill>
                  <a:srgbClr val="FF0000"/>
                </a:solidFill>
                <a:cs typeface="Calibri"/>
              </a:rPr>
              <a:t>real</a:t>
            </a:r>
            <a:r>
              <a:rPr sz="2400" spc="-18" dirty="0">
                <a:solidFill>
                  <a:srgbClr val="FF0000"/>
                </a:solidFill>
                <a:cs typeface="Calibri"/>
              </a:rPr>
              <a:t> </a:t>
            </a:r>
            <a:r>
              <a:rPr sz="2400" spc="-14" dirty="0">
                <a:solidFill>
                  <a:srgbClr val="FF0000"/>
                </a:solidFill>
                <a:cs typeface="Calibri"/>
              </a:rPr>
              <a:t>numbers</a:t>
            </a:r>
            <a:endParaRPr sz="2400" dirty="0">
              <a:cs typeface="Calibri"/>
            </a:endParaRPr>
          </a:p>
          <a:p>
            <a:pPr>
              <a:spcBef>
                <a:spcPts val="41"/>
              </a:spcBef>
              <a:buFont typeface="Arial"/>
              <a:buChar char="•"/>
            </a:pPr>
            <a:endParaRPr sz="2400" dirty="0">
              <a:cs typeface="Times New Roman"/>
            </a:endParaRPr>
          </a:p>
          <a:p>
            <a:pPr marL="425729" indent="-414223">
              <a:lnSpc>
                <a:spcPts val="3307"/>
              </a:lnSpc>
              <a:buFont typeface="Arial"/>
              <a:buChar char="•"/>
              <a:tabLst>
                <a:tab pos="425154" algn="l"/>
                <a:tab pos="425729" algn="l"/>
              </a:tabLst>
            </a:pPr>
            <a:r>
              <a:rPr sz="2400" spc="-5" dirty="0">
                <a:cs typeface="Calibri"/>
              </a:rPr>
              <a:t>Sets </a:t>
            </a:r>
            <a:r>
              <a:rPr sz="2400" spc="-14" dirty="0">
                <a:cs typeface="Calibri"/>
              </a:rPr>
              <a:t>can </a:t>
            </a:r>
            <a:r>
              <a:rPr sz="2400" spc="-23" dirty="0">
                <a:cs typeface="Calibri"/>
              </a:rPr>
              <a:t>have </a:t>
            </a:r>
            <a:r>
              <a:rPr sz="2400" dirty="0">
                <a:cs typeface="Calibri"/>
              </a:rPr>
              <a:t>other </a:t>
            </a:r>
            <a:r>
              <a:rPr sz="2400" spc="-5" dirty="0">
                <a:cs typeface="Calibri"/>
              </a:rPr>
              <a:t>sets as</a:t>
            </a:r>
            <a:r>
              <a:rPr sz="2400" spc="9" dirty="0">
                <a:cs typeface="Calibri"/>
              </a:rPr>
              <a:t> </a:t>
            </a:r>
            <a:r>
              <a:rPr sz="2400" spc="-9" dirty="0">
                <a:cs typeface="Calibri"/>
              </a:rPr>
              <a:t>members</a:t>
            </a:r>
            <a:endParaRPr sz="2400" dirty="0">
              <a:cs typeface="Calibri"/>
            </a:endParaRPr>
          </a:p>
          <a:p>
            <a:pPr marL="425729" marR="933728">
              <a:lnSpc>
                <a:spcPts val="3135"/>
              </a:lnSpc>
              <a:spcBef>
                <a:spcPts val="217"/>
              </a:spcBef>
            </a:pPr>
            <a:r>
              <a:rPr sz="2400" spc="-9" dirty="0">
                <a:solidFill>
                  <a:srgbClr val="FF0000"/>
                </a:solidFill>
                <a:cs typeface="Calibri"/>
              </a:rPr>
              <a:t>Example</a:t>
            </a:r>
            <a:r>
              <a:rPr sz="2400" spc="-9" dirty="0">
                <a:cs typeface="Calibri"/>
              </a:rPr>
              <a:t>: </a:t>
            </a:r>
            <a:r>
              <a:rPr sz="2400" spc="-5" dirty="0">
                <a:cs typeface="Calibri"/>
              </a:rPr>
              <a:t>The set </a:t>
            </a:r>
            <a:r>
              <a:rPr sz="2400" spc="-9" dirty="0">
                <a:cs typeface="Calibri"/>
              </a:rPr>
              <a:t>{N, </a:t>
            </a:r>
            <a:r>
              <a:rPr sz="2400" spc="-5" dirty="0">
                <a:cs typeface="Calibri"/>
              </a:rPr>
              <a:t>Z, </a:t>
            </a:r>
            <a:r>
              <a:rPr sz="2400" spc="68" dirty="0">
                <a:cs typeface="Calibri"/>
              </a:rPr>
              <a:t>Q, </a:t>
            </a:r>
            <a:r>
              <a:rPr sz="2400" dirty="0">
                <a:cs typeface="Calibri"/>
              </a:rPr>
              <a:t>R} is a </a:t>
            </a:r>
            <a:r>
              <a:rPr sz="2400" spc="-9" dirty="0">
                <a:cs typeface="Calibri"/>
              </a:rPr>
              <a:t>set </a:t>
            </a:r>
            <a:r>
              <a:rPr sz="2400" spc="-14" dirty="0">
                <a:cs typeface="Calibri"/>
              </a:rPr>
              <a:t>containing </a:t>
            </a:r>
            <a:r>
              <a:rPr sz="2400" spc="-23" dirty="0">
                <a:cs typeface="Calibri"/>
              </a:rPr>
              <a:t>four </a:t>
            </a:r>
            <a:r>
              <a:rPr sz="2400" spc="-5" dirty="0">
                <a:cs typeface="Calibri"/>
              </a:rPr>
              <a:t>elements, </a:t>
            </a:r>
            <a:r>
              <a:rPr sz="2400" dirty="0">
                <a:cs typeface="Calibri"/>
              </a:rPr>
              <a:t>each </a:t>
            </a:r>
            <a:r>
              <a:rPr sz="2400" spc="-5" dirty="0">
                <a:cs typeface="Calibri"/>
              </a:rPr>
              <a:t>of </a:t>
            </a:r>
            <a:r>
              <a:rPr sz="2400" dirty="0">
                <a:cs typeface="Calibri"/>
              </a:rPr>
              <a:t>which is a</a:t>
            </a:r>
            <a:r>
              <a:rPr sz="2400" spc="-14" dirty="0">
                <a:cs typeface="Calibri"/>
              </a:rPr>
              <a:t> </a:t>
            </a:r>
            <a:r>
              <a:rPr sz="2400" spc="-9" dirty="0">
                <a:cs typeface="Calibri"/>
              </a:rPr>
              <a:t>set.</a:t>
            </a:r>
            <a:endParaRPr sz="2400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BC396C-D70A-427A-8DDC-356630340B59}"/>
              </a:ext>
            </a:extLst>
          </p:cNvPr>
          <p:cNvSpPr txBox="1">
            <a:spLocks/>
          </p:cNvSpPr>
          <p:nvPr/>
        </p:nvSpPr>
        <p:spPr>
          <a:xfrm>
            <a:off x="1676400" y="4189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Important Sets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76400" y="1514457"/>
            <a:ext cx="7539197" cy="381532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>
              <a:spcBef>
                <a:spcPts val="95"/>
              </a:spcBef>
            </a:pPr>
            <a:r>
              <a:rPr sz="2400" spc="-9" dirty="0">
                <a:cs typeface="Arial"/>
              </a:rPr>
              <a:t>Sets </a:t>
            </a:r>
            <a:r>
              <a:rPr sz="2400" spc="-5" dirty="0">
                <a:cs typeface="Arial"/>
              </a:rPr>
              <a:t>can be </a:t>
            </a:r>
            <a:r>
              <a:rPr sz="2400" spc="-14" dirty="0">
                <a:cs typeface="Arial"/>
              </a:rPr>
              <a:t>represented graphically </a:t>
            </a:r>
            <a:r>
              <a:rPr sz="2400" spc="-9" dirty="0">
                <a:cs typeface="Arial"/>
              </a:rPr>
              <a:t>using </a:t>
            </a:r>
            <a:r>
              <a:rPr sz="2400" spc="-36" dirty="0">
                <a:cs typeface="Arial"/>
              </a:rPr>
              <a:t>Venn</a:t>
            </a:r>
            <a:r>
              <a:rPr sz="2400" spc="-181" dirty="0">
                <a:cs typeface="Arial"/>
              </a:rPr>
              <a:t> </a:t>
            </a:r>
            <a:r>
              <a:rPr sz="2400" spc="-9" dirty="0">
                <a:cs typeface="Arial"/>
              </a:rPr>
              <a:t>diagram.</a:t>
            </a:r>
            <a:endParaRPr sz="2400" dirty="0"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4508" y="4030598"/>
            <a:ext cx="10718458" cy="2257807"/>
          </a:xfrm>
          <a:prstGeom prst="rect">
            <a:avLst/>
          </a:prstGeom>
        </p:spPr>
        <p:txBody>
          <a:bodyPr vert="horz" wrap="square" lIns="0" tIns="10931" rIns="0" bIns="0" rtlCol="0">
            <a:spAutoFit/>
          </a:bodyPr>
          <a:lstStyle/>
          <a:p>
            <a:pPr marL="322174" indent="-310667">
              <a:lnSpc>
                <a:spcPts val="2369"/>
              </a:lnSpc>
              <a:spcBef>
                <a:spcPts val="86"/>
              </a:spcBef>
              <a:buClr>
                <a:srgbClr val="D71F00"/>
              </a:buClr>
              <a:buChar char="•"/>
              <a:tabLst>
                <a:tab pos="321598" algn="l"/>
                <a:tab pos="322174" algn="l"/>
              </a:tabLst>
            </a:pPr>
            <a:r>
              <a:rPr sz="2400" spc="-5" dirty="0">
                <a:cs typeface="Arial"/>
              </a:rPr>
              <a:t>Universal set U contains all objects under consideration say </a:t>
            </a:r>
            <a:r>
              <a:rPr sz="2400" spc="-5" dirty="0">
                <a:solidFill>
                  <a:srgbClr val="FF0000"/>
                </a:solidFill>
                <a:cs typeface="Arial"/>
              </a:rPr>
              <a:t>English</a:t>
            </a:r>
            <a:r>
              <a:rPr sz="2400" spc="-68" dirty="0">
                <a:solidFill>
                  <a:srgbClr val="FF0000"/>
                </a:solidFill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cs typeface="Arial"/>
              </a:rPr>
              <a:t>alphabets</a:t>
            </a:r>
            <a:endParaRPr sz="2400" dirty="0">
              <a:cs typeface="Arial"/>
            </a:endParaRPr>
          </a:p>
          <a:p>
            <a:pPr marL="322174">
              <a:lnSpc>
                <a:spcPts val="2587"/>
              </a:lnSpc>
            </a:pPr>
            <a:r>
              <a:rPr sz="2400" dirty="0">
                <a:cs typeface="Calibri"/>
              </a:rPr>
              <a:t>is </a:t>
            </a:r>
            <a:r>
              <a:rPr sz="2400" spc="-14" dirty="0">
                <a:cs typeface="Calibri"/>
              </a:rPr>
              <a:t>represented </a:t>
            </a:r>
            <a:r>
              <a:rPr sz="2400" spc="-9" dirty="0">
                <a:cs typeface="Calibri"/>
              </a:rPr>
              <a:t>by </a:t>
            </a:r>
            <a:r>
              <a:rPr sz="2400" dirty="0">
                <a:cs typeface="Calibri"/>
              </a:rPr>
              <a:t>a</a:t>
            </a:r>
            <a:r>
              <a:rPr sz="2400" spc="9" dirty="0">
                <a:cs typeface="Calibri"/>
              </a:rPr>
              <a:t> </a:t>
            </a:r>
            <a:r>
              <a:rPr sz="2400" spc="-9" dirty="0">
                <a:cs typeface="Calibri"/>
              </a:rPr>
              <a:t>rectangle</a:t>
            </a:r>
            <a:endParaRPr sz="2400" dirty="0">
              <a:cs typeface="Calibri"/>
            </a:endParaRPr>
          </a:p>
          <a:p>
            <a:pPr marL="322174" indent="-310667">
              <a:spcBef>
                <a:spcPts val="325"/>
              </a:spcBef>
              <a:buClr>
                <a:srgbClr val="D71F00"/>
              </a:buClr>
              <a:buChar char="•"/>
              <a:tabLst>
                <a:tab pos="321598" algn="l"/>
                <a:tab pos="322174" algn="l"/>
              </a:tabLst>
            </a:pPr>
            <a:r>
              <a:rPr sz="2400" spc="-5" dirty="0">
                <a:cs typeface="Arial"/>
              </a:rPr>
              <a:t>Other geometric figures are used to represent sets. Say </a:t>
            </a:r>
            <a:r>
              <a:rPr sz="2400" spc="-5" dirty="0">
                <a:solidFill>
                  <a:srgbClr val="FF0000"/>
                </a:solidFill>
                <a:cs typeface="Arial"/>
              </a:rPr>
              <a:t>set of</a:t>
            </a:r>
            <a:r>
              <a:rPr sz="2400" spc="-113" dirty="0">
                <a:solidFill>
                  <a:srgbClr val="FF0000"/>
                </a:solidFill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cs typeface="Arial"/>
              </a:rPr>
              <a:t>vowels</a:t>
            </a:r>
            <a:endParaRPr sz="2400" dirty="0">
              <a:cs typeface="Arial"/>
            </a:endParaRPr>
          </a:p>
          <a:p>
            <a:pPr marL="322174" indent="-310667">
              <a:spcBef>
                <a:spcPts val="199"/>
              </a:spcBef>
              <a:buClr>
                <a:srgbClr val="D71F00"/>
              </a:buClr>
              <a:buChar char="•"/>
              <a:tabLst>
                <a:tab pos="321598" algn="l"/>
                <a:tab pos="322174" algn="l"/>
              </a:tabLst>
            </a:pPr>
            <a:r>
              <a:rPr sz="2400" spc="-5" dirty="0">
                <a:cs typeface="Arial"/>
              </a:rPr>
              <a:t>Points are used to represent particular elements of sets. i.e. </a:t>
            </a:r>
            <a:r>
              <a:rPr sz="2400" spc="-5" dirty="0">
                <a:cs typeface="Calibri"/>
              </a:rPr>
              <a:t>a, </a:t>
            </a:r>
            <a:r>
              <a:rPr sz="2400" dirty="0">
                <a:cs typeface="Calibri"/>
              </a:rPr>
              <a:t>e, i, </a:t>
            </a:r>
            <a:r>
              <a:rPr sz="2400" spc="-27" dirty="0">
                <a:cs typeface="Calibri"/>
              </a:rPr>
              <a:t>o,</a:t>
            </a:r>
            <a:r>
              <a:rPr sz="2400" spc="-109" dirty="0">
                <a:cs typeface="Calibri"/>
              </a:rPr>
              <a:t> </a:t>
            </a:r>
            <a:r>
              <a:rPr sz="2400" dirty="0">
                <a:cs typeface="Calibri"/>
              </a:rPr>
              <a:t>u</a:t>
            </a:r>
            <a:endParaRPr lang="en-US" sz="2400" dirty="0">
              <a:cs typeface="Calibri"/>
            </a:endParaRPr>
          </a:p>
          <a:p>
            <a:pPr marL="322174" indent="-310667">
              <a:spcBef>
                <a:spcPts val="199"/>
              </a:spcBef>
              <a:buClr>
                <a:srgbClr val="D71F00"/>
              </a:buClr>
              <a:buChar char="•"/>
              <a:tabLst>
                <a:tab pos="321598" algn="l"/>
                <a:tab pos="322174" algn="l"/>
              </a:tabLst>
            </a:pPr>
            <a:endParaRPr lang="en-US" sz="2400" dirty="0">
              <a:cs typeface="Calibri"/>
            </a:endParaRPr>
          </a:p>
          <a:p>
            <a:pPr marL="11506">
              <a:spcBef>
                <a:spcPts val="290"/>
              </a:spcBef>
            </a:pPr>
            <a:r>
              <a:rPr lang="en-US" sz="2400" spc="-23" dirty="0">
                <a:solidFill>
                  <a:srgbClr val="FF0000"/>
                </a:solidFill>
                <a:cs typeface="Arial"/>
              </a:rPr>
              <a:t>		</a:t>
            </a:r>
            <a:r>
              <a:rPr sz="2400" spc="-23" dirty="0">
                <a:solidFill>
                  <a:srgbClr val="FF0000"/>
                </a:solidFill>
                <a:cs typeface="Arial"/>
              </a:rPr>
              <a:t>Show </a:t>
            </a:r>
            <a:r>
              <a:rPr sz="2400" spc="-14" dirty="0">
                <a:solidFill>
                  <a:srgbClr val="FF0000"/>
                </a:solidFill>
                <a:cs typeface="Arial"/>
              </a:rPr>
              <a:t>set A={a,b,c} using </a:t>
            </a:r>
            <a:r>
              <a:rPr sz="2400" spc="-54" dirty="0">
                <a:solidFill>
                  <a:srgbClr val="FF0000"/>
                </a:solidFill>
                <a:cs typeface="Arial"/>
              </a:rPr>
              <a:t>Venn</a:t>
            </a:r>
            <a:r>
              <a:rPr sz="2400" spc="45" dirty="0">
                <a:solidFill>
                  <a:srgbClr val="FF0000"/>
                </a:solidFill>
                <a:cs typeface="Arial"/>
              </a:rPr>
              <a:t> </a:t>
            </a:r>
            <a:r>
              <a:rPr sz="2400" spc="-14" dirty="0">
                <a:solidFill>
                  <a:srgbClr val="FF0000"/>
                </a:solidFill>
                <a:cs typeface="Arial"/>
              </a:rPr>
              <a:t>diagram</a:t>
            </a:r>
            <a:endParaRPr sz="2400" dirty="0"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97162" y="1955150"/>
            <a:ext cx="3360085" cy="20117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2B791E-8EB0-4689-9823-BCF24811CD09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Venn diagrams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4364" y="1577475"/>
            <a:ext cx="10043272" cy="4804089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217466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Two </a:t>
            </a:r>
            <a:r>
              <a:rPr spc="-5" dirty="0"/>
              <a:t>sets </a:t>
            </a:r>
            <a:r>
              <a:rPr spc="-14" dirty="0"/>
              <a:t>are </a:t>
            </a:r>
            <a:r>
              <a:rPr dirty="0"/>
              <a:t>equal </a:t>
            </a:r>
            <a:r>
              <a:rPr dirty="0">
                <a:solidFill>
                  <a:srgbClr val="FF0000"/>
                </a:solidFill>
              </a:rPr>
              <a:t>if </a:t>
            </a:r>
            <a:r>
              <a:rPr spc="-5" dirty="0">
                <a:solidFill>
                  <a:srgbClr val="FF0000"/>
                </a:solidFill>
              </a:rPr>
              <a:t>and only </a:t>
            </a:r>
            <a:r>
              <a:rPr dirty="0">
                <a:solidFill>
                  <a:srgbClr val="FF0000"/>
                </a:solidFill>
              </a:rPr>
              <a:t>if </a:t>
            </a:r>
            <a:r>
              <a:rPr spc="-9" dirty="0"/>
              <a:t>they </a:t>
            </a:r>
            <a:r>
              <a:rPr spc="-14" dirty="0"/>
              <a:t>contain </a:t>
            </a:r>
            <a:r>
              <a:rPr spc="-18" dirty="0"/>
              <a:t>exactly</a:t>
            </a:r>
            <a:r>
              <a:rPr spc="91" dirty="0"/>
              <a:t> </a:t>
            </a:r>
            <a:r>
              <a:rPr spc="-9" dirty="0"/>
              <a:t>the</a:t>
            </a:r>
            <a:r>
              <a:rPr lang="en-US" spc="-9" dirty="0"/>
              <a:t> </a:t>
            </a:r>
            <a:r>
              <a:rPr spc="-5" dirty="0"/>
              <a:t>same elements.  </a:t>
            </a:r>
            <a:r>
              <a:rPr spc="-9" dirty="0"/>
              <a:t>denoted by </a:t>
            </a:r>
            <a:r>
              <a:rPr dirty="0">
                <a:solidFill>
                  <a:srgbClr val="FF0000"/>
                </a:solidFill>
              </a:rPr>
              <a:t>A =</a:t>
            </a:r>
            <a:r>
              <a:rPr spc="-23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</a:t>
            </a:r>
            <a:r>
              <a:rPr dirty="0"/>
              <a:t>.</a:t>
            </a:r>
            <a:endParaRPr lang="en-US" dirty="0"/>
          </a:p>
          <a:p>
            <a:pPr marL="217466">
              <a:lnSpc>
                <a:spcPct val="100000"/>
              </a:lnSpc>
              <a:spcBef>
                <a:spcPts val="95"/>
              </a:spcBef>
            </a:pPr>
            <a:endParaRPr dirty="0"/>
          </a:p>
          <a:p>
            <a:pPr marL="0" indent="0">
              <a:lnSpc>
                <a:spcPts val="3469"/>
              </a:lnSpc>
              <a:spcBef>
                <a:spcPts val="18"/>
              </a:spcBef>
              <a:buNone/>
            </a:pPr>
            <a:r>
              <a:rPr lang="en-US" spc="-9" dirty="0"/>
              <a:t>	</a:t>
            </a:r>
            <a:r>
              <a:rPr spc="-9" dirty="0"/>
              <a:t>Mathematically: </a:t>
            </a:r>
            <a:r>
              <a:rPr dirty="0"/>
              <a:t>A = B </a:t>
            </a:r>
            <a:r>
              <a:rPr spc="-14" dirty="0"/>
              <a:t>iff </a:t>
            </a:r>
            <a:r>
              <a:rPr dirty="0">
                <a:latin typeface="Cambria Math"/>
                <a:cs typeface="Cambria Math"/>
              </a:rPr>
              <a:t>∀</a:t>
            </a:r>
            <a:r>
              <a:rPr dirty="0"/>
              <a:t>x </a:t>
            </a:r>
            <a:r>
              <a:rPr spc="-5" dirty="0"/>
              <a:t>(x </a:t>
            </a:r>
            <a:r>
              <a:rPr dirty="0">
                <a:latin typeface="Cambria Math"/>
                <a:cs typeface="Cambria Math"/>
              </a:rPr>
              <a:t>∈ </a:t>
            </a:r>
            <a:r>
              <a:rPr dirty="0"/>
              <a:t>A ↔ x </a:t>
            </a:r>
            <a:r>
              <a:rPr dirty="0">
                <a:latin typeface="Cambria Math"/>
                <a:cs typeface="Cambria Math"/>
              </a:rPr>
              <a:t>∈</a:t>
            </a:r>
            <a:r>
              <a:rPr spc="68" dirty="0">
                <a:latin typeface="Cambria Math"/>
                <a:cs typeface="Cambria Math"/>
              </a:rPr>
              <a:t> </a:t>
            </a:r>
            <a:r>
              <a:rPr spc="-5" dirty="0"/>
              <a:t>B)</a:t>
            </a:r>
            <a:endParaRPr lang="en-US" spc="-5" dirty="0"/>
          </a:p>
          <a:p>
            <a:pPr marL="217466">
              <a:lnSpc>
                <a:spcPts val="3469"/>
              </a:lnSpc>
              <a:spcBef>
                <a:spcPts val="18"/>
              </a:spcBef>
            </a:pPr>
            <a:endParaRPr spc="-5" dirty="0"/>
          </a:p>
          <a:p>
            <a:pPr marL="0" marR="102980" indent="0">
              <a:lnSpc>
                <a:spcPts val="3479"/>
              </a:lnSpc>
              <a:spcBef>
                <a:spcPts val="104"/>
              </a:spcBef>
              <a:buNone/>
              <a:tabLst>
                <a:tab pos="813488" algn="l"/>
              </a:tabLst>
            </a:pPr>
            <a:r>
              <a:rPr spc="-9" dirty="0"/>
              <a:t>Example: </a:t>
            </a:r>
            <a:r>
              <a:rPr spc="-14" dirty="0"/>
              <a:t>Are </a:t>
            </a:r>
            <a:r>
              <a:rPr dirty="0"/>
              <a:t>the </a:t>
            </a:r>
            <a:r>
              <a:rPr spc="-14" dirty="0"/>
              <a:t>following </a:t>
            </a:r>
            <a:r>
              <a:rPr spc="-5" dirty="0"/>
              <a:t>sets </a:t>
            </a:r>
            <a:r>
              <a:rPr dirty="0"/>
              <a:t>equal? </a:t>
            </a:r>
            <a:r>
              <a:rPr spc="-18" dirty="0"/>
              <a:t>Why &amp;why </a:t>
            </a:r>
            <a:r>
              <a:rPr dirty="0"/>
              <a:t>not? </a:t>
            </a:r>
            <a:endParaRPr lang="en-US" dirty="0"/>
          </a:p>
          <a:p>
            <a:pPr marR="102980">
              <a:lnSpc>
                <a:spcPts val="3479"/>
              </a:lnSpc>
              <a:spcBef>
                <a:spcPts val="104"/>
              </a:spcBef>
              <a:tabLst>
                <a:tab pos="813488" algn="l"/>
              </a:tabLst>
            </a:pPr>
            <a:r>
              <a:rPr spc="-5" dirty="0"/>
              <a:t>{1, </a:t>
            </a:r>
            <a:r>
              <a:rPr dirty="0"/>
              <a:t>2, 3, </a:t>
            </a:r>
            <a:r>
              <a:rPr spc="-5" dirty="0"/>
              <a:t>4} and {1, </a:t>
            </a:r>
            <a:r>
              <a:rPr dirty="0"/>
              <a:t>2, 3,</a:t>
            </a:r>
            <a:r>
              <a:rPr spc="27" dirty="0"/>
              <a:t> </a:t>
            </a:r>
            <a:r>
              <a:rPr dirty="0"/>
              <a:t>4}</a:t>
            </a:r>
          </a:p>
          <a:p>
            <a:pPr>
              <a:lnSpc>
                <a:spcPts val="3361"/>
              </a:lnSpc>
              <a:tabLst>
                <a:tab pos="813488" algn="l"/>
              </a:tabLst>
            </a:pPr>
            <a:r>
              <a:rPr spc="-5" dirty="0"/>
              <a:t>{1, </a:t>
            </a:r>
            <a:r>
              <a:rPr dirty="0"/>
              <a:t>2, 3, </a:t>
            </a:r>
            <a:r>
              <a:rPr spc="-5" dirty="0"/>
              <a:t>4} and {4, </a:t>
            </a:r>
            <a:r>
              <a:rPr dirty="0"/>
              <a:t>1, 3,</a:t>
            </a:r>
            <a:r>
              <a:rPr spc="-9" dirty="0"/>
              <a:t> </a:t>
            </a:r>
            <a:r>
              <a:rPr dirty="0"/>
              <a:t>2}</a:t>
            </a:r>
            <a:endParaRPr lang="en-US" dirty="0"/>
          </a:p>
          <a:p>
            <a:pPr>
              <a:lnSpc>
                <a:spcPts val="3361"/>
              </a:lnSpc>
              <a:tabLst>
                <a:tab pos="813488" algn="l"/>
              </a:tabLst>
            </a:pPr>
            <a:r>
              <a:rPr spc="-5" dirty="0"/>
              <a:t>{a, b, </a:t>
            </a:r>
            <a:r>
              <a:rPr dirty="0"/>
              <a:t>c, </a:t>
            </a:r>
            <a:r>
              <a:rPr spc="-5" dirty="0"/>
              <a:t>d, </a:t>
            </a:r>
            <a:r>
              <a:rPr dirty="0"/>
              <a:t>e} </a:t>
            </a:r>
            <a:r>
              <a:rPr spc="-5" dirty="0"/>
              <a:t>and {a, a, </a:t>
            </a:r>
            <a:r>
              <a:rPr dirty="0"/>
              <a:t>c, </a:t>
            </a:r>
            <a:r>
              <a:rPr spc="-5" dirty="0"/>
              <a:t>b, </a:t>
            </a:r>
            <a:r>
              <a:rPr dirty="0"/>
              <a:t>e, </a:t>
            </a:r>
            <a:r>
              <a:rPr spc="-5" dirty="0"/>
              <a:t>d</a:t>
            </a:r>
            <a:r>
              <a:rPr lang="en-US" spc="-5" dirty="0"/>
              <a:t>}</a:t>
            </a:r>
          </a:p>
          <a:p>
            <a:pPr>
              <a:lnSpc>
                <a:spcPts val="3361"/>
              </a:lnSpc>
              <a:tabLst>
                <a:tab pos="813488" algn="l"/>
              </a:tabLst>
            </a:pPr>
            <a:r>
              <a:rPr lang="en-US" spc="-5" dirty="0"/>
              <a:t>{a, </a:t>
            </a:r>
            <a:r>
              <a:rPr lang="en-US" dirty="0"/>
              <a:t>e, </a:t>
            </a:r>
            <a:r>
              <a:rPr lang="en-US" spc="-5" dirty="0" err="1"/>
              <a:t>i</a:t>
            </a:r>
            <a:r>
              <a:rPr lang="en-US" spc="-5" dirty="0"/>
              <a:t>, o} and {a, </a:t>
            </a:r>
            <a:r>
              <a:rPr lang="en-US" dirty="0"/>
              <a:t>e, </a:t>
            </a:r>
            <a:r>
              <a:rPr lang="en-US" spc="-5" dirty="0" err="1"/>
              <a:t>i</a:t>
            </a:r>
            <a:r>
              <a:rPr lang="en-US" spc="-5" dirty="0"/>
              <a:t>, </a:t>
            </a:r>
            <a:r>
              <a:rPr lang="en-US" spc="-27" dirty="0"/>
              <a:t>o,</a:t>
            </a:r>
            <a:r>
              <a:rPr lang="en-US" spc="54" dirty="0"/>
              <a:t> </a:t>
            </a:r>
            <a:r>
              <a:rPr lang="en-US" spc="-5" dirty="0"/>
              <a:t>u}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9FC8DB-6D9A-44D2-B9D8-9612C1D2CA36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Set equality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4364" y="1577475"/>
            <a:ext cx="10043272" cy="4804089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217466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Two </a:t>
            </a:r>
            <a:r>
              <a:rPr spc="-5" dirty="0"/>
              <a:t>sets </a:t>
            </a:r>
            <a:r>
              <a:rPr spc="-14" dirty="0"/>
              <a:t>are </a:t>
            </a:r>
            <a:r>
              <a:rPr dirty="0"/>
              <a:t>equal </a:t>
            </a:r>
            <a:r>
              <a:rPr dirty="0">
                <a:solidFill>
                  <a:srgbClr val="FF0000"/>
                </a:solidFill>
              </a:rPr>
              <a:t>if </a:t>
            </a:r>
            <a:r>
              <a:rPr spc="-5" dirty="0">
                <a:solidFill>
                  <a:srgbClr val="FF0000"/>
                </a:solidFill>
              </a:rPr>
              <a:t>and only </a:t>
            </a:r>
            <a:r>
              <a:rPr dirty="0">
                <a:solidFill>
                  <a:srgbClr val="FF0000"/>
                </a:solidFill>
              </a:rPr>
              <a:t>if </a:t>
            </a:r>
            <a:r>
              <a:rPr spc="-9" dirty="0"/>
              <a:t>they </a:t>
            </a:r>
            <a:r>
              <a:rPr spc="-14" dirty="0"/>
              <a:t>contain </a:t>
            </a:r>
            <a:r>
              <a:rPr spc="-18" dirty="0"/>
              <a:t>exactly</a:t>
            </a:r>
            <a:r>
              <a:rPr spc="91" dirty="0"/>
              <a:t> </a:t>
            </a:r>
            <a:r>
              <a:rPr spc="-9" dirty="0"/>
              <a:t>the</a:t>
            </a:r>
            <a:r>
              <a:rPr lang="en-US" spc="-9" dirty="0"/>
              <a:t> </a:t>
            </a:r>
            <a:r>
              <a:rPr spc="-5" dirty="0"/>
              <a:t>same elements.  </a:t>
            </a:r>
            <a:r>
              <a:rPr spc="-9" dirty="0"/>
              <a:t>denoted by </a:t>
            </a:r>
            <a:r>
              <a:rPr dirty="0">
                <a:solidFill>
                  <a:srgbClr val="FF0000"/>
                </a:solidFill>
              </a:rPr>
              <a:t>A =</a:t>
            </a:r>
            <a:r>
              <a:rPr spc="-23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</a:t>
            </a:r>
            <a:r>
              <a:rPr dirty="0"/>
              <a:t>.</a:t>
            </a:r>
            <a:endParaRPr lang="en-US" dirty="0"/>
          </a:p>
          <a:p>
            <a:pPr marL="217466">
              <a:lnSpc>
                <a:spcPct val="100000"/>
              </a:lnSpc>
              <a:spcBef>
                <a:spcPts val="95"/>
              </a:spcBef>
            </a:pPr>
            <a:endParaRPr dirty="0"/>
          </a:p>
          <a:p>
            <a:pPr marL="0" indent="0">
              <a:lnSpc>
                <a:spcPts val="3469"/>
              </a:lnSpc>
              <a:spcBef>
                <a:spcPts val="18"/>
              </a:spcBef>
              <a:buNone/>
            </a:pPr>
            <a:r>
              <a:rPr lang="en-US" spc="-9" dirty="0"/>
              <a:t>	</a:t>
            </a:r>
            <a:r>
              <a:rPr spc="-9" dirty="0"/>
              <a:t>Mathematically: </a:t>
            </a:r>
            <a:r>
              <a:rPr dirty="0"/>
              <a:t>A = B </a:t>
            </a:r>
            <a:r>
              <a:rPr spc="-14" dirty="0"/>
              <a:t>iff </a:t>
            </a:r>
            <a:r>
              <a:rPr dirty="0">
                <a:latin typeface="Cambria Math"/>
                <a:cs typeface="Cambria Math"/>
              </a:rPr>
              <a:t>∀</a:t>
            </a:r>
            <a:r>
              <a:rPr dirty="0"/>
              <a:t>x </a:t>
            </a:r>
            <a:r>
              <a:rPr spc="-5" dirty="0"/>
              <a:t>(x </a:t>
            </a:r>
            <a:r>
              <a:rPr dirty="0">
                <a:latin typeface="Cambria Math"/>
                <a:cs typeface="Cambria Math"/>
              </a:rPr>
              <a:t>∈ </a:t>
            </a:r>
            <a:r>
              <a:rPr dirty="0"/>
              <a:t>A ↔ x </a:t>
            </a:r>
            <a:r>
              <a:rPr dirty="0">
                <a:latin typeface="Cambria Math"/>
                <a:cs typeface="Cambria Math"/>
              </a:rPr>
              <a:t>∈</a:t>
            </a:r>
            <a:r>
              <a:rPr spc="68" dirty="0">
                <a:latin typeface="Cambria Math"/>
                <a:cs typeface="Cambria Math"/>
              </a:rPr>
              <a:t> </a:t>
            </a:r>
            <a:r>
              <a:rPr spc="-5" dirty="0"/>
              <a:t>B)</a:t>
            </a:r>
            <a:endParaRPr lang="en-US" spc="-5" dirty="0"/>
          </a:p>
          <a:p>
            <a:pPr marL="0" indent="0">
              <a:lnSpc>
                <a:spcPts val="3469"/>
              </a:lnSpc>
              <a:spcBef>
                <a:spcPts val="18"/>
              </a:spcBef>
              <a:buNone/>
            </a:pPr>
            <a:endParaRPr spc="-5" dirty="0"/>
          </a:p>
          <a:p>
            <a:pPr marL="0" marR="102980" indent="0">
              <a:lnSpc>
                <a:spcPts val="3479"/>
              </a:lnSpc>
              <a:spcBef>
                <a:spcPts val="104"/>
              </a:spcBef>
              <a:buNone/>
              <a:tabLst>
                <a:tab pos="813488" algn="l"/>
              </a:tabLst>
            </a:pPr>
            <a:r>
              <a:rPr spc="-9" dirty="0"/>
              <a:t>Example: </a:t>
            </a:r>
            <a:r>
              <a:rPr spc="-14" dirty="0"/>
              <a:t>Are </a:t>
            </a:r>
            <a:r>
              <a:rPr dirty="0"/>
              <a:t>the </a:t>
            </a:r>
            <a:r>
              <a:rPr spc="-14" dirty="0"/>
              <a:t>following </a:t>
            </a:r>
            <a:r>
              <a:rPr spc="-5" dirty="0"/>
              <a:t>sets </a:t>
            </a:r>
            <a:r>
              <a:rPr dirty="0"/>
              <a:t>equal? </a:t>
            </a:r>
            <a:r>
              <a:rPr spc="-18" dirty="0"/>
              <a:t>Why &amp;why </a:t>
            </a:r>
            <a:r>
              <a:rPr dirty="0"/>
              <a:t>not? </a:t>
            </a:r>
            <a:endParaRPr lang="en-US" dirty="0"/>
          </a:p>
          <a:p>
            <a:pPr marL="217466" marR="102980">
              <a:lnSpc>
                <a:spcPts val="3479"/>
              </a:lnSpc>
              <a:spcBef>
                <a:spcPts val="104"/>
              </a:spcBef>
              <a:tabLst>
                <a:tab pos="813488" algn="l"/>
              </a:tabLst>
            </a:pPr>
            <a:r>
              <a:rPr spc="-5" dirty="0"/>
              <a:t>{1, </a:t>
            </a:r>
            <a:r>
              <a:rPr dirty="0"/>
              <a:t>2, 3, </a:t>
            </a:r>
            <a:r>
              <a:rPr spc="-5" dirty="0"/>
              <a:t>4} and {1, </a:t>
            </a:r>
            <a:r>
              <a:rPr dirty="0"/>
              <a:t>2, 3,</a:t>
            </a:r>
            <a:r>
              <a:rPr spc="27" dirty="0"/>
              <a:t> </a:t>
            </a:r>
            <a:r>
              <a:rPr dirty="0"/>
              <a:t>4}</a:t>
            </a: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Yes</a:t>
            </a:r>
            <a:endParaRPr dirty="0">
              <a:solidFill>
                <a:srgbClr val="FF0000"/>
              </a:solidFill>
            </a:endParaRPr>
          </a:p>
          <a:p>
            <a:pPr marL="217466">
              <a:lnSpc>
                <a:spcPts val="3361"/>
              </a:lnSpc>
              <a:tabLst>
                <a:tab pos="813488" algn="l"/>
              </a:tabLst>
            </a:pPr>
            <a:r>
              <a:rPr spc="-5" dirty="0"/>
              <a:t>{1, </a:t>
            </a:r>
            <a:r>
              <a:rPr dirty="0"/>
              <a:t>2, 3, </a:t>
            </a:r>
            <a:r>
              <a:rPr spc="-5" dirty="0"/>
              <a:t>4} and {4, </a:t>
            </a:r>
            <a:r>
              <a:rPr dirty="0"/>
              <a:t>1, 3,</a:t>
            </a:r>
            <a:r>
              <a:rPr spc="-9" dirty="0"/>
              <a:t> </a:t>
            </a:r>
            <a:r>
              <a:rPr dirty="0"/>
              <a:t>2}</a:t>
            </a: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Yes</a:t>
            </a:r>
          </a:p>
          <a:p>
            <a:pPr marL="217466">
              <a:lnSpc>
                <a:spcPts val="3361"/>
              </a:lnSpc>
              <a:tabLst>
                <a:tab pos="813488" algn="l"/>
              </a:tabLst>
            </a:pPr>
            <a:r>
              <a:rPr spc="-5" dirty="0"/>
              <a:t>{a, b, </a:t>
            </a:r>
            <a:r>
              <a:rPr dirty="0"/>
              <a:t>c, </a:t>
            </a:r>
            <a:r>
              <a:rPr spc="-5" dirty="0"/>
              <a:t>d, </a:t>
            </a:r>
            <a:r>
              <a:rPr dirty="0"/>
              <a:t>e} </a:t>
            </a:r>
            <a:r>
              <a:rPr spc="-5" dirty="0"/>
              <a:t>and {a, a, </a:t>
            </a:r>
            <a:r>
              <a:rPr dirty="0"/>
              <a:t>c, </a:t>
            </a:r>
            <a:r>
              <a:rPr spc="-5" dirty="0"/>
              <a:t>b, </a:t>
            </a:r>
            <a:r>
              <a:rPr dirty="0"/>
              <a:t>e, </a:t>
            </a:r>
            <a:r>
              <a:rPr spc="-5" dirty="0"/>
              <a:t>d}</a:t>
            </a:r>
            <a:r>
              <a:rPr lang="en-US" spc="-5" dirty="0"/>
              <a:t>		</a:t>
            </a:r>
            <a:r>
              <a:rPr lang="en-US" spc="-5" dirty="0">
                <a:solidFill>
                  <a:srgbClr val="FF0000"/>
                </a:solidFill>
              </a:rPr>
              <a:t>Yes</a:t>
            </a:r>
          </a:p>
          <a:p>
            <a:pPr marL="217466">
              <a:lnSpc>
                <a:spcPts val="3361"/>
              </a:lnSpc>
              <a:tabLst>
                <a:tab pos="813488" algn="l"/>
              </a:tabLst>
            </a:pPr>
            <a:r>
              <a:rPr spc="-5" dirty="0"/>
              <a:t>{a, </a:t>
            </a:r>
            <a:r>
              <a:rPr dirty="0"/>
              <a:t>e, </a:t>
            </a:r>
            <a:r>
              <a:rPr spc="-5" dirty="0"/>
              <a:t>i, o} and {a, </a:t>
            </a:r>
            <a:r>
              <a:rPr dirty="0"/>
              <a:t>e, </a:t>
            </a:r>
            <a:r>
              <a:rPr spc="-5" dirty="0"/>
              <a:t>i, </a:t>
            </a:r>
            <a:r>
              <a:rPr spc="-27" dirty="0"/>
              <a:t>o,</a:t>
            </a:r>
            <a:r>
              <a:rPr spc="54" dirty="0"/>
              <a:t> </a:t>
            </a:r>
            <a:r>
              <a:rPr spc="-5" dirty="0"/>
              <a:t>u}</a:t>
            </a:r>
            <a:r>
              <a:rPr lang="en-US" spc="-5" dirty="0"/>
              <a:t>			</a:t>
            </a:r>
            <a:r>
              <a:rPr lang="en-US" spc="-5" dirty="0">
                <a:solidFill>
                  <a:srgbClr val="FF0000"/>
                </a:solidFill>
              </a:rPr>
              <a:t>No</a:t>
            </a:r>
            <a:endParaRPr spc="-5" dirty="0">
              <a:solidFill>
                <a:srgbClr val="FF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9FC8DB-6D9A-44D2-B9D8-9612C1D2CA36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Set equality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67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8870" y="1505281"/>
            <a:ext cx="10515601" cy="4751959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>
              <a:spcBef>
                <a:spcPts val="95"/>
              </a:spcBef>
            </a:pPr>
            <a:r>
              <a:rPr sz="2800" dirty="0">
                <a:cs typeface="Calibri"/>
              </a:rPr>
              <a:t>A </a:t>
            </a:r>
            <a:r>
              <a:rPr sz="2800" spc="-9" dirty="0">
                <a:cs typeface="Calibri"/>
              </a:rPr>
              <a:t>set that </a:t>
            </a:r>
            <a:r>
              <a:rPr sz="2800" spc="-5" dirty="0">
                <a:cs typeface="Calibri"/>
              </a:rPr>
              <a:t>has </a:t>
            </a:r>
            <a:r>
              <a:rPr sz="2800" dirty="0">
                <a:cs typeface="Calibri"/>
              </a:rPr>
              <a:t>no </a:t>
            </a:r>
            <a:r>
              <a:rPr sz="2800" spc="-5" dirty="0">
                <a:cs typeface="Calibri"/>
              </a:rPr>
              <a:t>elements </a:t>
            </a:r>
            <a:r>
              <a:rPr sz="2800" spc="-9" dirty="0">
                <a:cs typeface="Calibri"/>
              </a:rPr>
              <a:t>called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empty </a:t>
            </a:r>
            <a:r>
              <a:rPr sz="2800" spc="-9" dirty="0">
                <a:solidFill>
                  <a:srgbClr val="FF0000"/>
                </a:solidFill>
                <a:cs typeface="Calibri"/>
              </a:rPr>
              <a:t>set</a:t>
            </a:r>
            <a:r>
              <a:rPr sz="2800" spc="-9" dirty="0">
                <a:cs typeface="Calibri"/>
              </a:rPr>
              <a:t>, </a:t>
            </a:r>
            <a:r>
              <a:rPr sz="2800" dirty="0">
                <a:cs typeface="Calibri"/>
              </a:rPr>
              <a:t>or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null</a:t>
            </a:r>
            <a:r>
              <a:rPr sz="2800" spc="54" dirty="0">
                <a:solidFill>
                  <a:srgbClr val="FF0000"/>
                </a:solidFill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set</a:t>
            </a:r>
            <a:r>
              <a:rPr sz="2800" spc="-5" dirty="0">
                <a:cs typeface="Calibri"/>
              </a:rPr>
              <a:t>.</a:t>
            </a:r>
            <a:endParaRPr sz="2800" dirty="0">
              <a:cs typeface="Calibri"/>
            </a:endParaRPr>
          </a:p>
          <a:p>
            <a:pPr marL="11506" marR="6832381"/>
            <a:r>
              <a:rPr sz="2800" spc="-9" dirty="0">
                <a:cs typeface="Calibri"/>
              </a:rPr>
              <a:t>Denoted </a:t>
            </a:r>
            <a:r>
              <a:rPr sz="2800" spc="-5" dirty="0">
                <a:cs typeface="Calibri"/>
              </a:rPr>
              <a:t>by {} </a:t>
            </a:r>
            <a:r>
              <a:rPr sz="2800" dirty="0">
                <a:cs typeface="Calibri"/>
              </a:rPr>
              <a:t>, Ø.  </a:t>
            </a:r>
            <a:r>
              <a:rPr sz="2800" spc="-9" dirty="0">
                <a:solidFill>
                  <a:srgbClr val="FF0000"/>
                </a:solidFill>
                <a:cs typeface="Calibri"/>
              </a:rPr>
              <a:t>Example:</a:t>
            </a:r>
            <a:endParaRPr sz="2800" dirty="0">
              <a:cs typeface="Calibri"/>
            </a:endParaRPr>
          </a:p>
          <a:p>
            <a:pPr marL="11506"/>
            <a:r>
              <a:rPr sz="2800" spc="-5" dirty="0">
                <a:cs typeface="Calibri"/>
              </a:rPr>
              <a:t>The </a:t>
            </a:r>
            <a:r>
              <a:rPr sz="2800" spc="-9" dirty="0">
                <a:cs typeface="Calibri"/>
              </a:rPr>
              <a:t>set </a:t>
            </a:r>
            <a:r>
              <a:rPr sz="2800" dirty="0">
                <a:cs typeface="Calibri"/>
              </a:rPr>
              <a:t>of </a:t>
            </a:r>
            <a:r>
              <a:rPr sz="2800" spc="-5" dirty="0">
                <a:cs typeface="Calibri"/>
              </a:rPr>
              <a:t>all </a:t>
            </a:r>
            <a:r>
              <a:rPr sz="2800" spc="-9" dirty="0">
                <a:cs typeface="Calibri"/>
              </a:rPr>
              <a:t>positive </a:t>
            </a:r>
            <a:r>
              <a:rPr sz="2800" spc="-18" dirty="0">
                <a:cs typeface="Calibri"/>
              </a:rPr>
              <a:t>integers </a:t>
            </a:r>
            <a:r>
              <a:rPr sz="2800" spc="-9" dirty="0">
                <a:cs typeface="Calibri"/>
              </a:rPr>
              <a:t>that </a:t>
            </a:r>
            <a:r>
              <a:rPr sz="2800" spc="-14" dirty="0">
                <a:cs typeface="Calibri"/>
              </a:rPr>
              <a:t>are </a:t>
            </a:r>
            <a:r>
              <a:rPr sz="2800" spc="-5" dirty="0">
                <a:cs typeface="Calibri"/>
              </a:rPr>
              <a:t>less </a:t>
            </a:r>
            <a:r>
              <a:rPr sz="2800" dirty="0">
                <a:cs typeface="Calibri"/>
              </a:rPr>
              <a:t>than </a:t>
            </a:r>
            <a:r>
              <a:rPr sz="2800" spc="-5" dirty="0">
                <a:cs typeface="Calibri"/>
              </a:rPr>
              <a:t>and </a:t>
            </a:r>
            <a:r>
              <a:rPr sz="2800" dirty="0">
                <a:cs typeface="Calibri"/>
              </a:rPr>
              <a:t>equal </a:t>
            </a:r>
            <a:r>
              <a:rPr sz="2800" spc="-18" dirty="0">
                <a:cs typeface="Calibri"/>
              </a:rPr>
              <a:t>to</a:t>
            </a:r>
            <a:r>
              <a:rPr sz="2800" spc="103" dirty="0">
                <a:cs typeface="Calibri"/>
              </a:rPr>
              <a:t> </a:t>
            </a:r>
            <a:r>
              <a:rPr sz="2800" dirty="0">
                <a:cs typeface="Calibri"/>
              </a:rPr>
              <a:t>0.</a:t>
            </a:r>
          </a:p>
          <a:p>
            <a:pPr marL="11506">
              <a:spcBef>
                <a:spcPts val="23"/>
              </a:spcBef>
            </a:pPr>
            <a:r>
              <a:rPr sz="2800" dirty="0">
                <a:cs typeface="Calibri"/>
              </a:rPr>
              <a:t>S = {x | x </a:t>
            </a:r>
            <a:r>
              <a:rPr sz="2800" dirty="0">
                <a:cs typeface="Cambria Math"/>
              </a:rPr>
              <a:t>∈ </a:t>
            </a:r>
            <a:r>
              <a:rPr sz="2800" spc="-5" dirty="0">
                <a:cs typeface="Calibri"/>
              </a:rPr>
              <a:t>Z+ </a:t>
            </a:r>
            <a:r>
              <a:rPr sz="2800" dirty="0">
                <a:cs typeface="Calibri"/>
              </a:rPr>
              <a:t>and x ≤ 0 } = {} =</a:t>
            </a:r>
            <a:r>
              <a:rPr sz="2800" spc="23" dirty="0">
                <a:cs typeface="Calibri"/>
              </a:rPr>
              <a:t> </a:t>
            </a:r>
            <a:r>
              <a:rPr sz="2800" dirty="0">
                <a:cs typeface="Calibri"/>
              </a:rPr>
              <a:t>Ø</a:t>
            </a:r>
          </a:p>
          <a:p>
            <a:pPr>
              <a:spcBef>
                <a:spcPts val="14"/>
              </a:spcBef>
            </a:pPr>
            <a:endParaRPr sz="2800" dirty="0">
              <a:cs typeface="Times New Roman"/>
            </a:endParaRPr>
          </a:p>
          <a:p>
            <a:pPr marL="11506"/>
            <a:r>
              <a:rPr sz="2800" spc="-9" dirty="0">
                <a:solidFill>
                  <a:srgbClr val="FF0000"/>
                </a:solidFill>
                <a:cs typeface="Calibri"/>
              </a:rPr>
              <a:t>Singleton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set: </a:t>
            </a:r>
            <a:r>
              <a:rPr sz="2800" dirty="0">
                <a:cs typeface="Calibri"/>
              </a:rPr>
              <a:t>a </a:t>
            </a:r>
            <a:r>
              <a:rPr sz="2800" spc="-9" dirty="0">
                <a:cs typeface="Calibri"/>
              </a:rPr>
              <a:t>set </a:t>
            </a:r>
            <a:r>
              <a:rPr sz="2800" dirty="0">
                <a:cs typeface="Calibri"/>
              </a:rPr>
              <a:t>with </a:t>
            </a:r>
            <a:r>
              <a:rPr sz="2800" spc="-5" dirty="0">
                <a:cs typeface="Calibri"/>
              </a:rPr>
              <a:t>one</a:t>
            </a:r>
            <a:r>
              <a:rPr sz="2800" spc="32" dirty="0">
                <a:cs typeface="Calibri"/>
              </a:rPr>
              <a:t> </a:t>
            </a:r>
            <a:r>
              <a:rPr sz="2800" spc="-5" dirty="0">
                <a:cs typeface="Calibri"/>
              </a:rPr>
              <a:t>element</a:t>
            </a:r>
            <a:endParaRPr sz="2800" dirty="0">
              <a:cs typeface="Calibri"/>
            </a:endParaRPr>
          </a:p>
          <a:p>
            <a:pPr marL="425729" indent="-414223">
              <a:buFont typeface="Arial"/>
              <a:buChar char="•"/>
              <a:tabLst>
                <a:tab pos="425154" algn="l"/>
                <a:tab pos="425729" algn="l"/>
                <a:tab pos="4321153" algn="l"/>
              </a:tabLst>
            </a:pPr>
            <a:r>
              <a:rPr sz="2800" spc="-14" dirty="0">
                <a:cs typeface="Calibri"/>
              </a:rPr>
              <a:t>are </a:t>
            </a:r>
            <a:r>
              <a:rPr sz="2800" dirty="0">
                <a:cs typeface="Calibri"/>
              </a:rPr>
              <a:t>Ø </a:t>
            </a:r>
            <a:r>
              <a:rPr sz="2800" spc="-5" dirty="0">
                <a:cs typeface="Calibri"/>
              </a:rPr>
              <a:t>and</a:t>
            </a:r>
            <a:r>
              <a:rPr sz="2800" spc="9" dirty="0">
                <a:cs typeface="Calibri"/>
              </a:rPr>
              <a:t> </a:t>
            </a:r>
            <a:r>
              <a:rPr sz="2800" dirty="0">
                <a:cs typeface="Calibri"/>
              </a:rPr>
              <a:t>{Ø}</a:t>
            </a:r>
            <a:r>
              <a:rPr sz="2800" spc="14" dirty="0">
                <a:cs typeface="Calibri"/>
              </a:rPr>
              <a:t> </a:t>
            </a:r>
            <a:r>
              <a:rPr sz="2800" dirty="0">
                <a:cs typeface="Calibri"/>
              </a:rPr>
              <a:t>equal?	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No</a:t>
            </a:r>
            <a:endParaRPr sz="2800" dirty="0">
              <a:cs typeface="Calibri"/>
            </a:endParaRPr>
          </a:p>
          <a:p>
            <a:pPr marL="11506">
              <a:tabLst>
                <a:tab pos="534463" algn="l"/>
              </a:tabLst>
            </a:pPr>
            <a:r>
              <a:rPr sz="2800" spc="-5" dirty="0">
                <a:cs typeface="Calibri"/>
              </a:rPr>
              <a:t>Ф:	an empty set. Think of </a:t>
            </a:r>
            <a:r>
              <a:rPr sz="2800" dirty="0">
                <a:cs typeface="Calibri"/>
              </a:rPr>
              <a:t>this </a:t>
            </a:r>
            <a:r>
              <a:rPr sz="2800" spc="-5" dirty="0">
                <a:cs typeface="Calibri"/>
              </a:rPr>
              <a:t>as an empty</a:t>
            </a:r>
            <a:r>
              <a:rPr sz="2800" spc="45" dirty="0">
                <a:cs typeface="Calibri"/>
              </a:rPr>
              <a:t> </a:t>
            </a:r>
            <a:r>
              <a:rPr sz="2800" spc="-18" dirty="0">
                <a:cs typeface="Calibri"/>
              </a:rPr>
              <a:t>folder</a:t>
            </a:r>
            <a:endParaRPr sz="2800" dirty="0">
              <a:cs typeface="Calibri"/>
            </a:endParaRPr>
          </a:p>
          <a:p>
            <a:pPr marL="11506" marR="4602"/>
            <a:r>
              <a:rPr sz="2800" dirty="0">
                <a:cs typeface="Calibri"/>
              </a:rPr>
              <a:t>{ф}: a </a:t>
            </a:r>
            <a:r>
              <a:rPr sz="2800" spc="-9" dirty="0">
                <a:cs typeface="Calibri"/>
              </a:rPr>
              <a:t>set </a:t>
            </a:r>
            <a:r>
              <a:rPr sz="2800" spc="-5" dirty="0">
                <a:cs typeface="Calibri"/>
              </a:rPr>
              <a:t>with one element. The element </a:t>
            </a:r>
            <a:r>
              <a:rPr sz="2800" spc="-9" dirty="0">
                <a:cs typeface="Calibri"/>
              </a:rPr>
              <a:t>is </a:t>
            </a:r>
            <a:r>
              <a:rPr sz="2800" spc="-5" dirty="0">
                <a:cs typeface="Calibri"/>
              </a:rPr>
              <a:t>an empty set. Think  of this as a </a:t>
            </a:r>
            <a:r>
              <a:rPr sz="2800" spc="-18" dirty="0">
                <a:cs typeface="Calibri"/>
              </a:rPr>
              <a:t>folder </a:t>
            </a:r>
            <a:r>
              <a:rPr sz="2800" dirty="0">
                <a:cs typeface="Calibri"/>
              </a:rPr>
              <a:t>with </a:t>
            </a:r>
            <a:r>
              <a:rPr sz="2800" spc="-5" dirty="0">
                <a:cs typeface="Calibri"/>
              </a:rPr>
              <a:t>an </a:t>
            </a:r>
            <a:r>
              <a:rPr sz="2800" dirty="0">
                <a:cs typeface="Calibri"/>
              </a:rPr>
              <a:t>empty </a:t>
            </a:r>
            <a:r>
              <a:rPr sz="2800" spc="-14" dirty="0">
                <a:cs typeface="Calibri"/>
              </a:rPr>
              <a:t>folder </a:t>
            </a:r>
            <a:r>
              <a:rPr sz="2800" dirty="0">
                <a:cs typeface="Calibri"/>
              </a:rPr>
              <a:t>in</a:t>
            </a:r>
            <a:r>
              <a:rPr sz="2800" spc="68" dirty="0">
                <a:cs typeface="Calibri"/>
              </a:rPr>
              <a:t> </a:t>
            </a:r>
            <a:r>
              <a:rPr sz="2800" spc="-5" dirty="0">
                <a:cs typeface="Calibri"/>
              </a:rPr>
              <a:t>it.</a:t>
            </a:r>
            <a:endParaRPr sz="2800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4E1250-A13C-4132-B02B-33D28C871C86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Empty set, Singleton Set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1988" y="1446466"/>
            <a:ext cx="10108024" cy="4717454"/>
          </a:xfrm>
          <a:prstGeom prst="rect">
            <a:avLst/>
          </a:prstGeom>
        </p:spPr>
        <p:txBody>
          <a:bodyPr vert="horz" wrap="square" lIns="0" tIns="10931" rIns="0" bIns="0" rtlCol="0">
            <a:spAutoFit/>
          </a:bodyPr>
          <a:lstStyle/>
          <a:p>
            <a:pPr marL="11506" marR="4602">
              <a:spcBef>
                <a:spcPts val="86"/>
              </a:spcBef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number of distinct elements in a set is known as its set size. For a set S, set size is denoted by |S|. </a:t>
            </a:r>
          </a:p>
          <a:p>
            <a:pPr marL="11506" marR="4602">
              <a:spcBef>
                <a:spcPts val="86"/>
              </a:spcBef>
            </a:pPr>
            <a:r>
              <a:rPr lang="en-US" sz="28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size of a set is non-negative integer value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Set size is also called the cardinality of a set</a:t>
            </a:r>
          </a:p>
          <a:p>
            <a:pPr marL="11506" marR="3654944">
              <a:lnSpc>
                <a:spcPct val="200100"/>
              </a:lnSpc>
            </a:pPr>
            <a:r>
              <a:rPr sz="28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14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Example: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524683" indent="-513177">
              <a:buAutoNum type="arabicPeriod"/>
              <a:tabLst>
                <a:tab pos="524683" algn="l"/>
                <a:tab pos="525258" algn="l"/>
              </a:tabLst>
            </a:pPr>
            <a:r>
              <a:rPr lang="en-US" sz="2800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Size of empty set is 0.</a:t>
            </a:r>
          </a:p>
          <a:p>
            <a:pPr marL="524683" indent="-513177">
              <a:buAutoNum type="arabicPeriod"/>
              <a:tabLst>
                <a:tab pos="524683" algn="l"/>
                <a:tab pos="525258" algn="l"/>
              </a:tabLst>
            </a:pPr>
            <a:r>
              <a:rPr lang="en-US" sz="2800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 be the </a:t>
            </a:r>
            <a:r>
              <a:rPr lang="en-US" sz="28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set </a:t>
            </a:r>
            <a:r>
              <a:rPr lang="en-US" sz="2800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</a:t>
            </a:r>
            <a:r>
              <a:rPr lang="en-US" sz="28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odd positive </a:t>
            </a:r>
            <a:r>
              <a:rPr lang="en-US" sz="2800" spc="-1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integers </a:t>
            </a:r>
            <a:r>
              <a:rPr lang="en-US" sz="2800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less than 10, </a:t>
            </a:r>
            <a:r>
              <a:rPr lang="en-US" sz="28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|A|</a:t>
            </a:r>
            <a:r>
              <a:rPr lang="en-US" sz="2800" spc="14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28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=5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598322" indent="-586816">
              <a:buAutoNum type="arabicPeriod"/>
              <a:tabLst>
                <a:tab pos="597747" algn="l"/>
                <a:tab pos="598322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 be the </a:t>
            </a:r>
            <a:r>
              <a:rPr sz="28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set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</a:t>
            </a:r>
            <a:r>
              <a:rPr sz="2800" spc="-2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letters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 the </a:t>
            </a:r>
            <a:r>
              <a:rPr sz="28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English alphabet, |S|</a:t>
            </a:r>
            <a:r>
              <a:rPr sz="2800" spc="10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8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=?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1506">
              <a:lnSpc>
                <a:spcPts val="3035"/>
              </a:lnSpc>
              <a:spcBef>
                <a:spcPts val="18"/>
              </a:spcBef>
              <a:tabLst>
                <a:tab pos="597747" algn="l"/>
              </a:tabLst>
            </a:pP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33DECF-40FF-4193-9BB3-FD550860B54D}"/>
              </a:ext>
            </a:extLst>
          </p:cNvPr>
          <p:cNvSpPr txBox="1">
            <a:spLocks/>
          </p:cNvSpPr>
          <p:nvPr/>
        </p:nvSpPr>
        <p:spPr>
          <a:xfrm>
            <a:off x="1676400" y="114800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Cardinality of Set </a:t>
            </a:r>
            <a:r>
              <a:rPr 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4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Set Size</a:t>
            </a:r>
            <a:r>
              <a:rPr 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2" y="254644"/>
            <a:ext cx="10515600" cy="905069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Subsets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72" y="1443379"/>
            <a:ext cx="10515600" cy="4357043"/>
          </a:xfrm>
        </p:spPr>
        <p:txBody>
          <a:bodyPr>
            <a:norm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A &amp; B are two sets, A is called a subset of B, written A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 B, if, and only if, all elements of A are also elements of B.</a:t>
            </a:r>
          </a:p>
          <a:p>
            <a:pPr marL="0" lv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Symbolically:</a:t>
            </a:r>
          </a:p>
          <a:p>
            <a:pPr lvl="0" fontAlgn="base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 B  if x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P MathA" pitchFamily="2" charset="2"/>
              </a:rPr>
              <a:t>∊ A then x ∊ B</a:t>
            </a:r>
          </a:p>
          <a:p>
            <a:pPr marL="0" lv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P MathA" pitchFamily="2" charset="2"/>
              </a:rPr>
              <a:t>REMARK</a:t>
            </a:r>
            <a:r>
              <a:rPr lang="en-US" sz="16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P MathA" pitchFamily="2" charset="2"/>
              </a:rPr>
              <a:t>	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P MathA" pitchFamily="2" charset="2"/>
              </a:rPr>
              <a:t>When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 B, then B is called a </a:t>
            </a:r>
            <a:r>
              <a:rPr lang="en-US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superset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 of A.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When A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P MathA" pitchFamily="2" charset="2"/>
              </a:rPr>
              <a:t>is not a subset of B, then there exist at least one x ∊ A such that x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B.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Every set is a subset of itself.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AD1AD77-3CC2-4D1C-BDD3-62C7D81507ED}"/>
              </a:ext>
            </a:extLst>
          </p:cNvPr>
          <p:cNvSpPr/>
          <p:nvPr/>
        </p:nvSpPr>
        <p:spPr>
          <a:xfrm>
            <a:off x="6884692" y="4970558"/>
            <a:ext cx="2968732" cy="1656966"/>
          </a:xfrm>
          <a:custGeom>
            <a:avLst/>
            <a:gdLst/>
            <a:ahLst/>
            <a:cxnLst/>
            <a:rect l="l" t="t" r="r" b="b"/>
            <a:pathLst>
              <a:path w="3276600" h="1828800">
                <a:moveTo>
                  <a:pt x="0" y="1828800"/>
                </a:moveTo>
                <a:lnTo>
                  <a:pt x="3276599" y="1828800"/>
                </a:lnTo>
                <a:lnTo>
                  <a:pt x="3276599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FE436DB-AE13-4579-8B00-85B5E4A2BAD5}"/>
              </a:ext>
            </a:extLst>
          </p:cNvPr>
          <p:cNvSpPr/>
          <p:nvPr/>
        </p:nvSpPr>
        <p:spPr>
          <a:xfrm>
            <a:off x="6886073" y="4971939"/>
            <a:ext cx="2968732" cy="1656966"/>
          </a:xfrm>
          <a:custGeom>
            <a:avLst/>
            <a:gdLst/>
            <a:ahLst/>
            <a:cxnLst/>
            <a:rect l="l" t="t" r="r" b="b"/>
            <a:pathLst>
              <a:path w="3276600" h="1828800">
                <a:moveTo>
                  <a:pt x="0" y="1828800"/>
                </a:moveTo>
                <a:lnTo>
                  <a:pt x="3276600" y="1828800"/>
                </a:lnTo>
                <a:lnTo>
                  <a:pt x="32766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E6FE9E6C-26D6-4803-B643-9B0C52AAD8CE}"/>
              </a:ext>
            </a:extLst>
          </p:cNvPr>
          <p:cNvSpPr txBox="1"/>
          <p:nvPr/>
        </p:nvSpPr>
        <p:spPr>
          <a:xfrm>
            <a:off x="9591876" y="5018150"/>
            <a:ext cx="211148" cy="346198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>
              <a:spcBef>
                <a:spcPts val="91"/>
              </a:spcBef>
            </a:pPr>
            <a:r>
              <a:rPr sz="2174" dirty="0">
                <a:latin typeface="Arial"/>
                <a:cs typeface="Arial"/>
              </a:rPr>
              <a:t>U</a:t>
            </a:r>
            <a:endParaRPr sz="2174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F09F280C-6C42-41EF-8469-3E99FFEC94DD}"/>
              </a:ext>
            </a:extLst>
          </p:cNvPr>
          <p:cNvSpPr/>
          <p:nvPr/>
        </p:nvSpPr>
        <p:spPr>
          <a:xfrm>
            <a:off x="7663466" y="5108639"/>
            <a:ext cx="1430284" cy="1427983"/>
          </a:xfrm>
          <a:custGeom>
            <a:avLst/>
            <a:gdLst/>
            <a:ahLst/>
            <a:cxnLst/>
            <a:rect l="l" t="t" r="r" b="b"/>
            <a:pathLst>
              <a:path w="1578609" h="1576070">
                <a:moveTo>
                  <a:pt x="789177" y="0"/>
                </a:moveTo>
                <a:lnTo>
                  <a:pt x="724534" y="2667"/>
                </a:lnTo>
                <a:lnTo>
                  <a:pt x="661161" y="10287"/>
                </a:lnTo>
                <a:lnTo>
                  <a:pt x="599566" y="22860"/>
                </a:lnTo>
                <a:lnTo>
                  <a:pt x="539750" y="40132"/>
                </a:lnTo>
                <a:lnTo>
                  <a:pt x="482091" y="61849"/>
                </a:lnTo>
                <a:lnTo>
                  <a:pt x="426592" y="87884"/>
                </a:lnTo>
                <a:lnTo>
                  <a:pt x="373506" y="117983"/>
                </a:lnTo>
                <a:lnTo>
                  <a:pt x="323087" y="152019"/>
                </a:lnTo>
                <a:lnTo>
                  <a:pt x="275589" y="189611"/>
                </a:lnTo>
                <a:lnTo>
                  <a:pt x="231139" y="230759"/>
                </a:lnTo>
                <a:lnTo>
                  <a:pt x="189991" y="275082"/>
                </a:lnTo>
                <a:lnTo>
                  <a:pt x="152273" y="322580"/>
                </a:lnTo>
                <a:lnTo>
                  <a:pt x="118236" y="372872"/>
                </a:lnTo>
                <a:lnTo>
                  <a:pt x="88137" y="425704"/>
                </a:lnTo>
                <a:lnTo>
                  <a:pt x="61975" y="481203"/>
                </a:lnTo>
                <a:lnTo>
                  <a:pt x="40258" y="538734"/>
                </a:lnTo>
                <a:lnTo>
                  <a:pt x="22986" y="598424"/>
                </a:lnTo>
                <a:lnTo>
                  <a:pt x="10286" y="660019"/>
                </a:lnTo>
                <a:lnTo>
                  <a:pt x="2666" y="723138"/>
                </a:lnTo>
                <a:lnTo>
                  <a:pt x="0" y="787781"/>
                </a:lnTo>
                <a:lnTo>
                  <a:pt x="2666" y="852424"/>
                </a:lnTo>
                <a:lnTo>
                  <a:pt x="10286" y="915543"/>
                </a:lnTo>
                <a:lnTo>
                  <a:pt x="22986" y="977138"/>
                </a:lnTo>
                <a:lnTo>
                  <a:pt x="40258" y="1036828"/>
                </a:lnTo>
                <a:lnTo>
                  <a:pt x="61975" y="1094486"/>
                </a:lnTo>
                <a:lnTo>
                  <a:pt x="88137" y="1149858"/>
                </a:lnTo>
                <a:lnTo>
                  <a:pt x="118236" y="1202817"/>
                </a:lnTo>
                <a:lnTo>
                  <a:pt x="152273" y="1252982"/>
                </a:lnTo>
                <a:lnTo>
                  <a:pt x="189991" y="1300480"/>
                </a:lnTo>
                <a:lnTo>
                  <a:pt x="231139" y="1344803"/>
                </a:lnTo>
                <a:lnTo>
                  <a:pt x="275589" y="1385951"/>
                </a:lnTo>
                <a:lnTo>
                  <a:pt x="323087" y="1423543"/>
                </a:lnTo>
                <a:lnTo>
                  <a:pt x="373506" y="1457579"/>
                </a:lnTo>
                <a:lnTo>
                  <a:pt x="426592" y="1487678"/>
                </a:lnTo>
                <a:lnTo>
                  <a:pt x="482091" y="1513713"/>
                </a:lnTo>
                <a:lnTo>
                  <a:pt x="539750" y="1535404"/>
                </a:lnTo>
                <a:lnTo>
                  <a:pt x="599566" y="1552663"/>
                </a:lnTo>
                <a:lnTo>
                  <a:pt x="661161" y="1565249"/>
                </a:lnTo>
                <a:lnTo>
                  <a:pt x="724534" y="1572945"/>
                </a:lnTo>
                <a:lnTo>
                  <a:pt x="789177" y="1575562"/>
                </a:lnTo>
                <a:lnTo>
                  <a:pt x="853948" y="1572945"/>
                </a:lnTo>
                <a:lnTo>
                  <a:pt x="917321" y="1565249"/>
                </a:lnTo>
                <a:lnTo>
                  <a:pt x="978915" y="1552663"/>
                </a:lnTo>
                <a:lnTo>
                  <a:pt x="1038732" y="1535404"/>
                </a:lnTo>
                <a:lnTo>
                  <a:pt x="1096390" y="1513713"/>
                </a:lnTo>
                <a:lnTo>
                  <a:pt x="1151889" y="1487678"/>
                </a:lnTo>
                <a:lnTo>
                  <a:pt x="1204976" y="1457579"/>
                </a:lnTo>
                <a:lnTo>
                  <a:pt x="1255395" y="1423543"/>
                </a:lnTo>
                <a:lnTo>
                  <a:pt x="1302892" y="1385951"/>
                </a:lnTo>
                <a:lnTo>
                  <a:pt x="1347342" y="1344803"/>
                </a:lnTo>
                <a:lnTo>
                  <a:pt x="1388490" y="1300480"/>
                </a:lnTo>
                <a:lnTo>
                  <a:pt x="1426209" y="1252982"/>
                </a:lnTo>
                <a:lnTo>
                  <a:pt x="1460246" y="1202817"/>
                </a:lnTo>
                <a:lnTo>
                  <a:pt x="1490345" y="1149858"/>
                </a:lnTo>
                <a:lnTo>
                  <a:pt x="1516506" y="1094486"/>
                </a:lnTo>
                <a:lnTo>
                  <a:pt x="1538224" y="1036828"/>
                </a:lnTo>
                <a:lnTo>
                  <a:pt x="1555496" y="977138"/>
                </a:lnTo>
                <a:lnTo>
                  <a:pt x="1568196" y="915543"/>
                </a:lnTo>
                <a:lnTo>
                  <a:pt x="1575815" y="852424"/>
                </a:lnTo>
                <a:lnTo>
                  <a:pt x="1578482" y="787781"/>
                </a:lnTo>
                <a:lnTo>
                  <a:pt x="1575815" y="723138"/>
                </a:lnTo>
                <a:lnTo>
                  <a:pt x="1568196" y="660019"/>
                </a:lnTo>
                <a:lnTo>
                  <a:pt x="1555496" y="598424"/>
                </a:lnTo>
                <a:lnTo>
                  <a:pt x="1538224" y="538734"/>
                </a:lnTo>
                <a:lnTo>
                  <a:pt x="1516506" y="481203"/>
                </a:lnTo>
                <a:lnTo>
                  <a:pt x="1490345" y="425704"/>
                </a:lnTo>
                <a:lnTo>
                  <a:pt x="1460246" y="372872"/>
                </a:lnTo>
                <a:lnTo>
                  <a:pt x="1426209" y="322580"/>
                </a:lnTo>
                <a:lnTo>
                  <a:pt x="1388490" y="275082"/>
                </a:lnTo>
                <a:lnTo>
                  <a:pt x="1347342" y="230759"/>
                </a:lnTo>
                <a:lnTo>
                  <a:pt x="1302892" y="189611"/>
                </a:lnTo>
                <a:lnTo>
                  <a:pt x="1255395" y="152019"/>
                </a:lnTo>
                <a:lnTo>
                  <a:pt x="1204976" y="117983"/>
                </a:lnTo>
                <a:lnTo>
                  <a:pt x="1151889" y="87884"/>
                </a:lnTo>
                <a:lnTo>
                  <a:pt x="1096390" y="61849"/>
                </a:lnTo>
                <a:lnTo>
                  <a:pt x="1038732" y="40132"/>
                </a:lnTo>
                <a:lnTo>
                  <a:pt x="978915" y="22860"/>
                </a:lnTo>
                <a:lnTo>
                  <a:pt x="917321" y="10287"/>
                </a:lnTo>
                <a:lnTo>
                  <a:pt x="853948" y="2667"/>
                </a:lnTo>
                <a:lnTo>
                  <a:pt x="789177" y="0"/>
                </a:lnTo>
                <a:close/>
              </a:path>
            </a:pathLst>
          </a:custGeom>
          <a:solidFill>
            <a:srgbClr val="B1C0CC"/>
          </a:solidFill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D98945B9-98E2-4DF2-86A8-88FF5D55D3E3}"/>
              </a:ext>
            </a:extLst>
          </p:cNvPr>
          <p:cNvSpPr/>
          <p:nvPr/>
        </p:nvSpPr>
        <p:spPr>
          <a:xfrm>
            <a:off x="7663466" y="5108639"/>
            <a:ext cx="1430284" cy="1427983"/>
          </a:xfrm>
          <a:custGeom>
            <a:avLst/>
            <a:gdLst/>
            <a:ahLst/>
            <a:cxnLst/>
            <a:rect l="l" t="t" r="r" b="b"/>
            <a:pathLst>
              <a:path w="1578609" h="1576070">
                <a:moveTo>
                  <a:pt x="1578482" y="787781"/>
                </a:moveTo>
                <a:lnTo>
                  <a:pt x="1575815" y="852424"/>
                </a:lnTo>
                <a:lnTo>
                  <a:pt x="1568196" y="915543"/>
                </a:lnTo>
                <a:lnTo>
                  <a:pt x="1555496" y="977138"/>
                </a:lnTo>
                <a:lnTo>
                  <a:pt x="1538224" y="1036828"/>
                </a:lnTo>
                <a:lnTo>
                  <a:pt x="1516506" y="1094486"/>
                </a:lnTo>
                <a:lnTo>
                  <a:pt x="1490345" y="1149858"/>
                </a:lnTo>
                <a:lnTo>
                  <a:pt x="1460246" y="1202817"/>
                </a:lnTo>
                <a:lnTo>
                  <a:pt x="1426209" y="1252982"/>
                </a:lnTo>
                <a:lnTo>
                  <a:pt x="1388490" y="1300480"/>
                </a:lnTo>
                <a:lnTo>
                  <a:pt x="1347342" y="1344803"/>
                </a:lnTo>
                <a:lnTo>
                  <a:pt x="1302892" y="1385951"/>
                </a:lnTo>
                <a:lnTo>
                  <a:pt x="1255395" y="1423543"/>
                </a:lnTo>
                <a:lnTo>
                  <a:pt x="1204976" y="1457579"/>
                </a:lnTo>
                <a:lnTo>
                  <a:pt x="1151889" y="1487678"/>
                </a:lnTo>
                <a:lnTo>
                  <a:pt x="1096390" y="1513713"/>
                </a:lnTo>
                <a:lnTo>
                  <a:pt x="1038732" y="1535404"/>
                </a:lnTo>
                <a:lnTo>
                  <a:pt x="978915" y="1552663"/>
                </a:lnTo>
                <a:lnTo>
                  <a:pt x="917321" y="1565249"/>
                </a:lnTo>
                <a:lnTo>
                  <a:pt x="853948" y="1572945"/>
                </a:lnTo>
                <a:lnTo>
                  <a:pt x="789177" y="1575562"/>
                </a:lnTo>
                <a:lnTo>
                  <a:pt x="724534" y="1572945"/>
                </a:lnTo>
                <a:lnTo>
                  <a:pt x="661161" y="1565249"/>
                </a:lnTo>
                <a:lnTo>
                  <a:pt x="599566" y="1552663"/>
                </a:lnTo>
                <a:lnTo>
                  <a:pt x="539750" y="1535404"/>
                </a:lnTo>
                <a:lnTo>
                  <a:pt x="482091" y="1513713"/>
                </a:lnTo>
                <a:lnTo>
                  <a:pt x="426592" y="1487678"/>
                </a:lnTo>
                <a:lnTo>
                  <a:pt x="373506" y="1457579"/>
                </a:lnTo>
                <a:lnTo>
                  <a:pt x="323087" y="1423543"/>
                </a:lnTo>
                <a:lnTo>
                  <a:pt x="275589" y="1385951"/>
                </a:lnTo>
                <a:lnTo>
                  <a:pt x="231139" y="1344803"/>
                </a:lnTo>
                <a:lnTo>
                  <a:pt x="189991" y="1300480"/>
                </a:lnTo>
                <a:lnTo>
                  <a:pt x="152273" y="1252982"/>
                </a:lnTo>
                <a:lnTo>
                  <a:pt x="118236" y="1202817"/>
                </a:lnTo>
                <a:lnTo>
                  <a:pt x="88137" y="1149858"/>
                </a:lnTo>
                <a:lnTo>
                  <a:pt x="61975" y="1094486"/>
                </a:lnTo>
                <a:lnTo>
                  <a:pt x="40258" y="1036828"/>
                </a:lnTo>
                <a:lnTo>
                  <a:pt x="22986" y="977138"/>
                </a:lnTo>
                <a:lnTo>
                  <a:pt x="10286" y="915543"/>
                </a:lnTo>
                <a:lnTo>
                  <a:pt x="2666" y="852424"/>
                </a:lnTo>
                <a:lnTo>
                  <a:pt x="0" y="787781"/>
                </a:lnTo>
                <a:lnTo>
                  <a:pt x="2666" y="723138"/>
                </a:lnTo>
                <a:lnTo>
                  <a:pt x="10286" y="660019"/>
                </a:lnTo>
                <a:lnTo>
                  <a:pt x="22986" y="598424"/>
                </a:lnTo>
                <a:lnTo>
                  <a:pt x="40258" y="538734"/>
                </a:lnTo>
                <a:lnTo>
                  <a:pt x="61975" y="481203"/>
                </a:lnTo>
                <a:lnTo>
                  <a:pt x="88137" y="425704"/>
                </a:lnTo>
                <a:lnTo>
                  <a:pt x="118236" y="372872"/>
                </a:lnTo>
                <a:lnTo>
                  <a:pt x="152273" y="322580"/>
                </a:lnTo>
                <a:lnTo>
                  <a:pt x="189991" y="275082"/>
                </a:lnTo>
                <a:lnTo>
                  <a:pt x="231139" y="230759"/>
                </a:lnTo>
                <a:lnTo>
                  <a:pt x="275589" y="189611"/>
                </a:lnTo>
                <a:lnTo>
                  <a:pt x="323087" y="152019"/>
                </a:lnTo>
                <a:lnTo>
                  <a:pt x="373506" y="117983"/>
                </a:lnTo>
                <a:lnTo>
                  <a:pt x="426592" y="87884"/>
                </a:lnTo>
                <a:lnTo>
                  <a:pt x="482091" y="61849"/>
                </a:lnTo>
                <a:lnTo>
                  <a:pt x="539750" y="40132"/>
                </a:lnTo>
                <a:lnTo>
                  <a:pt x="599566" y="22860"/>
                </a:lnTo>
                <a:lnTo>
                  <a:pt x="661161" y="10287"/>
                </a:lnTo>
                <a:lnTo>
                  <a:pt x="724534" y="2667"/>
                </a:lnTo>
                <a:lnTo>
                  <a:pt x="789177" y="0"/>
                </a:lnTo>
                <a:lnTo>
                  <a:pt x="853948" y="2667"/>
                </a:lnTo>
                <a:lnTo>
                  <a:pt x="917321" y="10287"/>
                </a:lnTo>
                <a:lnTo>
                  <a:pt x="978915" y="22860"/>
                </a:lnTo>
                <a:lnTo>
                  <a:pt x="1038732" y="40132"/>
                </a:lnTo>
                <a:lnTo>
                  <a:pt x="1096390" y="61849"/>
                </a:lnTo>
                <a:lnTo>
                  <a:pt x="1151889" y="87884"/>
                </a:lnTo>
                <a:lnTo>
                  <a:pt x="1204976" y="117983"/>
                </a:lnTo>
                <a:lnTo>
                  <a:pt x="1255395" y="152019"/>
                </a:lnTo>
                <a:lnTo>
                  <a:pt x="1302892" y="189611"/>
                </a:lnTo>
                <a:lnTo>
                  <a:pt x="1347342" y="230759"/>
                </a:lnTo>
                <a:lnTo>
                  <a:pt x="1388490" y="275082"/>
                </a:lnTo>
                <a:lnTo>
                  <a:pt x="1426209" y="322580"/>
                </a:lnTo>
                <a:lnTo>
                  <a:pt x="1460246" y="372872"/>
                </a:lnTo>
                <a:lnTo>
                  <a:pt x="1490345" y="425704"/>
                </a:lnTo>
                <a:lnTo>
                  <a:pt x="1516506" y="481203"/>
                </a:lnTo>
                <a:lnTo>
                  <a:pt x="1538224" y="538734"/>
                </a:lnTo>
                <a:lnTo>
                  <a:pt x="1555496" y="598424"/>
                </a:lnTo>
                <a:lnTo>
                  <a:pt x="1568196" y="660019"/>
                </a:lnTo>
                <a:lnTo>
                  <a:pt x="1575815" y="723138"/>
                </a:lnTo>
                <a:lnTo>
                  <a:pt x="1578482" y="78778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D3FDB091-2C4F-4FB9-B237-927B6D7E3526}"/>
              </a:ext>
            </a:extLst>
          </p:cNvPr>
          <p:cNvSpPr/>
          <p:nvPr/>
        </p:nvSpPr>
        <p:spPr>
          <a:xfrm>
            <a:off x="7942390" y="5384800"/>
            <a:ext cx="897523" cy="897523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54659" y="1651"/>
                </a:lnTo>
                <a:lnTo>
                  <a:pt x="414908" y="6477"/>
                </a:lnTo>
                <a:lnTo>
                  <a:pt x="376300" y="14351"/>
                </a:lnTo>
                <a:lnTo>
                  <a:pt x="338708" y="25273"/>
                </a:lnTo>
                <a:lnTo>
                  <a:pt x="302513" y="38862"/>
                </a:lnTo>
                <a:lnTo>
                  <a:pt x="267715" y="55245"/>
                </a:lnTo>
                <a:lnTo>
                  <a:pt x="234441" y="74168"/>
                </a:lnTo>
                <a:lnTo>
                  <a:pt x="202818" y="95504"/>
                </a:lnTo>
                <a:lnTo>
                  <a:pt x="145033" y="145034"/>
                </a:lnTo>
                <a:lnTo>
                  <a:pt x="95503" y="202819"/>
                </a:lnTo>
                <a:lnTo>
                  <a:pt x="74167" y="234442"/>
                </a:lnTo>
                <a:lnTo>
                  <a:pt x="55244" y="267716"/>
                </a:lnTo>
                <a:lnTo>
                  <a:pt x="38861" y="302514"/>
                </a:lnTo>
                <a:lnTo>
                  <a:pt x="25273" y="338709"/>
                </a:lnTo>
                <a:lnTo>
                  <a:pt x="14350" y="376301"/>
                </a:lnTo>
                <a:lnTo>
                  <a:pt x="6476" y="414909"/>
                </a:lnTo>
                <a:lnTo>
                  <a:pt x="1650" y="454660"/>
                </a:lnTo>
                <a:lnTo>
                  <a:pt x="0" y="495300"/>
                </a:lnTo>
                <a:lnTo>
                  <a:pt x="1650" y="535940"/>
                </a:lnTo>
                <a:lnTo>
                  <a:pt x="6476" y="575691"/>
                </a:lnTo>
                <a:lnTo>
                  <a:pt x="14350" y="614299"/>
                </a:lnTo>
                <a:lnTo>
                  <a:pt x="25273" y="651891"/>
                </a:lnTo>
                <a:lnTo>
                  <a:pt x="38861" y="688086"/>
                </a:lnTo>
                <a:lnTo>
                  <a:pt x="55244" y="722884"/>
                </a:lnTo>
                <a:lnTo>
                  <a:pt x="74167" y="756158"/>
                </a:lnTo>
                <a:lnTo>
                  <a:pt x="95503" y="787781"/>
                </a:lnTo>
                <a:lnTo>
                  <a:pt x="145033" y="845566"/>
                </a:lnTo>
                <a:lnTo>
                  <a:pt x="202818" y="895096"/>
                </a:lnTo>
                <a:lnTo>
                  <a:pt x="234441" y="916432"/>
                </a:lnTo>
                <a:lnTo>
                  <a:pt x="267715" y="935355"/>
                </a:lnTo>
                <a:lnTo>
                  <a:pt x="302513" y="951738"/>
                </a:lnTo>
                <a:lnTo>
                  <a:pt x="338708" y="965327"/>
                </a:lnTo>
                <a:lnTo>
                  <a:pt x="376300" y="976249"/>
                </a:lnTo>
                <a:lnTo>
                  <a:pt x="414908" y="984123"/>
                </a:lnTo>
                <a:lnTo>
                  <a:pt x="454659" y="988949"/>
                </a:lnTo>
                <a:lnTo>
                  <a:pt x="495300" y="990600"/>
                </a:lnTo>
                <a:lnTo>
                  <a:pt x="535939" y="988949"/>
                </a:lnTo>
                <a:lnTo>
                  <a:pt x="575690" y="984123"/>
                </a:lnTo>
                <a:lnTo>
                  <a:pt x="614299" y="976249"/>
                </a:lnTo>
                <a:lnTo>
                  <a:pt x="651890" y="965327"/>
                </a:lnTo>
                <a:lnTo>
                  <a:pt x="688085" y="951738"/>
                </a:lnTo>
                <a:lnTo>
                  <a:pt x="722883" y="935355"/>
                </a:lnTo>
                <a:lnTo>
                  <a:pt x="756157" y="916432"/>
                </a:lnTo>
                <a:lnTo>
                  <a:pt x="787780" y="895096"/>
                </a:lnTo>
                <a:lnTo>
                  <a:pt x="845565" y="845566"/>
                </a:lnTo>
                <a:lnTo>
                  <a:pt x="895096" y="787781"/>
                </a:lnTo>
                <a:lnTo>
                  <a:pt x="916431" y="756158"/>
                </a:lnTo>
                <a:lnTo>
                  <a:pt x="935354" y="722884"/>
                </a:lnTo>
                <a:lnTo>
                  <a:pt x="951737" y="688086"/>
                </a:lnTo>
                <a:lnTo>
                  <a:pt x="965326" y="651891"/>
                </a:lnTo>
                <a:lnTo>
                  <a:pt x="976249" y="614299"/>
                </a:lnTo>
                <a:lnTo>
                  <a:pt x="984123" y="575691"/>
                </a:lnTo>
                <a:lnTo>
                  <a:pt x="988949" y="535940"/>
                </a:lnTo>
                <a:lnTo>
                  <a:pt x="990600" y="495300"/>
                </a:lnTo>
                <a:lnTo>
                  <a:pt x="988949" y="454660"/>
                </a:lnTo>
                <a:lnTo>
                  <a:pt x="984123" y="414909"/>
                </a:lnTo>
                <a:lnTo>
                  <a:pt x="976249" y="376301"/>
                </a:lnTo>
                <a:lnTo>
                  <a:pt x="965326" y="338709"/>
                </a:lnTo>
                <a:lnTo>
                  <a:pt x="951737" y="302514"/>
                </a:lnTo>
                <a:lnTo>
                  <a:pt x="935354" y="267716"/>
                </a:lnTo>
                <a:lnTo>
                  <a:pt x="916431" y="234442"/>
                </a:lnTo>
                <a:lnTo>
                  <a:pt x="895096" y="202819"/>
                </a:lnTo>
                <a:lnTo>
                  <a:pt x="845565" y="145034"/>
                </a:lnTo>
                <a:lnTo>
                  <a:pt x="787780" y="95504"/>
                </a:lnTo>
                <a:lnTo>
                  <a:pt x="756157" y="74168"/>
                </a:lnTo>
                <a:lnTo>
                  <a:pt x="722883" y="55245"/>
                </a:lnTo>
                <a:lnTo>
                  <a:pt x="688085" y="38862"/>
                </a:lnTo>
                <a:lnTo>
                  <a:pt x="651890" y="25273"/>
                </a:lnTo>
                <a:lnTo>
                  <a:pt x="614299" y="14351"/>
                </a:lnTo>
                <a:lnTo>
                  <a:pt x="575690" y="6477"/>
                </a:lnTo>
                <a:lnTo>
                  <a:pt x="535939" y="1651"/>
                </a:lnTo>
                <a:lnTo>
                  <a:pt x="495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83CDF911-A0DC-4BD9-B73E-2600882227E6}"/>
              </a:ext>
            </a:extLst>
          </p:cNvPr>
          <p:cNvSpPr/>
          <p:nvPr/>
        </p:nvSpPr>
        <p:spPr>
          <a:xfrm>
            <a:off x="7942390" y="5384800"/>
            <a:ext cx="897523" cy="897523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990600" y="495300"/>
                </a:moveTo>
                <a:lnTo>
                  <a:pt x="988949" y="535940"/>
                </a:lnTo>
                <a:lnTo>
                  <a:pt x="984123" y="575691"/>
                </a:lnTo>
                <a:lnTo>
                  <a:pt x="976249" y="614299"/>
                </a:lnTo>
                <a:lnTo>
                  <a:pt x="965326" y="651891"/>
                </a:lnTo>
                <a:lnTo>
                  <a:pt x="951737" y="688086"/>
                </a:lnTo>
                <a:lnTo>
                  <a:pt x="935354" y="722884"/>
                </a:lnTo>
                <a:lnTo>
                  <a:pt x="916431" y="756158"/>
                </a:lnTo>
                <a:lnTo>
                  <a:pt x="895096" y="787781"/>
                </a:lnTo>
                <a:lnTo>
                  <a:pt x="845565" y="845566"/>
                </a:lnTo>
                <a:lnTo>
                  <a:pt x="787780" y="895096"/>
                </a:lnTo>
                <a:lnTo>
                  <a:pt x="756157" y="916432"/>
                </a:lnTo>
                <a:lnTo>
                  <a:pt x="722883" y="935355"/>
                </a:lnTo>
                <a:lnTo>
                  <a:pt x="688085" y="951738"/>
                </a:lnTo>
                <a:lnTo>
                  <a:pt x="651890" y="965327"/>
                </a:lnTo>
                <a:lnTo>
                  <a:pt x="614299" y="976249"/>
                </a:lnTo>
                <a:lnTo>
                  <a:pt x="575690" y="984123"/>
                </a:lnTo>
                <a:lnTo>
                  <a:pt x="535939" y="988949"/>
                </a:lnTo>
                <a:lnTo>
                  <a:pt x="495300" y="990600"/>
                </a:lnTo>
                <a:lnTo>
                  <a:pt x="454659" y="988949"/>
                </a:lnTo>
                <a:lnTo>
                  <a:pt x="414908" y="984123"/>
                </a:lnTo>
                <a:lnTo>
                  <a:pt x="376300" y="976249"/>
                </a:lnTo>
                <a:lnTo>
                  <a:pt x="338708" y="965327"/>
                </a:lnTo>
                <a:lnTo>
                  <a:pt x="302513" y="951738"/>
                </a:lnTo>
                <a:lnTo>
                  <a:pt x="267715" y="935355"/>
                </a:lnTo>
                <a:lnTo>
                  <a:pt x="234441" y="916432"/>
                </a:lnTo>
                <a:lnTo>
                  <a:pt x="202818" y="895096"/>
                </a:lnTo>
                <a:lnTo>
                  <a:pt x="145033" y="845566"/>
                </a:lnTo>
                <a:lnTo>
                  <a:pt x="95503" y="787781"/>
                </a:lnTo>
                <a:lnTo>
                  <a:pt x="74167" y="756158"/>
                </a:lnTo>
                <a:lnTo>
                  <a:pt x="55244" y="722884"/>
                </a:lnTo>
                <a:lnTo>
                  <a:pt x="38861" y="688086"/>
                </a:lnTo>
                <a:lnTo>
                  <a:pt x="25273" y="651891"/>
                </a:lnTo>
                <a:lnTo>
                  <a:pt x="14350" y="614299"/>
                </a:lnTo>
                <a:lnTo>
                  <a:pt x="6476" y="575691"/>
                </a:lnTo>
                <a:lnTo>
                  <a:pt x="1650" y="535940"/>
                </a:lnTo>
                <a:lnTo>
                  <a:pt x="0" y="495300"/>
                </a:lnTo>
                <a:lnTo>
                  <a:pt x="1650" y="454660"/>
                </a:lnTo>
                <a:lnTo>
                  <a:pt x="6476" y="414909"/>
                </a:lnTo>
                <a:lnTo>
                  <a:pt x="14350" y="376301"/>
                </a:lnTo>
                <a:lnTo>
                  <a:pt x="25273" y="338709"/>
                </a:lnTo>
                <a:lnTo>
                  <a:pt x="38861" y="302514"/>
                </a:lnTo>
                <a:lnTo>
                  <a:pt x="55244" y="267716"/>
                </a:lnTo>
                <a:lnTo>
                  <a:pt x="74167" y="234442"/>
                </a:lnTo>
                <a:lnTo>
                  <a:pt x="95503" y="202819"/>
                </a:lnTo>
                <a:lnTo>
                  <a:pt x="145033" y="145034"/>
                </a:lnTo>
                <a:lnTo>
                  <a:pt x="202818" y="95504"/>
                </a:lnTo>
                <a:lnTo>
                  <a:pt x="234441" y="74168"/>
                </a:lnTo>
                <a:lnTo>
                  <a:pt x="267715" y="55245"/>
                </a:lnTo>
                <a:lnTo>
                  <a:pt x="302513" y="38862"/>
                </a:lnTo>
                <a:lnTo>
                  <a:pt x="338708" y="25273"/>
                </a:lnTo>
                <a:lnTo>
                  <a:pt x="376300" y="14351"/>
                </a:lnTo>
                <a:lnTo>
                  <a:pt x="414908" y="6477"/>
                </a:lnTo>
                <a:lnTo>
                  <a:pt x="454659" y="1651"/>
                </a:lnTo>
                <a:lnTo>
                  <a:pt x="495300" y="0"/>
                </a:lnTo>
                <a:lnTo>
                  <a:pt x="535939" y="1651"/>
                </a:lnTo>
                <a:lnTo>
                  <a:pt x="575690" y="6477"/>
                </a:lnTo>
                <a:lnTo>
                  <a:pt x="614299" y="14351"/>
                </a:lnTo>
                <a:lnTo>
                  <a:pt x="651890" y="25273"/>
                </a:lnTo>
                <a:lnTo>
                  <a:pt x="688085" y="38862"/>
                </a:lnTo>
                <a:lnTo>
                  <a:pt x="722883" y="55245"/>
                </a:lnTo>
                <a:lnTo>
                  <a:pt x="756157" y="74168"/>
                </a:lnTo>
                <a:lnTo>
                  <a:pt x="787780" y="95504"/>
                </a:lnTo>
                <a:lnTo>
                  <a:pt x="845565" y="145034"/>
                </a:lnTo>
                <a:lnTo>
                  <a:pt x="895096" y="202819"/>
                </a:lnTo>
                <a:lnTo>
                  <a:pt x="916431" y="234442"/>
                </a:lnTo>
                <a:lnTo>
                  <a:pt x="935354" y="267716"/>
                </a:lnTo>
                <a:lnTo>
                  <a:pt x="951737" y="302514"/>
                </a:lnTo>
                <a:lnTo>
                  <a:pt x="965326" y="338709"/>
                </a:lnTo>
                <a:lnTo>
                  <a:pt x="976249" y="376301"/>
                </a:lnTo>
                <a:lnTo>
                  <a:pt x="984123" y="414909"/>
                </a:lnTo>
                <a:lnTo>
                  <a:pt x="988949" y="454660"/>
                </a:lnTo>
                <a:lnTo>
                  <a:pt x="990600" y="4953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87977D27-D7B3-48C6-9781-4F046B200525}"/>
              </a:ext>
            </a:extLst>
          </p:cNvPr>
          <p:cNvSpPr txBox="1"/>
          <p:nvPr/>
        </p:nvSpPr>
        <p:spPr>
          <a:xfrm>
            <a:off x="8371015" y="5087696"/>
            <a:ext cx="328517" cy="693601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>
              <a:spcBef>
                <a:spcPts val="91"/>
              </a:spcBef>
            </a:pPr>
            <a:r>
              <a:rPr sz="2174" dirty="0">
                <a:latin typeface="Arial"/>
                <a:cs typeface="Arial"/>
              </a:rPr>
              <a:t>B</a:t>
            </a:r>
            <a:endParaRPr sz="2174">
              <a:latin typeface="Arial"/>
              <a:cs typeface="Arial"/>
            </a:endParaRPr>
          </a:p>
          <a:p>
            <a:pPr marL="132321">
              <a:spcBef>
                <a:spcPts val="86"/>
              </a:spcBef>
            </a:pPr>
            <a:r>
              <a:rPr sz="2174" dirty="0">
                <a:latin typeface="Arial"/>
                <a:cs typeface="Arial"/>
              </a:rPr>
              <a:t>A</a:t>
            </a:r>
            <a:endParaRPr sz="2174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1808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5409"/>
            <a:ext cx="10515600" cy="90506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Subsets</a:t>
            </a: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…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Examples</a:t>
            </a:r>
            <a:endParaRPr lang="en-US" sz="40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0478"/>
            <a:ext cx="10515600" cy="4357043"/>
          </a:xfrm>
        </p:spPr>
        <p:txBody>
          <a:bodyPr>
            <a:norm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Let 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= {1, 3, 5}, 	B = {1, 2, 3, 4, 5}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C = {1, 2, 3, 4},  D = {3, 1, 5}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Then 	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 B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( Because every element of A is in B )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 B 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( Because every element of  C is also an element of B )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 D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( Because every element of  A is also an element of D and also note that every element of D is in A so D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 A )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A ⊈ C </a:t>
            </a:r>
            <a:r>
              <a:rPr lang="en-US" sz="24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( Because there is an element 5 of A which is not in C )</a:t>
            </a:r>
          </a:p>
        </p:txBody>
      </p:sp>
    </p:spTree>
    <p:extLst>
      <p:ext uri="{BB962C8B-B14F-4D97-AF65-F5344CB8AC3E}">
        <p14:creationId xmlns:p14="http://schemas.microsoft.com/office/powerpoint/2010/main" val="3176675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89120" y="453272"/>
            <a:ext cx="9477555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3600" y="1371601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Bef>
                <a:spcPct val="50000"/>
              </a:spcBef>
            </a:pPr>
            <a:endParaRPr lang="en-US" sz="24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89120" y="1793081"/>
            <a:ext cx="339769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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{x}	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{x}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 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{x}	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{x}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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{x}		</a:t>
            </a:r>
            <a:endParaRPr lang="en-US" sz="24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{x}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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{{x}}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 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{x}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 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{x}</a:t>
            </a: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800350" y="74295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5D04A-754A-E5E0-141D-F2E4B92627DC}"/>
              </a:ext>
            </a:extLst>
          </p:cNvPr>
          <p:cNvSpPr txBox="1"/>
          <p:nvPr/>
        </p:nvSpPr>
        <p:spPr>
          <a:xfrm>
            <a:off x="3822410" y="1871670"/>
            <a:ext cx="8644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269109"/>
                </a:solidFill>
                <a:latin typeface="Cambria Math" pitchFamily="18" charset="0"/>
                <a:ea typeface="Cambria Math" pitchFamily="18" charset="0"/>
              </a:rPr>
              <a:t>TRUE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240954-94F4-ACD4-9355-770659981943}"/>
              </a:ext>
            </a:extLst>
          </p:cNvPr>
          <p:cNvSpPr txBox="1"/>
          <p:nvPr/>
        </p:nvSpPr>
        <p:spPr>
          <a:xfrm>
            <a:off x="3822410" y="2490515"/>
            <a:ext cx="8644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269109"/>
                </a:solidFill>
                <a:latin typeface="Cambria Math" pitchFamily="18" charset="0"/>
                <a:ea typeface="Cambria Math" pitchFamily="18" charset="0"/>
              </a:rPr>
              <a:t>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4120B-66AF-3771-E192-B528BCF27C9A}"/>
              </a:ext>
            </a:extLst>
          </p:cNvPr>
          <p:cNvSpPr txBox="1"/>
          <p:nvPr/>
        </p:nvSpPr>
        <p:spPr>
          <a:xfrm>
            <a:off x="3817680" y="4593848"/>
            <a:ext cx="9312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8BC68-93D5-7014-06ED-2BA1489BBC83}"/>
              </a:ext>
            </a:extLst>
          </p:cNvPr>
          <p:cNvSpPr txBox="1"/>
          <p:nvPr/>
        </p:nvSpPr>
        <p:spPr>
          <a:xfrm>
            <a:off x="3788971" y="3557146"/>
            <a:ext cx="8644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269109"/>
                </a:solidFill>
                <a:latin typeface="Cambria Math" pitchFamily="18" charset="0"/>
                <a:ea typeface="Cambria Math" pitchFamily="18" charset="0"/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89D86-1683-5894-70CC-85CFF7F8E937}"/>
              </a:ext>
            </a:extLst>
          </p:cNvPr>
          <p:cNvSpPr txBox="1"/>
          <p:nvPr/>
        </p:nvSpPr>
        <p:spPr>
          <a:xfrm>
            <a:off x="3817680" y="4119080"/>
            <a:ext cx="8644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269109"/>
                </a:solidFill>
                <a:latin typeface="Cambria Math" pitchFamily="18" charset="0"/>
                <a:ea typeface="Cambria Math" pitchFamily="18" charset="0"/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C06DF-8D0B-54C4-2DF1-E29E92198192}"/>
              </a:ext>
            </a:extLst>
          </p:cNvPr>
          <p:cNvSpPr txBox="1"/>
          <p:nvPr/>
        </p:nvSpPr>
        <p:spPr>
          <a:xfrm>
            <a:off x="3788971" y="3008865"/>
            <a:ext cx="9312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74111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2" y="446883"/>
            <a:ext cx="10515600" cy="905069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Proper Subsets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72" y="1601539"/>
            <a:ext cx="10515600" cy="4357043"/>
          </a:xfrm>
        </p:spPr>
        <p:txBody>
          <a:bodyPr>
            <a:normAutofit/>
          </a:bodyPr>
          <a:lstStyle/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Let A and B be sets. A is a proper subset of B, if, and only if, every element of A is in B but there is at least one element of B that is not in A, and is denoted as A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 B.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b="1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EXAMPLE</a:t>
            </a:r>
            <a:endParaRPr lang="en-US" sz="2400" dirty="0">
              <a:latin typeface="Cambria Math" pitchFamily="18" charset="0"/>
              <a:ea typeface="Cambria Math" pitchFamily="18" charset="0"/>
              <a:sym typeface="Symbol" pitchFamily="18" charset="2"/>
            </a:endParaRP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Let A = {1, 3, 5},	B = {1, 2, 3, 5} then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 B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(Because there is an element 2 of  B which is not in A)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b="1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EXAMPLE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It is very easy to note that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N  Z  Q  R  C</a:t>
            </a:r>
          </a:p>
        </p:txBody>
      </p:sp>
    </p:spTree>
    <p:extLst>
      <p:ext uri="{BB962C8B-B14F-4D97-AF65-F5344CB8AC3E}">
        <p14:creationId xmlns:p14="http://schemas.microsoft.com/office/powerpoint/2010/main" val="464056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549" y="420424"/>
            <a:ext cx="9601196" cy="76939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Set Equality</a:t>
            </a:r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FC9D9-3501-B2E4-4E78-8EFD0FB32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549" y="1258774"/>
            <a:ext cx="10693508" cy="5178802"/>
          </a:xfrm>
        </p:spPr>
        <p:txBody>
          <a:bodyPr>
            <a:normAutofit/>
          </a:bodyPr>
          <a:lstStyle/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Two sets A and B are equal if, and only if, every element of A is in B and every element of B is in A. Equal sets are denoted as </a:t>
            </a:r>
            <a:r>
              <a:rPr lang="en-US" sz="24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A = B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.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b="1" dirty="0">
                <a:latin typeface="Cambria Math" pitchFamily="18" charset="0"/>
                <a:ea typeface="Cambria Math" pitchFamily="18" charset="0"/>
              </a:rPr>
              <a:t>Symbolically: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>
                <a:latin typeface="Cambria Math" pitchFamily="18" charset="0"/>
                <a:ea typeface="Cambria Math" pitchFamily="18" charset="0"/>
              </a:rPr>
              <a:t>		 	</a:t>
            </a: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= B </a:t>
            </a:r>
            <a:r>
              <a:rPr lang="en-US" sz="2400" b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iff</a:t>
            </a: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 </a:t>
            </a: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</a:t>
            </a: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 and B </a:t>
            </a: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</a:t>
            </a: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EXAMPLE: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>
                <a:latin typeface="Cambria Math" pitchFamily="18" charset="0"/>
                <a:ea typeface="Cambria Math" pitchFamily="18" charset="0"/>
              </a:rPr>
              <a:t>Given that A = {1, 2, 3, 6},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>
                <a:latin typeface="Cambria Math" pitchFamily="18" charset="0"/>
                <a:ea typeface="Cambria Math" pitchFamily="18" charset="0"/>
              </a:rPr>
              <a:t>B = The set of positive divisors of 6,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>
                <a:latin typeface="Cambria Math" pitchFamily="18" charset="0"/>
                <a:ea typeface="Cambria Math" pitchFamily="18" charset="0"/>
              </a:rPr>
              <a:t>C = {3, 1, 6, 2},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>
                <a:latin typeface="Cambria Math" pitchFamily="18" charset="0"/>
                <a:ea typeface="Cambria Math" pitchFamily="18" charset="0"/>
              </a:rPr>
              <a:t>D = {1, 2, 2, 3, 6, 6, 6}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>
                <a:latin typeface="Cambria Math" pitchFamily="18" charset="0"/>
                <a:ea typeface="Cambria Math" pitchFamily="18" charset="0"/>
              </a:rPr>
              <a:t>Then A, B, C, and D are all equal sets. </a:t>
            </a:r>
          </a:p>
        </p:txBody>
      </p:sp>
    </p:spTree>
    <p:extLst>
      <p:ext uri="{BB962C8B-B14F-4D97-AF65-F5344CB8AC3E}">
        <p14:creationId xmlns:p14="http://schemas.microsoft.com/office/powerpoint/2010/main" val="3689709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55574" y="1890729"/>
            <a:ext cx="10762685" cy="3458135"/>
          </a:xfrm>
          <a:prstGeom prst="rect">
            <a:avLst/>
          </a:prstGeom>
        </p:spPr>
        <p:txBody>
          <a:bodyPr vert="horz" wrap="square" lIns="0" tIns="10931" rIns="0" bIns="0" rtlCol="0">
            <a:spAutoFit/>
          </a:bodyPr>
          <a:lstStyle/>
          <a:p>
            <a:pPr marL="11506">
              <a:spcBef>
                <a:spcPts val="86"/>
              </a:spcBef>
            </a:pPr>
            <a:r>
              <a:rPr sz="2800" spc="-9" dirty="0">
                <a:cs typeface="Calibri"/>
              </a:rPr>
              <a:t>Let </a:t>
            </a:r>
            <a:r>
              <a:rPr sz="2800" spc="-5" dirty="0">
                <a:cs typeface="Calibri"/>
              </a:rPr>
              <a:t>S be a</a:t>
            </a:r>
            <a:r>
              <a:rPr sz="2800" spc="5" dirty="0">
                <a:cs typeface="Calibri"/>
              </a:rPr>
              <a:t> </a:t>
            </a:r>
            <a:r>
              <a:rPr sz="2800" spc="-9" dirty="0">
                <a:cs typeface="Calibri"/>
              </a:rPr>
              <a:t>set.</a:t>
            </a:r>
            <a:endParaRPr sz="2800" dirty="0">
              <a:cs typeface="Calibri"/>
            </a:endParaRPr>
          </a:p>
          <a:p>
            <a:pPr>
              <a:spcBef>
                <a:spcPts val="18"/>
              </a:spcBef>
            </a:pPr>
            <a:endParaRPr sz="2800" dirty="0">
              <a:cs typeface="Times New Roman"/>
            </a:endParaRPr>
          </a:p>
          <a:p>
            <a:pPr marL="498794" indent="-487288">
              <a:spcBef>
                <a:spcPts val="5"/>
              </a:spcBef>
              <a:buFont typeface="Arial"/>
              <a:buChar char="•"/>
              <a:tabLst>
                <a:tab pos="498794" algn="l"/>
                <a:tab pos="499369" algn="l"/>
              </a:tabLst>
            </a:pPr>
            <a:r>
              <a:rPr sz="2800" spc="-5" dirty="0">
                <a:cs typeface="Calibri"/>
              </a:rPr>
              <a:t>The </a:t>
            </a:r>
            <a:r>
              <a:rPr sz="2800" spc="-9" dirty="0">
                <a:solidFill>
                  <a:srgbClr val="FF0000"/>
                </a:solidFill>
                <a:cs typeface="Calibri"/>
              </a:rPr>
              <a:t>power set </a:t>
            </a:r>
            <a:r>
              <a:rPr sz="2800" spc="-5" dirty="0">
                <a:cs typeface="Calibri"/>
              </a:rPr>
              <a:t>of S is the </a:t>
            </a:r>
            <a:r>
              <a:rPr sz="2800" spc="-9" dirty="0">
                <a:cs typeface="Calibri"/>
              </a:rPr>
              <a:t>set </a:t>
            </a:r>
            <a:r>
              <a:rPr sz="2800" spc="-5" dirty="0">
                <a:cs typeface="Calibri"/>
              </a:rPr>
              <a:t>of all </a:t>
            </a:r>
            <a:r>
              <a:rPr sz="2800" spc="-9" dirty="0">
                <a:cs typeface="Calibri"/>
              </a:rPr>
              <a:t>subsets </a:t>
            </a:r>
            <a:r>
              <a:rPr sz="2800" spc="-5" dirty="0">
                <a:cs typeface="Calibri"/>
              </a:rPr>
              <a:t>of S, </a:t>
            </a:r>
            <a:r>
              <a:rPr sz="2800" spc="-9" dirty="0">
                <a:cs typeface="Calibri"/>
              </a:rPr>
              <a:t>denoted </a:t>
            </a:r>
            <a:r>
              <a:rPr sz="2800" spc="-14" dirty="0">
                <a:cs typeface="Calibri"/>
              </a:rPr>
              <a:t>by</a:t>
            </a:r>
            <a:r>
              <a:rPr sz="2800" spc="149" dirty="0"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P(S)</a:t>
            </a:r>
            <a:r>
              <a:rPr sz="2800" spc="-5" dirty="0">
                <a:cs typeface="Calibri"/>
              </a:rPr>
              <a:t>.</a:t>
            </a:r>
            <a:endParaRPr lang="en-US" sz="2800" spc="-5" dirty="0">
              <a:cs typeface="Calibri"/>
            </a:endParaRPr>
          </a:p>
          <a:p>
            <a:pPr marL="498794" indent="-487288">
              <a:spcBef>
                <a:spcPts val="5"/>
              </a:spcBef>
              <a:buFont typeface="Arial"/>
              <a:buChar char="•"/>
              <a:tabLst>
                <a:tab pos="498794" algn="l"/>
                <a:tab pos="499369" algn="l"/>
              </a:tabLst>
            </a:pPr>
            <a:endParaRPr lang="en-US" sz="2800" spc="-5" dirty="0">
              <a:cs typeface="Calibri"/>
            </a:endParaRPr>
          </a:p>
          <a:p>
            <a:pPr marL="498794" indent="-487288">
              <a:spcBef>
                <a:spcPts val="5"/>
              </a:spcBef>
              <a:buFont typeface="Arial"/>
              <a:buChar char="•"/>
              <a:tabLst>
                <a:tab pos="498794" algn="l"/>
                <a:tab pos="499369" algn="l"/>
              </a:tabLst>
            </a:pPr>
            <a:r>
              <a:rPr sz="2800" spc="-5" dirty="0">
                <a:cs typeface="Calibri"/>
              </a:rPr>
              <a:t>If a </a:t>
            </a:r>
            <a:r>
              <a:rPr sz="2800" spc="-9" dirty="0">
                <a:cs typeface="Calibri"/>
              </a:rPr>
              <a:t>set has </a:t>
            </a:r>
            <a:r>
              <a:rPr sz="2800" spc="-5" dirty="0">
                <a:cs typeface="Calibri"/>
              </a:rPr>
              <a:t>n </a:t>
            </a:r>
            <a:r>
              <a:rPr sz="2800" spc="-9" dirty="0">
                <a:cs typeface="Calibri"/>
              </a:rPr>
              <a:t>elements, </a:t>
            </a:r>
            <a:r>
              <a:rPr sz="2800" spc="-5" dirty="0">
                <a:cs typeface="Calibri"/>
              </a:rPr>
              <a:t>then its </a:t>
            </a:r>
            <a:r>
              <a:rPr sz="2800" spc="-14" dirty="0">
                <a:cs typeface="Calibri"/>
              </a:rPr>
              <a:t>power </a:t>
            </a:r>
            <a:r>
              <a:rPr sz="2800" spc="-9" dirty="0">
                <a:cs typeface="Calibri"/>
              </a:rPr>
              <a:t>set has  </a:t>
            </a:r>
            <a:r>
              <a:rPr sz="2800" dirty="0">
                <a:solidFill>
                  <a:srgbClr val="FF0000"/>
                </a:solidFill>
                <a:cs typeface="Calibri"/>
              </a:rPr>
              <a:t>2</a:t>
            </a:r>
            <a:r>
              <a:rPr sz="2800" i="1" baseline="25525" dirty="0">
                <a:solidFill>
                  <a:srgbClr val="FF0000"/>
                </a:solidFill>
                <a:cs typeface="Calibri"/>
              </a:rPr>
              <a:t>n</a:t>
            </a:r>
            <a:r>
              <a:rPr lang="en-US" sz="2800" i="1" baseline="25525" dirty="0">
                <a:solidFill>
                  <a:srgbClr val="FF0000"/>
                </a:solidFill>
                <a:cs typeface="Calibri"/>
              </a:rPr>
              <a:t> </a:t>
            </a:r>
            <a:r>
              <a:rPr sz="2800" spc="-9" dirty="0">
                <a:cs typeface="Calibri"/>
              </a:rPr>
              <a:t>elements</a:t>
            </a:r>
            <a:endParaRPr sz="2800" dirty="0">
              <a:cs typeface="Calibri"/>
            </a:endParaRPr>
          </a:p>
          <a:p>
            <a:pPr>
              <a:spcBef>
                <a:spcPts val="18"/>
              </a:spcBef>
            </a:pPr>
            <a:endParaRPr sz="2800" dirty="0">
              <a:cs typeface="Times New Roman"/>
            </a:endParaRPr>
          </a:p>
          <a:p>
            <a:pPr marL="11506"/>
            <a:r>
              <a:rPr sz="2800" spc="-14" dirty="0">
                <a:solidFill>
                  <a:srgbClr val="FF0000"/>
                </a:solidFill>
                <a:cs typeface="Calibri"/>
              </a:rPr>
              <a:t>Example</a:t>
            </a:r>
            <a:r>
              <a:rPr sz="2800" spc="-14" dirty="0">
                <a:cs typeface="Calibri"/>
              </a:rPr>
              <a:t>:</a:t>
            </a:r>
            <a:endParaRPr sz="2800" dirty="0">
              <a:cs typeface="Calibri"/>
            </a:endParaRPr>
          </a:p>
          <a:p>
            <a:pPr marL="11506"/>
            <a:r>
              <a:rPr lang="en-US" sz="2800" spc="-5" dirty="0">
                <a:cs typeface="Calibri"/>
              </a:rPr>
              <a:t>		</a:t>
            </a:r>
            <a:r>
              <a:rPr sz="2800" spc="-5" dirty="0">
                <a:cs typeface="Calibri"/>
              </a:rPr>
              <a:t>P({a ,b }) = </a:t>
            </a:r>
            <a:r>
              <a:rPr sz="2800" spc="-9" dirty="0">
                <a:cs typeface="Calibri"/>
              </a:rPr>
              <a:t>{Ø,{a},{b},{a </a:t>
            </a:r>
            <a:r>
              <a:rPr sz="2800" spc="-5" dirty="0">
                <a:cs typeface="Calibri"/>
              </a:rPr>
              <a:t>,b</a:t>
            </a:r>
            <a:r>
              <a:rPr sz="2800" spc="50" dirty="0">
                <a:cs typeface="Calibri"/>
              </a:rPr>
              <a:t> </a:t>
            </a:r>
            <a:r>
              <a:rPr sz="2800" spc="-9" dirty="0">
                <a:cs typeface="Calibri"/>
              </a:rPr>
              <a:t>}}</a:t>
            </a:r>
            <a:endParaRPr sz="2800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FD00A1-533F-4C8A-BB9E-51AE1E6DBD26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The power set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49290" y="1938995"/>
            <a:ext cx="8231839" cy="3036422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</a:pPr>
            <a:r>
              <a:rPr sz="3200" spc="-9" dirty="0">
                <a:cs typeface="Calibri"/>
              </a:rPr>
              <a:t>How </a:t>
            </a:r>
            <a:r>
              <a:rPr sz="3200" spc="-18" dirty="0">
                <a:cs typeface="Calibri"/>
              </a:rPr>
              <a:t>many </a:t>
            </a:r>
            <a:r>
              <a:rPr sz="3200" spc="-9" dirty="0">
                <a:cs typeface="Calibri"/>
              </a:rPr>
              <a:t>elements </a:t>
            </a:r>
            <a:r>
              <a:rPr sz="3200" spc="-5" dirty="0">
                <a:cs typeface="Calibri"/>
              </a:rPr>
              <a:t>do </a:t>
            </a:r>
            <a:r>
              <a:rPr sz="3200" spc="-9" dirty="0">
                <a:cs typeface="Calibri"/>
              </a:rPr>
              <a:t>they</a:t>
            </a:r>
            <a:r>
              <a:rPr sz="3200" spc="-32" dirty="0">
                <a:cs typeface="Calibri"/>
              </a:rPr>
              <a:t> </a:t>
            </a:r>
            <a:r>
              <a:rPr sz="3200" spc="-18" dirty="0">
                <a:cs typeface="Calibri"/>
              </a:rPr>
              <a:t>have?</a:t>
            </a:r>
            <a:endParaRPr lang="en-US" sz="3200" spc="-18" dirty="0">
              <a:cs typeface="Calibri"/>
            </a:endParaRPr>
          </a:p>
          <a:p>
            <a:pPr marL="11506">
              <a:spcBef>
                <a:spcPts val="91"/>
              </a:spcBef>
            </a:pPr>
            <a:endParaRPr sz="3200" dirty="0">
              <a:cs typeface="Calibri"/>
            </a:endParaRPr>
          </a:p>
          <a:p>
            <a:pPr marL="11506">
              <a:tabLst>
                <a:tab pos="524683" algn="l"/>
              </a:tabLst>
            </a:pPr>
            <a:r>
              <a:rPr sz="3200" spc="-5" dirty="0">
                <a:cs typeface="Calibri"/>
              </a:rPr>
              <a:t>1.	</a:t>
            </a:r>
            <a:r>
              <a:rPr sz="3200" spc="-9" dirty="0">
                <a:cs typeface="Calibri"/>
              </a:rPr>
              <a:t>What </a:t>
            </a:r>
            <a:r>
              <a:rPr sz="3200" dirty="0">
                <a:cs typeface="Calibri"/>
              </a:rPr>
              <a:t>is</a:t>
            </a:r>
            <a:r>
              <a:rPr sz="3200" spc="-18" dirty="0">
                <a:cs typeface="Calibri"/>
              </a:rPr>
              <a:t> </a:t>
            </a:r>
            <a:r>
              <a:rPr sz="3200" dirty="0">
                <a:cs typeface="Calibri"/>
              </a:rPr>
              <a:t>P({1,2,3})?</a:t>
            </a:r>
            <a:endParaRPr lang="en-US" sz="3200" dirty="0">
              <a:cs typeface="Calibri"/>
            </a:endParaRPr>
          </a:p>
          <a:p>
            <a:pPr marL="11506">
              <a:tabLst>
                <a:tab pos="524683" algn="l"/>
              </a:tabLst>
            </a:pPr>
            <a:r>
              <a:rPr lang="en-US" sz="3200" spc="-9" dirty="0">
                <a:cs typeface="Calibri"/>
              </a:rPr>
              <a:t>2.	What </a:t>
            </a:r>
            <a:r>
              <a:rPr lang="en-US" sz="3200" dirty="0">
                <a:cs typeface="Calibri"/>
              </a:rPr>
              <a:t>is</a:t>
            </a:r>
            <a:r>
              <a:rPr lang="en-US" sz="3200" spc="-18" dirty="0">
                <a:cs typeface="Calibri"/>
              </a:rPr>
              <a:t> </a:t>
            </a:r>
            <a:r>
              <a:rPr lang="en-US" sz="3200" dirty="0">
                <a:cs typeface="Calibri"/>
              </a:rPr>
              <a:t>P({a, b, c, d})?</a:t>
            </a:r>
          </a:p>
          <a:p>
            <a:pPr marL="11506">
              <a:tabLst>
                <a:tab pos="524683" algn="l"/>
              </a:tabLst>
            </a:pPr>
            <a:endParaRPr lang="en-US" sz="3200" dirty="0">
              <a:cs typeface="Calibri"/>
            </a:endParaRPr>
          </a:p>
          <a:p>
            <a:pPr marL="11506">
              <a:tabLst>
                <a:tab pos="524683" algn="l"/>
              </a:tabLst>
            </a:pPr>
            <a:endParaRPr sz="3200" dirty="0">
              <a:cs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C92117A-D8F7-4A82-892F-3BBFEE12527C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cs typeface="Arial"/>
              </a:rPr>
              <a:t>Examples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83411" y="94892"/>
            <a:ext cx="9684589" cy="70736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Power Set: </a:t>
            </a:r>
            <a:r>
              <a:rPr lang="en-US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795" y="802257"/>
            <a:ext cx="101647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|P(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)| = ?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|P(P())| = ?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|P(P(P()))|=?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If V = {a, e, </a:t>
            </a:r>
            <a:r>
              <a:rPr lang="en-US" sz="2400" dirty="0" err="1">
                <a:latin typeface="Cambria Math" pitchFamily="18" charset="0"/>
                <a:ea typeface="Cambria Math" pitchFamily="18" charset="0"/>
                <a:sym typeface="Symbol" pitchFamily="18" charset="2"/>
              </a:rPr>
              <a:t>i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, o, u}, P(V)=? |P(V)|=?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If |X| = ∞, |P(X)|=?</a:t>
            </a:r>
          </a:p>
        </p:txBody>
      </p:sp>
    </p:spTree>
    <p:extLst>
      <p:ext uri="{BB962C8B-B14F-4D97-AF65-F5344CB8AC3E}">
        <p14:creationId xmlns:p14="http://schemas.microsoft.com/office/powerpoint/2010/main" val="1255795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06587" y="1443004"/>
            <a:ext cx="10515600" cy="4333315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</a:pPr>
            <a:r>
              <a:rPr sz="2800" spc="-5" dirty="0">
                <a:cs typeface="Calibri"/>
              </a:rPr>
              <a:t>The </a:t>
            </a:r>
            <a:r>
              <a:rPr sz="2800" spc="-14" dirty="0">
                <a:cs typeface="Calibri"/>
              </a:rPr>
              <a:t>order </a:t>
            </a:r>
            <a:r>
              <a:rPr sz="2800" spc="-5" dirty="0">
                <a:cs typeface="Calibri"/>
              </a:rPr>
              <a:t>of elements </a:t>
            </a:r>
            <a:r>
              <a:rPr sz="2800" dirty="0">
                <a:cs typeface="Calibri"/>
              </a:rPr>
              <a:t>in a </a:t>
            </a:r>
            <a:r>
              <a:rPr sz="2800" spc="-9" dirty="0">
                <a:cs typeface="Calibri"/>
              </a:rPr>
              <a:t>collection </a:t>
            </a:r>
            <a:r>
              <a:rPr sz="2800" dirty="0">
                <a:cs typeface="Calibri"/>
              </a:rPr>
              <a:t>is</a:t>
            </a:r>
            <a:r>
              <a:rPr sz="2800" spc="-41" dirty="0">
                <a:cs typeface="Calibri"/>
              </a:rPr>
              <a:t> </a:t>
            </a:r>
            <a:r>
              <a:rPr sz="2800" spc="-14" dirty="0">
                <a:cs typeface="Calibri"/>
              </a:rPr>
              <a:t>often</a:t>
            </a:r>
            <a:r>
              <a:rPr lang="en-US" sz="2800" spc="-14" dirty="0">
                <a:cs typeface="Calibri"/>
              </a:rPr>
              <a:t> </a:t>
            </a:r>
            <a:r>
              <a:rPr sz="2800" spc="-9" dirty="0">
                <a:cs typeface="Calibri"/>
              </a:rPr>
              <a:t>important</a:t>
            </a:r>
            <a:r>
              <a:rPr lang="en-US" sz="2800" spc="-9" dirty="0">
                <a:cs typeface="Calibri"/>
              </a:rPr>
              <a:t>.</a:t>
            </a:r>
          </a:p>
          <a:p>
            <a:pPr marL="11506">
              <a:spcBef>
                <a:spcPts val="91"/>
              </a:spcBef>
            </a:pPr>
            <a:endParaRPr sz="2800" dirty="0">
              <a:cs typeface="Calibri"/>
            </a:endParaRPr>
          </a:p>
          <a:p>
            <a:pPr marL="11506" marR="995862"/>
            <a:r>
              <a:rPr sz="2800" spc="-14" dirty="0">
                <a:cs typeface="Calibri"/>
              </a:rPr>
              <a:t>Ordered </a:t>
            </a:r>
            <a:r>
              <a:rPr sz="2800" dirty="0">
                <a:cs typeface="Calibri"/>
              </a:rPr>
              <a:t>n-tuple </a:t>
            </a:r>
            <a:r>
              <a:rPr sz="2800" spc="-5" dirty="0">
                <a:cs typeface="Calibri"/>
              </a:rPr>
              <a:t>(a1 </a:t>
            </a:r>
            <a:r>
              <a:rPr sz="2800" dirty="0">
                <a:cs typeface="Calibri"/>
              </a:rPr>
              <a:t>,a2 ,... ,an ) is the</a:t>
            </a:r>
            <a:r>
              <a:rPr sz="2800" spc="-127" dirty="0">
                <a:cs typeface="Calibri"/>
              </a:rPr>
              <a:t> </a:t>
            </a:r>
            <a:r>
              <a:rPr sz="2800" spc="-18" dirty="0">
                <a:cs typeface="Calibri"/>
              </a:rPr>
              <a:t>ordered  </a:t>
            </a:r>
            <a:r>
              <a:rPr sz="2800" spc="-9" dirty="0">
                <a:cs typeface="Calibri"/>
              </a:rPr>
              <a:t>collection </a:t>
            </a:r>
            <a:r>
              <a:rPr sz="2800" spc="-14" dirty="0">
                <a:cs typeface="Calibri"/>
              </a:rPr>
              <a:t>that </a:t>
            </a:r>
            <a:r>
              <a:rPr sz="2800" spc="-5" dirty="0">
                <a:cs typeface="Calibri"/>
              </a:rPr>
              <a:t>has</a:t>
            </a:r>
            <a:r>
              <a:rPr sz="2800" dirty="0">
                <a:cs typeface="Calibri"/>
              </a:rPr>
              <a:t> :</a:t>
            </a:r>
          </a:p>
          <a:p>
            <a:pPr marL="519505"/>
            <a:r>
              <a:rPr sz="2800" spc="-5" dirty="0">
                <a:cs typeface="Calibri"/>
              </a:rPr>
              <a:t>a1 as </a:t>
            </a:r>
            <a:r>
              <a:rPr sz="2800" dirty="0">
                <a:cs typeface="Calibri"/>
              </a:rPr>
              <a:t>its </a:t>
            </a:r>
            <a:r>
              <a:rPr sz="2800" spc="-23" dirty="0">
                <a:cs typeface="Calibri"/>
              </a:rPr>
              <a:t>first</a:t>
            </a:r>
            <a:r>
              <a:rPr sz="2800" spc="-36" dirty="0">
                <a:cs typeface="Calibri"/>
              </a:rPr>
              <a:t> </a:t>
            </a:r>
            <a:r>
              <a:rPr sz="2800" spc="-9" dirty="0">
                <a:cs typeface="Calibri"/>
              </a:rPr>
              <a:t>element</a:t>
            </a:r>
            <a:endParaRPr sz="2800" dirty="0">
              <a:cs typeface="Calibri"/>
            </a:endParaRPr>
          </a:p>
          <a:p>
            <a:pPr marL="519505">
              <a:spcBef>
                <a:spcPts val="5"/>
              </a:spcBef>
            </a:pPr>
            <a:r>
              <a:rPr sz="2800" spc="-5" dirty="0">
                <a:cs typeface="Calibri"/>
              </a:rPr>
              <a:t>a2 as its </a:t>
            </a:r>
            <a:r>
              <a:rPr sz="2800" spc="-9" dirty="0">
                <a:cs typeface="Calibri"/>
              </a:rPr>
              <a:t>second element</a:t>
            </a:r>
            <a:endParaRPr sz="2800" dirty="0">
              <a:cs typeface="Calibri"/>
            </a:endParaRPr>
          </a:p>
          <a:p>
            <a:pPr marL="519505"/>
            <a:r>
              <a:rPr sz="2800" dirty="0">
                <a:cs typeface="Calibri"/>
              </a:rPr>
              <a:t>. .</a:t>
            </a:r>
            <a:r>
              <a:rPr sz="2800" spc="-14" dirty="0">
                <a:cs typeface="Calibri"/>
              </a:rPr>
              <a:t> </a:t>
            </a:r>
            <a:r>
              <a:rPr sz="2800" dirty="0">
                <a:cs typeface="Calibri"/>
              </a:rPr>
              <a:t>.</a:t>
            </a:r>
          </a:p>
          <a:p>
            <a:pPr marL="519505"/>
            <a:r>
              <a:rPr sz="2800" spc="-5" dirty="0">
                <a:cs typeface="Calibri"/>
              </a:rPr>
              <a:t>an as </a:t>
            </a:r>
            <a:r>
              <a:rPr sz="2800" dirty="0">
                <a:cs typeface="Calibri"/>
              </a:rPr>
              <a:t>its </a:t>
            </a:r>
            <a:r>
              <a:rPr sz="2800" spc="-14" dirty="0">
                <a:cs typeface="Calibri"/>
              </a:rPr>
              <a:t>nth</a:t>
            </a:r>
            <a:r>
              <a:rPr sz="2800" spc="-23" dirty="0">
                <a:cs typeface="Calibri"/>
              </a:rPr>
              <a:t> </a:t>
            </a:r>
            <a:r>
              <a:rPr sz="2800" spc="-9" dirty="0">
                <a:cs typeface="Calibri"/>
              </a:rPr>
              <a:t>element</a:t>
            </a:r>
            <a:endParaRPr lang="en-US" sz="2800" spc="-9" dirty="0">
              <a:cs typeface="Calibri"/>
            </a:endParaRPr>
          </a:p>
          <a:p>
            <a:pPr marL="519505"/>
            <a:endParaRPr sz="2800" dirty="0">
              <a:cs typeface="Calibri"/>
            </a:endParaRPr>
          </a:p>
          <a:p>
            <a:pPr marL="11506"/>
            <a:r>
              <a:rPr sz="2800" spc="-9" dirty="0">
                <a:solidFill>
                  <a:srgbClr val="FF0000"/>
                </a:solidFill>
                <a:cs typeface="Calibri"/>
              </a:rPr>
              <a:t>Example</a:t>
            </a:r>
            <a:r>
              <a:rPr sz="2800" spc="-9" dirty="0">
                <a:cs typeface="Calibri"/>
              </a:rPr>
              <a:t>: </a:t>
            </a:r>
            <a:r>
              <a:rPr sz="2800" spc="-5" dirty="0">
                <a:cs typeface="Calibri"/>
              </a:rPr>
              <a:t>(a </a:t>
            </a:r>
            <a:r>
              <a:rPr sz="2800" dirty="0">
                <a:cs typeface="Calibri"/>
              </a:rPr>
              <a:t>,b ) is </a:t>
            </a:r>
            <a:r>
              <a:rPr sz="2800" spc="-5" dirty="0">
                <a:cs typeface="Calibri"/>
              </a:rPr>
              <a:t>an </a:t>
            </a:r>
            <a:r>
              <a:rPr sz="2800" spc="-18" dirty="0">
                <a:cs typeface="Calibri"/>
              </a:rPr>
              <a:t>ordered </a:t>
            </a:r>
            <a:r>
              <a:rPr sz="2800" spc="-5" dirty="0">
                <a:cs typeface="Calibri"/>
              </a:rPr>
              <a:t>2-tuple </a:t>
            </a:r>
            <a:r>
              <a:rPr sz="2800" spc="-14" dirty="0">
                <a:cs typeface="Calibri"/>
              </a:rPr>
              <a:t>(ordered</a:t>
            </a:r>
            <a:r>
              <a:rPr sz="2800" spc="-95" dirty="0">
                <a:cs typeface="Calibri"/>
              </a:rPr>
              <a:t> </a:t>
            </a:r>
            <a:r>
              <a:rPr sz="2800" spc="-5" dirty="0">
                <a:cs typeface="Calibri"/>
              </a:rPr>
              <a:t>pair).</a:t>
            </a:r>
            <a:endParaRPr sz="2800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C60E54-545F-4CD0-A4BD-B514CD37EBCF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Ordered n-tuple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53867" y="1577475"/>
            <a:ext cx="11219886" cy="3953724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</a:pPr>
            <a:r>
              <a:rPr sz="2800" spc="-14" dirty="0">
                <a:cs typeface="Calibri"/>
              </a:rPr>
              <a:t>Let </a:t>
            </a:r>
            <a:r>
              <a:rPr sz="2800" dirty="0">
                <a:cs typeface="Calibri"/>
              </a:rPr>
              <a:t>A=(a1, </a:t>
            </a:r>
            <a:r>
              <a:rPr sz="2800" spc="-5" dirty="0">
                <a:cs typeface="Calibri"/>
              </a:rPr>
              <a:t>a2, …, an) and </a:t>
            </a:r>
            <a:r>
              <a:rPr sz="2800" dirty="0">
                <a:cs typeface="Calibri"/>
              </a:rPr>
              <a:t>B=(b1, </a:t>
            </a:r>
            <a:r>
              <a:rPr sz="2800" spc="-5" dirty="0">
                <a:cs typeface="Calibri"/>
              </a:rPr>
              <a:t>b2, …, </a:t>
            </a:r>
            <a:r>
              <a:rPr sz="2800" dirty="0">
                <a:cs typeface="Calibri"/>
              </a:rPr>
              <a:t>bn) </a:t>
            </a:r>
            <a:r>
              <a:rPr sz="2800" spc="-5" dirty="0">
                <a:cs typeface="Calibri"/>
              </a:rPr>
              <a:t>be</a:t>
            </a:r>
            <a:r>
              <a:rPr sz="2800" spc="-72" dirty="0">
                <a:cs typeface="Calibri"/>
              </a:rPr>
              <a:t> </a:t>
            </a:r>
            <a:r>
              <a:rPr sz="2800" spc="-14" dirty="0">
                <a:solidFill>
                  <a:srgbClr val="FF0000"/>
                </a:solidFill>
                <a:cs typeface="Calibri"/>
              </a:rPr>
              <a:t>ordered</a:t>
            </a:r>
            <a:r>
              <a:rPr lang="en-US" sz="2800" spc="-14" dirty="0">
                <a:solidFill>
                  <a:srgbClr val="FF0000"/>
                </a:solidFill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cs typeface="Calibri"/>
              </a:rPr>
              <a:t>n-tuples.</a:t>
            </a:r>
            <a:endParaRPr lang="en-US" sz="2800" dirty="0">
              <a:solidFill>
                <a:srgbClr val="FF0000"/>
              </a:solidFill>
              <a:cs typeface="Calibri"/>
            </a:endParaRPr>
          </a:p>
          <a:p>
            <a:pPr marL="11506">
              <a:spcBef>
                <a:spcPts val="91"/>
              </a:spcBef>
            </a:pPr>
            <a:endParaRPr lang="en-US" sz="2800" dirty="0">
              <a:solidFill>
                <a:srgbClr val="FF0000"/>
              </a:solidFill>
              <a:cs typeface="Calibri"/>
            </a:endParaRPr>
          </a:p>
          <a:p>
            <a:pPr marL="11506">
              <a:spcBef>
                <a:spcPts val="91"/>
              </a:spcBef>
            </a:pPr>
            <a:r>
              <a:rPr sz="2800" dirty="0">
                <a:cs typeface="Calibri"/>
              </a:rPr>
              <a:t>A </a:t>
            </a:r>
            <a:r>
              <a:rPr sz="2800" spc="-5" dirty="0">
                <a:cs typeface="Calibri"/>
              </a:rPr>
              <a:t>and </a:t>
            </a:r>
            <a:r>
              <a:rPr sz="2800" dirty="0">
                <a:cs typeface="Calibri"/>
              </a:rPr>
              <a:t>B </a:t>
            </a:r>
            <a:r>
              <a:rPr sz="2800" spc="-14" dirty="0">
                <a:cs typeface="Calibri"/>
              </a:rPr>
              <a:t>are </a:t>
            </a:r>
            <a:r>
              <a:rPr sz="2800" dirty="0">
                <a:solidFill>
                  <a:srgbClr val="FF0000"/>
                </a:solidFill>
                <a:cs typeface="Calibri"/>
              </a:rPr>
              <a:t>equal </a:t>
            </a:r>
            <a:r>
              <a:rPr sz="2800" dirty="0">
                <a:cs typeface="Calibri"/>
              </a:rPr>
              <a:t>if and </a:t>
            </a:r>
            <a:r>
              <a:rPr sz="2800" spc="-5" dirty="0">
                <a:cs typeface="Calibri"/>
              </a:rPr>
              <a:t>only </a:t>
            </a:r>
            <a:r>
              <a:rPr sz="2800" dirty="0">
                <a:cs typeface="Calibri"/>
              </a:rPr>
              <a:t>if each </a:t>
            </a:r>
            <a:r>
              <a:rPr sz="2800" spc="-9" dirty="0">
                <a:cs typeface="Calibri"/>
              </a:rPr>
              <a:t>corresponding  </a:t>
            </a:r>
            <a:r>
              <a:rPr sz="2800" spc="-5" dirty="0">
                <a:cs typeface="Calibri"/>
              </a:rPr>
              <a:t>pair of </a:t>
            </a:r>
            <a:r>
              <a:rPr sz="2800" spc="-9" dirty="0">
                <a:cs typeface="Calibri"/>
              </a:rPr>
              <a:t>their elements </a:t>
            </a:r>
            <a:r>
              <a:rPr sz="2800" spc="-14" dirty="0">
                <a:cs typeface="Calibri"/>
              </a:rPr>
              <a:t>are </a:t>
            </a:r>
            <a:r>
              <a:rPr sz="2800" dirty="0">
                <a:cs typeface="Calibri"/>
              </a:rPr>
              <a:t>equal, </a:t>
            </a:r>
            <a:r>
              <a:rPr sz="2800" spc="-9" dirty="0">
                <a:cs typeface="Calibri"/>
              </a:rPr>
              <a:t>denoted </a:t>
            </a:r>
            <a:r>
              <a:rPr sz="2800" spc="-5" dirty="0">
                <a:cs typeface="Calibri"/>
              </a:rPr>
              <a:t>by </a:t>
            </a:r>
            <a:r>
              <a:rPr sz="2800" dirty="0">
                <a:cs typeface="Calibri"/>
              </a:rPr>
              <a:t>A=B.  </a:t>
            </a:r>
            <a:endParaRPr lang="en-US" sz="2800" dirty="0">
              <a:cs typeface="Calibri"/>
            </a:endParaRPr>
          </a:p>
          <a:p>
            <a:pPr marL="11506">
              <a:spcBef>
                <a:spcPts val="91"/>
              </a:spcBef>
            </a:pPr>
            <a:endParaRPr lang="en-US" sz="2800" dirty="0">
              <a:cs typeface="Calibri"/>
            </a:endParaRPr>
          </a:p>
          <a:p>
            <a:pPr marL="11506">
              <a:spcBef>
                <a:spcPts val="91"/>
              </a:spcBef>
            </a:pPr>
            <a:r>
              <a:rPr lang="en-US" sz="2800" dirty="0">
                <a:cs typeface="Calibri"/>
              </a:rPr>
              <a:t>	</a:t>
            </a:r>
            <a:r>
              <a:rPr sz="2800" dirty="0">
                <a:cs typeface="Calibri"/>
              </a:rPr>
              <a:t>A=B if </a:t>
            </a:r>
            <a:r>
              <a:rPr sz="2800" spc="-5" dirty="0">
                <a:cs typeface="Calibri"/>
              </a:rPr>
              <a:t>and only </a:t>
            </a:r>
            <a:r>
              <a:rPr sz="2800" i="1" spc="-5" dirty="0">
                <a:cs typeface="Calibri"/>
              </a:rPr>
              <a:t>a</a:t>
            </a:r>
            <a:r>
              <a:rPr sz="2800" i="1" spc="-6" baseline="-20833" dirty="0">
                <a:cs typeface="Calibri"/>
              </a:rPr>
              <a:t>i</a:t>
            </a:r>
            <a:r>
              <a:rPr sz="2800" i="1" spc="340" baseline="-20833" dirty="0">
                <a:cs typeface="Calibri"/>
              </a:rPr>
              <a:t> </a:t>
            </a:r>
            <a:r>
              <a:rPr sz="2800" i="1" dirty="0">
                <a:cs typeface="Calibri"/>
              </a:rPr>
              <a:t>= </a:t>
            </a:r>
            <a:r>
              <a:rPr sz="2800" i="1" spc="-5" dirty="0">
                <a:cs typeface="Calibri"/>
              </a:rPr>
              <a:t>b</a:t>
            </a:r>
            <a:r>
              <a:rPr sz="2800" i="1" spc="-6" baseline="-20833" dirty="0">
                <a:cs typeface="Calibri"/>
              </a:rPr>
              <a:t>i	</a:t>
            </a:r>
            <a:r>
              <a:rPr sz="2800" spc="-5" dirty="0">
                <a:cs typeface="Calibri"/>
              </a:rPr>
              <a:t>and </a:t>
            </a:r>
            <a:r>
              <a:rPr sz="2800" spc="-23" dirty="0">
                <a:cs typeface="Calibri"/>
              </a:rPr>
              <a:t>for </a:t>
            </a:r>
            <a:r>
              <a:rPr sz="2800" dirty="0">
                <a:cs typeface="Calibri"/>
              </a:rPr>
              <a:t>i =</a:t>
            </a:r>
            <a:r>
              <a:rPr sz="2800" spc="-27" dirty="0">
                <a:cs typeface="Calibri"/>
              </a:rPr>
              <a:t> </a:t>
            </a:r>
            <a:r>
              <a:rPr sz="2800" spc="-5" dirty="0">
                <a:cs typeface="Calibri"/>
              </a:rPr>
              <a:t>{1,2,…,n}</a:t>
            </a:r>
            <a:endParaRPr lang="en-US" sz="2800" spc="-5" dirty="0">
              <a:cs typeface="Calibri"/>
            </a:endParaRPr>
          </a:p>
          <a:p>
            <a:pPr marL="11506">
              <a:spcBef>
                <a:spcPts val="91"/>
              </a:spcBef>
            </a:pPr>
            <a:endParaRPr sz="2800" dirty="0">
              <a:cs typeface="Calibri"/>
            </a:endParaRPr>
          </a:p>
          <a:p>
            <a:pPr marL="11506"/>
            <a:r>
              <a:rPr sz="2800" spc="-9" dirty="0">
                <a:solidFill>
                  <a:srgbClr val="FF0000"/>
                </a:solidFill>
                <a:cs typeface="Calibri"/>
              </a:rPr>
              <a:t>Example</a:t>
            </a:r>
            <a:r>
              <a:rPr sz="2800" spc="-9" dirty="0">
                <a:cs typeface="Calibri"/>
              </a:rPr>
              <a:t>: </a:t>
            </a:r>
            <a:r>
              <a:rPr sz="2800" dirty="0">
                <a:cs typeface="Calibri"/>
              </a:rPr>
              <a:t>Assume c ≠</a:t>
            </a:r>
            <a:r>
              <a:rPr sz="2800" spc="-18" dirty="0">
                <a:cs typeface="Calibri"/>
              </a:rPr>
              <a:t> </a:t>
            </a:r>
            <a:r>
              <a:rPr sz="2800" spc="-5" dirty="0">
                <a:cs typeface="Calibri"/>
              </a:rPr>
              <a:t>b.</a:t>
            </a:r>
            <a:endParaRPr sz="2800" dirty="0">
              <a:cs typeface="Calibri"/>
            </a:endParaRPr>
          </a:p>
          <a:p>
            <a:pPr marL="11506"/>
            <a:r>
              <a:rPr sz="2800" spc="-14" dirty="0">
                <a:cs typeface="Calibri"/>
              </a:rPr>
              <a:t>Are </a:t>
            </a:r>
            <a:r>
              <a:rPr sz="2800" spc="-18" dirty="0">
                <a:cs typeface="Calibri"/>
              </a:rPr>
              <a:t>ordered </a:t>
            </a:r>
            <a:r>
              <a:rPr sz="2800" dirty="0">
                <a:cs typeface="Calibri"/>
              </a:rPr>
              <a:t>3-tuples </a:t>
            </a:r>
            <a:r>
              <a:rPr sz="2800" spc="-5" dirty="0">
                <a:cs typeface="Calibri"/>
              </a:rPr>
              <a:t>(a </a:t>
            </a:r>
            <a:r>
              <a:rPr sz="2800" dirty="0">
                <a:cs typeface="Calibri"/>
              </a:rPr>
              <a:t>,b ,c ) </a:t>
            </a:r>
            <a:r>
              <a:rPr sz="2800" spc="-5" dirty="0">
                <a:cs typeface="Calibri"/>
              </a:rPr>
              <a:t>and (a </a:t>
            </a:r>
            <a:r>
              <a:rPr sz="2800" dirty="0">
                <a:cs typeface="Calibri"/>
              </a:rPr>
              <a:t>,c ,b )</a:t>
            </a:r>
            <a:r>
              <a:rPr sz="2800" spc="-95" dirty="0">
                <a:cs typeface="Calibri"/>
              </a:rPr>
              <a:t> </a:t>
            </a:r>
            <a:r>
              <a:rPr sz="2800" dirty="0">
                <a:cs typeface="Calibri"/>
              </a:rPr>
              <a:t>equal?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B83B0A-53A3-4B88-BAA8-495279626CF1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ea typeface="Cambria Math" panose="02040503050406030204" pitchFamily="18" charset="0"/>
              </a:rPr>
              <a:t>Ordered n-tuple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4549" y="1577475"/>
            <a:ext cx="11031627" cy="3597216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</a:pPr>
            <a:r>
              <a:rPr sz="2800" spc="-14" dirty="0">
                <a:cs typeface="Calibri"/>
              </a:rPr>
              <a:t>Let </a:t>
            </a:r>
            <a:r>
              <a:rPr sz="2800" i="1" dirty="0">
                <a:cs typeface="Calibri"/>
              </a:rPr>
              <a:t>A </a:t>
            </a:r>
            <a:r>
              <a:rPr sz="2800" spc="-5" dirty="0">
                <a:cs typeface="Calibri"/>
              </a:rPr>
              <a:t>and </a:t>
            </a:r>
            <a:r>
              <a:rPr sz="2800" i="1" dirty="0">
                <a:cs typeface="Calibri"/>
              </a:rPr>
              <a:t>B </a:t>
            </a:r>
            <a:r>
              <a:rPr sz="2800" spc="-5" dirty="0">
                <a:cs typeface="Calibri"/>
              </a:rPr>
              <a:t>be </a:t>
            </a:r>
            <a:r>
              <a:rPr sz="2800" spc="-9" dirty="0">
                <a:cs typeface="Calibri"/>
              </a:rPr>
              <a:t>sets.</a:t>
            </a:r>
            <a:endParaRPr sz="2800" dirty="0">
              <a:cs typeface="Calibri"/>
            </a:endParaRPr>
          </a:p>
          <a:p>
            <a:pPr marL="529285" indent="-517779">
              <a:buFont typeface="Arial"/>
              <a:buChar char="•"/>
              <a:tabLst>
                <a:tab pos="528710" algn="l"/>
                <a:tab pos="529285" algn="l"/>
              </a:tabLst>
            </a:pPr>
            <a:r>
              <a:rPr sz="2800" spc="-5" dirty="0">
                <a:cs typeface="Calibri"/>
              </a:rPr>
              <a:t>The </a:t>
            </a:r>
            <a:r>
              <a:rPr sz="2800" i="1" spc="-5" dirty="0">
                <a:solidFill>
                  <a:srgbClr val="FF0000"/>
                </a:solidFill>
                <a:cs typeface="Calibri"/>
              </a:rPr>
              <a:t>Cartesian product </a:t>
            </a:r>
            <a:r>
              <a:rPr sz="2800" spc="-5" dirty="0">
                <a:cs typeface="Calibri"/>
              </a:rPr>
              <a:t>of </a:t>
            </a:r>
            <a:r>
              <a:rPr sz="2800" i="1" dirty="0">
                <a:cs typeface="Calibri"/>
              </a:rPr>
              <a:t>A </a:t>
            </a:r>
            <a:r>
              <a:rPr sz="2800" spc="-5" dirty="0">
                <a:cs typeface="Calibri"/>
              </a:rPr>
              <a:t>and </a:t>
            </a:r>
            <a:r>
              <a:rPr sz="2800" i="1" spc="-5" dirty="0">
                <a:cs typeface="Calibri"/>
              </a:rPr>
              <a:t>B</a:t>
            </a:r>
            <a:r>
              <a:rPr sz="2800" spc="-5" dirty="0">
                <a:cs typeface="Calibri"/>
              </a:rPr>
              <a:t>, </a:t>
            </a:r>
            <a:r>
              <a:rPr sz="2800" spc="-9" dirty="0">
                <a:cs typeface="Calibri"/>
              </a:rPr>
              <a:t>denoted </a:t>
            </a:r>
            <a:r>
              <a:rPr sz="2800" spc="-5" dirty="0">
                <a:cs typeface="Calibri"/>
              </a:rPr>
              <a:t>by </a:t>
            </a:r>
            <a:r>
              <a:rPr sz="2800" i="1" dirty="0">
                <a:cs typeface="Calibri"/>
              </a:rPr>
              <a:t>A </a:t>
            </a:r>
            <a:r>
              <a:rPr sz="2800" dirty="0">
                <a:cs typeface="Calibri"/>
              </a:rPr>
              <a:t>×</a:t>
            </a:r>
            <a:r>
              <a:rPr sz="2800" spc="-91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B</a:t>
            </a:r>
            <a:r>
              <a:rPr sz="2800" spc="-5" dirty="0">
                <a:cs typeface="Calibri"/>
              </a:rPr>
              <a:t>,</a:t>
            </a:r>
            <a:r>
              <a:rPr lang="en-US" sz="2800" spc="-5" dirty="0">
                <a:cs typeface="Calibri"/>
              </a:rPr>
              <a:t> </a:t>
            </a:r>
            <a:r>
              <a:rPr sz="2800" dirty="0">
                <a:cs typeface="Calibri"/>
              </a:rPr>
              <a:t>is the </a:t>
            </a:r>
            <a:r>
              <a:rPr sz="2800" spc="-14" dirty="0">
                <a:cs typeface="Calibri"/>
              </a:rPr>
              <a:t>set </a:t>
            </a:r>
            <a:r>
              <a:rPr sz="2800" spc="-5" dirty="0">
                <a:cs typeface="Calibri"/>
              </a:rPr>
              <a:t>of all </a:t>
            </a:r>
            <a:r>
              <a:rPr sz="2800" spc="-18" dirty="0">
                <a:cs typeface="Calibri"/>
              </a:rPr>
              <a:t>ordered </a:t>
            </a:r>
            <a:r>
              <a:rPr sz="2800" spc="-14" dirty="0">
                <a:cs typeface="Calibri"/>
              </a:rPr>
              <a:t>pairs </a:t>
            </a:r>
            <a:r>
              <a:rPr sz="2800" i="1" spc="-5" dirty="0">
                <a:cs typeface="Calibri"/>
              </a:rPr>
              <a:t>(a, b)</a:t>
            </a:r>
            <a:r>
              <a:rPr sz="2800" spc="-5" dirty="0">
                <a:cs typeface="Calibri"/>
              </a:rPr>
              <a:t>, </a:t>
            </a:r>
            <a:r>
              <a:rPr sz="2800" spc="-9" dirty="0">
                <a:cs typeface="Calibri"/>
              </a:rPr>
              <a:t>where </a:t>
            </a:r>
            <a:r>
              <a:rPr sz="2800" i="1" dirty="0">
                <a:solidFill>
                  <a:srgbClr val="FF0000"/>
                </a:solidFill>
                <a:cs typeface="Calibri"/>
              </a:rPr>
              <a:t>a </a:t>
            </a:r>
            <a:r>
              <a:rPr sz="2800" dirty="0">
                <a:solidFill>
                  <a:srgbClr val="FF0000"/>
                </a:solidFill>
                <a:cs typeface="Cambria Math"/>
              </a:rPr>
              <a:t>∈ </a:t>
            </a:r>
            <a:r>
              <a:rPr sz="2800" i="1" dirty="0">
                <a:solidFill>
                  <a:srgbClr val="FF0000"/>
                </a:solidFill>
                <a:cs typeface="Calibri"/>
              </a:rPr>
              <a:t>A</a:t>
            </a:r>
            <a:r>
              <a:rPr sz="2800" i="1" spc="-45" dirty="0">
                <a:solidFill>
                  <a:srgbClr val="FF0000"/>
                </a:solidFill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and</a:t>
            </a:r>
            <a:r>
              <a:rPr lang="en-US" sz="2800" spc="-5" dirty="0">
                <a:solidFill>
                  <a:srgbClr val="FF0000"/>
                </a:solidFill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cs typeface="Calibri"/>
              </a:rPr>
              <a:t>b </a:t>
            </a:r>
            <a:r>
              <a:rPr sz="2800" dirty="0">
                <a:solidFill>
                  <a:srgbClr val="FF0000"/>
                </a:solidFill>
                <a:cs typeface="Cambria Math"/>
              </a:rPr>
              <a:t>∈ </a:t>
            </a:r>
            <a:r>
              <a:rPr sz="2800" i="1" spc="-5" dirty="0">
                <a:solidFill>
                  <a:srgbClr val="FF0000"/>
                </a:solidFill>
                <a:cs typeface="Calibri"/>
              </a:rPr>
              <a:t>B</a:t>
            </a:r>
            <a:r>
              <a:rPr sz="2800" spc="-5" dirty="0">
                <a:cs typeface="Calibri"/>
              </a:rPr>
              <a:t>. Hence,</a:t>
            </a:r>
            <a:endParaRPr sz="2800" dirty="0">
              <a:cs typeface="Calibri"/>
            </a:endParaRPr>
          </a:p>
          <a:p>
            <a:pPr marL="839953">
              <a:lnSpc>
                <a:spcPts val="3905"/>
              </a:lnSpc>
            </a:pPr>
            <a:r>
              <a:rPr lang="en-US" sz="2800" i="1" dirty="0">
                <a:cs typeface="Calibri"/>
              </a:rPr>
              <a:t>		</a:t>
            </a:r>
            <a:r>
              <a:rPr sz="2800" i="1" dirty="0">
                <a:cs typeface="Calibri"/>
              </a:rPr>
              <a:t>A </a:t>
            </a:r>
            <a:r>
              <a:rPr sz="2800" dirty="0">
                <a:cs typeface="Calibri"/>
              </a:rPr>
              <a:t>× </a:t>
            </a:r>
            <a:r>
              <a:rPr sz="2800" i="1" dirty="0">
                <a:cs typeface="Calibri"/>
              </a:rPr>
              <a:t>B </a:t>
            </a:r>
            <a:r>
              <a:rPr sz="2800" dirty="0">
                <a:cs typeface="Calibri"/>
              </a:rPr>
              <a:t>= </a:t>
            </a:r>
            <a:r>
              <a:rPr sz="2800" spc="-5" dirty="0">
                <a:cs typeface="Calibri"/>
              </a:rPr>
              <a:t>{</a:t>
            </a:r>
            <a:r>
              <a:rPr sz="2800" i="1" spc="-5" dirty="0">
                <a:cs typeface="Calibri"/>
              </a:rPr>
              <a:t>(a, b) </a:t>
            </a:r>
            <a:r>
              <a:rPr sz="2800" dirty="0">
                <a:cs typeface="Calibri"/>
              </a:rPr>
              <a:t>| </a:t>
            </a:r>
            <a:r>
              <a:rPr sz="2800" i="1" dirty="0">
                <a:cs typeface="Calibri"/>
              </a:rPr>
              <a:t>a </a:t>
            </a:r>
            <a:r>
              <a:rPr sz="2800" dirty="0">
                <a:cs typeface="Cambria Math"/>
              </a:rPr>
              <a:t>∈ </a:t>
            </a:r>
            <a:r>
              <a:rPr sz="2800" i="1" dirty="0">
                <a:cs typeface="Calibri"/>
              </a:rPr>
              <a:t>A </a:t>
            </a:r>
            <a:r>
              <a:rPr sz="2800" dirty="0">
                <a:cs typeface="Cambria Math"/>
              </a:rPr>
              <a:t>∧ </a:t>
            </a:r>
            <a:r>
              <a:rPr sz="2800" i="1" dirty="0">
                <a:cs typeface="Calibri"/>
              </a:rPr>
              <a:t>b </a:t>
            </a:r>
            <a:r>
              <a:rPr sz="2800" dirty="0">
                <a:cs typeface="Cambria Math"/>
              </a:rPr>
              <a:t>∈ </a:t>
            </a:r>
            <a:r>
              <a:rPr sz="2800" i="1" spc="-5" dirty="0">
                <a:cs typeface="Calibri"/>
              </a:rPr>
              <a:t>B</a:t>
            </a:r>
            <a:r>
              <a:rPr sz="2800" spc="-5" dirty="0">
                <a:cs typeface="Calibri"/>
              </a:rPr>
              <a:t>}</a:t>
            </a:r>
            <a:r>
              <a:rPr sz="2800" i="1" spc="-5" dirty="0">
                <a:cs typeface="Calibri"/>
              </a:rPr>
              <a:t>.</a:t>
            </a:r>
            <a:endParaRPr sz="2800" dirty="0">
              <a:cs typeface="Calibri"/>
            </a:endParaRPr>
          </a:p>
          <a:p>
            <a:pPr marL="11506">
              <a:lnSpc>
                <a:spcPts val="3905"/>
              </a:lnSpc>
            </a:pPr>
            <a:r>
              <a:rPr sz="2800" i="1" spc="-18" dirty="0">
                <a:solidFill>
                  <a:srgbClr val="FF0000"/>
                </a:solidFill>
                <a:cs typeface="Calibri"/>
              </a:rPr>
              <a:t>Example</a:t>
            </a:r>
            <a:r>
              <a:rPr sz="2800" i="1" spc="-18" dirty="0">
                <a:cs typeface="Calibri"/>
              </a:rPr>
              <a:t>:</a:t>
            </a:r>
            <a:endParaRPr sz="2800" dirty="0">
              <a:cs typeface="Calibri"/>
            </a:endParaRPr>
          </a:p>
          <a:p>
            <a:pPr marL="11506" marR="1318035"/>
            <a:r>
              <a:rPr sz="2800" spc="-9" dirty="0">
                <a:cs typeface="Calibri"/>
              </a:rPr>
              <a:t>Cartesian </a:t>
            </a:r>
            <a:r>
              <a:rPr sz="2800" spc="-14" dirty="0">
                <a:cs typeface="Calibri"/>
              </a:rPr>
              <a:t>product </a:t>
            </a:r>
            <a:r>
              <a:rPr sz="2800" spc="-5" dirty="0">
                <a:cs typeface="Calibri"/>
              </a:rPr>
              <a:t>of </a:t>
            </a:r>
            <a:r>
              <a:rPr sz="2800" i="1" dirty="0">
                <a:cs typeface="Calibri"/>
              </a:rPr>
              <a:t>A </a:t>
            </a:r>
            <a:r>
              <a:rPr sz="2800" dirty="0">
                <a:cs typeface="Calibri"/>
              </a:rPr>
              <a:t>= </a:t>
            </a:r>
            <a:r>
              <a:rPr sz="2800" spc="-5" dirty="0">
                <a:cs typeface="Calibri"/>
              </a:rPr>
              <a:t>{1</a:t>
            </a:r>
            <a:r>
              <a:rPr sz="2800" i="1" spc="-5" dirty="0">
                <a:cs typeface="Calibri"/>
              </a:rPr>
              <a:t>, </a:t>
            </a:r>
            <a:r>
              <a:rPr sz="2800" dirty="0">
                <a:cs typeface="Calibri"/>
              </a:rPr>
              <a:t>2} and </a:t>
            </a:r>
            <a:r>
              <a:rPr sz="2800" i="1" dirty="0">
                <a:cs typeface="Calibri"/>
              </a:rPr>
              <a:t>B </a:t>
            </a:r>
            <a:r>
              <a:rPr sz="2800" dirty="0">
                <a:cs typeface="Calibri"/>
              </a:rPr>
              <a:t>= </a:t>
            </a:r>
            <a:r>
              <a:rPr sz="2800" spc="-5" dirty="0">
                <a:cs typeface="Calibri"/>
              </a:rPr>
              <a:t>{</a:t>
            </a:r>
            <a:r>
              <a:rPr sz="2800" i="1" spc="-5" dirty="0">
                <a:cs typeface="Calibri"/>
              </a:rPr>
              <a:t>a, b, c</a:t>
            </a:r>
            <a:r>
              <a:rPr sz="2800" spc="-5" dirty="0">
                <a:cs typeface="Calibri"/>
              </a:rPr>
              <a:t>}?  </a:t>
            </a:r>
            <a:endParaRPr lang="en-US" sz="2800" spc="-5" dirty="0">
              <a:cs typeface="Calibri"/>
            </a:endParaRPr>
          </a:p>
          <a:p>
            <a:pPr marL="11506" marR="1318035"/>
            <a:endParaRPr lang="en-US" sz="2800" spc="-5" dirty="0">
              <a:cs typeface="Calibri"/>
            </a:endParaRPr>
          </a:p>
          <a:p>
            <a:pPr marL="11506" marR="1318035"/>
            <a:r>
              <a:rPr sz="2800" i="1" dirty="0">
                <a:cs typeface="Calibri"/>
              </a:rPr>
              <a:t>A </a:t>
            </a:r>
            <a:r>
              <a:rPr sz="2800" dirty="0">
                <a:cs typeface="Calibri"/>
              </a:rPr>
              <a:t>× </a:t>
            </a:r>
            <a:r>
              <a:rPr sz="2800" i="1" dirty="0">
                <a:cs typeface="Calibri"/>
              </a:rPr>
              <a:t>B </a:t>
            </a:r>
            <a:r>
              <a:rPr sz="2800" dirty="0">
                <a:cs typeface="Calibri"/>
              </a:rPr>
              <a:t>= </a:t>
            </a:r>
            <a:r>
              <a:rPr sz="2800" spc="-5" dirty="0">
                <a:cs typeface="Calibri"/>
              </a:rPr>
              <a:t>{</a:t>
            </a:r>
            <a:r>
              <a:rPr sz="2800" i="1" spc="-5" dirty="0">
                <a:cs typeface="Calibri"/>
              </a:rPr>
              <a:t>(</a:t>
            </a:r>
            <a:r>
              <a:rPr sz="2800" spc="-5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a),</a:t>
            </a:r>
            <a:r>
              <a:rPr lang="en-US" sz="2800" i="1" spc="-5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(</a:t>
            </a:r>
            <a:r>
              <a:rPr sz="2800" spc="-5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</a:t>
            </a:r>
            <a:r>
              <a:rPr sz="2800" i="1" spc="-9" dirty="0">
                <a:cs typeface="Calibri"/>
              </a:rPr>
              <a:t>b), </a:t>
            </a:r>
            <a:r>
              <a:rPr sz="2800" i="1" spc="-5" dirty="0">
                <a:cs typeface="Calibri"/>
              </a:rPr>
              <a:t>(</a:t>
            </a:r>
            <a:r>
              <a:rPr sz="2800" spc="-5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c), (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i="1" spc="-9" dirty="0">
                <a:cs typeface="Calibri"/>
              </a:rPr>
              <a:t>a), </a:t>
            </a:r>
            <a:r>
              <a:rPr sz="2800" i="1" spc="-5" dirty="0">
                <a:cs typeface="Calibri"/>
              </a:rPr>
              <a:t>(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i="1" spc="-9" dirty="0">
                <a:cs typeface="Calibri"/>
              </a:rPr>
              <a:t>b), </a:t>
            </a:r>
            <a:r>
              <a:rPr sz="2800" i="1" spc="-5" dirty="0">
                <a:cs typeface="Calibri"/>
              </a:rPr>
              <a:t>(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</a:t>
            </a:r>
            <a:r>
              <a:rPr sz="2800" i="1" spc="27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c)</a:t>
            </a:r>
            <a:r>
              <a:rPr sz="2800" spc="-5" dirty="0">
                <a:cs typeface="Calibri"/>
              </a:rPr>
              <a:t>}</a:t>
            </a:r>
            <a:r>
              <a:rPr sz="2800" i="1" spc="-5" dirty="0">
                <a:cs typeface="Calibri"/>
              </a:rPr>
              <a:t>.</a:t>
            </a:r>
            <a:endParaRPr sz="2800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FFB635-A26D-4D0B-9491-20AD4023CAD8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cs typeface="Arial"/>
              </a:rPr>
              <a:t>Cartesian</a:t>
            </a:r>
            <a:r>
              <a:rPr lang="en-US" sz="4800" spc="-86" dirty="0">
                <a:cs typeface="Arial"/>
              </a:rPr>
              <a:t> P</a:t>
            </a:r>
            <a:r>
              <a:rPr lang="en-US" sz="4800" dirty="0">
                <a:cs typeface="Arial"/>
              </a:rPr>
              <a:t>roduct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7927" y="1938995"/>
            <a:ext cx="9135178" cy="4320491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</a:pPr>
            <a:r>
              <a:rPr sz="2800" spc="-9" dirty="0">
                <a:cs typeface="Calibri"/>
              </a:rPr>
              <a:t>Given </a:t>
            </a:r>
            <a:r>
              <a:rPr sz="2800" dirty="0">
                <a:cs typeface="Calibri"/>
              </a:rPr>
              <a:t>A = </a:t>
            </a:r>
            <a:r>
              <a:rPr sz="2800" spc="-5" dirty="0">
                <a:cs typeface="Calibri"/>
              </a:rPr>
              <a:t>{1, </a:t>
            </a:r>
            <a:r>
              <a:rPr sz="2800" dirty="0">
                <a:cs typeface="Calibri"/>
              </a:rPr>
              <a:t>2} and B = </a:t>
            </a:r>
            <a:r>
              <a:rPr sz="2800" spc="-5" dirty="0">
                <a:cs typeface="Calibri"/>
              </a:rPr>
              <a:t>{a, b,</a:t>
            </a:r>
            <a:r>
              <a:rPr sz="2800" spc="-45" dirty="0">
                <a:cs typeface="Calibri"/>
              </a:rPr>
              <a:t> </a:t>
            </a:r>
            <a:r>
              <a:rPr sz="2800" dirty="0">
                <a:cs typeface="Calibri"/>
              </a:rPr>
              <a:t>c}</a:t>
            </a:r>
          </a:p>
          <a:p>
            <a:pPr marL="468706" indent="-457200">
              <a:buFont typeface="Arial" panose="020B0604020202020204" pitchFamily="34" charset="0"/>
              <a:buChar char="•"/>
            </a:pPr>
            <a:r>
              <a:rPr sz="2800" spc="-9" dirty="0">
                <a:cs typeface="Calibri"/>
              </a:rPr>
              <a:t>What </a:t>
            </a:r>
            <a:r>
              <a:rPr sz="2800" spc="-18" dirty="0">
                <a:cs typeface="Calibri"/>
              </a:rPr>
              <a:t>are </a:t>
            </a:r>
            <a:r>
              <a:rPr sz="2800" dirty="0">
                <a:cs typeface="Calibri"/>
              </a:rPr>
              <a:t>A x B </a:t>
            </a:r>
            <a:r>
              <a:rPr sz="2800" spc="-5" dirty="0">
                <a:cs typeface="Calibri"/>
              </a:rPr>
              <a:t>and </a:t>
            </a:r>
            <a:r>
              <a:rPr sz="2800" dirty="0">
                <a:cs typeface="Calibri"/>
              </a:rPr>
              <a:t>B x</a:t>
            </a:r>
            <a:r>
              <a:rPr sz="2800" spc="-54" dirty="0">
                <a:cs typeface="Calibri"/>
              </a:rPr>
              <a:t> A?</a:t>
            </a:r>
            <a:endParaRPr lang="en-US" sz="2800" spc="-54" dirty="0">
              <a:cs typeface="Calibri"/>
            </a:endParaRPr>
          </a:p>
          <a:p>
            <a:pPr marL="11506"/>
            <a:endParaRPr sz="2800" dirty="0">
              <a:cs typeface="Calibri"/>
            </a:endParaRPr>
          </a:p>
          <a:p>
            <a:pPr marL="11506"/>
            <a:r>
              <a:rPr sz="2800" i="1" dirty="0">
                <a:solidFill>
                  <a:srgbClr val="FF0000"/>
                </a:solidFill>
                <a:cs typeface="Calibri"/>
              </a:rPr>
              <a:t>A </a:t>
            </a:r>
            <a:r>
              <a:rPr sz="2800" dirty="0">
                <a:solidFill>
                  <a:srgbClr val="FF0000"/>
                </a:solidFill>
                <a:cs typeface="Calibri"/>
              </a:rPr>
              <a:t>× </a:t>
            </a:r>
            <a:r>
              <a:rPr sz="2800" i="1" dirty="0">
                <a:solidFill>
                  <a:srgbClr val="FF0000"/>
                </a:solidFill>
                <a:cs typeface="Calibri"/>
              </a:rPr>
              <a:t>B </a:t>
            </a:r>
            <a:r>
              <a:rPr sz="2800" dirty="0">
                <a:cs typeface="Calibri"/>
              </a:rPr>
              <a:t>= </a:t>
            </a:r>
            <a:r>
              <a:rPr sz="2800" spc="-5" dirty="0">
                <a:cs typeface="Calibri"/>
              </a:rPr>
              <a:t>{</a:t>
            </a:r>
            <a:r>
              <a:rPr sz="2800" i="1" spc="-5" dirty="0">
                <a:cs typeface="Calibri"/>
              </a:rPr>
              <a:t>(</a:t>
            </a:r>
            <a:r>
              <a:rPr sz="2800" spc="-5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a), (</a:t>
            </a:r>
            <a:r>
              <a:rPr sz="2800" spc="-5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</a:t>
            </a:r>
            <a:r>
              <a:rPr sz="2800" i="1" spc="-9" dirty="0">
                <a:cs typeface="Calibri"/>
              </a:rPr>
              <a:t>b), </a:t>
            </a:r>
            <a:r>
              <a:rPr sz="2800" i="1" spc="-5" dirty="0">
                <a:cs typeface="Calibri"/>
              </a:rPr>
              <a:t>(</a:t>
            </a:r>
            <a:r>
              <a:rPr sz="2800" spc="-5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c), (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i="1" spc="-9" dirty="0">
                <a:cs typeface="Calibri"/>
              </a:rPr>
              <a:t>a), </a:t>
            </a:r>
            <a:r>
              <a:rPr sz="2800" i="1" spc="-5" dirty="0">
                <a:cs typeface="Calibri"/>
              </a:rPr>
              <a:t>(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i="1" spc="-9" dirty="0">
                <a:cs typeface="Calibri"/>
              </a:rPr>
              <a:t>b), </a:t>
            </a:r>
            <a:r>
              <a:rPr sz="2800" i="1" spc="-5" dirty="0">
                <a:cs typeface="Calibri"/>
              </a:rPr>
              <a:t>(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</a:t>
            </a:r>
            <a:r>
              <a:rPr sz="2800" i="1" spc="23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c)</a:t>
            </a:r>
            <a:r>
              <a:rPr sz="2800" spc="-5" dirty="0">
                <a:cs typeface="Calibri"/>
              </a:rPr>
              <a:t>}</a:t>
            </a:r>
            <a:r>
              <a:rPr sz="2800" i="1" spc="-5" dirty="0">
                <a:cs typeface="Calibri"/>
              </a:rPr>
              <a:t>.</a:t>
            </a:r>
            <a:endParaRPr sz="2800" dirty="0">
              <a:cs typeface="Calibri"/>
            </a:endParaRPr>
          </a:p>
          <a:p>
            <a:pPr marL="11506"/>
            <a:r>
              <a:rPr sz="2800" i="1" dirty="0">
                <a:solidFill>
                  <a:srgbClr val="FF0000"/>
                </a:solidFill>
                <a:cs typeface="Calibri"/>
              </a:rPr>
              <a:t>B </a:t>
            </a:r>
            <a:r>
              <a:rPr sz="2800" dirty="0">
                <a:solidFill>
                  <a:srgbClr val="FF0000"/>
                </a:solidFill>
                <a:cs typeface="Calibri"/>
              </a:rPr>
              <a:t>× </a:t>
            </a:r>
            <a:r>
              <a:rPr sz="2800" i="1" dirty="0">
                <a:solidFill>
                  <a:srgbClr val="FF0000"/>
                </a:solidFill>
                <a:cs typeface="Calibri"/>
              </a:rPr>
              <a:t>A </a:t>
            </a:r>
            <a:r>
              <a:rPr sz="2800" dirty="0">
                <a:cs typeface="Calibri"/>
              </a:rPr>
              <a:t>=</a:t>
            </a:r>
            <a:r>
              <a:rPr sz="2800" spc="-14" dirty="0">
                <a:cs typeface="Calibri"/>
              </a:rPr>
              <a:t> </a:t>
            </a:r>
            <a:r>
              <a:rPr sz="2800" spc="-5" dirty="0">
                <a:cs typeface="Calibri"/>
              </a:rPr>
              <a:t>{(a,1),(a,2),(b,1),(b,2),(c,1),(c,2)}</a:t>
            </a:r>
            <a:endParaRPr sz="2800" dirty="0">
              <a:cs typeface="Calibri"/>
            </a:endParaRPr>
          </a:p>
          <a:p>
            <a:pPr>
              <a:spcBef>
                <a:spcPts val="9"/>
              </a:spcBef>
            </a:pPr>
            <a:endParaRPr sz="2800" dirty="0">
              <a:cs typeface="Times New Roman"/>
            </a:endParaRPr>
          </a:p>
          <a:p>
            <a:pPr marL="529285" indent="-517779">
              <a:buFont typeface="Arial"/>
              <a:buChar char="•"/>
              <a:tabLst>
                <a:tab pos="528710" algn="l"/>
                <a:tab pos="529285" algn="l"/>
              </a:tabLst>
            </a:pPr>
            <a:r>
              <a:rPr sz="2800" spc="-14" dirty="0">
                <a:cs typeface="Calibri"/>
              </a:rPr>
              <a:t>Are </a:t>
            </a:r>
            <a:r>
              <a:rPr sz="2800" dirty="0">
                <a:cs typeface="Calibri"/>
              </a:rPr>
              <a:t>A x B and B x A</a:t>
            </a:r>
            <a:r>
              <a:rPr sz="2800" spc="-41" dirty="0">
                <a:cs typeface="Calibri"/>
              </a:rPr>
              <a:t> </a:t>
            </a:r>
            <a:r>
              <a:rPr sz="2800" spc="-5" dirty="0">
                <a:cs typeface="Calibri"/>
              </a:rPr>
              <a:t>equal?</a:t>
            </a:r>
            <a:endParaRPr lang="en-US" sz="2800" spc="-5" dirty="0">
              <a:cs typeface="Calibri"/>
            </a:endParaRPr>
          </a:p>
          <a:p>
            <a:pPr marL="529285" indent="-517779">
              <a:buFont typeface="Arial"/>
              <a:buChar char="•"/>
              <a:tabLst>
                <a:tab pos="528710" algn="l"/>
                <a:tab pos="529285" algn="l"/>
              </a:tabLst>
            </a:pPr>
            <a:endParaRPr sz="2800" dirty="0">
              <a:cs typeface="Calibri"/>
            </a:endParaRPr>
          </a:p>
          <a:p>
            <a:pPr marL="529285" marR="4602" indent="-517779">
              <a:spcBef>
                <a:spcPts val="18"/>
              </a:spcBef>
              <a:buFont typeface="Arial"/>
              <a:buChar char="•"/>
              <a:tabLst>
                <a:tab pos="528710" algn="l"/>
                <a:tab pos="529285" algn="l"/>
                <a:tab pos="2449095" algn="l"/>
              </a:tabLst>
            </a:pPr>
            <a:r>
              <a:rPr sz="2800" dirty="0">
                <a:cs typeface="Calibri"/>
              </a:rPr>
              <a:t>A x B and B x A </a:t>
            </a:r>
            <a:r>
              <a:rPr sz="2800" spc="-14" dirty="0">
                <a:cs typeface="Calibri"/>
              </a:rPr>
              <a:t>are </a:t>
            </a:r>
            <a:r>
              <a:rPr sz="2800" dirty="0">
                <a:cs typeface="Calibri"/>
              </a:rPr>
              <a:t>equal if A = </a:t>
            </a:r>
            <a:r>
              <a:rPr sz="2800" dirty="0">
                <a:cs typeface="Cambria Math"/>
              </a:rPr>
              <a:t>∅ </a:t>
            </a:r>
            <a:r>
              <a:rPr sz="2800" spc="-5" dirty="0">
                <a:cs typeface="Calibri"/>
              </a:rPr>
              <a:t>or </a:t>
            </a:r>
            <a:r>
              <a:rPr sz="2800" dirty="0">
                <a:cs typeface="Calibri"/>
              </a:rPr>
              <a:t>B = </a:t>
            </a:r>
            <a:r>
              <a:rPr sz="2800" dirty="0">
                <a:cs typeface="Cambria Math"/>
              </a:rPr>
              <a:t>∅ </a:t>
            </a:r>
            <a:endParaRPr lang="en-US" sz="2800" dirty="0">
              <a:cs typeface="Cambria Math"/>
            </a:endParaRPr>
          </a:p>
          <a:p>
            <a:pPr marL="529285" marR="4602" indent="-517779">
              <a:spcBef>
                <a:spcPts val="18"/>
              </a:spcBef>
              <a:buFont typeface="Arial"/>
              <a:buChar char="•"/>
              <a:tabLst>
                <a:tab pos="528710" algn="l"/>
                <a:tab pos="529285" algn="l"/>
                <a:tab pos="2449095" algn="l"/>
              </a:tabLst>
            </a:pPr>
            <a:r>
              <a:rPr sz="2800" spc="-5" dirty="0">
                <a:cs typeface="Calibri"/>
              </a:rPr>
              <a:t>(so </a:t>
            </a:r>
            <a:r>
              <a:rPr sz="2800" spc="-9" dirty="0">
                <a:cs typeface="Calibri"/>
              </a:rPr>
              <a:t>that</a:t>
            </a:r>
            <a:r>
              <a:rPr sz="2800" spc="-100" dirty="0">
                <a:cs typeface="Calibri"/>
              </a:rPr>
              <a:t> </a:t>
            </a:r>
            <a:r>
              <a:rPr sz="2800" dirty="0">
                <a:cs typeface="Calibri"/>
              </a:rPr>
              <a:t>A  x B = </a:t>
            </a:r>
            <a:r>
              <a:rPr sz="2800" spc="-5" dirty="0">
                <a:cs typeface="Cambria Math"/>
              </a:rPr>
              <a:t>∅</a:t>
            </a:r>
            <a:r>
              <a:rPr sz="2800" spc="-5" dirty="0">
                <a:cs typeface="Calibri"/>
              </a:rPr>
              <a:t>) or	</a:t>
            </a:r>
            <a:r>
              <a:rPr sz="2800" dirty="0">
                <a:cs typeface="Calibri"/>
              </a:rPr>
              <a:t>A =</a:t>
            </a:r>
            <a:r>
              <a:rPr sz="2800" spc="-18" dirty="0">
                <a:cs typeface="Calibri"/>
              </a:rPr>
              <a:t> </a:t>
            </a:r>
            <a:r>
              <a:rPr sz="2800" dirty="0">
                <a:cs typeface="Calibri"/>
              </a:rPr>
              <a:t>B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9417F8-3BB3-4502-B1AB-28ADC83444FD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cs typeface="Arial"/>
              </a:rPr>
              <a:t>Examples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75467" y="1764184"/>
            <a:ext cx="9841065" cy="2658754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 marR="4602" algn="just">
              <a:spcBef>
                <a:spcPts val="91"/>
              </a:spcBef>
            </a:pPr>
            <a:r>
              <a:rPr sz="2800" spc="-5" dirty="0">
                <a:cs typeface="Calibri"/>
              </a:rPr>
              <a:t>The </a:t>
            </a:r>
            <a:r>
              <a:rPr sz="2800" i="1" spc="-9" dirty="0">
                <a:cs typeface="Calibri"/>
              </a:rPr>
              <a:t>Cartesian </a:t>
            </a:r>
            <a:r>
              <a:rPr sz="2800" i="1" spc="-5" dirty="0">
                <a:cs typeface="Calibri"/>
              </a:rPr>
              <a:t>product </a:t>
            </a:r>
            <a:r>
              <a:rPr sz="2800" spc="-5" dirty="0">
                <a:cs typeface="Calibri"/>
              </a:rPr>
              <a:t>of </a:t>
            </a:r>
            <a:r>
              <a:rPr sz="2800" spc="-9" dirty="0">
                <a:cs typeface="Calibri"/>
              </a:rPr>
              <a:t>sets </a:t>
            </a:r>
            <a:r>
              <a:rPr sz="2800" i="1" spc="-5" dirty="0">
                <a:cs typeface="Calibri"/>
              </a:rPr>
              <a:t>A</a:t>
            </a:r>
            <a:r>
              <a:rPr sz="2800" i="1" spc="-6" baseline="-20833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A</a:t>
            </a:r>
            <a:r>
              <a:rPr sz="2800" i="1" spc="-6" baseline="-20833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i="1" dirty="0">
                <a:cs typeface="Calibri"/>
              </a:rPr>
              <a:t>…, </a:t>
            </a:r>
            <a:r>
              <a:rPr sz="2800" i="1" spc="-5" dirty="0">
                <a:cs typeface="Calibri"/>
              </a:rPr>
              <a:t>A</a:t>
            </a:r>
            <a:r>
              <a:rPr sz="2800" i="1" spc="-6" baseline="-20833" dirty="0">
                <a:cs typeface="Calibri"/>
              </a:rPr>
              <a:t>n</a:t>
            </a:r>
            <a:r>
              <a:rPr sz="2800" i="1" spc="-5" dirty="0">
                <a:cs typeface="Calibri"/>
              </a:rPr>
              <a:t>, </a:t>
            </a:r>
            <a:r>
              <a:rPr sz="2800" spc="-9" dirty="0">
                <a:cs typeface="Calibri"/>
              </a:rPr>
              <a:t>denoted  </a:t>
            </a:r>
            <a:r>
              <a:rPr sz="2800" spc="-5" dirty="0">
                <a:cs typeface="Calibri"/>
              </a:rPr>
              <a:t>by </a:t>
            </a:r>
            <a:r>
              <a:rPr sz="2800" i="1" dirty="0">
                <a:cs typeface="Calibri"/>
              </a:rPr>
              <a:t>A</a:t>
            </a:r>
            <a:r>
              <a:rPr sz="2800" i="1" baseline="-20833" dirty="0">
                <a:cs typeface="Calibri"/>
              </a:rPr>
              <a:t>1 </a:t>
            </a:r>
            <a:r>
              <a:rPr sz="2800" dirty="0">
                <a:cs typeface="Calibri"/>
              </a:rPr>
              <a:t>× A</a:t>
            </a:r>
            <a:r>
              <a:rPr sz="2800" baseline="-20833" dirty="0">
                <a:cs typeface="Calibri"/>
              </a:rPr>
              <a:t>2 </a:t>
            </a:r>
            <a:r>
              <a:rPr sz="2800" dirty="0">
                <a:cs typeface="Calibri"/>
              </a:rPr>
              <a:t>× … × </a:t>
            </a:r>
            <a:r>
              <a:rPr sz="2800" i="1" dirty="0">
                <a:cs typeface="Calibri"/>
              </a:rPr>
              <a:t>A</a:t>
            </a:r>
            <a:r>
              <a:rPr sz="2800" i="1" baseline="-20833" dirty="0">
                <a:cs typeface="Calibri"/>
              </a:rPr>
              <a:t>n </a:t>
            </a:r>
            <a:r>
              <a:rPr sz="2800" dirty="0">
                <a:cs typeface="Calibri"/>
              </a:rPr>
              <a:t>is the </a:t>
            </a:r>
            <a:r>
              <a:rPr sz="2800" spc="-14" dirty="0">
                <a:cs typeface="Calibri"/>
              </a:rPr>
              <a:t>set </a:t>
            </a:r>
            <a:r>
              <a:rPr sz="2800" spc="-5" dirty="0">
                <a:cs typeface="Calibri"/>
              </a:rPr>
              <a:t>of </a:t>
            </a:r>
            <a:r>
              <a:rPr sz="2800" spc="-18" dirty="0">
                <a:cs typeface="Calibri"/>
              </a:rPr>
              <a:t>ordered </a:t>
            </a:r>
            <a:r>
              <a:rPr sz="2800" i="1" dirty="0">
                <a:cs typeface="Calibri"/>
              </a:rPr>
              <a:t>n</a:t>
            </a:r>
            <a:r>
              <a:rPr sz="2800" dirty="0">
                <a:cs typeface="Calibri"/>
              </a:rPr>
              <a:t>-tuples </a:t>
            </a:r>
            <a:r>
              <a:rPr sz="2800" spc="-5" dirty="0">
                <a:cs typeface="Calibri"/>
              </a:rPr>
              <a:t>(</a:t>
            </a:r>
            <a:r>
              <a:rPr sz="2800" i="1" spc="-5" dirty="0">
                <a:cs typeface="Calibri"/>
              </a:rPr>
              <a:t>a</a:t>
            </a:r>
            <a:r>
              <a:rPr sz="2800" i="1" spc="-6" baseline="-20833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 a</a:t>
            </a:r>
            <a:r>
              <a:rPr sz="2800" i="1" spc="-6" baseline="-20833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i="1" dirty="0">
                <a:cs typeface="Calibri"/>
              </a:rPr>
              <a:t>…, </a:t>
            </a:r>
            <a:r>
              <a:rPr sz="2800" i="1" spc="-5" dirty="0">
                <a:cs typeface="Calibri"/>
              </a:rPr>
              <a:t>a</a:t>
            </a:r>
            <a:r>
              <a:rPr sz="2800" i="1" spc="-6" baseline="-20833" dirty="0">
                <a:cs typeface="Calibri"/>
              </a:rPr>
              <a:t>n</a:t>
            </a:r>
            <a:r>
              <a:rPr sz="2800" spc="-5" dirty="0">
                <a:cs typeface="Calibri"/>
              </a:rPr>
              <a:t>), </a:t>
            </a:r>
            <a:r>
              <a:rPr sz="2800" spc="-9" dirty="0">
                <a:cs typeface="Calibri"/>
              </a:rPr>
              <a:t>where </a:t>
            </a:r>
            <a:r>
              <a:rPr sz="2800" i="1" dirty="0">
                <a:cs typeface="Calibri"/>
              </a:rPr>
              <a:t>a</a:t>
            </a:r>
            <a:r>
              <a:rPr sz="2800" i="1" baseline="-20833" dirty="0">
                <a:cs typeface="Calibri"/>
              </a:rPr>
              <a:t>i </a:t>
            </a:r>
            <a:r>
              <a:rPr sz="2800" spc="-5" dirty="0">
                <a:cs typeface="Calibri"/>
              </a:rPr>
              <a:t>belongs </a:t>
            </a:r>
            <a:r>
              <a:rPr sz="2800" spc="-18" dirty="0">
                <a:cs typeface="Calibri"/>
              </a:rPr>
              <a:t>to </a:t>
            </a:r>
            <a:r>
              <a:rPr sz="2800" i="1" dirty="0">
                <a:cs typeface="Calibri"/>
              </a:rPr>
              <a:t>A</a:t>
            </a:r>
            <a:r>
              <a:rPr sz="2800" i="1" baseline="-20833" dirty="0">
                <a:cs typeface="Calibri"/>
              </a:rPr>
              <a:t>i </a:t>
            </a:r>
            <a:r>
              <a:rPr sz="2800" spc="-23" dirty="0">
                <a:cs typeface="Calibri"/>
              </a:rPr>
              <a:t>for </a:t>
            </a:r>
            <a:r>
              <a:rPr sz="2800" i="1" dirty="0">
                <a:cs typeface="Calibri"/>
              </a:rPr>
              <a:t>i </a:t>
            </a:r>
            <a:r>
              <a:rPr sz="2800" dirty="0">
                <a:cs typeface="Calibri"/>
              </a:rPr>
              <a:t>= 1,2, </a:t>
            </a:r>
            <a:r>
              <a:rPr sz="2800" spc="-5" dirty="0">
                <a:cs typeface="Calibri"/>
              </a:rPr>
              <a:t>…,</a:t>
            </a:r>
            <a:r>
              <a:rPr sz="2800" spc="-503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n</a:t>
            </a:r>
            <a:r>
              <a:rPr sz="2800" spc="-5" dirty="0">
                <a:cs typeface="Calibri"/>
              </a:rPr>
              <a:t>.</a:t>
            </a:r>
            <a:endParaRPr sz="2800" dirty="0">
              <a:cs typeface="Calibri"/>
            </a:endParaRPr>
          </a:p>
          <a:p>
            <a:pPr>
              <a:spcBef>
                <a:spcPts val="5"/>
              </a:spcBef>
            </a:pPr>
            <a:endParaRPr sz="2800" dirty="0">
              <a:cs typeface="Times New Roman"/>
            </a:endParaRPr>
          </a:p>
          <a:p>
            <a:pPr marL="11506"/>
            <a:r>
              <a:rPr sz="2800" dirty="0">
                <a:cs typeface="Calibri"/>
              </a:rPr>
              <a:t>In </a:t>
            </a:r>
            <a:r>
              <a:rPr sz="2800" spc="-5" dirty="0">
                <a:cs typeface="Calibri"/>
              </a:rPr>
              <a:t>other </a:t>
            </a:r>
            <a:r>
              <a:rPr sz="2800" spc="-18" dirty="0">
                <a:cs typeface="Calibri"/>
              </a:rPr>
              <a:t>words,</a:t>
            </a:r>
            <a:endParaRPr sz="2800" dirty="0">
              <a:cs typeface="Calibri"/>
            </a:endParaRPr>
          </a:p>
          <a:p>
            <a:pPr marL="11506" marR="16684" algn="just">
              <a:lnSpc>
                <a:spcPts val="3896"/>
              </a:lnSpc>
              <a:spcBef>
                <a:spcPts val="163"/>
              </a:spcBef>
            </a:pPr>
            <a:r>
              <a:rPr sz="2800" i="1" dirty="0">
                <a:cs typeface="Calibri"/>
              </a:rPr>
              <a:t>A</a:t>
            </a:r>
            <a:r>
              <a:rPr sz="2800" i="1" baseline="-20833" dirty="0">
                <a:cs typeface="Calibri"/>
              </a:rPr>
              <a:t>1 </a:t>
            </a:r>
            <a:r>
              <a:rPr sz="2800" dirty="0">
                <a:cs typeface="Calibri"/>
              </a:rPr>
              <a:t>× A</a:t>
            </a:r>
            <a:r>
              <a:rPr sz="2800" baseline="-20833" dirty="0">
                <a:cs typeface="Calibri"/>
              </a:rPr>
              <a:t>2 </a:t>
            </a:r>
            <a:r>
              <a:rPr sz="2800" dirty="0">
                <a:cs typeface="Calibri"/>
              </a:rPr>
              <a:t>× … × </a:t>
            </a:r>
            <a:r>
              <a:rPr sz="2800" i="1" dirty="0">
                <a:cs typeface="Calibri"/>
              </a:rPr>
              <a:t>A</a:t>
            </a:r>
            <a:r>
              <a:rPr sz="2800" i="1" baseline="-20833" dirty="0">
                <a:cs typeface="Calibri"/>
              </a:rPr>
              <a:t>n </a:t>
            </a:r>
            <a:r>
              <a:rPr sz="2800" dirty="0">
                <a:cs typeface="Calibri"/>
              </a:rPr>
              <a:t>= </a:t>
            </a:r>
            <a:r>
              <a:rPr sz="2800" spc="-5" dirty="0">
                <a:cs typeface="Calibri"/>
              </a:rPr>
              <a:t>{</a:t>
            </a:r>
            <a:r>
              <a:rPr sz="2800" i="1" spc="-5" dirty="0">
                <a:cs typeface="Calibri"/>
              </a:rPr>
              <a:t>(a</a:t>
            </a:r>
            <a:r>
              <a:rPr sz="2800" spc="-5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a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i="1" dirty="0">
                <a:cs typeface="Calibri"/>
              </a:rPr>
              <a:t>. . . , </a:t>
            </a:r>
            <a:r>
              <a:rPr sz="2800" i="1" spc="-5" dirty="0">
                <a:cs typeface="Calibri"/>
              </a:rPr>
              <a:t>an) </a:t>
            </a:r>
            <a:r>
              <a:rPr sz="2800" dirty="0">
                <a:cs typeface="Calibri"/>
              </a:rPr>
              <a:t>| </a:t>
            </a:r>
            <a:r>
              <a:rPr sz="2800" i="1" spc="-5" dirty="0">
                <a:cs typeface="Calibri"/>
              </a:rPr>
              <a:t>a</a:t>
            </a:r>
            <a:r>
              <a:rPr sz="2800" i="1" spc="-6" baseline="-20833" dirty="0">
                <a:cs typeface="Calibri"/>
              </a:rPr>
              <a:t>i </a:t>
            </a:r>
            <a:r>
              <a:rPr sz="2800" dirty="0">
                <a:cs typeface="Cambria Math"/>
              </a:rPr>
              <a:t>∈ </a:t>
            </a:r>
            <a:r>
              <a:rPr sz="2800" i="1" dirty="0">
                <a:cs typeface="Calibri"/>
              </a:rPr>
              <a:t>A</a:t>
            </a:r>
            <a:r>
              <a:rPr sz="2800" i="1" baseline="-20833" dirty="0">
                <a:cs typeface="Calibri"/>
              </a:rPr>
              <a:t>i </a:t>
            </a:r>
            <a:r>
              <a:rPr sz="2800" spc="-23" dirty="0">
                <a:cs typeface="Calibri"/>
              </a:rPr>
              <a:t>for </a:t>
            </a:r>
            <a:r>
              <a:rPr sz="2800" i="1" dirty="0">
                <a:cs typeface="Calibri"/>
              </a:rPr>
              <a:t>i </a:t>
            </a:r>
            <a:r>
              <a:rPr sz="2800" dirty="0">
                <a:cs typeface="Calibri"/>
              </a:rPr>
              <a:t>= </a:t>
            </a:r>
            <a:r>
              <a:rPr sz="2800" spc="-5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 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i="1" dirty="0">
                <a:cs typeface="Calibri"/>
              </a:rPr>
              <a:t>. . . ,</a:t>
            </a:r>
            <a:r>
              <a:rPr sz="2800" i="1" spc="-9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n</a:t>
            </a:r>
            <a:r>
              <a:rPr sz="2800" spc="-5" dirty="0">
                <a:cs typeface="Calibri"/>
              </a:rPr>
              <a:t>}</a:t>
            </a:r>
            <a:r>
              <a:rPr sz="2800" i="1" spc="-5" dirty="0">
                <a:cs typeface="Calibri"/>
              </a:rPr>
              <a:t>.</a:t>
            </a:r>
            <a:endParaRPr sz="2800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93C6CE-1D49-4CEF-9633-E068C50D0A55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cs typeface="Arial"/>
              </a:rPr>
              <a:t>Cartesian</a:t>
            </a:r>
            <a:r>
              <a:rPr lang="en-US" sz="4800" spc="-86" dirty="0">
                <a:cs typeface="Arial"/>
              </a:rPr>
              <a:t> P</a:t>
            </a:r>
            <a:r>
              <a:rPr lang="en-US" sz="4800" dirty="0">
                <a:cs typeface="Arial"/>
              </a:rPr>
              <a:t>roduct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04088" y="1938995"/>
            <a:ext cx="9437653" cy="3027830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</a:pPr>
            <a:r>
              <a:rPr sz="2800" spc="-9" dirty="0">
                <a:cs typeface="Calibri"/>
              </a:rPr>
              <a:t>Example:</a:t>
            </a:r>
            <a:endParaRPr sz="2800" dirty="0">
              <a:cs typeface="Calibri"/>
            </a:endParaRPr>
          </a:p>
          <a:p>
            <a:pPr marL="839953">
              <a:tabLst>
                <a:tab pos="7725263" algn="l"/>
              </a:tabLst>
            </a:pPr>
            <a:r>
              <a:rPr sz="2800" spc="-9" dirty="0">
                <a:cs typeface="Calibri"/>
              </a:rPr>
              <a:t>What </a:t>
            </a:r>
            <a:r>
              <a:rPr sz="2800" dirty="0">
                <a:cs typeface="Calibri"/>
              </a:rPr>
              <a:t>is the </a:t>
            </a:r>
            <a:r>
              <a:rPr sz="2800" spc="-9" dirty="0">
                <a:cs typeface="Calibri"/>
              </a:rPr>
              <a:t>Cartesian </a:t>
            </a:r>
            <a:r>
              <a:rPr sz="2800" spc="-14" dirty="0">
                <a:cs typeface="Calibri"/>
              </a:rPr>
              <a:t>product </a:t>
            </a:r>
            <a:r>
              <a:rPr sz="2800" spc="-5" dirty="0">
                <a:cs typeface="Calibri"/>
              </a:rPr>
              <a:t>of </a:t>
            </a:r>
            <a:r>
              <a:rPr sz="2800" dirty="0">
                <a:cs typeface="Calibri"/>
              </a:rPr>
              <a:t>A × B</a:t>
            </a:r>
            <a:r>
              <a:rPr sz="2800" spc="9" dirty="0">
                <a:cs typeface="Calibri"/>
              </a:rPr>
              <a:t> </a:t>
            </a:r>
            <a:r>
              <a:rPr sz="2800" dirty="0">
                <a:cs typeface="Calibri"/>
              </a:rPr>
              <a:t>×</a:t>
            </a:r>
            <a:r>
              <a:rPr lang="en-US" sz="2800" dirty="0">
                <a:cs typeface="Calibri"/>
              </a:rPr>
              <a:t> </a:t>
            </a:r>
            <a:r>
              <a:rPr sz="2800" dirty="0">
                <a:cs typeface="Calibri"/>
              </a:rPr>
              <a:t>C</a:t>
            </a:r>
          </a:p>
          <a:p>
            <a:pPr marL="11506"/>
            <a:r>
              <a:rPr sz="2800" spc="-9" dirty="0">
                <a:cs typeface="Calibri"/>
              </a:rPr>
              <a:t>where </a:t>
            </a:r>
            <a:r>
              <a:rPr sz="2800" dirty="0">
                <a:cs typeface="Calibri"/>
              </a:rPr>
              <a:t>A= </a:t>
            </a:r>
            <a:r>
              <a:rPr sz="2800" spc="-5" dirty="0">
                <a:cs typeface="Calibri"/>
              </a:rPr>
              <a:t>{0,1}, </a:t>
            </a:r>
            <a:r>
              <a:rPr sz="2800" dirty="0">
                <a:cs typeface="Calibri"/>
              </a:rPr>
              <a:t>B = </a:t>
            </a:r>
            <a:r>
              <a:rPr sz="2800" spc="-5" dirty="0">
                <a:cs typeface="Calibri"/>
              </a:rPr>
              <a:t>{1,2}, </a:t>
            </a:r>
            <a:r>
              <a:rPr sz="2800" dirty="0">
                <a:cs typeface="Calibri"/>
              </a:rPr>
              <a:t>and C =</a:t>
            </a:r>
            <a:r>
              <a:rPr sz="2800" spc="-41" dirty="0">
                <a:cs typeface="Calibri"/>
              </a:rPr>
              <a:t> </a:t>
            </a:r>
            <a:r>
              <a:rPr sz="2800" spc="-5" dirty="0">
                <a:cs typeface="Calibri"/>
              </a:rPr>
              <a:t>{0,1,2}?</a:t>
            </a:r>
            <a:endParaRPr lang="en-US" sz="2800" dirty="0">
              <a:cs typeface="Calibri"/>
            </a:endParaRPr>
          </a:p>
          <a:p>
            <a:pPr marL="11506"/>
            <a:endParaRPr lang="en-US" sz="2800" spc="-5" dirty="0">
              <a:solidFill>
                <a:srgbClr val="FF0000"/>
              </a:solidFill>
              <a:cs typeface="Calibri"/>
            </a:endParaRPr>
          </a:p>
          <a:p>
            <a:pPr marL="11506"/>
            <a:r>
              <a:rPr sz="2800" spc="-5" dirty="0">
                <a:solidFill>
                  <a:srgbClr val="FF0000"/>
                </a:solidFill>
                <a:cs typeface="Calibri"/>
              </a:rPr>
              <a:t>Solution</a:t>
            </a:r>
            <a:r>
              <a:rPr sz="2800" spc="-5" dirty="0">
                <a:cs typeface="Calibri"/>
              </a:rPr>
              <a:t>:</a:t>
            </a:r>
            <a:endParaRPr sz="2800" dirty="0">
              <a:cs typeface="Calibri"/>
            </a:endParaRPr>
          </a:p>
          <a:p>
            <a:pPr marL="479233"/>
            <a:r>
              <a:rPr sz="2800" i="1" dirty="0">
                <a:cs typeface="Calibri"/>
              </a:rPr>
              <a:t>A </a:t>
            </a:r>
            <a:r>
              <a:rPr sz="2800" dirty="0">
                <a:cs typeface="Calibri"/>
              </a:rPr>
              <a:t>× </a:t>
            </a:r>
            <a:r>
              <a:rPr sz="2800" i="1" dirty="0">
                <a:cs typeface="Calibri"/>
              </a:rPr>
              <a:t>B </a:t>
            </a:r>
            <a:r>
              <a:rPr sz="2800" dirty="0">
                <a:cs typeface="Calibri"/>
              </a:rPr>
              <a:t>× </a:t>
            </a:r>
            <a:r>
              <a:rPr sz="2800" spc="-5" dirty="0">
                <a:cs typeface="Calibri"/>
              </a:rPr>
              <a:t>C= {(0,1,0), (0,1,1), (0,1,2), (0,2,0),</a:t>
            </a:r>
            <a:r>
              <a:rPr sz="2800" spc="-63" dirty="0">
                <a:cs typeface="Calibri"/>
              </a:rPr>
              <a:t> </a:t>
            </a:r>
            <a:r>
              <a:rPr sz="2800" spc="-5" dirty="0">
                <a:cs typeface="Calibri"/>
              </a:rPr>
              <a:t>(0,2,1),</a:t>
            </a:r>
            <a:endParaRPr sz="2800" dirty="0">
              <a:cs typeface="Calibri"/>
            </a:endParaRPr>
          </a:p>
          <a:p>
            <a:pPr marL="11506"/>
            <a:r>
              <a:rPr sz="2800" spc="-5" dirty="0">
                <a:cs typeface="Calibri"/>
              </a:rPr>
              <a:t>(0,2,2), (1,1,0), (1,1,1), (</a:t>
            </a:r>
            <a:r>
              <a:rPr lang="en-US" sz="2800" spc="-5" dirty="0">
                <a:cs typeface="Calibri"/>
              </a:rPr>
              <a:t>1,1,2</a:t>
            </a:r>
            <a:r>
              <a:rPr lang="en-PK" sz="2800" spc="-5" dirty="0">
                <a:cs typeface="Calibri"/>
              </a:rPr>
              <a:t>), (1,2,0), (1,2,1),</a:t>
            </a:r>
            <a:r>
              <a:rPr lang="en-PK" sz="2800" spc="-59" dirty="0">
                <a:cs typeface="Calibri"/>
              </a:rPr>
              <a:t> </a:t>
            </a:r>
            <a:r>
              <a:rPr lang="en-PK" sz="2800" spc="-5" dirty="0">
                <a:cs typeface="Calibri"/>
              </a:rPr>
              <a:t>(1,2,2)}</a:t>
            </a:r>
            <a:endParaRPr sz="2800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E3BFD8-C437-41C6-AE3F-95871824A813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+mn-lt"/>
                <a:cs typeface="Arial"/>
              </a:rPr>
              <a:t>Cartesian</a:t>
            </a:r>
            <a:r>
              <a:rPr lang="en-US" sz="4800" spc="-86" dirty="0">
                <a:latin typeface="+mn-lt"/>
                <a:cs typeface="Arial"/>
              </a:rPr>
              <a:t> P</a:t>
            </a:r>
            <a:r>
              <a:rPr lang="en-US" sz="4800" dirty="0">
                <a:latin typeface="+mn-lt"/>
                <a:cs typeface="Arial"/>
              </a:rPr>
              <a:t>roduct (Examples)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55823" y="803239"/>
            <a:ext cx="9755134" cy="6093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152"/>
            <a:r>
              <a:rPr lang="en-US" dirty="0"/>
              <a:t>Using Set Notation with Quantifiers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082842" y="2048195"/>
            <a:ext cx="8747072" cy="2676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en-US" sz="2899" dirty="0"/>
          </a:p>
          <a:p>
            <a:r>
              <a:rPr lang="en-US" sz="2899" dirty="0"/>
              <a:t>Using Set Notation with Quantifiers</a:t>
            </a:r>
          </a:p>
          <a:p>
            <a:endParaRPr lang="en-US" sz="2899" dirty="0"/>
          </a:p>
          <a:p>
            <a:pPr marL="329454" indent="-329454">
              <a:buFont typeface="Arial" panose="020B0604020202020204" pitchFamily="34" charset="0"/>
              <a:buChar char="•"/>
            </a:pPr>
            <a:r>
              <a:rPr lang="en-US" sz="2899" dirty="0"/>
              <a:t>∀</a:t>
            </a:r>
            <a:r>
              <a:rPr lang="en-US" sz="2899" i="1" dirty="0"/>
              <a:t>x </a:t>
            </a:r>
            <a:r>
              <a:rPr lang="en-US" sz="2899" dirty="0"/>
              <a:t>∈</a:t>
            </a:r>
            <a:r>
              <a:rPr lang="en-US" sz="2899" i="1" dirty="0"/>
              <a:t>S (P(x)) </a:t>
            </a:r>
            <a:r>
              <a:rPr lang="en-US" sz="2899" dirty="0"/>
              <a:t>is shorthand for ∀</a:t>
            </a:r>
            <a:r>
              <a:rPr lang="en-US" sz="2899" i="1" dirty="0"/>
              <a:t>x(x </a:t>
            </a:r>
            <a:r>
              <a:rPr lang="en-US" sz="2899" dirty="0"/>
              <a:t>∈ </a:t>
            </a:r>
            <a:r>
              <a:rPr lang="en-US" sz="2899" i="1" dirty="0"/>
              <a:t>S </a:t>
            </a:r>
            <a:r>
              <a:rPr lang="en-US" sz="2899" dirty="0"/>
              <a:t>→ </a:t>
            </a:r>
            <a:r>
              <a:rPr lang="en-US" sz="2899" i="1" dirty="0"/>
              <a:t>P(x))</a:t>
            </a:r>
            <a:r>
              <a:rPr lang="en-US" sz="2899" dirty="0"/>
              <a:t>.</a:t>
            </a:r>
          </a:p>
          <a:p>
            <a:pPr marL="329454" indent="-329454">
              <a:buFont typeface="Arial" panose="020B0604020202020204" pitchFamily="34" charset="0"/>
              <a:buChar char="•"/>
            </a:pPr>
            <a:endParaRPr lang="en-US" sz="2899" i="1" dirty="0"/>
          </a:p>
          <a:p>
            <a:pPr marL="329454" indent="-329454">
              <a:buFont typeface="Arial" panose="020B0604020202020204" pitchFamily="34" charset="0"/>
              <a:buChar char="•"/>
            </a:pPr>
            <a:r>
              <a:rPr lang="en-US" sz="2899" dirty="0"/>
              <a:t>∃</a:t>
            </a:r>
            <a:r>
              <a:rPr lang="en-US" sz="2899" i="1" dirty="0"/>
              <a:t>x </a:t>
            </a:r>
            <a:r>
              <a:rPr lang="en-US" sz="2899" dirty="0"/>
              <a:t>∈</a:t>
            </a:r>
            <a:r>
              <a:rPr lang="en-US" sz="2899" i="1" dirty="0"/>
              <a:t>S (P(x)) </a:t>
            </a:r>
            <a:r>
              <a:rPr lang="en-US" sz="2899" dirty="0"/>
              <a:t>is shorthand for ∃</a:t>
            </a:r>
            <a:r>
              <a:rPr lang="en-US" sz="2899" i="1" dirty="0"/>
              <a:t>x(x </a:t>
            </a:r>
            <a:r>
              <a:rPr lang="en-US" sz="2899" dirty="0"/>
              <a:t>∈ </a:t>
            </a:r>
            <a:r>
              <a:rPr lang="en-US" sz="2899" i="1" dirty="0"/>
              <a:t>S </a:t>
            </a:r>
            <a:r>
              <a:rPr lang="en-US" sz="2899" dirty="0"/>
              <a:t>∧ </a:t>
            </a:r>
            <a:r>
              <a:rPr lang="en-US" sz="2899" i="1" dirty="0"/>
              <a:t>P(x))</a:t>
            </a:r>
            <a:r>
              <a:rPr lang="en-US" sz="2899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61359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96234" y="432289"/>
            <a:ext cx="5953028" cy="6093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152"/>
            <a:r>
              <a:rPr lang="en-US" dirty="0"/>
              <a:t>Example </a:t>
            </a:r>
            <a:endParaRPr spc="-14" dirty="0"/>
          </a:p>
        </p:txBody>
      </p:sp>
      <p:sp>
        <p:nvSpPr>
          <p:cNvPr id="7" name="object 7"/>
          <p:cNvSpPr txBox="1"/>
          <p:nvPr/>
        </p:nvSpPr>
        <p:spPr>
          <a:xfrm>
            <a:off x="1066450" y="1282318"/>
            <a:ext cx="10059099" cy="5353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312"/>
            <a:r>
              <a:rPr lang="en-US" sz="2899" dirty="0"/>
              <a:t>What do the statements ∀ x ∈ </a:t>
            </a:r>
            <a:r>
              <a:rPr lang="en-US" sz="2899" i="1" dirty="0"/>
              <a:t>R</a:t>
            </a:r>
            <a:r>
              <a:rPr lang="en-US" sz="2899" dirty="0"/>
              <a:t>(x</a:t>
            </a:r>
            <a:r>
              <a:rPr lang="en-US" sz="2899" baseline="30000" dirty="0"/>
              <a:t>2</a:t>
            </a:r>
            <a:r>
              <a:rPr lang="en-US" sz="2899" dirty="0"/>
              <a:t> ≥ 0) and ∃</a:t>
            </a:r>
            <a:r>
              <a:rPr lang="en-US" sz="2899" i="1" dirty="0"/>
              <a:t>x </a:t>
            </a:r>
            <a:r>
              <a:rPr lang="en-US" sz="2899" dirty="0"/>
              <a:t>∈ A</a:t>
            </a:r>
            <a:r>
              <a:rPr lang="en-US" sz="2899" b="1" dirty="0"/>
              <a:t> </a:t>
            </a:r>
            <a:r>
              <a:rPr lang="en-US" sz="2899" i="1" dirty="0"/>
              <a:t>(</a:t>
            </a:r>
            <a:r>
              <a:rPr lang="en-US" sz="2899" dirty="0"/>
              <a:t>x</a:t>
            </a:r>
            <a:r>
              <a:rPr lang="en-US" sz="2899" baseline="30000" dirty="0"/>
              <a:t>2</a:t>
            </a:r>
            <a:r>
              <a:rPr lang="en-US" sz="2899" dirty="0"/>
              <a:t> = 1</a:t>
            </a:r>
            <a:r>
              <a:rPr lang="en-US" sz="2899" i="1" dirty="0"/>
              <a:t>) </a:t>
            </a:r>
            <a:r>
              <a:rPr lang="en-US" sz="2899" dirty="0"/>
              <a:t>where A= {1,2,3,4,5} mean?</a:t>
            </a:r>
          </a:p>
          <a:p>
            <a:pPr marL="228312"/>
            <a:r>
              <a:rPr lang="en-US" sz="2899" dirty="0">
                <a:solidFill>
                  <a:srgbClr val="FF0000"/>
                </a:solidFill>
                <a:highlight>
                  <a:srgbClr val="C0C0C0"/>
                </a:highlight>
              </a:rPr>
              <a:t>Solution: </a:t>
            </a:r>
          </a:p>
          <a:p>
            <a:pPr marL="228312"/>
            <a:endParaRPr lang="en-US" sz="2899" dirty="0"/>
          </a:p>
          <a:p>
            <a:pPr marL="228312"/>
            <a:r>
              <a:rPr lang="en-US" sz="2899" dirty="0"/>
              <a:t>∀</a:t>
            </a:r>
            <a:r>
              <a:rPr lang="en-US" sz="2899" i="1" dirty="0"/>
              <a:t>x </a:t>
            </a:r>
            <a:r>
              <a:rPr lang="en-US" sz="2899" dirty="0"/>
              <a:t>∈</a:t>
            </a:r>
            <a:r>
              <a:rPr lang="en-US" sz="2899" b="1" dirty="0"/>
              <a:t>R </a:t>
            </a:r>
            <a:r>
              <a:rPr lang="en-US" sz="2899" i="1" dirty="0"/>
              <a:t>(</a:t>
            </a:r>
            <a:r>
              <a:rPr lang="en-US" sz="2899" dirty="0"/>
              <a:t>x</a:t>
            </a:r>
            <a:r>
              <a:rPr lang="en-US" sz="2899" baseline="30000" dirty="0"/>
              <a:t>2</a:t>
            </a:r>
            <a:r>
              <a:rPr lang="en-US" sz="2899" dirty="0"/>
              <a:t> ≥ 0</a:t>
            </a:r>
            <a:r>
              <a:rPr lang="en-US" sz="2899" i="1" dirty="0"/>
              <a:t>)= </a:t>
            </a:r>
            <a:r>
              <a:rPr lang="en-US" sz="2899" dirty="0"/>
              <a:t>for every real number </a:t>
            </a:r>
            <a:r>
              <a:rPr lang="en-US" sz="2899" i="1" dirty="0"/>
              <a:t>x</a:t>
            </a:r>
            <a:r>
              <a:rPr lang="en-US" sz="2899" dirty="0"/>
              <a:t>, x</a:t>
            </a:r>
            <a:r>
              <a:rPr lang="en-US" sz="2899" baseline="30000" dirty="0"/>
              <a:t>2</a:t>
            </a:r>
            <a:r>
              <a:rPr lang="en-US" sz="2899" dirty="0"/>
              <a:t> ≥ 0. </a:t>
            </a:r>
          </a:p>
          <a:p>
            <a:pPr marL="228312"/>
            <a:r>
              <a:rPr lang="en-US" sz="2899" dirty="0"/>
              <a:t>“The square of every real number is nonnegative.” </a:t>
            </a:r>
          </a:p>
          <a:p>
            <a:pPr marL="228312"/>
            <a:r>
              <a:rPr lang="en-US" sz="2899" dirty="0"/>
              <a:t> </a:t>
            </a:r>
            <a:r>
              <a:rPr lang="en-US" sz="2899" dirty="0">
                <a:solidFill>
                  <a:srgbClr val="FF0000"/>
                </a:solidFill>
                <a:highlight>
                  <a:srgbClr val="C0C0C0"/>
                </a:highlight>
              </a:rPr>
              <a:t>True </a:t>
            </a:r>
          </a:p>
          <a:p>
            <a:pPr marL="228312"/>
            <a:endParaRPr lang="en-US" sz="2899" dirty="0">
              <a:solidFill>
                <a:srgbClr val="FF0000"/>
              </a:solidFill>
              <a:highlight>
                <a:srgbClr val="C0C0C0"/>
              </a:highlight>
            </a:endParaRPr>
          </a:p>
          <a:p>
            <a:pPr marL="228312"/>
            <a:r>
              <a:rPr lang="en-US" sz="2899" dirty="0"/>
              <a:t>∃</a:t>
            </a:r>
            <a:r>
              <a:rPr lang="en-US" sz="2899" i="1" dirty="0"/>
              <a:t>x </a:t>
            </a:r>
            <a:r>
              <a:rPr lang="en-US" sz="2899" dirty="0"/>
              <a:t>∈</a:t>
            </a:r>
            <a:r>
              <a:rPr lang="en-US" sz="2899" b="1" dirty="0"/>
              <a:t>Z </a:t>
            </a:r>
            <a:r>
              <a:rPr lang="en-US" sz="2899" i="1" dirty="0"/>
              <a:t>(</a:t>
            </a:r>
            <a:r>
              <a:rPr lang="en-US" sz="2899" dirty="0"/>
              <a:t>x</a:t>
            </a:r>
            <a:r>
              <a:rPr lang="en-US" sz="2899" baseline="30000" dirty="0"/>
              <a:t>2</a:t>
            </a:r>
            <a:r>
              <a:rPr lang="en-US" sz="2899" dirty="0"/>
              <a:t> = 1</a:t>
            </a:r>
            <a:r>
              <a:rPr lang="en-US" sz="2899" i="1" dirty="0"/>
              <a:t>) </a:t>
            </a:r>
            <a:r>
              <a:rPr lang="en-US" sz="2899" dirty="0"/>
              <a:t>= there exists an positive integer x less than 5 </a:t>
            </a:r>
            <a:r>
              <a:rPr lang="en-US" sz="2899" i="1" dirty="0"/>
              <a:t> </a:t>
            </a:r>
            <a:r>
              <a:rPr lang="en-US" sz="2899" dirty="0"/>
              <a:t>such that x</a:t>
            </a:r>
            <a:r>
              <a:rPr lang="en-US" sz="2899" baseline="30000" dirty="0"/>
              <a:t>2</a:t>
            </a:r>
            <a:r>
              <a:rPr lang="en-US" sz="2899" dirty="0"/>
              <a:t> = 1. </a:t>
            </a:r>
          </a:p>
          <a:p>
            <a:pPr marL="228312"/>
            <a:r>
              <a:rPr lang="en-US" sz="2899" dirty="0">
                <a:solidFill>
                  <a:srgbClr val="FF0000"/>
                </a:solidFill>
                <a:highlight>
                  <a:srgbClr val="C0C0C0"/>
                </a:highlight>
              </a:rPr>
              <a:t>True</a:t>
            </a:r>
          </a:p>
          <a:p>
            <a:pPr marL="228312"/>
            <a:r>
              <a:rPr lang="en-US" sz="2899" dirty="0"/>
              <a:t>“For x=1 from the given set A.”</a:t>
            </a:r>
            <a:endParaRPr lang="en-US" sz="2899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039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5811" y="720177"/>
            <a:ext cx="8855053" cy="6093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152"/>
            <a:r>
              <a:rPr lang="en-US" dirty="0"/>
              <a:t>Truth Sets and Quantifiers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98436" y="1723405"/>
            <a:ext cx="9349801" cy="341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lang="en-US" sz="3200" dirty="0"/>
              <a:t>Let P be a predicate and D is a domain.</a:t>
            </a:r>
          </a:p>
          <a:p>
            <a:pPr algn="just"/>
            <a:r>
              <a:rPr lang="en-US" sz="3200" dirty="0"/>
              <a:t> </a:t>
            </a:r>
          </a:p>
          <a:p>
            <a:pPr algn="just"/>
            <a:r>
              <a:rPr lang="en-US" sz="3200" dirty="0"/>
              <a:t>The truth set of P is the set of elements x in D for which P(x) is </a:t>
            </a:r>
            <a:r>
              <a:rPr lang="en-US" sz="2800" dirty="0">
                <a:solidFill>
                  <a:srgbClr val="FF0000"/>
                </a:solidFill>
                <a:highlight>
                  <a:srgbClr val="C0C0C0"/>
                </a:highlight>
              </a:rPr>
              <a:t>true</a:t>
            </a:r>
            <a:r>
              <a:rPr lang="en-US" sz="3200" dirty="0"/>
              <a:t>. 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The truth set of P is {</a:t>
            </a:r>
            <a:r>
              <a:rPr lang="en-US" sz="3200" i="1" dirty="0"/>
              <a:t>x </a:t>
            </a:r>
            <a:r>
              <a:rPr lang="en-US" sz="3200" dirty="0"/>
              <a:t>∈ </a:t>
            </a:r>
            <a:r>
              <a:rPr lang="en-US" sz="3200" i="1" dirty="0"/>
              <a:t>D </a:t>
            </a:r>
            <a:r>
              <a:rPr lang="en-US" sz="3200" dirty="0"/>
              <a:t>| </a:t>
            </a:r>
            <a:r>
              <a:rPr lang="en-US" sz="3200" i="1" dirty="0"/>
              <a:t>P(x)</a:t>
            </a:r>
            <a:r>
              <a:rPr lang="en-US" sz="3200" dirty="0"/>
              <a:t>}.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5350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49558" y="887722"/>
            <a:ext cx="8951306" cy="6093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152"/>
            <a:r>
              <a:rPr lang="en-US" dirty="0"/>
              <a:t>Truth Sets and Quantifiers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815504" y="2117235"/>
            <a:ext cx="8485360" cy="3243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lang="en-US" sz="2899" dirty="0">
                <a:solidFill>
                  <a:srgbClr val="FF0000"/>
                </a:solidFill>
                <a:highlight>
                  <a:srgbClr val="C0C0C0"/>
                </a:highlight>
              </a:rPr>
              <a:t>Example:</a:t>
            </a:r>
          </a:p>
          <a:p>
            <a:pPr algn="just"/>
            <a:endParaRPr lang="en-US" sz="2899" dirty="0">
              <a:solidFill>
                <a:srgbClr val="FF0000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3262" dirty="0"/>
              <a:t>Let P(x) be |x| = 1 where the domain is the set of integers. What is the truth set of P(x)? </a:t>
            </a:r>
          </a:p>
          <a:p>
            <a:pPr marL="0" lvl="1" algn="just"/>
            <a:endParaRPr lang="en-US" sz="2899" dirty="0">
              <a:solidFill>
                <a:srgbClr val="FF0000"/>
              </a:solidFill>
              <a:highlight>
                <a:srgbClr val="C0C0C0"/>
              </a:highlight>
            </a:endParaRPr>
          </a:p>
          <a:p>
            <a:pPr marL="0" lvl="1" algn="just"/>
            <a:r>
              <a:rPr lang="en-US" sz="2899" dirty="0">
                <a:solidFill>
                  <a:srgbClr val="FF0000"/>
                </a:solidFill>
                <a:highlight>
                  <a:srgbClr val="C0C0C0"/>
                </a:highlight>
              </a:rPr>
              <a:t>Solution: </a:t>
            </a:r>
            <a:r>
              <a:rPr lang="en-US" sz="3262" dirty="0"/>
              <a:t>{-1,1}</a:t>
            </a:r>
          </a:p>
          <a:p>
            <a:pPr algn="just"/>
            <a:endParaRPr lang="en-US" sz="2594" dirty="0"/>
          </a:p>
        </p:txBody>
      </p:sp>
    </p:spTree>
    <p:extLst>
      <p:ext uri="{BB962C8B-B14F-4D97-AF65-F5344CB8AC3E}">
        <p14:creationId xmlns:p14="http://schemas.microsoft.com/office/powerpoint/2010/main" val="2930801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43987" y="741960"/>
            <a:ext cx="5953028" cy="6093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152"/>
            <a:r>
              <a:rPr lang="en-US" dirty="0"/>
              <a:t>Practice </a:t>
            </a:r>
            <a:endParaRPr spc="-14" dirty="0"/>
          </a:p>
        </p:txBody>
      </p:sp>
      <p:sp>
        <p:nvSpPr>
          <p:cNvPr id="7" name="object 7"/>
          <p:cNvSpPr txBox="1"/>
          <p:nvPr/>
        </p:nvSpPr>
        <p:spPr>
          <a:xfrm>
            <a:off x="2160705" y="2187299"/>
            <a:ext cx="7614299" cy="3076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en-US" sz="2899" dirty="0"/>
          </a:p>
          <a:p>
            <a:pPr marL="411818" indent="-411818">
              <a:buFont typeface="Arial" panose="020B0604020202020204" pitchFamily="34" charset="0"/>
              <a:buChar char="•"/>
            </a:pPr>
            <a:r>
              <a:rPr lang="en-US" sz="2899" dirty="0"/>
              <a:t>Let Q(x) be </a:t>
            </a:r>
            <a:r>
              <a:rPr lang="en-US" sz="2899" b="1" i="1" dirty="0">
                <a:solidFill>
                  <a:srgbClr val="FF0000"/>
                </a:solidFill>
              </a:rPr>
              <a:t>x</a:t>
            </a:r>
            <a:r>
              <a:rPr lang="en-US" sz="2899" b="1" i="1" baseline="30000" dirty="0">
                <a:solidFill>
                  <a:srgbClr val="FF0000"/>
                </a:solidFill>
              </a:rPr>
              <a:t>2</a:t>
            </a:r>
            <a:r>
              <a:rPr lang="en-US" sz="2899" b="1" dirty="0">
                <a:solidFill>
                  <a:srgbClr val="FF0000"/>
                </a:solidFill>
              </a:rPr>
              <a:t> = 2 </a:t>
            </a:r>
            <a:r>
              <a:rPr lang="en-US" sz="2899" dirty="0"/>
              <a:t>where the domain is the set of integers. What is the truth set of Q(x)? </a:t>
            </a:r>
          </a:p>
          <a:p>
            <a:endParaRPr lang="en-US" sz="2899" dirty="0"/>
          </a:p>
          <a:p>
            <a:pPr marL="411818" indent="-411818">
              <a:buFont typeface="Arial" panose="020B0604020202020204" pitchFamily="34" charset="0"/>
              <a:buChar char="•"/>
            </a:pPr>
            <a:r>
              <a:rPr lang="en-US" sz="2899" dirty="0"/>
              <a:t>Let </a:t>
            </a:r>
            <a:r>
              <a:rPr lang="en-US" sz="2899" i="1" dirty="0"/>
              <a:t>R(x) </a:t>
            </a:r>
            <a:r>
              <a:rPr lang="en-US" sz="2899" dirty="0"/>
              <a:t>is </a:t>
            </a:r>
            <a:r>
              <a:rPr lang="en-US" sz="2899" b="1" i="1" dirty="0">
                <a:solidFill>
                  <a:srgbClr val="FF0000"/>
                </a:solidFill>
              </a:rPr>
              <a:t>“|x| = x.” </a:t>
            </a:r>
            <a:r>
              <a:rPr lang="en-US" sz="2899" dirty="0"/>
              <a:t>where the domain is the set of integers. What is the truth set of R(x)? </a:t>
            </a:r>
          </a:p>
          <a:p>
            <a:endParaRPr lang="en-US" sz="2594" dirty="0"/>
          </a:p>
        </p:txBody>
      </p:sp>
    </p:spTree>
    <p:extLst>
      <p:ext uri="{BB962C8B-B14F-4D97-AF65-F5344CB8AC3E}">
        <p14:creationId xmlns:p14="http://schemas.microsoft.com/office/powerpoint/2010/main" val="1083410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76382" y="1952442"/>
            <a:ext cx="9425017" cy="1543257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</a:pPr>
            <a:r>
              <a:rPr lang="en-US" sz="3262" dirty="0">
                <a:solidFill>
                  <a:srgbClr val="FF0000"/>
                </a:solidFill>
                <a:cs typeface="Calibri"/>
              </a:rPr>
              <a:t>Exercise </a:t>
            </a:r>
            <a:r>
              <a:rPr sz="3262" dirty="0">
                <a:solidFill>
                  <a:srgbClr val="FF0000"/>
                </a:solidFill>
                <a:cs typeface="Calibri"/>
              </a:rPr>
              <a:t>2.1:</a:t>
            </a:r>
            <a:r>
              <a:rPr sz="3262" spc="9" dirty="0">
                <a:solidFill>
                  <a:srgbClr val="FF0000"/>
                </a:solidFill>
                <a:cs typeface="Calibri"/>
              </a:rPr>
              <a:t> </a:t>
            </a:r>
            <a:endParaRPr lang="en-US" sz="3262" spc="9" dirty="0">
              <a:solidFill>
                <a:srgbClr val="FF0000"/>
              </a:solidFill>
              <a:cs typeface="Calibri"/>
            </a:endParaRPr>
          </a:p>
          <a:p>
            <a:pPr marL="11506">
              <a:spcBef>
                <a:spcPts val="91"/>
              </a:spcBef>
            </a:pPr>
            <a:endParaRPr lang="en-US" sz="3262" spc="9" dirty="0">
              <a:solidFill>
                <a:srgbClr val="FF0000"/>
              </a:solidFill>
              <a:cs typeface="Calibri"/>
            </a:endParaRPr>
          </a:p>
          <a:p>
            <a:pPr marL="11506">
              <a:spcBef>
                <a:spcPts val="91"/>
              </a:spcBef>
            </a:pPr>
            <a:r>
              <a:rPr lang="en-US" sz="3262" spc="9" dirty="0">
                <a:solidFill>
                  <a:srgbClr val="FF0000"/>
                </a:solidFill>
                <a:cs typeface="Calibri"/>
              </a:rPr>
              <a:t>Questions : </a:t>
            </a:r>
            <a:r>
              <a:rPr sz="3262" spc="-5" dirty="0">
                <a:cs typeface="Calibri"/>
              </a:rPr>
              <a:t>2,3,5,7,13,15,17,19,23,29,33,35</a:t>
            </a:r>
            <a:endParaRPr sz="3262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24E02A-311B-4CFE-B005-771E1FA197F1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cs typeface="Arial"/>
              </a:rPr>
              <a:t>More Practice</a:t>
            </a:r>
            <a:r>
              <a:rPr lang="en-US" sz="4800" spc="-91" dirty="0">
                <a:cs typeface="Arial"/>
              </a:rPr>
              <a:t> </a:t>
            </a:r>
            <a:r>
              <a:rPr lang="en-US" sz="4800" dirty="0">
                <a:cs typeface="Arial"/>
              </a:rPr>
              <a:t>questions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2F2B-2D78-EB56-E02E-F61CF209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224" y="2336768"/>
            <a:ext cx="5559552" cy="253307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Section 2.2</a:t>
            </a:r>
            <a:b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Set Operations</a:t>
            </a:r>
            <a:endParaRPr 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252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53215" y="1959133"/>
            <a:ext cx="8100725" cy="1475546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425729" indent="-414223">
              <a:spcBef>
                <a:spcPts val="91"/>
              </a:spcBef>
              <a:buClr>
                <a:srgbClr val="D71F00"/>
              </a:buClr>
              <a:buChar char="•"/>
              <a:tabLst>
                <a:tab pos="425154" algn="l"/>
                <a:tab pos="425729" algn="l"/>
              </a:tabLst>
            </a:pPr>
            <a:r>
              <a:rPr sz="2718" spc="-54" dirty="0">
                <a:cs typeface="Arial"/>
              </a:rPr>
              <a:t>Two </a:t>
            </a:r>
            <a:r>
              <a:rPr sz="2718" spc="-18" dirty="0">
                <a:cs typeface="Arial"/>
              </a:rPr>
              <a:t>sets </a:t>
            </a:r>
            <a:r>
              <a:rPr sz="2718" spc="-5" dirty="0">
                <a:cs typeface="Arial"/>
              </a:rPr>
              <a:t>can be combined </a:t>
            </a:r>
            <a:r>
              <a:rPr sz="2718" dirty="0">
                <a:cs typeface="Arial"/>
              </a:rPr>
              <a:t>in </a:t>
            </a:r>
            <a:r>
              <a:rPr sz="2718" spc="-5" dirty="0">
                <a:cs typeface="Arial"/>
              </a:rPr>
              <a:t>many </a:t>
            </a:r>
            <a:r>
              <a:rPr sz="2718" spc="-9" dirty="0">
                <a:cs typeface="Arial"/>
              </a:rPr>
              <a:t>different</a:t>
            </a:r>
            <a:r>
              <a:rPr sz="2718" spc="-172" dirty="0">
                <a:cs typeface="Arial"/>
              </a:rPr>
              <a:t> </a:t>
            </a:r>
            <a:r>
              <a:rPr sz="2718" dirty="0">
                <a:cs typeface="Arial"/>
              </a:rPr>
              <a:t>ways.</a:t>
            </a:r>
          </a:p>
          <a:p>
            <a:pPr>
              <a:spcBef>
                <a:spcPts val="41"/>
              </a:spcBef>
              <a:buClr>
                <a:srgbClr val="D71F00"/>
              </a:buClr>
              <a:buFont typeface="Arial"/>
              <a:buChar char="•"/>
            </a:pPr>
            <a:endParaRPr sz="4077" dirty="0">
              <a:cs typeface="Times New Roman"/>
            </a:endParaRPr>
          </a:p>
          <a:p>
            <a:pPr marL="425729" indent="-414223">
              <a:buClr>
                <a:srgbClr val="D71F00"/>
              </a:buClr>
              <a:buChar char="•"/>
              <a:tabLst>
                <a:tab pos="425154" algn="l"/>
                <a:tab pos="425729" algn="l"/>
              </a:tabLst>
            </a:pPr>
            <a:r>
              <a:rPr sz="2718" spc="-18" dirty="0">
                <a:cs typeface="Arial"/>
              </a:rPr>
              <a:t>Set </a:t>
            </a:r>
            <a:r>
              <a:rPr sz="2718" spc="-5" dirty="0">
                <a:cs typeface="Arial"/>
              </a:rPr>
              <a:t>operations can be used </a:t>
            </a:r>
            <a:r>
              <a:rPr sz="2718" spc="-9" dirty="0">
                <a:cs typeface="Arial"/>
              </a:rPr>
              <a:t>to </a:t>
            </a:r>
            <a:r>
              <a:rPr sz="2718" spc="-5" dirty="0">
                <a:cs typeface="Arial"/>
              </a:rPr>
              <a:t>combine</a:t>
            </a:r>
            <a:r>
              <a:rPr sz="2718" spc="-227" dirty="0">
                <a:cs typeface="Arial"/>
              </a:rPr>
              <a:t> </a:t>
            </a:r>
            <a:r>
              <a:rPr sz="2718" spc="-14" dirty="0">
                <a:cs typeface="Arial"/>
              </a:rPr>
              <a:t>sets.</a:t>
            </a:r>
            <a:endParaRPr sz="2718" dirty="0">
              <a:cs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1D1A33-BB4C-47B4-B933-853528D8703D}"/>
              </a:ext>
            </a:extLst>
          </p:cNvPr>
          <p:cNvSpPr txBox="1">
            <a:spLocks/>
          </p:cNvSpPr>
          <p:nvPr/>
        </p:nvSpPr>
        <p:spPr>
          <a:xfrm>
            <a:off x="1676400" y="418915"/>
            <a:ext cx="10515600" cy="115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cs typeface="Arial"/>
              </a:rPr>
              <a:t>Set operations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9284" y="326229"/>
            <a:ext cx="2892095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spc="-23" dirty="0">
                <a:cs typeface="Arial"/>
              </a:rPr>
              <a:t>U</a:t>
            </a:r>
            <a:r>
              <a:rPr sz="4800" spc="-27" dirty="0">
                <a:cs typeface="Arial"/>
              </a:rPr>
              <a:t>n</a:t>
            </a:r>
            <a:r>
              <a:rPr sz="4800" spc="-32" dirty="0">
                <a:cs typeface="Arial"/>
              </a:rPr>
              <a:t>i</a:t>
            </a:r>
            <a:r>
              <a:rPr sz="4800" spc="-27" dirty="0">
                <a:cs typeface="Arial"/>
              </a:rPr>
              <a:t>o</a:t>
            </a:r>
            <a:r>
              <a:rPr sz="4800" dirty="0">
                <a:cs typeface="Arial"/>
              </a:rPr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6534" y="1314561"/>
            <a:ext cx="11285621" cy="1737733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lnSpc>
                <a:spcPts val="3189"/>
              </a:lnSpc>
              <a:spcBef>
                <a:spcPts val="91"/>
              </a:spcBef>
            </a:pPr>
            <a:r>
              <a:rPr sz="2800" spc="-5" dirty="0">
                <a:cs typeface="Arial"/>
              </a:rPr>
              <a:t>Let </a:t>
            </a:r>
            <a:r>
              <a:rPr sz="2800" dirty="0">
                <a:cs typeface="Arial"/>
              </a:rPr>
              <a:t>A </a:t>
            </a:r>
            <a:r>
              <a:rPr sz="2800" spc="-5" dirty="0">
                <a:cs typeface="Arial"/>
              </a:rPr>
              <a:t>and </a:t>
            </a:r>
            <a:r>
              <a:rPr sz="2800" dirty="0">
                <a:cs typeface="Arial"/>
              </a:rPr>
              <a:t>B </a:t>
            </a:r>
            <a:r>
              <a:rPr sz="2800" spc="-5" dirty="0">
                <a:cs typeface="Arial"/>
              </a:rPr>
              <a:t>be</a:t>
            </a:r>
            <a:r>
              <a:rPr sz="2800" spc="-72" dirty="0">
                <a:cs typeface="Arial"/>
              </a:rPr>
              <a:t> </a:t>
            </a:r>
            <a:r>
              <a:rPr sz="2800" spc="-14" dirty="0">
                <a:cs typeface="Arial"/>
              </a:rPr>
              <a:t>sets.</a:t>
            </a:r>
            <a:endParaRPr sz="2800" dirty="0">
              <a:cs typeface="Arial"/>
            </a:endParaRPr>
          </a:p>
          <a:p>
            <a:pPr marL="436660" indent="-425154">
              <a:lnSpc>
                <a:spcPts val="3407"/>
              </a:lnSpc>
              <a:buChar char="•"/>
              <a:tabLst>
                <a:tab pos="436660" algn="l"/>
                <a:tab pos="437236" algn="l"/>
              </a:tabLst>
            </a:pPr>
            <a:r>
              <a:rPr sz="2800" dirty="0">
                <a:cs typeface="Arial"/>
              </a:rPr>
              <a:t>The </a:t>
            </a:r>
            <a:r>
              <a:rPr sz="2800" b="1" spc="-18" dirty="0">
                <a:cs typeface="Arial"/>
              </a:rPr>
              <a:t>union </a:t>
            </a:r>
            <a:r>
              <a:rPr sz="2800" spc="-14" dirty="0">
                <a:cs typeface="Arial"/>
              </a:rPr>
              <a:t>of </a:t>
            </a:r>
            <a:r>
              <a:rPr sz="2800" dirty="0">
                <a:cs typeface="Arial"/>
              </a:rPr>
              <a:t>A </a:t>
            </a:r>
            <a:r>
              <a:rPr sz="2800" spc="-5" dirty="0">
                <a:cs typeface="Arial"/>
              </a:rPr>
              <a:t>and </a:t>
            </a:r>
            <a:r>
              <a:rPr sz="2800" spc="-9" dirty="0">
                <a:cs typeface="Arial"/>
              </a:rPr>
              <a:t>B, </a:t>
            </a:r>
            <a:r>
              <a:rPr sz="2800" spc="-5" dirty="0">
                <a:cs typeface="Arial"/>
              </a:rPr>
              <a:t>denoted by </a:t>
            </a:r>
            <a:r>
              <a:rPr sz="2800" b="1" dirty="0">
                <a:cs typeface="Arial"/>
              </a:rPr>
              <a:t>A </a:t>
            </a:r>
            <a:r>
              <a:rPr sz="2800" dirty="0">
                <a:cs typeface="Cambria Math"/>
              </a:rPr>
              <a:t>∪ </a:t>
            </a:r>
            <a:r>
              <a:rPr sz="2800" b="1" spc="5" dirty="0">
                <a:cs typeface="Arial"/>
              </a:rPr>
              <a:t>B</a:t>
            </a:r>
            <a:r>
              <a:rPr sz="2800" spc="5" dirty="0">
                <a:cs typeface="Arial"/>
              </a:rPr>
              <a:t>,</a:t>
            </a:r>
            <a:r>
              <a:rPr sz="2800" spc="-227" dirty="0">
                <a:cs typeface="Arial"/>
              </a:rPr>
              <a:t> </a:t>
            </a:r>
            <a:r>
              <a:rPr sz="2800" spc="5" dirty="0">
                <a:cs typeface="Arial"/>
              </a:rPr>
              <a:t>is</a:t>
            </a:r>
            <a:r>
              <a:rPr lang="en-US" sz="2800" spc="5" dirty="0">
                <a:cs typeface="Arial"/>
              </a:rPr>
              <a:t> </a:t>
            </a:r>
            <a:r>
              <a:rPr sz="2800" spc="-5" dirty="0">
                <a:cs typeface="Arial"/>
              </a:rPr>
              <a:t>the </a:t>
            </a:r>
            <a:r>
              <a:rPr sz="2800" spc="-18" dirty="0">
                <a:cs typeface="Arial"/>
              </a:rPr>
              <a:t>set </a:t>
            </a:r>
            <a:r>
              <a:rPr sz="2800" spc="-9" dirty="0">
                <a:cs typeface="Arial"/>
              </a:rPr>
              <a:t>containing </a:t>
            </a:r>
            <a:r>
              <a:rPr sz="2800" spc="-5" dirty="0">
                <a:cs typeface="Arial"/>
              </a:rPr>
              <a:t>those elements </a:t>
            </a:r>
            <a:r>
              <a:rPr sz="2800" spc="-14" dirty="0">
                <a:cs typeface="Arial"/>
              </a:rPr>
              <a:t>that</a:t>
            </a:r>
            <a:r>
              <a:rPr sz="2800" spc="-72" dirty="0">
                <a:cs typeface="Arial"/>
              </a:rPr>
              <a:t> </a:t>
            </a:r>
            <a:r>
              <a:rPr sz="2800" spc="-5" dirty="0">
                <a:cs typeface="Arial"/>
              </a:rPr>
              <a:t>are  </a:t>
            </a:r>
            <a:r>
              <a:rPr sz="2800" spc="-5" dirty="0">
                <a:solidFill>
                  <a:srgbClr val="FF0000"/>
                </a:solidFill>
                <a:cs typeface="Arial"/>
              </a:rPr>
              <a:t>either </a:t>
            </a:r>
            <a:r>
              <a:rPr sz="2800" dirty="0">
                <a:solidFill>
                  <a:srgbClr val="FF0000"/>
                </a:solidFill>
                <a:cs typeface="Arial"/>
              </a:rPr>
              <a:t>in A </a:t>
            </a:r>
            <a:r>
              <a:rPr sz="2800" spc="-5" dirty="0">
                <a:solidFill>
                  <a:srgbClr val="FF0000"/>
                </a:solidFill>
                <a:cs typeface="Arial"/>
              </a:rPr>
              <a:t>or </a:t>
            </a:r>
            <a:r>
              <a:rPr sz="2800" dirty="0">
                <a:solidFill>
                  <a:srgbClr val="FF0000"/>
                </a:solidFill>
                <a:cs typeface="Arial"/>
              </a:rPr>
              <a:t>in </a:t>
            </a:r>
            <a:r>
              <a:rPr sz="2800" spc="-5" dirty="0">
                <a:solidFill>
                  <a:srgbClr val="FF0000"/>
                </a:solidFill>
                <a:cs typeface="Arial"/>
              </a:rPr>
              <a:t>B, or </a:t>
            </a:r>
            <a:r>
              <a:rPr sz="2800" dirty="0">
                <a:solidFill>
                  <a:srgbClr val="FF0000"/>
                </a:solidFill>
                <a:cs typeface="Arial"/>
              </a:rPr>
              <a:t>in</a:t>
            </a:r>
            <a:r>
              <a:rPr sz="2800" spc="-140" dirty="0">
                <a:solidFill>
                  <a:srgbClr val="FF0000"/>
                </a:solidFill>
                <a:cs typeface="Arial"/>
              </a:rPr>
              <a:t> </a:t>
            </a:r>
            <a:r>
              <a:rPr sz="2800" spc="-5" dirty="0">
                <a:solidFill>
                  <a:srgbClr val="FF0000"/>
                </a:solidFill>
                <a:cs typeface="Arial"/>
              </a:rPr>
              <a:t>both</a:t>
            </a:r>
            <a:r>
              <a:rPr sz="2800" spc="-5" dirty="0">
                <a:cs typeface="Arial"/>
              </a:rPr>
              <a:t>.</a:t>
            </a:r>
            <a:endParaRPr sz="2800" dirty="0">
              <a:cs typeface="Arial"/>
            </a:endParaRPr>
          </a:p>
          <a:p>
            <a:pPr marL="828446">
              <a:spcBef>
                <a:spcPts val="86"/>
              </a:spcBef>
            </a:pPr>
            <a:r>
              <a:rPr sz="2800" i="1" spc="-5" dirty="0">
                <a:solidFill>
                  <a:srgbClr val="FF0000"/>
                </a:solidFill>
                <a:cs typeface="Calibri"/>
              </a:rPr>
              <a:t>A </a:t>
            </a:r>
            <a:r>
              <a:rPr sz="2800" spc="-5" dirty="0">
                <a:solidFill>
                  <a:srgbClr val="FF0000"/>
                </a:solidFill>
                <a:cs typeface="Cambria Math"/>
              </a:rPr>
              <a:t>∪ </a:t>
            </a:r>
            <a:r>
              <a:rPr sz="2800" i="1" spc="-5" dirty="0">
                <a:solidFill>
                  <a:srgbClr val="FF0000"/>
                </a:solidFill>
                <a:cs typeface="Calibri"/>
              </a:rPr>
              <a:t>B </a:t>
            </a:r>
            <a:r>
              <a:rPr sz="2800" spc="-5" dirty="0">
                <a:cs typeface="Calibri"/>
              </a:rPr>
              <a:t>= {</a:t>
            </a:r>
            <a:r>
              <a:rPr sz="2800" i="1" spc="-5" dirty="0">
                <a:cs typeface="Calibri"/>
              </a:rPr>
              <a:t>x </a:t>
            </a:r>
            <a:r>
              <a:rPr sz="2800" spc="-5" dirty="0">
                <a:cs typeface="Calibri"/>
              </a:rPr>
              <a:t>| </a:t>
            </a:r>
            <a:r>
              <a:rPr sz="2800" i="1" spc="-5" dirty="0">
                <a:cs typeface="Calibri"/>
              </a:rPr>
              <a:t>x </a:t>
            </a:r>
            <a:r>
              <a:rPr sz="2800" spc="-5" dirty="0">
                <a:cs typeface="Cambria Math"/>
              </a:rPr>
              <a:t>∈ </a:t>
            </a:r>
            <a:r>
              <a:rPr sz="2800" i="1" spc="-5" dirty="0">
                <a:cs typeface="Calibri"/>
              </a:rPr>
              <a:t>A </a:t>
            </a:r>
            <a:r>
              <a:rPr sz="2800" spc="-5" dirty="0">
                <a:cs typeface="Cambria Math"/>
              </a:rPr>
              <a:t>∨ </a:t>
            </a:r>
            <a:r>
              <a:rPr sz="2800" i="1" spc="-5" dirty="0">
                <a:cs typeface="Calibri"/>
              </a:rPr>
              <a:t>x </a:t>
            </a:r>
            <a:r>
              <a:rPr sz="2800" spc="-5" dirty="0">
                <a:cs typeface="Cambria Math"/>
              </a:rPr>
              <a:t>∈</a:t>
            </a:r>
            <a:r>
              <a:rPr sz="2800" spc="159" dirty="0">
                <a:cs typeface="Cambria Math"/>
              </a:rPr>
              <a:t> </a:t>
            </a:r>
            <a:r>
              <a:rPr sz="2800" i="1" spc="-5" dirty="0">
                <a:cs typeface="Calibri"/>
              </a:rPr>
              <a:t>B</a:t>
            </a:r>
            <a:r>
              <a:rPr sz="2800" spc="-5" dirty="0">
                <a:cs typeface="Calibri"/>
              </a:rPr>
              <a:t>}</a:t>
            </a:r>
            <a:r>
              <a:rPr sz="2800" i="1" spc="-5" dirty="0">
                <a:cs typeface="Calibri"/>
              </a:rPr>
              <a:t>.</a:t>
            </a:r>
            <a:endParaRPr sz="2800" dirty="0"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8176" y="5342706"/>
            <a:ext cx="4146329" cy="401466"/>
          </a:xfrm>
          <a:prstGeom prst="rect">
            <a:avLst/>
          </a:prstGeom>
        </p:spPr>
        <p:txBody>
          <a:bodyPr vert="horz" wrap="square" lIns="0" tIns="10931" rIns="0" bIns="0" rtlCol="0">
            <a:spAutoFit/>
          </a:bodyPr>
          <a:lstStyle/>
          <a:p>
            <a:pPr marL="11506">
              <a:spcBef>
                <a:spcPts val="86"/>
              </a:spcBef>
            </a:pPr>
            <a:r>
              <a:rPr sz="2537" spc="-9" dirty="0">
                <a:cs typeface="Calibri"/>
              </a:rPr>
              <a:t>Shaded </a:t>
            </a:r>
            <a:r>
              <a:rPr sz="2537" spc="-14" dirty="0">
                <a:cs typeface="Calibri"/>
              </a:rPr>
              <a:t>area represents </a:t>
            </a:r>
            <a:r>
              <a:rPr sz="2537" i="1" spc="-5" dirty="0">
                <a:solidFill>
                  <a:srgbClr val="FF0000"/>
                </a:solidFill>
                <a:cs typeface="Calibri"/>
              </a:rPr>
              <a:t>A 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U</a:t>
            </a:r>
            <a:r>
              <a:rPr sz="2537" spc="68" dirty="0">
                <a:solidFill>
                  <a:srgbClr val="FF0000"/>
                </a:solidFill>
                <a:cs typeface="Calibri"/>
              </a:rPr>
              <a:t> </a:t>
            </a:r>
            <a:r>
              <a:rPr sz="2537" i="1" spc="-5" dirty="0">
                <a:solidFill>
                  <a:srgbClr val="FF0000"/>
                </a:solidFill>
                <a:cs typeface="Calibri"/>
              </a:rPr>
              <a:t>B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.</a:t>
            </a:r>
            <a:endParaRPr sz="2537" dirty="0"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01894" y="3429000"/>
            <a:ext cx="2477945" cy="17494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07B65111-D910-4FA3-973A-E16CE8CDA193}"/>
              </a:ext>
            </a:extLst>
          </p:cNvPr>
          <p:cNvSpPr txBox="1"/>
          <p:nvPr/>
        </p:nvSpPr>
        <p:spPr>
          <a:xfrm>
            <a:off x="1117674" y="3289762"/>
            <a:ext cx="6750502" cy="2596361"/>
          </a:xfrm>
          <a:prstGeom prst="rect">
            <a:avLst/>
          </a:prstGeom>
        </p:spPr>
        <p:txBody>
          <a:bodyPr vert="horz" wrap="square" lIns="0" tIns="10931" rIns="0" bIns="0" rtlCol="0">
            <a:spAutoFit/>
          </a:bodyPr>
          <a:lstStyle/>
          <a:p>
            <a:pPr marL="11506">
              <a:spcBef>
                <a:spcPts val="86"/>
              </a:spcBef>
            </a:pPr>
            <a:r>
              <a:rPr sz="2800" i="1" spc="-14" dirty="0">
                <a:cs typeface="Calibri"/>
              </a:rPr>
              <a:t>Example:</a:t>
            </a:r>
            <a:endParaRPr sz="2800" dirty="0">
              <a:cs typeface="Calibri"/>
            </a:endParaRPr>
          </a:p>
          <a:p>
            <a:pPr marL="11506"/>
            <a:r>
              <a:rPr sz="2800" i="1" spc="-5" dirty="0">
                <a:cs typeface="Calibri"/>
              </a:rPr>
              <a:t>Find </a:t>
            </a:r>
            <a:r>
              <a:rPr sz="2800" spc="-5" dirty="0">
                <a:cs typeface="Calibri"/>
              </a:rPr>
              <a:t>union of the </a:t>
            </a:r>
            <a:r>
              <a:rPr sz="2800" spc="-9" dirty="0">
                <a:cs typeface="Calibri"/>
              </a:rPr>
              <a:t>sets </a:t>
            </a:r>
            <a:r>
              <a:rPr sz="2800" spc="-5" dirty="0">
                <a:cs typeface="Calibri"/>
              </a:rPr>
              <a:t>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5} and 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</a:t>
            </a:r>
            <a:r>
              <a:rPr sz="2800" i="1" spc="131" dirty="0">
                <a:cs typeface="Calibri"/>
              </a:rPr>
              <a:t> </a:t>
            </a:r>
            <a:r>
              <a:rPr sz="2800" spc="-9" dirty="0">
                <a:cs typeface="Calibri"/>
              </a:rPr>
              <a:t>3}.</a:t>
            </a:r>
            <a:endParaRPr sz="2800" dirty="0">
              <a:cs typeface="Calibri"/>
            </a:endParaRPr>
          </a:p>
          <a:p>
            <a:pPr>
              <a:spcBef>
                <a:spcPts val="45"/>
              </a:spcBef>
            </a:pPr>
            <a:endParaRPr sz="2800" dirty="0">
              <a:cs typeface="Times New Roman"/>
            </a:endParaRPr>
          </a:p>
          <a:p>
            <a:pPr marL="11506"/>
            <a:r>
              <a:rPr sz="2800" spc="-9" dirty="0">
                <a:solidFill>
                  <a:srgbClr val="FF0000"/>
                </a:solidFill>
                <a:cs typeface="Calibri"/>
              </a:rPr>
              <a:t>Solution: </a:t>
            </a:r>
            <a:r>
              <a:rPr sz="2800" spc="-5" dirty="0">
                <a:cs typeface="Calibri"/>
              </a:rPr>
              <a:t>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5} </a:t>
            </a:r>
            <a:r>
              <a:rPr sz="2800" spc="-5" dirty="0">
                <a:cs typeface="Cambria Math"/>
              </a:rPr>
              <a:t>∪ </a:t>
            </a:r>
            <a:r>
              <a:rPr sz="2800" spc="-5" dirty="0">
                <a:cs typeface="Calibri"/>
              </a:rPr>
              <a:t>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3} = 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</a:t>
            </a:r>
            <a:r>
              <a:rPr sz="2800" i="1" spc="-5" dirty="0">
                <a:cs typeface="Calibri"/>
              </a:rPr>
              <a:t>,</a:t>
            </a:r>
            <a:r>
              <a:rPr sz="2800" i="1" spc="185" dirty="0">
                <a:cs typeface="Calibri"/>
              </a:rPr>
              <a:t> </a:t>
            </a:r>
            <a:r>
              <a:rPr sz="2800" spc="-5" dirty="0">
                <a:cs typeface="Calibri"/>
              </a:rPr>
              <a:t>5}.</a:t>
            </a:r>
            <a:endParaRPr sz="2800" dirty="0">
              <a:cs typeface="Calibri"/>
            </a:endParaRPr>
          </a:p>
          <a:p>
            <a:pPr>
              <a:spcBef>
                <a:spcPts val="9"/>
              </a:spcBef>
            </a:pPr>
            <a:endParaRPr sz="2800" dirty="0">
              <a:cs typeface="Times New Roman"/>
            </a:endParaRPr>
          </a:p>
          <a:p>
            <a:pPr marL="839953">
              <a:spcBef>
                <a:spcPts val="5"/>
              </a:spcBef>
            </a:pPr>
            <a:r>
              <a:rPr lang="en-US" sz="2800" dirty="0">
                <a:solidFill>
                  <a:srgbClr val="FF0000"/>
                </a:solidFill>
                <a:cs typeface="Calibri"/>
              </a:rPr>
              <a:t>		</a:t>
            </a:r>
            <a:r>
              <a:rPr sz="2800" dirty="0">
                <a:solidFill>
                  <a:srgbClr val="FF0000"/>
                </a:solidFill>
                <a:cs typeface="Calibri"/>
              </a:rPr>
              <a:t>A </a:t>
            </a:r>
            <a:r>
              <a:rPr sz="2800" dirty="0">
                <a:solidFill>
                  <a:srgbClr val="FF0000"/>
                </a:solidFill>
                <a:cs typeface="Cambria Math"/>
              </a:rPr>
              <a:t>∪ </a:t>
            </a:r>
            <a:r>
              <a:rPr sz="2800" dirty="0">
                <a:solidFill>
                  <a:srgbClr val="FF0000"/>
                </a:solidFill>
                <a:cs typeface="Calibri"/>
              </a:rPr>
              <a:t>B=B </a:t>
            </a:r>
            <a:r>
              <a:rPr sz="2800" dirty="0">
                <a:solidFill>
                  <a:srgbClr val="FF0000"/>
                </a:solidFill>
                <a:cs typeface="Cambria Math"/>
              </a:rPr>
              <a:t>∪</a:t>
            </a:r>
            <a:r>
              <a:rPr sz="2800" spc="-9" dirty="0">
                <a:solidFill>
                  <a:srgbClr val="FF0000"/>
                </a:solidFill>
                <a:cs typeface="Cambria Math"/>
              </a:rPr>
              <a:t> </a:t>
            </a:r>
            <a:r>
              <a:rPr sz="2800" dirty="0">
                <a:solidFill>
                  <a:srgbClr val="FF0000"/>
                </a:solidFill>
                <a:cs typeface="Calibri"/>
              </a:rPr>
              <a:t>A</a:t>
            </a:r>
            <a:endParaRPr sz="2800" dirty="0"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68314" y="74144"/>
            <a:ext cx="9313653" cy="79877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Membership for Union</a:t>
            </a:r>
          </a:p>
        </p:txBody>
      </p:sp>
      <p:graphicFrame>
        <p:nvGraphicFramePr>
          <p:cNvPr id="4" name="Group 92"/>
          <p:cNvGraphicFramePr>
            <a:graphicFrameLocks noGrp="1"/>
          </p:cNvGraphicFramePr>
          <p:nvPr/>
        </p:nvGraphicFramePr>
        <p:xfrm>
          <a:off x="1199072" y="983411"/>
          <a:ext cx="3733802" cy="2932985"/>
        </p:xfrm>
        <a:graphic>
          <a:graphicData uri="http://schemas.openxmlformats.org/drawingml/2006/table">
            <a:tbl>
              <a:tblPr/>
              <a:tblGrid>
                <a:gridCol w="121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 A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Symbol" pitchFamily="18" charset="2"/>
                        </a:rPr>
                        <a:t>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Math1" pitchFamily="2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roup 86"/>
          <p:cNvGraphicFramePr>
            <a:graphicFrameLocks/>
          </p:cNvGraphicFramePr>
          <p:nvPr/>
        </p:nvGraphicFramePr>
        <p:xfrm>
          <a:off x="7106728" y="1942959"/>
          <a:ext cx="3733800" cy="2834640"/>
        </p:xfrm>
        <a:graphic>
          <a:graphicData uri="http://schemas.openxmlformats.org/drawingml/2006/table">
            <a:tbl>
              <a:tblPr/>
              <a:tblGrid>
                <a:gridCol w="873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 P </a:t>
                      </a: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Ú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Math1" pitchFamily="2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06728" y="1432560"/>
            <a:ext cx="373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22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Remember Disjunction Table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810883" y="5638801"/>
            <a:ext cx="962851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spcBef>
                <a:spcPct val="50000"/>
              </a:spcBef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REMARK : 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This membership table for Union is similar to the truth table for logical connective, disjunction (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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683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007" y="547720"/>
            <a:ext cx="5130970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spc="-23" dirty="0">
                <a:cs typeface="Arial"/>
              </a:rPr>
              <a:t>Intersection</a:t>
            </a:r>
            <a:endParaRPr sz="4800" dirty="0"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4487" y="1512114"/>
            <a:ext cx="10698413" cy="1715547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lnSpc>
                <a:spcPts val="3197"/>
              </a:lnSpc>
              <a:spcBef>
                <a:spcPts val="91"/>
              </a:spcBef>
            </a:pPr>
            <a:r>
              <a:rPr sz="2800" spc="-5" dirty="0">
                <a:cs typeface="Arial"/>
              </a:rPr>
              <a:t>Let </a:t>
            </a:r>
            <a:r>
              <a:rPr sz="2800" dirty="0">
                <a:cs typeface="Arial"/>
              </a:rPr>
              <a:t>A </a:t>
            </a:r>
            <a:r>
              <a:rPr sz="2800" spc="-5" dirty="0">
                <a:cs typeface="Arial"/>
              </a:rPr>
              <a:t>and </a:t>
            </a:r>
            <a:r>
              <a:rPr sz="2800" dirty="0">
                <a:cs typeface="Arial"/>
              </a:rPr>
              <a:t>B </a:t>
            </a:r>
            <a:r>
              <a:rPr sz="2800" spc="-5" dirty="0">
                <a:cs typeface="Arial"/>
              </a:rPr>
              <a:t>be</a:t>
            </a:r>
            <a:r>
              <a:rPr sz="2800" spc="-118" dirty="0">
                <a:cs typeface="Arial"/>
              </a:rPr>
              <a:t> </a:t>
            </a:r>
            <a:r>
              <a:rPr sz="2800" spc="-18" dirty="0">
                <a:cs typeface="Arial"/>
              </a:rPr>
              <a:t>sets.</a:t>
            </a:r>
            <a:endParaRPr sz="2800" dirty="0">
              <a:cs typeface="Arial"/>
            </a:endParaRPr>
          </a:p>
          <a:p>
            <a:pPr marL="436660" indent="-425154">
              <a:lnSpc>
                <a:spcPts val="3197"/>
              </a:lnSpc>
              <a:buChar char="•"/>
              <a:tabLst>
                <a:tab pos="436660" algn="l"/>
                <a:tab pos="437236" algn="l"/>
              </a:tabLst>
            </a:pPr>
            <a:r>
              <a:rPr sz="2800" dirty="0">
                <a:cs typeface="Arial"/>
              </a:rPr>
              <a:t>The </a:t>
            </a:r>
            <a:r>
              <a:rPr sz="2800" b="1" spc="-14" dirty="0">
                <a:cs typeface="Arial"/>
              </a:rPr>
              <a:t>intersection </a:t>
            </a:r>
            <a:r>
              <a:rPr sz="2800" spc="-9" dirty="0">
                <a:cs typeface="Arial"/>
              </a:rPr>
              <a:t>of </a:t>
            </a:r>
            <a:r>
              <a:rPr sz="2800" dirty="0">
                <a:cs typeface="Arial"/>
              </a:rPr>
              <a:t>A </a:t>
            </a:r>
            <a:r>
              <a:rPr sz="2800" spc="-5" dirty="0">
                <a:cs typeface="Arial"/>
              </a:rPr>
              <a:t>and B, denoted</a:t>
            </a:r>
            <a:r>
              <a:rPr sz="2800" spc="-118" dirty="0">
                <a:cs typeface="Arial"/>
              </a:rPr>
              <a:t> </a:t>
            </a:r>
            <a:r>
              <a:rPr sz="2800" spc="-5" dirty="0">
                <a:cs typeface="Arial"/>
              </a:rPr>
              <a:t>by</a:t>
            </a:r>
            <a:endParaRPr sz="2800" dirty="0">
              <a:cs typeface="Arial"/>
            </a:endParaRPr>
          </a:p>
          <a:p>
            <a:pPr marL="436660" marR="1184563">
              <a:lnSpc>
                <a:spcPct val="102000"/>
              </a:lnSpc>
            </a:pPr>
            <a:r>
              <a:rPr sz="2800" b="1" spc="-5" dirty="0">
                <a:cs typeface="Arial"/>
              </a:rPr>
              <a:t>A </a:t>
            </a:r>
            <a:r>
              <a:rPr sz="2800" spc="-5" dirty="0">
                <a:cs typeface="Calibri"/>
              </a:rPr>
              <a:t>∩ </a:t>
            </a:r>
            <a:r>
              <a:rPr sz="2800" b="1" spc="-5" dirty="0">
                <a:cs typeface="Arial"/>
              </a:rPr>
              <a:t>B</a:t>
            </a:r>
            <a:r>
              <a:rPr sz="2800" spc="-5" dirty="0">
                <a:cs typeface="Arial"/>
              </a:rPr>
              <a:t>, </a:t>
            </a:r>
            <a:r>
              <a:rPr sz="2800" dirty="0">
                <a:cs typeface="Arial"/>
              </a:rPr>
              <a:t>is the </a:t>
            </a:r>
            <a:r>
              <a:rPr sz="2800" spc="-9" dirty="0">
                <a:cs typeface="Arial"/>
              </a:rPr>
              <a:t>set </a:t>
            </a:r>
            <a:r>
              <a:rPr sz="2800" spc="-5" dirty="0">
                <a:cs typeface="Arial"/>
              </a:rPr>
              <a:t>containing</a:t>
            </a:r>
            <a:r>
              <a:rPr sz="2800" spc="-267" dirty="0">
                <a:cs typeface="Arial"/>
              </a:rPr>
              <a:t> </a:t>
            </a:r>
            <a:r>
              <a:rPr sz="2800" spc="-5" dirty="0">
                <a:cs typeface="Arial"/>
              </a:rPr>
              <a:t>those  elements </a:t>
            </a:r>
            <a:r>
              <a:rPr sz="2800" dirty="0">
                <a:cs typeface="Arial"/>
              </a:rPr>
              <a:t>in </a:t>
            </a:r>
            <a:r>
              <a:rPr sz="2800" spc="-5" dirty="0">
                <a:solidFill>
                  <a:srgbClr val="FF0000"/>
                </a:solidFill>
                <a:cs typeface="Arial"/>
              </a:rPr>
              <a:t>both </a:t>
            </a:r>
            <a:r>
              <a:rPr sz="2800" dirty="0">
                <a:solidFill>
                  <a:srgbClr val="FF0000"/>
                </a:solidFill>
                <a:cs typeface="Arial"/>
              </a:rPr>
              <a:t>A </a:t>
            </a:r>
            <a:r>
              <a:rPr sz="2800" spc="-5" dirty="0">
                <a:solidFill>
                  <a:srgbClr val="FF0000"/>
                </a:solidFill>
                <a:cs typeface="Arial"/>
              </a:rPr>
              <a:t>and</a:t>
            </a:r>
            <a:r>
              <a:rPr sz="2800" spc="-213" dirty="0">
                <a:solidFill>
                  <a:srgbClr val="FF0000"/>
                </a:solidFill>
                <a:cs typeface="Arial"/>
              </a:rPr>
              <a:t> </a:t>
            </a:r>
            <a:r>
              <a:rPr sz="2800" spc="-14" dirty="0">
                <a:solidFill>
                  <a:srgbClr val="FF0000"/>
                </a:solidFill>
                <a:cs typeface="Arial"/>
              </a:rPr>
              <a:t>B</a:t>
            </a:r>
            <a:r>
              <a:rPr sz="2800" spc="-14" dirty="0">
                <a:cs typeface="Arial"/>
              </a:rPr>
              <a:t>.</a:t>
            </a:r>
            <a:endParaRPr sz="2800" dirty="0">
              <a:cs typeface="Arial"/>
            </a:endParaRPr>
          </a:p>
          <a:p>
            <a:pPr marL="436660" indent="-425154">
              <a:spcBef>
                <a:spcPts val="72"/>
              </a:spcBef>
              <a:buFont typeface="Arial"/>
              <a:buChar char="•"/>
              <a:tabLst>
                <a:tab pos="436660" algn="l"/>
                <a:tab pos="437236" algn="l"/>
              </a:tabLst>
            </a:pPr>
            <a:r>
              <a:rPr sz="2800" i="1" spc="-5" dirty="0">
                <a:cs typeface="Calibri"/>
              </a:rPr>
              <a:t>A </a:t>
            </a:r>
            <a:r>
              <a:rPr sz="2800" spc="-5" dirty="0">
                <a:cs typeface="Calibri"/>
              </a:rPr>
              <a:t>∩ </a:t>
            </a:r>
            <a:r>
              <a:rPr sz="2800" i="1" spc="-5" dirty="0">
                <a:cs typeface="Calibri"/>
              </a:rPr>
              <a:t>B </a:t>
            </a:r>
            <a:r>
              <a:rPr sz="2800" spc="-5" dirty="0">
                <a:cs typeface="Calibri"/>
              </a:rPr>
              <a:t>= {</a:t>
            </a:r>
            <a:r>
              <a:rPr sz="2800" i="1" spc="-5" dirty="0">
                <a:cs typeface="Calibri"/>
              </a:rPr>
              <a:t>x </a:t>
            </a:r>
            <a:r>
              <a:rPr sz="2800" spc="-5" dirty="0">
                <a:cs typeface="Calibri"/>
              </a:rPr>
              <a:t>| </a:t>
            </a:r>
            <a:r>
              <a:rPr sz="2800" i="1" spc="-5" dirty="0">
                <a:cs typeface="Calibri"/>
              </a:rPr>
              <a:t>x </a:t>
            </a:r>
            <a:r>
              <a:rPr sz="2800" spc="-5" dirty="0">
                <a:cs typeface="Cambria Math"/>
              </a:rPr>
              <a:t>∈ </a:t>
            </a:r>
            <a:r>
              <a:rPr sz="2800" i="1" spc="-5" dirty="0">
                <a:cs typeface="Calibri"/>
              </a:rPr>
              <a:t>A </a:t>
            </a:r>
            <a:r>
              <a:rPr sz="2800" spc="-5" dirty="0">
                <a:cs typeface="Cambria Math"/>
              </a:rPr>
              <a:t>∧ </a:t>
            </a:r>
            <a:r>
              <a:rPr sz="2800" i="1" spc="-5" dirty="0">
                <a:cs typeface="Calibri"/>
              </a:rPr>
              <a:t>x </a:t>
            </a:r>
            <a:r>
              <a:rPr sz="2800" spc="-5" dirty="0">
                <a:cs typeface="Cambria Math"/>
              </a:rPr>
              <a:t>∈</a:t>
            </a:r>
            <a:r>
              <a:rPr sz="2800" spc="136" dirty="0">
                <a:cs typeface="Cambria Math"/>
              </a:rPr>
              <a:t> </a:t>
            </a:r>
            <a:r>
              <a:rPr sz="2800" i="1" spc="-5" dirty="0">
                <a:cs typeface="Calibri"/>
              </a:rPr>
              <a:t>B</a:t>
            </a:r>
            <a:r>
              <a:rPr sz="2800" spc="-5" dirty="0">
                <a:cs typeface="Calibri"/>
              </a:rPr>
              <a:t>}</a:t>
            </a:r>
            <a:endParaRPr sz="28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5823" y="6011888"/>
            <a:ext cx="4993913" cy="457767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  <a:tabLst>
                <a:tab pos="436660" algn="l"/>
                <a:tab pos="437236" algn="l"/>
              </a:tabLst>
            </a:pPr>
            <a:r>
              <a:rPr sz="2899" spc="-5" dirty="0">
                <a:cs typeface="Calibri"/>
              </a:rPr>
              <a:t>Shaded </a:t>
            </a:r>
            <a:r>
              <a:rPr sz="2899" spc="-9" dirty="0">
                <a:cs typeface="Calibri"/>
              </a:rPr>
              <a:t>area represents </a:t>
            </a:r>
            <a:r>
              <a:rPr sz="2899" i="1" dirty="0">
                <a:solidFill>
                  <a:srgbClr val="FF0000"/>
                </a:solidFill>
                <a:cs typeface="Calibri"/>
              </a:rPr>
              <a:t>A ∩</a:t>
            </a:r>
            <a:r>
              <a:rPr sz="2899" i="1" spc="-54" dirty="0">
                <a:solidFill>
                  <a:srgbClr val="FF0000"/>
                </a:solidFill>
                <a:cs typeface="Calibri"/>
              </a:rPr>
              <a:t> </a:t>
            </a:r>
            <a:r>
              <a:rPr sz="2899" i="1" spc="-5" dirty="0">
                <a:solidFill>
                  <a:srgbClr val="FF0000"/>
                </a:solidFill>
                <a:cs typeface="Calibri"/>
              </a:rPr>
              <a:t>B</a:t>
            </a:r>
            <a:r>
              <a:rPr sz="2899" spc="-5" dirty="0">
                <a:solidFill>
                  <a:srgbClr val="FF0000"/>
                </a:solidFill>
                <a:cs typeface="Calibri"/>
              </a:rPr>
              <a:t>.</a:t>
            </a:r>
            <a:endParaRPr sz="2899" dirty="0"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77242" y="4082811"/>
            <a:ext cx="2811320" cy="20560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AE79BB0-15CB-4DBD-9227-404094A10FCE}"/>
              </a:ext>
            </a:extLst>
          </p:cNvPr>
          <p:cNvSpPr txBox="1"/>
          <p:nvPr/>
        </p:nvSpPr>
        <p:spPr>
          <a:xfrm>
            <a:off x="1074487" y="3515209"/>
            <a:ext cx="7800273" cy="2596361"/>
          </a:xfrm>
          <a:prstGeom prst="rect">
            <a:avLst/>
          </a:prstGeom>
        </p:spPr>
        <p:txBody>
          <a:bodyPr vert="horz" wrap="square" lIns="0" tIns="10931" rIns="0" bIns="0" rtlCol="0">
            <a:spAutoFit/>
          </a:bodyPr>
          <a:lstStyle/>
          <a:p>
            <a:pPr marL="11506">
              <a:spcBef>
                <a:spcPts val="86"/>
              </a:spcBef>
            </a:pPr>
            <a:r>
              <a:rPr sz="2800" i="1" spc="-14" dirty="0">
                <a:solidFill>
                  <a:srgbClr val="FF0000"/>
                </a:solidFill>
                <a:cs typeface="Calibri"/>
              </a:rPr>
              <a:t>Example:</a:t>
            </a:r>
            <a:endParaRPr sz="2800" dirty="0">
              <a:cs typeface="Calibri"/>
            </a:endParaRPr>
          </a:p>
          <a:p>
            <a:pPr marL="11506" marR="4602"/>
            <a:r>
              <a:rPr sz="2800" spc="-9" dirty="0">
                <a:cs typeface="Calibri"/>
              </a:rPr>
              <a:t>Find </a:t>
            </a:r>
            <a:r>
              <a:rPr sz="2800" spc="-14" dirty="0">
                <a:cs typeface="Calibri"/>
              </a:rPr>
              <a:t>intersection </a:t>
            </a:r>
            <a:r>
              <a:rPr sz="2800" spc="-5" dirty="0">
                <a:cs typeface="Calibri"/>
              </a:rPr>
              <a:t>of the </a:t>
            </a:r>
            <a:r>
              <a:rPr sz="2800" spc="-9" dirty="0">
                <a:cs typeface="Calibri"/>
              </a:rPr>
              <a:t>sets </a:t>
            </a:r>
            <a:r>
              <a:rPr sz="2800" dirty="0">
                <a:cs typeface="Calibri"/>
              </a:rPr>
              <a:t>{1</a:t>
            </a:r>
            <a:r>
              <a:rPr sz="2800" i="1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5} and 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spc="-9" dirty="0">
                <a:cs typeface="Calibri"/>
              </a:rPr>
              <a:t>3}  </a:t>
            </a:r>
            <a:r>
              <a:rPr sz="2800" spc="-9" dirty="0">
                <a:solidFill>
                  <a:srgbClr val="FF0000"/>
                </a:solidFill>
                <a:cs typeface="Calibri"/>
              </a:rPr>
              <a:t>Solution:</a:t>
            </a:r>
            <a:endParaRPr sz="2800" dirty="0">
              <a:cs typeface="Calibri"/>
            </a:endParaRPr>
          </a:p>
          <a:p>
            <a:pPr marL="11506"/>
            <a:r>
              <a:rPr sz="2800" spc="-5" dirty="0">
                <a:cs typeface="Calibri"/>
              </a:rPr>
              <a:t>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5} ∩ 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3} = {1</a:t>
            </a:r>
            <a:r>
              <a:rPr sz="2800" i="1" spc="-5" dirty="0">
                <a:cs typeface="Calibri"/>
              </a:rPr>
              <a:t>,</a:t>
            </a:r>
            <a:r>
              <a:rPr sz="2800" i="1" spc="103" dirty="0">
                <a:cs typeface="Calibri"/>
              </a:rPr>
              <a:t> </a:t>
            </a:r>
            <a:r>
              <a:rPr sz="2800" spc="-9" dirty="0">
                <a:cs typeface="Calibri"/>
              </a:rPr>
              <a:t>3}.</a:t>
            </a:r>
            <a:endParaRPr sz="2800" dirty="0">
              <a:cs typeface="Calibri"/>
            </a:endParaRPr>
          </a:p>
          <a:p>
            <a:pPr>
              <a:spcBef>
                <a:spcPts val="23"/>
              </a:spcBef>
            </a:pPr>
            <a:endParaRPr sz="2800" dirty="0">
              <a:cs typeface="Times New Roman"/>
            </a:endParaRPr>
          </a:p>
          <a:p>
            <a:pPr marL="1668399">
              <a:spcBef>
                <a:spcPts val="5"/>
              </a:spcBef>
            </a:pPr>
            <a:r>
              <a:rPr sz="2800" spc="-5" dirty="0">
                <a:solidFill>
                  <a:srgbClr val="FF0000"/>
                </a:solidFill>
                <a:cs typeface="Calibri"/>
              </a:rPr>
              <a:t>A ∩ B= B ∩</a:t>
            </a:r>
            <a:r>
              <a:rPr sz="2800" spc="23" dirty="0">
                <a:solidFill>
                  <a:srgbClr val="FF0000"/>
                </a:solidFill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A</a:t>
            </a:r>
            <a:endParaRPr sz="2800" dirty="0"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9125" y="17266"/>
            <a:ext cx="10843404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Set Operations … Membership Table</a:t>
            </a:r>
          </a:p>
        </p:txBody>
      </p:sp>
      <p:graphicFrame>
        <p:nvGraphicFramePr>
          <p:cNvPr id="4" name="Group 92"/>
          <p:cNvGraphicFramePr>
            <a:graphicFrameLocks noGrp="1"/>
          </p:cNvGraphicFramePr>
          <p:nvPr/>
        </p:nvGraphicFramePr>
        <p:xfrm>
          <a:off x="2133600" y="1371600"/>
          <a:ext cx="3657600" cy="2743200"/>
        </p:xfrm>
        <a:graphic>
          <a:graphicData uri="http://schemas.openxmlformats.org/drawingml/2006/table">
            <a:tbl>
              <a:tblPr/>
              <a:tblGrid>
                <a:gridCol w="1190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 A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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Math1" pitchFamily="2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roup 86"/>
          <p:cNvGraphicFramePr>
            <a:graphicFrameLocks/>
          </p:cNvGraphicFramePr>
          <p:nvPr/>
        </p:nvGraphicFramePr>
        <p:xfrm>
          <a:off x="6934200" y="2590800"/>
          <a:ext cx="3733800" cy="2819400"/>
        </p:xfrm>
        <a:graphic>
          <a:graphicData uri="http://schemas.openxmlformats.org/drawingml/2006/table">
            <a:tbl>
              <a:tblPr/>
              <a:tblGrid>
                <a:gridCol w="873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 P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sym typeface="Math1" pitchFamily="2" charset="2"/>
                        </a:rPr>
                        <a:t>Ù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Math1" pitchFamily="2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34200" y="2057401"/>
            <a:ext cx="373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22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Remember Conjunction Table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524000" y="5638801"/>
            <a:ext cx="891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spcBef>
                <a:spcPct val="50000"/>
              </a:spcBef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REMARK : 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This membership table for Intersection is similar to the truth table for logical connective, conjunction (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^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774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7980" y="443824"/>
            <a:ext cx="5264320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spc="-18" dirty="0">
                <a:cs typeface="Arial"/>
              </a:rPr>
              <a:t>Set</a:t>
            </a:r>
            <a:r>
              <a:rPr sz="4800" spc="-103" dirty="0">
                <a:cs typeface="Arial"/>
              </a:rPr>
              <a:t> </a:t>
            </a:r>
            <a:r>
              <a:rPr lang="en-US" sz="4800" spc="-23" dirty="0">
                <a:cs typeface="Arial"/>
              </a:rPr>
              <a:t>O</a:t>
            </a:r>
            <a:r>
              <a:rPr sz="4800" spc="-23" dirty="0">
                <a:cs typeface="Arial"/>
              </a:rPr>
              <a:t>perations</a:t>
            </a:r>
            <a:endParaRPr sz="4800" dirty="0"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7980" y="1511317"/>
            <a:ext cx="7531552" cy="4297147"/>
          </a:xfrm>
          <a:prstGeom prst="rect">
            <a:avLst/>
          </a:prstGeom>
        </p:spPr>
        <p:txBody>
          <a:bodyPr vert="horz" wrap="square" lIns="0" tIns="10931" rIns="0" bIns="0" rtlCol="0">
            <a:spAutoFit/>
          </a:bodyPr>
          <a:lstStyle/>
          <a:p>
            <a:pPr marL="11506">
              <a:spcBef>
                <a:spcPts val="86"/>
              </a:spcBef>
            </a:pPr>
            <a:r>
              <a:rPr sz="2537" spc="-5" dirty="0">
                <a:cs typeface="Calibri"/>
              </a:rPr>
              <a:t>A= {</a:t>
            </a:r>
            <a:r>
              <a:rPr lang="en-US" sz="2537" spc="-5" dirty="0">
                <a:cs typeface="Calibri"/>
              </a:rPr>
              <a:t>a</a:t>
            </a:r>
            <a:r>
              <a:rPr sz="2537" spc="-5" dirty="0">
                <a:cs typeface="Calibri"/>
              </a:rPr>
              <a:t>, </a:t>
            </a:r>
            <a:r>
              <a:rPr lang="en-US" sz="2537" spc="-5" dirty="0">
                <a:cs typeface="Calibri"/>
              </a:rPr>
              <a:t>b</a:t>
            </a:r>
            <a:r>
              <a:rPr sz="2537" spc="-5" dirty="0">
                <a:cs typeface="Calibri"/>
              </a:rPr>
              <a:t>, </a:t>
            </a:r>
            <a:r>
              <a:rPr lang="en-US" sz="2537" spc="-5" dirty="0">
                <a:cs typeface="Calibri"/>
              </a:rPr>
              <a:t>c</a:t>
            </a:r>
            <a:r>
              <a:rPr sz="2537" spc="-5" dirty="0">
                <a:cs typeface="Calibri"/>
              </a:rPr>
              <a:t>} and B= {</a:t>
            </a:r>
            <a:r>
              <a:rPr lang="en-US" sz="2537" spc="-5" dirty="0">
                <a:cs typeface="Calibri"/>
              </a:rPr>
              <a:t>c, d, f</a:t>
            </a:r>
            <a:r>
              <a:rPr sz="2537" spc="-9" dirty="0">
                <a:cs typeface="Calibri"/>
              </a:rPr>
              <a:t>}.</a:t>
            </a:r>
            <a:endParaRPr sz="2537" dirty="0">
              <a:cs typeface="Calibri"/>
            </a:endParaRPr>
          </a:p>
          <a:p>
            <a:pPr marL="478083" indent="-466576">
              <a:spcBef>
                <a:spcPts val="23"/>
              </a:spcBef>
              <a:buAutoNum type="arabicParenR"/>
              <a:tabLst>
                <a:tab pos="478083" algn="l"/>
                <a:tab pos="478658" algn="l"/>
              </a:tabLst>
            </a:pPr>
            <a:r>
              <a:rPr sz="2537" spc="-9" dirty="0">
                <a:cs typeface="Calibri"/>
              </a:rPr>
              <a:t>Find 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A </a:t>
            </a:r>
            <a:r>
              <a:rPr sz="2537" spc="-5" dirty="0">
                <a:solidFill>
                  <a:srgbClr val="FF0000"/>
                </a:solidFill>
                <a:cs typeface="Cambria Math"/>
              </a:rPr>
              <a:t>∪</a:t>
            </a:r>
            <a:r>
              <a:rPr sz="2537" spc="59" dirty="0">
                <a:solidFill>
                  <a:srgbClr val="FF0000"/>
                </a:solidFill>
                <a:cs typeface="Cambria Math"/>
              </a:rPr>
              <a:t> 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B</a:t>
            </a:r>
            <a:endParaRPr sz="2537" dirty="0">
              <a:cs typeface="Calibri"/>
            </a:endParaRPr>
          </a:p>
          <a:p>
            <a:pPr marL="478083" indent="-466576">
              <a:lnSpc>
                <a:spcPts val="3035"/>
              </a:lnSpc>
              <a:buAutoNum type="arabicParenR"/>
              <a:tabLst>
                <a:tab pos="478083" algn="l"/>
                <a:tab pos="478658" algn="l"/>
              </a:tabLst>
            </a:pPr>
            <a:r>
              <a:rPr sz="2537" spc="-9" dirty="0">
                <a:cs typeface="Calibri"/>
              </a:rPr>
              <a:t>Find 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A </a:t>
            </a:r>
            <a:r>
              <a:rPr sz="2537" spc="-5" dirty="0">
                <a:solidFill>
                  <a:srgbClr val="FF0000"/>
                </a:solidFill>
                <a:cs typeface="Cambria Math"/>
              </a:rPr>
              <a:t>∪ 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B=B </a:t>
            </a:r>
            <a:r>
              <a:rPr sz="2537" spc="-5" dirty="0">
                <a:solidFill>
                  <a:srgbClr val="FF0000"/>
                </a:solidFill>
                <a:cs typeface="Cambria Math"/>
              </a:rPr>
              <a:t>∪</a:t>
            </a:r>
            <a:r>
              <a:rPr sz="2537" spc="109" dirty="0">
                <a:solidFill>
                  <a:srgbClr val="FF0000"/>
                </a:solidFill>
                <a:cs typeface="Cambria Math"/>
              </a:rPr>
              <a:t> 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A</a:t>
            </a:r>
            <a:endParaRPr sz="2537" dirty="0">
              <a:cs typeface="Calibri"/>
            </a:endParaRPr>
          </a:p>
          <a:p>
            <a:pPr marL="478083" indent="-466576">
              <a:lnSpc>
                <a:spcPts val="3035"/>
              </a:lnSpc>
              <a:buAutoNum type="arabicParenR"/>
              <a:tabLst>
                <a:tab pos="478083" algn="l"/>
                <a:tab pos="478658" algn="l"/>
              </a:tabLst>
            </a:pPr>
            <a:r>
              <a:rPr sz="2537" spc="-9" dirty="0">
                <a:cs typeface="Calibri"/>
              </a:rPr>
              <a:t>Find 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A ∩</a:t>
            </a:r>
            <a:r>
              <a:rPr sz="2537" spc="45" dirty="0">
                <a:solidFill>
                  <a:srgbClr val="FF0000"/>
                </a:solidFill>
                <a:cs typeface="Calibri"/>
              </a:rPr>
              <a:t> 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B</a:t>
            </a:r>
            <a:endParaRPr sz="2537" dirty="0">
              <a:cs typeface="Calibri"/>
            </a:endParaRPr>
          </a:p>
          <a:p>
            <a:pPr marL="11506" marR="2171220">
              <a:buAutoNum type="arabicParenR"/>
              <a:tabLst>
                <a:tab pos="478083" algn="l"/>
                <a:tab pos="478658" algn="l"/>
              </a:tabLst>
            </a:pPr>
            <a:r>
              <a:rPr lang="en-US" sz="2537" spc="-5" dirty="0">
                <a:cs typeface="Calibri"/>
              </a:rPr>
              <a:t>   </a:t>
            </a:r>
            <a:r>
              <a:rPr sz="2537" spc="-5" dirty="0">
                <a:cs typeface="Calibri"/>
              </a:rPr>
              <a:t>Is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 A ∩ B= B∩</a:t>
            </a:r>
            <a:r>
              <a:rPr sz="2537" spc="-23" dirty="0">
                <a:solidFill>
                  <a:srgbClr val="FF0000"/>
                </a:solidFill>
                <a:cs typeface="Calibri"/>
              </a:rPr>
              <a:t> </a:t>
            </a:r>
            <a:r>
              <a:rPr sz="2537" spc="-5" dirty="0">
                <a:solidFill>
                  <a:srgbClr val="FF0000"/>
                </a:solidFill>
                <a:cs typeface="Calibri"/>
              </a:rPr>
              <a:t>A  </a:t>
            </a:r>
            <a:endParaRPr lang="en-US" sz="2537" spc="-5" dirty="0">
              <a:solidFill>
                <a:srgbClr val="FF0000"/>
              </a:solidFill>
              <a:cs typeface="Calibri"/>
            </a:endParaRPr>
          </a:p>
          <a:p>
            <a:pPr marL="11506" marR="2171220">
              <a:buAutoNum type="arabicParenR"/>
              <a:tabLst>
                <a:tab pos="478083" algn="l"/>
                <a:tab pos="478658" algn="l"/>
              </a:tabLst>
            </a:pPr>
            <a:endParaRPr lang="en-US" sz="2537" spc="-5" dirty="0">
              <a:solidFill>
                <a:srgbClr val="FF0000"/>
              </a:solidFill>
              <a:cs typeface="Calibri"/>
            </a:endParaRPr>
          </a:p>
          <a:p>
            <a:pPr marL="11506" marR="2171220">
              <a:tabLst>
                <a:tab pos="478083" algn="l"/>
                <a:tab pos="478658" algn="l"/>
              </a:tabLst>
            </a:pPr>
            <a:r>
              <a:rPr sz="2537" spc="-9" dirty="0">
                <a:solidFill>
                  <a:srgbClr val="FF0000"/>
                </a:solidFill>
                <a:cs typeface="Calibri"/>
              </a:rPr>
              <a:t>Solution:</a:t>
            </a:r>
            <a:endParaRPr sz="2537" dirty="0">
              <a:cs typeface="Calibri"/>
            </a:endParaRPr>
          </a:p>
          <a:p>
            <a:pPr marL="11506">
              <a:lnSpc>
                <a:spcPts val="3035"/>
              </a:lnSpc>
              <a:spcBef>
                <a:spcPts val="27"/>
              </a:spcBef>
              <a:tabLst>
                <a:tab pos="478083" algn="l"/>
              </a:tabLst>
            </a:pPr>
            <a:r>
              <a:rPr sz="2537" spc="-5" dirty="0">
                <a:cs typeface="Calibri"/>
              </a:rPr>
              <a:t>1)	{</a:t>
            </a:r>
            <a:r>
              <a:rPr lang="en-US" sz="2537" spc="-5" dirty="0">
                <a:cs typeface="Calibri"/>
              </a:rPr>
              <a:t>a, b, c</a:t>
            </a:r>
            <a:r>
              <a:rPr sz="2537" spc="-5" dirty="0">
                <a:cs typeface="Calibri"/>
              </a:rPr>
              <a:t>} </a:t>
            </a:r>
            <a:r>
              <a:rPr sz="2537" spc="-5" dirty="0">
                <a:cs typeface="Cambria Math"/>
              </a:rPr>
              <a:t>∪ </a:t>
            </a:r>
            <a:r>
              <a:rPr sz="2537" spc="-5" dirty="0">
                <a:cs typeface="Calibri"/>
              </a:rPr>
              <a:t>{</a:t>
            </a:r>
            <a:r>
              <a:rPr lang="en-US" sz="2537" spc="-5" dirty="0">
                <a:cs typeface="Calibri"/>
              </a:rPr>
              <a:t>c, d, f</a:t>
            </a:r>
            <a:r>
              <a:rPr sz="2537" spc="-5" dirty="0">
                <a:cs typeface="Calibri"/>
              </a:rPr>
              <a:t>} = {</a:t>
            </a:r>
            <a:r>
              <a:rPr lang="en-US" sz="2537" spc="-5" dirty="0">
                <a:cs typeface="Calibri"/>
              </a:rPr>
              <a:t>a, b, c, d, f</a:t>
            </a:r>
            <a:r>
              <a:rPr sz="2537" spc="-9" dirty="0">
                <a:cs typeface="Calibri"/>
              </a:rPr>
              <a:t>}.</a:t>
            </a:r>
            <a:endParaRPr sz="2537" dirty="0">
              <a:cs typeface="Calibri"/>
            </a:endParaRPr>
          </a:p>
          <a:p>
            <a:pPr marL="11506" marR="3473721">
              <a:lnSpc>
                <a:spcPts val="3044"/>
              </a:lnSpc>
              <a:spcBef>
                <a:spcPts val="91"/>
              </a:spcBef>
              <a:tabLst>
                <a:tab pos="478083" algn="l"/>
              </a:tabLst>
            </a:pPr>
            <a:r>
              <a:rPr sz="2537" spc="-5" dirty="0">
                <a:cs typeface="Calibri"/>
              </a:rPr>
              <a:t>2)	</a:t>
            </a:r>
            <a:r>
              <a:rPr sz="2537" spc="-63" dirty="0">
                <a:cs typeface="Calibri"/>
              </a:rPr>
              <a:t>Yes</a:t>
            </a:r>
            <a:endParaRPr lang="en-US" sz="2537" spc="-63" dirty="0">
              <a:cs typeface="Calibri"/>
            </a:endParaRPr>
          </a:p>
          <a:p>
            <a:pPr marL="11506" marR="3473721">
              <a:lnSpc>
                <a:spcPts val="3044"/>
              </a:lnSpc>
              <a:spcBef>
                <a:spcPts val="91"/>
              </a:spcBef>
              <a:tabLst>
                <a:tab pos="478083" algn="l"/>
              </a:tabLst>
            </a:pPr>
            <a:r>
              <a:rPr sz="2537" spc="-9" dirty="0">
                <a:cs typeface="Calibri"/>
              </a:rPr>
              <a:t>3</a:t>
            </a:r>
            <a:r>
              <a:rPr sz="2537" spc="-5" dirty="0">
                <a:cs typeface="Calibri"/>
              </a:rPr>
              <a:t>)</a:t>
            </a:r>
            <a:r>
              <a:rPr sz="2537" dirty="0">
                <a:cs typeface="Calibri"/>
              </a:rPr>
              <a:t>	</a:t>
            </a:r>
            <a:r>
              <a:rPr sz="2537" spc="-9" dirty="0">
                <a:cs typeface="Calibri"/>
              </a:rPr>
              <a:t>{</a:t>
            </a:r>
            <a:r>
              <a:rPr lang="en-US" sz="2537" spc="-9" dirty="0">
                <a:cs typeface="Calibri"/>
              </a:rPr>
              <a:t>c</a:t>
            </a:r>
            <a:r>
              <a:rPr sz="2537" spc="-9" dirty="0">
                <a:cs typeface="Calibri"/>
              </a:rPr>
              <a:t>}</a:t>
            </a:r>
            <a:endParaRPr sz="2537" dirty="0">
              <a:cs typeface="Calibri"/>
            </a:endParaRPr>
          </a:p>
          <a:p>
            <a:pPr marL="11506">
              <a:lnSpc>
                <a:spcPts val="2967"/>
              </a:lnSpc>
              <a:tabLst>
                <a:tab pos="478083" algn="l"/>
              </a:tabLst>
            </a:pPr>
            <a:r>
              <a:rPr sz="2537" spc="-5" dirty="0">
                <a:cs typeface="Calibri"/>
              </a:rPr>
              <a:t>4)	</a:t>
            </a:r>
            <a:r>
              <a:rPr lang="en-US" sz="2537" spc="-18" dirty="0">
                <a:cs typeface="Calibri"/>
              </a:rPr>
              <a:t>Y</a:t>
            </a:r>
            <a:r>
              <a:rPr sz="2537" spc="-18" dirty="0">
                <a:cs typeface="Calibri"/>
              </a:rPr>
              <a:t>es</a:t>
            </a:r>
            <a:endParaRPr sz="2537" dirty="0"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7813" y="539074"/>
            <a:ext cx="3949870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spc="-5" dirty="0">
                <a:cs typeface="Arial"/>
              </a:rPr>
              <a:t>Disjoint</a:t>
            </a:r>
            <a:r>
              <a:rPr lang="en-US" sz="4800" spc="-5" dirty="0">
                <a:cs typeface="Arial"/>
              </a:rPr>
              <a:t> Sets</a:t>
            </a:r>
            <a:endParaRPr sz="4800" dirty="0"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5167" y="1699056"/>
            <a:ext cx="10401483" cy="2263842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 marR="4602">
              <a:spcBef>
                <a:spcPts val="95"/>
              </a:spcBef>
            </a:pPr>
            <a:r>
              <a:rPr sz="2899" spc="-50" dirty="0">
                <a:cs typeface="Calibri"/>
              </a:rPr>
              <a:t>Two </a:t>
            </a:r>
            <a:r>
              <a:rPr sz="2899" spc="-5" dirty="0">
                <a:cs typeface="Calibri"/>
              </a:rPr>
              <a:t>sets </a:t>
            </a:r>
            <a:r>
              <a:rPr sz="2899" spc="-14" dirty="0">
                <a:cs typeface="Calibri"/>
              </a:rPr>
              <a:t>are </a:t>
            </a:r>
            <a:r>
              <a:rPr sz="2899" spc="-5" dirty="0">
                <a:cs typeface="Calibri"/>
              </a:rPr>
              <a:t>called </a:t>
            </a:r>
            <a:r>
              <a:rPr sz="2899" i="1" spc="-9" dirty="0">
                <a:cs typeface="Calibri"/>
              </a:rPr>
              <a:t>disjoint </a:t>
            </a:r>
            <a:r>
              <a:rPr sz="2899" dirty="0">
                <a:cs typeface="Calibri"/>
              </a:rPr>
              <a:t>if their </a:t>
            </a:r>
            <a:r>
              <a:rPr sz="2899" spc="-14" dirty="0">
                <a:solidFill>
                  <a:srgbClr val="FF0000"/>
                </a:solidFill>
                <a:cs typeface="Calibri"/>
              </a:rPr>
              <a:t>intersection </a:t>
            </a:r>
            <a:r>
              <a:rPr sz="2899" dirty="0">
                <a:cs typeface="Calibri"/>
              </a:rPr>
              <a:t>is the  </a:t>
            </a:r>
            <a:r>
              <a:rPr sz="2899" spc="-5" dirty="0">
                <a:solidFill>
                  <a:srgbClr val="FF0000"/>
                </a:solidFill>
                <a:cs typeface="Calibri"/>
              </a:rPr>
              <a:t>empty set</a:t>
            </a:r>
            <a:r>
              <a:rPr sz="2899" spc="-5" dirty="0">
                <a:cs typeface="Calibri"/>
              </a:rPr>
              <a:t>.</a:t>
            </a:r>
            <a:endParaRPr sz="2899" dirty="0">
              <a:cs typeface="Calibri"/>
            </a:endParaRPr>
          </a:p>
          <a:p>
            <a:pPr marL="11506"/>
            <a:r>
              <a:rPr sz="2899" spc="-9" dirty="0">
                <a:cs typeface="Calibri"/>
              </a:rPr>
              <a:t>Example;</a:t>
            </a:r>
            <a:endParaRPr sz="2899" dirty="0">
              <a:cs typeface="Calibri"/>
            </a:endParaRPr>
          </a:p>
          <a:p>
            <a:pPr marL="11506"/>
            <a:r>
              <a:rPr sz="2899" spc="-5" dirty="0">
                <a:cs typeface="Calibri"/>
              </a:rPr>
              <a:t>Let </a:t>
            </a:r>
            <a:r>
              <a:rPr sz="2899" i="1" dirty="0">
                <a:cs typeface="Calibri"/>
              </a:rPr>
              <a:t>A </a:t>
            </a:r>
            <a:r>
              <a:rPr sz="2899" dirty="0">
                <a:cs typeface="Calibri"/>
              </a:rPr>
              <a:t>= </a:t>
            </a:r>
            <a:r>
              <a:rPr sz="2899" spc="-5" dirty="0">
                <a:cs typeface="Calibri"/>
              </a:rPr>
              <a:t>{1</a:t>
            </a:r>
            <a:r>
              <a:rPr sz="2899" i="1" spc="-5" dirty="0">
                <a:cs typeface="Calibri"/>
              </a:rPr>
              <a:t>, </a:t>
            </a:r>
            <a:r>
              <a:rPr sz="2899" spc="-5" dirty="0">
                <a:cs typeface="Calibri"/>
              </a:rPr>
              <a:t>3</a:t>
            </a:r>
            <a:r>
              <a:rPr sz="2899" i="1" spc="-5" dirty="0">
                <a:cs typeface="Calibri"/>
              </a:rPr>
              <a:t>, </a:t>
            </a:r>
            <a:r>
              <a:rPr sz="2899" spc="-5" dirty="0">
                <a:cs typeface="Calibri"/>
              </a:rPr>
              <a:t>5</a:t>
            </a:r>
            <a:r>
              <a:rPr sz="2899" i="1" spc="-5" dirty="0">
                <a:cs typeface="Calibri"/>
              </a:rPr>
              <a:t>, </a:t>
            </a:r>
            <a:r>
              <a:rPr sz="2899" spc="-5" dirty="0">
                <a:cs typeface="Calibri"/>
              </a:rPr>
              <a:t>7</a:t>
            </a:r>
            <a:r>
              <a:rPr sz="2899" i="1" spc="-5" dirty="0">
                <a:cs typeface="Calibri"/>
              </a:rPr>
              <a:t>, </a:t>
            </a:r>
            <a:r>
              <a:rPr sz="2899" dirty="0">
                <a:cs typeface="Calibri"/>
              </a:rPr>
              <a:t>9} and </a:t>
            </a:r>
            <a:r>
              <a:rPr sz="2899" i="1" dirty="0">
                <a:cs typeface="Calibri"/>
              </a:rPr>
              <a:t>B </a:t>
            </a:r>
            <a:r>
              <a:rPr sz="2899" dirty="0">
                <a:cs typeface="Calibri"/>
              </a:rPr>
              <a:t>= {2</a:t>
            </a:r>
            <a:r>
              <a:rPr sz="2899" i="1" dirty="0">
                <a:cs typeface="Calibri"/>
              </a:rPr>
              <a:t>, </a:t>
            </a:r>
            <a:r>
              <a:rPr sz="2899" spc="-5" dirty="0">
                <a:cs typeface="Calibri"/>
              </a:rPr>
              <a:t>4</a:t>
            </a:r>
            <a:r>
              <a:rPr sz="2899" i="1" spc="-5" dirty="0">
                <a:cs typeface="Calibri"/>
              </a:rPr>
              <a:t>, </a:t>
            </a:r>
            <a:r>
              <a:rPr sz="2899" spc="-5" dirty="0">
                <a:cs typeface="Calibri"/>
              </a:rPr>
              <a:t>6</a:t>
            </a:r>
            <a:r>
              <a:rPr sz="2899" i="1" spc="-5" dirty="0">
                <a:cs typeface="Calibri"/>
              </a:rPr>
              <a:t>, </a:t>
            </a:r>
            <a:r>
              <a:rPr sz="2899" spc="-5" dirty="0">
                <a:cs typeface="Calibri"/>
              </a:rPr>
              <a:t>8</a:t>
            </a:r>
            <a:r>
              <a:rPr sz="2899" i="1" spc="-5" dirty="0">
                <a:cs typeface="Calibri"/>
              </a:rPr>
              <a:t>,</a:t>
            </a:r>
            <a:r>
              <a:rPr sz="2899" i="1" spc="72" dirty="0">
                <a:cs typeface="Calibri"/>
              </a:rPr>
              <a:t> </a:t>
            </a:r>
            <a:r>
              <a:rPr sz="2899" dirty="0">
                <a:cs typeface="Calibri"/>
              </a:rPr>
              <a:t>10}.</a:t>
            </a:r>
          </a:p>
          <a:p>
            <a:pPr>
              <a:spcBef>
                <a:spcPts val="14"/>
              </a:spcBef>
            </a:pPr>
            <a:endParaRPr sz="3035" dirty="0">
              <a:cs typeface="Times New Roman"/>
            </a:endParaRPr>
          </a:p>
          <a:p>
            <a:pPr marL="11506">
              <a:tabLst>
                <a:tab pos="2430685" algn="l"/>
              </a:tabLst>
            </a:pPr>
            <a:r>
              <a:rPr sz="2899" i="1" dirty="0">
                <a:cs typeface="Calibri"/>
              </a:rPr>
              <a:t>A </a:t>
            </a:r>
            <a:r>
              <a:rPr sz="2899" dirty="0">
                <a:cs typeface="Calibri"/>
              </a:rPr>
              <a:t>∩ </a:t>
            </a:r>
            <a:r>
              <a:rPr sz="2899" i="1" dirty="0">
                <a:cs typeface="Calibri"/>
              </a:rPr>
              <a:t>B </a:t>
            </a:r>
            <a:r>
              <a:rPr sz="2899" dirty="0">
                <a:cs typeface="Calibri"/>
              </a:rPr>
              <a:t>=</a:t>
            </a:r>
            <a:r>
              <a:rPr sz="2899" spc="5" dirty="0">
                <a:cs typeface="Calibri"/>
              </a:rPr>
              <a:t> </a:t>
            </a:r>
            <a:r>
              <a:rPr sz="2899" dirty="0">
                <a:cs typeface="Cambria Math"/>
              </a:rPr>
              <a:t>∅</a:t>
            </a:r>
            <a:r>
              <a:rPr sz="2899" dirty="0">
                <a:cs typeface="Calibri"/>
              </a:rPr>
              <a:t>,</a:t>
            </a:r>
            <a:r>
              <a:rPr sz="2899" spc="5" dirty="0">
                <a:cs typeface="Calibri"/>
              </a:rPr>
              <a:t> </a:t>
            </a:r>
            <a:r>
              <a:rPr sz="2899" spc="-5" dirty="0">
                <a:cs typeface="Calibri"/>
              </a:rPr>
              <a:t>thus	</a:t>
            </a:r>
            <a:r>
              <a:rPr sz="2899" i="1" dirty="0">
                <a:cs typeface="Calibri"/>
              </a:rPr>
              <a:t>A </a:t>
            </a:r>
            <a:r>
              <a:rPr sz="2899" dirty="0">
                <a:cs typeface="Calibri"/>
              </a:rPr>
              <a:t>and </a:t>
            </a:r>
            <a:r>
              <a:rPr sz="2899" i="1" dirty="0">
                <a:cs typeface="Calibri"/>
              </a:rPr>
              <a:t>B </a:t>
            </a:r>
            <a:r>
              <a:rPr sz="2899" spc="-14" dirty="0">
                <a:cs typeface="Calibri"/>
              </a:rPr>
              <a:t>are</a:t>
            </a:r>
            <a:r>
              <a:rPr sz="2899" spc="-18" dirty="0">
                <a:cs typeface="Calibri"/>
              </a:rPr>
              <a:t> </a:t>
            </a:r>
            <a:r>
              <a:rPr sz="2899" spc="-9" dirty="0">
                <a:cs typeface="Calibri"/>
              </a:rPr>
              <a:t>disjoint</a:t>
            </a:r>
            <a:endParaRPr sz="2899" dirty="0"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9428" y="422080"/>
            <a:ext cx="4556656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spc="-23" dirty="0">
                <a:cs typeface="Arial"/>
              </a:rPr>
              <a:t>Difference</a:t>
            </a:r>
            <a:endParaRPr sz="4800" dirty="0"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2500" y="1172944"/>
            <a:ext cx="10934700" cy="2073141"/>
          </a:xfrm>
          <a:prstGeom prst="rect">
            <a:avLst/>
          </a:prstGeom>
        </p:spPr>
        <p:txBody>
          <a:bodyPr vert="horz" wrap="square" lIns="0" tIns="10931" rIns="0" bIns="0" rtlCol="0">
            <a:spAutoFit/>
          </a:bodyPr>
          <a:lstStyle/>
          <a:p>
            <a:pPr marL="11506">
              <a:spcBef>
                <a:spcPts val="86"/>
              </a:spcBef>
            </a:pPr>
            <a:r>
              <a:rPr sz="2800" dirty="0">
                <a:cs typeface="Arial"/>
              </a:rPr>
              <a:t>Let </a:t>
            </a:r>
            <a:r>
              <a:rPr sz="2800" spc="-5" dirty="0">
                <a:cs typeface="Arial"/>
              </a:rPr>
              <a:t>A </a:t>
            </a:r>
            <a:r>
              <a:rPr sz="2800" dirty="0">
                <a:cs typeface="Arial"/>
              </a:rPr>
              <a:t>and </a:t>
            </a:r>
            <a:r>
              <a:rPr sz="2800" spc="-5" dirty="0">
                <a:cs typeface="Arial"/>
              </a:rPr>
              <a:t>B be</a:t>
            </a:r>
            <a:r>
              <a:rPr sz="2800" spc="-45" dirty="0">
                <a:cs typeface="Arial"/>
              </a:rPr>
              <a:t> </a:t>
            </a:r>
            <a:r>
              <a:rPr sz="2800" spc="-18" dirty="0">
                <a:cs typeface="Arial"/>
              </a:rPr>
              <a:t>sets.</a:t>
            </a:r>
            <a:endParaRPr sz="2800" dirty="0">
              <a:cs typeface="Arial"/>
            </a:endParaRPr>
          </a:p>
          <a:p>
            <a:pPr marL="436660" marR="4602" indent="-425154">
              <a:buChar char="•"/>
              <a:tabLst>
                <a:tab pos="436660" algn="l"/>
                <a:tab pos="437236" algn="l"/>
              </a:tabLst>
            </a:pPr>
            <a:r>
              <a:rPr sz="2800" spc="-5" dirty="0">
                <a:cs typeface="Arial"/>
              </a:rPr>
              <a:t>The </a:t>
            </a:r>
            <a:r>
              <a:rPr sz="2800" b="1" spc="-5" dirty="0">
                <a:solidFill>
                  <a:srgbClr val="FF0000"/>
                </a:solidFill>
                <a:cs typeface="Arial"/>
              </a:rPr>
              <a:t>difference </a:t>
            </a:r>
            <a:r>
              <a:rPr sz="2800" spc="-9" dirty="0">
                <a:cs typeface="Arial"/>
              </a:rPr>
              <a:t>of </a:t>
            </a:r>
            <a:r>
              <a:rPr sz="2800" spc="-5" dirty="0">
                <a:cs typeface="Arial"/>
              </a:rPr>
              <a:t>A and </a:t>
            </a:r>
            <a:r>
              <a:rPr sz="2800" spc="-14" dirty="0">
                <a:cs typeface="Arial"/>
              </a:rPr>
              <a:t>B, </a:t>
            </a:r>
            <a:r>
              <a:rPr sz="2800" dirty="0">
                <a:cs typeface="Arial"/>
              </a:rPr>
              <a:t>denoted </a:t>
            </a:r>
            <a:r>
              <a:rPr sz="2800" spc="-5" dirty="0">
                <a:cs typeface="Arial"/>
              </a:rPr>
              <a:t>by </a:t>
            </a:r>
            <a:r>
              <a:rPr sz="2800" b="1" spc="-5" dirty="0">
                <a:solidFill>
                  <a:srgbClr val="FF0000"/>
                </a:solidFill>
                <a:cs typeface="Arial"/>
              </a:rPr>
              <a:t>A-B</a:t>
            </a:r>
            <a:r>
              <a:rPr sz="2800" spc="-5" dirty="0">
                <a:solidFill>
                  <a:srgbClr val="FF0000"/>
                </a:solidFill>
                <a:cs typeface="Arial"/>
              </a:rPr>
              <a:t>, </a:t>
            </a:r>
            <a:r>
              <a:rPr sz="2800" spc="-5" dirty="0">
                <a:cs typeface="Arial"/>
              </a:rPr>
              <a:t>is the  </a:t>
            </a:r>
            <a:r>
              <a:rPr sz="2800" spc="-18" dirty="0">
                <a:cs typeface="Arial"/>
              </a:rPr>
              <a:t>set </a:t>
            </a:r>
            <a:r>
              <a:rPr sz="2800" dirty="0">
                <a:cs typeface="Arial"/>
              </a:rPr>
              <a:t>containing </a:t>
            </a:r>
            <a:r>
              <a:rPr sz="2800" spc="-5" dirty="0">
                <a:cs typeface="Arial"/>
              </a:rPr>
              <a:t>those </a:t>
            </a:r>
            <a:r>
              <a:rPr sz="2800" dirty="0">
                <a:cs typeface="Arial"/>
              </a:rPr>
              <a:t>elements </a:t>
            </a:r>
            <a:r>
              <a:rPr sz="2800" spc="-9" dirty="0">
                <a:cs typeface="Arial"/>
              </a:rPr>
              <a:t>that </a:t>
            </a:r>
            <a:r>
              <a:rPr sz="2800" dirty="0">
                <a:cs typeface="Arial"/>
              </a:rPr>
              <a:t>are </a:t>
            </a:r>
            <a:r>
              <a:rPr sz="2800" spc="-5" dirty="0">
                <a:cs typeface="Arial"/>
              </a:rPr>
              <a:t>in A </a:t>
            </a:r>
            <a:r>
              <a:rPr sz="2800" dirty="0">
                <a:cs typeface="Arial"/>
              </a:rPr>
              <a:t>but not</a:t>
            </a:r>
            <a:r>
              <a:rPr sz="2800" spc="-72" dirty="0">
                <a:cs typeface="Arial"/>
              </a:rPr>
              <a:t> </a:t>
            </a:r>
            <a:r>
              <a:rPr sz="2800" spc="-5" dirty="0">
                <a:cs typeface="Arial"/>
              </a:rPr>
              <a:t>in</a:t>
            </a:r>
            <a:endParaRPr sz="2800" dirty="0">
              <a:cs typeface="Arial"/>
            </a:endParaRPr>
          </a:p>
          <a:p>
            <a:pPr marL="436660">
              <a:lnSpc>
                <a:spcPts val="2945"/>
              </a:lnSpc>
            </a:pPr>
            <a:r>
              <a:rPr sz="2800" spc="-14" dirty="0">
                <a:cs typeface="Arial"/>
              </a:rPr>
              <a:t>B. </a:t>
            </a:r>
            <a:r>
              <a:rPr sz="2800" spc="-5" dirty="0">
                <a:cs typeface="Arial"/>
              </a:rPr>
              <a:t>(also </a:t>
            </a:r>
            <a:r>
              <a:rPr sz="2800" spc="-9" dirty="0">
                <a:cs typeface="Arial"/>
              </a:rPr>
              <a:t>called </a:t>
            </a:r>
            <a:r>
              <a:rPr sz="2800" b="1" spc="-14" dirty="0">
                <a:solidFill>
                  <a:srgbClr val="FF0000"/>
                </a:solidFill>
                <a:cs typeface="Arial"/>
              </a:rPr>
              <a:t>complement of </a:t>
            </a:r>
            <a:r>
              <a:rPr sz="2800" b="1" spc="-5" dirty="0">
                <a:solidFill>
                  <a:srgbClr val="FF0000"/>
                </a:solidFill>
                <a:cs typeface="Arial"/>
              </a:rPr>
              <a:t>B </a:t>
            </a:r>
            <a:r>
              <a:rPr sz="2800" b="1" spc="-9" dirty="0">
                <a:solidFill>
                  <a:srgbClr val="FF0000"/>
                </a:solidFill>
                <a:cs typeface="Arial"/>
              </a:rPr>
              <a:t>with </a:t>
            </a:r>
            <a:r>
              <a:rPr sz="2800" b="1" spc="-14" dirty="0">
                <a:solidFill>
                  <a:srgbClr val="FF0000"/>
                </a:solidFill>
                <a:cs typeface="Arial"/>
              </a:rPr>
              <a:t>respect </a:t>
            </a:r>
            <a:r>
              <a:rPr sz="2800" b="1" spc="-9" dirty="0">
                <a:solidFill>
                  <a:srgbClr val="FF0000"/>
                </a:solidFill>
                <a:cs typeface="Arial"/>
              </a:rPr>
              <a:t>to</a:t>
            </a:r>
            <a:r>
              <a:rPr sz="2800" b="1" spc="-54" dirty="0">
                <a:solidFill>
                  <a:srgbClr val="FF0000"/>
                </a:solidFill>
                <a:cs typeface="Arial"/>
              </a:rPr>
              <a:t> </a:t>
            </a:r>
            <a:r>
              <a:rPr sz="2800" b="1" spc="-18" dirty="0">
                <a:solidFill>
                  <a:srgbClr val="FF0000"/>
                </a:solidFill>
                <a:cs typeface="Arial"/>
              </a:rPr>
              <a:t>A</a:t>
            </a:r>
            <a:r>
              <a:rPr sz="2800" spc="-18" dirty="0">
                <a:solidFill>
                  <a:srgbClr val="FF0000"/>
                </a:solidFill>
                <a:cs typeface="Arial"/>
              </a:rPr>
              <a:t>)</a:t>
            </a:r>
            <a:endParaRPr sz="2800" dirty="0">
              <a:cs typeface="Arial"/>
            </a:endParaRPr>
          </a:p>
          <a:p>
            <a:pPr marL="436660" indent="-425154">
              <a:lnSpc>
                <a:spcPts val="3107"/>
              </a:lnSpc>
              <a:buFont typeface="Arial"/>
              <a:buChar char="•"/>
              <a:tabLst>
                <a:tab pos="436660" algn="l"/>
                <a:tab pos="437236" algn="l"/>
              </a:tabLst>
            </a:pPr>
            <a:r>
              <a:rPr sz="2800" i="1" spc="-5" dirty="0">
                <a:cs typeface="Calibri"/>
              </a:rPr>
              <a:t>A </a:t>
            </a:r>
            <a:r>
              <a:rPr sz="2800" spc="-5" dirty="0">
                <a:cs typeface="Calibri"/>
              </a:rPr>
              <a:t>− </a:t>
            </a:r>
            <a:r>
              <a:rPr sz="2800" i="1" spc="-5" dirty="0">
                <a:cs typeface="Calibri"/>
              </a:rPr>
              <a:t>B </a:t>
            </a:r>
            <a:r>
              <a:rPr sz="2800" spc="-5" dirty="0">
                <a:cs typeface="Calibri"/>
              </a:rPr>
              <a:t>= {</a:t>
            </a:r>
            <a:r>
              <a:rPr sz="2800" i="1" spc="-5" dirty="0">
                <a:cs typeface="Calibri"/>
              </a:rPr>
              <a:t>x </a:t>
            </a:r>
            <a:r>
              <a:rPr sz="2800" spc="-5" dirty="0">
                <a:cs typeface="Calibri"/>
              </a:rPr>
              <a:t>| </a:t>
            </a:r>
            <a:r>
              <a:rPr sz="2800" i="1" spc="-5" dirty="0">
                <a:cs typeface="Calibri"/>
              </a:rPr>
              <a:t>x </a:t>
            </a:r>
            <a:r>
              <a:rPr sz="2800" spc="-5" dirty="0">
                <a:cs typeface="Cambria Math"/>
              </a:rPr>
              <a:t>∈ </a:t>
            </a:r>
            <a:r>
              <a:rPr sz="2800" i="1" spc="-5" dirty="0">
                <a:cs typeface="Calibri"/>
              </a:rPr>
              <a:t>A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and x </a:t>
            </a:r>
            <a:r>
              <a:rPr lang="en-US" sz="28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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B</a:t>
            </a:r>
            <a:r>
              <a:rPr sz="2800" i="1" spc="-5" dirty="0">
                <a:cs typeface="Calibri"/>
              </a:rPr>
              <a:t>}</a:t>
            </a:r>
            <a:endParaRPr sz="28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0332" y="6094883"/>
            <a:ext cx="2493504" cy="401466"/>
          </a:xfrm>
          <a:prstGeom prst="rect">
            <a:avLst/>
          </a:prstGeom>
        </p:spPr>
        <p:txBody>
          <a:bodyPr vert="horz" wrap="square" lIns="0" tIns="10931" rIns="0" bIns="0" rtlCol="0">
            <a:spAutoFit/>
          </a:bodyPr>
          <a:lstStyle/>
          <a:p>
            <a:pPr marL="436660" indent="-425154">
              <a:spcBef>
                <a:spcPts val="86"/>
              </a:spcBef>
              <a:buFont typeface="Arial"/>
              <a:buChar char="•"/>
              <a:tabLst>
                <a:tab pos="436660" algn="l"/>
                <a:tab pos="437236" algn="l"/>
              </a:tabLst>
            </a:pPr>
            <a:r>
              <a:rPr sz="2537" i="1" spc="-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537" spc="-5" dirty="0">
                <a:solidFill>
                  <a:srgbClr val="FF0000"/>
                </a:solidFill>
                <a:latin typeface="Calibri"/>
                <a:cs typeface="Calibri"/>
              </a:rPr>
              <a:t>– </a:t>
            </a:r>
            <a:r>
              <a:rPr sz="2537" i="1" spc="-5" dirty="0">
                <a:solidFill>
                  <a:srgbClr val="FF0000"/>
                </a:solidFill>
                <a:latin typeface="Calibri"/>
                <a:cs typeface="Calibri"/>
              </a:rPr>
              <a:t>B </a:t>
            </a:r>
            <a:r>
              <a:rPr sz="2537" spc="-5" dirty="0">
                <a:latin typeface="Calibri"/>
                <a:cs typeface="Calibri"/>
              </a:rPr>
              <a:t>is</a:t>
            </a:r>
            <a:r>
              <a:rPr sz="2537" spc="-23" dirty="0">
                <a:latin typeface="Calibri"/>
                <a:cs typeface="Calibri"/>
              </a:rPr>
              <a:t> </a:t>
            </a:r>
            <a:r>
              <a:rPr sz="2537" spc="-5" dirty="0">
                <a:latin typeface="Calibri"/>
                <a:cs typeface="Calibri"/>
              </a:rPr>
              <a:t>shaded.</a:t>
            </a:r>
            <a:endParaRPr sz="2537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7714" y="3996949"/>
            <a:ext cx="2768250" cy="195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1D369D4-82F2-45E4-A833-CF1CD51207E4}"/>
              </a:ext>
            </a:extLst>
          </p:cNvPr>
          <p:cNvSpPr txBox="1"/>
          <p:nvPr/>
        </p:nvSpPr>
        <p:spPr>
          <a:xfrm>
            <a:off x="575528" y="3382442"/>
            <a:ext cx="7996972" cy="3053478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446440">
              <a:spcBef>
                <a:spcPts val="91"/>
              </a:spcBef>
            </a:pPr>
            <a:r>
              <a:rPr lang="en-US" sz="2800" i="1" spc="-14" dirty="0">
                <a:solidFill>
                  <a:srgbClr val="FF0000"/>
                </a:solidFill>
                <a:cs typeface="Calibri"/>
              </a:rPr>
              <a:t>Example:</a:t>
            </a:r>
            <a:endParaRPr lang="en-US" sz="2800" dirty="0">
              <a:cs typeface="Calibri"/>
            </a:endParaRPr>
          </a:p>
          <a:p>
            <a:pPr marL="446440">
              <a:spcBef>
                <a:spcPts val="91"/>
              </a:spcBef>
            </a:pPr>
            <a:r>
              <a:rPr sz="2800" spc="-5" dirty="0">
                <a:cs typeface="Arial"/>
              </a:rPr>
              <a:t>{1,2,3} - {2,4} =</a:t>
            </a:r>
            <a:r>
              <a:rPr sz="2800" spc="5" dirty="0">
                <a:cs typeface="Arial"/>
              </a:rPr>
              <a:t> </a:t>
            </a:r>
            <a:r>
              <a:rPr sz="2800" spc="-5" dirty="0">
                <a:cs typeface="Arial"/>
              </a:rPr>
              <a:t>{1,3}</a:t>
            </a:r>
            <a:endParaRPr lang="en-US" sz="2800" spc="-5" dirty="0">
              <a:cs typeface="Arial"/>
            </a:endParaRPr>
          </a:p>
          <a:p>
            <a:pPr marL="446440">
              <a:spcBef>
                <a:spcPts val="91"/>
              </a:spcBef>
            </a:pPr>
            <a:endParaRPr sz="2800" dirty="0">
              <a:cs typeface="Arial"/>
            </a:endParaRPr>
          </a:p>
          <a:p>
            <a:pPr marL="425729" indent="-414223">
              <a:spcBef>
                <a:spcPts val="5"/>
              </a:spcBef>
              <a:buFont typeface="Arial"/>
              <a:buChar char="•"/>
              <a:tabLst>
                <a:tab pos="425154" algn="l"/>
                <a:tab pos="425729" algn="l"/>
              </a:tabLst>
            </a:pPr>
            <a:r>
              <a:rPr sz="2800" spc="-5" dirty="0">
                <a:cs typeface="Calibri"/>
              </a:rPr>
              <a:t>Find </a:t>
            </a:r>
            <a:r>
              <a:rPr sz="2800" spc="-18" dirty="0">
                <a:cs typeface="Calibri"/>
              </a:rPr>
              <a:t>difference </a:t>
            </a:r>
            <a:r>
              <a:rPr sz="2800" spc="-5" dirty="0">
                <a:cs typeface="Calibri"/>
              </a:rPr>
              <a:t>of </a:t>
            </a:r>
            <a:r>
              <a:rPr sz="2800" dirty="0">
                <a:cs typeface="Calibri"/>
              </a:rPr>
              <a:t>{1</a:t>
            </a:r>
            <a:r>
              <a:rPr sz="2800" i="1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</a:t>
            </a:r>
            <a:r>
              <a:rPr sz="2800" i="1" spc="-5" dirty="0">
                <a:cs typeface="Calibri"/>
              </a:rPr>
              <a:t>, </a:t>
            </a:r>
            <a:r>
              <a:rPr sz="2800" dirty="0">
                <a:cs typeface="Calibri"/>
              </a:rPr>
              <a:t>5} and </a:t>
            </a:r>
            <a:r>
              <a:rPr sz="2800" spc="-5" dirty="0">
                <a:cs typeface="Calibri"/>
              </a:rPr>
              <a:t>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</a:t>
            </a:r>
            <a:r>
              <a:rPr sz="2800" i="1" spc="63" dirty="0">
                <a:cs typeface="Calibri"/>
              </a:rPr>
              <a:t> </a:t>
            </a:r>
            <a:r>
              <a:rPr sz="2800" dirty="0">
                <a:cs typeface="Calibri"/>
              </a:rPr>
              <a:t>3}.</a:t>
            </a:r>
          </a:p>
          <a:p>
            <a:pPr marL="425729" indent="-414223">
              <a:buFont typeface="Arial"/>
              <a:buChar char="•"/>
              <a:tabLst>
                <a:tab pos="425154" algn="l"/>
                <a:tab pos="425729" algn="l"/>
              </a:tabLst>
            </a:pPr>
            <a:r>
              <a:rPr sz="2800" spc="-5" dirty="0">
                <a:cs typeface="Calibri"/>
              </a:rPr>
              <a:t>Find </a:t>
            </a:r>
            <a:r>
              <a:rPr sz="2800" spc="-18" dirty="0">
                <a:cs typeface="Calibri"/>
              </a:rPr>
              <a:t>difference </a:t>
            </a:r>
            <a:r>
              <a:rPr sz="2800" spc="-5" dirty="0">
                <a:cs typeface="Calibri"/>
              </a:rPr>
              <a:t>of </a:t>
            </a:r>
            <a:r>
              <a:rPr sz="2800" dirty="0">
                <a:cs typeface="Calibri"/>
              </a:rPr>
              <a:t>{1</a:t>
            </a:r>
            <a:r>
              <a:rPr sz="2800" i="1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dirty="0">
                <a:cs typeface="Calibri"/>
              </a:rPr>
              <a:t>3} and </a:t>
            </a:r>
            <a:r>
              <a:rPr sz="2800" spc="-5" dirty="0">
                <a:cs typeface="Calibri"/>
              </a:rPr>
              <a:t>{1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</a:t>
            </a:r>
            <a:r>
              <a:rPr sz="2800" i="1" spc="-5" dirty="0">
                <a:cs typeface="Calibri"/>
              </a:rPr>
              <a:t>,</a:t>
            </a:r>
            <a:r>
              <a:rPr sz="2800" i="1" spc="63" dirty="0">
                <a:cs typeface="Calibri"/>
              </a:rPr>
              <a:t> </a:t>
            </a:r>
            <a:r>
              <a:rPr sz="2800" dirty="0">
                <a:cs typeface="Calibri"/>
              </a:rPr>
              <a:t>5},</a:t>
            </a:r>
          </a:p>
          <a:p>
            <a:pPr>
              <a:spcBef>
                <a:spcPts val="27"/>
              </a:spcBef>
              <a:buFont typeface="Arial"/>
              <a:buChar char="•"/>
            </a:pPr>
            <a:endParaRPr sz="2800" dirty="0">
              <a:cs typeface="Times New Roman"/>
            </a:endParaRPr>
          </a:p>
          <a:p>
            <a:pPr marL="2082622" lvl="1" indent="-414223">
              <a:spcBef>
                <a:spcPts val="5"/>
              </a:spcBef>
              <a:buFont typeface="Arial"/>
              <a:buChar char="•"/>
              <a:tabLst>
                <a:tab pos="2082622" algn="l"/>
                <a:tab pos="2083198" algn="l"/>
              </a:tabLst>
            </a:pPr>
            <a:r>
              <a:rPr sz="2800" dirty="0">
                <a:solidFill>
                  <a:srgbClr val="FF0000"/>
                </a:solidFill>
                <a:cs typeface="Calibri"/>
              </a:rPr>
              <a:t>A – B ≠ B –</a:t>
            </a:r>
            <a:r>
              <a:rPr sz="2800" spc="-23" dirty="0">
                <a:solidFill>
                  <a:srgbClr val="FF0000"/>
                </a:solidFill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cs typeface="Calibri"/>
              </a:rPr>
              <a:t>A</a:t>
            </a:r>
            <a:endParaRPr sz="2800" dirty="0"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359466"/>
            <a:ext cx="8229600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Membership for Difference</a:t>
            </a:r>
          </a:p>
        </p:txBody>
      </p:sp>
      <p:graphicFrame>
        <p:nvGraphicFramePr>
          <p:cNvPr id="4" name="Group 92"/>
          <p:cNvGraphicFramePr>
            <a:graphicFrameLocks noGrp="1"/>
          </p:cNvGraphicFramePr>
          <p:nvPr/>
        </p:nvGraphicFramePr>
        <p:xfrm>
          <a:off x="2133600" y="1371600"/>
          <a:ext cx="3657600" cy="2743200"/>
        </p:xfrm>
        <a:graphic>
          <a:graphicData uri="http://schemas.openxmlformats.org/drawingml/2006/table">
            <a:tbl>
              <a:tblPr/>
              <a:tblGrid>
                <a:gridCol w="1190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 A -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Math1" pitchFamily="2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roup 86"/>
          <p:cNvGraphicFramePr>
            <a:graphicFrameLocks/>
          </p:cNvGraphicFramePr>
          <p:nvPr/>
        </p:nvGraphicFramePr>
        <p:xfrm>
          <a:off x="6400802" y="2590800"/>
          <a:ext cx="4267199" cy="2819400"/>
        </p:xfrm>
        <a:graphic>
          <a:graphicData uri="http://schemas.openxmlformats.org/drawingml/2006/table">
            <a:tbl>
              <a:tblPr/>
              <a:tblGrid>
                <a:gridCol w="673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Math1" pitchFamily="2" charset="2"/>
                        </a:rPr>
                        <a:t>P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Wingdings" pitchFamily="2" charset="2"/>
                        </a:rPr>
                        <a:t>Q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itchFamily="18" charset="0"/>
                        <a:ea typeface="Cambria Math" pitchFamily="18" charset="0"/>
                        <a:sym typeface="Math1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 ¬(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Math1" pitchFamily="2" charset="2"/>
                        </a:rPr>
                        <a:t>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2057401"/>
            <a:ext cx="373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22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Remember Implication Table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524000" y="5638801"/>
            <a:ext cx="891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spcBef>
                <a:spcPct val="50000"/>
              </a:spcBef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REMARK : 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This membership table for Difference is similar to the truth table for negation of Implication</a:t>
            </a:r>
          </a:p>
        </p:txBody>
      </p:sp>
    </p:spTree>
    <p:extLst>
      <p:ext uri="{BB962C8B-B14F-4D97-AF65-F5344CB8AC3E}">
        <p14:creationId xmlns:p14="http://schemas.microsoft.com/office/powerpoint/2010/main" val="117468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69675" y="0"/>
            <a:ext cx="9167004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Set Operations …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Symmetric Difference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99072" y="783535"/>
            <a:ext cx="94689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Let A and B be subsets of a universal set U. The “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symmetric difference of A and B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” is the set of all elements in U that belong to either A or B but not both and is denoted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l-GR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Δ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 B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.</a:t>
            </a:r>
          </a:p>
          <a:p>
            <a:pPr marL="457200" indent="-4572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Symbolically:</a:t>
            </a:r>
          </a:p>
          <a:p>
            <a:pPr marL="457200" indent="-4572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A </a:t>
            </a:r>
            <a:r>
              <a:rPr lang="el-GR" sz="2400" dirty="0">
                <a:latin typeface="Cambria Math" pitchFamily="18" charset="0"/>
                <a:ea typeface="Cambria Math" pitchFamily="18" charset="0"/>
              </a:rPr>
              <a:t>Δ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B = {x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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U | </a:t>
            </a:r>
            <a:r>
              <a:rPr lang="en-US" sz="2400" dirty="0">
                <a:solidFill>
                  <a:srgbClr val="007A37"/>
                </a:solidFill>
                <a:latin typeface="Cambria Math" pitchFamily="18" charset="0"/>
                <a:ea typeface="Cambria Math" pitchFamily="18" charset="0"/>
              </a:rPr>
              <a:t>x </a:t>
            </a:r>
            <a:r>
              <a:rPr lang="en-US" sz="2400" dirty="0">
                <a:solidFill>
                  <a:srgbClr val="007A37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∊ </a:t>
            </a:r>
            <a:r>
              <a:rPr lang="en-US" sz="2400" dirty="0">
                <a:solidFill>
                  <a:srgbClr val="007A37"/>
                </a:solidFill>
                <a:latin typeface="Cambria Math" pitchFamily="18" charset="0"/>
                <a:ea typeface="Cambria Math" pitchFamily="18" charset="0"/>
              </a:rPr>
              <a:t>A-B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OR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solidFill>
                  <a:srgbClr val="007A37"/>
                </a:solidFill>
                <a:latin typeface="Cambria Math" pitchFamily="18" charset="0"/>
                <a:ea typeface="Cambria Math" pitchFamily="18" charset="0"/>
              </a:rPr>
              <a:t>x ∊ B-A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}</a:t>
            </a:r>
          </a:p>
          <a:p>
            <a:pPr marL="457200" indent="-457200">
              <a:spcBef>
                <a:spcPct val="50000"/>
              </a:spcBef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EXAMPLE</a:t>
            </a:r>
          </a:p>
          <a:p>
            <a:pPr marL="457200" indent="-4572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Let	U = {a, b, c, d, e, f, g}</a:t>
            </a:r>
          </a:p>
          <a:p>
            <a:pPr marL="457200" indent="-4572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A = {a, b, c, d, e},	     B = {d, e, f, g}</a:t>
            </a:r>
          </a:p>
          <a:p>
            <a:pPr marL="457200" indent="-4572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Then	A </a:t>
            </a:r>
            <a:r>
              <a:rPr lang="el-GR" sz="2400" b="1" dirty="0">
                <a:latin typeface="Cambria Math" pitchFamily="18" charset="0"/>
                <a:ea typeface="Cambria Math" pitchFamily="18" charset="0"/>
              </a:rPr>
              <a:t>Δ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B = {a, b, c, f, g}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25AC581F-3083-4AFD-9715-384A819E8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570" y="5629720"/>
            <a:ext cx="20473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l-GR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Δ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B is shaded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B0CDF-5939-4E9B-B08D-7A52EA8C8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77" y="2604412"/>
            <a:ext cx="3930051" cy="29768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21CEB3-734A-47F6-95EB-0BD24A0A320C}"/>
              </a:ext>
            </a:extLst>
          </p:cNvPr>
          <p:cNvSpPr txBox="1"/>
          <p:nvPr/>
        </p:nvSpPr>
        <p:spPr>
          <a:xfrm>
            <a:off x="7200902" y="2879276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U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D4F592B3-9982-4BF9-AE39-FE79922AC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675" y="5598538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914400" lvl="1" indent="-457200">
              <a:spcBef>
                <a:spcPct val="50000"/>
              </a:spcBef>
            </a:pPr>
            <a:r>
              <a:rPr lang="en-US" sz="2400" b="1" dirty="0">
                <a:latin typeface="Cambria Math" pitchFamily="18" charset="0"/>
                <a:ea typeface="Cambria Math" pitchFamily="18" charset="0"/>
              </a:rPr>
              <a:t>REMARK</a:t>
            </a:r>
            <a:endParaRPr lang="en-US" sz="2400" dirty="0">
              <a:latin typeface="Cambria Math" pitchFamily="18" charset="0"/>
              <a:ea typeface="Cambria Math" pitchFamily="18" charset="0"/>
            </a:endParaRPr>
          </a:p>
          <a:p>
            <a:pPr marL="914400" lvl="1" indent="-457200">
              <a:spcBef>
                <a:spcPct val="50000"/>
              </a:spcBef>
              <a:buFontTx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A </a:t>
            </a:r>
            <a:r>
              <a:rPr lang="el-GR" sz="2400" dirty="0">
                <a:latin typeface="Cambria Math" pitchFamily="18" charset="0"/>
                <a:ea typeface="Cambria Math" pitchFamily="18" charset="0"/>
              </a:rPr>
              <a:t>Δ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B = (A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Wingdings" panose="05000000000000000000" pitchFamily="2" charset="2"/>
              </a:rPr>
              <a:t>⊕ B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)</a:t>
            </a:r>
            <a:endParaRPr lang="en-US" sz="2400" dirty="0">
              <a:latin typeface="Cambria Math" pitchFamily="18" charset="0"/>
              <a:ea typeface="Cambria Math" pitchFamily="18" charset="0"/>
              <a:sym typeface="Math1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53962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1653" y="25893"/>
            <a:ext cx="10196422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Membership for Symmetric Difference</a:t>
            </a:r>
          </a:p>
        </p:txBody>
      </p:sp>
      <p:graphicFrame>
        <p:nvGraphicFramePr>
          <p:cNvPr id="4" name="Group 92"/>
          <p:cNvGraphicFramePr>
            <a:graphicFrameLocks noGrp="1"/>
          </p:cNvGraphicFramePr>
          <p:nvPr/>
        </p:nvGraphicFramePr>
        <p:xfrm>
          <a:off x="2133600" y="1371600"/>
          <a:ext cx="3657600" cy="2743200"/>
        </p:xfrm>
        <a:graphic>
          <a:graphicData uri="http://schemas.openxmlformats.org/drawingml/2006/table">
            <a:tbl>
              <a:tblPr/>
              <a:tblGrid>
                <a:gridCol w="1190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 A </a:t>
                      </a:r>
                      <a:r>
                        <a:rPr kumimoji="0" lang="el-G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Δ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Math1" pitchFamily="2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roup 86"/>
          <p:cNvGraphicFramePr>
            <a:graphicFrameLocks/>
          </p:cNvGraphicFramePr>
          <p:nvPr/>
        </p:nvGraphicFramePr>
        <p:xfrm>
          <a:off x="6400802" y="2590800"/>
          <a:ext cx="4364964" cy="2819400"/>
        </p:xfrm>
        <a:graphic>
          <a:graphicData uri="http://schemas.openxmlformats.org/drawingml/2006/table">
            <a:tbl>
              <a:tblPr/>
              <a:tblGrid>
                <a:gridCol w="97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 (P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⊕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sym typeface="Math1" pitchFamily="2" charset="2"/>
                        </a:rPr>
                        <a:t>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2057401"/>
            <a:ext cx="373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22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Remember XOR Table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524000" y="5638801"/>
            <a:ext cx="891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spcBef>
                <a:spcPct val="50000"/>
              </a:spcBef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REMARK : </a:t>
            </a:r>
            <a:r>
              <a:rPr lang="en-US" sz="24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This membership table for Difference is similar to the truth table for negation of Implication</a:t>
            </a:r>
          </a:p>
        </p:txBody>
      </p:sp>
    </p:spTree>
    <p:extLst>
      <p:ext uri="{BB962C8B-B14F-4D97-AF65-F5344CB8AC3E}">
        <p14:creationId xmlns:p14="http://schemas.microsoft.com/office/powerpoint/2010/main" val="160466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380" y="549844"/>
            <a:ext cx="6369220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spc="-23" dirty="0">
                <a:cs typeface="Arial"/>
              </a:rPr>
              <a:t>C</a:t>
            </a:r>
            <a:r>
              <a:rPr sz="4800" spc="-27" dirty="0">
                <a:cs typeface="Arial"/>
              </a:rPr>
              <a:t>o</a:t>
            </a:r>
            <a:r>
              <a:rPr sz="4800" spc="-23" dirty="0">
                <a:cs typeface="Arial"/>
              </a:rPr>
              <a:t>m</a:t>
            </a:r>
            <a:r>
              <a:rPr sz="4800" spc="-27" dirty="0">
                <a:cs typeface="Arial"/>
              </a:rPr>
              <a:t>p</a:t>
            </a:r>
            <a:r>
              <a:rPr sz="4800" spc="-32" dirty="0">
                <a:cs typeface="Arial"/>
              </a:rPr>
              <a:t>l</a:t>
            </a:r>
            <a:r>
              <a:rPr sz="4800" spc="-27" dirty="0">
                <a:cs typeface="Arial"/>
              </a:rPr>
              <a:t>e</a:t>
            </a:r>
            <a:r>
              <a:rPr sz="4800" spc="-23" dirty="0">
                <a:cs typeface="Arial"/>
              </a:rPr>
              <a:t>m</a:t>
            </a:r>
            <a:r>
              <a:rPr sz="4800" spc="-27" dirty="0">
                <a:cs typeface="Arial"/>
              </a:rPr>
              <a:t>en</a:t>
            </a:r>
            <a:r>
              <a:rPr sz="4800" dirty="0">
                <a:cs typeface="Arial"/>
              </a:rPr>
              <a:t>t</a:t>
            </a:r>
            <a:r>
              <a:rPr lang="en-US" sz="4800" dirty="0">
                <a:cs typeface="Arial"/>
              </a:rPr>
              <a:t> of a Set</a:t>
            </a:r>
            <a:endParaRPr sz="4800" dirty="0"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7380" y="1532486"/>
            <a:ext cx="9941951" cy="2259222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</a:pPr>
            <a:r>
              <a:rPr sz="2718" spc="-5" dirty="0">
                <a:cs typeface="Arial"/>
              </a:rPr>
              <a:t>Let U be </a:t>
            </a:r>
            <a:r>
              <a:rPr sz="2718" dirty="0">
                <a:cs typeface="Arial"/>
              </a:rPr>
              <a:t>the </a:t>
            </a:r>
            <a:r>
              <a:rPr sz="2718" spc="-5" dirty="0">
                <a:cs typeface="Arial"/>
              </a:rPr>
              <a:t>universal </a:t>
            </a:r>
            <a:r>
              <a:rPr sz="2718" spc="-9" dirty="0">
                <a:cs typeface="Arial"/>
              </a:rPr>
              <a:t>set </a:t>
            </a:r>
            <a:r>
              <a:rPr sz="2718" spc="-5" dirty="0">
                <a:cs typeface="Arial"/>
              </a:rPr>
              <a:t>and </a:t>
            </a:r>
            <a:r>
              <a:rPr sz="2718" dirty="0">
                <a:cs typeface="Arial"/>
              </a:rPr>
              <a:t>A </a:t>
            </a:r>
            <a:r>
              <a:rPr sz="2718" spc="-5" dirty="0">
                <a:cs typeface="Arial"/>
              </a:rPr>
              <a:t>be a</a:t>
            </a:r>
            <a:r>
              <a:rPr sz="2718" spc="-86" dirty="0">
                <a:cs typeface="Arial"/>
              </a:rPr>
              <a:t> </a:t>
            </a:r>
            <a:r>
              <a:rPr sz="2718" spc="-14" dirty="0">
                <a:cs typeface="Arial"/>
              </a:rPr>
              <a:t>set.</a:t>
            </a:r>
            <a:endParaRPr sz="2718" dirty="0">
              <a:cs typeface="Arial"/>
            </a:endParaRPr>
          </a:p>
          <a:p>
            <a:pPr>
              <a:spcBef>
                <a:spcPts val="45"/>
              </a:spcBef>
            </a:pPr>
            <a:endParaRPr sz="3760" dirty="0">
              <a:cs typeface="Times New Roman"/>
            </a:endParaRPr>
          </a:p>
          <a:p>
            <a:pPr marL="436660" marR="4602" indent="-425154">
              <a:lnSpc>
                <a:spcPct val="102000"/>
              </a:lnSpc>
              <a:spcBef>
                <a:spcPts val="5"/>
              </a:spcBef>
              <a:buChar char="•"/>
              <a:tabLst>
                <a:tab pos="436660" algn="l"/>
                <a:tab pos="437236" algn="l"/>
                <a:tab pos="1243245" algn="l"/>
                <a:tab pos="3481201" algn="l"/>
                <a:tab pos="3977118" algn="l"/>
                <a:tab pos="4511581" algn="l"/>
                <a:tab pos="5963088" algn="l"/>
                <a:tab pos="6538973" algn="l"/>
                <a:tab pos="7168363" algn="l"/>
                <a:tab pos="7630912" algn="l"/>
              </a:tabLst>
            </a:pPr>
            <a:r>
              <a:rPr sz="2718" dirty="0">
                <a:cs typeface="Arial"/>
              </a:rPr>
              <a:t>The	</a:t>
            </a:r>
            <a:r>
              <a:rPr sz="2718" b="1" spc="-18" dirty="0">
                <a:solidFill>
                  <a:srgbClr val="FF0000"/>
                </a:solidFill>
                <a:cs typeface="Arial"/>
              </a:rPr>
              <a:t>c</a:t>
            </a:r>
            <a:r>
              <a:rPr sz="2718" b="1" spc="-9" dirty="0">
                <a:solidFill>
                  <a:srgbClr val="FF0000"/>
                </a:solidFill>
                <a:cs typeface="Arial"/>
              </a:rPr>
              <a:t>o</a:t>
            </a:r>
            <a:r>
              <a:rPr sz="2718" b="1" dirty="0">
                <a:solidFill>
                  <a:srgbClr val="FF0000"/>
                </a:solidFill>
                <a:cs typeface="Arial"/>
              </a:rPr>
              <a:t>mpl</a:t>
            </a:r>
            <a:r>
              <a:rPr sz="2718" b="1" spc="-18" dirty="0">
                <a:solidFill>
                  <a:srgbClr val="FF0000"/>
                </a:solidFill>
                <a:cs typeface="Arial"/>
              </a:rPr>
              <a:t>eme</a:t>
            </a:r>
            <a:r>
              <a:rPr sz="2718" b="1" spc="5" dirty="0">
                <a:solidFill>
                  <a:srgbClr val="FF0000"/>
                </a:solidFill>
                <a:cs typeface="Arial"/>
              </a:rPr>
              <a:t>n</a:t>
            </a:r>
            <a:r>
              <a:rPr sz="2718" b="1" dirty="0">
                <a:solidFill>
                  <a:srgbClr val="FF0000"/>
                </a:solidFill>
                <a:cs typeface="Arial"/>
              </a:rPr>
              <a:t>t	</a:t>
            </a:r>
            <a:r>
              <a:rPr sz="2718" spc="-27" dirty="0">
                <a:cs typeface="Arial"/>
              </a:rPr>
              <a:t>o</a:t>
            </a:r>
            <a:r>
              <a:rPr sz="2718" dirty="0">
                <a:cs typeface="Arial"/>
              </a:rPr>
              <a:t>f	</a:t>
            </a:r>
            <a:r>
              <a:rPr sz="2718" spc="-9" dirty="0">
                <a:cs typeface="Arial"/>
              </a:rPr>
              <a:t>A</a:t>
            </a:r>
            <a:r>
              <a:rPr sz="2718" dirty="0">
                <a:cs typeface="Arial"/>
              </a:rPr>
              <a:t>,	</a:t>
            </a:r>
            <a:r>
              <a:rPr sz="2718" spc="-18" dirty="0">
                <a:cs typeface="Arial"/>
              </a:rPr>
              <a:t>den</a:t>
            </a:r>
            <a:r>
              <a:rPr sz="2718" dirty="0">
                <a:cs typeface="Arial"/>
              </a:rPr>
              <a:t>o</a:t>
            </a:r>
            <a:r>
              <a:rPr sz="2718" spc="-18" dirty="0">
                <a:cs typeface="Arial"/>
              </a:rPr>
              <a:t>t</a:t>
            </a:r>
            <a:r>
              <a:rPr sz="2718" spc="-14" dirty="0">
                <a:cs typeface="Arial"/>
              </a:rPr>
              <a:t>e</a:t>
            </a:r>
            <a:r>
              <a:rPr sz="2718" spc="-5" dirty="0">
                <a:cs typeface="Arial"/>
              </a:rPr>
              <a:t>d</a:t>
            </a:r>
            <a:r>
              <a:rPr sz="2718" dirty="0">
                <a:cs typeface="Arial"/>
              </a:rPr>
              <a:t>	</a:t>
            </a:r>
            <a:r>
              <a:rPr sz="2718" spc="-5" dirty="0">
                <a:cs typeface="Arial"/>
              </a:rPr>
              <a:t>b</a:t>
            </a:r>
            <a:r>
              <a:rPr sz="2718" dirty="0">
                <a:cs typeface="Arial"/>
              </a:rPr>
              <a:t>y	</a:t>
            </a:r>
            <a:r>
              <a:rPr sz="2537" i="1" spc="-5" dirty="0">
                <a:cs typeface="Consolas"/>
              </a:rPr>
              <a:t>Ā</a:t>
            </a:r>
            <a:r>
              <a:rPr sz="2537" i="1" spc="-245" dirty="0">
                <a:cs typeface="Consolas"/>
              </a:rPr>
              <a:t> </a:t>
            </a:r>
            <a:r>
              <a:rPr sz="2718" dirty="0">
                <a:cs typeface="Arial"/>
              </a:rPr>
              <a:t>,	is	t</a:t>
            </a:r>
            <a:r>
              <a:rPr sz="2718" spc="-18" dirty="0">
                <a:cs typeface="Arial"/>
              </a:rPr>
              <a:t>h</a:t>
            </a:r>
            <a:r>
              <a:rPr sz="2718" spc="-5" dirty="0">
                <a:cs typeface="Arial"/>
              </a:rPr>
              <a:t>e  complement </a:t>
            </a:r>
            <a:r>
              <a:rPr sz="2718" spc="-14" dirty="0">
                <a:cs typeface="Arial"/>
              </a:rPr>
              <a:t>of </a:t>
            </a:r>
            <a:r>
              <a:rPr sz="2718" dirty="0">
                <a:cs typeface="Arial"/>
              </a:rPr>
              <a:t>A </a:t>
            </a:r>
            <a:r>
              <a:rPr sz="2718" spc="-5" dirty="0">
                <a:cs typeface="Arial"/>
              </a:rPr>
              <a:t>with respect </a:t>
            </a:r>
            <a:r>
              <a:rPr sz="2718" spc="-9" dirty="0">
                <a:cs typeface="Arial"/>
              </a:rPr>
              <a:t>to </a:t>
            </a:r>
            <a:r>
              <a:rPr sz="2718" spc="-5" dirty="0">
                <a:cs typeface="Arial"/>
              </a:rPr>
              <a:t>U (which </a:t>
            </a:r>
            <a:r>
              <a:rPr sz="2718" dirty="0">
                <a:cs typeface="Arial"/>
              </a:rPr>
              <a:t>is</a:t>
            </a:r>
            <a:r>
              <a:rPr sz="2718" spc="-240" dirty="0">
                <a:cs typeface="Arial"/>
              </a:rPr>
              <a:t> </a:t>
            </a:r>
            <a:r>
              <a:rPr sz="2718" spc="-5" dirty="0">
                <a:cs typeface="Arial"/>
              </a:rPr>
              <a:t>U-A).</a:t>
            </a:r>
            <a:endParaRPr sz="2718" dirty="0">
              <a:cs typeface="Arial"/>
            </a:endParaRPr>
          </a:p>
          <a:p>
            <a:pPr marL="679441" indent="-667935">
              <a:lnSpc>
                <a:spcPts val="3144"/>
              </a:lnSpc>
              <a:buFont typeface="Arial"/>
              <a:buChar char="•"/>
              <a:tabLst>
                <a:tab pos="679441" algn="l"/>
                <a:tab pos="680016" algn="l"/>
              </a:tabLst>
            </a:pPr>
            <a:r>
              <a:rPr sz="2537" i="1" spc="-5" dirty="0">
                <a:cs typeface="Consolas"/>
              </a:rPr>
              <a:t>Ā </a:t>
            </a:r>
            <a:r>
              <a:rPr sz="2537" spc="-5" dirty="0">
                <a:cs typeface="Calibri"/>
              </a:rPr>
              <a:t>= {</a:t>
            </a:r>
            <a:r>
              <a:rPr sz="2537" i="1" spc="-5" dirty="0">
                <a:cs typeface="Calibri"/>
              </a:rPr>
              <a:t>x </a:t>
            </a:r>
            <a:r>
              <a:rPr sz="2537" spc="-5" dirty="0">
                <a:cs typeface="Cambria Math"/>
              </a:rPr>
              <a:t>∈ </a:t>
            </a:r>
            <a:r>
              <a:rPr sz="2537" i="1" spc="-5" dirty="0">
                <a:cs typeface="Calibri"/>
              </a:rPr>
              <a:t>U </a:t>
            </a:r>
            <a:r>
              <a:rPr sz="2537" spc="-5" dirty="0">
                <a:cs typeface="Calibri"/>
              </a:rPr>
              <a:t>| </a:t>
            </a:r>
            <a:r>
              <a:rPr sz="2537" i="1" spc="-5" dirty="0">
                <a:cs typeface="Calibri"/>
              </a:rPr>
              <a:t>x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 </a:t>
            </a:r>
            <a:r>
              <a:rPr sz="2537" i="1" spc="-5" dirty="0">
                <a:cs typeface="Calibri"/>
              </a:rPr>
              <a:t>A</a:t>
            </a:r>
            <a:r>
              <a:rPr sz="2537" spc="-5" dirty="0">
                <a:cs typeface="Calibri"/>
              </a:rPr>
              <a:t>}</a:t>
            </a:r>
            <a:r>
              <a:rPr sz="2537" i="1" spc="-5" dirty="0">
                <a:cs typeface="Calibri"/>
              </a:rPr>
              <a:t>.</a:t>
            </a:r>
            <a:endParaRPr sz="2537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7608" y="6012641"/>
            <a:ext cx="2343917" cy="457767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436660" indent="-425154">
              <a:spcBef>
                <a:spcPts val="91"/>
              </a:spcBef>
              <a:buFont typeface="Arial"/>
              <a:buChar char="•"/>
              <a:tabLst>
                <a:tab pos="436660" algn="l"/>
                <a:tab pos="437236" algn="l"/>
              </a:tabLst>
            </a:pPr>
            <a:r>
              <a:rPr sz="2899" i="1" dirty="0">
                <a:solidFill>
                  <a:srgbClr val="FF0000"/>
                </a:solidFill>
                <a:latin typeface="Consolas"/>
                <a:cs typeface="Consolas"/>
              </a:rPr>
              <a:t>Ā </a:t>
            </a:r>
            <a:r>
              <a:rPr sz="2899" spc="-5" dirty="0">
                <a:latin typeface="Calibri"/>
                <a:cs typeface="Calibri"/>
              </a:rPr>
              <a:t>is</a:t>
            </a:r>
            <a:r>
              <a:rPr sz="2899" spc="-68" dirty="0">
                <a:latin typeface="Calibri"/>
                <a:cs typeface="Calibri"/>
              </a:rPr>
              <a:t> </a:t>
            </a:r>
            <a:r>
              <a:rPr sz="2899" spc="-5" dirty="0">
                <a:latin typeface="Calibri"/>
                <a:cs typeface="Calibri"/>
              </a:rPr>
              <a:t>shaded.</a:t>
            </a:r>
            <a:endParaRPr sz="2899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05888" y="3911792"/>
            <a:ext cx="2968732" cy="21651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90905-BCF4-458E-8719-160D2E424B8C}"/>
              </a:ext>
            </a:extLst>
          </p:cNvPr>
          <p:cNvSpPr txBox="1"/>
          <p:nvPr/>
        </p:nvSpPr>
        <p:spPr>
          <a:xfrm>
            <a:off x="1390650" y="4008195"/>
            <a:ext cx="6096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EXAMPLE</a:t>
            </a:r>
            <a:endParaRPr lang="en-US" sz="28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sym typeface="Math1" pitchFamily="2" charset="2"/>
            </a:endParaRPr>
          </a:p>
          <a:p>
            <a:pPr>
              <a:spcBef>
                <a:spcPct val="50000"/>
              </a:spcBef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	Let 	U = {a, b, c, d, e, f, g]</a:t>
            </a:r>
          </a:p>
          <a:p>
            <a:pPr>
              <a:spcBef>
                <a:spcPct val="50000"/>
              </a:spcBef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		A = {a, c, e, g}</a:t>
            </a:r>
          </a:p>
          <a:p>
            <a:pPr>
              <a:spcBef>
                <a:spcPct val="50000"/>
              </a:spcBef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	Then 	A</a:t>
            </a:r>
            <a:r>
              <a:rPr lang="en-US" sz="2800" baseline="300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c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 = {b, d, f}	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4619" y="433843"/>
            <a:ext cx="8229600" cy="757674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Membership Table for </a:t>
            </a:r>
            <a:r>
              <a:rPr lang="en-US" b="1" dirty="0">
                <a:solidFill>
                  <a:srgbClr val="C00000"/>
                </a:solidFill>
                <a:sym typeface="WP MathA" pitchFamily="2" charset="2"/>
              </a:rPr>
              <a:t>A</a:t>
            </a:r>
            <a:r>
              <a:rPr lang="en-US" b="1" baseline="30000" dirty="0">
                <a:solidFill>
                  <a:srgbClr val="C00000"/>
                </a:solidFill>
                <a:sym typeface="WP MathA" pitchFamily="2" charset="2"/>
              </a:rPr>
              <a:t>c</a:t>
            </a:r>
            <a:endParaRPr lang="en-US" b="1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13246" y="881389"/>
            <a:ext cx="3429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REMARKS 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U – A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(A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A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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 A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 =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	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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sym typeface="Math1" pitchFamily="2" charset="2"/>
              </a:rPr>
              <a:t>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U</a:t>
            </a: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>
          <a:xfrm>
            <a:off x="1173553" y="1276350"/>
            <a:ext cx="3332671" cy="685800"/>
          </a:xfrm>
          <a:prstGeom prst="rect">
            <a:avLst/>
          </a:prstGeom>
        </p:spPr>
        <p:txBody>
          <a:bodyPr anchor="b" anchorCtr="0">
            <a:normAutofit fontScale="92500"/>
          </a:bodyPr>
          <a:lstStyle/>
          <a:p>
            <a:pPr>
              <a:defRPr/>
            </a:pPr>
            <a:r>
              <a:rPr lang="en-US" sz="2400" b="1" kern="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Membership Table for A</a:t>
            </a:r>
            <a:r>
              <a:rPr lang="en-US" sz="2400" b="1" kern="0" baseline="30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c</a:t>
            </a:r>
            <a:r>
              <a:rPr lang="en-US" sz="2400" b="1" kern="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 </a:t>
            </a:r>
          </a:p>
        </p:txBody>
      </p:sp>
      <p:graphicFrame>
        <p:nvGraphicFramePr>
          <p:cNvPr id="28" name="Group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865884"/>
              </p:ext>
            </p:extLst>
          </p:nvPr>
        </p:nvGraphicFramePr>
        <p:xfrm>
          <a:off x="1249754" y="1962150"/>
          <a:ext cx="3048000" cy="19812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A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327490"/>
              </p:ext>
            </p:extLst>
          </p:nvPr>
        </p:nvGraphicFramePr>
        <p:xfrm>
          <a:off x="5448300" y="4526188"/>
          <a:ext cx="2819400" cy="1981200"/>
        </p:xfrm>
        <a:graphic>
          <a:graphicData uri="http://schemas.openxmlformats.org/drawingml/2006/table">
            <a:tbl>
              <a:tblPr/>
              <a:tblGrid>
                <a:gridCol w="1263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¬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686301" y="3840388"/>
            <a:ext cx="4955873" cy="6858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>
              <a:defRPr/>
            </a:pPr>
            <a:r>
              <a:rPr lang="en-US" sz="2400" b="1" kern="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Membership Table for Negation</a:t>
            </a:r>
          </a:p>
        </p:txBody>
      </p:sp>
    </p:spTree>
    <p:extLst>
      <p:ext uri="{BB962C8B-B14F-4D97-AF65-F5344CB8AC3E}">
        <p14:creationId xmlns:p14="http://schemas.microsoft.com/office/powerpoint/2010/main" val="19182805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0779" y="386674"/>
            <a:ext cx="5016671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spc="-32" dirty="0">
                <a:cs typeface="Arial"/>
              </a:rPr>
              <a:t>E</a:t>
            </a:r>
            <a:r>
              <a:rPr sz="4800" spc="-18" dirty="0">
                <a:cs typeface="Arial"/>
              </a:rPr>
              <a:t>x</a:t>
            </a:r>
            <a:r>
              <a:rPr sz="4800" spc="-27" dirty="0">
                <a:cs typeface="Arial"/>
              </a:rPr>
              <a:t>a</a:t>
            </a:r>
            <a:r>
              <a:rPr sz="4800" spc="-23" dirty="0">
                <a:cs typeface="Arial"/>
              </a:rPr>
              <a:t>m</a:t>
            </a:r>
            <a:r>
              <a:rPr sz="4800" spc="-27" dirty="0">
                <a:cs typeface="Arial"/>
              </a:rPr>
              <a:t>p</a:t>
            </a:r>
            <a:r>
              <a:rPr sz="4800" spc="-32" dirty="0">
                <a:cs typeface="Arial"/>
              </a:rPr>
              <a:t>l</a:t>
            </a:r>
            <a:r>
              <a:rPr sz="4800" dirty="0">
                <a:cs typeface="Arial"/>
              </a:rPr>
              <a:t>e</a:t>
            </a:r>
            <a:r>
              <a:rPr lang="en-US" sz="4800" dirty="0">
                <a:cs typeface="Arial"/>
              </a:rPr>
              <a:t>s</a:t>
            </a:r>
            <a:endParaRPr sz="4800" dirty="0"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0779" y="1833721"/>
            <a:ext cx="9246053" cy="3534499"/>
          </a:xfrm>
          <a:prstGeom prst="rect">
            <a:avLst/>
          </a:prstGeom>
        </p:spPr>
        <p:txBody>
          <a:bodyPr vert="horz" wrap="square" lIns="0" tIns="10356" rIns="0" bIns="0" rtlCol="0">
            <a:spAutoFit/>
          </a:bodyPr>
          <a:lstStyle/>
          <a:p>
            <a:pPr marL="436660" marR="661607" indent="-414223">
              <a:lnSpc>
                <a:spcPct val="100299"/>
              </a:lnSpc>
              <a:spcBef>
                <a:spcPts val="82"/>
              </a:spcBef>
              <a:buClr>
                <a:srgbClr val="D71F00"/>
              </a:buClr>
              <a:buChar char="•"/>
              <a:tabLst>
                <a:tab pos="436660" algn="l"/>
                <a:tab pos="437236" algn="l"/>
              </a:tabLst>
            </a:pPr>
            <a:r>
              <a:rPr sz="2800" spc="-23" dirty="0">
                <a:cs typeface="Arial"/>
              </a:rPr>
              <a:t>A={a,b,c,d} </a:t>
            </a:r>
            <a:r>
              <a:rPr sz="2800" spc="-5" dirty="0">
                <a:cs typeface="Arial"/>
              </a:rPr>
              <a:t>and U </a:t>
            </a:r>
            <a:r>
              <a:rPr sz="2800" dirty="0">
                <a:cs typeface="Arial"/>
              </a:rPr>
              <a:t>is the </a:t>
            </a:r>
            <a:r>
              <a:rPr sz="2800" spc="-18" dirty="0">
                <a:cs typeface="Arial"/>
              </a:rPr>
              <a:t>set </a:t>
            </a:r>
            <a:r>
              <a:rPr sz="2800" spc="-14" dirty="0">
                <a:cs typeface="Arial"/>
              </a:rPr>
              <a:t>of</a:t>
            </a:r>
            <a:r>
              <a:rPr sz="2800" spc="-54" dirty="0">
                <a:cs typeface="Arial"/>
              </a:rPr>
              <a:t> </a:t>
            </a:r>
            <a:r>
              <a:rPr sz="2800" spc="-5" dirty="0">
                <a:cs typeface="Arial"/>
              </a:rPr>
              <a:t>English  alphabet</a:t>
            </a:r>
            <a:endParaRPr lang="en-US" sz="2800" spc="-5" dirty="0">
              <a:cs typeface="Arial"/>
            </a:endParaRPr>
          </a:p>
          <a:p>
            <a:pPr marL="22437" marR="661607">
              <a:lnSpc>
                <a:spcPct val="100299"/>
              </a:lnSpc>
              <a:spcBef>
                <a:spcPts val="82"/>
              </a:spcBef>
              <a:buClr>
                <a:srgbClr val="D71F00"/>
              </a:buClr>
              <a:tabLst>
                <a:tab pos="436660" algn="l"/>
                <a:tab pos="437236" algn="l"/>
              </a:tabLst>
            </a:pPr>
            <a:endParaRPr sz="2800" dirty="0">
              <a:cs typeface="Arial"/>
            </a:endParaRPr>
          </a:p>
          <a:p>
            <a:pPr marL="447591">
              <a:spcBef>
                <a:spcPts val="521"/>
              </a:spcBef>
            </a:pPr>
            <a:r>
              <a:rPr sz="2800" i="1" spc="-5" dirty="0">
                <a:cs typeface="Consolas"/>
              </a:rPr>
              <a:t>Ā </a:t>
            </a:r>
            <a:r>
              <a:rPr sz="2800" dirty="0">
                <a:cs typeface="Arial"/>
              </a:rPr>
              <a:t>=</a:t>
            </a:r>
            <a:r>
              <a:rPr sz="2800" spc="-118" dirty="0">
                <a:cs typeface="Arial"/>
              </a:rPr>
              <a:t> </a:t>
            </a:r>
            <a:r>
              <a:rPr sz="2800" spc="-32" dirty="0">
                <a:cs typeface="Arial"/>
              </a:rPr>
              <a:t>{</a:t>
            </a:r>
            <a:r>
              <a:rPr sz="2800" spc="-32" dirty="0" err="1">
                <a:cs typeface="Arial"/>
              </a:rPr>
              <a:t>e,f,g,h,i,j,k,l,m,n,o,p,q,r,s,t,u,v,w,x,y,z</a:t>
            </a:r>
            <a:r>
              <a:rPr sz="2800" spc="-32" dirty="0">
                <a:cs typeface="Arial"/>
              </a:rPr>
              <a:t>}</a:t>
            </a:r>
            <a:endParaRPr sz="2800" dirty="0">
              <a:cs typeface="Arial"/>
            </a:endParaRPr>
          </a:p>
          <a:p>
            <a:pPr>
              <a:spcBef>
                <a:spcPts val="23"/>
              </a:spcBef>
            </a:pPr>
            <a:endParaRPr sz="2800" dirty="0">
              <a:cs typeface="Times New Roman"/>
            </a:endParaRPr>
          </a:p>
          <a:p>
            <a:pPr marL="425729" marR="4602" indent="-414223">
              <a:spcBef>
                <a:spcPts val="5"/>
              </a:spcBef>
              <a:buFont typeface="Arial"/>
              <a:buChar char="•"/>
              <a:tabLst>
                <a:tab pos="425154" algn="l"/>
                <a:tab pos="425729" algn="l"/>
              </a:tabLst>
            </a:pPr>
            <a:r>
              <a:rPr sz="2800" spc="-9" dirty="0">
                <a:cs typeface="Calibri"/>
              </a:rPr>
              <a:t>Let </a:t>
            </a:r>
            <a:r>
              <a:rPr sz="2800" i="1" dirty="0">
                <a:cs typeface="Calibri"/>
              </a:rPr>
              <a:t>A </a:t>
            </a:r>
            <a:r>
              <a:rPr sz="2800" dirty="0">
                <a:cs typeface="Calibri"/>
              </a:rPr>
              <a:t>be </a:t>
            </a:r>
            <a:r>
              <a:rPr sz="2800" spc="-9" dirty="0">
                <a:cs typeface="Calibri"/>
              </a:rPr>
              <a:t>the set </a:t>
            </a:r>
            <a:r>
              <a:rPr sz="2800" dirty="0">
                <a:cs typeface="Calibri"/>
              </a:rPr>
              <a:t>of </a:t>
            </a:r>
            <a:r>
              <a:rPr sz="2800" spc="-9" dirty="0">
                <a:cs typeface="Calibri"/>
              </a:rPr>
              <a:t>positive </a:t>
            </a:r>
            <a:r>
              <a:rPr sz="2800" spc="-18" dirty="0">
                <a:cs typeface="Calibri"/>
              </a:rPr>
              <a:t>integers </a:t>
            </a:r>
            <a:r>
              <a:rPr sz="2800" spc="-14" dirty="0">
                <a:cs typeface="Calibri"/>
              </a:rPr>
              <a:t>greater  </a:t>
            </a:r>
            <a:r>
              <a:rPr sz="2800" dirty="0">
                <a:cs typeface="Calibri"/>
              </a:rPr>
              <a:t>than 10 </a:t>
            </a:r>
            <a:r>
              <a:rPr sz="2800" spc="-5" dirty="0">
                <a:cs typeface="Calibri"/>
              </a:rPr>
              <a:t>(with </a:t>
            </a:r>
            <a:r>
              <a:rPr sz="2800" spc="-14" dirty="0">
                <a:cs typeface="Calibri"/>
              </a:rPr>
              <a:t>universal </a:t>
            </a:r>
            <a:r>
              <a:rPr sz="2800" spc="-9" dirty="0">
                <a:cs typeface="Calibri"/>
              </a:rPr>
              <a:t>set the </a:t>
            </a:r>
            <a:r>
              <a:rPr sz="2800" spc="-5" dirty="0">
                <a:cs typeface="Calibri"/>
              </a:rPr>
              <a:t>set of </a:t>
            </a:r>
            <a:r>
              <a:rPr sz="2800" dirty="0">
                <a:cs typeface="Calibri"/>
              </a:rPr>
              <a:t>all  </a:t>
            </a:r>
            <a:r>
              <a:rPr sz="2800" spc="-9" dirty="0">
                <a:cs typeface="Calibri"/>
              </a:rPr>
              <a:t>positive </a:t>
            </a:r>
            <a:r>
              <a:rPr sz="2800" spc="-18" dirty="0">
                <a:cs typeface="Calibri"/>
              </a:rPr>
              <a:t>integers).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Find</a:t>
            </a:r>
            <a:r>
              <a:rPr sz="2800" spc="59" dirty="0">
                <a:solidFill>
                  <a:srgbClr val="FF0000"/>
                </a:solidFill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cs typeface="Consolas"/>
              </a:rPr>
              <a:t>Ā.</a:t>
            </a:r>
            <a:endParaRPr lang="en-US" sz="2800" i="1" dirty="0">
              <a:solidFill>
                <a:srgbClr val="FF0000"/>
              </a:solidFill>
              <a:cs typeface="Consolas"/>
            </a:endParaRPr>
          </a:p>
          <a:p>
            <a:pPr marL="425729" marR="4602" indent="-414223">
              <a:spcBef>
                <a:spcPts val="5"/>
              </a:spcBef>
              <a:buFont typeface="Arial"/>
              <a:buChar char="•"/>
              <a:tabLst>
                <a:tab pos="425154" algn="l"/>
                <a:tab pos="425729" algn="l"/>
              </a:tabLst>
            </a:pPr>
            <a:endParaRPr sz="2800" dirty="0">
              <a:cs typeface="Consolas"/>
            </a:endParaRPr>
          </a:p>
          <a:p>
            <a:pPr marL="1043037"/>
            <a:r>
              <a:rPr sz="2800" i="1" dirty="0">
                <a:cs typeface="Consolas"/>
              </a:rPr>
              <a:t>Ā= </a:t>
            </a:r>
            <a:r>
              <a:rPr sz="2800" dirty="0">
                <a:cs typeface="Calibri"/>
              </a:rPr>
              <a:t>= {1</a:t>
            </a:r>
            <a:r>
              <a:rPr sz="2800" i="1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3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4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5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6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7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8</a:t>
            </a:r>
            <a:r>
              <a:rPr sz="2800" i="1" spc="-5" dirty="0">
                <a:cs typeface="Calibri"/>
              </a:rPr>
              <a:t>, </a:t>
            </a:r>
            <a:r>
              <a:rPr sz="2800" spc="-5" dirty="0">
                <a:cs typeface="Calibri"/>
              </a:rPr>
              <a:t>9</a:t>
            </a:r>
            <a:r>
              <a:rPr sz="2800" i="1" spc="-5" dirty="0">
                <a:cs typeface="Calibri"/>
              </a:rPr>
              <a:t>,</a:t>
            </a:r>
            <a:r>
              <a:rPr sz="2800" i="1" spc="50" dirty="0">
                <a:cs typeface="Calibri"/>
              </a:rPr>
              <a:t> </a:t>
            </a:r>
            <a:r>
              <a:rPr sz="2800" spc="-5" dirty="0">
                <a:cs typeface="Calibri"/>
              </a:rPr>
              <a:t>10}.</a:t>
            </a:r>
            <a:endParaRPr sz="2800" dirty="0"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32294" y="590551"/>
            <a:ext cx="9408543" cy="750498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Summary of Set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2294" y="1531549"/>
            <a:ext cx="101274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Let A and B be subsets of a universal set U. Recall the following definitions :</a:t>
            </a:r>
          </a:p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Union: A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 B = { x U | x A or x  B}</a:t>
            </a:r>
          </a:p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Intersection: A  B = { x U | x A and x  B}</a:t>
            </a:r>
          </a:p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Difference: A – B = { x U | x  A and x B}</a:t>
            </a:r>
          </a:p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Complement: A</a:t>
            </a:r>
            <a:r>
              <a:rPr lang="en-US" sz="2400" b="1" baseline="30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c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 = { x U | x A}</a:t>
            </a:r>
          </a:p>
        </p:txBody>
      </p:sp>
    </p:spTree>
    <p:extLst>
      <p:ext uri="{BB962C8B-B14F-4D97-AF65-F5344CB8AC3E}">
        <p14:creationId xmlns:p14="http://schemas.microsoft.com/office/powerpoint/2010/main" val="5309884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8183-5C5D-4270-AAEC-805F772CC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983" y="515511"/>
            <a:ext cx="8180034" cy="1325563"/>
          </a:xfrm>
        </p:spPr>
        <p:txBody>
          <a:bodyPr/>
          <a:lstStyle/>
          <a:p>
            <a:r>
              <a:rPr lang="en-US" dirty="0"/>
              <a:t>Summary of Membership Tables</a:t>
            </a:r>
            <a:endParaRPr lang="en-PK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4154482-76C5-4BB5-BC86-701610716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065699"/>
              </p:ext>
            </p:extLst>
          </p:nvPr>
        </p:nvGraphicFramePr>
        <p:xfrm>
          <a:off x="2298784" y="1841075"/>
          <a:ext cx="7416714" cy="419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119">
                  <a:extLst>
                    <a:ext uri="{9D8B030D-6E8A-4147-A177-3AD203B41FA5}">
                      <a16:colId xmlns:a16="http://schemas.microsoft.com/office/drawing/2014/main" val="3689222457"/>
                    </a:ext>
                  </a:extLst>
                </a:gridCol>
                <a:gridCol w="1236119">
                  <a:extLst>
                    <a:ext uri="{9D8B030D-6E8A-4147-A177-3AD203B41FA5}">
                      <a16:colId xmlns:a16="http://schemas.microsoft.com/office/drawing/2014/main" val="1550386497"/>
                    </a:ext>
                  </a:extLst>
                </a:gridCol>
                <a:gridCol w="1236119">
                  <a:extLst>
                    <a:ext uri="{9D8B030D-6E8A-4147-A177-3AD203B41FA5}">
                      <a16:colId xmlns:a16="http://schemas.microsoft.com/office/drawing/2014/main" val="2296888911"/>
                    </a:ext>
                  </a:extLst>
                </a:gridCol>
                <a:gridCol w="1236119">
                  <a:extLst>
                    <a:ext uri="{9D8B030D-6E8A-4147-A177-3AD203B41FA5}">
                      <a16:colId xmlns:a16="http://schemas.microsoft.com/office/drawing/2014/main" val="3223625869"/>
                    </a:ext>
                  </a:extLst>
                </a:gridCol>
                <a:gridCol w="1236119">
                  <a:extLst>
                    <a:ext uri="{9D8B030D-6E8A-4147-A177-3AD203B41FA5}">
                      <a16:colId xmlns:a16="http://schemas.microsoft.com/office/drawing/2014/main" val="4114868877"/>
                    </a:ext>
                  </a:extLst>
                </a:gridCol>
                <a:gridCol w="1236119">
                  <a:extLst>
                    <a:ext uri="{9D8B030D-6E8A-4147-A177-3AD203B41FA5}">
                      <a16:colId xmlns:a16="http://schemas.microsoft.com/office/drawing/2014/main" val="1495027627"/>
                    </a:ext>
                  </a:extLst>
                </a:gridCol>
              </a:tblGrid>
              <a:tr h="8395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A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B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AUB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A</a:t>
                      </a:r>
                      <a:r>
                        <a:rPr lang="en-PK" sz="3600" b="0" i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∩</a:t>
                      </a:r>
                      <a:r>
                        <a:rPr lang="en-US" sz="3600" b="0" i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A-B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A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extLst>
                  <a:ext uri="{0D108BD9-81ED-4DB2-BD59-A6C34878D82A}">
                    <a16:rowId xmlns:a16="http://schemas.microsoft.com/office/drawing/2014/main" val="4229632714"/>
                  </a:ext>
                </a:extLst>
              </a:tr>
              <a:tr h="8395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extLst>
                  <a:ext uri="{0D108BD9-81ED-4DB2-BD59-A6C34878D82A}">
                    <a16:rowId xmlns:a16="http://schemas.microsoft.com/office/drawing/2014/main" val="2388046904"/>
                  </a:ext>
                </a:extLst>
              </a:tr>
              <a:tr h="8395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extLst>
                  <a:ext uri="{0D108BD9-81ED-4DB2-BD59-A6C34878D82A}">
                    <a16:rowId xmlns:a16="http://schemas.microsoft.com/office/drawing/2014/main" val="92777922"/>
                  </a:ext>
                </a:extLst>
              </a:tr>
              <a:tr h="8395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extLst>
                  <a:ext uri="{0D108BD9-81ED-4DB2-BD59-A6C34878D82A}">
                    <a16:rowId xmlns:a16="http://schemas.microsoft.com/office/drawing/2014/main" val="3453842628"/>
                  </a:ext>
                </a:extLst>
              </a:tr>
              <a:tr h="8395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PK" sz="3600" dirty="0"/>
                    </a:p>
                  </a:txBody>
                  <a:tcPr marL="82848" marR="82848" marT="41424" marB="41424" anchor="ctr"/>
                </a:tc>
                <a:extLst>
                  <a:ext uri="{0D108BD9-81ED-4DB2-BD59-A6C34878D82A}">
                    <a16:rowId xmlns:a16="http://schemas.microsoft.com/office/drawing/2014/main" val="46514902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800010-8C7A-44BD-B495-C543B69153D8}"/>
              </a:ext>
            </a:extLst>
          </p:cNvPr>
          <p:cNvCxnSpPr/>
          <p:nvPr/>
        </p:nvCxnSpPr>
        <p:spPr>
          <a:xfrm>
            <a:off x="8910030" y="1983885"/>
            <a:ext cx="345201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9402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2730" y="272374"/>
            <a:ext cx="8309029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dirty="0">
                <a:cs typeface="Arial"/>
              </a:rPr>
              <a:t>Membership </a:t>
            </a:r>
            <a:r>
              <a:rPr lang="en-US" sz="4800" spc="-5" dirty="0">
                <a:cs typeface="Arial"/>
              </a:rPr>
              <a:t>T</a:t>
            </a:r>
            <a:r>
              <a:rPr sz="4800" spc="-5" dirty="0">
                <a:cs typeface="Arial"/>
              </a:rPr>
              <a:t>able</a:t>
            </a:r>
            <a:r>
              <a:rPr sz="4800" spc="-100" dirty="0">
                <a:cs typeface="Arial"/>
              </a:rPr>
              <a:t> </a:t>
            </a:r>
            <a:r>
              <a:rPr lang="en-US" sz="4800" spc="-100" dirty="0">
                <a:cs typeface="Arial"/>
              </a:rPr>
              <a:t>E</a:t>
            </a:r>
            <a:r>
              <a:rPr sz="4800" dirty="0">
                <a:cs typeface="Arial"/>
              </a:rPr>
              <a:t>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260591" y="2241885"/>
            <a:ext cx="10588509" cy="4616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03019-9644-4D71-8FBB-8C7DCFA9DF48}"/>
              </a:ext>
            </a:extLst>
          </p:cNvPr>
          <p:cNvSpPr txBox="1"/>
          <p:nvPr/>
        </p:nvSpPr>
        <p:spPr>
          <a:xfrm>
            <a:off x="1060393" y="1103371"/>
            <a:ext cx="9518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1555">
              <a:lnSpc>
                <a:spcPct val="100000"/>
              </a:lnSpc>
            </a:pPr>
            <a:r>
              <a:rPr lang="en-US" sz="2800" spc="-5" dirty="0"/>
              <a:t>Use </a:t>
            </a:r>
            <a:r>
              <a:rPr lang="en-US" sz="2800" dirty="0"/>
              <a:t>a </a:t>
            </a:r>
            <a:r>
              <a:rPr lang="en-US" sz="2800" spc="-9" dirty="0">
                <a:solidFill>
                  <a:srgbClr val="FF0000"/>
                </a:solidFill>
              </a:rPr>
              <a:t>membership table</a:t>
            </a:r>
            <a:r>
              <a:rPr lang="en-US" sz="2800" spc="-9" dirty="0"/>
              <a:t> </a:t>
            </a:r>
            <a:r>
              <a:rPr lang="en-US" sz="2800" spc="-18" dirty="0"/>
              <a:t>to </a:t>
            </a:r>
            <a:r>
              <a:rPr lang="en-US" sz="2800" spc="-5" dirty="0"/>
              <a:t>show</a:t>
            </a:r>
            <a:r>
              <a:rPr lang="en-US" sz="2800" spc="27" dirty="0"/>
              <a:t> </a:t>
            </a:r>
            <a:r>
              <a:rPr lang="en-US" sz="2800" spc="-5" dirty="0"/>
              <a:t>that</a:t>
            </a:r>
          </a:p>
          <a:p>
            <a:pPr marL="945234">
              <a:lnSpc>
                <a:spcPct val="100000"/>
              </a:lnSpc>
              <a:spcBef>
                <a:spcPts val="23"/>
              </a:spcBef>
            </a:pPr>
            <a:r>
              <a:rPr lang="en-US" sz="2800" i="1" dirty="0">
                <a:solidFill>
                  <a:srgbClr val="FF0000"/>
                </a:solidFill>
                <a:cs typeface="Calibri"/>
              </a:rPr>
              <a:t>A </a:t>
            </a:r>
            <a:r>
              <a:rPr lang="en-US" sz="2800" dirty="0">
                <a:solidFill>
                  <a:srgbClr val="FF0000"/>
                </a:solidFill>
              </a:rPr>
              <a:t>∩ </a:t>
            </a:r>
            <a:r>
              <a:rPr lang="en-US" sz="2800" i="1" spc="-5" dirty="0">
                <a:solidFill>
                  <a:srgbClr val="FF0000"/>
                </a:solidFill>
                <a:cs typeface="Calibri"/>
              </a:rPr>
              <a:t>(B </a:t>
            </a:r>
            <a:r>
              <a:rPr lang="en-US" sz="2800" dirty="0">
                <a:solidFill>
                  <a:srgbClr val="FF0000"/>
                </a:solidFill>
                <a:cs typeface="Cambria Math"/>
              </a:rPr>
              <a:t>∪ </a:t>
            </a:r>
            <a:r>
              <a:rPr lang="en-US" sz="2800" i="1" spc="-5" dirty="0">
                <a:solidFill>
                  <a:srgbClr val="FF0000"/>
                </a:solidFill>
                <a:cs typeface="Calibri"/>
              </a:rPr>
              <a:t>C) </a:t>
            </a:r>
            <a:r>
              <a:rPr lang="en-US" sz="2800" dirty="0">
                <a:solidFill>
                  <a:srgbClr val="FF0000"/>
                </a:solidFill>
              </a:rPr>
              <a:t>= </a:t>
            </a:r>
            <a:r>
              <a:rPr lang="en-US" sz="2800" i="1" spc="-5" dirty="0">
                <a:solidFill>
                  <a:srgbClr val="FF0000"/>
                </a:solidFill>
                <a:cs typeface="Calibri"/>
              </a:rPr>
              <a:t>(A </a:t>
            </a:r>
            <a:r>
              <a:rPr lang="en-US" sz="2800" dirty="0">
                <a:solidFill>
                  <a:srgbClr val="FF0000"/>
                </a:solidFill>
              </a:rPr>
              <a:t>∩ </a:t>
            </a:r>
            <a:r>
              <a:rPr lang="en-US" sz="2800" i="1" dirty="0">
                <a:solidFill>
                  <a:srgbClr val="FF0000"/>
                </a:solidFill>
                <a:cs typeface="Calibri"/>
              </a:rPr>
              <a:t>B) </a:t>
            </a:r>
            <a:r>
              <a:rPr lang="en-US" sz="2800" dirty="0">
                <a:solidFill>
                  <a:srgbClr val="FF0000"/>
                </a:solidFill>
                <a:cs typeface="Cambria Math"/>
              </a:rPr>
              <a:t>∪ </a:t>
            </a:r>
            <a:r>
              <a:rPr lang="en-US" sz="2800" i="1" spc="-5" dirty="0">
                <a:solidFill>
                  <a:srgbClr val="FF0000"/>
                </a:solidFill>
                <a:cs typeface="Calibri"/>
              </a:rPr>
              <a:t>(A </a:t>
            </a:r>
            <a:r>
              <a:rPr lang="en-US" sz="2800" dirty="0">
                <a:solidFill>
                  <a:srgbClr val="FF0000"/>
                </a:solidFill>
              </a:rPr>
              <a:t>∩</a:t>
            </a:r>
            <a:r>
              <a:rPr lang="en-US" sz="2800" spc="23" dirty="0">
                <a:solidFill>
                  <a:srgbClr val="FF0000"/>
                </a:solidFill>
              </a:rPr>
              <a:t> </a:t>
            </a:r>
            <a:r>
              <a:rPr lang="en-US" sz="2800" i="1" dirty="0">
                <a:solidFill>
                  <a:srgbClr val="FF0000"/>
                </a:solidFill>
                <a:cs typeface="Calibri"/>
              </a:rPr>
              <a:t>C)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324" y="769175"/>
            <a:ext cx="7491439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dirty="0">
                <a:cs typeface="Arial"/>
              </a:rPr>
              <a:t>Generalized</a:t>
            </a:r>
            <a:r>
              <a:rPr sz="4800" spc="-82" dirty="0">
                <a:cs typeface="Arial"/>
              </a:rPr>
              <a:t> </a:t>
            </a:r>
            <a:r>
              <a:rPr sz="4800" spc="-5" dirty="0">
                <a:cs typeface="Arial"/>
              </a:rPr>
              <a:t>Union</a:t>
            </a:r>
            <a:endParaRPr sz="4800" dirty="0"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7691" y="1946706"/>
            <a:ext cx="8361675" cy="3905445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 marR="226096" algn="just">
              <a:spcBef>
                <a:spcPts val="95"/>
              </a:spcBef>
            </a:pPr>
            <a:r>
              <a:rPr sz="2800" spc="-5" dirty="0">
                <a:cs typeface="Calibri"/>
              </a:rPr>
              <a:t>The </a:t>
            </a:r>
            <a:r>
              <a:rPr sz="2800" i="1" spc="-5" dirty="0">
                <a:solidFill>
                  <a:srgbClr val="FF0000"/>
                </a:solidFill>
                <a:cs typeface="Calibri"/>
              </a:rPr>
              <a:t>union</a:t>
            </a:r>
            <a:r>
              <a:rPr sz="2800" i="1" spc="-5" dirty="0">
                <a:cs typeface="Calibri"/>
              </a:rPr>
              <a:t> </a:t>
            </a:r>
            <a:r>
              <a:rPr sz="2800" spc="-5" dirty="0">
                <a:cs typeface="Calibri"/>
              </a:rPr>
              <a:t>of </a:t>
            </a:r>
            <a:r>
              <a:rPr sz="2800" dirty="0">
                <a:cs typeface="Calibri"/>
              </a:rPr>
              <a:t>a </a:t>
            </a:r>
            <a:r>
              <a:rPr sz="2800" spc="-5" dirty="0">
                <a:cs typeface="Calibri"/>
              </a:rPr>
              <a:t>collection of sets </a:t>
            </a:r>
            <a:r>
              <a:rPr sz="2800" dirty="0">
                <a:cs typeface="Calibri"/>
              </a:rPr>
              <a:t>is the </a:t>
            </a:r>
            <a:r>
              <a:rPr sz="2800" spc="-5" dirty="0">
                <a:cs typeface="Calibri"/>
              </a:rPr>
              <a:t>set </a:t>
            </a:r>
            <a:r>
              <a:rPr sz="2800" spc="-9" dirty="0">
                <a:cs typeface="Calibri"/>
              </a:rPr>
              <a:t>that  </a:t>
            </a:r>
            <a:r>
              <a:rPr sz="2800" spc="-14" dirty="0">
                <a:cs typeface="Calibri"/>
              </a:rPr>
              <a:t>contains </a:t>
            </a:r>
            <a:r>
              <a:rPr sz="2800" dirty="0">
                <a:cs typeface="Calibri"/>
              </a:rPr>
              <a:t>those </a:t>
            </a:r>
            <a:r>
              <a:rPr sz="2800" spc="-5" dirty="0">
                <a:cs typeface="Calibri"/>
              </a:rPr>
              <a:t>elements </a:t>
            </a:r>
            <a:r>
              <a:rPr sz="2800" spc="-9" dirty="0">
                <a:cs typeface="Calibri"/>
              </a:rPr>
              <a:t>that </a:t>
            </a:r>
            <a:r>
              <a:rPr sz="2800" spc="-14" dirty="0">
                <a:cs typeface="Calibri"/>
              </a:rPr>
              <a:t>are </a:t>
            </a:r>
            <a:r>
              <a:rPr sz="2800" spc="-9" dirty="0">
                <a:cs typeface="Calibri"/>
              </a:rPr>
              <a:t>members </a:t>
            </a:r>
            <a:r>
              <a:rPr sz="2800" spc="-5" dirty="0">
                <a:cs typeface="Calibri"/>
              </a:rPr>
              <a:t>of  </a:t>
            </a:r>
            <a:r>
              <a:rPr sz="2800" spc="-14" dirty="0">
                <a:solidFill>
                  <a:srgbClr val="FF0000"/>
                </a:solidFill>
                <a:cs typeface="Calibri"/>
              </a:rPr>
              <a:t>at </a:t>
            </a:r>
            <a:r>
              <a:rPr sz="2800" spc="-9" dirty="0">
                <a:solidFill>
                  <a:srgbClr val="FF0000"/>
                </a:solidFill>
                <a:cs typeface="Calibri"/>
              </a:rPr>
              <a:t>least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one </a:t>
            </a:r>
            <a:r>
              <a:rPr sz="2800" spc="-9" dirty="0">
                <a:solidFill>
                  <a:srgbClr val="FF0000"/>
                </a:solidFill>
                <a:cs typeface="Calibri"/>
              </a:rPr>
              <a:t>set </a:t>
            </a:r>
            <a:r>
              <a:rPr sz="2800" spc="-9" dirty="0">
                <a:cs typeface="Calibri"/>
              </a:rPr>
              <a:t>in </a:t>
            </a:r>
            <a:r>
              <a:rPr sz="2800" dirty="0">
                <a:cs typeface="Calibri"/>
              </a:rPr>
              <a:t>the</a:t>
            </a:r>
            <a:r>
              <a:rPr sz="2800" spc="27" dirty="0">
                <a:cs typeface="Calibri"/>
              </a:rPr>
              <a:t> </a:t>
            </a:r>
            <a:r>
              <a:rPr sz="2800" spc="-5" dirty="0">
                <a:cs typeface="Calibri"/>
              </a:rPr>
              <a:t>collection.</a:t>
            </a:r>
            <a:endParaRPr sz="2800" dirty="0">
              <a:cs typeface="Calibri"/>
            </a:endParaRPr>
          </a:p>
          <a:p>
            <a:pPr>
              <a:spcBef>
                <a:spcPts val="41"/>
              </a:spcBef>
            </a:pPr>
            <a:endParaRPr sz="2800" dirty="0">
              <a:cs typeface="Times New Roman"/>
            </a:endParaRPr>
          </a:p>
          <a:p>
            <a:pPr marL="11506" algn="just"/>
            <a:r>
              <a:rPr sz="2800" spc="-54" dirty="0">
                <a:cs typeface="Calibri"/>
              </a:rPr>
              <a:t>We </a:t>
            </a:r>
            <a:r>
              <a:rPr sz="2800" spc="-5" dirty="0">
                <a:cs typeface="Calibri"/>
              </a:rPr>
              <a:t>use </a:t>
            </a:r>
            <a:r>
              <a:rPr sz="2800" dirty="0">
                <a:cs typeface="Calibri"/>
              </a:rPr>
              <a:t>the</a:t>
            </a:r>
            <a:r>
              <a:rPr sz="2800" spc="32" dirty="0">
                <a:cs typeface="Calibri"/>
              </a:rPr>
              <a:t> </a:t>
            </a:r>
            <a:r>
              <a:rPr sz="2800" spc="-9" dirty="0">
                <a:cs typeface="Calibri"/>
              </a:rPr>
              <a:t>notation</a:t>
            </a:r>
            <a:endParaRPr sz="2800" dirty="0">
              <a:cs typeface="Calibri"/>
            </a:endParaRPr>
          </a:p>
          <a:p>
            <a:pPr>
              <a:spcBef>
                <a:spcPts val="14"/>
              </a:spcBef>
            </a:pPr>
            <a:endParaRPr sz="2800" dirty="0">
              <a:cs typeface="Times New Roman"/>
            </a:endParaRPr>
          </a:p>
          <a:p>
            <a:pPr marL="11506" algn="just"/>
            <a:r>
              <a:rPr sz="2800" i="1" spc="5" dirty="0">
                <a:cs typeface="Calibri"/>
              </a:rPr>
              <a:t>A</a:t>
            </a:r>
            <a:r>
              <a:rPr sz="2800" spc="6" baseline="-21164" dirty="0">
                <a:cs typeface="Calibri"/>
              </a:rPr>
              <a:t>1 </a:t>
            </a:r>
            <a:r>
              <a:rPr sz="2800" dirty="0">
                <a:cs typeface="Cambria Math"/>
              </a:rPr>
              <a:t>∪ </a:t>
            </a:r>
            <a:r>
              <a:rPr sz="2800" i="1" spc="5" dirty="0">
                <a:cs typeface="Calibri"/>
              </a:rPr>
              <a:t>A</a:t>
            </a:r>
            <a:r>
              <a:rPr sz="2800" spc="6" baseline="-21164" dirty="0">
                <a:cs typeface="Calibri"/>
              </a:rPr>
              <a:t>2 </a:t>
            </a:r>
            <a:r>
              <a:rPr sz="2800" dirty="0">
                <a:cs typeface="Cambria Math"/>
              </a:rPr>
              <a:t>∪ </a:t>
            </a:r>
            <a:r>
              <a:rPr sz="2800" dirty="0">
                <a:cs typeface="Calibri"/>
              </a:rPr>
              <a:t>· · · </a:t>
            </a:r>
            <a:r>
              <a:rPr sz="2800" dirty="0">
                <a:cs typeface="Cambria Math"/>
              </a:rPr>
              <a:t>∪ </a:t>
            </a:r>
            <a:r>
              <a:rPr sz="2800" i="1" spc="5" dirty="0">
                <a:cs typeface="Calibri"/>
              </a:rPr>
              <a:t>A</a:t>
            </a:r>
            <a:r>
              <a:rPr sz="2800" i="1" spc="6" baseline="-21164" dirty="0">
                <a:cs typeface="Calibri"/>
              </a:rPr>
              <a:t>n</a:t>
            </a:r>
            <a:r>
              <a:rPr sz="2800" i="1" spc="81" baseline="-21164" dirty="0">
                <a:cs typeface="Calibri"/>
              </a:rPr>
              <a:t> </a:t>
            </a:r>
            <a:r>
              <a:rPr sz="2800" dirty="0">
                <a:cs typeface="Calibri"/>
              </a:rPr>
              <a:t>=</a:t>
            </a:r>
          </a:p>
          <a:p>
            <a:pPr>
              <a:spcBef>
                <a:spcPts val="23"/>
              </a:spcBef>
            </a:pPr>
            <a:endParaRPr sz="2800" dirty="0">
              <a:cs typeface="Times New Roman"/>
            </a:endParaRPr>
          </a:p>
          <a:p>
            <a:pPr marL="11506" algn="just"/>
            <a:r>
              <a:rPr sz="2800" spc="-23" dirty="0">
                <a:cs typeface="Calibri"/>
              </a:rPr>
              <a:t>to </a:t>
            </a:r>
            <a:r>
              <a:rPr sz="2800" spc="-9" dirty="0">
                <a:cs typeface="Calibri"/>
              </a:rPr>
              <a:t>denote </a:t>
            </a:r>
            <a:r>
              <a:rPr sz="2800" dirty="0">
                <a:cs typeface="Calibri"/>
              </a:rPr>
              <a:t>the </a:t>
            </a:r>
            <a:r>
              <a:rPr sz="2800" spc="-5" dirty="0">
                <a:cs typeface="Calibri"/>
              </a:rPr>
              <a:t>union of the sets </a:t>
            </a:r>
            <a:r>
              <a:rPr sz="2800" i="1" spc="-5" dirty="0">
                <a:cs typeface="Calibri"/>
              </a:rPr>
              <a:t>A</a:t>
            </a:r>
            <a:r>
              <a:rPr sz="2800" spc="-5" dirty="0">
                <a:cs typeface="Calibri"/>
              </a:rPr>
              <a:t>1</a:t>
            </a:r>
            <a:r>
              <a:rPr sz="2800" i="1" spc="-5" dirty="0">
                <a:cs typeface="Calibri"/>
              </a:rPr>
              <a:t>, A</a:t>
            </a:r>
            <a:r>
              <a:rPr sz="2800" spc="-5" dirty="0">
                <a:cs typeface="Calibri"/>
              </a:rPr>
              <a:t>2</a:t>
            </a:r>
            <a:r>
              <a:rPr sz="2800" i="1" spc="-5" dirty="0">
                <a:cs typeface="Calibri"/>
              </a:rPr>
              <a:t>, </a:t>
            </a:r>
            <a:r>
              <a:rPr sz="2800" i="1" dirty="0">
                <a:cs typeface="Calibri"/>
              </a:rPr>
              <a:t>. . . ,</a:t>
            </a:r>
            <a:r>
              <a:rPr sz="2800" i="1" spc="72" dirty="0">
                <a:cs typeface="Calibri"/>
              </a:rPr>
              <a:t> </a:t>
            </a:r>
            <a:r>
              <a:rPr sz="2800" i="1" dirty="0">
                <a:cs typeface="Calibri"/>
              </a:rPr>
              <a:t>An</a:t>
            </a:r>
            <a:r>
              <a:rPr sz="2800" dirty="0">
                <a:cs typeface="Calibri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4377404" y="4368416"/>
            <a:ext cx="753278" cy="7694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3960" y="554660"/>
            <a:ext cx="7118973" cy="750864"/>
          </a:xfrm>
          <a:prstGeom prst="rect">
            <a:avLst/>
          </a:prstGeom>
        </p:spPr>
        <p:txBody>
          <a:bodyPr vert="horz" wrap="square" lIns="0" tIns="12082" rIns="0" bIns="0" rtlCol="0" anchor="ctr">
            <a:spAutoFit/>
          </a:bodyPr>
          <a:lstStyle/>
          <a:p>
            <a:pPr marL="11506">
              <a:lnSpc>
                <a:spcPct val="100000"/>
              </a:lnSpc>
              <a:spcBef>
                <a:spcPts val="95"/>
              </a:spcBef>
            </a:pPr>
            <a:r>
              <a:rPr sz="4800" dirty="0">
                <a:cs typeface="Arial"/>
              </a:rPr>
              <a:t>Generalized</a:t>
            </a:r>
            <a:r>
              <a:rPr sz="4800" spc="-50" dirty="0">
                <a:cs typeface="Arial"/>
              </a:rPr>
              <a:t> </a:t>
            </a:r>
            <a:r>
              <a:rPr sz="4800" spc="-5" dirty="0">
                <a:cs typeface="Arial"/>
              </a:rPr>
              <a:t>Intersection</a:t>
            </a:r>
            <a:endParaRPr sz="4800" dirty="0"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3960" y="1946705"/>
            <a:ext cx="8940684" cy="3028410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 marR="4602" algn="just">
              <a:spcBef>
                <a:spcPts val="95"/>
              </a:spcBef>
            </a:pPr>
            <a:r>
              <a:rPr sz="2800" spc="-5" dirty="0">
                <a:cs typeface="Calibri"/>
              </a:rPr>
              <a:t>The </a:t>
            </a:r>
            <a:r>
              <a:rPr sz="2800" i="1" spc="-9" dirty="0">
                <a:solidFill>
                  <a:srgbClr val="FF0000"/>
                </a:solidFill>
                <a:cs typeface="Calibri"/>
              </a:rPr>
              <a:t>intersection</a:t>
            </a:r>
            <a:r>
              <a:rPr sz="2800" i="1" spc="-9" dirty="0">
                <a:cs typeface="Calibri"/>
              </a:rPr>
              <a:t> </a:t>
            </a:r>
            <a:r>
              <a:rPr sz="2800" spc="-5" dirty="0">
                <a:cs typeface="Calibri"/>
              </a:rPr>
              <a:t>of </a:t>
            </a:r>
            <a:r>
              <a:rPr sz="2800" dirty="0">
                <a:cs typeface="Calibri"/>
              </a:rPr>
              <a:t>a </a:t>
            </a:r>
            <a:r>
              <a:rPr sz="2800" spc="-5" dirty="0">
                <a:cs typeface="Calibri"/>
              </a:rPr>
              <a:t>collection of sets </a:t>
            </a:r>
            <a:r>
              <a:rPr sz="2800" dirty="0">
                <a:cs typeface="Calibri"/>
              </a:rPr>
              <a:t>is the </a:t>
            </a:r>
            <a:r>
              <a:rPr sz="2800" spc="-5" dirty="0">
                <a:cs typeface="Calibri"/>
              </a:rPr>
              <a:t>set </a:t>
            </a:r>
            <a:r>
              <a:rPr sz="2800" spc="-9" dirty="0">
                <a:cs typeface="Calibri"/>
              </a:rPr>
              <a:t>that  </a:t>
            </a:r>
            <a:r>
              <a:rPr sz="2800" spc="-14" dirty="0">
                <a:cs typeface="Calibri"/>
              </a:rPr>
              <a:t>contains </a:t>
            </a:r>
            <a:r>
              <a:rPr sz="2800" dirty="0">
                <a:cs typeface="Calibri"/>
              </a:rPr>
              <a:t>those </a:t>
            </a:r>
            <a:r>
              <a:rPr sz="2800" spc="-5" dirty="0">
                <a:cs typeface="Calibri"/>
              </a:rPr>
              <a:t>elements </a:t>
            </a:r>
            <a:r>
              <a:rPr sz="2800" spc="-9" dirty="0">
                <a:cs typeface="Calibri"/>
              </a:rPr>
              <a:t>that </a:t>
            </a:r>
            <a:r>
              <a:rPr sz="2800" spc="-14" dirty="0">
                <a:cs typeface="Calibri"/>
              </a:rPr>
              <a:t>are </a:t>
            </a:r>
            <a:r>
              <a:rPr sz="2800" spc="-9" dirty="0">
                <a:cs typeface="Calibri"/>
              </a:rPr>
              <a:t>members </a:t>
            </a:r>
            <a:r>
              <a:rPr sz="2800" spc="-5" dirty="0">
                <a:cs typeface="Calibri"/>
              </a:rPr>
              <a:t>of </a:t>
            </a:r>
            <a:r>
              <a:rPr sz="2800" dirty="0">
                <a:solidFill>
                  <a:srgbClr val="FF0000"/>
                </a:solidFill>
                <a:cs typeface="Calibri"/>
              </a:rPr>
              <a:t>all the  </a:t>
            </a:r>
            <a:r>
              <a:rPr sz="2800" spc="-5" dirty="0">
                <a:solidFill>
                  <a:srgbClr val="FF0000"/>
                </a:solidFill>
                <a:cs typeface="Calibri"/>
              </a:rPr>
              <a:t>sets </a:t>
            </a:r>
            <a:r>
              <a:rPr sz="2800" dirty="0">
                <a:cs typeface="Calibri"/>
              </a:rPr>
              <a:t>in the</a:t>
            </a:r>
            <a:r>
              <a:rPr sz="2800" spc="-5" dirty="0">
                <a:cs typeface="Calibri"/>
              </a:rPr>
              <a:t> collection.</a:t>
            </a:r>
            <a:endParaRPr sz="2800" dirty="0">
              <a:cs typeface="Calibri"/>
            </a:endParaRPr>
          </a:p>
          <a:p>
            <a:pPr>
              <a:spcBef>
                <a:spcPts val="41"/>
              </a:spcBef>
            </a:pPr>
            <a:endParaRPr sz="2800" dirty="0">
              <a:cs typeface="Times New Roman"/>
            </a:endParaRPr>
          </a:p>
          <a:p>
            <a:pPr marL="11506" algn="just"/>
            <a:r>
              <a:rPr sz="2800" spc="-54" dirty="0">
                <a:cs typeface="Calibri"/>
              </a:rPr>
              <a:t>We </a:t>
            </a:r>
            <a:r>
              <a:rPr sz="2800" spc="-5" dirty="0">
                <a:cs typeface="Calibri"/>
              </a:rPr>
              <a:t>use </a:t>
            </a:r>
            <a:r>
              <a:rPr sz="2800" dirty="0">
                <a:cs typeface="Calibri"/>
              </a:rPr>
              <a:t>the</a:t>
            </a:r>
            <a:r>
              <a:rPr sz="2800" spc="32" dirty="0">
                <a:cs typeface="Calibri"/>
              </a:rPr>
              <a:t> </a:t>
            </a:r>
            <a:r>
              <a:rPr sz="2800" spc="-9" dirty="0">
                <a:cs typeface="Calibri"/>
              </a:rPr>
              <a:t>notation</a:t>
            </a:r>
            <a:endParaRPr sz="2800" dirty="0">
              <a:cs typeface="Calibri"/>
            </a:endParaRPr>
          </a:p>
          <a:p>
            <a:pPr>
              <a:spcBef>
                <a:spcPts val="41"/>
              </a:spcBef>
            </a:pPr>
            <a:endParaRPr sz="2800" dirty="0">
              <a:cs typeface="Times New Roman"/>
            </a:endParaRPr>
          </a:p>
          <a:p>
            <a:pPr marL="11506" algn="just">
              <a:spcBef>
                <a:spcPts val="5"/>
              </a:spcBef>
            </a:pPr>
            <a:r>
              <a:rPr sz="2800" i="1" spc="5" dirty="0">
                <a:cs typeface="Calibri"/>
              </a:rPr>
              <a:t>A</a:t>
            </a:r>
            <a:r>
              <a:rPr sz="2800" spc="6" baseline="-21164" dirty="0">
                <a:cs typeface="Calibri"/>
              </a:rPr>
              <a:t>1 </a:t>
            </a:r>
            <a:r>
              <a:rPr sz="2800" dirty="0">
                <a:cs typeface="Calibri"/>
              </a:rPr>
              <a:t>∩ </a:t>
            </a:r>
            <a:r>
              <a:rPr sz="2800" i="1" spc="5" dirty="0">
                <a:cs typeface="Calibri"/>
              </a:rPr>
              <a:t>A</a:t>
            </a:r>
            <a:r>
              <a:rPr sz="2800" spc="6" baseline="-21164" dirty="0">
                <a:cs typeface="Calibri"/>
              </a:rPr>
              <a:t>2 </a:t>
            </a:r>
            <a:r>
              <a:rPr sz="2800" dirty="0">
                <a:cs typeface="Calibri"/>
              </a:rPr>
              <a:t>∩ · · · ∩ </a:t>
            </a:r>
            <a:r>
              <a:rPr sz="2800" i="1" spc="5" dirty="0">
                <a:cs typeface="Calibri"/>
              </a:rPr>
              <a:t>A</a:t>
            </a:r>
            <a:r>
              <a:rPr sz="2800" i="1" spc="6" baseline="-21164" dirty="0">
                <a:cs typeface="Calibri"/>
              </a:rPr>
              <a:t>n</a:t>
            </a:r>
            <a:r>
              <a:rPr sz="2800" i="1" spc="-285" baseline="-21164" dirty="0">
                <a:cs typeface="Calibri"/>
              </a:rPr>
              <a:t> </a:t>
            </a:r>
            <a:r>
              <a:rPr sz="2800" dirty="0">
                <a:cs typeface="Calibri"/>
              </a:rPr>
              <a:t>=</a:t>
            </a:r>
          </a:p>
        </p:txBody>
      </p:sp>
      <p:sp>
        <p:nvSpPr>
          <p:cNvPr id="4" name="object 4"/>
          <p:cNvSpPr/>
          <p:nvPr/>
        </p:nvSpPr>
        <p:spPr>
          <a:xfrm>
            <a:off x="4311913" y="4305961"/>
            <a:ext cx="782369" cy="89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20106" y="540615"/>
            <a:ext cx="6970603" cy="6647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152"/>
            <a:r>
              <a:rPr lang="en-US" sz="4800" dirty="0"/>
              <a:t>Representation of Sets</a:t>
            </a:r>
            <a:endParaRPr sz="4800" dirty="0"/>
          </a:p>
        </p:txBody>
      </p:sp>
      <p:sp>
        <p:nvSpPr>
          <p:cNvPr id="7" name="object 7"/>
          <p:cNvSpPr txBox="1"/>
          <p:nvPr/>
        </p:nvSpPr>
        <p:spPr>
          <a:xfrm>
            <a:off x="804191" y="1205412"/>
            <a:ext cx="10583617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en-US" sz="2800" dirty="0"/>
              <a:t>Represent a subset </a:t>
            </a:r>
            <a:r>
              <a:rPr lang="en-US" sz="2800" i="1" dirty="0"/>
              <a:t>A</a:t>
            </a:r>
            <a:r>
              <a:rPr lang="en-US" sz="2800" dirty="0"/>
              <a:t> of </a:t>
            </a:r>
            <a:r>
              <a:rPr lang="en-US" sz="2800" dirty="0">
                <a:cs typeface="Times New Roman" pitchFamily="18" charset="0"/>
              </a:rPr>
              <a:t>U</a:t>
            </a:r>
            <a:r>
              <a:rPr lang="en-US" sz="2800" dirty="0"/>
              <a:t> with the bit string of length </a:t>
            </a:r>
            <a:r>
              <a:rPr lang="en-US" sz="2800" i="1" dirty="0"/>
              <a:t>n</a:t>
            </a:r>
            <a:r>
              <a:rPr lang="en-US" sz="2800" dirty="0"/>
              <a:t>, where the </a:t>
            </a:r>
            <a:r>
              <a:rPr lang="en-US" sz="2800" i="1" dirty="0" err="1"/>
              <a:t>i</a:t>
            </a:r>
            <a:r>
              <a:rPr lang="en-US" sz="2800" dirty="0" err="1"/>
              <a:t>th</a:t>
            </a:r>
            <a:r>
              <a:rPr lang="en-US" sz="2800" dirty="0"/>
              <a:t> bit in the string is 1 if </a:t>
            </a:r>
            <a:r>
              <a:rPr lang="en-US" sz="2800" i="1" dirty="0"/>
              <a:t>a</a:t>
            </a:r>
            <a:r>
              <a:rPr lang="en-US" sz="2800" i="1" baseline="-25000" dirty="0"/>
              <a:t>i</a:t>
            </a:r>
            <a:r>
              <a:rPr lang="en-US" sz="2800" dirty="0"/>
              <a:t> belongs to </a:t>
            </a:r>
            <a:r>
              <a:rPr lang="en-US" sz="2800" i="1" dirty="0"/>
              <a:t>A</a:t>
            </a:r>
            <a:r>
              <a:rPr lang="en-US" sz="2800" dirty="0"/>
              <a:t> and is 0 if </a:t>
            </a:r>
            <a:r>
              <a:rPr lang="en-US" sz="2800" i="1" dirty="0"/>
              <a:t>a</a:t>
            </a:r>
            <a:r>
              <a:rPr lang="en-US" sz="2800" i="1" baseline="-25000" dirty="0"/>
              <a:t>i  </a:t>
            </a:r>
            <a:r>
              <a:rPr lang="en-US" sz="2800" dirty="0"/>
              <a:t>does not belong to </a:t>
            </a:r>
            <a:r>
              <a:rPr lang="en-US" sz="2800" i="1" dirty="0"/>
              <a:t>A</a:t>
            </a:r>
            <a:r>
              <a:rPr lang="en-US" sz="2800" dirty="0"/>
              <a:t>.</a:t>
            </a:r>
          </a:p>
          <a:p>
            <a:pPr algn="just">
              <a:lnSpc>
                <a:spcPct val="80000"/>
              </a:lnSpc>
            </a:pPr>
            <a:endParaRPr lang="en-US" sz="2800" dirty="0"/>
          </a:p>
          <a:p>
            <a:pPr algn="just">
              <a:lnSpc>
                <a:spcPct val="80000"/>
              </a:lnSpc>
            </a:pPr>
            <a:r>
              <a:rPr lang="en-US" sz="2800" spc="-4" dirty="0">
                <a:solidFill>
                  <a:srgbClr val="FF0000"/>
                </a:solidFill>
                <a:highlight>
                  <a:srgbClr val="C0C0C0"/>
                </a:highlight>
                <a:cs typeface="Arial"/>
              </a:rPr>
              <a:t>Example: 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Let </a:t>
            </a:r>
            <a:r>
              <a:rPr lang="en-US" sz="2800" i="1" dirty="0">
                <a:cs typeface="Times New Roman" pitchFamily="18" charset="0"/>
              </a:rPr>
              <a:t>U</a:t>
            </a:r>
            <a:r>
              <a:rPr lang="en-US" sz="2800" dirty="0"/>
              <a:t> = {1,2,3,4,5,6,7,8,9,10}, and the ordering of elements of </a:t>
            </a:r>
            <a:r>
              <a:rPr lang="en-US" sz="2800" i="1" dirty="0">
                <a:cs typeface="Times New Roman" pitchFamily="18" charset="0"/>
              </a:rPr>
              <a:t>U</a:t>
            </a:r>
            <a:r>
              <a:rPr lang="en-US" sz="2800" dirty="0"/>
              <a:t> has the elements in increasing order; that is </a:t>
            </a:r>
            <a:r>
              <a:rPr lang="en-US" sz="2800" i="1" dirty="0"/>
              <a:t>a</a:t>
            </a:r>
            <a:r>
              <a:rPr lang="en-US" sz="2800" i="1" baseline="-25000" dirty="0"/>
              <a:t>i</a:t>
            </a:r>
            <a:r>
              <a:rPr lang="en-US" sz="2800" dirty="0"/>
              <a:t> = </a:t>
            </a:r>
            <a:r>
              <a:rPr lang="en-US" sz="2800" i="1" dirty="0" err="1"/>
              <a:t>i</a:t>
            </a:r>
            <a:r>
              <a:rPr lang="en-US" sz="2800" dirty="0"/>
              <a:t>. </a:t>
            </a:r>
          </a:p>
          <a:p>
            <a:pPr algn="just">
              <a:lnSpc>
                <a:spcPct val="80000"/>
              </a:lnSpc>
            </a:pPr>
            <a:endParaRPr lang="en-US" sz="2800" dirty="0"/>
          </a:p>
          <a:p>
            <a:pPr marL="329454" indent="-329454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What bit string represents the subset of all odd integers in </a:t>
            </a:r>
            <a:r>
              <a:rPr lang="en-US" sz="2800" i="1" dirty="0">
                <a:cs typeface="Times New Roman" pitchFamily="18" charset="0"/>
              </a:rPr>
              <a:t>U</a:t>
            </a:r>
            <a:r>
              <a:rPr lang="en-US" sz="2800" dirty="0"/>
              <a:t>? </a:t>
            </a:r>
          </a:p>
          <a:p>
            <a:pPr marL="329454" indent="-329454" algn="just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800" spc="-4" dirty="0">
              <a:solidFill>
                <a:srgbClr val="FF0000"/>
              </a:solidFill>
              <a:highlight>
                <a:srgbClr val="C0C0C0"/>
              </a:highlight>
              <a:cs typeface="Arial"/>
            </a:endParaRPr>
          </a:p>
          <a:p>
            <a:pPr marL="329454" indent="-329454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spc="-4" dirty="0">
                <a:solidFill>
                  <a:srgbClr val="FF0000"/>
                </a:solidFill>
                <a:highlight>
                  <a:srgbClr val="C0C0C0"/>
                </a:highlight>
                <a:cs typeface="Arial"/>
              </a:rPr>
              <a:t>Solution</a:t>
            </a:r>
            <a:r>
              <a:rPr lang="en-US" sz="2800" dirty="0"/>
              <a:t>: 10 1010 1010</a:t>
            </a:r>
          </a:p>
          <a:p>
            <a:pPr marL="329454" indent="-329454" algn="just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29454" indent="-329454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What bit string represents the subset of all even integers in </a:t>
            </a:r>
            <a:r>
              <a:rPr lang="en-US" sz="2800" i="1" dirty="0">
                <a:cs typeface="Times New Roman" pitchFamily="18" charset="0"/>
              </a:rPr>
              <a:t>U</a:t>
            </a:r>
            <a:r>
              <a:rPr lang="en-US" sz="2800" dirty="0"/>
              <a:t>?</a:t>
            </a:r>
          </a:p>
          <a:p>
            <a:pPr lvl="1" algn="just">
              <a:lnSpc>
                <a:spcPct val="80000"/>
              </a:lnSpc>
              <a:buFont typeface="Wingdings" pitchFamily="2" charset="2"/>
              <a:buNone/>
            </a:pPr>
            <a:endParaRPr lang="en-US" sz="2800" spc="-4" dirty="0">
              <a:solidFill>
                <a:srgbClr val="FF0000"/>
              </a:solidFill>
              <a:highlight>
                <a:srgbClr val="C0C0C0"/>
              </a:highlight>
              <a:cs typeface="Arial"/>
            </a:endParaRPr>
          </a:p>
          <a:p>
            <a:pPr marL="414223" indent="-414223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spc="-4" dirty="0">
                <a:solidFill>
                  <a:srgbClr val="FF0000"/>
                </a:solidFill>
                <a:highlight>
                  <a:srgbClr val="C0C0C0"/>
                </a:highlight>
                <a:cs typeface="Arial"/>
              </a:rPr>
              <a:t>Solution</a:t>
            </a:r>
            <a:r>
              <a:rPr lang="en-US" sz="2800" dirty="0"/>
              <a:t>: 01 010 10101</a:t>
            </a:r>
          </a:p>
        </p:txBody>
      </p:sp>
    </p:spTree>
    <p:extLst>
      <p:ext uri="{BB962C8B-B14F-4D97-AF65-F5344CB8AC3E}">
        <p14:creationId xmlns:p14="http://schemas.microsoft.com/office/powerpoint/2010/main" val="328325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05906" y="880041"/>
            <a:ext cx="5646261" cy="6093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152"/>
            <a:r>
              <a:rPr lang="en-US" dirty="0"/>
              <a:t>Representation of Sets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046878" y="1655694"/>
            <a:ext cx="10098243" cy="4481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en-US" sz="2800" spc="-4" dirty="0">
                <a:solidFill>
                  <a:srgbClr val="FF0000"/>
                </a:solidFill>
                <a:highlight>
                  <a:srgbClr val="C0C0C0"/>
                </a:highlight>
                <a:cs typeface="Arial"/>
              </a:rPr>
              <a:t>Example: 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Let </a:t>
            </a:r>
            <a:r>
              <a:rPr lang="en-US" sz="2800" i="1" dirty="0">
                <a:cs typeface="Times New Roman" pitchFamily="18" charset="0"/>
              </a:rPr>
              <a:t>U</a:t>
            </a:r>
            <a:r>
              <a:rPr lang="en-US" sz="2800" dirty="0"/>
              <a:t> = {1,2,3,4,5,6,7,8,9,10}, and the ordering of elements of </a:t>
            </a:r>
            <a:r>
              <a:rPr lang="en-US" sz="2800" i="1" dirty="0">
                <a:cs typeface="Times New Roman" pitchFamily="18" charset="0"/>
              </a:rPr>
              <a:t>U</a:t>
            </a:r>
            <a:r>
              <a:rPr lang="en-US" sz="2800" dirty="0"/>
              <a:t> has the elements in increasing order; that is </a:t>
            </a:r>
            <a:r>
              <a:rPr lang="en-US" sz="2800" i="1" dirty="0"/>
              <a:t>a</a:t>
            </a:r>
            <a:r>
              <a:rPr lang="en-US" sz="2800" i="1" baseline="-25000" dirty="0"/>
              <a:t>i</a:t>
            </a:r>
            <a:r>
              <a:rPr lang="en-US" sz="2800" dirty="0"/>
              <a:t> = </a:t>
            </a:r>
            <a:r>
              <a:rPr lang="en-US" sz="2800" i="1" dirty="0" err="1"/>
              <a:t>i</a:t>
            </a:r>
            <a:r>
              <a:rPr lang="en-US" sz="2800" dirty="0"/>
              <a:t>. </a:t>
            </a:r>
          </a:p>
          <a:p>
            <a:pPr algn="just">
              <a:lnSpc>
                <a:spcPct val="80000"/>
              </a:lnSpc>
            </a:pPr>
            <a:endParaRPr lang="en-US" sz="2800" dirty="0"/>
          </a:p>
          <a:p>
            <a:pPr marL="658908" lvl="1" indent="-329454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What bit string represents the subset of all integers not exceeding 5 in </a:t>
            </a:r>
            <a:r>
              <a:rPr lang="en-US" sz="2800" i="1" dirty="0">
                <a:cs typeface="Times New Roman" pitchFamily="18" charset="0"/>
              </a:rPr>
              <a:t>U</a:t>
            </a:r>
            <a:r>
              <a:rPr lang="en-US" sz="2800" dirty="0"/>
              <a:t>?</a:t>
            </a:r>
          </a:p>
          <a:p>
            <a:pPr marL="658908" lvl="1" indent="-329454" algn="just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28446" lvl="1" indent="-414223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spc="-4" dirty="0">
                <a:solidFill>
                  <a:srgbClr val="FF0000"/>
                </a:solidFill>
                <a:highlight>
                  <a:srgbClr val="C0C0C0"/>
                </a:highlight>
                <a:cs typeface="Arial"/>
              </a:rPr>
              <a:t>Solution</a:t>
            </a:r>
            <a:r>
              <a:rPr lang="en-US" sz="2800" dirty="0"/>
              <a:t>: 11 1110 0000</a:t>
            </a:r>
          </a:p>
          <a:p>
            <a:pPr lvl="1" algn="just">
              <a:lnSpc>
                <a:spcPct val="80000"/>
              </a:lnSpc>
            </a:pPr>
            <a:endParaRPr lang="en-US" sz="2800" dirty="0"/>
          </a:p>
          <a:p>
            <a:pPr marL="658908" lvl="1" indent="-329454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What bit string represents the complement of the set {1,3,5,7,9}?</a:t>
            </a:r>
          </a:p>
          <a:p>
            <a:pPr marL="658908" lvl="1" indent="-329454" algn="just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28446" lvl="1" indent="-414223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spc="-4" dirty="0">
                <a:solidFill>
                  <a:srgbClr val="FF0000"/>
                </a:solidFill>
                <a:highlight>
                  <a:srgbClr val="C0C0C0"/>
                </a:highlight>
                <a:cs typeface="Arial"/>
              </a:rPr>
              <a:t>Solution</a:t>
            </a:r>
            <a:r>
              <a:rPr lang="en-US" sz="2800" dirty="0"/>
              <a:t>: 01 0101 0101</a:t>
            </a:r>
          </a:p>
        </p:txBody>
      </p:sp>
    </p:spTree>
    <p:extLst>
      <p:ext uri="{BB962C8B-B14F-4D97-AF65-F5344CB8AC3E}">
        <p14:creationId xmlns:p14="http://schemas.microsoft.com/office/powerpoint/2010/main" val="248326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10738" y="595567"/>
            <a:ext cx="7309807" cy="6647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152"/>
            <a:r>
              <a:rPr lang="en-US" sz="4800" dirty="0"/>
              <a:t>Representation of Sets</a:t>
            </a:r>
            <a:endParaRPr sz="4800" dirty="0"/>
          </a:p>
        </p:txBody>
      </p:sp>
      <p:sp>
        <p:nvSpPr>
          <p:cNvPr id="7" name="object 7"/>
          <p:cNvSpPr txBox="1"/>
          <p:nvPr/>
        </p:nvSpPr>
        <p:spPr>
          <a:xfrm>
            <a:off x="769671" y="1482046"/>
            <a:ext cx="11422329" cy="568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454" indent="-329454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spc="-4" dirty="0">
                <a:solidFill>
                  <a:srgbClr val="FF0000"/>
                </a:solidFill>
                <a:cs typeface="Arial"/>
              </a:rPr>
              <a:t>Union</a:t>
            </a:r>
            <a:r>
              <a:rPr lang="en-US" sz="2800" dirty="0"/>
              <a:t> of bit string is </a:t>
            </a:r>
            <a:r>
              <a:rPr lang="en-US" sz="2800" spc="-4" dirty="0">
                <a:solidFill>
                  <a:srgbClr val="FF0000"/>
                </a:solidFill>
                <a:cs typeface="Arial"/>
              </a:rPr>
              <a:t>bitwise OR  </a:t>
            </a:r>
          </a:p>
          <a:p>
            <a:pPr marL="329454" indent="-329454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spc="-4" dirty="0">
                <a:solidFill>
                  <a:srgbClr val="FF0000"/>
                </a:solidFill>
                <a:cs typeface="Arial"/>
              </a:rPr>
              <a:t>Intersection</a:t>
            </a:r>
            <a:r>
              <a:rPr lang="en-US" sz="2800" dirty="0"/>
              <a:t> of bit string is </a:t>
            </a:r>
            <a:r>
              <a:rPr lang="en-US" sz="2800" spc="-4" dirty="0">
                <a:solidFill>
                  <a:srgbClr val="FF0000"/>
                </a:solidFill>
                <a:cs typeface="Arial"/>
              </a:rPr>
              <a:t>bitwise AND </a:t>
            </a:r>
            <a:r>
              <a:rPr lang="en-US" sz="2800" dirty="0"/>
              <a:t>of the bit strings for the two sets.</a:t>
            </a:r>
          </a:p>
          <a:p>
            <a:pPr marL="329454" indent="-329454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spc="-4" dirty="0">
                <a:solidFill>
                  <a:srgbClr val="FF0000"/>
                </a:solidFill>
                <a:cs typeface="Arial"/>
              </a:rPr>
              <a:t>Example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Bit strings for 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		{1,2,3,4,5} = 11 1110 0000 and 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		{1,3,5,7,9}=10 1010 1010. 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Use bit strings to find the union and intersection of these sets.</a:t>
            </a: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sz="2800" dirty="0"/>
              <a:t>	</a:t>
            </a:r>
            <a:r>
              <a:rPr lang="en-US" sz="2800" spc="-4" dirty="0">
                <a:solidFill>
                  <a:srgbClr val="FF0000"/>
                </a:solidFill>
                <a:cs typeface="Arial"/>
              </a:rPr>
              <a:t>Union</a:t>
            </a:r>
            <a:r>
              <a:rPr lang="en-US" sz="2800" dirty="0"/>
              <a:t>:  </a:t>
            </a: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sz="2800" dirty="0"/>
              <a:t>11 1110 0000 V 10 1010 1010 = 11 1110 1010,  {1,2,3,4,5,7,9}</a:t>
            </a: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FF0000"/>
                </a:solidFill>
              </a:rPr>
              <a:t>	</a:t>
            </a:r>
            <a:r>
              <a:rPr lang="en-US" sz="2800" spc="-4" dirty="0">
                <a:solidFill>
                  <a:srgbClr val="FF0000"/>
                </a:solidFill>
                <a:cs typeface="Arial"/>
              </a:rPr>
              <a:t>Intersection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sz="2800" dirty="0"/>
              <a:t>11 1110 0000 </a:t>
            </a:r>
            <a:r>
              <a:rPr lang="el-GR" sz="2800" dirty="0"/>
              <a:t>Λ</a:t>
            </a:r>
            <a:r>
              <a:rPr lang="en-US" sz="2800" dirty="0"/>
              <a:t> 10 1010 1010 = 10 1010 0000,  {1,3,5} 	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94853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78302" y="1"/>
            <a:ext cx="9132498" cy="785004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Exercise 1</a:t>
            </a:r>
            <a:endParaRPr lang="en-US" b="1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6325" y="785005"/>
            <a:ext cx="94516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00" indent="-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Let 	U = {1, 2, 3, …, 10},	X = {1, 2, 3, 4, 5}</a:t>
            </a:r>
          </a:p>
          <a:p>
            <a:pPr marL="495300" indent="-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Y = {y | y = 2 x, x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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X},	Z = {z | z</a:t>
            </a:r>
            <a:r>
              <a:rPr lang="en-US" sz="2400" baseline="30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– 9 z + 14 = 0}</a:t>
            </a:r>
          </a:p>
          <a:p>
            <a:pPr marL="495300" indent="-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Enumerate:</a:t>
            </a:r>
          </a:p>
          <a:p>
            <a:pPr marL="495300" indent="-495300">
              <a:spcBef>
                <a:spcPct val="50000"/>
              </a:spcBef>
              <a:buFontTx/>
              <a:buAutoNum type="romanLcParenBoth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X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 Y		(ii) Y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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 Z		(iii) X – Z</a:t>
            </a:r>
          </a:p>
          <a:p>
            <a:pPr marL="495300" indent="-495300">
              <a:spcBef>
                <a:spcPct val="50000"/>
              </a:spcBef>
              <a:buFontTx/>
              <a:buAutoNum type="romanLcParenBoth"/>
            </a:pPr>
            <a:r>
              <a:rPr lang="en-US" sz="2400" dirty="0" err="1">
                <a:latin typeface="Cambria Math" pitchFamily="18" charset="0"/>
                <a:ea typeface="Cambria Math" pitchFamily="18" charset="0"/>
                <a:sym typeface="Math1" pitchFamily="2" charset="2"/>
              </a:rPr>
              <a:t>Y</a:t>
            </a:r>
            <a:r>
              <a:rPr lang="en-US" sz="2400" baseline="30000" dirty="0" err="1"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			(v) </a:t>
            </a:r>
            <a:r>
              <a:rPr lang="en-US" sz="2400" dirty="0" err="1">
                <a:latin typeface="Cambria Math" pitchFamily="18" charset="0"/>
                <a:ea typeface="Cambria Math" pitchFamily="18" charset="0"/>
                <a:sym typeface="Math1" pitchFamily="2" charset="2"/>
              </a:rPr>
              <a:t>X</a:t>
            </a:r>
            <a:r>
              <a:rPr lang="en-US" sz="2400" baseline="30000" dirty="0" err="1"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 – </a:t>
            </a:r>
            <a:r>
              <a:rPr lang="en-US" sz="2400" dirty="0" err="1">
                <a:latin typeface="Cambria Math" pitchFamily="18" charset="0"/>
                <a:ea typeface="Cambria Math" pitchFamily="18" charset="0"/>
                <a:sym typeface="Math1" pitchFamily="2" charset="2"/>
              </a:rPr>
              <a:t>Z</a:t>
            </a:r>
            <a:r>
              <a:rPr lang="en-US" sz="2400" baseline="30000" dirty="0" err="1"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		(vi) (X – Z)</a:t>
            </a:r>
            <a:r>
              <a:rPr lang="en-US" sz="2400" baseline="300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721214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37094" y="0"/>
            <a:ext cx="8761562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Exercise 2</a:t>
            </a:r>
            <a:endParaRPr lang="en-US" b="1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37094" y="783535"/>
            <a:ext cx="933090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Given the following universal set U and its two subsets P and Q, where</a:t>
            </a:r>
          </a:p>
          <a:p>
            <a:pPr marL="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U = {x | x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 Z,	0  x  10}</a:t>
            </a:r>
          </a:p>
          <a:p>
            <a:pPr marL="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P = {x  U | x is a prime number}</a:t>
            </a:r>
          </a:p>
          <a:p>
            <a:pPr marL="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Q = {x  U | x</a:t>
            </a:r>
            <a:r>
              <a:rPr lang="en-US" sz="2400" baseline="300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2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 &lt; 70}</a:t>
            </a:r>
          </a:p>
          <a:p>
            <a:pPr marL="1409700" lvl="2">
              <a:spcBef>
                <a:spcPct val="50000"/>
              </a:spcBef>
              <a:buFontTx/>
              <a:buAutoNum type="romanLcParenBoth"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Draw a Venn diagram for the above</a:t>
            </a:r>
          </a:p>
          <a:p>
            <a:pPr marL="1409700" lvl="2">
              <a:spcBef>
                <a:spcPct val="50000"/>
              </a:spcBef>
              <a:buFontTx/>
              <a:buAutoNum type="romanLcParenBoth"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List the elements in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aseline="30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c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Q</a:t>
            </a:r>
          </a:p>
        </p:txBody>
      </p:sp>
    </p:spTree>
    <p:extLst>
      <p:ext uri="{BB962C8B-B14F-4D97-AF65-F5344CB8AC3E}">
        <p14:creationId xmlns:p14="http://schemas.microsoft.com/office/powerpoint/2010/main" val="2444249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70317" y="0"/>
            <a:ext cx="8229600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Exercise 3</a:t>
            </a:r>
            <a:endParaRPr lang="en-US" b="1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0829" y="783535"/>
            <a:ext cx="105414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Let U = {1, 2, 3, 4, 5}, C = {1, 4} and A and B are non empty sets. Find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in each of the following:</a:t>
            </a:r>
          </a:p>
          <a:p>
            <a:pPr marL="495300" indent="-495300">
              <a:spcBef>
                <a:spcPct val="50000"/>
              </a:spcBef>
              <a:buClr>
                <a:schemeClr val="tx1"/>
              </a:buClr>
              <a:buFontTx/>
              <a:buAutoNum type="romanLcParenBoth"/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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B = U,	A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B =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	and	B = {1}</a:t>
            </a:r>
          </a:p>
          <a:p>
            <a:pPr marL="495300" indent="-495300">
              <a:spcBef>
                <a:spcPct val="50000"/>
              </a:spcBef>
              <a:buClr>
                <a:schemeClr val="tx1"/>
              </a:buClr>
              <a:buFontTx/>
              <a:buAutoNum type="romanLcParenBoth"/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A  B	and	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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B = {3, 5}</a:t>
            </a:r>
          </a:p>
          <a:p>
            <a:pPr marL="495300" indent="-495300">
              <a:spcBef>
                <a:spcPct val="50000"/>
              </a:spcBef>
              <a:buClr>
                <a:schemeClr val="tx1"/>
              </a:buClr>
              <a:buFontTx/>
              <a:buAutoNum type="romanLcParenBoth"/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A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B = {4},	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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B = {2, 3, 4}	and 	B 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</a:t>
            </a: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C = {1,2,3, 4}</a:t>
            </a:r>
          </a:p>
          <a:p>
            <a:pPr marL="495300" indent="-495300">
              <a:spcBef>
                <a:spcPct val="50000"/>
              </a:spcBef>
              <a:buClr>
                <a:schemeClr val="tx1"/>
              </a:buClr>
              <a:buFontTx/>
              <a:buAutoNum type="romanLcParenBoth"/>
            </a:pPr>
            <a:r>
              <a:rPr lang="en-US" sz="2400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A and B are disjoint, B and C are disjoint, and the union of A and B is the set {1, 2}.</a:t>
            </a:r>
          </a:p>
        </p:txBody>
      </p:sp>
    </p:spTree>
    <p:extLst>
      <p:ext uri="{BB962C8B-B14F-4D97-AF65-F5344CB8AC3E}">
        <p14:creationId xmlns:p14="http://schemas.microsoft.com/office/powerpoint/2010/main" val="15584441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90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Venn Diagram</a:t>
            </a:r>
            <a:endParaRPr lang="en-US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83" y="1151324"/>
            <a:ext cx="10515600" cy="2437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 way of graphically representing the elements of a set: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 box (rectangle) represents the universal set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 circle (disks) representing the sets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35206-3F97-E961-E21B-9EE6BDCF0197}"/>
              </a:ext>
            </a:extLst>
          </p:cNvPr>
          <p:cNvSpPr txBox="1"/>
          <p:nvPr/>
        </p:nvSpPr>
        <p:spPr>
          <a:xfrm>
            <a:off x="1216437" y="3429000"/>
            <a:ext cx="5857223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From the Venn diagram we can note: 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Sets may intersect each other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 set may be the subset of other or not 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If a set is the subset of the other then in VENN diagram  the set is totally contained in the other set</a:t>
            </a:r>
          </a:p>
          <a:p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5E945-7DC1-748B-D9F3-914F8010E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414" y="2768238"/>
            <a:ext cx="450532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364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04822" y="0"/>
            <a:ext cx="8229600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Exercises… VENN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4822" y="783535"/>
            <a:ext cx="101475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b="1" u="sng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Problem</a:t>
            </a:r>
          </a:p>
          <a:p>
            <a:pPr algn="just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A number of computer users are surveyed to find out if they have a printer, modem or scanner. Draw separate Venn diagrams and shade the areas, which represent the following configurations: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Modem and printer but no scanner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Scanner but no printer and no modem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Scanner or printer but no modem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No modem and no printer</a:t>
            </a:r>
          </a:p>
          <a:p>
            <a:pPr algn="just">
              <a:spcBef>
                <a:spcPct val="50000"/>
              </a:spcBef>
            </a:pPr>
            <a:endParaRPr lang="en-US" sz="2400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549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47955" y="66167"/>
            <a:ext cx="8229600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Exercises… VENN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6875" y="849702"/>
            <a:ext cx="101619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Of 21 typists in an office, 5 use all types of typing accessories (M: manual typewriters, E: electronic typewriters and W: word processors; 9 use E and W; 7 use M and W; 6 use M and E; but no one uses M only.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lphaL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Represent this information in a Venn Diagram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lphaL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If the same number of typists use electronic as use word processors, then</a:t>
            </a:r>
          </a:p>
          <a:p>
            <a:pPr marL="971550" lvl="1" indent="-514350" algn="just">
              <a:spcBef>
                <a:spcPct val="50000"/>
              </a:spcBef>
              <a:buFont typeface="+mj-lt"/>
              <a:buAutoNum type="romanL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How many use word processors only?	</a:t>
            </a:r>
          </a:p>
          <a:p>
            <a:pPr marL="971550" lvl="1" indent="-514350" algn="just">
              <a:spcBef>
                <a:spcPct val="50000"/>
              </a:spcBef>
              <a:buFont typeface="+mj-lt"/>
              <a:buAutoNum type="romanL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How many use electronic typewriters?</a:t>
            </a:r>
          </a:p>
        </p:txBody>
      </p:sp>
    </p:spTree>
    <p:extLst>
      <p:ext uri="{BB962C8B-B14F-4D97-AF65-F5344CB8AC3E}">
        <p14:creationId xmlns:p14="http://schemas.microsoft.com/office/powerpoint/2010/main" val="18679726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91087" y="-71855"/>
            <a:ext cx="8229600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Exercises using VENN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226" y="711681"/>
            <a:ext cx="1033444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In a school, 100 students have access to three software packages, A, B and C; 28 did not use any software; 8 used only packages A; 26 used only packages B; 7 used only packages C; 10 used all three packages and13 used both A and B: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Draw a Venn diagram with all sets enumerated as for as possible. Label the two subsets which cannot be enumerated as x and y, in any order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If twice as many students used package B as package A, write down a pair of simultaneous equations in x and y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Solve these equations to find x and y</a:t>
            </a:r>
          </a:p>
          <a:p>
            <a:pPr marL="457200" indent="-457200" algn="just">
              <a:spcBef>
                <a:spcPct val="50000"/>
              </a:spcBef>
              <a:buFont typeface="+mj-lt"/>
              <a:buAutoNum type="arabicPeriod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How many students used package C?</a:t>
            </a:r>
          </a:p>
        </p:txBody>
      </p:sp>
    </p:spTree>
    <p:extLst>
      <p:ext uri="{BB962C8B-B14F-4D97-AF65-F5344CB8AC3E}">
        <p14:creationId xmlns:p14="http://schemas.microsoft.com/office/powerpoint/2010/main" val="40566895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15041" y="0"/>
            <a:ext cx="8229600" cy="783535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Exercise … Venn Diagram</a:t>
            </a:r>
            <a:endParaRPr lang="en-US" b="1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6927" y="783535"/>
            <a:ext cx="103171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00" indent="-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If U = {1, 2, 3, 4, 5, 6, 7, 8}, A = {1, 2, 4, 5},</a:t>
            </a:r>
          </a:p>
          <a:p>
            <a:pPr marL="495300" indent="-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B = {2, 3, 5, 6} and C = {4, 5, 6, 7} then</a:t>
            </a:r>
          </a:p>
          <a:p>
            <a:pPr marL="495300" indent="-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Use a Venn diagram to represent the following:</a:t>
            </a:r>
          </a:p>
          <a:p>
            <a:pPr marL="514350" indent="-514350">
              <a:spcBef>
                <a:spcPct val="50000"/>
              </a:spcBef>
              <a:buClr>
                <a:schemeClr val="tx1"/>
              </a:buClr>
              <a:buFont typeface="+mj-lt"/>
              <a:buAutoNum type="romanLcPeriod"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A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B)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C</a:t>
            </a:r>
            <a:r>
              <a:rPr lang="en-US" sz="2400" baseline="30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endParaRPr lang="en-US" sz="2400" baseline="30000" dirty="0">
              <a:solidFill>
                <a:srgbClr val="C00000"/>
              </a:solidFill>
              <a:latin typeface="Cambria Math" pitchFamily="18" charset="0"/>
              <a:ea typeface="Cambria Math" pitchFamily="18" charset="0"/>
              <a:sym typeface="WP MathA" pitchFamily="2" charset="2"/>
            </a:endParaRPr>
          </a:p>
          <a:p>
            <a:pPr marL="514350" indent="-514350">
              <a:spcBef>
                <a:spcPct val="50000"/>
              </a:spcBef>
              <a:buClr>
                <a:schemeClr val="tx1"/>
              </a:buClr>
              <a:buFont typeface="+mj-lt"/>
              <a:buAutoNum type="romanLcPeriod"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A</a:t>
            </a:r>
            <a:r>
              <a:rPr lang="en-US" sz="2400" baseline="30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WP MathA" pitchFamily="2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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(B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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C)</a:t>
            </a:r>
          </a:p>
          <a:p>
            <a:pPr marL="514350" indent="-514350">
              <a:spcBef>
                <a:spcPct val="50000"/>
              </a:spcBef>
              <a:buClr>
                <a:schemeClr val="tx1"/>
              </a:buClr>
              <a:buFont typeface="+mj-lt"/>
              <a:buAutoNum type="romanLcPeriod"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(A – B)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C</a:t>
            </a:r>
          </a:p>
          <a:p>
            <a:pPr marL="514350" indent="-514350">
              <a:spcBef>
                <a:spcPct val="50000"/>
              </a:spcBef>
              <a:buClr>
                <a:schemeClr val="tx1"/>
              </a:buClr>
              <a:buFont typeface="+mj-lt"/>
              <a:buAutoNum type="romanLcPeriod"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A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B</a:t>
            </a:r>
            <a:r>
              <a:rPr lang="en-US" sz="2400" baseline="30000" dirty="0" err="1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)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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 C</a:t>
            </a:r>
            <a:r>
              <a:rPr lang="en-US" sz="2400" baseline="30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endParaRPr lang="en-US" sz="2400" baseline="30000" dirty="0">
              <a:solidFill>
                <a:srgbClr val="C00000"/>
              </a:solidFill>
              <a:latin typeface="Cambria Math" pitchFamily="18" charset="0"/>
              <a:ea typeface="Cambria Math" pitchFamily="18" charset="0"/>
              <a:sym typeface="WP MathA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552613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3465" y="0"/>
            <a:ext cx="10731260" cy="859735"/>
          </a:xfrm>
        </p:spPr>
        <p:txBody>
          <a:bodyPr>
            <a:noAutofit/>
          </a:bodyPr>
          <a:lstStyle/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Proving Set Identities By Venn Diagrams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275" y="859735"/>
            <a:ext cx="97507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00" indent="-495300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Prove the following using Venn Diagrams:</a:t>
            </a:r>
          </a:p>
          <a:p>
            <a:pPr marL="495300" indent="-495300">
              <a:spcBef>
                <a:spcPct val="50000"/>
              </a:spcBef>
              <a:buFontTx/>
              <a:buAutoNum type="romanLcParenBoth"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A – (A – B) =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A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WP MathA" pitchFamily="2" charset="2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 B</a:t>
            </a:r>
          </a:p>
          <a:p>
            <a:pPr marL="495300" indent="-495300">
              <a:spcBef>
                <a:spcPct val="50000"/>
              </a:spcBef>
              <a:buFontTx/>
              <a:buAutoNum type="romanLcParenBoth"/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(A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WP MathA" pitchFamily="2" charset="2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 B)</a:t>
            </a:r>
            <a:r>
              <a:rPr lang="en-US" sz="2400" baseline="300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 = A</a:t>
            </a:r>
            <a:r>
              <a:rPr lang="en-US" sz="2400" baseline="300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 </a:t>
            </a:r>
            <a:r>
              <a:rPr lang="en-US" sz="2400" dirty="0" err="1">
                <a:latin typeface="Cambria Math" pitchFamily="18" charset="0"/>
                <a:ea typeface="Cambria Math" pitchFamily="18" charset="0"/>
                <a:sym typeface="Symbol" pitchFamily="18" charset="2"/>
              </a:rPr>
              <a:t>B</a:t>
            </a:r>
            <a:r>
              <a:rPr lang="en-US" sz="2400" baseline="30000" dirty="0" err="1">
                <a:latin typeface="Cambria Math" pitchFamily="18" charset="0"/>
                <a:ea typeface="Cambria Math" pitchFamily="18" charset="0"/>
                <a:sym typeface="Symbol" pitchFamily="18" charset="2"/>
              </a:rPr>
              <a:t>c</a:t>
            </a:r>
            <a:endParaRPr lang="en-US" sz="2400" baseline="30000" dirty="0">
              <a:latin typeface="Cambria Math" pitchFamily="18" charset="0"/>
              <a:ea typeface="Cambria Math" pitchFamily="18" charset="0"/>
              <a:sym typeface="Symbol" pitchFamily="18" charset="2"/>
            </a:endParaRPr>
          </a:p>
          <a:p>
            <a:pPr marL="495300" indent="-495300">
              <a:spcBef>
                <a:spcPct val="50000"/>
              </a:spcBef>
              <a:buFontTx/>
              <a:buAutoNum type="romanLcParenBoth"/>
            </a:pP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A – B =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A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WP MathA" pitchFamily="2" charset="2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Symbol" pitchFamily="18" charset="2"/>
              </a:rPr>
              <a:t></a:t>
            </a:r>
            <a:r>
              <a:rPr lang="en-US" sz="2400" dirty="0">
                <a:latin typeface="Cambria Math" pitchFamily="18" charset="0"/>
                <a:ea typeface="Cambria Math" pitchFamily="18" charset="0"/>
                <a:sym typeface="Math1" pitchFamily="2" charset="2"/>
              </a:rPr>
              <a:t> </a:t>
            </a:r>
            <a:r>
              <a:rPr lang="en-US" sz="2400" dirty="0" err="1">
                <a:latin typeface="Cambria Math" pitchFamily="18" charset="0"/>
                <a:ea typeface="Cambria Math" pitchFamily="18" charset="0"/>
                <a:sym typeface="Math1" pitchFamily="2" charset="2"/>
              </a:rPr>
              <a:t>B</a:t>
            </a:r>
            <a:r>
              <a:rPr lang="en-US" sz="2400" baseline="30000" dirty="0" err="1">
                <a:latin typeface="Cambria Math" pitchFamily="18" charset="0"/>
                <a:ea typeface="Cambria Math" pitchFamily="18" charset="0"/>
                <a:sym typeface="Math1" pitchFamily="2" charset="2"/>
              </a:rPr>
              <a:t>c</a:t>
            </a:r>
            <a:endParaRPr lang="en-US" sz="2400" baseline="30000" dirty="0">
              <a:latin typeface="Cambria Math" pitchFamily="18" charset="0"/>
              <a:ea typeface="Cambria Math" pitchFamily="18" charset="0"/>
              <a:sym typeface="Math1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811554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5">
                <a:extLst>
                  <a:ext uri="{FF2B5EF4-FFF2-40B4-BE49-F238E27FC236}">
                    <a16:creationId xmlns:a16="http://schemas.microsoft.com/office/drawing/2014/main" id="{04AF9424-5493-457B-8D96-0C068D618B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62852" y="1432487"/>
                <a:ext cx="9075564" cy="2976809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800" dirty="0">
                    <a:latin typeface="+mn-lt"/>
                  </a:rPr>
                  <a:t>Shade the given diagram for the following expressions</a:t>
                </a:r>
                <a:br>
                  <a:rPr lang="en-US" sz="2800" dirty="0">
                    <a:latin typeface="+mn-lt"/>
                  </a:rPr>
                </a:br>
                <a:r>
                  <a:rPr lang="en-US" sz="2800" dirty="0">
                    <a:latin typeface="+mn-lt"/>
                  </a:rPr>
                  <a:t> </a:t>
                </a:r>
                <a:br>
                  <a:rPr lang="en-US" sz="2800" b="1" i="1" dirty="0">
                    <a:solidFill>
                      <a:srgbClr val="FF0000"/>
                    </a:solidFill>
                    <a:latin typeface="+mn-lt"/>
                  </a:rPr>
                </a:b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FF0000"/>
                        </a:solidFill>
                        <a:latin typeface="+mn-lt"/>
                      </a:rPr>
                      <m:t>𝟏</m:t>
                    </m:r>
                    <m:r>
                      <a:rPr lang="en-US" sz="2800" b="1">
                        <a:solidFill>
                          <a:srgbClr val="FF0000"/>
                        </a:solidFill>
                        <a:latin typeface="+mn-lt"/>
                      </a:rPr>
                      <m:t>.  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+mn-lt"/>
                          </a:rPr>
                        </m:ctrlPr>
                      </m:dPr>
                      <m:e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+mn-lt"/>
                          </a:rPr>
                          <m:t>𝐴</m:t>
                        </m:r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+mn-lt"/>
                          </a:rPr>
                          <m:t>∩</m:t>
                        </m:r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+mn-lt"/>
                          </a:rPr>
                          <m:t>𝐵</m:t>
                        </m:r>
                      </m:e>
                    </m:d>
                    <m:r>
                      <a:rPr lang="en-US" sz="2800" b="1">
                        <a:solidFill>
                          <a:schemeClr val="tx1"/>
                        </a:solidFill>
                        <a:latin typeface="+mn-lt"/>
                      </a:rPr>
                      <m:t>∩</m:t>
                    </m:r>
                    <m:r>
                      <a:rPr lang="en-US" sz="2800" b="1">
                        <a:solidFill>
                          <a:schemeClr val="tx1"/>
                        </a:solidFill>
                        <a:latin typeface="+mn-lt"/>
                      </a:rPr>
                      <m:t>𝐶</m:t>
                    </m:r>
                    <m:r>
                      <a:rPr lang="en-US" sz="2800" b="1">
                        <a:solidFill>
                          <a:schemeClr val="tx1"/>
                        </a:solidFill>
                        <a:latin typeface="+mn-lt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n-lt"/>
                  </a:rPr>
                  <a:t>        </a:t>
                </a:r>
                <a:r>
                  <a:rPr lang="en-US" sz="2800" b="1" dirty="0">
                    <a:solidFill>
                      <a:srgbClr val="FF0000"/>
                    </a:solidFill>
                    <a:latin typeface="+mn-lt"/>
                  </a:rPr>
                  <a:t>2.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latin typeface="+mn-lt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dirty="0">
                            <a:latin typeface="+mn-lt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b="0" i="0" dirty="0" smtClean="0">
                            <a:latin typeface="+mn-lt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dirty="0" smtClean="0">
                        <a:latin typeface="+mn-lt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sz="2800" b="0" i="1" dirty="0" smtClean="0">
                            <a:latin typeface="+mn-lt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+mn-lt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i="1">
                            <a:latin typeface="+mn-lt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sz="2800" i="1">
                            <a:latin typeface="+mn-lt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br>
                  <a:rPr lang="en-US" sz="2800" b="0" dirty="0">
                    <a:latin typeface="+mn-lt"/>
                    <a:ea typeface="Cambria Math" panose="02040503050406030204" pitchFamily="18" charset="0"/>
                  </a:rPr>
                </a:br>
                <a:r>
                  <a:rPr lang="en-US" sz="2800" b="1" dirty="0">
                    <a:solidFill>
                      <a:srgbClr val="FF0000"/>
                    </a:solidFill>
                    <a:latin typeface="+mn-lt"/>
                  </a:rPr>
                  <a:t>3.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+mn-lt"/>
                          </a:rPr>
                        </m:ctrlPr>
                      </m:dPr>
                      <m:e>
                        <m:r>
                          <a:rPr lang="en-US" sz="2800" i="1">
                            <a:latin typeface="+mn-lt"/>
                          </a:rPr>
                          <m:t>𝐴</m:t>
                        </m:r>
                        <m:r>
                          <a:rPr lang="en-US" sz="2800" b="0" i="1" smtClean="0">
                            <a:latin typeface="+mn-lt"/>
                          </a:rPr>
                          <m:t>−</m:t>
                        </m:r>
                        <m:r>
                          <a:rPr lang="en-US" sz="2800" i="1">
                            <a:latin typeface="+mn-lt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800" i="1">
                        <a:latin typeface="+mn-lt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sz="2800" i="1">
                        <a:latin typeface="+mn-lt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latin typeface="+mn-lt"/>
                  </a:rPr>
                  <a:t>         </a:t>
                </a:r>
                <a:r>
                  <a:rPr lang="en-US" sz="2800" b="1" dirty="0">
                    <a:solidFill>
                      <a:srgbClr val="FF0000"/>
                    </a:solidFill>
                    <a:latin typeface="+mn-lt"/>
                  </a:rPr>
                  <a:t>4.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+mn-lt"/>
                          </a:rPr>
                        </m:ctrlPr>
                      </m:dPr>
                      <m:e>
                        <m:r>
                          <a:rPr lang="en-US" sz="2800" i="1">
                            <a:latin typeface="+mn-lt"/>
                          </a:rPr>
                          <m:t>𝐴</m:t>
                        </m:r>
                        <m:r>
                          <a:rPr lang="en-US" sz="2800" i="1">
                            <a:latin typeface="+mn-lt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800" i="1">
                            <a:latin typeface="+mn-lt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+mn-lt"/>
                            <a:ea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800" i="1">
                        <a:latin typeface="+mn-lt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800" i="1">
                        <a:latin typeface="+mn-lt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800" i="1">
                        <a:latin typeface="+mn-lt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latin typeface="+mn-lt"/>
                  </a:rPr>
                  <a:t> </a:t>
                </a:r>
                <a:br>
                  <a:rPr lang="en-US" sz="2800" dirty="0">
                    <a:latin typeface="+mn-lt"/>
                  </a:rPr>
                </a:br>
                <a:endParaRPr lang="en-PK" sz="2800" dirty="0">
                  <a:latin typeface="+mn-lt"/>
                </a:endParaRPr>
              </a:p>
            </p:txBody>
          </p:sp>
        </mc:Choice>
        <mc:Fallback>
          <p:sp>
            <p:nvSpPr>
              <p:cNvPr id="6" name="Title 5">
                <a:extLst>
                  <a:ext uri="{FF2B5EF4-FFF2-40B4-BE49-F238E27FC236}">
                    <a16:creationId xmlns:a16="http://schemas.microsoft.com/office/drawing/2014/main" id="{04AF9424-5493-457B-8D96-0C068D618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62852" y="1432487"/>
                <a:ext cx="9075564" cy="2976809"/>
              </a:xfrm>
              <a:blipFill>
                <a:blip r:embed="rId2"/>
                <a:stretch>
                  <a:fillRect l="-1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BC38CE-9058-4911-9037-2A88AB0EC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051" y="548695"/>
            <a:ext cx="9649365" cy="966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dirty="0">
                <a:latin typeface="+mj-lt"/>
              </a:rPr>
              <a:t>Shading Venn diagrams with 3 sets</a:t>
            </a:r>
            <a:endParaRPr lang="en-PK" sz="4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0A564-4BEB-451A-A6A1-F8727592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58228" y="4326524"/>
            <a:ext cx="6075544" cy="242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039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8980" y="780348"/>
            <a:ext cx="6826420" cy="750864"/>
          </a:xfrm>
          <a:prstGeom prst="rect">
            <a:avLst/>
          </a:prstGeom>
        </p:spPr>
        <p:txBody>
          <a:bodyPr vert="horz" wrap="square" lIns="0" tIns="12082" rIns="0" bIns="0" rtlCol="0">
            <a:spAutoFit/>
          </a:bodyPr>
          <a:lstStyle/>
          <a:p>
            <a:pPr marL="11506">
              <a:spcBef>
                <a:spcPts val="95"/>
              </a:spcBef>
            </a:pPr>
            <a:r>
              <a:rPr lang="en-US" sz="4800" dirty="0">
                <a:cs typeface="Arial"/>
              </a:rPr>
              <a:t>More </a:t>
            </a:r>
            <a:r>
              <a:rPr sz="4800" dirty="0">
                <a:latin typeface="+mj-lt"/>
                <a:cs typeface="Arial"/>
              </a:rPr>
              <a:t>Practice</a:t>
            </a:r>
            <a:r>
              <a:rPr sz="4800" spc="-91" dirty="0">
                <a:latin typeface="+mj-lt"/>
                <a:cs typeface="Arial"/>
              </a:rPr>
              <a:t> </a:t>
            </a:r>
            <a:r>
              <a:rPr sz="4800" dirty="0">
                <a:latin typeface="+mj-lt"/>
                <a:cs typeface="Arial"/>
              </a:rPr>
              <a:t>questions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C89F051-2172-4CF1-8C61-95D5E955336D}"/>
              </a:ext>
            </a:extLst>
          </p:cNvPr>
          <p:cNvSpPr txBox="1"/>
          <p:nvPr/>
        </p:nvSpPr>
        <p:spPr>
          <a:xfrm>
            <a:off x="1817945" y="1885743"/>
            <a:ext cx="9425017" cy="1543257"/>
          </a:xfrm>
          <a:prstGeom prst="rect">
            <a:avLst/>
          </a:prstGeom>
        </p:spPr>
        <p:txBody>
          <a:bodyPr vert="horz" wrap="square" lIns="0" tIns="11507" rIns="0" bIns="0" rtlCol="0">
            <a:spAutoFit/>
          </a:bodyPr>
          <a:lstStyle/>
          <a:p>
            <a:pPr marL="11506">
              <a:spcBef>
                <a:spcPts val="91"/>
              </a:spcBef>
            </a:pPr>
            <a:r>
              <a:rPr lang="en-US" sz="3262" dirty="0">
                <a:solidFill>
                  <a:srgbClr val="FF0000"/>
                </a:solidFill>
                <a:cs typeface="Calibri"/>
              </a:rPr>
              <a:t>Exercise </a:t>
            </a:r>
            <a:r>
              <a:rPr sz="3262" dirty="0">
                <a:solidFill>
                  <a:srgbClr val="FF0000"/>
                </a:solidFill>
                <a:cs typeface="Calibri"/>
              </a:rPr>
              <a:t>2.</a:t>
            </a:r>
            <a:r>
              <a:rPr lang="en-US" sz="3262" dirty="0">
                <a:solidFill>
                  <a:srgbClr val="FF0000"/>
                </a:solidFill>
                <a:cs typeface="Calibri"/>
              </a:rPr>
              <a:t>2</a:t>
            </a:r>
            <a:r>
              <a:rPr sz="3262" dirty="0">
                <a:solidFill>
                  <a:srgbClr val="FF0000"/>
                </a:solidFill>
                <a:cs typeface="Calibri"/>
              </a:rPr>
              <a:t>:</a:t>
            </a:r>
            <a:r>
              <a:rPr sz="3262" spc="9" dirty="0">
                <a:solidFill>
                  <a:srgbClr val="FF0000"/>
                </a:solidFill>
                <a:cs typeface="Calibri"/>
              </a:rPr>
              <a:t> </a:t>
            </a:r>
            <a:endParaRPr lang="en-US" sz="3262" spc="9" dirty="0">
              <a:solidFill>
                <a:srgbClr val="FF0000"/>
              </a:solidFill>
              <a:cs typeface="Calibri"/>
            </a:endParaRPr>
          </a:p>
          <a:p>
            <a:pPr marL="11506">
              <a:spcBef>
                <a:spcPts val="91"/>
              </a:spcBef>
            </a:pPr>
            <a:endParaRPr lang="en-US" sz="3262" spc="9" dirty="0">
              <a:solidFill>
                <a:srgbClr val="FF0000"/>
              </a:solidFill>
              <a:cs typeface="Calibri"/>
            </a:endParaRPr>
          </a:p>
          <a:p>
            <a:pPr marL="11506">
              <a:spcBef>
                <a:spcPts val="91"/>
              </a:spcBef>
            </a:pPr>
            <a:r>
              <a:rPr lang="en-US" sz="3262" spc="9" dirty="0">
                <a:solidFill>
                  <a:srgbClr val="FF0000"/>
                </a:solidFill>
                <a:cs typeface="Calibri"/>
              </a:rPr>
              <a:t>Questions : </a:t>
            </a:r>
            <a:r>
              <a:rPr lang="en-US" sz="3262" spc="-5" dirty="0">
                <a:latin typeface="Calibri"/>
                <a:cs typeface="Calibri"/>
              </a:rPr>
              <a:t>3,5,9,13,17,27,29</a:t>
            </a:r>
            <a:endParaRPr sz="3262" dirty="0"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841248" y="365760"/>
            <a:ext cx="512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3425AC-ED1E-40F1-8FF4-F3357609CC0E}"/>
              </a:ext>
            </a:extLst>
          </p:cNvPr>
          <p:cNvSpPr txBox="1">
            <a:spLocks/>
          </p:cNvSpPr>
          <p:nvPr/>
        </p:nvSpPr>
        <p:spPr>
          <a:xfrm>
            <a:off x="684934" y="1691640"/>
            <a:ext cx="6393662" cy="48693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topics we covered: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Intro to 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Expressing 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Subsets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Power 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Cardinality of 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Cartesian Product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Set Operations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Membership Tables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Venn Diagrams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Practice Questions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062828042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19688</TotalTime>
  <Words>5324</Words>
  <Application>Microsoft Office PowerPoint</Application>
  <PresentationFormat>Widescreen</PresentationFormat>
  <Paragraphs>686</Paragraphs>
  <Slides>68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9" baseType="lpstr">
      <vt:lpstr>Arial</vt:lpstr>
      <vt:lpstr>Calibri</vt:lpstr>
      <vt:lpstr>Cambria</vt:lpstr>
      <vt:lpstr>Cambria Math</vt:lpstr>
      <vt:lpstr>Century Gothic</vt:lpstr>
      <vt:lpstr>Comic Sans MS</vt:lpstr>
      <vt:lpstr>Consolas</vt:lpstr>
      <vt:lpstr>Symbol</vt:lpstr>
      <vt:lpstr>Times New Roman</vt:lpstr>
      <vt:lpstr>Wingdings</vt:lpstr>
      <vt:lpstr>ShapesVTI</vt:lpstr>
      <vt:lpstr>PowerPoint Presentation</vt:lpstr>
      <vt:lpstr>Section 2.1   Sets</vt:lpstr>
      <vt:lpstr>Set … The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Subsets</vt:lpstr>
      <vt:lpstr>Subsets … Examples</vt:lpstr>
      <vt:lpstr>Exercise</vt:lpstr>
      <vt:lpstr>Proper Subsets</vt:lpstr>
      <vt:lpstr>Set Equality</vt:lpstr>
      <vt:lpstr>PowerPoint Presentation</vt:lpstr>
      <vt:lpstr>PowerPoint Presentation</vt:lpstr>
      <vt:lpstr>Power Set: 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Set Notation with Quantifiers</vt:lpstr>
      <vt:lpstr>Example </vt:lpstr>
      <vt:lpstr>Truth Sets and Quantifiers</vt:lpstr>
      <vt:lpstr>Truth Sets and Quantifiers</vt:lpstr>
      <vt:lpstr>Practice </vt:lpstr>
      <vt:lpstr>PowerPoint Presentation</vt:lpstr>
      <vt:lpstr>Section 2.2   Set Operations</vt:lpstr>
      <vt:lpstr>PowerPoint Presentation</vt:lpstr>
      <vt:lpstr>Union</vt:lpstr>
      <vt:lpstr>Membership for Union</vt:lpstr>
      <vt:lpstr>Intersection</vt:lpstr>
      <vt:lpstr>Set Operations … Membership Table</vt:lpstr>
      <vt:lpstr>Set Operations</vt:lpstr>
      <vt:lpstr>Disjoint Sets</vt:lpstr>
      <vt:lpstr>Difference</vt:lpstr>
      <vt:lpstr>Membership for Difference</vt:lpstr>
      <vt:lpstr>Set Operations … Symmetric Difference</vt:lpstr>
      <vt:lpstr>Membership for Symmetric Difference</vt:lpstr>
      <vt:lpstr>Complement of a Set</vt:lpstr>
      <vt:lpstr>Membership Table for Ac</vt:lpstr>
      <vt:lpstr>Examples</vt:lpstr>
      <vt:lpstr>Summary of Set Operations</vt:lpstr>
      <vt:lpstr>Summary of Membership Tables</vt:lpstr>
      <vt:lpstr>Membership Table Example</vt:lpstr>
      <vt:lpstr>Generalized Union</vt:lpstr>
      <vt:lpstr>Generalized Intersection</vt:lpstr>
      <vt:lpstr>Representation of Sets</vt:lpstr>
      <vt:lpstr>Representation of Sets</vt:lpstr>
      <vt:lpstr>Representation of Sets</vt:lpstr>
      <vt:lpstr>Exercise 1</vt:lpstr>
      <vt:lpstr>Exercise 2</vt:lpstr>
      <vt:lpstr>Exercise 3</vt:lpstr>
      <vt:lpstr>Venn Diagram</vt:lpstr>
      <vt:lpstr>Exercises… VENN Diagram</vt:lpstr>
      <vt:lpstr>Exercises… VENN Diagram</vt:lpstr>
      <vt:lpstr>Exercises using VENN Diagram</vt:lpstr>
      <vt:lpstr>Exercise … Venn Diagram</vt:lpstr>
      <vt:lpstr>Proving Set Identities By Venn Diagrams</vt:lpstr>
      <vt:lpstr>Shade the given diagram for the following expressions   1.  (A∩B)∩C′        2. A^′∪(B∪C) 3. (A-B)∩C         4. (A∩B′)∪C′  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CC2031  Digital Logic Design Section – V11</dc:title>
  <dc:creator>IQRA JAVED</dc:creator>
  <cp:lastModifiedBy>IQRA JAVED</cp:lastModifiedBy>
  <cp:revision>95</cp:revision>
  <cp:lastPrinted>2024-03-28T06:21:38Z</cp:lastPrinted>
  <dcterms:created xsi:type="dcterms:W3CDTF">2023-10-03T05:27:31Z</dcterms:created>
  <dcterms:modified xsi:type="dcterms:W3CDTF">2025-04-24T05:27:43Z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