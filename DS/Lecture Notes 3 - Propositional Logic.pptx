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8" r:id="rId1"/>
  </p:sldMasterIdLst>
  <p:notesMasterIdLst>
    <p:notesMasterId r:id="rId92"/>
  </p:notesMasterIdLst>
  <p:handoutMasterIdLst>
    <p:handoutMasterId r:id="rId93"/>
  </p:handoutMasterIdLst>
  <p:sldIdLst>
    <p:sldId id="3890" r:id="rId2"/>
    <p:sldId id="3835" r:id="rId3"/>
    <p:sldId id="3891" r:id="rId4"/>
    <p:sldId id="3892" r:id="rId5"/>
    <p:sldId id="264" r:id="rId6"/>
    <p:sldId id="3856" r:id="rId7"/>
    <p:sldId id="703" r:id="rId8"/>
    <p:sldId id="262" r:id="rId9"/>
    <p:sldId id="263" r:id="rId10"/>
    <p:sldId id="3878" r:id="rId11"/>
    <p:sldId id="266" r:id="rId12"/>
    <p:sldId id="424" r:id="rId13"/>
    <p:sldId id="3879" r:id="rId14"/>
    <p:sldId id="300" r:id="rId15"/>
    <p:sldId id="301" r:id="rId16"/>
    <p:sldId id="302" r:id="rId17"/>
    <p:sldId id="303" r:id="rId18"/>
    <p:sldId id="304" r:id="rId19"/>
    <p:sldId id="3880" r:id="rId20"/>
    <p:sldId id="3881" r:id="rId21"/>
    <p:sldId id="306" r:id="rId22"/>
    <p:sldId id="3886" r:id="rId23"/>
    <p:sldId id="279" r:id="rId24"/>
    <p:sldId id="429" r:id="rId25"/>
    <p:sldId id="265" r:id="rId26"/>
    <p:sldId id="364" r:id="rId27"/>
    <p:sldId id="430" r:id="rId28"/>
    <p:sldId id="434" r:id="rId29"/>
    <p:sldId id="367" r:id="rId30"/>
    <p:sldId id="432" r:id="rId31"/>
    <p:sldId id="368" r:id="rId32"/>
    <p:sldId id="271" r:id="rId33"/>
    <p:sldId id="435" r:id="rId34"/>
    <p:sldId id="436" r:id="rId35"/>
    <p:sldId id="437" r:id="rId36"/>
    <p:sldId id="438" r:id="rId37"/>
    <p:sldId id="439" r:id="rId38"/>
    <p:sldId id="272" r:id="rId39"/>
    <p:sldId id="441" r:id="rId40"/>
    <p:sldId id="442" r:id="rId41"/>
    <p:sldId id="443" r:id="rId42"/>
    <p:sldId id="273" r:id="rId43"/>
    <p:sldId id="445" r:id="rId44"/>
    <p:sldId id="371" r:id="rId45"/>
    <p:sldId id="3858" r:id="rId46"/>
    <p:sldId id="3859" r:id="rId47"/>
    <p:sldId id="281" r:id="rId48"/>
    <p:sldId id="349" r:id="rId49"/>
    <p:sldId id="446" r:id="rId50"/>
    <p:sldId id="275" r:id="rId51"/>
    <p:sldId id="344" r:id="rId52"/>
    <p:sldId id="346" r:id="rId53"/>
    <p:sldId id="448" r:id="rId54"/>
    <p:sldId id="293" r:id="rId55"/>
    <p:sldId id="294" r:id="rId56"/>
    <p:sldId id="3872" r:id="rId57"/>
    <p:sldId id="410" r:id="rId58"/>
    <p:sldId id="286" r:id="rId59"/>
    <p:sldId id="385" r:id="rId60"/>
    <p:sldId id="348" r:id="rId61"/>
    <p:sldId id="3883" r:id="rId62"/>
    <p:sldId id="3884" r:id="rId63"/>
    <p:sldId id="3885" r:id="rId64"/>
    <p:sldId id="308" r:id="rId65"/>
    <p:sldId id="309" r:id="rId66"/>
    <p:sldId id="310" r:id="rId67"/>
    <p:sldId id="313" r:id="rId68"/>
    <p:sldId id="314" r:id="rId69"/>
    <p:sldId id="315" r:id="rId70"/>
    <p:sldId id="318" r:id="rId71"/>
    <p:sldId id="319" r:id="rId72"/>
    <p:sldId id="454" r:id="rId73"/>
    <p:sldId id="392" r:id="rId74"/>
    <p:sldId id="394" r:id="rId75"/>
    <p:sldId id="395" r:id="rId76"/>
    <p:sldId id="455" r:id="rId77"/>
    <p:sldId id="396" r:id="rId78"/>
    <p:sldId id="287" r:id="rId79"/>
    <p:sldId id="274" r:id="rId80"/>
    <p:sldId id="350" r:id="rId81"/>
    <p:sldId id="457" r:id="rId82"/>
    <p:sldId id="3882" r:id="rId83"/>
    <p:sldId id="3887" r:id="rId84"/>
    <p:sldId id="3863" r:id="rId85"/>
    <p:sldId id="277" r:id="rId86"/>
    <p:sldId id="3888" r:id="rId87"/>
    <p:sldId id="3889" r:id="rId88"/>
    <p:sldId id="3870" r:id="rId89"/>
    <p:sldId id="3871" r:id="rId90"/>
    <p:sldId id="3855" r:id="rId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79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613A9A-E8B2-4493-8281-17C0852619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6D3C5-434D-4388-87C6-FCA6CD4DCF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42193-F830-40CB-B618-D8FCC4DAA560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24D06-901D-4A09-A259-1433819DE5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AC49B-E9C3-4AD4-B547-389842B33D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C193D-5624-4263-8ADA-3D317186B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806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54266-11EC-41AF-904D-F0EF258D7444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E0079-1355-4D52-99A7-0FA926EB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779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95C4-A9E1-40A1-A546-4EBE3F723BF8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74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9255A-56B5-459D-AE4F-423901118FF3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15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8913-8B23-4FAC-BEE5-1A88083C975A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9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EDE38-DBD5-4967-BB6B-F2D68207DF1E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083C-4B24-4781-B05D-36681526A8D4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27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296DB-F12E-41AA-9939-04F2F181EC26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4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73C4-4D3F-4FB2-9F2C-659726E8F0B7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57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88C0F-35BF-4EC2-8A16-F16AE4DFB9B5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33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772A5-D64C-487D-8ED1-9099E4023FE2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143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D648A-B21A-4B61-9A21-C79DA1658120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54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4A00F-2AF1-474B-809E-ACEDC93FBE68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83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7CB81-70F2-455C-905B-C9BEE2FB85C2}" type="datetime1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CC-141 Discrete Structures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0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emf"/><Relationship Id="rId7" Type="http://schemas.openxmlformats.org/officeDocument/2006/relationships/image" Target="../media/image26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emf"/><Relationship Id="rId5" Type="http://schemas.openxmlformats.org/officeDocument/2006/relationships/image" Target="../media/image25.emf"/><Relationship Id="rId4" Type="http://schemas.openxmlformats.org/officeDocument/2006/relationships/image" Target="../media/image27.em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0375" y="3210173"/>
            <a:ext cx="11594776" cy="23876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CC 141 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Structures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sz="4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Department of Computer Science</a:t>
            </a:r>
            <a:b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School of Systems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University of Management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Lahore, Pakistan</a:t>
            </a:r>
          </a:p>
        </p:txBody>
      </p:sp>
      <p:sp>
        <p:nvSpPr>
          <p:cNvPr id="5" name="AutoShape 2" descr="Sierpinski Triangle — Problem Solving with Algorithms and Data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68B77F-1B8F-451E-BC89-A1EEAF9D0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695" y="256506"/>
            <a:ext cx="2220849" cy="2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0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624E-1256-4074-A302-8EFDA23D7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Books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A40A-0195-4B3A-81F2-8B76B68F9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027906"/>
            <a:ext cx="5157787" cy="823912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Text Book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DACD0-2773-4975-A2FE-3BD5764E1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851818"/>
            <a:ext cx="5157787" cy="3684588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Discrete Mathematics and Its Applications by Kenneth H. Rosen (Latest Edition).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FD254-68A8-4D88-9653-D6F0238D5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0226" y="1028344"/>
            <a:ext cx="5183188" cy="823912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Reference Material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5CD03-9B40-4AA4-B6AB-5B38436AB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0226" y="1851818"/>
            <a:ext cx="4820783" cy="20362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Discrete Mathematics with Applications by Susanna S. Epp</a:t>
            </a:r>
          </a:p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Discrete Mathematics by Richard 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Johnsonbaugh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77C834-CF8F-1629-2515-07CC5E011C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737" t="18647" r="37895" b="20701"/>
          <a:stretch/>
        </p:blipFill>
        <p:spPr>
          <a:xfrm>
            <a:off x="1391478" y="3373583"/>
            <a:ext cx="2647122" cy="329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1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1EF7-9A8C-421A-B5D0-7E87E87E9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Assessment Instruments with Weights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58334-C089-4C15-A71E-35750D253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Assignments: 10%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Quizzes: 15%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Midterm Exam: 25%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Final Exam: 50%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A475-7E5A-45C2-9D1D-7804A8CA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Course Objectives &amp;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23C1A-F0D4-4C47-870C-BC6412CBF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At the end of the course the students will be able to: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Understand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 key concepts of Discrete Structures such as Logic, Arguments, Sets, Permutations, Relations, Graphs, Trees etc.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Apply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the concepts of Discrete Structures to solve real world problems and other computing problems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Analyze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various discrete structures and their relevance within the context of computer science such as Graphs and Trees</a:t>
            </a:r>
            <a:endParaRPr lang="en-GB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85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34235" y="405550"/>
            <a:ext cx="7492929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Discrete Mathematics</a:t>
            </a:r>
            <a:r>
              <a:rPr spc="3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Topics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4235" y="1258197"/>
            <a:ext cx="8143626" cy="54836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95"/>
              </a:spcBef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Propositional 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and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predicate</a:t>
            </a:r>
            <a:r>
              <a:rPr sz="2400" spc="3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calculus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lnSpc>
                <a:spcPct val="150000"/>
              </a:lnSpc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Proof methods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lnSpc>
                <a:spcPct val="150000"/>
              </a:lnSpc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Set theory and</a:t>
            </a:r>
            <a:r>
              <a:rPr sz="2400" spc="2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functions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lnSpc>
                <a:spcPct val="150000"/>
              </a:lnSpc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Sequences and 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summations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lnSpc>
                <a:spcPct val="150000"/>
              </a:lnSpc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Growth of functions </a:t>
            </a:r>
            <a:r>
              <a:rPr sz="2400" spc="-1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and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complexity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of</a:t>
            </a:r>
            <a:r>
              <a:rPr sz="2400" spc="7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algorithms,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lnSpc>
                <a:spcPct val="150000"/>
              </a:lnSpc>
              <a:spcBef>
                <a:spcPts val="5"/>
              </a:spcBef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Mathematical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Induction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lnSpc>
                <a:spcPct val="150000"/>
              </a:lnSpc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Basic counting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techniques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lnSpc>
                <a:spcPct val="150000"/>
              </a:lnSpc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Relations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lnSpc>
                <a:spcPct val="150000"/>
              </a:lnSpc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Basic graph</a:t>
            </a:r>
            <a:r>
              <a:rPr sz="2400" spc="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4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theory</a:t>
            </a:r>
          </a:p>
          <a:p>
            <a:pPr marL="469900" indent="-457200">
              <a:lnSpc>
                <a:spcPct val="150000"/>
              </a:lnSpc>
              <a:buClr>
                <a:srgbClr val="0033CC"/>
              </a:buClr>
              <a:buSzPct val="84090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Introduction to</a:t>
            </a:r>
            <a:r>
              <a:rPr sz="2400" spc="1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4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trees.</a:t>
            </a:r>
            <a:endParaRPr sz="24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What is Discrete mathematics / structures?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417" y="1690688"/>
            <a:ext cx="11208026" cy="451899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The word </a:t>
            </a: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is essentially the opposite of </a:t>
            </a: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continuous i.e.</a:t>
            </a:r>
            <a:r>
              <a:rPr lang="en-US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discontinuous</a:t>
            </a:r>
            <a:r>
              <a:rPr lang="en-US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or </a:t>
            </a: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segregated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Discrete Mathematics part of</a:t>
            </a:r>
            <a:r>
              <a:rPr lang="en-US" sz="2000" spc="-7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mathematics  devoted to study of discrete</a:t>
            </a:r>
            <a:r>
              <a:rPr lang="en-US" sz="2000" spc="-8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objects.</a:t>
            </a: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0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Definition: </a:t>
            </a:r>
          </a:p>
          <a:p>
            <a:pPr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“</a:t>
            </a:r>
            <a:r>
              <a:rPr lang="en-US" sz="20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Mathematics/Structure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concerns processes that consist of a sequence of individual steps.”</a:t>
            </a:r>
          </a:p>
          <a:p>
            <a:pPr>
              <a:buNone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It consists of distinct or  unconnected elements.</a:t>
            </a:r>
          </a:p>
          <a:p>
            <a:pPr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Such 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Integers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Set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Graphs etc.</a:t>
            </a:r>
          </a:p>
          <a:p>
            <a:pPr>
              <a:buNone/>
            </a:pPr>
            <a:endParaRPr lang="en-US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>
            <a:extLst>
              <a:ext uri="{FF2B5EF4-FFF2-40B4-BE49-F238E27FC236}">
                <a16:creationId xmlns:a16="http://schemas.microsoft.com/office/drawing/2014/main" id="{C8309AD3-812D-B590-C419-ABBC21E7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425" y="230770"/>
            <a:ext cx="10515600" cy="863841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Discrete and Continuous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  <p:cxnSp>
        <p:nvCxnSpPr>
          <p:cNvPr id="9220" name="直線單箭頭接點 4">
            <a:extLst>
              <a:ext uri="{FF2B5EF4-FFF2-40B4-BE49-F238E27FC236}">
                <a16:creationId xmlns:a16="http://schemas.microsoft.com/office/drawing/2014/main" id="{5A95FF0E-9A97-28A7-C24B-A06D7B5DC22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062481" y="1851025"/>
            <a:ext cx="215900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21" name="直線單箭頭接點 6">
            <a:extLst>
              <a:ext uri="{FF2B5EF4-FFF2-40B4-BE49-F238E27FC236}">
                <a16:creationId xmlns:a16="http://schemas.microsoft.com/office/drawing/2014/main" id="{128F8AC7-7965-7A83-53F9-0AF673D9F65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32457" y="2935289"/>
            <a:ext cx="2519363" cy="15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2" name="手繪多邊形 21">
            <a:extLst>
              <a:ext uri="{FF2B5EF4-FFF2-40B4-BE49-F238E27FC236}">
                <a16:creationId xmlns:a16="http://schemas.microsoft.com/office/drawing/2014/main" id="{89A66624-C553-F9F5-86C5-4BA44EBB8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1982" y="827089"/>
            <a:ext cx="2316163" cy="2027237"/>
          </a:xfrm>
          <a:custGeom>
            <a:avLst/>
            <a:gdLst>
              <a:gd name="T0" fmla="*/ 0 w 1930400"/>
              <a:gd name="T1" fmla="*/ 25260418 h 1628987"/>
              <a:gd name="T2" fmla="*/ 8280489 w 1930400"/>
              <a:gd name="T3" fmla="*/ 2566561 h 1628987"/>
              <a:gd name="T4" fmla="*/ 20310613 w 1930400"/>
              <a:gd name="T5" fmla="*/ 40659752 h 1628987"/>
              <a:gd name="T6" fmla="*/ 29684746 w 1930400"/>
              <a:gd name="T7" fmla="*/ 18506280 h 1628987"/>
              <a:gd name="T8" fmla="*/ 0 60000 65536"/>
              <a:gd name="T9" fmla="*/ 0 60000 65536"/>
              <a:gd name="T10" fmla="*/ 0 60000 65536"/>
              <a:gd name="T11" fmla="*/ 0 60000 65536"/>
              <a:gd name="T12" fmla="*/ 0 w 1930400"/>
              <a:gd name="T13" fmla="*/ 0 h 1628987"/>
              <a:gd name="T14" fmla="*/ 1930400 w 1930400"/>
              <a:gd name="T15" fmla="*/ 1628987 h 162898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30400" h="1628987">
                <a:moveTo>
                  <a:pt x="0" y="949960"/>
                </a:moveTo>
                <a:cubicBezTo>
                  <a:pt x="159173" y="474980"/>
                  <a:pt x="318347" y="0"/>
                  <a:pt x="538480" y="96520"/>
                </a:cubicBezTo>
                <a:cubicBezTo>
                  <a:pt x="758613" y="193040"/>
                  <a:pt x="1088813" y="1429173"/>
                  <a:pt x="1320800" y="1529080"/>
                </a:cubicBezTo>
                <a:cubicBezTo>
                  <a:pt x="1552787" y="1628987"/>
                  <a:pt x="1741593" y="1162473"/>
                  <a:pt x="1930400" y="695960"/>
                </a:cubicBezTo>
              </a:path>
            </a:pathLst>
          </a:custGeom>
          <a:solidFill>
            <a:schemeClr val="bg1"/>
          </a:solidFill>
          <a:ln w="15875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9223" name="文字方塊 22">
            <a:extLst>
              <a:ext uri="{FF2B5EF4-FFF2-40B4-BE49-F238E27FC236}">
                <a16:creationId xmlns:a16="http://schemas.microsoft.com/office/drawing/2014/main" id="{C6F8308C-C4E5-95A5-9B12-AAE127640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1656" y="2711450"/>
            <a:ext cx="25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 u="none">
                <a:solidFill>
                  <a:schemeClr val="tx1"/>
                </a:solidFill>
              </a:rPr>
              <a:t>t</a:t>
            </a:r>
            <a:endParaRPr lang="zh-TW" altLang="en-US" sz="2000" u="none">
              <a:solidFill>
                <a:schemeClr val="tx1"/>
              </a:solidFill>
            </a:endParaRPr>
          </a:p>
        </p:txBody>
      </p:sp>
      <p:sp>
        <p:nvSpPr>
          <p:cNvPr id="9224" name="文字方塊 23">
            <a:extLst>
              <a:ext uri="{FF2B5EF4-FFF2-40B4-BE49-F238E27FC236}">
                <a16:creationId xmlns:a16="http://schemas.microsoft.com/office/drawing/2014/main" id="{7F9C334D-416D-4592-C4EB-6C38CD5CA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7819" y="365125"/>
            <a:ext cx="582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 u="none">
                <a:solidFill>
                  <a:schemeClr val="tx1"/>
                </a:solidFill>
              </a:rPr>
              <a:t>X</a:t>
            </a:r>
            <a:r>
              <a:rPr lang="en-US" altLang="zh-TW" sz="2000" i="0" u="none">
                <a:solidFill>
                  <a:schemeClr val="tx1"/>
                </a:solidFill>
              </a:rPr>
              <a:t>(</a:t>
            </a:r>
            <a:r>
              <a:rPr lang="en-US" altLang="zh-TW" sz="2000" u="none">
                <a:solidFill>
                  <a:schemeClr val="tx1"/>
                </a:solidFill>
              </a:rPr>
              <a:t>t</a:t>
            </a:r>
            <a:r>
              <a:rPr lang="en-US" altLang="zh-TW" sz="2000" i="0" u="none">
                <a:solidFill>
                  <a:schemeClr val="tx1"/>
                </a:solidFill>
              </a:rPr>
              <a:t>)</a:t>
            </a:r>
            <a:endParaRPr lang="zh-TW" altLang="en-US" sz="2000" i="0" u="none">
              <a:solidFill>
                <a:schemeClr val="tx1"/>
              </a:solidFill>
            </a:endParaRPr>
          </a:p>
        </p:txBody>
      </p:sp>
      <p:cxnSp>
        <p:nvCxnSpPr>
          <p:cNvPr id="9225" name="直線單箭頭接點 24">
            <a:extLst>
              <a:ext uri="{FF2B5EF4-FFF2-40B4-BE49-F238E27FC236}">
                <a16:creationId xmlns:a16="http://schemas.microsoft.com/office/drawing/2014/main" id="{D30165B1-347C-1075-6422-B13909EADF3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244850" y="4992785"/>
            <a:ext cx="2159000" cy="0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6" name="文字方塊 27">
            <a:extLst>
              <a:ext uri="{FF2B5EF4-FFF2-40B4-BE49-F238E27FC236}">
                <a16:creationId xmlns:a16="http://schemas.microsoft.com/office/drawing/2014/main" id="{8E3CDD9D-E7CF-0E7D-28B0-7728D9637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4025" y="5853210"/>
            <a:ext cx="25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 u="none">
                <a:solidFill>
                  <a:schemeClr val="tx1"/>
                </a:solidFill>
              </a:rPr>
              <a:t>t</a:t>
            </a:r>
            <a:endParaRPr lang="zh-TW" altLang="en-US" sz="2000" u="none">
              <a:solidFill>
                <a:schemeClr val="tx1"/>
              </a:solidFill>
            </a:endParaRPr>
          </a:p>
        </p:txBody>
      </p:sp>
      <p:sp>
        <p:nvSpPr>
          <p:cNvPr id="9227" name="文字方塊 28">
            <a:extLst>
              <a:ext uri="{FF2B5EF4-FFF2-40B4-BE49-F238E27FC236}">
                <a16:creationId xmlns:a16="http://schemas.microsoft.com/office/drawing/2014/main" id="{FC214C3B-5B34-5412-5DAA-FF22B38B7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188" y="3506885"/>
            <a:ext cx="582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000" u="none">
                <a:solidFill>
                  <a:schemeClr val="tx1"/>
                </a:solidFill>
              </a:rPr>
              <a:t>X</a:t>
            </a:r>
            <a:r>
              <a:rPr lang="en-US" altLang="zh-TW" sz="2000" i="0" u="none">
                <a:solidFill>
                  <a:schemeClr val="tx1"/>
                </a:solidFill>
              </a:rPr>
              <a:t>(</a:t>
            </a:r>
            <a:r>
              <a:rPr lang="en-US" altLang="zh-TW" sz="2000" u="none">
                <a:solidFill>
                  <a:schemeClr val="tx1"/>
                </a:solidFill>
              </a:rPr>
              <a:t>t</a:t>
            </a:r>
            <a:r>
              <a:rPr lang="en-US" altLang="zh-TW" sz="2000" i="0" u="none">
                <a:solidFill>
                  <a:schemeClr val="tx1"/>
                </a:solidFill>
              </a:rPr>
              <a:t>)</a:t>
            </a:r>
            <a:endParaRPr lang="zh-TW" altLang="en-US" sz="2000" i="0" u="none">
              <a:solidFill>
                <a:schemeClr val="tx1"/>
              </a:solidFill>
            </a:endParaRPr>
          </a:p>
        </p:txBody>
      </p:sp>
      <p:cxnSp>
        <p:nvCxnSpPr>
          <p:cNvPr id="9228" name="直線單箭頭接點 30">
            <a:extLst>
              <a:ext uri="{FF2B5EF4-FFF2-40B4-BE49-F238E27FC236}">
                <a16:creationId xmlns:a16="http://schemas.microsoft.com/office/drawing/2014/main" id="{62FB3BC7-D4E4-5392-7F72-506A90C7956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798094" y="5434904"/>
            <a:ext cx="1295400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29" name="直線單箭頭接點 31">
            <a:extLst>
              <a:ext uri="{FF2B5EF4-FFF2-40B4-BE49-F238E27FC236}">
                <a16:creationId xmlns:a16="http://schemas.microsoft.com/office/drawing/2014/main" id="{7355668C-A34F-3DC2-9F2A-28DE0AC37D4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768726" y="5270598"/>
            <a:ext cx="1619250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0" name="直線單箭頭接點 32">
            <a:extLst>
              <a:ext uri="{FF2B5EF4-FFF2-40B4-BE49-F238E27FC236}">
                <a16:creationId xmlns:a16="http://schemas.microsoft.com/office/drawing/2014/main" id="{3DA29A22-9A3A-32FA-B286-4A517D2DBB6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775076" y="5143599"/>
            <a:ext cx="1871663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1" name="直線單箭頭接點 33">
            <a:extLst>
              <a:ext uri="{FF2B5EF4-FFF2-40B4-BE49-F238E27FC236}">
                <a16:creationId xmlns:a16="http://schemas.microsoft.com/office/drawing/2014/main" id="{331B822A-B01B-52A6-A2B9-A8458507654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841751" y="5084861"/>
            <a:ext cx="1981200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2" name="直線單箭頭接點 34">
            <a:extLst>
              <a:ext uri="{FF2B5EF4-FFF2-40B4-BE49-F238E27FC236}">
                <a16:creationId xmlns:a16="http://schemas.microsoft.com/office/drawing/2014/main" id="{A0EB7E8F-75E8-70FC-FB02-E5FA85505F4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974307" y="5085655"/>
            <a:ext cx="1981200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3" name="直線單箭頭接點 35">
            <a:extLst>
              <a:ext uri="{FF2B5EF4-FFF2-40B4-BE49-F238E27FC236}">
                <a16:creationId xmlns:a16="http://schemas.microsoft.com/office/drawing/2014/main" id="{1E5564A2-88E2-5432-F23E-CE9665F35485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160838" y="5143598"/>
            <a:ext cx="1871663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4" name="直線單箭頭接點 36">
            <a:extLst>
              <a:ext uri="{FF2B5EF4-FFF2-40B4-BE49-F238E27FC236}">
                <a16:creationId xmlns:a16="http://schemas.microsoft.com/office/drawing/2014/main" id="{CFB9806E-A958-B045-0736-26226EE79EF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418807" y="5271392"/>
            <a:ext cx="1619250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5" name="直線單箭頭接點 37">
            <a:extLst>
              <a:ext uri="{FF2B5EF4-FFF2-40B4-BE49-F238E27FC236}">
                <a16:creationId xmlns:a16="http://schemas.microsoft.com/office/drawing/2014/main" id="{FA0FFE00-1E08-3871-3E03-6B419C6B0BC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702969" y="5434904"/>
            <a:ext cx="1295400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6" name="直線單箭頭接點 38">
            <a:extLst>
              <a:ext uri="{FF2B5EF4-FFF2-40B4-BE49-F238E27FC236}">
                <a16:creationId xmlns:a16="http://schemas.microsoft.com/office/drawing/2014/main" id="{40794F20-2F00-41B8-901E-492ADE938B3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8987132" y="5577780"/>
            <a:ext cx="971550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7" name="直線單箭頭接點 39">
            <a:extLst>
              <a:ext uri="{FF2B5EF4-FFF2-40B4-BE49-F238E27FC236}">
                <a16:creationId xmlns:a16="http://schemas.microsoft.com/office/drawing/2014/main" id="{A312613C-9838-4CE2-E417-85638A69470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9244307" y="5725417"/>
            <a:ext cx="720725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8" name="直線單箭頭接點 40">
            <a:extLst>
              <a:ext uri="{FF2B5EF4-FFF2-40B4-BE49-F238E27FC236}">
                <a16:creationId xmlns:a16="http://schemas.microsoft.com/office/drawing/2014/main" id="{1C64FD5F-75B5-A742-EC96-5F5F2AF50CE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9537995" y="5868293"/>
            <a:ext cx="396875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9" name="直線單箭頭接點 41">
            <a:extLst>
              <a:ext uri="{FF2B5EF4-FFF2-40B4-BE49-F238E27FC236}">
                <a16:creationId xmlns:a16="http://schemas.microsoft.com/office/drawing/2014/main" id="{87AB81B9-E36A-A63F-5EB4-6BEB020DE20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9732463" y="5948460"/>
            <a:ext cx="252412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0" name="直線單箭頭接點 42">
            <a:extLst>
              <a:ext uri="{FF2B5EF4-FFF2-40B4-BE49-F238E27FC236}">
                <a16:creationId xmlns:a16="http://schemas.microsoft.com/office/drawing/2014/main" id="{32AEC5D7-C90D-F514-025A-9A1FD1A51C3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9900738" y="5973861"/>
            <a:ext cx="179388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1" name="直線單箭頭接點 43">
            <a:extLst>
              <a:ext uri="{FF2B5EF4-FFF2-40B4-BE49-F238E27FC236}">
                <a16:creationId xmlns:a16="http://schemas.microsoft.com/office/drawing/2014/main" id="{1D8493E1-76A9-1434-9662-1F4EA0B6F0A2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9995988" y="5948460"/>
            <a:ext cx="252412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2" name="直線單箭頭接點 44">
            <a:extLst>
              <a:ext uri="{FF2B5EF4-FFF2-40B4-BE49-F238E27FC236}">
                <a16:creationId xmlns:a16="http://schemas.microsoft.com/office/drawing/2014/main" id="{C8797FEA-E8C3-AEC4-6D8E-9C7F0B1650C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10056314" y="5888136"/>
            <a:ext cx="396875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3" name="直線單箭頭接點 45">
            <a:extLst>
              <a:ext uri="{FF2B5EF4-FFF2-40B4-BE49-F238E27FC236}">
                <a16:creationId xmlns:a16="http://schemas.microsoft.com/office/drawing/2014/main" id="{EF405284-C0A7-27B2-9F1F-E9FFD5C84AD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10069807" y="5773042"/>
            <a:ext cx="612775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4" name="直線單箭頭接點 46">
            <a:extLst>
              <a:ext uri="{FF2B5EF4-FFF2-40B4-BE49-F238E27FC236}">
                <a16:creationId xmlns:a16="http://schemas.microsoft.com/office/drawing/2014/main" id="{8BBA310D-9073-C6F7-277B-27A69E45775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10066632" y="5634930"/>
            <a:ext cx="863600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5" name="直線單箭頭接點 47">
            <a:extLst>
              <a:ext uri="{FF2B5EF4-FFF2-40B4-BE49-F238E27FC236}">
                <a16:creationId xmlns:a16="http://schemas.microsoft.com/office/drawing/2014/main" id="{BBEF13F2-6402-FCC4-4425-8819DA47094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10036469" y="5471416"/>
            <a:ext cx="1187450" cy="1588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" name="直線單箭頭接點 49">
            <a:extLst>
              <a:ext uri="{FF2B5EF4-FFF2-40B4-BE49-F238E27FC236}">
                <a16:creationId xmlns:a16="http://schemas.microsoft.com/office/drawing/2014/main" id="{39F6E660-A5BD-AE6B-3A05-2E878417E9C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859213" y="5589686"/>
            <a:ext cx="935038" cy="158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7" name="直線單箭頭接點 50">
            <a:extLst>
              <a:ext uri="{FF2B5EF4-FFF2-40B4-BE49-F238E27FC236}">
                <a16:creationId xmlns:a16="http://schemas.microsoft.com/office/drawing/2014/main" id="{ADEC00E3-1488-7138-94E7-1ABD03BC955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14826" y="6077049"/>
            <a:ext cx="2519363" cy="158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48" name="文字方塊 51">
            <a:extLst>
              <a:ext uri="{FF2B5EF4-FFF2-40B4-BE49-F238E27FC236}">
                <a16:creationId xmlns:a16="http://schemas.microsoft.com/office/drawing/2014/main" id="{1D781069-9B5A-D820-5424-772B7CDEB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9981" y="3073400"/>
            <a:ext cx="19864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1800" i="0" u="none" dirty="0">
                <a:solidFill>
                  <a:schemeClr val="tx1"/>
                </a:solidFill>
              </a:rPr>
              <a:t>Continuous Signals</a:t>
            </a:r>
            <a:endParaRPr lang="zh-TW" altLang="en-US" sz="1800" i="0" u="none" dirty="0">
              <a:solidFill>
                <a:schemeClr val="tx1"/>
              </a:solidFill>
            </a:endParaRPr>
          </a:p>
        </p:txBody>
      </p:sp>
      <p:sp>
        <p:nvSpPr>
          <p:cNvPr id="9249" name="文字方塊 52">
            <a:extLst>
              <a:ext uri="{FF2B5EF4-FFF2-40B4-BE49-F238E27FC236}">
                <a16:creationId xmlns:a16="http://schemas.microsoft.com/office/drawing/2014/main" id="{B95C5CC2-0F57-D090-2530-06B2CD8E0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2513" y="6215160"/>
            <a:ext cx="16914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1800" i="0" u="none" dirty="0">
                <a:solidFill>
                  <a:schemeClr val="tx1"/>
                </a:solidFill>
              </a:rPr>
              <a:t>Discrete Signals</a:t>
            </a:r>
            <a:endParaRPr lang="zh-TW" altLang="en-US" sz="1800" i="0" u="none" dirty="0">
              <a:solidFill>
                <a:schemeClr val="tx1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90B3C536-2492-4A32-A900-DE0C769BF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204" y="5047702"/>
            <a:ext cx="6154284" cy="1352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/>
              <a:t>Set of Integers: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•	 •	  •	 •	 •           •           </a:t>
            </a:r>
          </a:p>
          <a:p>
            <a:pPr>
              <a:buNone/>
            </a:pPr>
            <a:r>
              <a:rPr lang="en-US" sz="2000" dirty="0"/>
              <a:t>	3	-2	-1	0	1	2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37" name="文字方塊 51">
            <a:extLst>
              <a:ext uri="{FF2B5EF4-FFF2-40B4-BE49-F238E27FC236}">
                <a16:creationId xmlns:a16="http://schemas.microsoft.com/office/drawing/2014/main" id="{B96F4304-418C-40F2-BC9B-764764E63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781" y="1413766"/>
            <a:ext cx="20955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1800" i="0" u="none" dirty="0">
                <a:solidFill>
                  <a:schemeClr val="tx1"/>
                </a:solidFill>
              </a:rPr>
              <a:t>Continuous / Analog</a:t>
            </a:r>
            <a:endParaRPr lang="zh-TW" altLang="en-US" sz="1800" i="0" u="none" dirty="0">
              <a:solidFill>
                <a:schemeClr val="tx1"/>
              </a:solidFill>
            </a:endParaRPr>
          </a:p>
        </p:txBody>
      </p:sp>
      <p:sp>
        <p:nvSpPr>
          <p:cNvPr id="38" name="文字方塊 52">
            <a:extLst>
              <a:ext uri="{FF2B5EF4-FFF2-40B4-BE49-F238E27FC236}">
                <a16:creationId xmlns:a16="http://schemas.microsoft.com/office/drawing/2014/main" id="{85B4A6E6-2CDA-4584-884C-CBA83A262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17" y="1506022"/>
            <a:ext cx="17748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i="1" u="sng">
                <a:solidFill>
                  <a:srgbClr val="003366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1800" i="0" u="none" dirty="0">
                <a:solidFill>
                  <a:schemeClr val="tx1"/>
                </a:solidFill>
              </a:rPr>
              <a:t>Discrete / Digital</a:t>
            </a:r>
            <a:endParaRPr lang="zh-TW" altLang="en-US" sz="1800" i="0" u="none" dirty="0">
              <a:solidFill>
                <a:schemeClr val="tx1"/>
              </a:solidFill>
            </a:endParaRPr>
          </a:p>
        </p:txBody>
      </p:sp>
      <p:pic>
        <p:nvPicPr>
          <p:cNvPr id="39" name="Picture 2" descr="Digital Clock Black 1 - Punjab Watch">
            <a:extLst>
              <a:ext uri="{FF2B5EF4-FFF2-40B4-BE49-F238E27FC236}">
                <a16:creationId xmlns:a16="http://schemas.microsoft.com/office/drawing/2014/main" id="{B11AED27-FA83-4B50-A80F-BDB0DACD3D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85" b="24536"/>
          <a:stretch/>
        </p:blipFill>
        <p:spPr bwMode="auto">
          <a:xfrm>
            <a:off x="1036279" y="2110029"/>
            <a:ext cx="2021850" cy="107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4">
            <a:extLst>
              <a:ext uri="{FF2B5EF4-FFF2-40B4-BE49-F238E27FC236}">
                <a16:creationId xmlns:a16="http://schemas.microsoft.com/office/drawing/2014/main" id="{B4C29EA8-7029-4651-ABFD-9A9B550D8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640" y="1765983"/>
            <a:ext cx="1512813" cy="151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42001055-6B22-4500-8104-9910E2BBF1DE}"/>
              </a:ext>
            </a:extLst>
          </p:cNvPr>
          <p:cNvGrpSpPr/>
          <p:nvPr/>
        </p:nvGrpSpPr>
        <p:grpSpPr>
          <a:xfrm>
            <a:off x="270038" y="3318403"/>
            <a:ext cx="6950610" cy="1477328"/>
            <a:chOff x="5019159" y="1221304"/>
            <a:chExt cx="6784066" cy="1477328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1827AB2-4A11-4956-BA47-DF4670BD3E6A}"/>
                </a:ext>
              </a:extLst>
            </p:cNvPr>
            <p:cNvSpPr txBox="1"/>
            <p:nvPr/>
          </p:nvSpPr>
          <p:spPr>
            <a:xfrm>
              <a:off x="5019159" y="1221304"/>
              <a:ext cx="6784066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	</a:t>
              </a:r>
              <a:r>
                <a:rPr lang="en-US" b="1" u="sng" dirty="0"/>
                <a:t>Set of Real Numbers:</a:t>
              </a:r>
              <a:endParaRPr lang="en-US" dirty="0"/>
            </a:p>
            <a:p>
              <a:pPr>
                <a:buNone/>
              </a:pPr>
              <a:endParaRPr lang="en-US" dirty="0"/>
            </a:p>
            <a:p>
              <a:pPr>
                <a:buNone/>
              </a:pPr>
              <a:r>
                <a:rPr lang="en-US" dirty="0"/>
                <a:t>	•	 •	 •	 •	 •	 •	 •	</a:t>
              </a:r>
            </a:p>
            <a:p>
              <a:pPr>
                <a:buNone/>
              </a:pPr>
              <a:r>
                <a:rPr lang="en-US" dirty="0"/>
                <a:t>	-3	-2	-1	0	1	2	3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BCE9B68-3ED2-41DB-9EE2-5BAF6A943A1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1961556"/>
              <a:ext cx="537559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76239" y="588275"/>
            <a:ext cx="6146126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Why Discrete</a:t>
            </a:r>
            <a:r>
              <a:rPr spc="-4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ath</a:t>
            </a:r>
            <a:r>
              <a:rPr lang="en-US"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?</a:t>
            </a:r>
            <a:endParaRPr spc="-5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330" y="1602742"/>
            <a:ext cx="10641496" cy="43223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Computers run software and store files. The software and files are both stored as huge strings of </a:t>
            </a:r>
            <a:r>
              <a:rPr lang="en-US" sz="2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1s and 0s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 </a:t>
            </a:r>
            <a:r>
              <a:rPr lang="en-US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Binary math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is discrete mathematics.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Used in </a:t>
            </a:r>
            <a:r>
              <a:rPr lang="en-US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proving correctness of a program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Used in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computer networks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lots of topics about graph theory is used.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Google Maps</a:t>
            </a:r>
            <a:r>
              <a:rPr lang="en-US" sz="28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 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uses discrete mathematics to determine fastest driving routes and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times.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Artificial intelligence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lots of ideas about logic is used.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Encryption and decryption are part of</a:t>
            </a:r>
            <a:r>
              <a:rPr lang="en-US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 </a:t>
            </a:r>
            <a:r>
              <a:rPr lang="en-US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cryptography</a:t>
            </a:r>
            <a:r>
              <a:rPr lang="en-US" sz="28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2520" y="528567"/>
            <a:ext cx="10614991" cy="753026"/>
          </a:xfrm>
          <a:prstGeom prst="rect">
            <a:avLst/>
          </a:prstGeom>
        </p:spPr>
        <p:txBody>
          <a:bodyPr vert="horz" wrap="square" lIns="0" tIns="75183" rIns="0" bIns="0" rtlCol="0" anchor="ctr">
            <a:spAutoFit/>
          </a:bodyPr>
          <a:lstStyle/>
          <a:p>
            <a:pPr marL="2795270" marR="5080" indent="-10052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Importance of</a:t>
            </a:r>
            <a:r>
              <a:rPr spc="-7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Discrete  </a:t>
            </a:r>
            <a:r>
              <a:rPr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Mathematics</a:t>
            </a:r>
            <a:endParaRPr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2896" y="1611219"/>
            <a:ext cx="9217051" cy="39651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Gateway to more advanced CS</a:t>
            </a:r>
            <a:r>
              <a:rPr sz="3000" spc="-2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30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courses</a:t>
            </a:r>
            <a:endParaRPr lang="en-US" sz="3000" spc="-5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12700">
              <a:spcBef>
                <a:spcPts val="100"/>
              </a:spcBef>
            </a:pPr>
            <a:endParaRPr sz="30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106680" indent="-93980">
              <a:spcBef>
                <a:spcPts val="5"/>
              </a:spcBef>
              <a:buClr>
                <a:srgbClr val="0033CC"/>
              </a:buClr>
              <a:buSzPct val="85000"/>
              <a:buFont typeface="Wingdings"/>
              <a:buChar char=""/>
              <a:tabLst>
                <a:tab pos="450215" algn="l"/>
                <a:tab pos="450850" algn="l"/>
              </a:tabLst>
            </a:pPr>
            <a:r>
              <a:rPr sz="2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Data</a:t>
            </a:r>
            <a:r>
              <a:rPr sz="2800" spc="1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8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Structures</a:t>
            </a:r>
            <a:endParaRPr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106680" indent="-93980">
              <a:buClr>
                <a:srgbClr val="0033CC"/>
              </a:buClr>
              <a:buSzPct val="85000"/>
              <a:buFont typeface="Wingdings"/>
              <a:buChar char=""/>
              <a:tabLst>
                <a:tab pos="450215" algn="l"/>
                <a:tab pos="450850" algn="l"/>
              </a:tabLst>
            </a:pPr>
            <a:r>
              <a:rPr sz="28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Introduction </a:t>
            </a:r>
            <a:r>
              <a:rPr sz="2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to</a:t>
            </a:r>
            <a:r>
              <a:rPr sz="2800" spc="5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8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Algorithms</a:t>
            </a:r>
            <a:endParaRPr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106680" indent="-93980">
              <a:buClr>
                <a:srgbClr val="0033CC"/>
              </a:buClr>
              <a:buSzPct val="85000"/>
              <a:buFont typeface="Wingdings"/>
              <a:buChar char=""/>
              <a:tabLst>
                <a:tab pos="450215" algn="l"/>
                <a:tab pos="450850" algn="l"/>
              </a:tabLst>
            </a:pPr>
            <a:r>
              <a:rPr sz="28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Automata</a:t>
            </a:r>
            <a:r>
              <a:rPr sz="2800" spc="2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Theory</a:t>
            </a:r>
          </a:p>
          <a:p>
            <a:pPr marL="106680" indent="-93980">
              <a:buClr>
                <a:srgbClr val="0033CC"/>
              </a:buClr>
              <a:buSzPct val="85000"/>
              <a:buFont typeface="Wingdings"/>
              <a:buChar char=""/>
              <a:tabLst>
                <a:tab pos="450215" algn="l"/>
                <a:tab pos="450850" algn="l"/>
              </a:tabLst>
            </a:pPr>
            <a:r>
              <a:rPr sz="28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Compiler</a:t>
            </a:r>
            <a:r>
              <a:rPr sz="2800" spc="2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8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Construction</a:t>
            </a:r>
            <a:endParaRPr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106680" indent="-93980">
              <a:buClr>
                <a:srgbClr val="0033CC"/>
              </a:buClr>
              <a:buSzPct val="85000"/>
              <a:buFont typeface="Wingdings"/>
              <a:buChar char=""/>
              <a:tabLst>
                <a:tab pos="450215" algn="l"/>
                <a:tab pos="450850" algn="l"/>
              </a:tabLst>
            </a:pPr>
            <a:r>
              <a:rPr sz="28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Operating</a:t>
            </a:r>
            <a:r>
              <a:rPr sz="2800" spc="2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8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Systems</a:t>
            </a:r>
            <a:endParaRPr sz="28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106680" indent="-93980">
              <a:buClr>
                <a:srgbClr val="0033CC"/>
              </a:buClr>
              <a:buSzPct val="85000"/>
              <a:buFont typeface="Wingdings"/>
              <a:buChar char=""/>
              <a:tabLst>
                <a:tab pos="450215" algn="l"/>
                <a:tab pos="450850" algn="l"/>
              </a:tabLst>
            </a:pPr>
            <a:r>
              <a:rPr sz="2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Graph Theory</a:t>
            </a:r>
          </a:p>
          <a:p>
            <a:pPr marL="106680" marR="2239010" indent="-93980">
              <a:spcBef>
                <a:spcPts val="5"/>
              </a:spcBef>
              <a:buClr>
                <a:srgbClr val="0033CC"/>
              </a:buClr>
              <a:buSzPct val="85000"/>
              <a:buFont typeface="Wingdings"/>
              <a:buChar char=""/>
              <a:tabLst>
                <a:tab pos="450215" algn="l"/>
                <a:tab pos="450850" algn="l"/>
              </a:tabLst>
            </a:pPr>
            <a:r>
              <a:rPr sz="28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Artificial Intelligence  </a:t>
            </a:r>
            <a:r>
              <a:rPr sz="28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0375" y="1818695"/>
            <a:ext cx="11594776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Propositional Logic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sz="4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Propositions, Logical Connectives, Negation, Converse, Contrapositive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49" y="52261"/>
            <a:ext cx="2157099" cy="2070814"/>
          </a:xfrm>
          <a:prstGeom prst="rect">
            <a:avLst/>
          </a:prstGeom>
        </p:spPr>
      </p:pic>
      <p:sp>
        <p:nvSpPr>
          <p:cNvPr id="5" name="AutoShape 2" descr="Sierpinski Triangle — Problem Solving with Algorithms and Data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FFAB1-E203-4B5E-A0B1-5EB9ACAD7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31402" y="4837043"/>
            <a:ext cx="3460598" cy="19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96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341" y="505084"/>
            <a:ext cx="6719720" cy="735887"/>
          </a:xfrm>
        </p:spPr>
        <p:txBody>
          <a:bodyPr/>
          <a:lstStyle/>
          <a:p>
            <a:r>
              <a:rPr lang="en-US" sz="4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Logic</a:t>
            </a:r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5771"/>
            <a:ext cx="10515600" cy="46311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“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Logic is the study of the principles and methods that distinguishes between a valid and an invalid argument</a:t>
            </a:r>
            <a:r>
              <a:rPr lang="en-US" i="1" dirty="0"/>
              <a:t>.</a:t>
            </a:r>
            <a:r>
              <a:rPr lang="en-US" dirty="0"/>
              <a:t>”</a:t>
            </a:r>
          </a:p>
          <a:p>
            <a:pPr>
              <a:buNone/>
            </a:pPr>
            <a:endParaRPr lang="en-US" dirty="0"/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altLang="en-PK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Crucial for mathematical reasoning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altLang="en-PK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Important for program design</a:t>
            </a:r>
          </a:p>
          <a:p>
            <a:pPr>
              <a:spcAft>
                <a:spcPct val="80000"/>
              </a:spcAft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altLang="en-PK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Used for designing electronic circuitry</a:t>
            </a:r>
          </a:p>
          <a:p>
            <a:pPr>
              <a:spcAft>
                <a:spcPct val="80000"/>
              </a:spcAft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altLang="en-PK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Logic is a system based on </a:t>
            </a:r>
            <a:r>
              <a:rPr lang="en-US" altLang="en-PK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propositions</a:t>
            </a:r>
            <a:r>
              <a:rPr lang="en-US" altLang="en-PK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indent="0">
              <a:lnSpc>
                <a:spcPct val="90000"/>
              </a:lnSpc>
              <a:spcAft>
                <a:spcPct val="80000"/>
              </a:spcAft>
              <a:buNone/>
            </a:pPr>
            <a:endParaRPr lang="en-US" altLang="en-PK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87B8-452E-8F5E-1581-39495D73D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212"/>
            <a:ext cx="10515600" cy="83394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Propositions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09C4C-632A-FED3-CF2E-E044421D4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204412"/>
            <a:ext cx="11353800" cy="50814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Definition: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Proposition is a (declarative) statement whose value is either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or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but not both.</a:t>
            </a:r>
          </a:p>
          <a:p>
            <a:pPr marL="0" indent="0" algn="just">
              <a:buNone/>
            </a:pP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We say that the truth value of a proposition is either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 (T)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or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 (F).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Corresponds to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 digital circuits</a:t>
            </a:r>
          </a:p>
          <a:p>
            <a:pPr marL="0" indent="0" algn="just">
              <a:buNone/>
            </a:pP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Clr>
                <a:schemeClr val="accent6">
                  <a:lumMod val="75000"/>
                </a:schemeClr>
              </a:buClr>
              <a:buNone/>
            </a:pP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Note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Propositions are generally denoted by small letters p, q, r etc.</a:t>
            </a:r>
          </a:p>
          <a:p>
            <a:pPr marL="0" indent="0" algn="just">
              <a:buNone/>
            </a:pP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699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87B8-452E-8F5E-1581-39495D73D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212"/>
            <a:ext cx="10515600" cy="83394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Propositions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09C4C-632A-FED3-CF2E-E044421D4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554"/>
            <a:ext cx="10515600" cy="56302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Examples: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Sun is shining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 + 2 = 7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Grass is blue.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capital of Pakistan is Islamabad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 like to play Cricket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394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12FB2A6-D822-FEFA-D291-4E5F8692E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The Statement/Proposition Game</a:t>
            </a:r>
            <a:endParaRPr lang="en-CA" altLang="en-PK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E7ECCC0-3904-D466-12BD-F59C6A9C0D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371600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3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“Elephants are bigger than mice.”</a:t>
            </a:r>
            <a:endParaRPr lang="en-US" altLang="en-PK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9CFE8835-3BEA-2F09-194A-F66B2139A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183" y="2590800"/>
            <a:ext cx="641736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declarative statement?</a:t>
            </a: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4EB84271-7E26-79F0-C711-9CD738B98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2514600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CED5EAE5-C009-60F0-55FF-6C101781A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429000"/>
            <a:ext cx="441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proposition?</a:t>
            </a:r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F0AB2C9A-660B-B8AE-CEE9-8BD7EC6F7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429000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55304" name="Rectangle 8">
            <a:extLst>
              <a:ext uri="{FF2B5EF4-FFF2-40B4-BE49-F238E27FC236}">
                <a16:creationId xmlns:a16="http://schemas.microsoft.com/office/drawing/2014/main" id="{73933F02-CD87-017B-0225-153B57B48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183" y="4419600"/>
            <a:ext cx="6308034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What is the truth value of the proposition?</a:t>
            </a:r>
          </a:p>
        </p:txBody>
      </p:sp>
      <p:sp>
        <p:nvSpPr>
          <p:cNvPr id="55305" name="Rectangle 9">
            <a:extLst>
              <a:ext uri="{FF2B5EF4-FFF2-40B4-BE49-F238E27FC236}">
                <a16:creationId xmlns:a16="http://schemas.microsoft.com/office/drawing/2014/main" id="{99712387-6199-209D-CDBD-D9C4DEB45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784035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>
            <a:extLst>
              <a:ext uri="{FF2B5EF4-FFF2-40B4-BE49-F238E27FC236}">
                <a16:creationId xmlns:a16="http://schemas.microsoft.com/office/drawing/2014/main" id="{4B4968AD-5F44-5644-C0D4-AC46DDFC36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371600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3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“520 &lt; 111”</a:t>
            </a:r>
            <a:endParaRPr lang="en-US" altLang="en-PK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8EC91EF3-0AB1-B478-BEBD-0A1996E34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514600"/>
            <a:ext cx="6380922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declarative statement?</a:t>
            </a:r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5D1D87D1-6261-F5AE-7823-180747CDA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6983" y="2514600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14B5E756-9459-10C1-BB58-E4576CF33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429000"/>
            <a:ext cx="441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proposition?</a:t>
            </a:r>
          </a:p>
        </p:txBody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86EA00C0-5706-32C2-3EE7-11A89608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6983" y="3429000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56328" name="Rectangle 8">
            <a:extLst>
              <a:ext uri="{FF2B5EF4-FFF2-40B4-BE49-F238E27FC236}">
                <a16:creationId xmlns:a16="http://schemas.microsoft.com/office/drawing/2014/main" id="{C0D54177-35A1-DAC9-1010-5E4B1B4FB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419600"/>
            <a:ext cx="4800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What is the truth value </a:t>
            </a:r>
          </a:p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of the proposition?</a:t>
            </a:r>
          </a:p>
        </p:txBody>
      </p:sp>
      <p:sp>
        <p:nvSpPr>
          <p:cNvPr id="56329" name="Rectangle 9">
            <a:extLst>
              <a:ext uri="{FF2B5EF4-FFF2-40B4-BE49-F238E27FC236}">
                <a16:creationId xmlns:a16="http://schemas.microsoft.com/office/drawing/2014/main" id="{79B8E286-9EC6-986E-2D1F-9E07EEF19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6983" y="4953000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false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FC5BADF-0058-49D3-B46C-76BE588FC7F0}"/>
              </a:ext>
            </a:extLst>
          </p:cNvPr>
          <p:cNvSpPr txBox="1">
            <a:spLocks noChangeArrowheads="1"/>
          </p:cNvSpPr>
          <p:nvPr/>
        </p:nvSpPr>
        <p:spPr>
          <a:xfrm>
            <a:off x="2209800" y="304800"/>
            <a:ext cx="7772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PK" sz="4000">
                <a:latin typeface="Cambria Math" panose="02040503050406030204" pitchFamily="18" charset="0"/>
                <a:ea typeface="Cambria Math" panose="02040503050406030204" pitchFamily="18" charset="0"/>
              </a:rPr>
              <a:t>The Statement/Proposition Game</a:t>
            </a:r>
            <a:endParaRPr lang="en-CA" altLang="en-PK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55C1C950-4CEA-4DD5-BAF4-E9FECC0C5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The Statement/Proposition Game</a:t>
            </a:r>
            <a:endParaRPr lang="en-CA" altLang="en-PK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CCAFAD17-331B-D2E7-F78A-738DE418BD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371600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3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“y &gt; 5”</a:t>
            </a:r>
            <a:endParaRPr lang="en-US" altLang="en-PK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EF0D15B4-DCF7-ED54-DF68-309F561FB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09800"/>
            <a:ext cx="6712226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declarative statement?</a:t>
            </a:r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60686D4C-5E76-5C71-B2D5-1EC274DF0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2171700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58CBD99A-63DD-E6EA-5321-A7E1E1A9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971800"/>
            <a:ext cx="441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proposition?</a:t>
            </a:r>
          </a:p>
        </p:txBody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498DC6EF-B9A1-D120-A0FA-E1044E144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2905539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no</a:t>
            </a:r>
          </a:p>
        </p:txBody>
      </p:sp>
      <p:sp>
        <p:nvSpPr>
          <p:cNvPr id="57352" name="Rectangle 8">
            <a:extLst>
              <a:ext uri="{FF2B5EF4-FFF2-40B4-BE49-F238E27FC236}">
                <a16:creationId xmlns:a16="http://schemas.microsoft.com/office/drawing/2014/main" id="{54B0294A-4913-0925-E358-0913654BE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810000"/>
            <a:ext cx="82296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Its truth value depends on the value of y, but this value is not specified.</a:t>
            </a:r>
          </a:p>
          <a:p>
            <a:pPr algn="just"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We call this type of statement a </a:t>
            </a:r>
            <a:r>
              <a:rPr lang="en-US" altLang="en-PK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propositional function </a:t>
            </a: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or </a:t>
            </a:r>
            <a:r>
              <a:rPr lang="en-US" altLang="en-PK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open sentence</a:t>
            </a: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7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7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>
            <a:extLst>
              <a:ext uri="{FF2B5EF4-FFF2-40B4-BE49-F238E27FC236}">
                <a16:creationId xmlns:a16="http://schemas.microsoft.com/office/drawing/2014/main" id="{18BF8E51-498C-A607-3102-262534DC0B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371600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3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“Today is March, 2025 and  99 &lt; 5.”</a:t>
            </a:r>
            <a:endParaRPr lang="en-US" altLang="en-PK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380C293F-91C3-1868-30AC-B5C914E96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362200"/>
            <a:ext cx="6632714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declarative statement?</a:t>
            </a:r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FAEA28AC-B464-BA9A-0DA6-AA24A2EEA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2286000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36D15297-1380-2351-5286-E00B932D1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366" y="3296478"/>
            <a:ext cx="441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proposition?</a:t>
            </a:r>
          </a:p>
        </p:txBody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4589805E-8F25-1E85-F577-19FCC5D4C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3279913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58377" name="Rectangle 9">
            <a:extLst>
              <a:ext uri="{FF2B5EF4-FFF2-40B4-BE49-F238E27FC236}">
                <a16:creationId xmlns:a16="http://schemas.microsoft.com/office/drawing/2014/main" id="{4B6B6DAE-C1E1-2FB9-2D4F-D0353347F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366" y="4419600"/>
            <a:ext cx="6616148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What is the truth value of the proposition?</a:t>
            </a:r>
          </a:p>
        </p:txBody>
      </p:sp>
      <p:sp>
        <p:nvSpPr>
          <p:cNvPr id="58378" name="Rectangle 10">
            <a:extLst>
              <a:ext uri="{FF2B5EF4-FFF2-40B4-BE49-F238E27FC236}">
                <a16:creationId xmlns:a16="http://schemas.microsoft.com/office/drawing/2014/main" id="{6FC95301-F952-6611-25B4-51EAB40C2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800" y="4956313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false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5F15B30-9777-4EC6-A413-42E3B0359253}"/>
              </a:ext>
            </a:extLst>
          </p:cNvPr>
          <p:cNvSpPr txBox="1">
            <a:spLocks noChangeArrowheads="1"/>
          </p:cNvSpPr>
          <p:nvPr/>
        </p:nvSpPr>
        <p:spPr>
          <a:xfrm>
            <a:off x="2209800" y="304800"/>
            <a:ext cx="7772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PK" sz="4000">
                <a:latin typeface="Cambria Math" panose="02040503050406030204" pitchFamily="18" charset="0"/>
                <a:ea typeface="Cambria Math" panose="02040503050406030204" pitchFamily="18" charset="0"/>
              </a:rPr>
              <a:t>The Statement/Proposition Game</a:t>
            </a:r>
            <a:endParaRPr lang="en-CA" altLang="en-PK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8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E888F827-AF12-457E-80C8-FAB742482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The Statement/Proposition Game</a:t>
            </a:r>
            <a:endParaRPr lang="en-CA" altLang="en-PK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C404840-57BF-CA6E-326B-E895F4E273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371600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3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“Please do not fall asleep.”</a:t>
            </a:r>
            <a:endParaRPr lang="en-US" altLang="en-PK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5BBF53E2-EE2D-E84F-BB44-52355C916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09800"/>
            <a:ext cx="6705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declarative statement?</a:t>
            </a:r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8CD03727-D8BD-F712-25B2-1BCCC5C02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2189922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no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A0F91871-1DEB-FE6E-504C-711BC940E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038600"/>
            <a:ext cx="441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proposition?</a:t>
            </a:r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0FA5E09E-DBA0-6E7C-8383-989E92300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4018722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no</a:t>
            </a:r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3AF4D798-C67C-BF6D-6C38-B340D09A5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3634" y="5199822"/>
            <a:ext cx="994575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Only declarative statements can be propositions.</a:t>
            </a:r>
          </a:p>
        </p:txBody>
      </p:sp>
      <p:sp>
        <p:nvSpPr>
          <p:cNvPr id="59402" name="Rectangle 10">
            <a:extLst>
              <a:ext uri="{FF2B5EF4-FFF2-40B4-BE49-F238E27FC236}">
                <a16:creationId xmlns:a16="http://schemas.microsoft.com/office/drawing/2014/main" id="{8314CD1A-E731-6653-E03B-D836CCCBD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971800"/>
            <a:ext cx="4191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It’s a request.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E888F827-AF12-457E-80C8-FAB742482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The Statement/Proposition Game</a:t>
            </a:r>
            <a:endParaRPr lang="en-CA" altLang="en-PK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C404840-57BF-CA6E-326B-E895F4E273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371600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3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“What is your name?”</a:t>
            </a:r>
            <a:endParaRPr lang="en-US" altLang="en-PK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5BBF53E2-EE2D-E84F-BB44-52355C916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270" y="2543444"/>
            <a:ext cx="6705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declarative statement?</a:t>
            </a:r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8CD03727-D8BD-F712-25B2-1BCCC5C02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8870" y="2523566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no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A0F91871-1DEB-FE6E-504C-711BC940E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270" y="4372244"/>
            <a:ext cx="441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proposition?</a:t>
            </a:r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0FA5E09E-DBA0-6E7C-8383-989E92300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8870" y="4352366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no</a:t>
            </a:r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3AF4D798-C67C-BF6D-6C38-B340D09A5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3634" y="5199822"/>
            <a:ext cx="9945757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Only declarative statements can be propositions.</a:t>
            </a:r>
          </a:p>
        </p:txBody>
      </p:sp>
      <p:sp>
        <p:nvSpPr>
          <p:cNvPr id="59402" name="Rectangle 10">
            <a:extLst>
              <a:ext uri="{FF2B5EF4-FFF2-40B4-BE49-F238E27FC236}">
                <a16:creationId xmlns:a16="http://schemas.microsoft.com/office/drawing/2014/main" id="{8314CD1A-E731-6653-E03B-D836CCCBD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270" y="3305444"/>
            <a:ext cx="648148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It’s a question / interrogation</a:t>
            </a:r>
          </a:p>
        </p:txBody>
      </p:sp>
    </p:spTree>
    <p:extLst>
      <p:ext uri="{BB962C8B-B14F-4D97-AF65-F5344CB8AC3E}">
        <p14:creationId xmlns:p14="http://schemas.microsoft.com/office/powerpoint/2010/main" val="398139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E888F827-AF12-457E-80C8-FAB742482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The Statement/Proposition Game</a:t>
            </a:r>
            <a:endParaRPr lang="en-CA" altLang="en-PK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C404840-57BF-CA6E-326B-E895F4E273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371600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3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“C++ is the best language”</a:t>
            </a:r>
            <a:endParaRPr lang="en-US" altLang="en-PK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5BBF53E2-EE2D-E84F-BB44-52355C916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270" y="2543444"/>
            <a:ext cx="6705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declarative statement?</a:t>
            </a:r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8CD03727-D8BD-F712-25B2-1BCCC5C02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8870" y="2523566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A0F91871-1DEB-FE6E-504C-711BC940E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270" y="3528733"/>
            <a:ext cx="441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proposition?</a:t>
            </a:r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0FA5E09E-DBA0-6E7C-8383-989E92300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3508855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no</a:t>
            </a:r>
          </a:p>
        </p:txBody>
      </p:sp>
      <p:sp>
        <p:nvSpPr>
          <p:cNvPr id="59402" name="Rectangle 10">
            <a:extLst>
              <a:ext uri="{FF2B5EF4-FFF2-40B4-BE49-F238E27FC236}">
                <a16:creationId xmlns:a16="http://schemas.microsoft.com/office/drawing/2014/main" id="{8314CD1A-E731-6653-E03B-D836CCCBD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5329" y="4512073"/>
            <a:ext cx="648148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It’s an opinion.</a:t>
            </a:r>
          </a:p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No opinion is a proposition.</a:t>
            </a:r>
          </a:p>
        </p:txBody>
      </p:sp>
    </p:spTree>
    <p:extLst>
      <p:ext uri="{BB962C8B-B14F-4D97-AF65-F5344CB8AC3E}">
        <p14:creationId xmlns:p14="http://schemas.microsoft.com/office/powerpoint/2010/main" val="278270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>
            <a:extLst>
              <a:ext uri="{FF2B5EF4-FFF2-40B4-BE49-F238E27FC236}">
                <a16:creationId xmlns:a16="http://schemas.microsoft.com/office/drawing/2014/main" id="{80672A24-7BDB-45BA-B158-9D33D58DCB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143000"/>
            <a:ext cx="8229600" cy="7620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32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“x &lt; y if and only if y &gt; x.”</a:t>
            </a:r>
            <a:endParaRPr lang="en-US" altLang="en-PK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44014B94-3DD2-CAAD-9E76-089251EA4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765" y="2038350"/>
            <a:ext cx="7306235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declarative statement?</a:t>
            </a:r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82361F9F-AAA8-B61B-3912-F8C833A3A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006974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9FDA1E00-A06F-E0A5-3F5E-3AD596FFB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9129" y="2705100"/>
            <a:ext cx="4419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Is this a proposition?</a:t>
            </a:r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CDB81F21-95BE-DD36-8FDF-CCD844BD8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2609850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yes</a:t>
            </a:r>
          </a:p>
        </p:txBody>
      </p:sp>
      <p:sp>
        <p:nvSpPr>
          <p:cNvPr id="61448" name="Rectangle 8">
            <a:extLst>
              <a:ext uri="{FF2B5EF4-FFF2-40B4-BE49-F238E27FC236}">
                <a16:creationId xmlns:a16="http://schemas.microsoft.com/office/drawing/2014/main" id="{14BA8236-049D-1340-C4D5-403F00A0C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9129" y="5067300"/>
            <a:ext cx="4800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What is the truth value </a:t>
            </a:r>
          </a:p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of the proposition?</a:t>
            </a:r>
          </a:p>
        </p:txBody>
      </p:sp>
      <p:sp>
        <p:nvSpPr>
          <p:cNvPr id="61449" name="Rectangle 9">
            <a:extLst>
              <a:ext uri="{FF2B5EF4-FFF2-40B4-BE49-F238E27FC236}">
                <a16:creationId xmlns:a16="http://schemas.microsoft.com/office/drawing/2014/main" id="{99E39125-FA10-1DF1-E243-8F8627C96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5372100"/>
            <a:ext cx="114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 dirty="0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true</a:t>
            </a:r>
          </a:p>
        </p:txBody>
      </p:sp>
      <p:sp>
        <p:nvSpPr>
          <p:cNvPr id="61450" name="Rectangle 10">
            <a:extLst>
              <a:ext uri="{FF2B5EF4-FFF2-40B4-BE49-F238E27FC236}">
                <a16:creationId xmlns:a16="http://schemas.microsoft.com/office/drawing/2014/main" id="{CEB8240D-C124-3CDF-7DBC-60C312DBA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9129" y="3314700"/>
            <a:ext cx="55626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en-PK" sz="32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</a:rPr>
              <a:t>… because its truth value  does not depend on specific values of x and y.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22F4098-0B22-449A-A281-54B1669A6324}"/>
              </a:ext>
            </a:extLst>
          </p:cNvPr>
          <p:cNvSpPr txBox="1">
            <a:spLocks noChangeArrowheads="1"/>
          </p:cNvSpPr>
          <p:nvPr/>
        </p:nvSpPr>
        <p:spPr>
          <a:xfrm>
            <a:off x="2209800" y="304800"/>
            <a:ext cx="7772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PK" sz="4000">
                <a:latin typeface="Cambria Math" panose="02040503050406030204" pitchFamily="18" charset="0"/>
                <a:ea typeface="Cambria Math" panose="02040503050406030204" pitchFamily="18" charset="0"/>
              </a:rPr>
              <a:t>The Statement/Proposition Game</a:t>
            </a:r>
            <a:endParaRPr lang="en-CA" altLang="en-PK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B7125-EA0E-49C3-9900-C338E11D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4382"/>
            <a:ext cx="10515600" cy="1431027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</a:t>
            </a:r>
          </a:p>
        </p:txBody>
      </p:sp>
    </p:spTree>
    <p:extLst>
      <p:ext uri="{BB962C8B-B14F-4D97-AF65-F5344CB8AC3E}">
        <p14:creationId xmlns:p14="http://schemas.microsoft.com/office/powerpoint/2010/main" val="3025501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162" y="226352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Proposition: 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Logical Connectives</a:t>
            </a:r>
            <a:endParaRPr lang="en-US" sz="3600" dirty="0">
              <a:solidFill>
                <a:schemeClr val="accent4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2AF4-5067-D629-6750-9FEE21E0D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99" y="1095555"/>
            <a:ext cx="10693377" cy="508140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 are obtained the use of logical connectives.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Logical Connectives include: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Negation 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     … (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denoted by ! or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¬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And   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… (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denoted by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∧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). It is called Logical Conjunction.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Or 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… (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denoted by ∨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). It is called Logical Disjunction.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Exclusive OR          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 (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denoted by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Implication  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  … (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denoted by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)</a:t>
            </a: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Biconditional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 … (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denoted by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↔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7120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162" y="602205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Proposition: 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Examples</a:t>
            </a:r>
            <a:endParaRPr lang="en-US" sz="3600" dirty="0">
              <a:solidFill>
                <a:schemeClr val="accent4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2AF4-5067-D629-6750-9FEE21E0D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162" y="1746484"/>
            <a:ext cx="10391454" cy="3739916"/>
          </a:xfrm>
        </p:spPr>
        <p:txBody>
          <a:bodyPr>
            <a:normAutofit/>
          </a:bodyPr>
          <a:lstStyle/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weather of Murree is not very pleasant</a:t>
            </a:r>
          </a:p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is a sunny day outside but children are not playing in the parks.</a:t>
            </a:r>
          </a:p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Either the students are playing Cricket or the teachers are gossiping.</a:t>
            </a:r>
          </a:p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Either it is day or it is night but not both</a:t>
            </a:r>
          </a:p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My students are very honest and hard-working</a:t>
            </a:r>
          </a:p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you secure A grade then I will buy you a new bike.</a:t>
            </a:r>
          </a:p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Ali goes to school if and only if his father drops him there.</a:t>
            </a:r>
          </a:p>
          <a:p>
            <a:pPr marL="0" indent="0" algn="just">
              <a:buClr>
                <a:schemeClr val="accent6">
                  <a:lumMod val="50000"/>
                </a:schemeClr>
              </a:buClr>
              <a:buNone/>
            </a:pPr>
            <a:endParaRPr lang="en-US" sz="24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839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92" name="Group 180">
            <a:extLst>
              <a:ext uri="{FF2B5EF4-FFF2-40B4-BE49-F238E27FC236}">
                <a16:creationId xmlns:a16="http://schemas.microsoft.com/office/drawing/2014/main" id="{814575A3-A61D-421B-555F-0041A283A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915719"/>
              </p:ext>
            </p:extLst>
          </p:nvPr>
        </p:nvGraphicFramePr>
        <p:xfrm>
          <a:off x="4108174" y="4701395"/>
          <a:ext cx="4306956" cy="1986234"/>
        </p:xfrm>
        <a:graphic>
          <a:graphicData uri="http://schemas.openxmlformats.org/drawingml/2006/table">
            <a:tbl>
              <a:tblPr/>
              <a:tblGrid>
                <a:gridCol w="2153478">
                  <a:extLst>
                    <a:ext uri="{9D8B030D-6E8A-4147-A177-3AD203B41FA5}">
                      <a16:colId xmlns:a16="http://schemas.microsoft.com/office/drawing/2014/main" val="3527549466"/>
                    </a:ext>
                  </a:extLst>
                </a:gridCol>
                <a:gridCol w="2153478">
                  <a:extLst>
                    <a:ext uri="{9D8B030D-6E8A-4147-A177-3AD203B41FA5}">
                      <a16:colId xmlns:a16="http://schemas.microsoft.com/office/drawing/2014/main" val="1319742655"/>
                    </a:ext>
                  </a:extLst>
                </a:gridCol>
              </a:tblGrid>
              <a:tr h="66207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 </a:t>
                      </a:r>
                      <a:r>
                        <a:rPr kumimoji="0" lang="en-US" altLang="en-PK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CA" altLang="en-PK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096250"/>
                  </a:ext>
                </a:extLst>
              </a:tr>
              <a:tr h="66207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6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true (T)</a:t>
                      </a:r>
                      <a:endParaRPr kumimoji="0" lang="en-CA" altLang="en-PK" sz="36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6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false (F)</a:t>
                      </a:r>
                      <a:endParaRPr kumimoji="0" lang="en-CA" altLang="en-PK" sz="36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90864"/>
                  </a:ext>
                </a:extLst>
              </a:tr>
              <a:tr h="66207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6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false (F)</a:t>
                      </a:r>
                      <a:endParaRPr kumimoji="0" lang="en-CA" altLang="en-PK" sz="36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true (T)</a:t>
                      </a:r>
                      <a:endParaRPr kumimoji="0" lang="en-CA" altLang="en-PK" sz="36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09572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3B10E80-1443-4EEA-892C-9E81F3944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87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Propositions…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Negation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0A9636F-E816-4108-9D64-8BFE7426E3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5799" y="1095555"/>
                <a:ext cx="10693377" cy="360584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buClr>
                    <a:schemeClr val="accent6">
                      <a:lumMod val="5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proposition can be negated using one of the symbols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¬,  ~ 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!</m:t>
                    </m:r>
                  </m:oMath>
                </a14:m>
                <a:endParaRPr lang="en-US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Clr>
                    <a:schemeClr val="accent6">
                      <a:lumMod val="50000"/>
                    </a:schemeClr>
                  </a:buClr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Clr>
                    <a:schemeClr val="accent6">
                      <a:lumMod val="50000"/>
                    </a:schemeClr>
                  </a:buClr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Given a proposition p,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called the negation of p.</a:t>
                </a:r>
              </a:p>
              <a:p>
                <a:pPr marL="0" indent="0" algn="just">
                  <a:buClr>
                    <a:schemeClr val="accent6">
                      <a:lumMod val="50000"/>
                    </a:schemeClr>
                  </a:buClr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Clr>
                    <a:schemeClr val="accent6">
                      <a:lumMod val="50000"/>
                    </a:schemeClr>
                  </a:buClr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a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Unary Operator.</a:t>
                </a:r>
              </a:p>
              <a:p>
                <a:pPr marL="0" indent="0" algn="just">
                  <a:buClr>
                    <a:schemeClr val="accent6">
                      <a:lumMod val="50000"/>
                    </a:schemeClr>
                  </a:buClr>
                  <a:buFont typeface="Arial" panose="020B0604020202020204" pitchFamily="34" charset="0"/>
                  <a:buNone/>
                </a:pPr>
                <a:endParaRPr lang="en-US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Clr>
                    <a:schemeClr val="accent6">
                      <a:lumMod val="50000"/>
                    </a:schemeClr>
                  </a:buClr>
                  <a:buFont typeface="Arial" panose="020B0604020202020204" pitchFamily="34" charset="0"/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Note: 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given that p is a proposition,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𝑎𝑙𝑠𝑜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𝑝𝑟𝑜𝑝𝑜𝑠𝑖𝑡𝑖𝑜𝑛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  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the truth value of p is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True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then the truth value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False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Vise Versa. 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0A9636F-E816-4108-9D64-8BFE7426E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799" y="1095555"/>
                <a:ext cx="10693377" cy="3605841"/>
              </a:xfrm>
              <a:prstGeom prst="rect">
                <a:avLst/>
              </a:prstGeom>
              <a:blipFill>
                <a:blip r:embed="rId2"/>
                <a:stretch>
                  <a:fillRect l="-1026" t="-3892" r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083A-817F-5A31-D861-DC63E247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12" y="245013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Connectives …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Negation … 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Examples</a:t>
            </a:r>
            <a:endParaRPr lang="en-US" sz="4000" dirty="0">
              <a:solidFill>
                <a:schemeClr val="accent4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28C5534-587D-A4D7-6DBB-F5B7069853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5860836"/>
                  </p:ext>
                </p:extLst>
              </p:nvPr>
            </p:nvGraphicFramePr>
            <p:xfrm>
              <a:off x="1574030" y="1930965"/>
              <a:ext cx="8325345" cy="29960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69402">
                      <a:extLst>
                        <a:ext uri="{9D8B030D-6E8A-4147-A177-3AD203B41FA5}">
                          <a16:colId xmlns:a16="http://schemas.microsoft.com/office/drawing/2014/main" val="4255995996"/>
                        </a:ext>
                      </a:extLst>
                    </a:gridCol>
                    <a:gridCol w="4855943">
                      <a:extLst>
                        <a:ext uri="{9D8B030D-6E8A-4147-A177-3AD203B41FA5}">
                          <a16:colId xmlns:a16="http://schemas.microsoft.com/office/drawing/2014/main" val="760548859"/>
                        </a:ext>
                      </a:extLst>
                    </a:gridCol>
                  </a:tblGrid>
                  <a:tr h="5992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n-US" sz="2400" b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4574798"/>
                      </a:ext>
                    </a:extLst>
                  </a:tr>
                  <a:tr h="599214"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It is hot today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It is not hot today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4737858"/>
                      </a:ext>
                    </a:extLst>
                  </a:tr>
                  <a:tr h="59921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Today is Monday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It is not Monday today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785945"/>
                      </a:ext>
                    </a:extLst>
                  </a:tr>
                  <a:tr h="59921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x &gt; 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≯10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8259300"/>
                      </a:ext>
                    </a:extLst>
                  </a:tr>
                  <a:tr h="59921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 am singing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It is not the case that I am singing.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8020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E28C5534-587D-A4D7-6DBB-F5B7069853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5860836"/>
                  </p:ext>
                </p:extLst>
              </p:nvPr>
            </p:nvGraphicFramePr>
            <p:xfrm>
              <a:off x="1574030" y="1930965"/>
              <a:ext cx="8325345" cy="29960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69402">
                      <a:extLst>
                        <a:ext uri="{9D8B030D-6E8A-4147-A177-3AD203B41FA5}">
                          <a16:colId xmlns:a16="http://schemas.microsoft.com/office/drawing/2014/main" val="4255995996"/>
                        </a:ext>
                      </a:extLst>
                    </a:gridCol>
                    <a:gridCol w="4855943">
                      <a:extLst>
                        <a:ext uri="{9D8B030D-6E8A-4147-A177-3AD203B41FA5}">
                          <a16:colId xmlns:a16="http://schemas.microsoft.com/office/drawing/2014/main" val="760548859"/>
                        </a:ext>
                      </a:extLst>
                    </a:gridCol>
                  </a:tblGrid>
                  <a:tr h="5992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518" t="-7071" r="-627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4574798"/>
                      </a:ext>
                    </a:extLst>
                  </a:tr>
                  <a:tr h="599214"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It is hot today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It is not hot today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4737858"/>
                      </a:ext>
                    </a:extLst>
                  </a:tr>
                  <a:tr h="59921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Today is Monday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It is not Monday today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785945"/>
                      </a:ext>
                    </a:extLst>
                  </a:tr>
                  <a:tr h="59921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x &gt; 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1518" t="-309184" r="-627" b="-1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8259300"/>
                      </a:ext>
                    </a:extLst>
                  </a:tr>
                  <a:tr h="59921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 am singing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It is not the case that I am singing.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8020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98287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7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Propositions…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Conjunction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∧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Clr>
                    <a:schemeClr val="accent6">
                      <a:lumMod val="50000"/>
                    </a:schemeClr>
                  </a:buClr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compound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statement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can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formed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using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symbol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of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between two or more propositions.</a:t>
                </a:r>
              </a:p>
              <a:p>
                <a:pPr marL="0" indent="0" algn="just">
                  <a:lnSpc>
                    <a:spcPct val="100000"/>
                  </a:lnSpc>
                  <a:buClr>
                    <a:schemeClr val="accent6">
                      <a:lumMod val="50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when used between two propositions, has its truth value equal to True only when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both of the propositions have truth values equal to True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In all other cases,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will have False as its truth value.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  <a:blipFill>
                <a:blip r:embed="rId2"/>
                <a:stretch>
                  <a:fillRect l="-1140" t="-1861" r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5F3C5084-F251-273A-B557-93BA560816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127555" y="4006331"/>
              <a:ext cx="580941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4445">
                      <a:extLst>
                        <a:ext uri="{9D8B030D-6E8A-4147-A177-3AD203B41FA5}">
                          <a16:colId xmlns:a16="http://schemas.microsoft.com/office/drawing/2014/main" val="2131480719"/>
                        </a:ext>
                      </a:extLst>
                    </a:gridCol>
                    <a:gridCol w="1673525">
                      <a:extLst>
                        <a:ext uri="{9D8B030D-6E8A-4147-A177-3AD203B41FA5}">
                          <a16:colId xmlns:a16="http://schemas.microsoft.com/office/drawing/2014/main" val="2913269701"/>
                        </a:ext>
                      </a:extLst>
                    </a:gridCol>
                    <a:gridCol w="2691440">
                      <a:extLst>
                        <a:ext uri="{9D8B030D-6E8A-4147-A177-3AD203B41FA5}">
                          <a16:colId xmlns:a16="http://schemas.microsoft.com/office/drawing/2014/main" val="208238171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40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∧</m:t>
                              </m:r>
                            </m:oMath>
                          </a14:m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Q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33369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94754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71951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1584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58948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5F3C5084-F251-273A-B557-93BA560816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0438308"/>
                  </p:ext>
                </p:extLst>
              </p:nvPr>
            </p:nvGraphicFramePr>
            <p:xfrm>
              <a:off x="3127555" y="4006331"/>
              <a:ext cx="580941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4445">
                      <a:extLst>
                        <a:ext uri="{9D8B030D-6E8A-4147-A177-3AD203B41FA5}">
                          <a16:colId xmlns:a16="http://schemas.microsoft.com/office/drawing/2014/main" val="2131480719"/>
                        </a:ext>
                      </a:extLst>
                    </a:gridCol>
                    <a:gridCol w="1673525">
                      <a:extLst>
                        <a:ext uri="{9D8B030D-6E8A-4147-A177-3AD203B41FA5}">
                          <a16:colId xmlns:a16="http://schemas.microsoft.com/office/drawing/2014/main" val="2913269701"/>
                        </a:ext>
                      </a:extLst>
                    </a:gridCol>
                    <a:gridCol w="2691440">
                      <a:extLst>
                        <a:ext uri="{9D8B030D-6E8A-4147-A177-3AD203B41FA5}">
                          <a16:colId xmlns:a16="http://schemas.microsoft.com/office/drawing/2014/main" val="20823817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6063" t="-10667" r="-905" b="-4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333697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94754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719514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158458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58948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8314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7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Propositions…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Conjunction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∧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79999BD-094D-50BF-8D5F-D5771E4B3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372788"/>
              </p:ext>
            </p:extLst>
          </p:nvPr>
        </p:nvGraphicFramePr>
        <p:xfrm>
          <a:off x="1083095" y="1366648"/>
          <a:ext cx="10502180" cy="3619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373">
                  <a:extLst>
                    <a:ext uri="{9D8B030D-6E8A-4147-A177-3AD203B41FA5}">
                      <a16:colId xmlns:a16="http://schemas.microsoft.com/office/drawing/2014/main" val="1150675419"/>
                    </a:ext>
                  </a:extLst>
                </a:gridCol>
                <a:gridCol w="2881223">
                  <a:extLst>
                    <a:ext uri="{9D8B030D-6E8A-4147-A177-3AD203B41FA5}">
                      <a16:colId xmlns:a16="http://schemas.microsoft.com/office/drawing/2014/main" val="3116538766"/>
                    </a:ext>
                  </a:extLst>
                </a:gridCol>
                <a:gridCol w="5089584">
                  <a:extLst>
                    <a:ext uri="{9D8B030D-6E8A-4147-A177-3AD203B41FA5}">
                      <a16:colId xmlns:a16="http://schemas.microsoft.com/office/drawing/2014/main" val="212087108"/>
                    </a:ext>
                  </a:extLst>
                </a:gridCol>
              </a:tblGrid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∧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  <a:endPara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518156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 + 5 =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It is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 + 5 = 6 AND it is raining.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93449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Ali is punctual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Ali is 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Ali is both punctual and regular.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234374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Sara is smart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Sara is intelligent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Sara is both smart as well as intelligent.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947030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Lahore is hot in summer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Lahore is dusty in summer.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 summer, Lahore is hot and dusty.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15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727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29" y="1"/>
            <a:ext cx="10515600" cy="98213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15849" y="1498111"/>
                <a:ext cx="10913092" cy="2572573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2+3 = 5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Q: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&lt;2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 AND Q: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2+3=5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&lt;2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TRUE AND TRUE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1=1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5849" y="1498111"/>
                <a:ext cx="10913092" cy="2572573"/>
              </a:xfrm>
              <a:blipFill>
                <a:blip r:embed="rId2"/>
                <a:stretch>
                  <a:fillRect l="-1006" t="-4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597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7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Propositions…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Conjunction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∧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Clr>
                    <a:schemeClr val="accent6">
                      <a:lumMod val="50000"/>
                    </a:schemeClr>
                  </a:buClr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when used between more than two propositions has its truth value equal to True only when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all of the propositions have truth values equal to True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In all other cases,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will have False as its truth value.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  <a:blipFill>
                <a:blip r:embed="rId2"/>
                <a:stretch>
                  <a:fillRect l="-1140" t="-1861" r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E343B67-0B88-9B2E-C59D-C73D4425EE93}"/>
              </a:ext>
            </a:extLst>
          </p:cNvPr>
          <p:cNvGraphicFramePr>
            <a:graphicFrameLocks noGrp="1"/>
          </p:cNvGraphicFramePr>
          <p:nvPr/>
        </p:nvGraphicFramePr>
        <p:xfrm>
          <a:off x="1405625" y="2769079"/>
          <a:ext cx="938074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107">
                  <a:extLst>
                    <a:ext uri="{9D8B030D-6E8A-4147-A177-3AD203B41FA5}">
                      <a16:colId xmlns:a16="http://schemas.microsoft.com/office/drawing/2014/main" val="3623321387"/>
                    </a:ext>
                  </a:extLst>
                </a:gridCol>
                <a:gridCol w="1340107">
                  <a:extLst>
                    <a:ext uri="{9D8B030D-6E8A-4147-A177-3AD203B41FA5}">
                      <a16:colId xmlns:a16="http://schemas.microsoft.com/office/drawing/2014/main" val="3826227498"/>
                    </a:ext>
                  </a:extLst>
                </a:gridCol>
                <a:gridCol w="1340107">
                  <a:extLst>
                    <a:ext uri="{9D8B030D-6E8A-4147-A177-3AD203B41FA5}">
                      <a16:colId xmlns:a16="http://schemas.microsoft.com/office/drawing/2014/main" val="2685219028"/>
                    </a:ext>
                  </a:extLst>
                </a:gridCol>
                <a:gridCol w="1340107">
                  <a:extLst>
                    <a:ext uri="{9D8B030D-6E8A-4147-A177-3AD203B41FA5}">
                      <a16:colId xmlns:a16="http://schemas.microsoft.com/office/drawing/2014/main" val="154724667"/>
                    </a:ext>
                  </a:extLst>
                </a:gridCol>
                <a:gridCol w="983821">
                  <a:extLst>
                    <a:ext uri="{9D8B030D-6E8A-4147-A177-3AD203B41FA5}">
                      <a16:colId xmlns:a16="http://schemas.microsoft.com/office/drawing/2014/main" val="3488847856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2464195662"/>
                    </a:ext>
                  </a:extLst>
                </a:gridCol>
                <a:gridCol w="2294628">
                  <a:extLst>
                    <a:ext uri="{9D8B030D-6E8A-4147-A177-3AD203B41FA5}">
                      <a16:colId xmlns:a16="http://schemas.microsoft.com/office/drawing/2014/main" val="1115270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∧ B ∧ C ∧ D…</a:t>
                      </a:r>
                      <a:endPara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222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70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100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98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23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238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57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728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885" y="0"/>
            <a:ext cx="10515600" cy="83852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35698"/>
                <a:ext cx="10515600" cy="5141265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𝑝𝑟𝑜𝑝𝑜𝑠𝑖𝑡𝑖𝑜𝑛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𝐹𝑎𝑙𝑠𝑒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we have number of propositions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…. If any of these statements is 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FASLE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then whole </a:t>
                </a:r>
                <a:r>
                  <a:rPr lang="en-US" b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CONJUNCTION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FASLE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∧⋯∧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𝐹𝑎𝑙𝑠𝑒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35698"/>
                <a:ext cx="10515600" cy="514126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103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BBDE170-2219-43DF-8EF4-A625B1C3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632" y="304475"/>
            <a:ext cx="10515600" cy="83852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AND Truth Table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4B878AE-4E21-DD53-F69E-C6F773B42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371600"/>
            <a:ext cx="8077200" cy="838200"/>
          </a:xfrm>
        </p:spPr>
        <p:txBody>
          <a:bodyPr/>
          <a:lstStyle/>
          <a:p>
            <a:pPr algn="ctr"/>
            <a:r>
              <a:rPr lang="en-US" altLang="en-PK" sz="4000" dirty="0"/>
              <a:t>Binary Operator, Symbol:  </a:t>
            </a:r>
            <a:r>
              <a:rPr lang="en-US" altLang="en-PK" sz="4000" b="1" dirty="0">
                <a:sym typeface="Symbol" panose="05050102010706020507" pitchFamily="18" charset="2"/>
              </a:rPr>
              <a:t></a:t>
            </a:r>
            <a:endParaRPr lang="en-US" altLang="en-PK" sz="4000" b="1" dirty="0"/>
          </a:p>
        </p:txBody>
      </p:sp>
      <p:graphicFrame>
        <p:nvGraphicFramePr>
          <p:cNvPr id="19703" name="Group 247">
            <a:extLst>
              <a:ext uri="{FF2B5EF4-FFF2-40B4-BE49-F238E27FC236}">
                <a16:creationId xmlns:a16="http://schemas.microsoft.com/office/drawing/2014/main" id="{2595BD8E-50B4-C14F-5775-A7DEBD2A5819}"/>
              </a:ext>
            </a:extLst>
          </p:cNvPr>
          <p:cNvGraphicFramePr>
            <a:graphicFrameLocks noGrp="1"/>
          </p:cNvGraphicFramePr>
          <p:nvPr/>
        </p:nvGraphicFramePr>
        <p:xfrm>
          <a:off x="3733800" y="2438401"/>
          <a:ext cx="5334000" cy="3257551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159003249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10361933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518001035"/>
                    </a:ext>
                  </a:extLst>
                </a:gridCol>
              </a:tblGrid>
              <a:tr h="6318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 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012713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122029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676784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13147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47873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7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Propositions…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Disjunction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∨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Clr>
                    <a:schemeClr val="accent6">
                      <a:lumMod val="50000"/>
                    </a:schemeClr>
                  </a:buClr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compound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statement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can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formed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using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symbol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of</m:t>
                    </m:r>
                    <m:r>
                      <a:rPr lang="en-US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between two or more propositions. </a:t>
                </a:r>
              </a:p>
              <a:p>
                <a:pPr marL="0" indent="0" algn="just">
                  <a:lnSpc>
                    <a:spcPct val="100000"/>
                  </a:lnSpc>
                  <a:buClr>
                    <a:schemeClr val="accent6">
                      <a:lumMod val="50000"/>
                    </a:schemeClr>
                  </a:buClr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∨ 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when used between two propositions, has its truth value equal to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False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only when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both of the propositions have truth values equal to False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In all other cases,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∨ 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will have </a:t>
                </a:r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True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as its truth value.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  <a:blipFill>
                <a:blip r:embed="rId2"/>
                <a:stretch>
                  <a:fillRect l="-1140" t="-1861" r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F3C5084-F251-273A-B557-93BA5608165B}"/>
              </a:ext>
            </a:extLst>
          </p:cNvPr>
          <p:cNvGraphicFramePr>
            <a:graphicFrameLocks noGrp="1"/>
          </p:cNvGraphicFramePr>
          <p:nvPr/>
        </p:nvGraphicFramePr>
        <p:xfrm>
          <a:off x="3127555" y="4006331"/>
          <a:ext cx="580941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445">
                  <a:extLst>
                    <a:ext uri="{9D8B030D-6E8A-4147-A177-3AD203B41FA5}">
                      <a16:colId xmlns:a16="http://schemas.microsoft.com/office/drawing/2014/main" val="2131480719"/>
                    </a:ext>
                  </a:extLst>
                </a:gridCol>
                <a:gridCol w="1673525">
                  <a:extLst>
                    <a:ext uri="{9D8B030D-6E8A-4147-A177-3AD203B41FA5}">
                      <a16:colId xmlns:a16="http://schemas.microsoft.com/office/drawing/2014/main" val="2913269701"/>
                    </a:ext>
                  </a:extLst>
                </a:gridCol>
                <a:gridCol w="2691440">
                  <a:extLst>
                    <a:ext uri="{9D8B030D-6E8A-4147-A177-3AD203B41FA5}">
                      <a16:colId xmlns:a16="http://schemas.microsoft.com/office/drawing/2014/main" val="20823817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∨ </a:t>
                      </a:r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33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75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19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894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2784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7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Propositions…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Disjunction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∨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79999BD-094D-50BF-8D5F-D5771E4B37A6}"/>
              </a:ext>
            </a:extLst>
          </p:cNvPr>
          <p:cNvGraphicFramePr>
            <a:graphicFrameLocks noGrp="1"/>
          </p:cNvGraphicFramePr>
          <p:nvPr/>
        </p:nvGraphicFramePr>
        <p:xfrm>
          <a:off x="1083095" y="1366648"/>
          <a:ext cx="10502180" cy="3454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373">
                  <a:extLst>
                    <a:ext uri="{9D8B030D-6E8A-4147-A177-3AD203B41FA5}">
                      <a16:colId xmlns:a16="http://schemas.microsoft.com/office/drawing/2014/main" val="1150675419"/>
                    </a:ext>
                  </a:extLst>
                </a:gridCol>
                <a:gridCol w="2881223">
                  <a:extLst>
                    <a:ext uri="{9D8B030D-6E8A-4147-A177-3AD203B41FA5}">
                      <a16:colId xmlns:a16="http://schemas.microsoft.com/office/drawing/2014/main" val="3116538766"/>
                    </a:ext>
                  </a:extLst>
                </a:gridCol>
                <a:gridCol w="5089584">
                  <a:extLst>
                    <a:ext uri="{9D8B030D-6E8A-4147-A177-3AD203B41FA5}">
                      <a16:colId xmlns:a16="http://schemas.microsoft.com/office/drawing/2014/main" val="212087108"/>
                    </a:ext>
                  </a:extLst>
                </a:gridCol>
              </a:tblGrid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∨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  <a:endPara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518156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 + 5 =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It is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 + 5 = 6 or it is raining.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93449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Ali is punctual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Ali is 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Ali is either punctual or regular.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234374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Sara is smart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Sara is intelligent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Sara is smart or she is intelligent.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947030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Lahore is hot in summer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Lahore is dusty in summer.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 summer, Lahore is hot or dusty.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15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0655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29" y="1"/>
            <a:ext cx="10515600" cy="98213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1471" y="856427"/>
                <a:ext cx="10913092" cy="389043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2+3 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Q: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&gt;2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OR</a:t>
                </a: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Q: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2+3=6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&gt;2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False OR False : 0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1471" y="856427"/>
                <a:ext cx="10913092" cy="3890436"/>
              </a:xfrm>
              <a:blipFill>
                <a:blip r:embed="rId2"/>
                <a:stretch>
                  <a:fillRect l="-1006" t="-2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51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7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Propositions…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Disjunction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∨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Clr>
                    <a:schemeClr val="accent6">
                      <a:lumMod val="50000"/>
                    </a:schemeClr>
                  </a:buClr>
                  <a:buNone/>
                </a:pP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∨ 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when used between more than two propositions has its truth value equal to False only when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all of the propositions have truth values equal to False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In all other cases,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will have True as its truth value.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  <a:blipFill>
                <a:blip r:embed="rId2"/>
                <a:stretch>
                  <a:fillRect l="-1140" t="-1861" r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E343B67-0B88-9B2E-C59D-C73D4425EE93}"/>
              </a:ext>
            </a:extLst>
          </p:cNvPr>
          <p:cNvGraphicFramePr>
            <a:graphicFrameLocks noGrp="1"/>
          </p:cNvGraphicFramePr>
          <p:nvPr/>
        </p:nvGraphicFramePr>
        <p:xfrm>
          <a:off x="1405625" y="2769079"/>
          <a:ext cx="9380749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107">
                  <a:extLst>
                    <a:ext uri="{9D8B030D-6E8A-4147-A177-3AD203B41FA5}">
                      <a16:colId xmlns:a16="http://schemas.microsoft.com/office/drawing/2014/main" val="3623321387"/>
                    </a:ext>
                  </a:extLst>
                </a:gridCol>
                <a:gridCol w="1340107">
                  <a:extLst>
                    <a:ext uri="{9D8B030D-6E8A-4147-A177-3AD203B41FA5}">
                      <a16:colId xmlns:a16="http://schemas.microsoft.com/office/drawing/2014/main" val="3826227498"/>
                    </a:ext>
                  </a:extLst>
                </a:gridCol>
                <a:gridCol w="1340107">
                  <a:extLst>
                    <a:ext uri="{9D8B030D-6E8A-4147-A177-3AD203B41FA5}">
                      <a16:colId xmlns:a16="http://schemas.microsoft.com/office/drawing/2014/main" val="2685219028"/>
                    </a:ext>
                  </a:extLst>
                </a:gridCol>
                <a:gridCol w="1340107">
                  <a:extLst>
                    <a:ext uri="{9D8B030D-6E8A-4147-A177-3AD203B41FA5}">
                      <a16:colId xmlns:a16="http://schemas.microsoft.com/office/drawing/2014/main" val="154724667"/>
                    </a:ext>
                  </a:extLst>
                </a:gridCol>
                <a:gridCol w="983821">
                  <a:extLst>
                    <a:ext uri="{9D8B030D-6E8A-4147-A177-3AD203B41FA5}">
                      <a16:colId xmlns:a16="http://schemas.microsoft.com/office/drawing/2014/main" val="3488847856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2464195662"/>
                    </a:ext>
                  </a:extLst>
                </a:gridCol>
                <a:gridCol w="2294628">
                  <a:extLst>
                    <a:ext uri="{9D8B030D-6E8A-4147-A177-3AD203B41FA5}">
                      <a16:colId xmlns:a16="http://schemas.microsoft.com/office/drawing/2014/main" val="1115270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 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∨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B 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∨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C 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∨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D…</a:t>
                      </a:r>
                      <a:endPara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222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70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100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98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23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238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757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142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885" y="0"/>
            <a:ext cx="10515600" cy="83852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35698"/>
                <a:ext cx="10515600" cy="5141265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𝑝𝑟𝑜𝑝𝑜𝑠𝑖𝑡𝑖𝑜𝑛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we have number of propositions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…. If any of these statements is 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True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then whole </a:t>
                </a:r>
                <a:r>
                  <a:rPr lang="en-US" b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DISJUNCTION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  <a:r>
                  <a:rPr lang="en-US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True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𝑇𝑟𝑢𝑒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35698"/>
                <a:ext cx="10515600" cy="5141265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355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4F3882B-5B8F-43A8-BE0F-551A23416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425"/>
            <a:ext cx="10515600" cy="83852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OR Truth Table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09C7871-4899-93F2-32E2-FF9BE4B778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371600"/>
            <a:ext cx="8077200" cy="8382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4000" dirty="0"/>
              <a:t>Binary Operator, Symbol:  </a:t>
            </a:r>
            <a:r>
              <a:rPr lang="en-US" altLang="en-PK" sz="4000" b="1" dirty="0">
                <a:sym typeface="Symbol" panose="05050102010706020507" pitchFamily="18" charset="2"/>
              </a:rPr>
              <a:t></a:t>
            </a:r>
            <a:endParaRPr lang="en-US" altLang="en-PK" sz="4000" b="1" dirty="0"/>
          </a:p>
        </p:txBody>
      </p:sp>
      <p:graphicFrame>
        <p:nvGraphicFramePr>
          <p:cNvPr id="24607" name="Group 31">
            <a:extLst>
              <a:ext uri="{FF2B5EF4-FFF2-40B4-BE49-F238E27FC236}">
                <a16:creationId xmlns:a16="http://schemas.microsoft.com/office/drawing/2014/main" id="{AD45FC1F-7B51-5733-03AF-341B666EC876}"/>
              </a:ext>
            </a:extLst>
          </p:cNvPr>
          <p:cNvGraphicFramePr>
            <a:graphicFrameLocks noGrp="1"/>
          </p:cNvGraphicFramePr>
          <p:nvPr/>
        </p:nvGraphicFramePr>
        <p:xfrm>
          <a:off x="3733800" y="2457451"/>
          <a:ext cx="4724400" cy="3257551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1724425859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280829345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4030260292"/>
                    </a:ext>
                  </a:extLst>
                </a:gridCol>
              </a:tblGrid>
              <a:tr h="6318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 </a:t>
                      </a:r>
                      <a:r>
                        <a:rPr kumimoji="0" lang="en-US" altLang="en-PK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 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975485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45644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7582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539579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62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7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Propositions…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XOR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00000"/>
                  </a:lnSpc>
                  <a:buClr>
                    <a:schemeClr val="accent6">
                      <a:lumMod val="50000"/>
                    </a:schemeClr>
                  </a:buClr>
                  <a:buNone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compound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statement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can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formed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using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symbol</m:t>
                    </m:r>
                    <m: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between two propositions. </a:t>
                </a:r>
              </a:p>
              <a:p>
                <a:pPr marL="0" indent="0" algn="just">
                  <a:lnSpc>
                    <a:spcPct val="100000"/>
                  </a:lnSpc>
                  <a:buClr>
                    <a:schemeClr val="accent6">
                      <a:lumMod val="50000"/>
                    </a:schemeClr>
                  </a:buClr>
                  <a:buNone/>
                </a:pPr>
                <a:r>
                  <a:rPr lang="en-US" b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⊕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has its truth value equal to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True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when exactly one of the propositions has its truth value equal to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False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the other has its truth value equal to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True</a:t>
                </a: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</a:t>
                </a:r>
              </a:p>
              <a:p>
                <a:pPr marL="0" indent="0" algn="just">
                  <a:lnSpc>
                    <a:spcPct val="100000"/>
                  </a:lnSpc>
                  <a:buClr>
                    <a:schemeClr val="accent6">
                      <a:lumMod val="50000"/>
                    </a:schemeClr>
                  </a:buClr>
                  <a:buNone/>
                </a:pPr>
                <a:r>
                  <a:rPr lang="en-US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When both of the propositions have same truth values,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⊕ </a:t>
                </a:r>
                <a:r>
                  <a:rPr lang="en-US" dirty="0">
                    <a:solidFill>
                      <a:schemeClr val="accent5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results into False.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4F9F9-2688-3899-D971-4A04A86BE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5799" y="1095555"/>
                <a:ext cx="10693377" cy="3605841"/>
              </a:xfrm>
              <a:blipFill>
                <a:blip r:embed="rId2"/>
                <a:stretch>
                  <a:fillRect l="-1140" t="-1861" r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F3C5084-F251-273A-B557-93BA5608165B}"/>
              </a:ext>
            </a:extLst>
          </p:cNvPr>
          <p:cNvGraphicFramePr>
            <a:graphicFrameLocks noGrp="1"/>
          </p:cNvGraphicFramePr>
          <p:nvPr/>
        </p:nvGraphicFramePr>
        <p:xfrm>
          <a:off x="3084423" y="4201161"/>
          <a:ext cx="580941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445">
                  <a:extLst>
                    <a:ext uri="{9D8B030D-6E8A-4147-A177-3AD203B41FA5}">
                      <a16:colId xmlns:a16="http://schemas.microsoft.com/office/drawing/2014/main" val="2131480719"/>
                    </a:ext>
                  </a:extLst>
                </a:gridCol>
                <a:gridCol w="1673525">
                  <a:extLst>
                    <a:ext uri="{9D8B030D-6E8A-4147-A177-3AD203B41FA5}">
                      <a16:colId xmlns:a16="http://schemas.microsoft.com/office/drawing/2014/main" val="2913269701"/>
                    </a:ext>
                  </a:extLst>
                </a:gridCol>
                <a:gridCol w="2691440">
                  <a:extLst>
                    <a:ext uri="{9D8B030D-6E8A-4147-A177-3AD203B41FA5}">
                      <a16:colId xmlns:a16="http://schemas.microsoft.com/office/drawing/2014/main" val="2082381711"/>
                    </a:ext>
                  </a:extLst>
                </a:gridCol>
              </a:tblGrid>
              <a:tr h="38809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⊕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</a:t>
                      </a:r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33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475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195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894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5100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87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Propositions…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XOR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⊕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79999BD-094D-50BF-8D5F-D5771E4B37A6}"/>
              </a:ext>
            </a:extLst>
          </p:cNvPr>
          <p:cNvGraphicFramePr>
            <a:graphicFrameLocks noGrp="1"/>
          </p:cNvGraphicFramePr>
          <p:nvPr/>
        </p:nvGraphicFramePr>
        <p:xfrm>
          <a:off x="1083095" y="1366648"/>
          <a:ext cx="10502180" cy="3949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373">
                  <a:extLst>
                    <a:ext uri="{9D8B030D-6E8A-4147-A177-3AD203B41FA5}">
                      <a16:colId xmlns:a16="http://schemas.microsoft.com/office/drawing/2014/main" val="1150675419"/>
                    </a:ext>
                  </a:extLst>
                </a:gridCol>
                <a:gridCol w="2881223">
                  <a:extLst>
                    <a:ext uri="{9D8B030D-6E8A-4147-A177-3AD203B41FA5}">
                      <a16:colId xmlns:a16="http://schemas.microsoft.com/office/drawing/2014/main" val="3116538766"/>
                    </a:ext>
                  </a:extLst>
                </a:gridCol>
                <a:gridCol w="5089584">
                  <a:extLst>
                    <a:ext uri="{9D8B030D-6E8A-4147-A177-3AD203B41FA5}">
                      <a16:colId xmlns:a16="http://schemas.microsoft.com/office/drawing/2014/main" val="212087108"/>
                    </a:ext>
                  </a:extLst>
                </a:gridCol>
              </a:tblGrid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⊕ 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  <a:endParaRPr lang="en-US" sz="2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518156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 + 5 =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It is 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Either 2 + 5 = 6 or it is raining but not both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793449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Ali is punctual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Ali is regular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Ali is either punctual or regular but not both.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234374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Sara is smart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Sara is intelligent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Sara is either smart or she is intelligent both not both.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947030"/>
                  </a:ext>
                </a:extLst>
              </a:tr>
              <a:tr h="6578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Lahore is hot in summer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Lahore is dusty in summer.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In summer, Lahore is either hot or dusty but not both.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15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3624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929" y="1"/>
            <a:ext cx="10515600" cy="98213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XOR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19598" y="1483782"/>
                <a:ext cx="10913092" cy="389043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𝑟𝑎𝑖𝑛𝑖𝑛𝑔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𝑜𝑢𝑡𝑠𝑖𝑑𝑒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Q: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𝑤𝑖𝑛𝑑𝑦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𝑜𝑢𝑡𝑠𝑖𝑑𝑒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OR</a:t>
                </a:r>
                <a:r>
                  <a:rPr lang="en-US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Q: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𝑟𝑎𝑖𝑛𝑖𝑛𝑔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𝑤𝑖𝑛𝑑𝑦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𝑏𝑢𝑡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𝑛𝑜𝑡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𝑏𝑜𝑡h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: True OR False : 1 </a:t>
                </a:r>
                <a:r>
                  <a:rPr lang="en-US" b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⊕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1</m:t>
                    </m:r>
                  </m:oMath>
                </a14:m>
                <a:endParaRPr lang="en-US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Note: I have assumed that it is raining outside but not windy.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9598" y="1483782"/>
                <a:ext cx="10913092" cy="3890436"/>
              </a:xfrm>
              <a:blipFill>
                <a:blip r:embed="rId2"/>
                <a:stretch>
                  <a:fillRect l="-1173" t="-2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9474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1347E0B-49B3-4C39-B388-2A52E75A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9251"/>
            <a:ext cx="10515600" cy="83852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XOR Truth Table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E52686C-996D-6147-6739-D2E9A08CD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45105" y="1619251"/>
            <a:ext cx="8077200" cy="8382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Binary Operator, Symbol:  </a:t>
            </a:r>
            <a:r>
              <a:rPr lang="en-US" altLang="en-PK" sz="4000" b="1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</a:t>
            </a:r>
            <a:endParaRPr lang="en-US" altLang="en-PK" sz="4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5634" name="Group 34">
            <a:extLst>
              <a:ext uri="{FF2B5EF4-FFF2-40B4-BE49-F238E27FC236}">
                <a16:creationId xmlns:a16="http://schemas.microsoft.com/office/drawing/2014/main" id="{07870DCF-4C94-1B1E-8F8F-CAAEEB87F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686247"/>
              </p:ext>
            </p:extLst>
          </p:nvPr>
        </p:nvGraphicFramePr>
        <p:xfrm>
          <a:off x="3733800" y="2771774"/>
          <a:ext cx="4724400" cy="3257551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410664024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487471686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3470946474"/>
                    </a:ext>
                  </a:extLst>
                </a:gridCol>
              </a:tblGrid>
              <a:tr h="6318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708428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356224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667761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763071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99332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8162" y="226352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XOR: </a:t>
            </a:r>
            <a:r>
              <a:rPr lang="en-US" sz="3200" dirty="0">
                <a:solidFill>
                  <a:schemeClr val="accent4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Examples</a:t>
            </a:r>
            <a:endParaRPr lang="en-US" sz="3600" dirty="0">
              <a:solidFill>
                <a:schemeClr val="accent4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F2AF4-5067-D629-6750-9FEE21E0D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99" y="1095555"/>
            <a:ext cx="10693377" cy="5081408"/>
          </a:xfrm>
        </p:spPr>
        <p:txBody>
          <a:bodyPr/>
          <a:lstStyle/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You can either win the match or lose the match but not both</a:t>
            </a:r>
          </a:p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You can either Pass this course or fail this course but not both</a:t>
            </a:r>
          </a:p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A.B &lt; 0 implies that either A &lt; 0 or B &lt; 0 but not both</a:t>
            </a:r>
          </a:p>
          <a:p>
            <a:pPr algn="just">
              <a:buClr>
                <a:schemeClr val="accent6">
                  <a:lumMod val="50000"/>
                </a:schemeClr>
              </a:buClr>
              <a:buFont typeface="Wingdings" panose="05000000000000000000" pitchFamily="2" charset="2"/>
              <a:buChar char="ü"/>
            </a:pP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242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03" y="2730944"/>
            <a:ext cx="2995866" cy="26621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869" y="2756051"/>
            <a:ext cx="3089105" cy="26370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23" y="1496600"/>
            <a:ext cx="4996348" cy="431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184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69DC249-9068-40B9-A3D9-613D32CB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903"/>
            <a:ext cx="10515600" cy="679904"/>
          </a:xfrm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Exercises …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students </a:t>
            </a:r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495" y="1468306"/>
            <a:ext cx="13600557" cy="11310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b="1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US" sz="2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“Islamabad is the capital of Pakistan”</a:t>
            </a:r>
          </a:p>
          <a:p>
            <a:pPr>
              <a:buNone/>
            </a:pPr>
            <a:r>
              <a:rPr lang="en-US" sz="2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400" b="1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US" sz="24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“17 is divisible by 3”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F091A-8223-6EF5-2888-E62633476DFD}"/>
              </a:ext>
            </a:extLst>
          </p:cNvPr>
          <p:cNvSpPr txBox="1"/>
          <p:nvPr/>
        </p:nvSpPr>
        <p:spPr>
          <a:xfrm>
            <a:off x="2372306" y="2652035"/>
            <a:ext cx="88430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“Islamabad is the capital of Pakistan </a:t>
            </a:r>
            <a:r>
              <a:rPr lang="en-US" sz="2000" b="1" dirty="0">
                <a:solidFill>
                  <a:srgbClr val="C00000"/>
                </a:solidFill>
              </a:rPr>
              <a:t>and</a:t>
            </a:r>
            <a:r>
              <a:rPr lang="en-US" sz="2000" dirty="0"/>
              <a:t> 17 is divisible by 3”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826C7D-6F3E-56DB-80C7-26EDB32044D2}"/>
              </a:ext>
            </a:extLst>
          </p:cNvPr>
          <p:cNvSpPr txBox="1"/>
          <p:nvPr/>
        </p:nvSpPr>
        <p:spPr>
          <a:xfrm>
            <a:off x="2372305" y="3623315"/>
            <a:ext cx="7106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“Islamabad is the capital of Pakistan </a:t>
            </a:r>
            <a:r>
              <a:rPr lang="en-US" sz="20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or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17 is divisible by 3”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DE757-4032-1AE7-194C-2C698038FE98}"/>
              </a:ext>
            </a:extLst>
          </p:cNvPr>
          <p:cNvSpPr txBox="1"/>
          <p:nvPr/>
        </p:nvSpPr>
        <p:spPr>
          <a:xfrm>
            <a:off x="2372305" y="4619638"/>
            <a:ext cx="71067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“It is </a:t>
            </a:r>
            <a:r>
              <a:rPr lang="en-US" sz="20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the case that Islamabad is the capital of Pakistan” or simply “Islamabad is </a:t>
            </a:r>
            <a:r>
              <a:rPr lang="en-US" sz="20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the capital of Pakistan”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BDC912-3A92-3214-4AD6-A03DF3F53C5D}"/>
              </a:ext>
            </a:extLst>
          </p:cNvPr>
          <p:cNvSpPr txBox="1"/>
          <p:nvPr/>
        </p:nvSpPr>
        <p:spPr>
          <a:xfrm>
            <a:off x="838200" y="2528583"/>
            <a:ext cx="15395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p </a:t>
            </a:r>
            <a:r>
              <a:rPr lang="en-US" sz="32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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>
              <a:buNone/>
            </a:pPr>
            <a:endParaRPr lang="en-US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None/>
            </a:pPr>
            <a:r>
              <a:rPr lang="en-US" sz="3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p </a:t>
            </a:r>
            <a:r>
              <a:rPr lang="en-US" sz="32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</a:t>
            </a:r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>
              <a:buNone/>
            </a:pP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>
              <a:buNone/>
            </a:pP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~</a:t>
            </a:r>
            <a:r>
              <a:rPr lang="en-US" sz="3200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p </a:t>
            </a:r>
            <a:r>
              <a:rPr lang="en-US" sz="3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endParaRPr lang="en-US" sz="3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9" grpId="0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115" y="760908"/>
            <a:ext cx="11123769" cy="98781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from English to Symbols: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726" y="1707823"/>
            <a:ext cx="6891403" cy="4341834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Let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= “It is hot”, and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= “It is sunny”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SENTENCE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It is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hot. 				</a:t>
            </a: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It is hot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sunny.				</a:t>
            </a: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It is hot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sunny.				</a:t>
            </a: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It is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hot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but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sunny.</a:t>
            </a: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It is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neither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hot 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sunny.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584FF-C15A-F083-F37E-634CC3DEBB42}"/>
              </a:ext>
            </a:extLst>
          </p:cNvPr>
          <p:cNvSpPr txBox="1"/>
          <p:nvPr/>
        </p:nvSpPr>
        <p:spPr>
          <a:xfrm>
            <a:off x="6348131" y="2639980"/>
            <a:ext cx="4554116" cy="3965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SYMBOLIC FORM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~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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</a:t>
            </a: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~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p </a:t>
            </a: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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~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</a:t>
            </a:r>
            <a:r>
              <a:rPr lang="en-US" sz="2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~ 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</a:p>
          <a:p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PK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135029-0D34-4C8B-810B-380980CE0493}"/>
              </a:ext>
            </a:extLst>
          </p:cNvPr>
          <p:cNvSpPr txBox="1">
            <a:spLocks/>
          </p:cNvSpPr>
          <p:nvPr/>
        </p:nvSpPr>
        <p:spPr>
          <a:xfrm>
            <a:off x="838200" y="121903"/>
            <a:ext cx="10515600" cy="67990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Cambria Math" panose="02040503050406030204" pitchFamily="18" charset="0"/>
                <a:ea typeface="Cambria Math" panose="02040503050406030204" pitchFamily="18" charset="0"/>
              </a:rPr>
              <a:t>Exercises … </a:t>
            </a: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students </a:t>
            </a:r>
            <a:r>
              <a:rPr lang="en-US" sz="360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5" y="754914"/>
            <a:ext cx="11235737" cy="101960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</a:t>
            </a:r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 from Symbols to English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3412" y="1778796"/>
            <a:ext cx="9812694" cy="441345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Let	</a:t>
            </a:r>
            <a:r>
              <a:rPr lang="en-US" b="1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= “Ali is good in Mathematics”</a:t>
            </a: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US" b="1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= “Ali is a Computer Science student”</a:t>
            </a:r>
          </a:p>
          <a:p>
            <a:pPr>
              <a:buNone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SYMBOLIC FORM			STATEMENTS</a:t>
            </a: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~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c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</a:p>
          <a:p>
            <a:pPr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 </a:t>
            </a:r>
            <a:r>
              <a:rPr lang="en-US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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m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</a:p>
          <a:p>
            <a:pPr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 </a:t>
            </a:r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</a:t>
            </a:r>
            <a:r>
              <a:rPr lang="en-US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 ~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 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BAA8E2-24DF-FC23-45EA-B0D01BF38EFA}"/>
              </a:ext>
            </a:extLst>
          </p:cNvPr>
          <p:cNvSpPr txBox="1"/>
          <p:nvPr/>
        </p:nvSpPr>
        <p:spPr>
          <a:xfrm>
            <a:off x="4703610" y="3754691"/>
            <a:ext cx="69593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Ali is </a:t>
            </a:r>
            <a:r>
              <a:rPr lang="en-US" sz="24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 Computer Science student</a:t>
            </a:r>
            <a:endParaRPr lang="en-PK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00DEA-5365-94D2-04F7-224E520CF216}"/>
              </a:ext>
            </a:extLst>
          </p:cNvPr>
          <p:cNvSpPr txBox="1"/>
          <p:nvPr/>
        </p:nvSpPr>
        <p:spPr>
          <a:xfrm>
            <a:off x="3979261" y="4681723"/>
            <a:ext cx="69593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Ali is a Computer Science student </a:t>
            </a:r>
            <a:r>
              <a:rPr lang="en-US" sz="24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or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good in Math's</a:t>
            </a:r>
            <a:endParaRPr lang="en-PK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E9D00-7CD2-2B1A-57AF-2E86CB62E719}"/>
              </a:ext>
            </a:extLst>
          </p:cNvPr>
          <p:cNvSpPr txBox="1"/>
          <p:nvPr/>
        </p:nvSpPr>
        <p:spPr>
          <a:xfrm>
            <a:off x="3679089" y="5726310"/>
            <a:ext cx="8096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Ali is good in Math's</a:t>
            </a:r>
            <a:r>
              <a:rPr lang="en-US" sz="24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but not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 Computer Science student</a:t>
            </a:r>
            <a:endParaRPr lang="en-PK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856E1A9-AB83-4576-B46E-0F8BA5D4445A}"/>
              </a:ext>
            </a:extLst>
          </p:cNvPr>
          <p:cNvSpPr txBox="1">
            <a:spLocks/>
          </p:cNvSpPr>
          <p:nvPr/>
        </p:nvSpPr>
        <p:spPr>
          <a:xfrm>
            <a:off x="838200" y="121903"/>
            <a:ext cx="10515600" cy="679904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Cambria Math" panose="02040503050406030204" pitchFamily="18" charset="0"/>
                <a:ea typeface="Cambria Math" panose="02040503050406030204" pitchFamily="18" charset="0"/>
              </a:rPr>
              <a:t>Exercises … </a:t>
            </a:r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students </a:t>
            </a:r>
            <a:r>
              <a:rPr lang="en-US" sz="360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1903"/>
            <a:ext cx="10515600" cy="679904"/>
          </a:xfrm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Exercises …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for students </a:t>
            </a:r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4988"/>
                <a:ext cx="10515600" cy="4991975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the propositions: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“It is below freezing”,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“It is snowing”. </a:t>
                </a:r>
              </a:p>
              <a:p>
                <a:pPr marL="457200" lvl="1" indent="0">
                  <a:buNone/>
                </a:pP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Express the following using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and logical connectives: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below freeing and snowing 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below freezing but not snowing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snowing but it is not below freezing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either snowing or below freezing (but not both)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neither snowing nor it is below freezing.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It is both snowing and below freezing OR it is both not snowing and not below freezing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4988"/>
                <a:ext cx="10515600" cy="4991975"/>
              </a:xfrm>
              <a:blipFill>
                <a:blip r:embed="rId2"/>
                <a:stretch>
                  <a:fillRect l="-1043" t="-2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4951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59" y="0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Implications (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Conditional Statement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A6C33-C5AD-093F-E533-F56E2C17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800" y="1588169"/>
            <a:ext cx="10434586" cy="4588794"/>
          </a:xfrm>
        </p:spPr>
        <p:txBody>
          <a:bodyPr/>
          <a:lstStyle/>
          <a:p>
            <a:pPr marL="0" indent="0" algn="just">
              <a:buClr>
                <a:schemeClr val="accent6">
                  <a:lumMod val="50000"/>
                </a:schemeClr>
              </a:buClr>
              <a:buNone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Let p and q be two propositions then the implication statement i.e., p 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q is a proposition whose value is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False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only when p is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True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and q is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False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. Its value is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True</a:t>
            </a: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otherwise.</a:t>
            </a:r>
          </a:p>
          <a:p>
            <a:pPr marL="0" indent="0" algn="just">
              <a:buClr>
                <a:schemeClr val="accent6">
                  <a:lumMod val="50000"/>
                </a:schemeClr>
              </a:buClr>
              <a:buNone/>
            </a:pPr>
            <a:endParaRPr lang="en-US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  <a:sym typeface="Wingdings" panose="05000000000000000000" pitchFamily="2" charset="2"/>
            </a:endParaRPr>
          </a:p>
          <a:p>
            <a:pPr marL="0" indent="0" algn="just">
              <a:buClr>
                <a:schemeClr val="accent6">
                  <a:lumMod val="50000"/>
                </a:schemeClr>
              </a:buClr>
              <a:buNone/>
            </a:pPr>
            <a:r>
              <a:rPr lang="en-US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Here p is called hypothesis (or premise) and q is called conclusion (or consequence).</a:t>
            </a:r>
          </a:p>
        </p:txBody>
      </p:sp>
    </p:spTree>
    <p:extLst>
      <p:ext uri="{BB962C8B-B14F-4D97-AF65-F5344CB8AC3E}">
        <p14:creationId xmlns:p14="http://schemas.microsoft.com/office/powerpoint/2010/main" val="5202515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33204CC-88F8-44EC-9B1B-FE270951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9" y="0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Conditional Statement …. </a:t>
            </a:r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Truth Table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030F37D-60DE-FACA-47C2-C55026EE1C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371600"/>
            <a:ext cx="8077200" cy="838200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PK" sz="4000" dirty="0"/>
              <a:t>Binary Operator, Symbol:  </a:t>
            </a:r>
            <a:r>
              <a:rPr lang="en-US" altLang="en-PK" sz="4000" b="1" dirty="0">
                <a:sym typeface="Symbol" panose="05050102010706020507" pitchFamily="18" charset="2"/>
              </a:rPr>
              <a:t></a:t>
            </a:r>
            <a:endParaRPr lang="en-US" altLang="en-PK" sz="4000" b="1" dirty="0"/>
          </a:p>
        </p:txBody>
      </p:sp>
      <p:graphicFrame>
        <p:nvGraphicFramePr>
          <p:cNvPr id="27679" name="Group 31">
            <a:extLst>
              <a:ext uri="{FF2B5EF4-FFF2-40B4-BE49-F238E27FC236}">
                <a16:creationId xmlns:a16="http://schemas.microsoft.com/office/drawing/2014/main" id="{5437240D-1434-E307-BCD1-4642A5E9B555}"/>
              </a:ext>
            </a:extLst>
          </p:cNvPr>
          <p:cNvGraphicFramePr>
            <a:graphicFrameLocks noGrp="1"/>
          </p:cNvGraphicFramePr>
          <p:nvPr/>
        </p:nvGraphicFramePr>
        <p:xfrm>
          <a:off x="3733800" y="2457451"/>
          <a:ext cx="4724400" cy="3257551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2838691624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228987906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929113877"/>
                    </a:ext>
                  </a:extLst>
                </a:gridCol>
              </a:tblGrid>
              <a:tr h="6318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62308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253408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043321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332297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78926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129" y="1"/>
            <a:ext cx="10515600" cy="886408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Implication: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86408" y="1427449"/>
                <a:ext cx="10424321" cy="4700211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2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:r>
                  <a:rPr lang="en-US" sz="32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you get 100% marks in the final,</a:t>
                </a:r>
                <a:r>
                  <a:rPr lang="en-US" sz="32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3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</a:t>
                </a:r>
                <a:r>
                  <a:rPr lang="en-US" sz="32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32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you will get an A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2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You will get an A, </a:t>
                </a:r>
                <a:r>
                  <a:rPr lang="en-US" sz="32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US" sz="32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you get 100% marks in the final.</a:t>
                </a:r>
                <a:endParaRPr lang="en-US" sz="3200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6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6000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4400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Hypothesis</a:t>
                </a:r>
                <a:r>
                  <a:rPr lang="en-US" sz="44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44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Conclusion</a:t>
                </a:r>
              </a:p>
              <a:p>
                <a:pPr marL="514350" lvl="2" indent="0">
                  <a:buNone/>
                </a:pPr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14350" lvl="2" indent="0">
                  <a:buNone/>
                </a:pP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When this implication has </a:t>
                </a:r>
                <a:r>
                  <a:rPr 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FALSE </a:t>
                </a:r>
                <a:r>
                  <a:rPr 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as its truth value?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6408" y="1427449"/>
                <a:ext cx="10424321" cy="4700211"/>
              </a:xfrm>
              <a:blipFill>
                <a:blip r:embed="rId2"/>
                <a:stretch>
                  <a:fillRect l="-1287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61024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02" y="18256"/>
            <a:ext cx="10515600" cy="793508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Implication: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4906"/>
            <a:ext cx="10515600" cy="1035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you get 100% marks in the final, then you will get an A.</a:t>
            </a:r>
          </a:p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When does the above implication has </a:t>
            </a:r>
            <a:r>
              <a:rPr lang="en-US" sz="2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as its truth value?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DFB20-3D94-EF64-871E-325949268CAF}"/>
              </a:ext>
            </a:extLst>
          </p:cNvPr>
          <p:cNvSpPr txBox="1"/>
          <p:nvPr/>
        </p:nvSpPr>
        <p:spPr>
          <a:xfrm>
            <a:off x="838200" y="3010794"/>
            <a:ext cx="110023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Think of an implication as the promise that if P happen, then Q will definitely happen.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It is FALSE if P happens and Q does not happen (</a:t>
            </a:r>
            <a:r>
              <a:rPr lang="en-US" sz="24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promise has been broken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In any other case, the promise is not broken, and the implication is TRUE.</a:t>
            </a:r>
          </a:p>
        </p:txBody>
      </p:sp>
    </p:spTree>
    <p:extLst>
      <p:ext uri="{BB962C8B-B14F-4D97-AF65-F5344CB8AC3E}">
        <p14:creationId xmlns:p14="http://schemas.microsoft.com/office/powerpoint/2010/main" val="199133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02" y="150778"/>
            <a:ext cx="10515600" cy="793508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Implication</a:t>
            </a:r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 … </a:t>
            </a:r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Examples</a:t>
            </a:r>
            <a:endParaRPr lang="en-US" sz="4000" i="1" dirty="0">
              <a:solidFill>
                <a:schemeClr val="accent6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DFB20-3D94-EF64-871E-325949268CAF}"/>
              </a:ext>
            </a:extLst>
          </p:cNvPr>
          <p:cNvSpPr txBox="1"/>
          <p:nvPr/>
        </p:nvSpPr>
        <p:spPr>
          <a:xfrm>
            <a:off x="716902" y="1724458"/>
            <a:ext cx="11002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If you buy a train ticket early, it is cheaper.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If you get good wage, you dress up well.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If x is a real number, x</a:t>
            </a:r>
            <a:r>
              <a:rPr lang="en-US" sz="28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≥ 0.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If it rains, grass gets wet.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/>
                <a:cs typeface="Times New Roman"/>
              </a:rPr>
              <a:t>If 1 = 1, then 3 =</a:t>
            </a:r>
            <a:r>
              <a:rPr lang="en-US" sz="2800" spc="-114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3.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44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24618" y="215214"/>
            <a:ext cx="10515600" cy="753026"/>
          </a:xfrm>
          <a:prstGeom prst="rect">
            <a:avLst/>
          </a:prstGeom>
        </p:spPr>
        <p:txBody>
          <a:bodyPr vert="horz" wrap="square" lIns="0" tIns="75183" rIns="0" bIns="0" rtlCol="0" anchor="ctr">
            <a:spAutoFit/>
          </a:bodyPr>
          <a:lstStyle/>
          <a:p>
            <a:pPr marL="2453640" marR="5080" indent="-979169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Ways of</a:t>
            </a:r>
            <a:r>
              <a:rPr lang="en-US" spc="-114" dirty="0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 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xpressing  I</a:t>
            </a:r>
            <a:r>
              <a:rPr lang="en-US" spc="-5" dirty="0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mplications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2427" y="1175777"/>
            <a:ext cx="9799983" cy="5090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/>
            <a:r>
              <a:rPr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The implication </a:t>
            </a:r>
            <a:r>
              <a:rPr sz="2200" b="1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 </a:t>
            </a:r>
            <a:r>
              <a:rPr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→ </a:t>
            </a:r>
            <a:r>
              <a:rPr sz="2200" b="1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q </a:t>
            </a:r>
            <a:r>
              <a:rPr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could be expressed in </a:t>
            </a:r>
            <a:r>
              <a:rPr sz="2200" spc="-1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many </a:t>
            </a:r>
            <a:r>
              <a:rPr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alternative </a:t>
            </a:r>
            <a:r>
              <a:rPr sz="2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ways</a:t>
            </a:r>
            <a:r>
              <a:rPr sz="2200" spc="12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as:</a:t>
            </a:r>
            <a:endParaRPr sz="22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“if p, then q” 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“p implies q”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“if p, q” 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“p only if q”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“p is sufficient for q” 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“a sufficient condition for q is p”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“q if p” “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q whenever p”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“q when p” 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“q is necessary for p”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“a necessary condition for p is q” 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“q follows from p”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“q unless p”</a:t>
            </a:r>
          </a:p>
          <a:p>
            <a:pPr marL="812799" lvl="1" indent="-342900">
              <a:buSzPct val="95454"/>
              <a:buFont typeface="Wingdings" panose="05000000000000000000" pitchFamily="2" charset="2"/>
              <a:buChar char="Ø"/>
              <a:tabLst>
                <a:tab pos="111125" algn="l"/>
              </a:tabLst>
            </a:pPr>
            <a:r>
              <a:rPr lang="en-US" sz="22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“q provided that p”</a:t>
            </a:r>
            <a:endParaRPr sz="2200" spc="-5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84420" y="83428"/>
            <a:ext cx="242316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Cambria Math" panose="02040503050406030204" pitchFamily="18" charset="0"/>
                <a:ea typeface="Cambria Math" panose="02040503050406030204" pitchFamily="18" charset="0"/>
              </a:rPr>
              <a:t>EXAMPLE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4326" y="966349"/>
            <a:ext cx="9670596" cy="1001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30680">
              <a:lnSpc>
                <a:spcPct val="110100"/>
              </a:lnSpc>
              <a:spcBef>
                <a:spcPts val="100"/>
              </a:spcBef>
              <a:tabLst>
                <a:tab pos="724535" algn="l"/>
              </a:tabLst>
            </a:pPr>
            <a:r>
              <a:rPr sz="3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</a:t>
            </a:r>
            <a:r>
              <a:rPr sz="30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3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=	</a:t>
            </a:r>
            <a:r>
              <a:rPr sz="30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Maria learns discrete mathematics  </a:t>
            </a:r>
            <a:endParaRPr lang="en-US" sz="3000" spc="-5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12700" marR="1630680">
              <a:lnSpc>
                <a:spcPct val="110100"/>
              </a:lnSpc>
              <a:spcBef>
                <a:spcPts val="100"/>
              </a:spcBef>
              <a:tabLst>
                <a:tab pos="724535" algn="l"/>
              </a:tabLst>
            </a:pPr>
            <a:r>
              <a:rPr sz="30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Q </a:t>
            </a:r>
            <a:r>
              <a:rPr sz="3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= </a:t>
            </a:r>
            <a:r>
              <a:rPr sz="3000" spc="-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Maria will find </a:t>
            </a:r>
            <a:r>
              <a:rPr sz="3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 good</a:t>
            </a:r>
            <a:r>
              <a:rPr sz="3000" spc="4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3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job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859B0ACE-F583-457E-8193-F74BC7B16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84938"/>
              </p:ext>
            </p:extLst>
          </p:nvPr>
        </p:nvGraphicFramePr>
        <p:xfrm>
          <a:off x="978354" y="1980812"/>
          <a:ext cx="9670596" cy="4846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9670">
                  <a:extLst>
                    <a:ext uri="{9D8B030D-6E8A-4147-A177-3AD203B41FA5}">
                      <a16:colId xmlns:a16="http://schemas.microsoft.com/office/drawing/2014/main" val="3468385842"/>
                    </a:ext>
                  </a:extLst>
                </a:gridCol>
                <a:gridCol w="7570926">
                  <a:extLst>
                    <a:ext uri="{9D8B030D-6E8A-4147-A177-3AD203B41FA5}">
                      <a16:colId xmlns:a16="http://schemas.microsoft.com/office/drawing/2014/main" val="2521399235"/>
                    </a:ext>
                  </a:extLst>
                </a:gridCol>
              </a:tblGrid>
              <a:tr h="581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if p then</a:t>
                      </a:r>
                      <a:r>
                        <a:rPr lang="en-US" sz="1750" b="1" spc="2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q</a:t>
                      </a:r>
                      <a:endParaRPr lang="en-US" sz="1750" b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5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If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Maria learns discrete mathematics </a:t>
                      </a:r>
                      <a:r>
                        <a:rPr lang="en-US" sz="1800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then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she  will find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a good</a:t>
                      </a:r>
                      <a:r>
                        <a:rPr lang="en-US" sz="1800" spc="2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job.</a:t>
                      </a:r>
                      <a:endPara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441242"/>
                  </a:ext>
                </a:extLst>
              </a:tr>
              <a:tr h="581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p implies</a:t>
                      </a:r>
                      <a:r>
                        <a:rPr lang="en-US" sz="1750" b="1" spc="3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q</a:t>
                      </a:r>
                      <a:endParaRPr lang="en-US" sz="1750" b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Maria learns discrete</a:t>
                      </a:r>
                      <a:r>
                        <a:rPr lang="en-US" sz="1800" spc="3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mathematics </a:t>
                      </a:r>
                      <a:r>
                        <a:rPr lang="en-US" sz="1800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implies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she will find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a good job.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21693"/>
                  </a:ext>
                </a:extLst>
              </a:tr>
              <a:tr h="581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if p,</a:t>
                      </a:r>
                      <a:r>
                        <a:rPr lang="en-US" sz="1750" b="1" spc="1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q</a:t>
                      </a:r>
                      <a:endParaRPr lang="en-US" sz="1750" b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5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If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Maria learns discrete mathematics</a:t>
                      </a:r>
                      <a:r>
                        <a:rPr lang="en-US" sz="1800" kern="1200" spc="-5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,</a:t>
                      </a:r>
                      <a:r>
                        <a:rPr lang="en-US" sz="1800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she will find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a good</a:t>
                      </a:r>
                      <a:r>
                        <a:rPr lang="en-US" sz="1800" spc="2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job.</a:t>
                      </a:r>
                      <a:endPara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335087"/>
                  </a:ext>
                </a:extLst>
              </a:tr>
              <a:tr h="581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p only if</a:t>
                      </a:r>
                      <a:r>
                        <a:rPr lang="en-US" sz="1750" b="1" spc="3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750" b="1" spc="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q</a:t>
                      </a:r>
                      <a:endParaRPr lang="en-US" sz="1750" b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Maria learns discrete mathematics </a:t>
                      </a:r>
                      <a:r>
                        <a:rPr lang="en-US" sz="1800" spc="-5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only if</a:t>
                      </a:r>
                      <a:r>
                        <a:rPr lang="en-US" sz="1800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she  will find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a good</a:t>
                      </a:r>
                      <a:r>
                        <a:rPr lang="en-US" sz="1800" spc="2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job.</a:t>
                      </a:r>
                      <a:endPara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660806"/>
                  </a:ext>
                </a:extLst>
              </a:tr>
              <a:tr h="677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p is </a:t>
                      </a:r>
                      <a:r>
                        <a:rPr lang="en-US" sz="1750" b="1" spc="-10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sufficient </a:t>
                      </a: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for</a:t>
                      </a:r>
                      <a:r>
                        <a:rPr lang="en-US" sz="1750" b="1" spc="3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q</a:t>
                      </a:r>
                      <a:endParaRPr lang="en-US" sz="1750" b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Maria learns discrete mathematics </a:t>
                      </a:r>
                      <a:r>
                        <a:rPr lang="en-US" sz="1800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is sufficient for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she will find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a good</a:t>
                      </a:r>
                      <a:r>
                        <a:rPr lang="en-US" sz="1800" spc="2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job.</a:t>
                      </a:r>
                      <a:endPara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549934"/>
                  </a:ext>
                </a:extLst>
              </a:tr>
              <a:tr h="581841">
                <a:tc>
                  <a:txBody>
                    <a:bodyPr/>
                    <a:lstStyle/>
                    <a:p>
                      <a:pPr marL="12699" indent="0" algn="l">
                        <a:buSzPct val="95454"/>
                        <a:buNone/>
                        <a:tabLst>
                          <a:tab pos="111125" algn="l"/>
                        </a:tabLst>
                      </a:pP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q unless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Maria will find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a good</a:t>
                      </a:r>
                      <a:r>
                        <a:rPr lang="en-US" sz="1800" spc="4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job</a:t>
                      </a:r>
                      <a:r>
                        <a:rPr lang="en-US" sz="1800" kern="1200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unless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she learns discrete mathematics.</a:t>
                      </a:r>
                      <a:endParaRPr lang="en-PK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17161"/>
                  </a:ext>
                </a:extLst>
              </a:tr>
              <a:tr h="581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q if p</a:t>
                      </a:r>
                      <a:endParaRPr lang="en-US" sz="1750" b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Maria will find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a good</a:t>
                      </a:r>
                      <a:r>
                        <a:rPr lang="en-US" sz="1800" spc="4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job</a:t>
                      </a:r>
                      <a:r>
                        <a:rPr lang="en-US" sz="1800" kern="1200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if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she learns discrete mathematics.</a:t>
                      </a:r>
                      <a:endParaRPr lang="en-PK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952836"/>
                  </a:ext>
                </a:extLst>
              </a:tr>
              <a:tr h="677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b="1" spc="-5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q is necessary for p</a:t>
                      </a:r>
                      <a:endParaRPr lang="en-US" sz="1750" b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Maria will find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a good</a:t>
                      </a:r>
                      <a:r>
                        <a:rPr lang="en-US" sz="1800" spc="4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</a:t>
                      </a:r>
                      <a:r>
                        <a:rPr lang="en-US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job</a:t>
                      </a:r>
                      <a:r>
                        <a:rPr lang="en-US" sz="1800" kern="1200" dirty="0">
                          <a:solidFill>
                            <a:srgbClr val="33993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 is necessary for </a:t>
                      </a:r>
                      <a:r>
                        <a:rPr lang="en-US" sz="1800" spc="-5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she learns discrete mathematics.</a:t>
                      </a:r>
                      <a:endParaRPr lang="en-PK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7174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>
            <a:extLst>
              <a:ext uri="{FF2B5EF4-FFF2-40B4-BE49-F238E27FC236}">
                <a16:creationId xmlns:a16="http://schemas.microsoft.com/office/drawing/2014/main" id="{E5751C3D-063F-A463-839C-012881493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Exercises</a:t>
            </a:r>
            <a:endParaRPr lang="en-CA" alt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FD6029DE-B59A-E0EF-0925-E15E86C1D4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2438400"/>
            <a:ext cx="8153400" cy="3352800"/>
          </a:xfrm>
        </p:spPr>
        <p:txBody>
          <a:bodyPr>
            <a:normAutofit/>
          </a:bodyPr>
          <a:lstStyle/>
          <a:p>
            <a:pPr lvl="1">
              <a:spcAft>
                <a:spcPct val="25000"/>
              </a:spcAft>
            </a:pPr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P: You can access the Internet from campus </a:t>
            </a:r>
          </a:p>
          <a:p>
            <a:pPr lvl="1">
              <a:spcAft>
                <a:spcPct val="25000"/>
              </a:spcAft>
            </a:pPr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Q: you are a computer science major </a:t>
            </a:r>
          </a:p>
          <a:p>
            <a:pPr lvl="1">
              <a:spcAft>
                <a:spcPct val="25000"/>
              </a:spcAft>
            </a:pPr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R: you are a freshman</a:t>
            </a:r>
          </a:p>
          <a:p>
            <a:pPr marL="457200" lvl="1" indent="0">
              <a:spcAft>
                <a:spcPct val="25000"/>
              </a:spcAft>
              <a:buNone/>
            </a:pPr>
            <a:endParaRPr lang="en-US" alt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ctr">
              <a:spcAft>
                <a:spcPct val="25000"/>
              </a:spcAft>
              <a:buNone/>
            </a:pPr>
            <a:r>
              <a:rPr lang="en-US" altLang="en-PK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P </a:t>
            </a:r>
            <a:r>
              <a:rPr lang="en-US" altLang="en-PK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 </a:t>
            </a:r>
            <a:r>
              <a:rPr lang="en-US" altLang="en-PK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(Q  </a:t>
            </a:r>
            <a:r>
              <a:rPr lang="en-US" altLang="en-PK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</a:t>
            </a:r>
            <a:r>
              <a:rPr lang="en-US" altLang="en-PK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R)</a:t>
            </a:r>
          </a:p>
        </p:txBody>
      </p:sp>
      <p:sp>
        <p:nvSpPr>
          <p:cNvPr id="489476" name="Rectangle 4">
            <a:extLst>
              <a:ext uri="{FF2B5EF4-FFF2-40B4-BE49-F238E27FC236}">
                <a16:creationId xmlns:a16="http://schemas.microsoft.com/office/drawing/2014/main" id="{5D3C0738-EA2C-866F-22F6-E08A2093F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8098" y="1066800"/>
            <a:ext cx="9892004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0188" indent="-23018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spcAft>
                <a:spcPct val="25000"/>
              </a:spcAft>
              <a:buFontTx/>
              <a:buChar char="•"/>
            </a:pPr>
            <a:r>
              <a:rPr lang="en-US" altLang="en-PK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You can access the Internet from campus only if you are a computer science major or you are not a freshman.</a:t>
            </a:r>
          </a:p>
        </p:txBody>
      </p:sp>
    </p:spTree>
    <p:extLst>
      <p:ext uri="{BB962C8B-B14F-4D97-AF65-F5344CB8AC3E}">
        <p14:creationId xmlns:p14="http://schemas.microsoft.com/office/powerpoint/2010/main" val="54429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1026">
            <a:extLst>
              <a:ext uri="{FF2B5EF4-FFF2-40B4-BE49-F238E27FC236}">
                <a16:creationId xmlns:a16="http://schemas.microsoft.com/office/drawing/2014/main" id="{64EFC9F8-0868-2B90-5860-04ADB7DA4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>
            <a:noAutofit/>
          </a:bodyPr>
          <a:lstStyle/>
          <a:p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Exercises</a:t>
            </a:r>
            <a:endParaRPr lang="en-CA" alt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98691" name="Rectangle 1027">
            <a:extLst>
              <a:ext uri="{FF2B5EF4-FFF2-40B4-BE49-F238E27FC236}">
                <a16:creationId xmlns:a16="http://schemas.microsoft.com/office/drawing/2014/main" id="{D578AFC6-A320-65BB-448F-D10B73A7D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76131" y="2743200"/>
            <a:ext cx="8153400" cy="2488095"/>
          </a:xfrm>
        </p:spPr>
        <p:txBody>
          <a:bodyPr>
            <a:normAutofit lnSpcReduction="10000"/>
          </a:bodyPr>
          <a:lstStyle/>
          <a:p>
            <a:pPr lvl="1">
              <a:spcAft>
                <a:spcPct val="25000"/>
              </a:spcAft>
            </a:pPr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P: School is closed </a:t>
            </a:r>
          </a:p>
          <a:p>
            <a:pPr lvl="1">
              <a:spcAft>
                <a:spcPct val="25000"/>
              </a:spcAft>
            </a:pPr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Q: 2 feet of snow falls</a:t>
            </a:r>
          </a:p>
          <a:p>
            <a:pPr lvl="1">
              <a:spcAft>
                <a:spcPct val="25000"/>
              </a:spcAft>
            </a:pPr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R: wind chill is below -100</a:t>
            </a:r>
          </a:p>
          <a:p>
            <a:pPr marL="0" indent="0">
              <a:spcAft>
                <a:spcPct val="25000"/>
              </a:spcAft>
              <a:buNone/>
            </a:pPr>
            <a:endParaRPr lang="en-US" altLang="en-PK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sym typeface="Symbol" panose="05050102010706020507" pitchFamily="18" charset="2"/>
            </a:endParaRPr>
          </a:p>
          <a:p>
            <a:pPr marL="0" indent="0" algn="ctr">
              <a:spcAft>
                <a:spcPct val="25000"/>
              </a:spcAft>
              <a:buNone/>
            </a:pPr>
            <a:r>
              <a:rPr lang="en-US" altLang="en-PK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Q  R </a:t>
            </a:r>
            <a:r>
              <a:rPr lang="en-US" altLang="en-PK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</a:t>
            </a:r>
            <a:r>
              <a:rPr lang="en-US" altLang="en-PK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 P</a:t>
            </a:r>
          </a:p>
        </p:txBody>
      </p:sp>
      <p:sp>
        <p:nvSpPr>
          <p:cNvPr id="498692" name="Rectangle 1028">
            <a:extLst>
              <a:ext uri="{FF2B5EF4-FFF2-40B4-BE49-F238E27FC236}">
                <a16:creationId xmlns:a16="http://schemas.microsoft.com/office/drawing/2014/main" id="{03B829B4-8501-6362-B2F5-6AE525B73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461" y="1219200"/>
            <a:ext cx="8849139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0188" indent="-23018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spcAft>
                <a:spcPct val="25000"/>
              </a:spcAft>
              <a:buFontTx/>
              <a:buChar char="•"/>
            </a:pPr>
            <a:r>
              <a:rPr lang="en-US" altLang="en-PK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School is closed if more than 2 feet of snow falls or if the wind chill is below -100.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8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532" y="145064"/>
            <a:ext cx="9601196" cy="82109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Implications … 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Exercises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DAD39-B8EB-E1DF-5222-45CE5D904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050" y="1017918"/>
            <a:ext cx="10515600" cy="4873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What are the truth values of the following implications?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514350"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sin x = 0, x = 0</a:t>
            </a:r>
          </a:p>
          <a:p>
            <a:pPr marL="514350" indent="-514350"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x</a:t>
            </a:r>
            <a:r>
              <a:rPr lang="en-US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0, x &gt; 0</a:t>
            </a:r>
          </a:p>
          <a:p>
            <a:pPr marL="514350" indent="-514350"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x</a:t>
            </a:r>
            <a:r>
              <a:rPr lang="en-US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0, x &gt; 0</a:t>
            </a:r>
          </a:p>
          <a:p>
            <a:pPr marL="514350" indent="-514350"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Joe is the winner candidate, he must have secured more votes than other candidates.</a:t>
            </a:r>
          </a:p>
          <a:p>
            <a:pPr marL="514350" indent="-514350"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-3 is a positive number, 2 + 4 = 10</a:t>
            </a:r>
          </a:p>
          <a:p>
            <a:pPr marL="514350" indent="-514350"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514350">
              <a:buClr>
                <a:schemeClr val="accent5">
                  <a:lumMod val="75000"/>
                </a:schemeClr>
              </a:buClr>
              <a:buFont typeface="+mj-lt"/>
              <a:buAutoNum type="arabicPeriod"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998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55" y="0"/>
            <a:ext cx="10515600" cy="98904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763555" y="1224024"/>
                <a:ext cx="10515600" cy="314919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---- </a:t>
                </a:r>
                <a:r>
                  <a:rPr lang="en-US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FALSE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Because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accent1">
                        <a:lumMod val="5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ZERO at many other places as well.</a:t>
                </a:r>
              </a:p>
              <a:p>
                <a:r>
                  <a:rPr lang="en-US" b="1" dirty="0">
                    <a:solidFill>
                      <a:srgbClr val="00B05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Let’s look at its CONVERSE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. --- </a:t>
                </a:r>
                <a:r>
                  <a:rPr lang="en-US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TRUE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3555" y="1224024"/>
                <a:ext cx="10515600" cy="3149193"/>
              </a:xfrm>
              <a:blipFill>
                <a:blip r:embed="rId2"/>
                <a:stretch>
                  <a:fillRect l="-1159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305" y="4348812"/>
            <a:ext cx="3566038" cy="183428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5949218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0777"/>
            <a:ext cx="10515600" cy="774847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Do it by yourself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8225"/>
                <a:ext cx="10515600" cy="4798737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the propositions: “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election is decided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”, and “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votes have been counted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”. Express the following compound propositions in English: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⋁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⋀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n-US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8225"/>
                <a:ext cx="10515600" cy="4798737"/>
              </a:xfrm>
              <a:blipFill>
                <a:blip r:embed="rId2"/>
                <a:stretch>
                  <a:fillRect l="-1043" t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2812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5379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Converse</a:t>
            </a:r>
          </a:p>
        </p:txBody>
      </p:sp>
      <p:sp>
        <p:nvSpPr>
          <p:cNvPr id="104870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proposition </a:t>
            </a:r>
          </a:p>
          <a:p>
            <a:pPr algn="ctr">
              <a:buNone/>
            </a:pPr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→ p</a:t>
            </a: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is called the converse of </a:t>
            </a:r>
          </a:p>
          <a:p>
            <a:pPr algn="ctr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 → q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Note that</a:t>
            </a:r>
          </a:p>
          <a:p>
            <a:pPr algn="ctr"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q → p !≡ p → q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Converse</a:t>
            </a:r>
          </a:p>
        </p:txBody>
      </p:sp>
      <p:sp>
        <p:nvSpPr>
          <p:cNvPr id="104870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222"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“If it is raining, then the home team wins.”</a:t>
            </a:r>
          </a:p>
          <a:p>
            <a:pPr marL="0" indent="0">
              <a:buNone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converse is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“If the home team wins, then it is raining.”</a:t>
            </a: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04870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q → p !≡ p → q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194304" name="Table 419430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308220"/>
              </p:ext>
            </p:extLst>
          </p:nvPr>
        </p:nvGraphicFramePr>
        <p:xfrm>
          <a:off x="2667000" y="2104886"/>
          <a:ext cx="68580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/>
                        <a:t>p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3200" b="1"/>
                        <a:t>q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p → q</a:t>
                      </a:r>
                      <a:endParaRPr lang="en-US" altLang="en-US" sz="32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q → p</a:t>
                      </a:r>
                      <a:endParaRPr lang="en-US" altLang="en-US" sz="3200" b="1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/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3200" b="1"/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3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3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/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3200" b="1"/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3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3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/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3200" b="1"/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3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3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/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3200" b="1"/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3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3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081F46-80F2-9BAA-7E8A-407F965DF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978891"/>
              </p:ext>
            </p:extLst>
          </p:nvPr>
        </p:nvGraphicFramePr>
        <p:xfrm>
          <a:off x="7810500" y="2846566"/>
          <a:ext cx="17145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1602403031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07793144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1662054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/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31610209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68994693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908D53-AF38-9577-C830-61A2D45A4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303519"/>
              </p:ext>
            </p:extLst>
          </p:nvPr>
        </p:nvGraphicFramePr>
        <p:xfrm>
          <a:off x="6096000" y="2846566"/>
          <a:ext cx="17145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268515899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165838466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/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2672813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3989073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301005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016B4C-A9B5-DEAA-7AE8-41DB8DE1B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234925"/>
              </p:ext>
            </p:extLst>
          </p:nvPr>
        </p:nvGraphicFramePr>
        <p:xfrm>
          <a:off x="6096000" y="3588246"/>
          <a:ext cx="3429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26008264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710598747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3200" b="1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388831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3200" b="1" dirty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3200" b="1" dirty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0428463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Contrapositive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</p:txBody>
      </p:sp>
      <p:sp>
        <p:nvSpPr>
          <p:cNvPr id="104871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proposition </a:t>
            </a:r>
          </a:p>
          <a:p>
            <a:pPr algn="ctr">
              <a:buNone/>
            </a:pPr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￢q →￢p</a:t>
            </a: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is called the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contrapositive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of </a:t>
            </a:r>
            <a:endParaRPr lang="zh-CN" altLang="en-US" dirty="0">
              <a:latin typeface="Cambria Math" panose="02040503050406030204" pitchFamily="18" charset="0"/>
            </a:endParaRPr>
          </a:p>
          <a:p>
            <a:pPr algn="ctr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 → q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Note that</a:t>
            </a:r>
          </a:p>
          <a:p>
            <a:pPr algn="ctr"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￢q →￢p ≡ p → q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Contrapositive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487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222"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“If it is raining, then the home team wins.”</a:t>
            </a:r>
          </a:p>
          <a:p>
            <a:pPr marL="0" indent="0">
              <a:buNone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contrapositive is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“If the home team does not win, then it is not raining.”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0487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￢q →￢p ≡ p → q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194308" name="Table 419430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519999"/>
              </p:ext>
            </p:extLst>
          </p:nvPr>
        </p:nvGraphicFramePr>
        <p:xfrm>
          <a:off x="1981199" y="1813707"/>
          <a:ext cx="819255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→ q</a:t>
                      </a:r>
                      <a:endParaRPr lang="en-US" alt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</a:t>
                      </a:r>
                      <a:endParaRPr lang="en-US" alt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￢q</a:t>
                      </a:r>
                      <a:endParaRPr lang="en-US" alt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￢q →￢p</a:t>
                      </a:r>
                      <a:endParaRPr lang="en-US" alt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85D4EB-64F1-6A6E-230E-BB0A3802ACC7}"/>
              </a:ext>
            </a:extLst>
          </p:cNvPr>
          <p:cNvGraphicFramePr>
            <a:graphicFrameLocks noGrp="1"/>
          </p:cNvGraphicFramePr>
          <p:nvPr/>
        </p:nvGraphicFramePr>
        <p:xfrm>
          <a:off x="4705715" y="2555387"/>
          <a:ext cx="1365425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5425">
                  <a:extLst>
                    <a:ext uri="{9D8B030D-6E8A-4147-A177-3AD203B41FA5}">
                      <a16:colId xmlns:a16="http://schemas.microsoft.com/office/drawing/2014/main" val="629986573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76083503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48591997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52812637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5297623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581003-6972-0999-FDE5-677AB719916D}"/>
              </a:ext>
            </a:extLst>
          </p:cNvPr>
          <p:cNvGraphicFramePr>
            <a:graphicFrameLocks noGrp="1"/>
          </p:cNvGraphicFramePr>
          <p:nvPr/>
        </p:nvGraphicFramePr>
        <p:xfrm>
          <a:off x="8808324" y="2555387"/>
          <a:ext cx="1365425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5425">
                  <a:extLst>
                    <a:ext uri="{9D8B030D-6E8A-4147-A177-3AD203B41FA5}">
                      <a16:colId xmlns:a16="http://schemas.microsoft.com/office/drawing/2014/main" val="3846892198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2401623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66950609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6432155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67759633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048723"/>
          <p:cNvSpPr>
            <a:spLocks noGrp="1"/>
          </p:cNvSpPr>
          <p:nvPr>
            <p:ph type="title"/>
          </p:nvPr>
        </p:nvSpPr>
        <p:spPr>
          <a:xfrm>
            <a:off x="819674" y="375285"/>
            <a:ext cx="10515600" cy="1325563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￢q →￢p ≡ p → q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194311" name="Table 41943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459036"/>
              </p:ext>
            </p:extLst>
          </p:nvPr>
        </p:nvGraphicFramePr>
        <p:xfrm>
          <a:off x="1981199" y="1813707"/>
          <a:ext cx="819255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→ q</a:t>
                      </a:r>
                      <a:endParaRPr lang="en-US" altLang="en-US" sz="2000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</a:t>
                      </a:r>
                      <a:endParaRPr lang="en-US" altLang="en-US" sz="2000" b="1" i="0">
                        <a:solidFill>
                          <a:srgbClr val="80808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￢q</a:t>
                      </a:r>
                      <a:endParaRPr lang="en-US" altLang="en-US" sz="2000" b="1" i="0">
                        <a:solidFill>
                          <a:srgbClr val="80808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￢q →￢p</a:t>
                      </a:r>
                      <a:endParaRPr lang="en-US" altLang="en-US" sz="2000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Inverse </a:t>
            </a:r>
          </a:p>
        </p:txBody>
      </p:sp>
      <p:sp>
        <p:nvSpPr>
          <p:cNvPr id="104872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proposition </a:t>
            </a:r>
          </a:p>
          <a:p>
            <a:pPr algn="ctr">
              <a:buNone/>
            </a:pPr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￢p →￢q</a:t>
            </a:r>
          </a:p>
          <a:p>
            <a:pPr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is called the inverse of </a:t>
            </a:r>
            <a:endParaRPr lang="zh-CN" altLang="en-US" dirty="0">
              <a:latin typeface="Cambria Math" panose="02040503050406030204" pitchFamily="18" charset="0"/>
            </a:endParaRPr>
          </a:p>
          <a:p>
            <a:pPr algn="ctr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 → q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Note that</a:t>
            </a:r>
          </a:p>
          <a:p>
            <a:pPr algn="ctr">
              <a:buNone/>
            </a:pP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￢p →￢q !≡  p → q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Inverse</a:t>
            </a:r>
          </a:p>
        </p:txBody>
      </p:sp>
      <p:sp>
        <p:nvSpPr>
          <p:cNvPr id="10487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222"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“If it is raining, then the home team wins.”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09728" indent="0" algn="ctr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inverse is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“If it is not raining, then the home team does not win.”</a:t>
            </a:r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Title 10487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￢p →￢q !≡  p → q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4194314" name="Table 41943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1838242"/>
              </p:ext>
            </p:extLst>
          </p:nvPr>
        </p:nvGraphicFramePr>
        <p:xfrm>
          <a:off x="1981199" y="1813707"/>
          <a:ext cx="819255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→ q</a:t>
                      </a:r>
                      <a:endParaRPr lang="en-US" alt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</a:t>
                      </a:r>
                      <a:endParaRPr lang="en-US" alt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￢q</a:t>
                      </a:r>
                      <a:endParaRPr lang="en-US" alt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 →￢q</a:t>
                      </a:r>
                      <a:endParaRPr lang="en-US" alt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en-US" altLang="en-US" sz="2000" b="1" i="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30AC00-89D3-65F8-DFB1-F05047FB385D}"/>
              </a:ext>
            </a:extLst>
          </p:cNvPr>
          <p:cNvGraphicFramePr>
            <a:graphicFrameLocks noGrp="1"/>
          </p:cNvGraphicFramePr>
          <p:nvPr/>
        </p:nvGraphicFramePr>
        <p:xfrm>
          <a:off x="8808324" y="2555387"/>
          <a:ext cx="1365425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5425">
                  <a:extLst>
                    <a:ext uri="{9D8B030D-6E8A-4147-A177-3AD203B41FA5}">
                      <a16:colId xmlns:a16="http://schemas.microsoft.com/office/drawing/2014/main" val="118689707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1466614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008359205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229792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/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78255698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0487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￢p →￢q !≡  p → q</a:t>
            </a:r>
          </a:p>
        </p:txBody>
      </p:sp>
      <p:graphicFrame>
        <p:nvGraphicFramePr>
          <p:cNvPr id="4194315" name="Table 41943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801093"/>
              </p:ext>
            </p:extLst>
          </p:nvPr>
        </p:nvGraphicFramePr>
        <p:xfrm>
          <a:off x="1981199" y="1813707"/>
          <a:ext cx="819255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→ q</a:t>
                      </a:r>
                      <a:endParaRPr lang="en-US" altLang="en-US" sz="2000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</a:t>
                      </a:r>
                      <a:endParaRPr lang="en-US" altLang="en-US" sz="2000" b="1" i="0">
                        <a:solidFill>
                          <a:srgbClr val="80808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￢q</a:t>
                      </a:r>
                      <a:endParaRPr lang="en-US" altLang="en-US" sz="2000" b="1" i="0">
                        <a:solidFill>
                          <a:srgbClr val="80808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 →￢q</a:t>
                      </a:r>
                      <a:endParaRPr lang="en-US" altLang="en-US" sz="2000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C76BC-4BDE-C199-69DD-CB4C3A1588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761453"/>
              </p:ext>
            </p:extLst>
          </p:nvPr>
        </p:nvGraphicFramePr>
        <p:xfrm>
          <a:off x="1981199" y="1813707"/>
          <a:ext cx="819255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→ q</a:t>
                      </a:r>
                      <a:endParaRPr lang="en-US" altLang="en-US" sz="2000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</a:t>
                      </a:r>
                      <a:endParaRPr lang="en-US" altLang="en-US" sz="2000" b="1" i="0">
                        <a:solidFill>
                          <a:srgbClr val="80808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￢q</a:t>
                      </a:r>
                      <a:endParaRPr lang="en-US" altLang="en-US" sz="2000" b="1" i="0">
                        <a:solidFill>
                          <a:srgbClr val="80808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 →￢q</a:t>
                      </a:r>
                      <a:endParaRPr lang="en-US" altLang="en-US" sz="2000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9933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9933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EDF4A9-4DC1-92C2-64F2-9FA115CD69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587614"/>
              </p:ext>
            </p:extLst>
          </p:nvPr>
        </p:nvGraphicFramePr>
        <p:xfrm>
          <a:off x="1981199" y="1813707"/>
          <a:ext cx="819255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q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 → q</a:t>
                      </a:r>
                      <a:endParaRPr lang="en-US" altLang="en-US" sz="2000" b="1" i="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</a:t>
                      </a:r>
                      <a:endParaRPr lang="en-US" altLang="en-US" sz="2000" b="1" i="0">
                        <a:solidFill>
                          <a:srgbClr val="80808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￢q</a:t>
                      </a:r>
                      <a:endParaRPr lang="en-US" altLang="en-US" sz="2000" b="1" i="0">
                        <a:solidFill>
                          <a:srgbClr val="80808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￢p →￢q</a:t>
                      </a:r>
                      <a:endParaRPr lang="en-US" altLang="en-US" sz="2000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9933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9933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F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000" b="1" i="0">
                          <a:solidFill>
                            <a:srgbClr val="80808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en-US" sz="2800" b="1" i="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918" y="26239"/>
            <a:ext cx="10515600" cy="804186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Implication, Converse, Inverse and Contraposition</a:t>
            </a:r>
            <a:endParaRPr lang="en-US" sz="4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8B91E743-A09A-116B-C088-B70E6DFA476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53699" y="1237250"/>
              <a:ext cx="9544648" cy="3162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1365">
                      <a:extLst>
                        <a:ext uri="{9D8B030D-6E8A-4147-A177-3AD203B41FA5}">
                          <a16:colId xmlns:a16="http://schemas.microsoft.com/office/drawing/2014/main" val="3877450838"/>
                        </a:ext>
                      </a:extLst>
                    </a:gridCol>
                    <a:gridCol w="940279">
                      <a:extLst>
                        <a:ext uri="{9D8B030D-6E8A-4147-A177-3AD203B41FA5}">
                          <a16:colId xmlns:a16="http://schemas.microsoft.com/office/drawing/2014/main" val="3071025887"/>
                        </a:ext>
                      </a:extLst>
                    </a:gridCol>
                    <a:gridCol w="948906">
                      <a:extLst>
                        <a:ext uri="{9D8B030D-6E8A-4147-A177-3AD203B41FA5}">
                          <a16:colId xmlns:a16="http://schemas.microsoft.com/office/drawing/2014/main" val="16440183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83652681"/>
                        </a:ext>
                      </a:extLst>
                    </a:gridCol>
                    <a:gridCol w="1362974">
                      <a:extLst>
                        <a:ext uri="{9D8B030D-6E8A-4147-A177-3AD203B41FA5}">
                          <a16:colId xmlns:a16="http://schemas.microsoft.com/office/drawing/2014/main" val="2890097902"/>
                        </a:ext>
                      </a:extLst>
                    </a:gridCol>
                    <a:gridCol w="1535502">
                      <a:extLst>
                        <a:ext uri="{9D8B030D-6E8A-4147-A177-3AD203B41FA5}">
                          <a16:colId xmlns:a16="http://schemas.microsoft.com/office/drawing/2014/main" val="1506978485"/>
                        </a:ext>
                      </a:extLst>
                    </a:gridCol>
                    <a:gridCol w="1397479">
                      <a:extLst>
                        <a:ext uri="{9D8B030D-6E8A-4147-A177-3AD203B41FA5}">
                          <a16:colId xmlns:a16="http://schemas.microsoft.com/office/drawing/2014/main" val="3232209067"/>
                        </a:ext>
                      </a:extLst>
                    </a:gridCol>
                    <a:gridCol w="1483743">
                      <a:extLst>
                        <a:ext uri="{9D8B030D-6E8A-4147-A177-3AD203B41FA5}">
                          <a16:colId xmlns:a16="http://schemas.microsoft.com/office/drawing/2014/main" val="2126512409"/>
                        </a:ext>
                      </a:extLst>
                    </a:gridCol>
                  </a:tblGrid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400" b="1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𝑸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a:t> Q</a:t>
                          </a:r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Q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a:t>P</a:t>
                          </a:r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Q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a:t> P</a:t>
                          </a:r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</m:oMath>
                          </a14:m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400" b="1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𝐐</m:t>
                              </m:r>
                            </m:oMath>
                          </a14:m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3199233"/>
                      </a:ext>
                    </a:extLst>
                  </a:tr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083383"/>
                      </a:ext>
                    </a:extLst>
                  </a:tr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5547086"/>
                      </a:ext>
                    </a:extLst>
                  </a:tr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947640"/>
                      </a:ext>
                    </a:extLst>
                  </a:tr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11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5">
                <a:extLst>
                  <a:ext uri="{FF2B5EF4-FFF2-40B4-BE49-F238E27FC236}">
                    <a16:creationId xmlns:a16="http://schemas.microsoft.com/office/drawing/2014/main" id="{8B91E743-A09A-116B-C088-B70E6DFA476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1878758"/>
                  </p:ext>
                </p:extLst>
              </p:nvPr>
            </p:nvGraphicFramePr>
            <p:xfrm>
              <a:off x="953699" y="1237250"/>
              <a:ext cx="9544648" cy="3162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1365">
                      <a:extLst>
                        <a:ext uri="{9D8B030D-6E8A-4147-A177-3AD203B41FA5}">
                          <a16:colId xmlns:a16="http://schemas.microsoft.com/office/drawing/2014/main" val="3877450838"/>
                        </a:ext>
                      </a:extLst>
                    </a:gridCol>
                    <a:gridCol w="940279">
                      <a:extLst>
                        <a:ext uri="{9D8B030D-6E8A-4147-A177-3AD203B41FA5}">
                          <a16:colId xmlns:a16="http://schemas.microsoft.com/office/drawing/2014/main" val="3071025887"/>
                        </a:ext>
                      </a:extLst>
                    </a:gridCol>
                    <a:gridCol w="948906">
                      <a:extLst>
                        <a:ext uri="{9D8B030D-6E8A-4147-A177-3AD203B41FA5}">
                          <a16:colId xmlns:a16="http://schemas.microsoft.com/office/drawing/2014/main" val="16440183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983652681"/>
                        </a:ext>
                      </a:extLst>
                    </a:gridCol>
                    <a:gridCol w="1362974">
                      <a:extLst>
                        <a:ext uri="{9D8B030D-6E8A-4147-A177-3AD203B41FA5}">
                          <a16:colId xmlns:a16="http://schemas.microsoft.com/office/drawing/2014/main" val="2890097902"/>
                        </a:ext>
                      </a:extLst>
                    </a:gridCol>
                    <a:gridCol w="1535502">
                      <a:extLst>
                        <a:ext uri="{9D8B030D-6E8A-4147-A177-3AD203B41FA5}">
                          <a16:colId xmlns:a16="http://schemas.microsoft.com/office/drawing/2014/main" val="1506978485"/>
                        </a:ext>
                      </a:extLst>
                    </a:gridCol>
                    <a:gridCol w="1397479">
                      <a:extLst>
                        <a:ext uri="{9D8B030D-6E8A-4147-A177-3AD203B41FA5}">
                          <a16:colId xmlns:a16="http://schemas.microsoft.com/office/drawing/2014/main" val="3232209067"/>
                        </a:ext>
                      </a:extLst>
                    </a:gridCol>
                    <a:gridCol w="1483743">
                      <a:extLst>
                        <a:ext uri="{9D8B030D-6E8A-4147-A177-3AD203B41FA5}">
                          <a16:colId xmlns:a16="http://schemas.microsoft.com/office/drawing/2014/main" val="2126512409"/>
                        </a:ext>
                      </a:extLst>
                    </a:gridCol>
                  </a:tblGrid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Q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41" t="-6731" r="-707051" b="-4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12667" t="-6731" r="-635333" b="-4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P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a:t> Q</a:t>
                          </a:r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4524" t="-6731" r="-189286" b="-4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Q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a:t> P</a:t>
                          </a:r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42623" t="-6731" r="-1639" b="-40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3199233"/>
                      </a:ext>
                    </a:extLst>
                  </a:tr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1083383"/>
                      </a:ext>
                    </a:extLst>
                  </a:tr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5547086"/>
                      </a:ext>
                    </a:extLst>
                  </a:tr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947640"/>
                      </a:ext>
                    </a:extLst>
                  </a:tr>
                  <a:tr h="632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110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27A9E05-4492-00B0-BEB3-1C1B508E4F4D}"/>
              </a:ext>
            </a:extLst>
          </p:cNvPr>
          <p:cNvSpPr/>
          <p:nvPr/>
        </p:nvSpPr>
        <p:spPr>
          <a:xfrm>
            <a:off x="4740215" y="1846054"/>
            <a:ext cx="2881223" cy="2553416"/>
          </a:xfrm>
          <a:prstGeom prst="rect">
            <a:avLst/>
          </a:prstGeom>
          <a:solidFill>
            <a:srgbClr val="00B050">
              <a:alpha val="3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33D2E3-F54E-D83C-68D4-A586C6B5BFDB}"/>
              </a:ext>
            </a:extLst>
          </p:cNvPr>
          <p:cNvSpPr/>
          <p:nvPr/>
        </p:nvSpPr>
        <p:spPr>
          <a:xfrm>
            <a:off x="7619281" y="1846054"/>
            <a:ext cx="2881223" cy="2553416"/>
          </a:xfrm>
          <a:prstGeom prst="rect">
            <a:avLst/>
          </a:prstGeom>
          <a:solidFill>
            <a:srgbClr val="FFC000">
              <a:alpha val="3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254542-8B4F-9809-3D28-DF658033D58D}"/>
                  </a:ext>
                </a:extLst>
              </p:cNvPr>
              <p:cNvSpPr txBox="1"/>
              <p:nvPr/>
            </p:nvSpPr>
            <p:spPr>
              <a:xfrm>
                <a:off x="1610983" y="4806295"/>
                <a:ext cx="799884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C00000"/>
                    </a:solidFill>
                  </a:rPr>
                  <a:t>IMPLICATION</a:t>
                </a:r>
                <a:r>
                  <a:rPr lang="en-US" sz="2800" dirty="0">
                    <a:solidFill>
                      <a:srgbClr val="00B050"/>
                    </a:solidFill>
                  </a:rPr>
                  <a:t> </a:t>
                </a:r>
                <a:r>
                  <a:rPr lang="en-US" sz="2800" dirty="0">
                    <a:solidFill>
                      <a:srgbClr val="7030A0"/>
                    </a:solidFill>
                  </a:rPr>
                  <a:t>is EQUIVALENT to its </a:t>
                </a:r>
                <a:r>
                  <a:rPr lang="en-US" sz="2800" dirty="0">
                    <a:solidFill>
                      <a:srgbClr val="C00000"/>
                    </a:solidFill>
                  </a:rPr>
                  <a:t>CONTRAPOSITIVE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≡¬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→¬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254542-8B4F-9809-3D28-DF658033D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983" y="4806295"/>
                <a:ext cx="7998844" cy="954107"/>
              </a:xfrm>
              <a:prstGeom prst="rect">
                <a:avLst/>
              </a:prstGeom>
              <a:blipFill>
                <a:blip r:embed="rId3"/>
                <a:stretch>
                  <a:fillRect l="-1524" t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660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9459" y="77063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Exercise: </a:t>
            </a:r>
            <a:r>
              <a:rPr lang="en-US" sz="3200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Correct or Incorrect</a:t>
            </a:r>
            <a:endParaRPr lang="en-US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59" y="967275"/>
            <a:ext cx="6257067" cy="6864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31349-57AB-1451-50B8-E18B47B3B988}"/>
              </a:ext>
            </a:extLst>
          </p:cNvPr>
          <p:cNvSpPr txBox="1"/>
          <p:nvPr/>
        </p:nvSpPr>
        <p:spPr>
          <a:xfrm>
            <a:off x="6825771" y="1774563"/>
            <a:ext cx="106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lgerian" panose="04020705040A02060702" pitchFamily="82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73274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145" y="170368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Exercise: </a:t>
            </a:r>
            <a:r>
              <a:rPr lang="en-US" sz="3200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Correct or Incorrect</a:t>
            </a:r>
            <a:endParaRPr lang="en-US" i="1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7C5D2-1805-F0FF-D233-225820578BD8}"/>
              </a:ext>
            </a:extLst>
          </p:cNvPr>
          <p:cNvSpPr txBox="1"/>
          <p:nvPr/>
        </p:nvSpPr>
        <p:spPr>
          <a:xfrm>
            <a:off x="6860276" y="2610423"/>
            <a:ext cx="1273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lgerian" panose="04020705040A02060702" pitchFamily="82" charset="0"/>
              </a:rPr>
              <a:t>False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86D3B0-DA72-2AA7-E34A-17267C297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5" y="1361571"/>
            <a:ext cx="9732637" cy="69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8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945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Exercise: </a:t>
            </a:r>
            <a:r>
              <a:rPr lang="en-US" sz="4000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Correct or Incorrect</a:t>
            </a:r>
            <a:endParaRPr lang="en-US" u="sn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355" y="1479104"/>
            <a:ext cx="10378297" cy="637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6E7B8B-5125-4B9F-BAF1-CE5BB81516C4}"/>
              </a:ext>
            </a:extLst>
          </p:cNvPr>
          <p:cNvSpPr txBox="1"/>
          <p:nvPr/>
        </p:nvSpPr>
        <p:spPr>
          <a:xfrm>
            <a:off x="6860276" y="2610423"/>
            <a:ext cx="204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lgerian" panose="04020705040A02060702" pitchFamily="82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67249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9459" y="170369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Exercise: </a:t>
            </a:r>
            <a:r>
              <a:rPr lang="en-US" sz="4000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Correct or Incorrect</a:t>
            </a:r>
            <a:endParaRPr lang="en-US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6E7B8B-5125-4B9F-BAF1-CE5BB81516C4}"/>
              </a:ext>
            </a:extLst>
          </p:cNvPr>
          <p:cNvSpPr txBox="1"/>
          <p:nvPr/>
        </p:nvSpPr>
        <p:spPr>
          <a:xfrm>
            <a:off x="6860276" y="2610423"/>
            <a:ext cx="204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lgerian" panose="04020705040A02060702" pitchFamily="82" charset="0"/>
              </a:rPr>
              <a:t>true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0B16C6-69FD-E366-C477-0390F4FD7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905" y="1562504"/>
            <a:ext cx="8698658" cy="46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3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082" y="321128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Exercise: </a:t>
            </a:r>
            <a:r>
              <a:rPr lang="en-US" sz="3600" i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Correct or Incorrect</a:t>
            </a:r>
            <a:endParaRPr lang="en-US" sz="4800" dirty="0">
              <a:solidFill>
                <a:srgbClr val="C0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82" y="1271968"/>
            <a:ext cx="7670156" cy="8415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399" y="2413995"/>
            <a:ext cx="7310959" cy="5194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383" y="2413995"/>
            <a:ext cx="1563868" cy="4862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399" y="3086824"/>
            <a:ext cx="7569500" cy="4651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2136" y="3085807"/>
            <a:ext cx="1435195" cy="4014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399" y="3714204"/>
            <a:ext cx="7958762" cy="4251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7660" y="3642528"/>
            <a:ext cx="1448618" cy="581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AFF32E-A0A5-0840-ADB6-5555F7848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2136" y="1454606"/>
            <a:ext cx="1448618" cy="58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442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930"/>
            <a:ext cx="9601196" cy="76939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Bi-conditional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C2498-1A66-E639-4DC3-21A207940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0870"/>
            <a:ext cx="10515600" cy="45521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Given the two propositions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Q,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th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e biconditional </a:t>
            </a:r>
            <a:r>
              <a:rPr lang="en-US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↔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is a proposition whose truth value is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when both P and Q have same truth values. It is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False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otherwise.</a:t>
            </a:r>
          </a:p>
          <a:p>
            <a:pPr marL="0" indent="0" algn="just">
              <a:buNone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Note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: biconditional is equivalent to (P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Q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US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∧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(Q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P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just">
              <a:buNone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Biconditional is represented as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and only if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or </a:t>
            </a:r>
            <a:r>
              <a:rPr lang="en-US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iff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0118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86C45B5-C2B8-14ED-B9A1-040E85F2B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1999" y="381000"/>
            <a:ext cx="10873409" cy="685800"/>
          </a:xfrm>
        </p:spPr>
        <p:txBody>
          <a:bodyPr>
            <a:normAutofit fontScale="90000"/>
          </a:bodyPr>
          <a:lstStyle/>
          <a:p>
            <a:r>
              <a:rPr lang="en-US" altLang="en-PK" sz="4900" dirty="0">
                <a:latin typeface="Cambria Math" panose="02040503050406030204" pitchFamily="18" charset="0"/>
                <a:ea typeface="Cambria Math" panose="02040503050406030204" pitchFamily="18" charset="0"/>
              </a:rPr>
              <a:t>Biconditional </a:t>
            </a:r>
            <a:r>
              <a:rPr lang="en-US" altLang="en-PK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(Bi-implications) (if and only if)</a:t>
            </a:r>
            <a:endParaRPr lang="en-CA" alt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ACA34CF-FD26-2177-1603-D467A86C9B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5970" y="1729409"/>
            <a:ext cx="9525466" cy="838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PK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Binary Operator, Symbol:  </a:t>
            </a:r>
            <a:r>
              <a:rPr lang="en-US" altLang="en-PK" sz="3600" b="1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</a:t>
            </a:r>
            <a:endParaRPr lang="en-US" altLang="en-PK" sz="3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6655" name="Group 31">
            <a:extLst>
              <a:ext uri="{FF2B5EF4-FFF2-40B4-BE49-F238E27FC236}">
                <a16:creationId xmlns:a16="http://schemas.microsoft.com/office/drawing/2014/main" id="{3550D7DE-725A-15BC-B28D-739D796F4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635656"/>
              </p:ext>
            </p:extLst>
          </p:nvPr>
        </p:nvGraphicFramePr>
        <p:xfrm>
          <a:off x="3455504" y="2868268"/>
          <a:ext cx="4724400" cy="3257551"/>
        </p:xfrm>
        <a:graphic>
          <a:graphicData uri="http://schemas.openxmlformats.org/drawingml/2006/table">
            <a:tbl>
              <a:tblPr/>
              <a:tblGrid>
                <a:gridCol w="1574800">
                  <a:extLst>
                    <a:ext uri="{9D8B030D-6E8A-4147-A177-3AD203B41FA5}">
                      <a16:colId xmlns:a16="http://schemas.microsoft.com/office/drawing/2014/main" val="2354241415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699342337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459239489"/>
                    </a:ext>
                  </a:extLst>
                </a:gridCol>
              </a:tblGrid>
              <a:tr h="6318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682468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540598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978718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023173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6498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904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Biconditional Statement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51526" y="1473789"/>
            <a:ext cx="10602274" cy="1858501"/>
          </a:xfrm>
        </p:spPr>
        <p:txBody>
          <a:bodyPr>
            <a:norm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What does the following line mean?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You can take the flight if and only if you buy a ticket.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E55A76-FA3D-1B1F-DAA0-2066FB945F96}"/>
              </a:ext>
            </a:extLst>
          </p:cNvPr>
          <p:cNvSpPr txBox="1"/>
          <p:nvPr/>
        </p:nvSpPr>
        <p:spPr>
          <a:xfrm>
            <a:off x="1915761" y="3074217"/>
            <a:ext cx="87221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means that 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you take the flight, then you have bought ticket, 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AND, </a:t>
            </a:r>
          </a:p>
          <a:p>
            <a:pPr algn="ctr"/>
            <a:r>
              <a:rPr lang="en-US" sz="2400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you buy ticket then you take the flight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416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8904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Biconditional Statement … </a:t>
            </a:r>
            <a:r>
              <a:rPr lang="en-US" sz="3200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Truth Values</a:t>
            </a:r>
            <a:endParaRPr lang="en-US" sz="3600" dirty="0">
              <a:solidFill>
                <a:srgbClr val="7030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794863" y="1129233"/>
            <a:ext cx="10602274" cy="3244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What are the truth values of the following biconditional statements?</a:t>
            </a:r>
          </a:p>
          <a:p>
            <a:pPr marL="0" indent="0">
              <a:buNone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If x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+ y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= 0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and only if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x = 0 and y =0.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If 2 + 2 = 4 </a:t>
            </a:r>
            <a:r>
              <a:rPr lang="en-US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iff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SQRT(2) &lt; 2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/>
                <a:cs typeface="Times New Roman"/>
              </a:rPr>
              <a:t>33 is </a:t>
            </a:r>
            <a:r>
              <a:rPr lang="en-US" sz="2800" spc="-5" dirty="0">
                <a:latin typeface="Times New Roman"/>
                <a:cs typeface="Times New Roman"/>
              </a:rPr>
              <a:t>divisible </a:t>
            </a:r>
            <a:r>
              <a:rPr lang="en-US" sz="2800" dirty="0">
                <a:latin typeface="Times New Roman"/>
                <a:cs typeface="Times New Roman"/>
              </a:rPr>
              <a:t>by 4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and only if </a:t>
            </a:r>
            <a:r>
              <a:rPr lang="en-US" sz="2800" dirty="0">
                <a:latin typeface="Times New Roman"/>
                <a:cs typeface="Times New Roman"/>
              </a:rPr>
              <a:t>horse</a:t>
            </a:r>
            <a:r>
              <a:rPr lang="en-US" sz="2800" spc="-5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has </a:t>
            </a:r>
            <a:r>
              <a:rPr lang="en-US" sz="2800" dirty="0">
                <a:latin typeface="Times New Roman"/>
                <a:cs typeface="Times New Roman"/>
              </a:rPr>
              <a:t>four legs.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If x</a:t>
            </a:r>
            <a:r>
              <a:rPr lang="en-US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≥ 0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and only if 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x ≥ 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/>
                <a:cs typeface="Times New Roman"/>
              </a:rPr>
              <a:t>Sky is </a:t>
            </a:r>
            <a:r>
              <a:rPr lang="en-US" sz="2800" spc="-5" dirty="0">
                <a:latin typeface="Times New Roman"/>
                <a:cs typeface="Times New Roman"/>
              </a:rPr>
              <a:t>blue </a:t>
            </a:r>
            <a:r>
              <a:rPr lang="en-US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iff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1 =</a:t>
            </a:r>
            <a:r>
              <a:rPr lang="en-US" sz="2800" spc="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0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96F89B-C162-CE05-1EEC-B8774E342DE3}"/>
              </a:ext>
            </a:extLst>
          </p:cNvPr>
          <p:cNvSpPr txBox="1"/>
          <p:nvPr/>
        </p:nvSpPr>
        <p:spPr>
          <a:xfrm>
            <a:off x="8063081" y="1974797"/>
            <a:ext cx="106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Algerian" panose="04020705040A02060702" pitchFamily="82" charset="0"/>
              </a:rPr>
              <a:t>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17A91-BDF7-4174-F333-575696CC6AB6}"/>
              </a:ext>
            </a:extLst>
          </p:cNvPr>
          <p:cNvSpPr txBox="1"/>
          <p:nvPr/>
        </p:nvSpPr>
        <p:spPr>
          <a:xfrm>
            <a:off x="6282965" y="2498017"/>
            <a:ext cx="106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Algerian" panose="04020705040A02060702" pitchFamily="82" charset="0"/>
              </a:rPr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4DB2B-1F7A-1240-035C-1CE3F52F2F64}"/>
              </a:ext>
            </a:extLst>
          </p:cNvPr>
          <p:cNvSpPr txBox="1"/>
          <p:nvPr/>
        </p:nvSpPr>
        <p:spPr>
          <a:xfrm>
            <a:off x="9526480" y="2953816"/>
            <a:ext cx="1273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Algerian" panose="04020705040A02060702" pitchFamily="82" charset="0"/>
              </a:rPr>
              <a:t>FALSE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9EB1B2-6AFE-CE1E-6BFB-F911EF11A49F}"/>
              </a:ext>
            </a:extLst>
          </p:cNvPr>
          <p:cNvSpPr txBox="1"/>
          <p:nvPr/>
        </p:nvSpPr>
        <p:spPr>
          <a:xfrm>
            <a:off x="6426008" y="3407462"/>
            <a:ext cx="1061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Algerian" panose="04020705040A02060702" pitchFamily="82" charset="0"/>
              </a:rPr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14F178-5703-4E3D-B9AF-847C7E7AE14E}"/>
              </a:ext>
            </a:extLst>
          </p:cNvPr>
          <p:cNvSpPr txBox="1"/>
          <p:nvPr/>
        </p:nvSpPr>
        <p:spPr>
          <a:xfrm>
            <a:off x="4915929" y="3885715"/>
            <a:ext cx="1273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Algerian" panose="04020705040A02060702" pitchFamily="82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413999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06218" y="365791"/>
            <a:ext cx="7580630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REPHRASING</a:t>
            </a:r>
            <a:r>
              <a:rPr spc="-60" dirty="0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 </a:t>
            </a:r>
            <a:r>
              <a:rPr spc="-5" dirty="0">
                <a:latin typeface="Cambria Math" panose="02040503050406030204" pitchFamily="18" charset="0"/>
                <a:ea typeface="Cambria Math" panose="02040503050406030204" pitchFamily="18" charset="0"/>
                <a:cs typeface="Arial"/>
              </a:rPr>
              <a:t>BICONDITIONAL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87054" y="1684981"/>
            <a:ext cx="7242476" cy="3653563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spcBef>
                <a:spcPts val="869"/>
              </a:spcBef>
            </a:pPr>
            <a:r>
              <a:rPr sz="36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p↔q </a:t>
            </a: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is also expressed</a:t>
            </a:r>
            <a:r>
              <a:rPr sz="3200" spc="-5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as:</a:t>
            </a:r>
            <a:endParaRPr lang="en-US" sz="32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12700">
              <a:spcBef>
                <a:spcPts val="869"/>
              </a:spcBef>
            </a:pPr>
            <a:endParaRPr sz="32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spcBef>
                <a:spcPts val="770"/>
              </a:spcBef>
              <a:buClr>
                <a:srgbClr val="0033CC"/>
              </a:buClr>
              <a:buSzPct val="84375"/>
              <a:buFont typeface="Wingdings" panose="05000000000000000000" pitchFamily="2" charset="2"/>
              <a:buChar char="Ø"/>
              <a:tabLst>
                <a:tab pos="457834" algn="l"/>
                <a:tab pos="458470" algn="l"/>
              </a:tabLst>
            </a:pP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 is </a:t>
            </a:r>
            <a:r>
              <a:rPr sz="3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necessary </a:t>
            </a:r>
            <a:r>
              <a:rPr sz="3200" spc="5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and </a:t>
            </a:r>
            <a:r>
              <a:rPr sz="3200" spc="-5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sufficient for</a:t>
            </a:r>
            <a:r>
              <a:rPr sz="3200" spc="-114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q</a:t>
            </a:r>
          </a:p>
          <a:p>
            <a:pPr marL="469900" indent="-457200">
              <a:spcBef>
                <a:spcPts val="770"/>
              </a:spcBef>
              <a:buClr>
                <a:srgbClr val="0033CC"/>
              </a:buClr>
              <a:buSzPct val="84375"/>
              <a:buFont typeface="Wingdings" panose="05000000000000000000" pitchFamily="2" charset="2"/>
              <a:buChar char="Ø"/>
              <a:tabLst>
                <a:tab pos="457834" algn="l"/>
                <a:tab pos="458470" algn="l"/>
              </a:tabLst>
            </a:pP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If p then q, </a:t>
            </a:r>
            <a:r>
              <a:rPr sz="3200" spc="5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and</a:t>
            </a:r>
            <a:r>
              <a:rPr sz="3200" spc="-6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conversely</a:t>
            </a:r>
          </a:p>
          <a:p>
            <a:pPr marL="469900" indent="-457200">
              <a:spcBef>
                <a:spcPts val="770"/>
              </a:spcBef>
              <a:buClr>
                <a:srgbClr val="0033CC"/>
              </a:buClr>
              <a:buSzPct val="84375"/>
              <a:buFont typeface="Wingdings" panose="05000000000000000000" pitchFamily="2" charset="2"/>
              <a:buChar char="Ø"/>
              <a:tabLst>
                <a:tab pos="457834" algn="l"/>
                <a:tab pos="458470" algn="l"/>
              </a:tabLst>
            </a:pP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p </a:t>
            </a:r>
            <a:r>
              <a:rPr sz="3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is equivalent to</a:t>
            </a:r>
            <a:r>
              <a:rPr sz="3200" spc="-65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 </a:t>
            </a:r>
            <a:r>
              <a:rPr sz="32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</a:rPr>
              <a:t>q</a:t>
            </a:r>
            <a:endParaRPr lang="en-US" sz="32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  <a:p>
            <a:pPr marL="469900" indent="-457200">
              <a:spcBef>
                <a:spcPts val="770"/>
              </a:spcBef>
              <a:buClr>
                <a:srgbClr val="0033CC"/>
              </a:buClr>
              <a:buSzPct val="84375"/>
              <a:buFont typeface="Wingdings" panose="05000000000000000000" pitchFamily="2" charset="2"/>
              <a:buChar char="Ø"/>
              <a:tabLst>
                <a:tab pos="457834" algn="l"/>
                <a:tab pos="458470" algn="l"/>
              </a:tabLst>
            </a:pP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p </a:t>
            </a:r>
            <a:r>
              <a:rPr lang="en-US" sz="3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exactly when </a:t>
            </a:r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endParaRPr sz="3200" dirty="0">
              <a:latin typeface="Cambria Math" panose="02040503050406030204" pitchFamily="18" charset="0"/>
              <a:ea typeface="Cambria Math" panose="02040503050406030204" pitchFamily="18" charset="0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0A660-B5DE-41AC-A27E-44DD75A7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Constructing Truth Tables</a:t>
            </a:r>
          </a:p>
        </p:txBody>
      </p:sp>
    </p:spTree>
    <p:extLst>
      <p:ext uri="{BB962C8B-B14F-4D97-AF65-F5344CB8AC3E}">
        <p14:creationId xmlns:p14="http://schemas.microsoft.com/office/powerpoint/2010/main" val="11079700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5850B04-9E73-F726-120B-35CE6EF498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799" y="381000"/>
            <a:ext cx="8405191" cy="685800"/>
          </a:xfrm>
        </p:spPr>
        <p:txBody>
          <a:bodyPr>
            <a:noAutofit/>
          </a:bodyPr>
          <a:lstStyle/>
          <a:p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Precedence of Logical Operators</a:t>
            </a:r>
            <a:endParaRPr lang="en-CA" alt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29758" name="Group 62">
            <a:extLst>
              <a:ext uri="{FF2B5EF4-FFF2-40B4-BE49-F238E27FC236}">
                <a16:creationId xmlns:a16="http://schemas.microsoft.com/office/drawing/2014/main" id="{88A700C5-4726-9775-7899-F887CA188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1712"/>
              </p:ext>
            </p:extLst>
          </p:nvPr>
        </p:nvGraphicFramePr>
        <p:xfrm>
          <a:off x="3881783" y="2562224"/>
          <a:ext cx="5486400" cy="391477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2639976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6937755"/>
                    </a:ext>
                  </a:extLst>
                </a:gridCol>
              </a:tblGrid>
              <a:tr h="6318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Operator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Precedence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5696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PK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¬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412287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PK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∧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2</a:t>
                      </a:r>
                      <a:endParaRPr kumimoji="0" lang="en-CA" altLang="en-PK" sz="3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636121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PK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∨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52095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PK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→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4</a:t>
                      </a:r>
                      <a:endParaRPr kumimoji="0" lang="en-CA" altLang="en-PK" sz="3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469777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PK" sz="320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a:t>↔</a:t>
                      </a:r>
                      <a:endParaRPr lang="en-CA" altLang="en-PK" sz="3200" kern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8448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D79249-9451-42D3-9E70-7133FAF52F7F}"/>
              </a:ext>
            </a:extLst>
          </p:cNvPr>
          <p:cNvSpPr txBox="1"/>
          <p:nvPr/>
        </p:nvSpPr>
        <p:spPr>
          <a:xfrm>
            <a:off x="1575353" y="1288502"/>
            <a:ext cx="7772400" cy="99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33CC"/>
              </a:buClr>
              <a:buSzPct val="84375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p </a:t>
            </a:r>
            <a:r>
              <a:rPr 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∧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q </a:t>
            </a:r>
            <a:r>
              <a:rPr 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∨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sz="2800" i="1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means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(p </a:t>
            </a:r>
            <a:r>
              <a:rPr 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∧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q) </a:t>
            </a:r>
            <a:r>
              <a:rPr 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∨</a:t>
            </a:r>
            <a:r>
              <a:rPr lang="en-US" sz="2800" spc="1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lang="en-US"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5600" marR="1435735" indent="-342900">
              <a:lnSpc>
                <a:spcPct val="120000"/>
              </a:lnSpc>
              <a:buClr>
                <a:srgbClr val="0033CC"/>
              </a:buClr>
              <a:buSzPct val="84375"/>
              <a:buFont typeface="Wingdings" panose="05000000000000000000" pitchFamily="2" charset="2"/>
              <a:buChar char="Ø"/>
              <a:tabLst>
                <a:tab pos="355600" algn="l"/>
                <a:tab pos="356235" algn="l"/>
              </a:tabLst>
            </a:pP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p </a:t>
            </a:r>
            <a:r>
              <a:rPr 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∨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q </a:t>
            </a: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→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r </a:t>
            </a:r>
            <a:r>
              <a:rPr lang="en-US" sz="2800" dirty="0">
                <a:latin typeface="Times New Roman"/>
                <a:cs typeface="Times New Roman"/>
              </a:rPr>
              <a:t>is the same  as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(p </a:t>
            </a:r>
            <a:r>
              <a:rPr lang="en-US" sz="2800" dirty="0">
                <a:solidFill>
                  <a:srgbClr val="FF0000"/>
                </a:solidFill>
                <a:latin typeface="Cambria Math"/>
                <a:cs typeface="Cambria Math"/>
              </a:rPr>
              <a:t>∨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q) </a:t>
            </a:r>
            <a:r>
              <a:rPr lang="en-US" sz="2800" dirty="0">
                <a:solidFill>
                  <a:srgbClr val="FF0000"/>
                </a:solidFill>
                <a:latin typeface="Times New Roman"/>
                <a:cs typeface="Times New Roman"/>
              </a:rPr>
              <a:t>→</a:t>
            </a:r>
            <a:r>
              <a:rPr lang="en-US" sz="28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endParaRPr lang="en-US"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009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083FCC1-51C5-AC08-0399-DC338719F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85800"/>
          </a:xfrm>
        </p:spPr>
        <p:txBody>
          <a:bodyPr>
            <a:noAutofit/>
          </a:bodyPr>
          <a:lstStyle/>
          <a:p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Constructing the Truth Tables</a:t>
            </a:r>
            <a:endParaRPr lang="en-CA" alt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0A6D7DF-1D80-A9EC-DFDC-AB7396FEA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44338" y="1330324"/>
            <a:ext cx="9409277" cy="838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PK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Statements and operators can be combined to form new statements.</a:t>
            </a:r>
          </a:p>
        </p:txBody>
      </p:sp>
      <p:graphicFrame>
        <p:nvGraphicFramePr>
          <p:cNvPr id="30768" name="Group 48">
            <a:extLst>
              <a:ext uri="{FF2B5EF4-FFF2-40B4-BE49-F238E27FC236}">
                <a16:creationId xmlns:a16="http://schemas.microsoft.com/office/drawing/2014/main" id="{A1F26B1E-14AE-ADB9-AE99-BE7DC1E5F325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2438400"/>
          <a:ext cx="7291388" cy="3235326"/>
        </p:xfrm>
        <a:graphic>
          <a:graphicData uri="http://schemas.openxmlformats.org/drawingml/2006/table">
            <a:tbl>
              <a:tblPr/>
              <a:tblGrid>
                <a:gridCol w="1130300">
                  <a:extLst>
                    <a:ext uri="{9D8B030D-6E8A-4147-A177-3AD203B41FA5}">
                      <a16:colId xmlns:a16="http://schemas.microsoft.com/office/drawing/2014/main" val="1110341506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1326700360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1880196976"/>
                    </a:ext>
                  </a:extLst>
                </a:gridCol>
                <a:gridCol w="1706563">
                  <a:extLst>
                    <a:ext uri="{9D8B030D-6E8A-4147-A177-3AD203B41FA5}">
                      <a16:colId xmlns:a16="http://schemas.microsoft.com/office/drawing/2014/main" val="2887011465"/>
                    </a:ext>
                  </a:extLst>
                </a:gridCol>
                <a:gridCol w="2193925">
                  <a:extLst>
                    <a:ext uri="{9D8B030D-6E8A-4147-A177-3AD203B41FA5}">
                      <a16:colId xmlns:a16="http://schemas.microsoft.com/office/drawing/2014/main" val="1548519423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Q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Q)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CA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P)(</a:t>
                      </a:r>
                      <a:r>
                        <a:rPr kumimoji="0" lang="en-CA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Q)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20639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815584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732339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865101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47935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C42CAE-228A-2BD3-DC4B-31018C49470C}"/>
              </a:ext>
            </a:extLst>
          </p:cNvPr>
          <p:cNvGraphicFramePr>
            <a:graphicFrameLocks noGrp="1"/>
          </p:cNvGraphicFramePr>
          <p:nvPr/>
        </p:nvGraphicFramePr>
        <p:xfrm>
          <a:off x="4684337" y="3048000"/>
          <a:ext cx="1130300" cy="2625726"/>
        </p:xfrm>
        <a:graphic>
          <a:graphicData uri="http://schemas.openxmlformats.org/drawingml/2006/table">
            <a:tbl>
              <a:tblPr/>
              <a:tblGrid>
                <a:gridCol w="1130300">
                  <a:extLst>
                    <a:ext uri="{9D8B030D-6E8A-4147-A177-3AD203B41FA5}">
                      <a16:colId xmlns:a16="http://schemas.microsoft.com/office/drawing/2014/main" val="2753090832"/>
                    </a:ext>
                  </a:extLst>
                </a:gridCol>
              </a:tblGrid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725086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431557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195630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754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468E18-474E-BD35-D355-4AFB45651F18}"/>
              </a:ext>
            </a:extLst>
          </p:cNvPr>
          <p:cNvGraphicFramePr>
            <a:graphicFrameLocks noGrp="1"/>
          </p:cNvGraphicFramePr>
          <p:nvPr/>
        </p:nvGraphicFramePr>
        <p:xfrm>
          <a:off x="5814637" y="3048000"/>
          <a:ext cx="1706563" cy="2625726"/>
        </p:xfrm>
        <a:graphic>
          <a:graphicData uri="http://schemas.openxmlformats.org/drawingml/2006/table">
            <a:tbl>
              <a:tblPr/>
              <a:tblGrid>
                <a:gridCol w="1706563">
                  <a:extLst>
                    <a:ext uri="{9D8B030D-6E8A-4147-A177-3AD203B41FA5}">
                      <a16:colId xmlns:a16="http://schemas.microsoft.com/office/drawing/2014/main" val="1665984723"/>
                    </a:ext>
                  </a:extLst>
                </a:gridCol>
              </a:tblGrid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169149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402593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928403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77387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1421F8-4CDB-0524-E678-4F8290CD226C}"/>
              </a:ext>
            </a:extLst>
          </p:cNvPr>
          <p:cNvGraphicFramePr>
            <a:graphicFrameLocks noGrp="1"/>
          </p:cNvGraphicFramePr>
          <p:nvPr/>
        </p:nvGraphicFramePr>
        <p:xfrm>
          <a:off x="7513637" y="3048000"/>
          <a:ext cx="2193925" cy="2625726"/>
        </p:xfrm>
        <a:graphic>
          <a:graphicData uri="http://schemas.openxmlformats.org/drawingml/2006/table">
            <a:tbl>
              <a:tblPr/>
              <a:tblGrid>
                <a:gridCol w="2193925">
                  <a:extLst>
                    <a:ext uri="{9D8B030D-6E8A-4147-A177-3AD203B41FA5}">
                      <a16:colId xmlns:a16="http://schemas.microsoft.com/office/drawing/2014/main" val="1298707136"/>
                    </a:ext>
                  </a:extLst>
                </a:gridCol>
              </a:tblGrid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885957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457713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358383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10132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083FCC1-51C5-AC08-0399-DC338719F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85800"/>
          </a:xfrm>
        </p:spPr>
        <p:txBody>
          <a:bodyPr>
            <a:noAutofit/>
          </a:bodyPr>
          <a:lstStyle/>
          <a:p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Constructing the Truth Tables</a:t>
            </a:r>
            <a:endParaRPr lang="en-CA" alt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0A6D7DF-1D80-A9EC-DFDC-AB7396FEA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44338" y="1330324"/>
            <a:ext cx="10006758" cy="11080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PK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Exercise : Construct Truth Table for : </a:t>
            </a:r>
            <a:r>
              <a:rPr lang="en-US" altLang="en-PK" sz="3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(p ∨ ¬q) → (p ∧ q)</a:t>
            </a:r>
          </a:p>
        </p:txBody>
      </p:sp>
      <p:graphicFrame>
        <p:nvGraphicFramePr>
          <p:cNvPr id="30768" name="Group 48">
            <a:extLst>
              <a:ext uri="{FF2B5EF4-FFF2-40B4-BE49-F238E27FC236}">
                <a16:creationId xmlns:a16="http://schemas.microsoft.com/office/drawing/2014/main" id="{A1F26B1E-14AE-ADB9-AE99-BE7DC1E5F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59553"/>
              </p:ext>
            </p:extLst>
          </p:nvPr>
        </p:nvGraphicFramePr>
        <p:xfrm>
          <a:off x="509525" y="2292350"/>
          <a:ext cx="11476384" cy="3235326"/>
        </p:xfrm>
        <a:graphic>
          <a:graphicData uri="http://schemas.openxmlformats.org/drawingml/2006/table">
            <a:tbl>
              <a:tblPr/>
              <a:tblGrid>
                <a:gridCol w="1253014">
                  <a:extLst>
                    <a:ext uri="{9D8B030D-6E8A-4147-A177-3AD203B41FA5}">
                      <a16:colId xmlns:a16="http://schemas.microsoft.com/office/drawing/2014/main" val="1110341506"/>
                    </a:ext>
                  </a:extLst>
                </a:gridCol>
                <a:gridCol w="1174248">
                  <a:extLst>
                    <a:ext uri="{9D8B030D-6E8A-4147-A177-3AD203B41FA5}">
                      <a16:colId xmlns:a16="http://schemas.microsoft.com/office/drawing/2014/main" val="1326700360"/>
                    </a:ext>
                  </a:extLst>
                </a:gridCol>
                <a:gridCol w="1415727">
                  <a:extLst>
                    <a:ext uri="{9D8B030D-6E8A-4147-A177-3AD203B41FA5}">
                      <a16:colId xmlns:a16="http://schemas.microsoft.com/office/drawing/2014/main" val="1880196976"/>
                    </a:ext>
                  </a:extLst>
                </a:gridCol>
                <a:gridCol w="2137510">
                  <a:extLst>
                    <a:ext uri="{9D8B030D-6E8A-4147-A177-3AD203B41FA5}">
                      <a16:colId xmlns:a16="http://schemas.microsoft.com/office/drawing/2014/main" val="2887011465"/>
                    </a:ext>
                  </a:extLst>
                </a:gridCol>
                <a:gridCol w="1493727">
                  <a:extLst>
                    <a:ext uri="{9D8B030D-6E8A-4147-A177-3AD203B41FA5}">
                      <a16:colId xmlns:a16="http://schemas.microsoft.com/office/drawing/2014/main" val="1548519423"/>
                    </a:ext>
                  </a:extLst>
                </a:gridCol>
                <a:gridCol w="4002158">
                  <a:extLst>
                    <a:ext uri="{9D8B030D-6E8A-4147-A177-3AD203B41FA5}">
                      <a16:colId xmlns:a16="http://schemas.microsoft.com/office/drawing/2014/main" val="1376705489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P  </a:t>
                      </a:r>
                      <a:r>
                        <a:rPr kumimoji="0" lang="en-CA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Q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Q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(P ∨ ¬Q) → (P ∧ Q)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20639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T</a:t>
                      </a:r>
                      <a:endParaRPr kumimoji="0" lang="en-CA" altLang="en-PK" sz="3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 marL="0" marR="0" marT="38735" marB="0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815584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T</a:t>
                      </a:r>
                      <a:endParaRPr kumimoji="0" lang="en-CA" altLang="en-PK" sz="3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 marL="0" marR="0" marT="38735" marB="0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732339"/>
                  </a:ext>
                </a:extLst>
              </a:tr>
              <a:tr h="65563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F</a:t>
                      </a:r>
                      <a:endParaRPr kumimoji="0" lang="en-CA" altLang="en-PK" sz="3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 marL="0" marR="0" marT="39369" marB="0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865101"/>
                  </a:ext>
                </a:extLst>
              </a:tr>
              <a:tr h="65722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T</a:t>
                      </a:r>
                      <a:endParaRPr kumimoji="0" lang="en-CA" altLang="en-PK" sz="3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 marL="0" marR="0" marT="39369" marB="0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479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45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0C8C-CD36-4980-BDD2-33C9974F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Logical Bit Operations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000" dirty="0">
                <a:solidFill>
                  <a:srgbClr val="FF6600"/>
                </a:solidFill>
              </a:rPr>
              <a:t>00</a:t>
            </a:r>
            <a:r>
              <a:rPr lang="en-US" sz="4000" dirty="0">
                <a:solidFill>
                  <a:srgbClr val="008000"/>
                </a:solidFill>
              </a:rPr>
              <a:t>000</a:t>
            </a:r>
            <a:r>
              <a:rPr lang="en-US" sz="4000" dirty="0">
                <a:solidFill>
                  <a:srgbClr val="6600CC"/>
                </a:solidFill>
              </a:rPr>
              <a:t>110</a:t>
            </a:r>
            <a:r>
              <a:rPr lang="en-US" sz="4000" dirty="0">
                <a:solidFill>
                  <a:srgbClr val="C00000"/>
                </a:solidFill>
              </a:rPr>
              <a:t>011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2623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083FCC1-51C5-AC08-0399-DC338719F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Logic and Bit Operations</a:t>
            </a:r>
            <a:endParaRPr lang="en-CA" alt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0A6D7DF-1D80-A9EC-DFDC-AB7396FEA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2641" y="1459864"/>
            <a:ext cx="9409277" cy="53981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PK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Computers represents information using bits.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PK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A bit is a symbol with two possible values, namely,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PK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0 (zero) and 1 (one).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PK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This meaning of the word bit comes from binary digit.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PK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PK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Information is often represented using bit strings,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PK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which are lists of zeros and ones.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PK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The length of this string is the number of bits in the string.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PK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101010011 is a bit string of length nine.</a:t>
            </a:r>
          </a:p>
          <a:p>
            <a:pPr marL="0" indent="0" algn="ctr">
              <a:buNone/>
            </a:pPr>
            <a:endParaRPr lang="en-US" altLang="en-PK" sz="2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30768" name="Group 48">
            <a:extLst>
              <a:ext uri="{FF2B5EF4-FFF2-40B4-BE49-F238E27FC236}">
                <a16:creationId xmlns:a16="http://schemas.microsoft.com/office/drawing/2014/main" id="{A1F26B1E-14AE-ADB9-AE99-BE7DC1E5F325}"/>
              </a:ext>
            </a:extLst>
          </p:cNvPr>
          <p:cNvGraphicFramePr>
            <a:graphicFrameLocks noGrp="1"/>
          </p:cNvGraphicFramePr>
          <p:nvPr/>
        </p:nvGraphicFramePr>
        <p:xfrm>
          <a:off x="7874559" y="3576636"/>
          <a:ext cx="4114800" cy="2622549"/>
        </p:xfrm>
        <a:graphic>
          <a:graphicData uri="http://schemas.openxmlformats.org/drawingml/2006/table">
            <a:tbl>
              <a:tblPr/>
              <a:tblGrid>
                <a:gridCol w="667172">
                  <a:extLst>
                    <a:ext uri="{9D8B030D-6E8A-4147-A177-3AD203B41FA5}">
                      <a16:colId xmlns:a16="http://schemas.microsoft.com/office/drawing/2014/main" val="1110341506"/>
                    </a:ext>
                  </a:extLst>
                </a:gridCol>
                <a:gridCol w="678110">
                  <a:extLst>
                    <a:ext uri="{9D8B030D-6E8A-4147-A177-3AD203B41FA5}">
                      <a16:colId xmlns:a16="http://schemas.microsoft.com/office/drawing/2014/main" val="1326700360"/>
                    </a:ext>
                  </a:extLst>
                </a:gridCol>
                <a:gridCol w="853106">
                  <a:extLst>
                    <a:ext uri="{9D8B030D-6E8A-4147-A177-3AD203B41FA5}">
                      <a16:colId xmlns:a16="http://schemas.microsoft.com/office/drawing/2014/main" val="1880196976"/>
                    </a:ext>
                  </a:extLst>
                </a:gridCol>
                <a:gridCol w="918729">
                  <a:extLst>
                    <a:ext uri="{9D8B030D-6E8A-4147-A177-3AD203B41FA5}">
                      <a16:colId xmlns:a16="http://schemas.microsoft.com/office/drawing/2014/main" val="2887011465"/>
                    </a:ext>
                  </a:extLst>
                </a:gridCol>
                <a:gridCol w="997683">
                  <a:extLst>
                    <a:ext uri="{9D8B030D-6E8A-4147-A177-3AD203B41FA5}">
                      <a16:colId xmlns:a16="http://schemas.microsoft.com/office/drawing/2014/main" val="1548519423"/>
                    </a:ext>
                  </a:extLst>
                </a:gridCol>
              </a:tblGrid>
              <a:tr h="494141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Q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Q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120639"/>
                  </a:ext>
                </a:extLst>
              </a:tr>
              <a:tr h="531459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815584"/>
                  </a:ext>
                </a:extLst>
              </a:tr>
              <a:tr h="53274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732339"/>
                  </a:ext>
                </a:extLst>
              </a:tr>
              <a:tr h="531459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865101"/>
                  </a:ext>
                </a:extLst>
              </a:tr>
              <a:tr h="532745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47935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1F7DFBB-B481-74D4-98BC-91BBA6A9C54E}"/>
              </a:ext>
            </a:extLst>
          </p:cNvPr>
          <p:cNvGraphicFramePr>
            <a:graphicFrameLocks noGrp="1"/>
          </p:cNvGraphicFramePr>
          <p:nvPr/>
        </p:nvGraphicFramePr>
        <p:xfrm>
          <a:off x="8610600" y="1033144"/>
          <a:ext cx="2804160" cy="1862456"/>
        </p:xfrm>
        <a:graphic>
          <a:graphicData uri="http://schemas.openxmlformats.org/drawingml/2006/table">
            <a:tbl>
              <a:tblPr/>
              <a:tblGrid>
                <a:gridCol w="1903231">
                  <a:extLst>
                    <a:ext uri="{9D8B030D-6E8A-4147-A177-3AD203B41FA5}">
                      <a16:colId xmlns:a16="http://schemas.microsoft.com/office/drawing/2014/main" val="3628662681"/>
                    </a:ext>
                  </a:extLst>
                </a:gridCol>
                <a:gridCol w="900929">
                  <a:extLst>
                    <a:ext uri="{9D8B030D-6E8A-4147-A177-3AD203B41FA5}">
                      <a16:colId xmlns:a16="http://schemas.microsoft.com/office/drawing/2014/main" val="1100425341"/>
                    </a:ext>
                  </a:extLst>
                </a:gridCol>
              </a:tblGrid>
              <a:tr h="590572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Truth Value</a:t>
                      </a:r>
                      <a:endParaRPr kumimoji="0" lang="en-CA" altLang="en-PK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Bit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856227"/>
                  </a:ext>
                </a:extLst>
              </a:tr>
              <a:tr h="635173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133205"/>
                  </a:ext>
                </a:extLst>
              </a:tr>
              <a:tr h="636711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ea typeface="+mn-ea"/>
                          <a:cs typeface="+mn-cs"/>
                        </a:rPr>
                        <a:t>F</a:t>
                      </a:r>
                      <a:endParaRPr kumimoji="0" lang="en-CA" altLang="en-PK" sz="3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ea typeface="+mn-ea"/>
                        <a:cs typeface="+mn-cs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0</a:t>
                      </a: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490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8341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1026">
            <a:extLst>
              <a:ext uri="{FF2B5EF4-FFF2-40B4-BE49-F238E27FC236}">
                <a16:creationId xmlns:a16="http://schemas.microsoft.com/office/drawing/2014/main" id="{64EFC9F8-0868-2B90-5860-04ADB7DA4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685800"/>
          </a:xfrm>
        </p:spPr>
        <p:txBody>
          <a:bodyPr>
            <a:normAutofit/>
          </a:bodyPr>
          <a:lstStyle/>
          <a:p>
            <a:r>
              <a:rPr lang="en-US" altLang="en-PK" sz="4000">
                <a:latin typeface="Cambria Math" panose="02040503050406030204" pitchFamily="18" charset="0"/>
                <a:ea typeface="Cambria Math" panose="02040503050406030204" pitchFamily="18" charset="0"/>
              </a:rPr>
              <a:t>Exercises</a:t>
            </a:r>
            <a:endParaRPr lang="en-CA" altLang="en-PK" sz="40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98691" name="Rectangle 1027">
            <a:extLst>
              <a:ext uri="{FF2B5EF4-FFF2-40B4-BE49-F238E27FC236}">
                <a16:creationId xmlns:a16="http://schemas.microsoft.com/office/drawing/2014/main" id="{D578AFC6-A320-65BB-448F-D10B73A7D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6880" y="2433071"/>
            <a:ext cx="9738360" cy="995929"/>
          </a:xfrm>
        </p:spPr>
        <p:txBody>
          <a:bodyPr>
            <a:normAutofit/>
          </a:bodyPr>
          <a:lstStyle/>
          <a:p>
            <a:pPr marL="457200" lvl="1" indent="0">
              <a:spcAft>
                <a:spcPct val="25000"/>
              </a:spcAft>
              <a:buNone/>
            </a:pPr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01 1011 0110</a:t>
            </a:r>
          </a:p>
          <a:p>
            <a:pPr marL="457200" lvl="1" indent="0">
              <a:spcAft>
                <a:spcPct val="25000"/>
              </a:spcAft>
              <a:buNone/>
            </a:pPr>
            <a:r>
              <a:rPr lang="en-US" altLang="en-PK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11 0001 1101</a:t>
            </a:r>
          </a:p>
        </p:txBody>
      </p:sp>
      <p:sp>
        <p:nvSpPr>
          <p:cNvPr id="498692" name="Rectangle 1028">
            <a:extLst>
              <a:ext uri="{FF2B5EF4-FFF2-40B4-BE49-F238E27FC236}">
                <a16:creationId xmlns:a16="http://schemas.microsoft.com/office/drawing/2014/main" id="{03B829B4-8501-6362-B2F5-6AE525B73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220542"/>
            <a:ext cx="99822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0188" indent="-23018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spcAft>
                <a:spcPct val="25000"/>
              </a:spcAft>
              <a:buFontTx/>
              <a:buChar char="•"/>
            </a:pPr>
            <a:r>
              <a:rPr lang="en-US" altLang="en-PK" sz="2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Find the bitwise OR, bitwise AND, and bitwise XOR of the bit strings 01 1011 0110 and 11 0001 1101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20C55B-2A1F-F799-584F-2EA8591627A9}"/>
              </a:ext>
            </a:extLst>
          </p:cNvPr>
          <p:cNvSpPr txBox="1"/>
          <p:nvPr/>
        </p:nvSpPr>
        <p:spPr>
          <a:xfrm>
            <a:off x="2514600" y="5710019"/>
            <a:ext cx="957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20000"/>
              </a:spcBef>
              <a:spcAft>
                <a:spcPct val="25000"/>
              </a:spcAft>
            </a:pPr>
            <a:r>
              <a:rPr lang="en-US" altLang="en-PK" sz="1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Note:  bit strings is </a:t>
            </a:r>
            <a:r>
              <a:rPr lang="en-US" altLang="en-PK" sz="1800" dirty="0" err="1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splited</a:t>
            </a:r>
            <a:r>
              <a:rPr lang="en-US" altLang="en-PK" sz="1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into blocks of four bits to make them easier to read.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2F0F9-D091-D345-FCBA-5F4F6D9FD31B}"/>
              </a:ext>
            </a:extLst>
          </p:cNvPr>
          <p:cNvSpPr txBox="1"/>
          <p:nvPr/>
        </p:nvSpPr>
        <p:spPr>
          <a:xfrm>
            <a:off x="1706880" y="3413760"/>
            <a:ext cx="69646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spcAft>
                <a:spcPct val="25000"/>
              </a:spcAft>
              <a:buNone/>
            </a:pPr>
            <a:r>
              <a:rPr lang="en-US" altLang="en-PK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11 1011 1111 bitwise OR</a:t>
            </a:r>
          </a:p>
          <a:p>
            <a:pPr marL="457200" lvl="1" indent="0">
              <a:spcAft>
                <a:spcPct val="25000"/>
              </a:spcAft>
              <a:buNone/>
            </a:pPr>
            <a:r>
              <a:rPr lang="en-US" altLang="en-PK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01 0001 0100 bitwise AND</a:t>
            </a:r>
          </a:p>
          <a:p>
            <a:pPr marL="457200" lvl="1" indent="0">
              <a:spcAft>
                <a:spcPct val="25000"/>
              </a:spcAft>
              <a:buNone/>
            </a:pPr>
            <a:r>
              <a:rPr lang="en-US" altLang="en-PK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10 1010 1011 bitwise XOR</a:t>
            </a:r>
            <a:endParaRPr lang="en-US" altLang="en-PK" sz="2400" dirty="0">
              <a:latin typeface="Cambria Math" panose="02040503050406030204" pitchFamily="18" charset="0"/>
              <a:ea typeface="Cambria Math" panose="020405030504060302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7094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A007-143D-5203-7BB6-1AC9D7E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56211"/>
            <a:ext cx="7073774" cy="5100137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Chapter 1 :  The Foundations: Logic and Proofs</a:t>
            </a:r>
          </a:p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1.1 Propositional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Statement, Proposition, Truth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Propositional symbol, Open proposition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Operators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Conditional statements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Converse, Inverse and contrapositive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Truth tables of compound propositions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Precedence of logical operators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Logic and bit operation</a:t>
            </a:r>
          </a:p>
          <a:p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1.2 Application of Propositional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Translating English Statement</a:t>
            </a: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838200" y="148000"/>
            <a:ext cx="5390321" cy="1068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062828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</TotalTime>
  <Words>4789</Words>
  <Application>Microsoft Office PowerPoint</Application>
  <PresentationFormat>Widescreen</PresentationFormat>
  <Paragraphs>1145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101" baseType="lpstr">
      <vt:lpstr>Algerian</vt:lpstr>
      <vt:lpstr>Aparajita</vt:lpstr>
      <vt:lpstr>Arial</vt:lpstr>
      <vt:lpstr>Calibri</vt:lpstr>
      <vt:lpstr>Calibri Light</vt:lpstr>
      <vt:lpstr>Cambria Math</vt:lpstr>
      <vt:lpstr>Century Gothic</vt:lpstr>
      <vt:lpstr>Comic Sans MS</vt:lpstr>
      <vt:lpstr>Times New Roman</vt:lpstr>
      <vt:lpstr>Wingdings</vt:lpstr>
      <vt:lpstr>Office Theme</vt:lpstr>
      <vt:lpstr>CC 141  Discrete Structures  Department of Computer Science School of Systems and Technology  University of Management and Technology Lahore, Pakistan</vt:lpstr>
      <vt:lpstr>Books</vt:lpstr>
      <vt:lpstr>Assessment Instruments with Weights </vt:lpstr>
      <vt:lpstr>Course Objectives &amp; Learning Outcomes</vt:lpstr>
      <vt:lpstr>Discrete Mathematics Topics</vt:lpstr>
      <vt:lpstr>What is Discrete mathematics / structures?</vt:lpstr>
      <vt:lpstr>Discrete and Continuous</vt:lpstr>
      <vt:lpstr>Why Discrete Math?</vt:lpstr>
      <vt:lpstr>Importance of Discrete  Mathematics</vt:lpstr>
      <vt:lpstr>Propositional Logic  Propositions, Logical Connectives, Negation, Converse, Contrapositive</vt:lpstr>
      <vt:lpstr>Logic</vt:lpstr>
      <vt:lpstr>Propositions</vt:lpstr>
      <vt:lpstr>Propositions</vt:lpstr>
      <vt:lpstr>The Statement/Proposition Game</vt:lpstr>
      <vt:lpstr>PowerPoint Presentation</vt:lpstr>
      <vt:lpstr>The Statement/Proposition Game</vt:lpstr>
      <vt:lpstr>PowerPoint Presentation</vt:lpstr>
      <vt:lpstr>The Statement/Proposition Game</vt:lpstr>
      <vt:lpstr>The Statement/Proposition Game</vt:lpstr>
      <vt:lpstr>The Statement/Proposition Game</vt:lpstr>
      <vt:lpstr>PowerPoint Presentation</vt:lpstr>
      <vt:lpstr>Compound Proposition</vt:lpstr>
      <vt:lpstr>Compound Proposition: Logical Connectives</vt:lpstr>
      <vt:lpstr>Compound Proposition: Examples</vt:lpstr>
      <vt:lpstr>Compound Propositions… Negation</vt:lpstr>
      <vt:lpstr>Logical Connectives … Negation … Examples</vt:lpstr>
      <vt:lpstr>Compound Propositions… Conjunction ∧</vt:lpstr>
      <vt:lpstr>Compound Propositions… Conjunction ∧</vt:lpstr>
      <vt:lpstr>Logical AND</vt:lpstr>
      <vt:lpstr>Compound Propositions… Conjunction ∧</vt:lpstr>
      <vt:lpstr>Logical AND</vt:lpstr>
      <vt:lpstr>Logical AND Truth Table</vt:lpstr>
      <vt:lpstr>Compound Propositions… Disjunction ∨</vt:lpstr>
      <vt:lpstr>Compound Propositions… Disjunction ∨</vt:lpstr>
      <vt:lpstr>Logical OR</vt:lpstr>
      <vt:lpstr>Compound Propositions… Disjunction ∨</vt:lpstr>
      <vt:lpstr>Logical OR</vt:lpstr>
      <vt:lpstr>Logical OR Truth Table</vt:lpstr>
      <vt:lpstr>Compound Propositions… XOR ⊕</vt:lpstr>
      <vt:lpstr>Compound Propositions… XOR ⊕</vt:lpstr>
      <vt:lpstr>Logical XOR</vt:lpstr>
      <vt:lpstr>Logical XOR Truth Table</vt:lpstr>
      <vt:lpstr>XOR: Examples</vt:lpstr>
      <vt:lpstr>PowerPoint Presentation</vt:lpstr>
      <vt:lpstr>Exercises … for students …</vt:lpstr>
      <vt:lpstr>Translating from English to Symbols:</vt:lpstr>
      <vt:lpstr>Translating from Symbols to English</vt:lpstr>
      <vt:lpstr>Exercises … for students …</vt:lpstr>
      <vt:lpstr>Implications (Conditional Statement)</vt:lpstr>
      <vt:lpstr>Conditional Statement …. Truth Table</vt:lpstr>
      <vt:lpstr>Implication: an example</vt:lpstr>
      <vt:lpstr>Implication: An Example</vt:lpstr>
      <vt:lpstr>Implication … Examples</vt:lpstr>
      <vt:lpstr>Ways of Expressing  Implications</vt:lpstr>
      <vt:lpstr>EXAMPLE</vt:lpstr>
      <vt:lpstr>Exercises</vt:lpstr>
      <vt:lpstr>Exercises</vt:lpstr>
      <vt:lpstr>Implications … Exercises</vt:lpstr>
      <vt:lpstr>Exercise</vt:lpstr>
      <vt:lpstr>Do it by yourself</vt:lpstr>
      <vt:lpstr>Converse</vt:lpstr>
      <vt:lpstr>Converse</vt:lpstr>
      <vt:lpstr>q → p !≡ p → q</vt:lpstr>
      <vt:lpstr>Contrapositive </vt:lpstr>
      <vt:lpstr>Contrapositive</vt:lpstr>
      <vt:lpstr>￢q →￢p ≡ p → q</vt:lpstr>
      <vt:lpstr>￢q →￢p ≡ p → q</vt:lpstr>
      <vt:lpstr>Inverse </vt:lpstr>
      <vt:lpstr>Inverse</vt:lpstr>
      <vt:lpstr>￢p →￢q !≡  p → q</vt:lpstr>
      <vt:lpstr>￢p →￢q !≡  p → q</vt:lpstr>
      <vt:lpstr>Implication, Converse, Inverse and Contraposition</vt:lpstr>
      <vt:lpstr>Exercise: Correct or Incorrect</vt:lpstr>
      <vt:lpstr>Exercise: Correct or Incorrect</vt:lpstr>
      <vt:lpstr>Exercise: Correct or Incorrect</vt:lpstr>
      <vt:lpstr>Exercise: Correct or Incorrect</vt:lpstr>
      <vt:lpstr>Exercise: Correct or Incorrect</vt:lpstr>
      <vt:lpstr>Bi-conditional Proposition</vt:lpstr>
      <vt:lpstr>Biconditional (Bi-implications) (if and only if)</vt:lpstr>
      <vt:lpstr>Biconditional Statement</vt:lpstr>
      <vt:lpstr>Biconditional Statement … Truth Values</vt:lpstr>
      <vt:lpstr>REPHRASING BICONDITIONAL</vt:lpstr>
      <vt:lpstr>Constructing Truth Tables</vt:lpstr>
      <vt:lpstr>Precedence of Logical Operators</vt:lpstr>
      <vt:lpstr>Constructing the Truth Tables</vt:lpstr>
      <vt:lpstr>Constructing the Truth Tables</vt:lpstr>
      <vt:lpstr>Logical Bit Operations 00000110011</vt:lpstr>
      <vt:lpstr>Logic and Bit Operations</vt:lpstr>
      <vt:lpstr>Exercises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CC141  Discrete Structures</dc:title>
  <dc:creator>IQRA JAVED</dc:creator>
  <cp:lastModifiedBy>IQRA JAVED</cp:lastModifiedBy>
  <cp:revision>34</cp:revision>
  <dcterms:created xsi:type="dcterms:W3CDTF">2025-03-03T05:14:11Z</dcterms:created>
  <dcterms:modified xsi:type="dcterms:W3CDTF">2025-03-10T06:29:42Z</dcterms:modified>
</cp:coreProperties>
</file>