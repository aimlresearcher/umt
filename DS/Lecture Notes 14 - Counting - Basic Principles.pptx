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svg" ContentType="image/svg+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8" r:id="rId4"/>
  </p:sldMasterIdLst>
  <p:notesMasterIdLst>
    <p:notesMasterId r:id="rId46"/>
  </p:notesMasterIdLst>
  <p:sldIdLst>
    <p:sldId id="3894" r:id="rId5"/>
    <p:sldId id="3885" r:id="rId6"/>
    <p:sldId id="347" r:id="rId7"/>
    <p:sldId id="257" r:id="rId8"/>
    <p:sldId id="351" r:id="rId9"/>
    <p:sldId id="258" r:id="rId10"/>
    <p:sldId id="320" r:id="rId11"/>
    <p:sldId id="322" r:id="rId12"/>
    <p:sldId id="323" r:id="rId13"/>
    <p:sldId id="3895" r:id="rId14"/>
    <p:sldId id="324" r:id="rId15"/>
    <p:sldId id="3897" r:id="rId16"/>
    <p:sldId id="424" r:id="rId17"/>
    <p:sldId id="426" r:id="rId18"/>
    <p:sldId id="3896" r:id="rId19"/>
    <p:sldId id="325" r:id="rId20"/>
    <p:sldId id="326" r:id="rId21"/>
    <p:sldId id="367" r:id="rId22"/>
    <p:sldId id="3903" r:id="rId23"/>
    <p:sldId id="368" r:id="rId24"/>
    <p:sldId id="369" r:id="rId25"/>
    <p:sldId id="328" r:id="rId26"/>
    <p:sldId id="370" r:id="rId27"/>
    <p:sldId id="371" r:id="rId28"/>
    <p:sldId id="372" r:id="rId29"/>
    <p:sldId id="329" r:id="rId30"/>
    <p:sldId id="373" r:id="rId31"/>
    <p:sldId id="375" r:id="rId32"/>
    <p:sldId id="3904" r:id="rId33"/>
    <p:sldId id="365" r:id="rId34"/>
    <p:sldId id="3900" r:id="rId35"/>
    <p:sldId id="3901" r:id="rId36"/>
    <p:sldId id="376" r:id="rId37"/>
    <p:sldId id="366" r:id="rId38"/>
    <p:sldId id="3902" r:id="rId39"/>
    <p:sldId id="291" r:id="rId40"/>
    <p:sldId id="3905" r:id="rId41"/>
    <p:sldId id="3906" r:id="rId42"/>
    <p:sldId id="3898" r:id="rId43"/>
    <p:sldId id="3899" r:id="rId44"/>
    <p:sldId id="3855"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00" userDrawn="1">
          <p15:clr>
            <a:srgbClr val="A4A3A4"/>
          </p15:clr>
        </p15:guide>
        <p15:guide id="2" orient="horz" pos="3408" userDrawn="1">
          <p15:clr>
            <a:srgbClr val="A4A3A4"/>
          </p15:clr>
        </p15:guide>
        <p15:guide id="3" pos="6936" userDrawn="1">
          <p15:clr>
            <a:srgbClr val="A4A3A4"/>
          </p15:clr>
        </p15:guide>
        <p15:guide id="4" pos="7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0" autoAdjust="0"/>
    <p:restoredTop sz="94660"/>
  </p:normalViewPr>
  <p:slideViewPr>
    <p:cSldViewPr snapToGrid="0">
      <p:cViewPr>
        <p:scale>
          <a:sx n="66" d="100"/>
          <a:sy n="66" d="100"/>
        </p:scale>
        <p:origin x="780" y="174"/>
      </p:cViewPr>
      <p:guideLst>
        <p:guide orient="horz" pos="1200"/>
        <p:guide orient="horz" pos="3408"/>
        <p:guide pos="6936"/>
        <p:guide pos="744"/>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7BA811-8917-4F1D-B22F-E96045BFA4E0}" type="datetimeFigureOut">
              <a:rPr lang="en-US" smtClean="0"/>
              <a:t>5/30/2025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0C6A29-4676-420C-BBE3-ACC2B80F64D4}" type="slidenum">
              <a:rPr lang="en-US" smtClean="0"/>
              <a:t>‹#›</a:t>
            </a:fld>
            <a:endParaRPr lang="en-US" dirty="0"/>
          </a:p>
        </p:txBody>
      </p:sp>
    </p:spTree>
    <p:extLst>
      <p:ext uri="{BB962C8B-B14F-4D97-AF65-F5344CB8AC3E}">
        <p14:creationId xmlns:p14="http://schemas.microsoft.com/office/powerpoint/2010/main" val="3804597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Freeform 13">
            <a:extLst>
              <a:ext uri="{FF2B5EF4-FFF2-40B4-BE49-F238E27FC236}">
                <a16:creationId xmlns:a16="http://schemas.microsoft.com/office/drawing/2014/main" id="{FCE00AC6-1AA1-42D9-83DD-4C308C3F9322}"/>
              </a:ext>
            </a:extLst>
          </p:cNvPr>
          <p:cNvSpPr/>
          <p:nvPr userDrawn="1"/>
        </p:nvSpPr>
        <p:spPr>
          <a:xfrm>
            <a:off x="400050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cxnSp>
        <p:nvCxnSpPr>
          <p:cNvPr id="12" name="Straight Connector 11">
            <a:extLst>
              <a:ext uri="{FF2B5EF4-FFF2-40B4-BE49-F238E27FC236}">
                <a16:creationId xmlns:a16="http://schemas.microsoft.com/office/drawing/2014/main" id="{5319A315-F756-49EC-8181-0EC3F0A37B09}"/>
              </a:ext>
            </a:extLst>
          </p:cNvPr>
          <p:cNvCxnSpPr>
            <a:cxnSpLocks/>
          </p:cNvCxnSpPr>
          <p:nvPr userDrawn="1"/>
        </p:nvCxnSpPr>
        <p:spPr>
          <a:xfrm>
            <a:off x="406241"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560F3E26-F530-48F5-983F-9DCFF41D4F39}"/>
              </a:ext>
            </a:extLst>
          </p:cNvPr>
          <p:cNvSpPr/>
          <p:nvPr userDrawn="1"/>
        </p:nvSpPr>
        <p:spPr>
          <a:xfrm>
            <a:off x="5292348"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5C97701E-DAF9-4174-AA91-DA203CD27D6A}"/>
              </a:ext>
            </a:extLst>
          </p:cNvPr>
          <p:cNvSpPr/>
          <p:nvPr userDrawn="1"/>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4F765374-1A4B-41DC-9E75-A95A6C655328}"/>
              </a:ext>
            </a:extLst>
          </p:cNvPr>
          <p:cNvSpPr/>
          <p:nvPr userDrawn="1"/>
        </p:nvSpPr>
        <p:spPr>
          <a:xfrm>
            <a:off x="1569044"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7618DB8E-B14E-42E2-B454-6F4F36A8A9D9}"/>
              </a:ext>
            </a:extLst>
          </p:cNvPr>
          <p:cNvSpPr/>
          <p:nvPr userDrawn="1"/>
        </p:nvSpPr>
        <p:spPr>
          <a:xfrm flipH="1">
            <a:off x="0"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Arc 21">
            <a:extLst>
              <a:ext uri="{FF2B5EF4-FFF2-40B4-BE49-F238E27FC236}">
                <a16:creationId xmlns:a16="http://schemas.microsoft.com/office/drawing/2014/main" id="{97666F55-03F1-4D18-9653-0F360E127A7E}"/>
              </a:ext>
            </a:extLst>
          </p:cNvPr>
          <p:cNvSpPr/>
          <p:nvPr userDrawn="1"/>
        </p:nvSpPr>
        <p:spPr>
          <a:xfrm rot="16200000">
            <a:off x="1539683"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4DE1A06-8754-4870-9E44-E39BADAD9845}"/>
              </a:ext>
            </a:extLst>
          </p:cNvPr>
          <p:cNvSpPr>
            <a:spLocks noGrp="1"/>
          </p:cNvSpPr>
          <p:nvPr>
            <p:ph type="ctrTitle"/>
          </p:nvPr>
        </p:nvSpPr>
        <p:spPr>
          <a:xfrm>
            <a:off x="5093208" y="2743200"/>
            <a:ext cx="6592824" cy="2386584"/>
          </a:xfrm>
        </p:spPr>
        <p:txBody>
          <a:bodyPr anchor="b"/>
          <a:lstStyle>
            <a:lvl1pPr algn="r">
              <a:defRPr sz="6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3527F020-BBC3-49BB-91C2-5B2CBD64B3C5}"/>
              </a:ext>
            </a:extLst>
          </p:cNvPr>
          <p:cNvSpPr>
            <a:spLocks noGrp="1"/>
          </p:cNvSpPr>
          <p:nvPr>
            <p:ph type="subTitle" idx="1"/>
          </p:nvPr>
        </p:nvSpPr>
        <p:spPr>
          <a:xfrm>
            <a:off x="5093208" y="5221224"/>
            <a:ext cx="6592824" cy="996696"/>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010415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AFA665D7-34D0-4262-B345-9B1A1BA8DA17}"/>
              </a:ext>
            </a:extLst>
          </p:cNvPr>
          <p:cNvSpPr/>
          <p:nvPr userDrawn="1"/>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39ECC553-79E5-4B14-89C9-4DAD2B1021B1}"/>
              </a:ext>
            </a:extLst>
          </p:cNvPr>
          <p:cNvSpPr/>
          <p:nvPr userDrawn="1"/>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55797934-7E2B-4F94-89C4-0279413FF821}"/>
              </a:ext>
            </a:extLst>
          </p:cNvPr>
          <p:cNvSpPr/>
          <p:nvPr userDrawn="1"/>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1170432" y="1399032"/>
            <a:ext cx="3236976" cy="4069080"/>
          </a:xfrm>
        </p:spPr>
        <p:txBody>
          <a:bodyPr/>
          <a:lstStyle>
            <a:lvl1pPr algn="ct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788152" y="1527048"/>
            <a:ext cx="5111496" cy="3931920"/>
          </a:xfrm>
        </p:spPr>
        <p:txBody>
          <a:bodyPr anchor="ctr"/>
          <a:lstStyle>
            <a:lvl1pPr marL="0" indent="0">
              <a:buNone/>
              <a:defRPr/>
            </a:lvl1pPr>
            <a:lvl2pPr marL="228600">
              <a:defRPr/>
            </a:lvl2pPr>
            <a:lvl3pPr marL="457200">
              <a:defRPr/>
            </a:lvl3pPr>
            <a:lvl4pPr>
              <a:buNone/>
              <a:defRPr/>
            </a:lvl4pPr>
          </a:lstStyle>
          <a:p>
            <a:pPr lvl="0"/>
            <a:r>
              <a:rPr lang="en-US"/>
              <a:t>Click to edit Master text styles</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813944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2 small pictures">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5A614E3F-4FB2-4152-A59C-941C908D7B05}"/>
              </a:ext>
            </a:extLst>
          </p:cNvPr>
          <p:cNvSpPr>
            <a:spLocks noGrp="1"/>
          </p:cNvSpPr>
          <p:nvPr>
            <p:ph type="pic" sz="quarter" idx="13"/>
          </p:nvPr>
        </p:nvSpPr>
        <p:spPr>
          <a:xfrm>
            <a:off x="7200479" y="1150210"/>
            <a:ext cx="2207046" cy="2204178"/>
          </a:xfrm>
          <a:custGeom>
            <a:avLst/>
            <a:gdLst>
              <a:gd name="connsiteX0" fmla="*/ 1098749 w 2207046"/>
              <a:gd name="connsiteY0" fmla="*/ 0 h 2204178"/>
              <a:gd name="connsiteX1" fmla="*/ 2201707 w 2207046"/>
              <a:gd name="connsiteY1" fmla="*/ 995326 h 2204178"/>
              <a:gd name="connsiteX2" fmla="*/ 2207046 w 2207046"/>
              <a:gd name="connsiteY2" fmla="*/ 1101058 h 2204178"/>
              <a:gd name="connsiteX3" fmla="*/ 2207046 w 2207046"/>
              <a:gd name="connsiteY3" fmla="*/ 1116306 h 2204178"/>
              <a:gd name="connsiteX4" fmla="*/ 2201707 w 2207046"/>
              <a:gd name="connsiteY4" fmla="*/ 1222039 h 2204178"/>
              <a:gd name="connsiteX5" fmla="*/ 1322187 w 2207046"/>
              <a:gd name="connsiteY5" fmla="*/ 2194840 h 2204178"/>
              <a:gd name="connsiteX6" fmla="*/ 1260999 w 2207046"/>
              <a:gd name="connsiteY6" fmla="*/ 2204178 h 2204178"/>
              <a:gd name="connsiteX7" fmla="*/ 936500 w 2207046"/>
              <a:gd name="connsiteY7" fmla="*/ 2204178 h 2204178"/>
              <a:gd name="connsiteX8" fmla="*/ 875311 w 2207046"/>
              <a:gd name="connsiteY8" fmla="*/ 2194840 h 2204178"/>
              <a:gd name="connsiteX9" fmla="*/ 12592 w 2207046"/>
              <a:gd name="connsiteY9" fmla="*/ 1332120 h 2204178"/>
              <a:gd name="connsiteX10" fmla="*/ 0 w 2207046"/>
              <a:gd name="connsiteY10" fmla="*/ 1249617 h 2204178"/>
              <a:gd name="connsiteX11" fmla="*/ 0 w 2207046"/>
              <a:gd name="connsiteY11" fmla="*/ 967747 h 2204178"/>
              <a:gd name="connsiteX12" fmla="*/ 12592 w 2207046"/>
              <a:gd name="connsiteY12" fmla="*/ 885244 h 2204178"/>
              <a:gd name="connsiteX13" fmla="*/ 1098749 w 2207046"/>
              <a:gd name="connsiteY13" fmla="*/ 0 h 2204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07046" h="2204178">
                <a:moveTo>
                  <a:pt x="1098749" y="0"/>
                </a:moveTo>
                <a:cubicBezTo>
                  <a:pt x="1672788" y="0"/>
                  <a:pt x="2144931" y="436266"/>
                  <a:pt x="2201707" y="995326"/>
                </a:cubicBezTo>
                <a:lnTo>
                  <a:pt x="2207046" y="1101058"/>
                </a:lnTo>
                <a:lnTo>
                  <a:pt x="2207046" y="1116306"/>
                </a:lnTo>
                <a:lnTo>
                  <a:pt x="2201707" y="1222039"/>
                </a:lnTo>
                <a:cubicBezTo>
                  <a:pt x="2152501" y="1706557"/>
                  <a:pt x="1791308" y="2098844"/>
                  <a:pt x="1322187" y="2194840"/>
                </a:cubicBezTo>
                <a:lnTo>
                  <a:pt x="1260999" y="2204178"/>
                </a:lnTo>
                <a:lnTo>
                  <a:pt x="936500" y="2204178"/>
                </a:lnTo>
                <a:lnTo>
                  <a:pt x="875311" y="2194840"/>
                </a:lnTo>
                <a:cubicBezTo>
                  <a:pt x="442276" y="2106228"/>
                  <a:pt x="101204" y="1765156"/>
                  <a:pt x="12592" y="1332120"/>
                </a:cubicBezTo>
                <a:lnTo>
                  <a:pt x="0" y="1249617"/>
                </a:lnTo>
                <a:lnTo>
                  <a:pt x="0" y="967747"/>
                </a:lnTo>
                <a:lnTo>
                  <a:pt x="12592" y="885244"/>
                </a:lnTo>
                <a:cubicBezTo>
                  <a:pt x="115972" y="380036"/>
                  <a:pt x="562980" y="0"/>
                  <a:pt x="1098749" y="0"/>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8444632" y="2579683"/>
            <a:ext cx="3096807" cy="3096807"/>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825625"/>
            <a:ext cx="5806440" cy="4352544"/>
          </a:xfrm>
        </p:spPr>
        <p:txBody>
          <a:bodyPr>
            <a:normAutofit/>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10" name="Oval 9">
            <a:extLst>
              <a:ext uri="{FF2B5EF4-FFF2-40B4-BE49-F238E27FC236}">
                <a16:creationId xmlns:a16="http://schemas.microsoft.com/office/drawing/2014/main" id="{E8E71C73-7BAD-4838-88C1-42E045A9D179}"/>
              </a:ext>
            </a:extLst>
          </p:cNvPr>
          <p:cNvSpPr/>
          <p:nvPr userDrawn="1"/>
        </p:nvSpPr>
        <p:spPr>
          <a:xfrm>
            <a:off x="10249620" y="1555068"/>
            <a:ext cx="819303" cy="79707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44560922-5803-412D-880B-065E75DCBC0A}"/>
              </a:ext>
            </a:extLst>
          </p:cNvPr>
          <p:cNvSpPr/>
          <p:nvPr userDrawn="1"/>
        </p:nvSpPr>
        <p:spPr>
          <a:xfrm>
            <a:off x="7590089" y="4034393"/>
            <a:ext cx="876704" cy="876704"/>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0839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200EACD1-D216-4037-8AFF-80CF273586DF}"/>
              </a:ext>
            </a:extLst>
          </p:cNvPr>
          <p:cNvSpPr/>
          <p:nvPr userDrawn="1"/>
        </p:nvSpPr>
        <p:spPr>
          <a:xfrm>
            <a:off x="2815929" y="148929"/>
            <a:ext cx="6560142" cy="65601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Arc 7">
            <a:extLst>
              <a:ext uri="{FF2B5EF4-FFF2-40B4-BE49-F238E27FC236}">
                <a16:creationId xmlns:a16="http://schemas.microsoft.com/office/drawing/2014/main" id="{F941DE04-3FEA-4A57-B200-F9F6A765C792}"/>
              </a:ext>
            </a:extLst>
          </p:cNvPr>
          <p:cNvSpPr/>
          <p:nvPr userDrawn="1"/>
        </p:nvSpPr>
        <p:spPr>
          <a:xfrm rot="9222429" flipV="1">
            <a:off x="2494119" y="-28502"/>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A565C7B4-4152-4548-A771-EB148A028FDB}"/>
              </a:ext>
            </a:extLst>
          </p:cNvPr>
          <p:cNvSpPr/>
          <p:nvPr userDrawn="1"/>
        </p:nvSpPr>
        <p:spPr>
          <a:xfrm>
            <a:off x="8165417" y="5241988"/>
            <a:ext cx="759403" cy="73880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4C0001-5D76-45A0-A9F4-7172BDDD5D28}"/>
              </a:ext>
            </a:extLst>
          </p:cNvPr>
          <p:cNvSpPr>
            <a:spLocks noGrp="1"/>
          </p:cNvSpPr>
          <p:nvPr>
            <p:ph type="title"/>
          </p:nvPr>
        </p:nvSpPr>
        <p:spPr>
          <a:xfrm>
            <a:off x="3319272" y="1380744"/>
            <a:ext cx="5559552" cy="2514600"/>
          </a:xfrm>
        </p:spPr>
        <p:txBody>
          <a:bodyPr anchor="b"/>
          <a:lstStyle>
            <a:lvl1pPr algn="ct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3319272" y="4078224"/>
            <a:ext cx="5559552" cy="1536192"/>
          </a:xfrm>
        </p:spPr>
        <p:txBody>
          <a:bodyPr/>
          <a:lstStyle>
            <a:lvl1pPr marL="0" indent="0" algn="ctr">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785573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5"/>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1179576" y="1911096"/>
            <a:ext cx="9829800" cy="38597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7" name="Freeform: Shape 6">
            <a:extLst>
              <a:ext uri="{FF2B5EF4-FFF2-40B4-BE49-F238E27FC236}">
                <a16:creationId xmlns:a16="http://schemas.microsoft.com/office/drawing/2014/main" id="{23DA7759-3209-4FE2-96D1-4EEDD81E9EA0}"/>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41460DAD-8769-4C9F-9C8C-BB0443909D76}"/>
              </a:ext>
            </a:extLst>
          </p:cNvPr>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5081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6" name="Freeform: Shape 5">
            <a:extLst>
              <a:ext uri="{FF2B5EF4-FFF2-40B4-BE49-F238E27FC236}">
                <a16:creationId xmlns:a16="http://schemas.microsoft.com/office/drawing/2014/main" id="{DC13EF9C-0B5A-4364-91AA-E5DD5B536E54}"/>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Freeform: Shape 6">
            <a:extLst>
              <a:ext uri="{FF2B5EF4-FFF2-40B4-BE49-F238E27FC236}">
                <a16:creationId xmlns:a16="http://schemas.microsoft.com/office/drawing/2014/main" id="{8F674475-6327-490A-BD7F-084F5C07F2E4}"/>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838200" y="1911096"/>
            <a:ext cx="10515600" cy="38597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98923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slide with picture">
    <p:bg>
      <p:bgPr>
        <a:solidFill>
          <a:schemeClr val="tx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63E3FD7E-C80A-4707-A8E9-4134DF91F3FF}"/>
              </a:ext>
            </a:extLst>
          </p:cNvPr>
          <p:cNvSpPr>
            <a:spLocks noGrp="1"/>
          </p:cNvSpPr>
          <p:nvPr>
            <p:ph type="pic" sz="quarter" idx="10"/>
          </p:nvPr>
        </p:nvSpPr>
        <p:spPr>
          <a:xfrm>
            <a:off x="0" y="1"/>
            <a:ext cx="12192000" cy="6858000"/>
          </a:xfrm>
        </p:spPr>
        <p:txBody>
          <a:bodyPr/>
          <a:lstStyle>
            <a:lvl1pPr>
              <a:buNone/>
              <a:defRPr>
                <a:solidFill>
                  <a:schemeClr val="bg1"/>
                </a:solidFill>
              </a:defRPr>
            </a:lvl1pPr>
          </a:lstStyle>
          <a:p>
            <a:r>
              <a:rPr lang="en-US"/>
              <a:t>Click icon to add picture</a:t>
            </a:r>
            <a:endParaRPr lang="en-US" dirty="0"/>
          </a:p>
        </p:txBody>
      </p:sp>
      <p:sp>
        <p:nvSpPr>
          <p:cNvPr id="10" name="Title 9">
            <a:extLst>
              <a:ext uri="{FF2B5EF4-FFF2-40B4-BE49-F238E27FC236}">
                <a16:creationId xmlns:a16="http://schemas.microsoft.com/office/drawing/2014/main" id="{10EC23F5-CD2E-4207-A4E6-73BDFF74D868}"/>
              </a:ext>
            </a:extLst>
          </p:cNvPr>
          <p:cNvSpPr>
            <a:spLocks noGrp="1"/>
          </p:cNvSpPr>
          <p:nvPr>
            <p:ph type="title"/>
          </p:nvPr>
        </p:nvSpPr>
        <p:spPr>
          <a:xfrm>
            <a:off x="3111500" y="370600"/>
            <a:ext cx="5923842" cy="5923842"/>
          </a:xfrm>
          <a:custGeom>
            <a:avLst/>
            <a:gdLst>
              <a:gd name="connsiteX0" fmla="*/ 2961921 w 5923842"/>
              <a:gd name="connsiteY0" fmla="*/ 0 h 5923842"/>
              <a:gd name="connsiteX1" fmla="*/ 5923842 w 5923842"/>
              <a:gd name="connsiteY1" fmla="*/ 2961921 h 5923842"/>
              <a:gd name="connsiteX2" fmla="*/ 2961921 w 5923842"/>
              <a:gd name="connsiteY2" fmla="*/ 5923842 h 5923842"/>
              <a:gd name="connsiteX3" fmla="*/ 0 w 5923842"/>
              <a:gd name="connsiteY3" fmla="*/ 2961921 h 5923842"/>
              <a:gd name="connsiteX4" fmla="*/ 2961921 w 5923842"/>
              <a:gd name="connsiteY4" fmla="*/ 0 h 5923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23842" h="5923842">
                <a:moveTo>
                  <a:pt x="2961921" y="0"/>
                </a:moveTo>
                <a:cubicBezTo>
                  <a:pt x="4597745" y="0"/>
                  <a:pt x="5923842" y="1326097"/>
                  <a:pt x="5923842" y="2961921"/>
                </a:cubicBezTo>
                <a:cubicBezTo>
                  <a:pt x="5923842" y="4597745"/>
                  <a:pt x="4597745" y="5923842"/>
                  <a:pt x="2961921" y="5923842"/>
                </a:cubicBezTo>
                <a:cubicBezTo>
                  <a:pt x="1326097" y="5923842"/>
                  <a:pt x="0" y="4597745"/>
                  <a:pt x="0" y="2961921"/>
                </a:cubicBezTo>
                <a:cubicBezTo>
                  <a:pt x="0" y="1326097"/>
                  <a:pt x="1326097" y="0"/>
                  <a:pt x="2961921" y="0"/>
                </a:cubicBezTo>
                <a:close/>
              </a:path>
            </a:pathLst>
          </a:custGeom>
          <a:solidFill>
            <a:schemeClr val="bg1">
              <a:alpha val="95000"/>
            </a:schemeClr>
          </a:solidFill>
        </p:spPr>
        <p:txBody>
          <a:bodyPr wrap="square" lIns="457200" rIns="457200" bIns="2331720" anchor="b" anchorCtr="0">
            <a:noAutofit/>
          </a:bodyPr>
          <a:lstStyle>
            <a:lvl1pPr algn="ctr">
              <a:defRPr sz="4000">
                <a:solidFill>
                  <a:schemeClr val="tx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3575304" y="4379976"/>
            <a:ext cx="5038344" cy="713232"/>
          </a:xfrm>
        </p:spPr>
        <p:txBody>
          <a:bodyPr/>
          <a:lstStyle>
            <a:lvl1pPr marL="0" indent="0" algn="ctr">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Date Placeholder 10">
            <a:extLst>
              <a:ext uri="{FF2B5EF4-FFF2-40B4-BE49-F238E27FC236}">
                <a16:creationId xmlns:a16="http://schemas.microsoft.com/office/drawing/2014/main" id="{6B76FE53-FB67-4871-8485-71BAAFD7D1BF}"/>
              </a:ext>
            </a:extLst>
          </p:cNvPr>
          <p:cNvSpPr>
            <a:spLocks noGrp="1"/>
          </p:cNvSpPr>
          <p:nvPr>
            <p:ph type="dt" sz="half" idx="11"/>
          </p:nvPr>
        </p:nvSpPr>
        <p:spPr/>
        <p:txBody>
          <a:bodyPr/>
          <a:lstStyle>
            <a:lvl1pPr>
              <a:defRPr>
                <a:solidFill>
                  <a:schemeClr val="bg1"/>
                </a:solidFill>
                <a:latin typeface="+mn-lt"/>
              </a:defRPr>
            </a:lvl1pPr>
          </a:lstStyle>
          <a:p>
            <a:pPr>
              <a:defRPr/>
            </a:pPr>
            <a:r>
              <a:rPr lang="en-US"/>
              <a:t>9/3/20XX</a:t>
            </a:r>
            <a:endParaRPr lang="en-US" dirty="0"/>
          </a:p>
        </p:txBody>
      </p:sp>
      <p:sp>
        <p:nvSpPr>
          <p:cNvPr id="12" name="Footer Placeholder 11">
            <a:extLst>
              <a:ext uri="{FF2B5EF4-FFF2-40B4-BE49-F238E27FC236}">
                <a16:creationId xmlns:a16="http://schemas.microsoft.com/office/drawing/2014/main" id="{AD26FED4-1CE2-444B-A77E-EB3CB505AF19}"/>
              </a:ext>
            </a:extLst>
          </p:cNvPr>
          <p:cNvSpPr>
            <a:spLocks noGrp="1"/>
          </p:cNvSpPr>
          <p:nvPr>
            <p:ph type="ftr" sz="quarter" idx="12"/>
          </p:nvPr>
        </p:nvSpPr>
        <p:spPr/>
        <p:txBody>
          <a:bodyPr/>
          <a:lstStyle>
            <a:lvl1pPr>
              <a:defRPr>
                <a:solidFill>
                  <a:schemeClr val="bg1"/>
                </a:solidFill>
                <a:latin typeface="+mn-lt"/>
              </a:defRPr>
            </a:lvl1pPr>
          </a:lstStyle>
          <a:p>
            <a:pPr>
              <a:defRPr/>
            </a:pPr>
            <a:r>
              <a:rPr lang="fr-FR"/>
              <a:t>Discrete Structures : Lecture 1-2 by IQRA JAVED</a:t>
            </a:r>
            <a:endParaRPr lang="en-US" dirty="0"/>
          </a:p>
        </p:txBody>
      </p:sp>
      <p:sp>
        <p:nvSpPr>
          <p:cNvPr id="13" name="Slide Number Placeholder 12">
            <a:extLst>
              <a:ext uri="{FF2B5EF4-FFF2-40B4-BE49-F238E27FC236}">
                <a16:creationId xmlns:a16="http://schemas.microsoft.com/office/drawing/2014/main" id="{28FD25AA-10CC-48D8-9577-257871107B9A}"/>
              </a:ext>
            </a:extLst>
          </p:cNvPr>
          <p:cNvSpPr>
            <a:spLocks noGrp="1"/>
          </p:cNvSpPr>
          <p:nvPr>
            <p:ph type="sldNum" sz="quarter" idx="13"/>
          </p:nvPr>
        </p:nvSpPr>
        <p:spPr/>
        <p:txBody>
          <a:bodyPr/>
          <a:lstStyle>
            <a:lvl1pPr>
              <a:defRPr>
                <a:solidFill>
                  <a:schemeClr val="bg1"/>
                </a:solidFill>
                <a:latin typeface="+mn-lt"/>
              </a:defRPr>
            </a:lvl1pPr>
          </a:lstStyle>
          <a:p>
            <a:pPr>
              <a:defRPr/>
            </a:pPr>
            <a:fld id="{D76B855D-E9CC-4FF8-AD85-6CDC7B89A0DE}" type="slidenum">
              <a:rPr lang="en-US" smtClean="0"/>
              <a:pPr>
                <a:defRPr/>
              </a:pPr>
              <a:t>‹#›</a:t>
            </a:fld>
            <a:endParaRPr lang="en-US" dirty="0"/>
          </a:p>
        </p:txBody>
      </p:sp>
    </p:spTree>
    <p:extLst>
      <p:ext uri="{BB962C8B-B14F-4D97-AF65-F5344CB8AC3E}">
        <p14:creationId xmlns:p14="http://schemas.microsoft.com/office/powerpoint/2010/main" val="2203281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BFD05-2CB2-4A7E-89E7-57615BA82B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9532B8-D460-476D-816F-725E8D96C0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F7120F-70AF-4ED5-B364-3AA55C6B44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D8B65F-F709-469F-9961-4D01896CAA12}"/>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6" name="Footer Placeholder 5">
            <a:extLst>
              <a:ext uri="{FF2B5EF4-FFF2-40B4-BE49-F238E27FC236}">
                <a16:creationId xmlns:a16="http://schemas.microsoft.com/office/drawing/2014/main" id="{B781C6BC-B23D-48BC-AD44-654DDB8D0122}"/>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7" name="Slide Number Placeholder 6">
            <a:extLst>
              <a:ext uri="{FF2B5EF4-FFF2-40B4-BE49-F238E27FC236}">
                <a16:creationId xmlns:a16="http://schemas.microsoft.com/office/drawing/2014/main" id="{6100D60B-86A1-479D-BCE8-06D2C3DBC94E}"/>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Freeform: Shape 7">
            <a:extLst>
              <a:ext uri="{FF2B5EF4-FFF2-40B4-BE49-F238E27FC236}">
                <a16:creationId xmlns:a16="http://schemas.microsoft.com/office/drawing/2014/main" id="{B4EC5136-99DA-40B5-8F79-5C3A56D38BA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4F8FB775-26C4-41BA-837C-4478D48D215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6906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5157787"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6172200" y="2505075"/>
            <a:ext cx="5183188"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594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445312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445312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Text Placeholder 4">
            <a:extLst>
              <a:ext uri="{FF2B5EF4-FFF2-40B4-BE49-F238E27FC236}">
                <a16:creationId xmlns:a16="http://schemas.microsoft.com/office/drawing/2014/main" id="{ACF5677B-E56F-4452-ADDC-DA0E20A955EC}"/>
              </a:ext>
            </a:extLst>
          </p:cNvPr>
          <p:cNvSpPr>
            <a:spLocks noGrp="1"/>
          </p:cNvSpPr>
          <p:nvPr>
            <p:ph type="body" sz="quarter" idx="13"/>
          </p:nvPr>
        </p:nvSpPr>
        <p:spPr>
          <a:xfrm>
            <a:off x="806500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a:extLst>
              <a:ext uri="{FF2B5EF4-FFF2-40B4-BE49-F238E27FC236}">
                <a16:creationId xmlns:a16="http://schemas.microsoft.com/office/drawing/2014/main" id="{865D9C09-AB3B-40EB-B1DA-9C6D72343451}"/>
              </a:ext>
            </a:extLst>
          </p:cNvPr>
          <p:cNvSpPr>
            <a:spLocks noGrp="1"/>
          </p:cNvSpPr>
          <p:nvPr>
            <p:ph sz="quarter" idx="14"/>
          </p:nvPr>
        </p:nvSpPr>
        <p:spPr>
          <a:xfrm>
            <a:off x="806500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672738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2 medium pictures">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FAA9DFF3-1B49-48A9-BF8A-57DD7D07CFAF}"/>
              </a:ext>
            </a:extLst>
          </p:cNvPr>
          <p:cNvSpPr>
            <a:spLocks noGrp="1"/>
          </p:cNvSpPr>
          <p:nvPr>
            <p:ph type="pic" sz="quarter" idx="14"/>
          </p:nvPr>
        </p:nvSpPr>
        <p:spPr>
          <a:xfrm>
            <a:off x="7901259" y="2727729"/>
            <a:ext cx="4290740" cy="4130271"/>
          </a:xfrm>
          <a:custGeom>
            <a:avLst/>
            <a:gdLst>
              <a:gd name="connsiteX0" fmla="*/ 2503809 w 4290740"/>
              <a:gd name="connsiteY0" fmla="*/ 0 h 4130271"/>
              <a:gd name="connsiteX1" fmla="*/ 4198398 w 4290740"/>
              <a:gd name="connsiteY1" fmla="*/ 660580 h 4130271"/>
              <a:gd name="connsiteX2" fmla="*/ 4290740 w 4290740"/>
              <a:gd name="connsiteY2" fmla="*/ 751285 h 4130271"/>
              <a:gd name="connsiteX3" fmla="*/ 4290740 w 4290740"/>
              <a:gd name="connsiteY3" fmla="*/ 4130271 h 4130271"/>
              <a:gd name="connsiteX4" fmla="*/ 604508 w 4290740"/>
              <a:gd name="connsiteY4" fmla="*/ 4130271 h 4130271"/>
              <a:gd name="connsiteX5" fmla="*/ 461940 w 4290740"/>
              <a:gd name="connsiteY5" fmla="*/ 3953232 h 4130271"/>
              <a:gd name="connsiteX6" fmla="*/ 0 w 4290740"/>
              <a:gd name="connsiteY6" fmla="*/ 2503809 h 4130271"/>
              <a:gd name="connsiteX7" fmla="*/ 2503809 w 4290740"/>
              <a:gd name="connsiteY7" fmla="*/ 0 h 4130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90740" h="4130271">
                <a:moveTo>
                  <a:pt x="2503809" y="0"/>
                </a:moveTo>
                <a:cubicBezTo>
                  <a:pt x="3157405" y="0"/>
                  <a:pt x="3752509" y="250434"/>
                  <a:pt x="4198398" y="660580"/>
                </a:cubicBezTo>
                <a:lnTo>
                  <a:pt x="4290740" y="751285"/>
                </a:lnTo>
                <a:lnTo>
                  <a:pt x="4290740" y="4130271"/>
                </a:lnTo>
                <a:lnTo>
                  <a:pt x="604508" y="4130271"/>
                </a:lnTo>
                <a:lnTo>
                  <a:pt x="461940" y="3953232"/>
                </a:lnTo>
                <a:cubicBezTo>
                  <a:pt x="171051" y="3544183"/>
                  <a:pt x="0" y="3043971"/>
                  <a:pt x="0" y="2503809"/>
                </a:cubicBezTo>
                <a:cubicBezTo>
                  <a:pt x="0" y="1120992"/>
                  <a:pt x="1120992" y="0"/>
                  <a:pt x="2503809" y="0"/>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21" name="Picture Placeholder 20">
            <a:extLst>
              <a:ext uri="{FF2B5EF4-FFF2-40B4-BE49-F238E27FC236}">
                <a16:creationId xmlns:a16="http://schemas.microsoft.com/office/drawing/2014/main" id="{5CFEFC13-B998-4A6F-A7ED-411E266D288C}"/>
              </a:ext>
            </a:extLst>
          </p:cNvPr>
          <p:cNvSpPr>
            <a:spLocks noGrp="1"/>
          </p:cNvSpPr>
          <p:nvPr>
            <p:ph type="pic" sz="quarter" idx="13"/>
          </p:nvPr>
        </p:nvSpPr>
        <p:spPr>
          <a:xfrm>
            <a:off x="6261609" y="0"/>
            <a:ext cx="3519311" cy="3007909"/>
          </a:xfrm>
          <a:custGeom>
            <a:avLst/>
            <a:gdLst>
              <a:gd name="connsiteX0" fmla="*/ 519779 w 3519311"/>
              <a:gd name="connsiteY0" fmla="*/ 0 h 3007909"/>
              <a:gd name="connsiteX1" fmla="*/ 2999531 w 3519311"/>
              <a:gd name="connsiteY1" fmla="*/ 0 h 3007909"/>
              <a:gd name="connsiteX2" fmla="*/ 3003920 w 3519311"/>
              <a:gd name="connsiteY2" fmla="*/ 3989 h 3007909"/>
              <a:gd name="connsiteX3" fmla="*/ 3519311 w 3519311"/>
              <a:gd name="connsiteY3" fmla="*/ 1248253 h 3007909"/>
              <a:gd name="connsiteX4" fmla="*/ 1759655 w 3519311"/>
              <a:gd name="connsiteY4" fmla="*/ 3007909 h 3007909"/>
              <a:gd name="connsiteX5" fmla="*/ 9084 w 3519311"/>
              <a:gd name="connsiteY5" fmla="*/ 1428168 h 3007909"/>
              <a:gd name="connsiteX6" fmla="*/ 0 w 3519311"/>
              <a:gd name="connsiteY6" fmla="*/ 1248273 h 3007909"/>
              <a:gd name="connsiteX7" fmla="*/ 0 w 3519311"/>
              <a:gd name="connsiteY7" fmla="*/ 1248233 h 3007909"/>
              <a:gd name="connsiteX8" fmla="*/ 9084 w 3519311"/>
              <a:gd name="connsiteY8" fmla="*/ 1068339 h 3007909"/>
              <a:gd name="connsiteX9" fmla="*/ 515391 w 3519311"/>
              <a:gd name="connsiteY9" fmla="*/ 3989 h 300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19311" h="3007909">
                <a:moveTo>
                  <a:pt x="519779" y="0"/>
                </a:moveTo>
                <a:lnTo>
                  <a:pt x="2999531" y="0"/>
                </a:lnTo>
                <a:lnTo>
                  <a:pt x="3003920" y="3989"/>
                </a:lnTo>
                <a:cubicBezTo>
                  <a:pt x="3322355" y="322424"/>
                  <a:pt x="3519311" y="762338"/>
                  <a:pt x="3519311" y="1248253"/>
                </a:cubicBezTo>
                <a:cubicBezTo>
                  <a:pt x="3519311" y="2220084"/>
                  <a:pt x="2731486" y="3007909"/>
                  <a:pt x="1759655" y="3007909"/>
                </a:cubicBezTo>
                <a:cubicBezTo>
                  <a:pt x="848565" y="3007909"/>
                  <a:pt x="99196" y="2315485"/>
                  <a:pt x="9084" y="1428168"/>
                </a:cubicBezTo>
                <a:lnTo>
                  <a:pt x="0" y="1248273"/>
                </a:lnTo>
                <a:lnTo>
                  <a:pt x="0" y="1248233"/>
                </a:lnTo>
                <a:lnTo>
                  <a:pt x="9084" y="1068339"/>
                </a:lnTo>
                <a:cubicBezTo>
                  <a:pt x="51137" y="654258"/>
                  <a:pt x="236761" y="282620"/>
                  <a:pt x="515391" y="3989"/>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10" name="Oval 9">
            <a:extLst>
              <a:ext uri="{FF2B5EF4-FFF2-40B4-BE49-F238E27FC236}">
                <a16:creationId xmlns:a16="http://schemas.microsoft.com/office/drawing/2014/main" id="{B7BFFB5A-A05C-4B0C-905C-5884361304B2}"/>
              </a:ext>
            </a:extLst>
          </p:cNvPr>
          <p:cNvSpPr/>
          <p:nvPr userDrawn="1"/>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9F33AC6C-4807-4785-AE9F-84BFEEDA9F7E}"/>
              </a:ext>
            </a:extLst>
          </p:cNvPr>
          <p:cNvSpPr/>
          <p:nvPr userDrawn="1"/>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841248" y="365760"/>
            <a:ext cx="5120640" cy="1325880"/>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841248" y="1828800"/>
            <a:ext cx="5093208" cy="4352544"/>
          </a:xfrm>
        </p:spPr>
        <p:txBody>
          <a:bodyPr/>
          <a:lstStyle>
            <a:lvl1pPr marL="0" indent="0">
              <a:buNone/>
              <a:defRPr sz="2400"/>
            </a:lvl1pPr>
            <a:lvl2pPr marL="228600">
              <a:defRPr/>
            </a:lvl2pPr>
            <a:lvl3pPr marL="457200">
              <a:defRPr/>
            </a:lvl3pPr>
            <a:lvl4pPr marL="685800">
              <a:defRPr/>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4131786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642EAF0-DE94-4F90-82E3-6F316AA8353A}"/>
              </a:ext>
            </a:extLst>
          </p:cNvPr>
          <p:cNvSpPr/>
          <p:nvPr userDrawn="1"/>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D22D7888-22FA-4AA1-9BA4-CC61D6643D47}"/>
              </a:ext>
            </a:extLst>
          </p:cNvPr>
          <p:cNvSpPr/>
          <p:nvPr userDrawn="1"/>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EBB6E464-8999-4773-A1F2-E6CAA990E572}"/>
              </a:ext>
            </a:extLst>
          </p:cNvPr>
          <p:cNvSpPr/>
          <p:nvPr userDrawn="1"/>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CE9CE183-B21E-41EB-A082-DF9C3AD659D5}"/>
              </a:ext>
            </a:extLst>
          </p:cNvPr>
          <p:cNvSpPr/>
          <p:nvPr userDrawn="1"/>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1EA14BE8-FDD0-4434-9C3E-BFF78C22D9E3}"/>
              </a:ext>
            </a:extLst>
          </p:cNvPr>
          <p:cNvSpPr/>
          <p:nvPr userDrawn="1"/>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5C76330B-4C5E-463F-921A-D91F1F1F6049}"/>
              </a:ext>
            </a:extLst>
          </p:cNvPr>
          <p:cNvSpPr/>
          <p:nvPr userDrawn="1"/>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E494E364-7EA8-4D92-915D-75D1A3A67C07}"/>
              </a:ext>
            </a:extLst>
          </p:cNvPr>
          <p:cNvSpPr/>
          <p:nvPr userDrawn="1"/>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1389888" y="1234440"/>
            <a:ext cx="3236976" cy="4069080"/>
          </a:xfrm>
        </p:spPr>
        <p:txBody>
          <a:bodyPr/>
          <a:lstStyle>
            <a:lvl1pPr algn="ct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a:xfrm>
            <a:off x="1682496" y="6356350"/>
            <a:ext cx="1545336" cy="365125"/>
          </a:xfrm>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a:xfrm>
            <a:off x="6099048" y="6356350"/>
            <a:ext cx="4114800" cy="365125"/>
          </a:xfrm>
        </p:spPr>
        <p:txBody>
          <a:bodyPr/>
          <a:lstStyle>
            <a:lvl1pPr algn="l">
              <a:defRPr>
                <a:latin typeface="+mn-lt"/>
              </a:defRPr>
            </a:lvl1pPr>
          </a:lstStyle>
          <a:p>
            <a:pPr algn="l">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a:xfrm>
            <a:off x="10506456" y="6356350"/>
            <a:ext cx="850392" cy="365125"/>
          </a:xfrm>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6665976" y="2551176"/>
            <a:ext cx="4709160" cy="1755648"/>
          </a:xfrm>
        </p:spPr>
        <p:txBody>
          <a:bodyPr/>
          <a:lstStyle>
            <a:lvl1pPr marL="0" indent="0">
              <a:buNone/>
              <a:defRPr sz="2400"/>
            </a:lvl1pPr>
            <a:lvl2pPr marL="228600">
              <a:defRPr sz="1800"/>
            </a:lvl2pPr>
            <a:lvl3pPr marL="457200">
              <a:defRPr sz="1800"/>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82677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46489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Title 6">
            <a:extLst>
              <a:ext uri="{FF2B5EF4-FFF2-40B4-BE49-F238E27FC236}">
                <a16:creationId xmlns:a16="http://schemas.microsoft.com/office/drawing/2014/main" id="{C9A1C714-6A0E-456D-A2E2-6288C0EA077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354056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FC812-4DB6-4F98-9404-29C191D3BA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F0855E-0CD6-47DD-B648-4C84C783D7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50082B-17D7-4D61-8AEB-81517D85D2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70783-FF31-4C4E-9196-EB169B209747}"/>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6" name="Footer Placeholder 5">
            <a:extLst>
              <a:ext uri="{FF2B5EF4-FFF2-40B4-BE49-F238E27FC236}">
                <a16:creationId xmlns:a16="http://schemas.microsoft.com/office/drawing/2014/main" id="{7D92E260-747D-40FD-A062-9DD5E6835ABB}"/>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7" name="Slide Number Placeholder 6">
            <a:extLst>
              <a:ext uri="{FF2B5EF4-FFF2-40B4-BE49-F238E27FC236}">
                <a16:creationId xmlns:a16="http://schemas.microsoft.com/office/drawing/2014/main" id="{887E50A0-1E05-49C5-88C9-46267751201F}"/>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Freeform: Shape 7">
            <a:extLst>
              <a:ext uri="{FF2B5EF4-FFF2-40B4-BE49-F238E27FC236}">
                <a16:creationId xmlns:a16="http://schemas.microsoft.com/office/drawing/2014/main" id="{2C155C63-9F58-4422-B669-F9748628067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385DBA62-0EDB-47AA-86C7-90463BC9B308}"/>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86281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D7521-E43D-41D1-B458-26B20DC6DD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472CF2-2653-4B98-A416-D7A0A860EC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A6EF87F5-0B10-4AC7-9599-F088C5E796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A07CB7-0520-4D64-B76C-C31AC557832D}"/>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6" name="Footer Placeholder 5">
            <a:extLst>
              <a:ext uri="{FF2B5EF4-FFF2-40B4-BE49-F238E27FC236}">
                <a16:creationId xmlns:a16="http://schemas.microsoft.com/office/drawing/2014/main" id="{92EEB226-AD45-45DF-AAB5-5513AE732AAE}"/>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7" name="Slide Number Placeholder 6">
            <a:extLst>
              <a:ext uri="{FF2B5EF4-FFF2-40B4-BE49-F238E27FC236}">
                <a16:creationId xmlns:a16="http://schemas.microsoft.com/office/drawing/2014/main" id="{95E96AEB-9481-4CCE-B110-FEDD334835B8}"/>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Freeform: Shape 7">
            <a:extLst>
              <a:ext uri="{FF2B5EF4-FFF2-40B4-BE49-F238E27FC236}">
                <a16:creationId xmlns:a16="http://schemas.microsoft.com/office/drawing/2014/main" id="{6BA9707F-7BCE-464F-BF45-E216527084EE}"/>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BC589723-2CC8-49D1-B4E1-36FECED6A2D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4012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EC5685-19F1-49DA-ADE5-D5D32F1659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FC0A4D-22A1-4554-B5DE-887974F4DF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9D5CDC-F2CE-410E-AD13-DDC235C71C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cap="none" spc="0" baseline="0">
                <a:solidFill>
                  <a:schemeClr val="tx1">
                    <a:tint val="75000"/>
                  </a:schemeClr>
                </a:solidFill>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5" name="Footer Placeholder 4">
            <a:extLst>
              <a:ext uri="{FF2B5EF4-FFF2-40B4-BE49-F238E27FC236}">
                <a16:creationId xmlns:a16="http://schemas.microsoft.com/office/drawing/2014/main" id="{9340CD45-794A-4BB0-A427-0CE61AEAF4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cap="none" spc="0" baseline="0">
                <a:solidFill>
                  <a:schemeClr val="tx1">
                    <a:tint val="75000"/>
                  </a:schemeClr>
                </a:solidFill>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FCB3AB91-9588-4071-92D2-364F4A6ED0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cap="none" spc="0" baseline="0">
                <a:solidFill>
                  <a:schemeClr val="tx1">
                    <a:tint val="75000"/>
                  </a:schemeClr>
                </a:solidFill>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3067668650"/>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71" r:id="rId4"/>
    <p:sldLayoutId id="2147483770" r:id="rId5"/>
    <p:sldLayoutId id="2147483774" r:id="rId6"/>
    <p:sldLayoutId id="2147483783" r:id="rId7"/>
    <p:sldLayoutId id="2147483772" r:id="rId8"/>
    <p:sldLayoutId id="2147483773" r:id="rId9"/>
    <p:sldLayoutId id="2147483785" r:id="rId10"/>
    <p:sldLayoutId id="2147483786" r:id="rId11"/>
    <p:sldLayoutId id="2147483787" r:id="rId12"/>
    <p:sldLayoutId id="2147483775" r:id="rId13"/>
    <p:sldLayoutId id="2147483788" r:id="rId14"/>
    <p:sldLayoutId id="2147483776" r:id="rId15"/>
    <p:sldLayoutId id="2147483777" r:id="rId16"/>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5.xml"/><Relationship Id="rId1" Type="http://schemas.openxmlformats.org/officeDocument/2006/relationships/vmlDrawing" Target="../drawings/vmlDrawing1.vml"/><Relationship Id="rId4" Type="http://schemas.openxmlformats.org/officeDocument/2006/relationships/image" Target="../media/image4.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5.xml"/><Relationship Id="rId1" Type="http://schemas.openxmlformats.org/officeDocument/2006/relationships/vmlDrawing" Target="../drawings/vmlDrawing2.vml"/><Relationship Id="rId4" Type="http://schemas.openxmlformats.org/officeDocument/2006/relationships/image" Target="../media/image5.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BB25E70-F951-4043-8895-D1EFDDA97DDE}"/>
              </a:ext>
            </a:extLst>
          </p:cNvPr>
          <p:cNvSpPr txBox="1">
            <a:spLocks/>
          </p:cNvSpPr>
          <p:nvPr/>
        </p:nvSpPr>
        <p:spPr>
          <a:xfrm>
            <a:off x="460375" y="1948069"/>
            <a:ext cx="11594776" cy="4073773"/>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dirty="0">
                <a:solidFill>
                  <a:srgbClr val="C00000"/>
                </a:solidFill>
                <a:latin typeface="Cambria Math" panose="02040503050406030204" pitchFamily="18" charset="0"/>
                <a:ea typeface="Cambria Math" panose="02040503050406030204" pitchFamily="18" charset="0"/>
              </a:rPr>
              <a:t>CC 141 </a:t>
            </a:r>
            <a:br>
              <a:rPr lang="en-US" sz="4800" dirty="0">
                <a:solidFill>
                  <a:srgbClr val="C00000"/>
                </a:solidFill>
                <a:latin typeface="Cambria Math" panose="02040503050406030204" pitchFamily="18" charset="0"/>
                <a:ea typeface="Cambria Math" panose="02040503050406030204" pitchFamily="18" charset="0"/>
              </a:rPr>
            </a:br>
            <a:r>
              <a:rPr lang="en-US" sz="4800" dirty="0">
                <a:solidFill>
                  <a:srgbClr val="C00000"/>
                </a:solidFill>
                <a:latin typeface="Cambria Math" panose="02040503050406030204" pitchFamily="18" charset="0"/>
                <a:ea typeface="Cambria Math" panose="02040503050406030204" pitchFamily="18" charset="0"/>
              </a:rPr>
              <a:t>Discrete Structures</a:t>
            </a:r>
            <a:br>
              <a:rPr lang="en-US" sz="4800" dirty="0">
                <a:solidFill>
                  <a:srgbClr val="C00000"/>
                </a:solidFill>
                <a:latin typeface="Cambria Math" panose="02040503050406030204" pitchFamily="18" charset="0"/>
                <a:ea typeface="Cambria Math" panose="02040503050406030204" pitchFamily="18" charset="0"/>
              </a:rPr>
            </a:br>
            <a:br>
              <a:rPr lang="en-US" dirty="0">
                <a:solidFill>
                  <a:srgbClr val="C00000"/>
                </a:solidFill>
                <a:latin typeface="Cambria Math" panose="02040503050406030204" pitchFamily="18" charset="0"/>
                <a:ea typeface="Cambria Math" panose="02040503050406030204" pitchFamily="18" charset="0"/>
              </a:rPr>
            </a:br>
            <a:r>
              <a:rPr lang="en-US" sz="3200" dirty="0">
                <a:solidFill>
                  <a:schemeClr val="accent5">
                    <a:lumMod val="50000"/>
                  </a:schemeClr>
                </a:solidFill>
                <a:latin typeface="Century Gothic" panose="020B0502020202020204" pitchFamily="34" charset="0"/>
                <a:ea typeface="Cambria Math" panose="02040503050406030204" pitchFamily="18" charset="0"/>
              </a:rPr>
              <a:t>Department of Computer Science</a:t>
            </a:r>
            <a:br>
              <a:rPr lang="en-US" sz="3200" dirty="0">
                <a:solidFill>
                  <a:schemeClr val="accent5">
                    <a:lumMod val="50000"/>
                  </a:schemeClr>
                </a:solidFill>
                <a:latin typeface="Century Gothic" panose="020B0502020202020204" pitchFamily="34" charset="0"/>
                <a:ea typeface="Cambria Math" panose="02040503050406030204" pitchFamily="18" charset="0"/>
              </a:rPr>
            </a:br>
            <a:r>
              <a:rPr lang="en-US" sz="3200" dirty="0">
                <a:solidFill>
                  <a:schemeClr val="accent5">
                    <a:lumMod val="50000"/>
                  </a:schemeClr>
                </a:solidFill>
                <a:latin typeface="Century Gothic" panose="020B0502020202020204" pitchFamily="34" charset="0"/>
                <a:ea typeface="Cambria Math" panose="02040503050406030204" pitchFamily="18" charset="0"/>
              </a:rPr>
              <a:t>School of Systems and Technology</a:t>
            </a:r>
            <a:br>
              <a:rPr lang="en-US" sz="3200" dirty="0">
                <a:solidFill>
                  <a:schemeClr val="accent6">
                    <a:lumMod val="75000"/>
                  </a:schemeClr>
                </a:solidFill>
                <a:latin typeface="Comic Sans MS" panose="030F0702030302020204" pitchFamily="66" charset="0"/>
                <a:ea typeface="Cambria Math" panose="02040503050406030204" pitchFamily="18" charset="0"/>
              </a:rPr>
            </a:br>
            <a:br>
              <a:rPr lang="en-US" sz="3200" dirty="0">
                <a:solidFill>
                  <a:schemeClr val="accent6">
                    <a:lumMod val="75000"/>
                  </a:schemeClr>
                </a:solidFill>
                <a:latin typeface="Comic Sans MS" panose="030F0702030302020204" pitchFamily="66" charset="0"/>
                <a:ea typeface="Cambria Math" panose="02040503050406030204" pitchFamily="18" charset="0"/>
              </a:rPr>
            </a:br>
            <a:r>
              <a:rPr lang="en-US" sz="3200" dirty="0">
                <a:solidFill>
                  <a:schemeClr val="accent6">
                    <a:lumMod val="75000"/>
                  </a:schemeClr>
                </a:solidFill>
                <a:latin typeface="Comic Sans MS" panose="030F0702030302020204" pitchFamily="66" charset="0"/>
                <a:ea typeface="Cambria Math" panose="02040503050406030204" pitchFamily="18" charset="0"/>
              </a:rPr>
              <a:t>University of Management and Technology</a:t>
            </a:r>
            <a:br>
              <a:rPr lang="en-US" sz="3200" dirty="0">
                <a:solidFill>
                  <a:schemeClr val="accent6">
                    <a:lumMod val="75000"/>
                  </a:schemeClr>
                </a:solidFill>
                <a:latin typeface="Comic Sans MS" panose="030F0702030302020204" pitchFamily="66" charset="0"/>
                <a:ea typeface="Cambria Math" panose="02040503050406030204" pitchFamily="18" charset="0"/>
              </a:rPr>
            </a:br>
            <a:r>
              <a:rPr lang="en-US" sz="3200" dirty="0">
                <a:solidFill>
                  <a:schemeClr val="accent6">
                    <a:lumMod val="75000"/>
                  </a:schemeClr>
                </a:solidFill>
                <a:latin typeface="Comic Sans MS" panose="030F0702030302020204" pitchFamily="66" charset="0"/>
                <a:ea typeface="Cambria Math" panose="02040503050406030204" pitchFamily="18" charset="0"/>
              </a:rPr>
              <a:t>Lahore, Pakistan</a:t>
            </a:r>
          </a:p>
        </p:txBody>
      </p:sp>
      <p:pic>
        <p:nvPicPr>
          <p:cNvPr id="6" name="Picture 5">
            <a:extLst>
              <a:ext uri="{FF2B5EF4-FFF2-40B4-BE49-F238E27FC236}">
                <a16:creationId xmlns:a16="http://schemas.microsoft.com/office/drawing/2014/main" id="{C01BB6BA-659C-4C58-A7BC-E779ADA85127}"/>
              </a:ext>
            </a:extLst>
          </p:cNvPr>
          <p:cNvPicPr>
            <a:picLocks noChangeAspect="1"/>
          </p:cNvPicPr>
          <p:nvPr/>
        </p:nvPicPr>
        <p:blipFill>
          <a:blip r:embed="rId2"/>
          <a:stretch>
            <a:fillRect/>
          </a:stretch>
        </p:blipFill>
        <p:spPr>
          <a:xfrm>
            <a:off x="460375" y="223319"/>
            <a:ext cx="2220849" cy="2228277"/>
          </a:xfrm>
          <a:prstGeom prst="rect">
            <a:avLst/>
          </a:prstGeom>
        </p:spPr>
      </p:pic>
    </p:spTree>
    <p:extLst>
      <p:ext uri="{BB962C8B-B14F-4D97-AF65-F5344CB8AC3E}">
        <p14:creationId xmlns:p14="http://schemas.microsoft.com/office/powerpoint/2010/main" val="38157802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22F2B-2D78-EB56-E02E-F61CF209E0F3}"/>
              </a:ext>
            </a:extLst>
          </p:cNvPr>
          <p:cNvSpPr>
            <a:spLocks noGrp="1"/>
          </p:cNvSpPr>
          <p:nvPr>
            <p:ph type="title"/>
          </p:nvPr>
        </p:nvSpPr>
        <p:spPr>
          <a:xfrm>
            <a:off x="3168306" y="1919910"/>
            <a:ext cx="5559552" cy="2533075"/>
          </a:xfrm>
        </p:spPr>
        <p:txBody>
          <a:bodyPr>
            <a:normAutofit/>
          </a:bodyPr>
          <a:lstStyle/>
          <a:p>
            <a:r>
              <a:rPr lang="en-US" sz="4800" dirty="0">
                <a:latin typeface="Cambria Math" panose="02040503050406030204" pitchFamily="18" charset="0"/>
                <a:ea typeface="Cambria Math" panose="02040503050406030204" pitchFamily="18" charset="0"/>
              </a:rPr>
              <a:t>Section 6.1</a:t>
            </a:r>
            <a:br>
              <a:rPr lang="en-US" sz="4800" dirty="0">
                <a:latin typeface="Cambria Math" panose="02040503050406030204" pitchFamily="18" charset="0"/>
                <a:ea typeface="Cambria Math" panose="02040503050406030204" pitchFamily="18" charset="0"/>
              </a:rPr>
            </a:br>
            <a:r>
              <a:rPr lang="en-US" dirty="0">
                <a:latin typeface="Cambria Math" panose="02040503050406030204" pitchFamily="18" charset="0"/>
                <a:ea typeface="Cambria Math" panose="02040503050406030204" pitchFamily="18" charset="0"/>
              </a:rPr>
              <a:t> </a:t>
            </a:r>
            <a:br>
              <a:rPr lang="en-US" dirty="0">
                <a:latin typeface="Cambria Math" panose="02040503050406030204" pitchFamily="18" charset="0"/>
                <a:ea typeface="Cambria Math" panose="02040503050406030204" pitchFamily="18" charset="0"/>
              </a:rPr>
            </a:br>
            <a:r>
              <a:rPr lang="en-US" dirty="0">
                <a:latin typeface="Cambria Math" panose="02040503050406030204" pitchFamily="18" charset="0"/>
                <a:ea typeface="Cambria Math" panose="02040503050406030204" pitchFamily="18" charset="0"/>
              </a:rPr>
              <a:t>Counting</a:t>
            </a:r>
            <a:endParaRPr lang="en-PK"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787434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98DAE1-0807-7085-120F-67583B1F0E0F}"/>
              </a:ext>
            </a:extLst>
          </p:cNvPr>
          <p:cNvSpPr>
            <a:spLocks noGrp="1"/>
          </p:cNvSpPr>
          <p:nvPr>
            <p:ph idx="1"/>
          </p:nvPr>
        </p:nvSpPr>
        <p:spPr>
          <a:xfrm>
            <a:off x="601841" y="1090549"/>
            <a:ext cx="10903527" cy="5338575"/>
          </a:xfrm>
        </p:spPr>
        <p:txBody>
          <a:bodyPr>
            <a:normAutofit/>
          </a:bodyPr>
          <a:lstStyle/>
          <a:p>
            <a:pPr marL="0" indent="0" algn="just">
              <a:buNone/>
            </a:pPr>
            <a:r>
              <a:rPr lang="en-US" sz="2400" dirty="0">
                <a:solidFill>
                  <a:srgbClr val="FF0000"/>
                </a:solidFill>
                <a:latin typeface="Cambria Math" panose="02040503050406030204" pitchFamily="18" charset="0"/>
                <a:ea typeface="Cambria Math" panose="02040503050406030204" pitchFamily="18" charset="0"/>
              </a:rPr>
              <a:t>Combinatorics </a:t>
            </a:r>
            <a:r>
              <a:rPr lang="en-US" sz="2400" dirty="0">
                <a:latin typeface="Cambria Math" panose="02040503050406030204" pitchFamily="18" charset="0"/>
                <a:ea typeface="Cambria Math" panose="02040503050406030204" pitchFamily="18" charset="0"/>
              </a:rPr>
              <a:t>is the mathematics of </a:t>
            </a:r>
            <a:r>
              <a:rPr lang="en-US" sz="2400" dirty="0">
                <a:solidFill>
                  <a:srgbClr val="FF0000"/>
                </a:solidFill>
                <a:latin typeface="Cambria Math" panose="02040503050406030204" pitchFamily="18" charset="0"/>
                <a:ea typeface="Cambria Math" panose="02040503050406030204" pitchFamily="18" charset="0"/>
              </a:rPr>
              <a:t>counting and arranging objects.</a:t>
            </a:r>
          </a:p>
          <a:p>
            <a:pPr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In </a:t>
            </a:r>
            <a:r>
              <a:rPr lang="en-US" sz="2400" dirty="0">
                <a:solidFill>
                  <a:srgbClr val="FF0000"/>
                </a:solidFill>
                <a:latin typeface="Cambria Math" panose="02040503050406030204" pitchFamily="18" charset="0"/>
                <a:ea typeface="Cambria Math" panose="02040503050406030204" pitchFamily="18" charset="0"/>
              </a:rPr>
              <a:t>combinatorics</a:t>
            </a:r>
            <a:r>
              <a:rPr lang="en-US" sz="2400" dirty="0">
                <a:latin typeface="Cambria Math" panose="02040503050406030204" pitchFamily="18" charset="0"/>
                <a:ea typeface="Cambria Math" panose="02040503050406030204" pitchFamily="18" charset="0"/>
              </a:rPr>
              <a:t> we generally solved </a:t>
            </a:r>
            <a:r>
              <a:rPr lang="en-US" sz="2400" dirty="0">
                <a:solidFill>
                  <a:srgbClr val="FF0000"/>
                </a:solidFill>
                <a:latin typeface="Cambria Math" panose="02040503050406030204" pitchFamily="18" charset="0"/>
                <a:ea typeface="Cambria Math" panose="02040503050406030204" pitchFamily="18" charset="0"/>
              </a:rPr>
              <a:t>counting</a:t>
            </a:r>
            <a:r>
              <a:rPr lang="en-US" sz="2400" dirty="0">
                <a:latin typeface="Cambria Math" panose="02040503050406030204" pitchFamily="18" charset="0"/>
                <a:ea typeface="Cambria Math" panose="02040503050406030204" pitchFamily="18" charset="0"/>
              </a:rPr>
              <a:t> problems. Following are few examples of counting related problems:</a:t>
            </a:r>
          </a:p>
          <a:p>
            <a:pPr lvl="1" algn="just">
              <a:buFont typeface="Wingdings" panose="05000000000000000000" pitchFamily="2" charset="2"/>
              <a:buChar char="v"/>
            </a:pPr>
            <a:r>
              <a:rPr lang="en-US" sz="2000" dirty="0">
                <a:solidFill>
                  <a:schemeClr val="accent5">
                    <a:lumMod val="75000"/>
                  </a:schemeClr>
                </a:solidFill>
                <a:latin typeface="Cambria Math" panose="02040503050406030204" pitchFamily="18" charset="0"/>
                <a:ea typeface="Cambria Math" panose="02040503050406030204" pitchFamily="18" charset="0"/>
              </a:rPr>
              <a:t>How many courses have you taken in current semester?</a:t>
            </a:r>
          </a:p>
          <a:p>
            <a:pPr lvl="1" algn="just">
              <a:buFont typeface="Wingdings" panose="05000000000000000000" pitchFamily="2" charset="2"/>
              <a:buChar char="v"/>
            </a:pPr>
            <a:r>
              <a:rPr lang="en-US" sz="2000" dirty="0">
                <a:solidFill>
                  <a:schemeClr val="accent5">
                    <a:lumMod val="75000"/>
                  </a:schemeClr>
                </a:solidFill>
                <a:latin typeface="Cambria Math" panose="02040503050406030204" pitchFamily="18" charset="0"/>
                <a:ea typeface="Cambria Math" panose="02040503050406030204" pitchFamily="18" charset="0"/>
              </a:rPr>
              <a:t>If a course can consist of three or four credits hours, what is the maximum credit hours one can clear by passing ten courses.</a:t>
            </a:r>
          </a:p>
          <a:p>
            <a:pPr lvl="1" algn="just">
              <a:buFont typeface="Wingdings" panose="05000000000000000000" pitchFamily="2" charset="2"/>
              <a:buChar char="v"/>
            </a:pPr>
            <a:r>
              <a:rPr lang="en-US" sz="2000" dirty="0">
                <a:solidFill>
                  <a:schemeClr val="accent5">
                    <a:lumMod val="75000"/>
                  </a:schemeClr>
                </a:solidFill>
                <a:latin typeface="Cambria Math" panose="02040503050406030204" pitchFamily="18" charset="0"/>
                <a:ea typeface="Cambria Math" panose="02040503050406030204" pitchFamily="18" charset="0"/>
              </a:rPr>
              <a:t>If Ali has invited five of his friends on his birthday and every guest shakes hands with every other guest and the host, how many shake hands will take place?</a:t>
            </a:r>
          </a:p>
          <a:p>
            <a:pPr lvl="1" algn="just">
              <a:buFont typeface="Wingdings" panose="05000000000000000000" pitchFamily="2" charset="2"/>
              <a:buChar char="v"/>
            </a:pPr>
            <a:r>
              <a:rPr lang="en-US" sz="2000" dirty="0">
                <a:solidFill>
                  <a:schemeClr val="accent5">
                    <a:lumMod val="75000"/>
                  </a:schemeClr>
                </a:solidFill>
                <a:latin typeface="Cambria Math" panose="02040503050406030204" pitchFamily="18" charset="0"/>
                <a:ea typeface="Cambria Math" panose="02040503050406030204" pitchFamily="18" charset="0"/>
              </a:rPr>
              <a:t>If we have a bit string consisting of ten bits, how many different ways the string can be formed with last bit as ‘1’?</a:t>
            </a:r>
            <a:endParaRPr lang="en-US" dirty="0">
              <a:latin typeface="Cambria Math" panose="02040503050406030204" pitchFamily="18" charset="0"/>
              <a:ea typeface="Cambria Math" panose="02040503050406030204" pitchFamily="18" charset="0"/>
            </a:endParaRPr>
          </a:p>
          <a:p>
            <a:pPr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Counting problems can be both easy and hard depending upon different factors.</a:t>
            </a:r>
          </a:p>
          <a:p>
            <a:pPr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In </a:t>
            </a:r>
            <a:r>
              <a:rPr lang="en-US" sz="2400" dirty="0">
                <a:solidFill>
                  <a:srgbClr val="FF0000"/>
                </a:solidFill>
                <a:latin typeface="Cambria Math" panose="02040503050406030204" pitchFamily="18" charset="0"/>
                <a:ea typeface="Cambria Math" panose="02040503050406030204" pitchFamily="18" charset="0"/>
              </a:rPr>
              <a:t>counting problem</a:t>
            </a:r>
            <a:r>
              <a:rPr lang="en-US" sz="2400" dirty="0">
                <a:latin typeface="Cambria Math" panose="02040503050406030204" pitchFamily="18" charset="0"/>
                <a:ea typeface="Cambria Math" panose="02040503050406030204" pitchFamily="18" charset="0"/>
              </a:rPr>
              <a:t> the </a:t>
            </a:r>
            <a:r>
              <a:rPr lang="en-US" sz="2400" dirty="0">
                <a:solidFill>
                  <a:srgbClr val="FF0000"/>
                </a:solidFill>
                <a:latin typeface="Cambria Math" panose="02040503050406030204" pitchFamily="18" charset="0"/>
                <a:ea typeface="Cambria Math" panose="02040503050406030204" pitchFamily="18" charset="0"/>
              </a:rPr>
              <a:t>important step</a:t>
            </a:r>
            <a:r>
              <a:rPr lang="en-US" sz="2400" dirty="0">
                <a:latin typeface="Cambria Math" panose="02040503050406030204" pitchFamily="18" charset="0"/>
                <a:ea typeface="Cambria Math" panose="02040503050406030204" pitchFamily="18" charset="0"/>
              </a:rPr>
              <a:t> is to realize which constraints are applied while we are counting, keep that in control will enable you to solve the actual problem easily.</a:t>
            </a:r>
          </a:p>
          <a:p>
            <a:pPr marL="0" indent="0" algn="just">
              <a:buNone/>
            </a:pPr>
            <a:endParaRPr lang="en-US" dirty="0"/>
          </a:p>
        </p:txBody>
      </p:sp>
      <p:sp>
        <p:nvSpPr>
          <p:cNvPr id="4" name="Title 1">
            <a:extLst>
              <a:ext uri="{FF2B5EF4-FFF2-40B4-BE49-F238E27FC236}">
                <a16:creationId xmlns:a16="http://schemas.microsoft.com/office/drawing/2014/main" id="{7192C147-800A-407C-B48E-86E1A13F7E1E}"/>
              </a:ext>
            </a:extLst>
          </p:cNvPr>
          <p:cNvSpPr txBox="1">
            <a:spLocks/>
          </p:cNvSpPr>
          <p:nvPr/>
        </p:nvSpPr>
        <p:spPr>
          <a:xfrm>
            <a:off x="601841" y="0"/>
            <a:ext cx="10515600" cy="8367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u="sng" dirty="0">
                <a:solidFill>
                  <a:srgbClr val="0070C0"/>
                </a:solidFill>
              </a:rPr>
              <a:t>Combinatorics</a:t>
            </a:r>
          </a:p>
        </p:txBody>
      </p:sp>
    </p:spTree>
    <p:extLst>
      <p:ext uri="{BB962C8B-B14F-4D97-AF65-F5344CB8AC3E}">
        <p14:creationId xmlns:p14="http://schemas.microsoft.com/office/powerpoint/2010/main" val="2768604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93776" y="0"/>
            <a:ext cx="10515600" cy="1325563"/>
          </a:xfrm>
        </p:spPr>
        <p:txBody>
          <a:bodyPr>
            <a:normAutofit/>
          </a:bodyPr>
          <a:lstStyle/>
          <a:p>
            <a:pPr algn="ctr"/>
            <a:r>
              <a:rPr lang="en-US" b="1" u="sng" dirty="0">
                <a:solidFill>
                  <a:srgbClr val="0070C0"/>
                </a:solidFill>
              </a:rPr>
              <a:t>BASIC COUNTING PRINCIPLES</a:t>
            </a:r>
          </a:p>
        </p:txBody>
      </p:sp>
      <p:sp>
        <p:nvSpPr>
          <p:cNvPr id="7171" name="Rectangle 3"/>
          <p:cNvSpPr>
            <a:spLocks noGrp="1" noChangeArrowheads="1"/>
          </p:cNvSpPr>
          <p:nvPr>
            <p:ph sz="quarter" idx="1"/>
          </p:nvPr>
        </p:nvSpPr>
        <p:spPr>
          <a:xfrm>
            <a:off x="1179576" y="1499129"/>
            <a:ext cx="9829800" cy="3859742"/>
          </a:xfrm>
        </p:spPr>
        <p:txBody>
          <a:bodyPr>
            <a:normAutofit/>
          </a:bodyPr>
          <a:lstStyle/>
          <a:p>
            <a:pPr marL="0" indent="0">
              <a:buNone/>
            </a:pPr>
            <a:r>
              <a:rPr lang="en-US" dirty="0"/>
              <a:t>The two basic</a:t>
            </a:r>
            <a:r>
              <a:rPr lang="en-US" dirty="0">
                <a:solidFill>
                  <a:srgbClr val="C00000"/>
                </a:solidFill>
              </a:rPr>
              <a:t> counting principles </a:t>
            </a:r>
            <a:r>
              <a:rPr lang="en-US" dirty="0"/>
              <a:t>are:</a:t>
            </a:r>
          </a:p>
          <a:p>
            <a:endParaRPr lang="en-US" dirty="0">
              <a:solidFill>
                <a:srgbClr val="C00000"/>
              </a:solidFill>
            </a:endParaRPr>
          </a:p>
          <a:p>
            <a:r>
              <a:rPr lang="en-US" dirty="0">
                <a:solidFill>
                  <a:srgbClr val="C00000"/>
                </a:solidFill>
              </a:rPr>
              <a:t>Product Rule</a:t>
            </a:r>
          </a:p>
          <a:p>
            <a:r>
              <a:rPr lang="en-US" dirty="0">
                <a:solidFill>
                  <a:srgbClr val="C00000"/>
                </a:solidFill>
              </a:rPr>
              <a:t>Sum Rule</a:t>
            </a:r>
          </a:p>
          <a:p>
            <a:endParaRPr lang="en-US" dirty="0">
              <a:solidFill>
                <a:srgbClr val="C00000"/>
              </a:solidFill>
            </a:endParaRPr>
          </a:p>
          <a:p>
            <a:pPr marL="0" indent="0">
              <a:buNone/>
            </a:pPr>
            <a:r>
              <a:rPr lang="en-US" dirty="0"/>
              <a:t>They can be used to solve many different</a:t>
            </a:r>
            <a:r>
              <a:rPr lang="en-US" dirty="0">
                <a:solidFill>
                  <a:srgbClr val="C00000"/>
                </a:solidFill>
              </a:rPr>
              <a:t> counting problems</a:t>
            </a:r>
            <a:r>
              <a:rPr lang="en-US" dirty="0"/>
              <a:t>.</a:t>
            </a:r>
          </a:p>
          <a:p>
            <a:endParaRPr lang="en-US" dirty="0">
              <a:solidFill>
                <a:srgbClr val="C00000"/>
              </a:solidFill>
            </a:endParaRPr>
          </a:p>
          <a:p>
            <a:endParaRPr lang="en-US" dirty="0"/>
          </a:p>
          <a:p>
            <a:pPr>
              <a:buNone/>
            </a:pPr>
            <a:endParaRPr lang="en-US" dirty="0"/>
          </a:p>
          <a:p>
            <a:endParaRPr 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fade">
                                      <p:cBhvr>
                                        <p:cTn id="7" dur="2000"/>
                                        <p:tgtEl>
                                          <p:spTgt spid="71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171">
                                            <p:txEl>
                                              <p:pRg st="2" end="2"/>
                                            </p:txEl>
                                          </p:spTgt>
                                        </p:tgtEl>
                                        <p:attrNameLst>
                                          <p:attrName>style.visibility</p:attrName>
                                        </p:attrNameLst>
                                      </p:cBhvr>
                                      <p:to>
                                        <p:strVal val="visible"/>
                                      </p:to>
                                    </p:set>
                                    <p:animEffect transition="in" filter="fade">
                                      <p:cBhvr>
                                        <p:cTn id="12" dur="2000"/>
                                        <p:tgtEl>
                                          <p:spTgt spid="717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171">
                                            <p:txEl>
                                              <p:pRg st="3" end="3"/>
                                            </p:txEl>
                                          </p:spTgt>
                                        </p:tgtEl>
                                        <p:attrNameLst>
                                          <p:attrName>style.visibility</p:attrName>
                                        </p:attrNameLst>
                                      </p:cBhvr>
                                      <p:to>
                                        <p:strVal val="visible"/>
                                      </p:to>
                                    </p:set>
                                    <p:animEffect transition="in" filter="fade">
                                      <p:cBhvr>
                                        <p:cTn id="17" dur="2000"/>
                                        <p:tgtEl>
                                          <p:spTgt spid="717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171">
                                            <p:txEl>
                                              <p:pRg st="5" end="5"/>
                                            </p:txEl>
                                          </p:spTgt>
                                        </p:tgtEl>
                                        <p:attrNameLst>
                                          <p:attrName>style.visibility</p:attrName>
                                        </p:attrNameLst>
                                      </p:cBhvr>
                                      <p:to>
                                        <p:strVal val="visible"/>
                                      </p:to>
                                    </p:set>
                                    <p:animEffect transition="in" filter="fade">
                                      <p:cBhvr>
                                        <p:cTn id="22" dur="2000"/>
                                        <p:tgtEl>
                                          <p:spTgt spid="717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B542C-82A2-62DB-A15F-EF0CB291691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AE922C-DB15-4909-0B9B-BAE0C019EA82}"/>
              </a:ext>
            </a:extLst>
          </p:cNvPr>
          <p:cNvSpPr>
            <a:spLocks noGrp="1"/>
          </p:cNvSpPr>
          <p:nvPr>
            <p:ph idx="1"/>
          </p:nvPr>
        </p:nvSpPr>
        <p:spPr>
          <a:xfrm>
            <a:off x="838201" y="1121175"/>
            <a:ext cx="10515598" cy="2497369"/>
          </a:xfrm>
        </p:spPr>
        <p:txBody>
          <a:bodyPr>
            <a:normAutofit/>
          </a:bodyPr>
          <a:lstStyle/>
          <a:p>
            <a:pPr marL="0" indent="0" algn="just">
              <a:lnSpc>
                <a:spcPct val="150000"/>
              </a:lnSpc>
              <a:buNone/>
            </a:pPr>
            <a:r>
              <a:rPr lang="en-US" dirty="0">
                <a:latin typeface="Cambria Math" panose="02040503050406030204" pitchFamily="18" charset="0"/>
                <a:ea typeface="Cambria Math" panose="02040503050406030204" pitchFamily="18" charset="0"/>
              </a:rPr>
              <a:t>If </a:t>
            </a:r>
            <a:r>
              <a:rPr lang="en-US" dirty="0">
                <a:solidFill>
                  <a:srgbClr val="FF0000"/>
                </a:solidFill>
                <a:latin typeface="Cambria Math" panose="02040503050406030204" pitchFamily="18" charset="0"/>
                <a:ea typeface="Cambria Math" panose="02040503050406030204" pitchFamily="18" charset="0"/>
              </a:rPr>
              <a:t>a supervisor </a:t>
            </a:r>
            <a:r>
              <a:rPr lang="en-US" dirty="0">
                <a:latin typeface="Cambria Math" panose="02040503050406030204" pitchFamily="18" charset="0"/>
                <a:ea typeface="Cambria Math" panose="02040503050406030204" pitchFamily="18" charset="0"/>
              </a:rPr>
              <a:t>has </a:t>
            </a:r>
            <a:r>
              <a:rPr lang="en-US" dirty="0">
                <a:solidFill>
                  <a:srgbClr val="FF0000"/>
                </a:solidFill>
                <a:latin typeface="Cambria Math" panose="02040503050406030204" pitchFamily="18" charset="0"/>
                <a:ea typeface="Cambria Math" panose="02040503050406030204" pitchFamily="18" charset="0"/>
              </a:rPr>
              <a:t>two workers </a:t>
            </a:r>
            <a:r>
              <a:rPr lang="en-US" dirty="0">
                <a:latin typeface="Cambria Math" panose="02040503050406030204" pitchFamily="18" charset="0"/>
                <a:ea typeface="Cambria Math" panose="02040503050406030204" pitchFamily="18" charset="0"/>
              </a:rPr>
              <a:t>each of which can work on the task and complete it. </a:t>
            </a:r>
          </a:p>
          <a:p>
            <a:pPr marL="0" indent="0" algn="just">
              <a:lnSpc>
                <a:spcPct val="150000"/>
              </a:lnSpc>
              <a:buNone/>
            </a:pPr>
            <a:r>
              <a:rPr lang="en-US" dirty="0">
                <a:latin typeface="Cambria Math" panose="02040503050406030204" pitchFamily="18" charset="0"/>
                <a:ea typeface="Cambria Math" panose="02040503050406030204" pitchFamily="18" charset="0"/>
              </a:rPr>
              <a:t>How many </a:t>
            </a:r>
            <a:r>
              <a:rPr lang="en-US" dirty="0">
                <a:solidFill>
                  <a:srgbClr val="FF0000"/>
                </a:solidFill>
                <a:latin typeface="Cambria Math" panose="02040503050406030204" pitchFamily="18" charset="0"/>
                <a:ea typeface="Cambria Math" panose="02040503050406030204" pitchFamily="18" charset="0"/>
              </a:rPr>
              <a:t>different ways </a:t>
            </a:r>
            <a:r>
              <a:rPr lang="en-US" dirty="0">
                <a:latin typeface="Cambria Math" panose="02040503050406030204" pitchFamily="18" charset="0"/>
                <a:ea typeface="Cambria Math" panose="02040503050406030204" pitchFamily="18" charset="0"/>
              </a:rPr>
              <a:t>are available to finish the task?</a:t>
            </a:r>
          </a:p>
        </p:txBody>
      </p:sp>
      <p:sp>
        <p:nvSpPr>
          <p:cNvPr id="5" name="TextBox 4">
            <a:extLst>
              <a:ext uri="{FF2B5EF4-FFF2-40B4-BE49-F238E27FC236}">
                <a16:creationId xmlns:a16="http://schemas.microsoft.com/office/drawing/2014/main" id="{51CE4CD0-F5B2-127B-54FE-E1537D0CB72E}"/>
              </a:ext>
            </a:extLst>
          </p:cNvPr>
          <p:cNvSpPr txBox="1"/>
          <p:nvPr/>
        </p:nvSpPr>
        <p:spPr>
          <a:xfrm>
            <a:off x="838200" y="3618545"/>
            <a:ext cx="10515599" cy="1815882"/>
          </a:xfrm>
          <a:prstGeom prst="rect">
            <a:avLst/>
          </a:prstGeom>
          <a:noFill/>
        </p:spPr>
        <p:txBody>
          <a:bodyPr wrap="square">
            <a:spAutoFit/>
          </a:bodyPr>
          <a:lstStyle/>
          <a:p>
            <a:pPr marL="0" indent="0" algn="just">
              <a:buNone/>
            </a:pPr>
            <a:r>
              <a:rPr lang="en-US" sz="3200" b="1" u="sng" dirty="0">
                <a:solidFill>
                  <a:srgbClr val="0070C0"/>
                </a:solidFill>
                <a:latin typeface="+mj-lt"/>
                <a:ea typeface="+mj-ea"/>
                <a:cs typeface="+mj-cs"/>
              </a:rPr>
              <a:t>Solution:</a:t>
            </a:r>
          </a:p>
          <a:p>
            <a:pPr marL="0" indent="0" algn="just">
              <a:buNone/>
            </a:pPr>
            <a:endParaRPr lang="en-US" sz="2400" b="1" u="sng" dirty="0">
              <a:solidFill>
                <a:srgbClr val="0070C0"/>
              </a:solidFill>
              <a:latin typeface="+mj-lt"/>
              <a:ea typeface="+mj-ea"/>
              <a:cs typeface="+mj-cs"/>
            </a:endParaRPr>
          </a:p>
          <a:p>
            <a:pPr marL="0" indent="0" algn="just">
              <a:buNone/>
            </a:pPr>
            <a:r>
              <a:rPr lang="en-US" sz="2800" dirty="0">
                <a:latin typeface="Cambria Math" panose="02040503050406030204" pitchFamily="18" charset="0"/>
                <a:ea typeface="Cambria Math" panose="02040503050406030204" pitchFamily="18" charset="0"/>
              </a:rPr>
              <a:t>There are two ways to finish the task one through first worker and the second through the other worker.</a:t>
            </a:r>
          </a:p>
        </p:txBody>
      </p:sp>
      <p:sp>
        <p:nvSpPr>
          <p:cNvPr id="7" name="Rectangle 2">
            <a:extLst>
              <a:ext uri="{FF2B5EF4-FFF2-40B4-BE49-F238E27FC236}">
                <a16:creationId xmlns:a16="http://schemas.microsoft.com/office/drawing/2014/main" id="{E276DF0C-FBC7-4036-8807-72831CFE5CF8}"/>
              </a:ext>
            </a:extLst>
          </p:cNvPr>
          <p:cNvSpPr txBox="1">
            <a:spLocks noChangeArrowheads="1"/>
          </p:cNvSpPr>
          <p:nvPr/>
        </p:nvSpPr>
        <p:spPr>
          <a:xfrm>
            <a:off x="643405" y="13654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u="sng" dirty="0">
                <a:solidFill>
                  <a:srgbClr val="0070C0"/>
                </a:solidFill>
              </a:rPr>
              <a:t>EXAMPLE</a:t>
            </a:r>
          </a:p>
        </p:txBody>
      </p:sp>
    </p:spTree>
    <p:extLst>
      <p:ext uri="{BB962C8B-B14F-4D97-AF65-F5344CB8AC3E}">
        <p14:creationId xmlns:p14="http://schemas.microsoft.com/office/powerpoint/2010/main" val="3754903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22623" y="0"/>
            <a:ext cx="10515600" cy="1325563"/>
          </a:xfrm>
        </p:spPr>
        <p:txBody>
          <a:bodyPr>
            <a:normAutofit/>
          </a:bodyPr>
          <a:lstStyle/>
          <a:p>
            <a:pPr algn="ctr"/>
            <a:r>
              <a:rPr lang="en-US" b="1" u="sng" dirty="0">
                <a:solidFill>
                  <a:srgbClr val="0070C0"/>
                </a:solidFill>
              </a:rPr>
              <a:t>EXAMPLE</a:t>
            </a:r>
          </a:p>
        </p:txBody>
      </p:sp>
      <p:sp>
        <p:nvSpPr>
          <p:cNvPr id="8195" name="Rectangle 3"/>
          <p:cNvSpPr>
            <a:spLocks noGrp="1" noChangeArrowheads="1"/>
          </p:cNvSpPr>
          <p:nvPr>
            <p:ph sz="quarter" idx="1"/>
          </p:nvPr>
        </p:nvSpPr>
        <p:spPr>
          <a:xfrm>
            <a:off x="852055" y="1219200"/>
            <a:ext cx="11159835" cy="5638800"/>
          </a:xfrm>
        </p:spPr>
        <p:txBody>
          <a:bodyPr>
            <a:normAutofit/>
          </a:bodyPr>
          <a:lstStyle/>
          <a:p>
            <a:r>
              <a:rPr lang="en-US" dirty="0"/>
              <a:t>Your </a:t>
            </a:r>
            <a:r>
              <a:rPr lang="en-US" dirty="0">
                <a:solidFill>
                  <a:srgbClr val="FF0000"/>
                </a:solidFill>
              </a:rPr>
              <a:t>institute</a:t>
            </a:r>
            <a:r>
              <a:rPr lang="en-US" dirty="0"/>
              <a:t> is offering </a:t>
            </a:r>
            <a:r>
              <a:rPr lang="en-US" dirty="0">
                <a:solidFill>
                  <a:srgbClr val="FF0000"/>
                </a:solidFill>
              </a:rPr>
              <a:t>7</a:t>
            </a:r>
            <a:r>
              <a:rPr lang="en-US" dirty="0"/>
              <a:t> courses in </a:t>
            </a:r>
            <a:r>
              <a:rPr lang="en-US" dirty="0">
                <a:solidFill>
                  <a:srgbClr val="FF0000"/>
                </a:solidFill>
              </a:rPr>
              <a:t>computer science</a:t>
            </a:r>
            <a:r>
              <a:rPr lang="en-US" dirty="0"/>
              <a:t> and </a:t>
            </a:r>
            <a:r>
              <a:rPr lang="en-US" dirty="0">
                <a:solidFill>
                  <a:srgbClr val="FF0000"/>
                </a:solidFill>
              </a:rPr>
              <a:t>3</a:t>
            </a:r>
            <a:r>
              <a:rPr lang="en-US" dirty="0"/>
              <a:t> courses in </a:t>
            </a:r>
            <a:r>
              <a:rPr lang="en-US" dirty="0">
                <a:solidFill>
                  <a:srgbClr val="FF0000"/>
                </a:solidFill>
              </a:rPr>
              <a:t>mathematics</a:t>
            </a:r>
            <a:r>
              <a:rPr lang="en-US" dirty="0"/>
              <a:t>. You are asked to </a:t>
            </a:r>
            <a:r>
              <a:rPr lang="en-US" dirty="0">
                <a:solidFill>
                  <a:srgbClr val="FF0000"/>
                </a:solidFill>
              </a:rPr>
              <a:t>choose</a:t>
            </a:r>
            <a:r>
              <a:rPr lang="en-US" dirty="0"/>
              <a:t> only </a:t>
            </a:r>
            <a:r>
              <a:rPr lang="en-US" dirty="0">
                <a:solidFill>
                  <a:srgbClr val="FF0000"/>
                </a:solidFill>
              </a:rPr>
              <a:t>one</a:t>
            </a:r>
            <a:r>
              <a:rPr lang="en-US" dirty="0"/>
              <a:t> course.</a:t>
            </a:r>
          </a:p>
          <a:p>
            <a:r>
              <a:rPr lang="en-US" dirty="0"/>
              <a:t>How </a:t>
            </a:r>
            <a:r>
              <a:rPr lang="en-US" dirty="0">
                <a:solidFill>
                  <a:srgbClr val="FF0000"/>
                </a:solidFill>
              </a:rPr>
              <a:t>many choices</a:t>
            </a:r>
            <a:r>
              <a:rPr lang="en-US" dirty="0"/>
              <a:t> you have? </a:t>
            </a:r>
          </a:p>
          <a:p>
            <a:endParaRPr lang="en-US" dirty="0"/>
          </a:p>
          <a:p>
            <a:r>
              <a:rPr lang="en-US" dirty="0"/>
              <a:t>You can select either </a:t>
            </a:r>
            <a:r>
              <a:rPr lang="en-US" dirty="0">
                <a:solidFill>
                  <a:srgbClr val="FF0000"/>
                </a:solidFill>
              </a:rPr>
              <a:t>one</a:t>
            </a:r>
            <a:r>
              <a:rPr lang="en-US" dirty="0"/>
              <a:t> computer science course or mathematics.</a:t>
            </a:r>
          </a:p>
          <a:p>
            <a:pPr>
              <a:buNone/>
            </a:pPr>
            <a:r>
              <a:rPr lang="en-US" dirty="0"/>
              <a:t>			7 </a:t>
            </a:r>
            <a:r>
              <a:rPr lang="en-US" dirty="0" err="1"/>
              <a:t>cs</a:t>
            </a:r>
            <a:r>
              <a:rPr lang="en-US" dirty="0"/>
              <a:t> courses = </a:t>
            </a:r>
            <a:r>
              <a:rPr lang="en-US" dirty="0">
                <a:solidFill>
                  <a:srgbClr val="FF0000"/>
                </a:solidFill>
              </a:rPr>
              <a:t>7 choices</a:t>
            </a:r>
          </a:p>
          <a:p>
            <a:pPr>
              <a:buNone/>
            </a:pPr>
            <a:r>
              <a:rPr lang="en-US" dirty="0"/>
              <a:t>			3 math courses = </a:t>
            </a:r>
            <a:r>
              <a:rPr lang="en-US" dirty="0">
                <a:solidFill>
                  <a:srgbClr val="FF0000"/>
                </a:solidFill>
              </a:rPr>
              <a:t>3 choices</a:t>
            </a:r>
          </a:p>
          <a:p>
            <a:pPr>
              <a:buNone/>
            </a:pPr>
            <a:r>
              <a:rPr lang="en-US" dirty="0"/>
              <a:t>	</a:t>
            </a:r>
            <a:r>
              <a:rPr lang="en-US" dirty="0">
                <a:solidFill>
                  <a:srgbClr val="FF0000"/>
                </a:solidFill>
              </a:rPr>
              <a:t>Total</a:t>
            </a:r>
            <a:r>
              <a:rPr lang="en-US" dirty="0"/>
              <a:t> number of </a:t>
            </a:r>
            <a:r>
              <a:rPr lang="en-US" dirty="0">
                <a:solidFill>
                  <a:srgbClr val="FF0000"/>
                </a:solidFill>
              </a:rPr>
              <a:t>choices</a:t>
            </a:r>
            <a:r>
              <a:rPr lang="en-US" dirty="0"/>
              <a:t> = </a:t>
            </a:r>
            <a:r>
              <a:rPr lang="en-US" dirty="0">
                <a:solidFill>
                  <a:srgbClr val="FF0000"/>
                </a:solidFill>
              </a:rPr>
              <a:t>7 + 3</a:t>
            </a:r>
            <a:r>
              <a:rPr lang="en-US" dirty="0"/>
              <a:t> (basically by applying sum rule)</a:t>
            </a:r>
          </a:p>
          <a:p>
            <a:endParaRPr lang="en-US" dirty="0"/>
          </a:p>
          <a:p>
            <a:pPr>
              <a:buNone/>
            </a:pPr>
            <a:endParaRPr 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fade">
                                      <p:cBhvr>
                                        <p:cTn id="7" dur="2000"/>
                                        <p:tgtEl>
                                          <p:spTgt spid="819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195">
                                            <p:txEl>
                                              <p:pRg st="1" end="1"/>
                                            </p:txEl>
                                          </p:spTgt>
                                        </p:tgtEl>
                                        <p:attrNameLst>
                                          <p:attrName>style.visibility</p:attrName>
                                        </p:attrNameLst>
                                      </p:cBhvr>
                                      <p:to>
                                        <p:strVal val="visible"/>
                                      </p:to>
                                    </p:set>
                                    <p:animEffect transition="in" filter="fade">
                                      <p:cBhvr>
                                        <p:cTn id="10" dur="2000"/>
                                        <p:tgtEl>
                                          <p:spTgt spid="819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195">
                                            <p:txEl>
                                              <p:pRg st="3" end="3"/>
                                            </p:txEl>
                                          </p:spTgt>
                                        </p:tgtEl>
                                        <p:attrNameLst>
                                          <p:attrName>style.visibility</p:attrName>
                                        </p:attrNameLst>
                                      </p:cBhvr>
                                      <p:to>
                                        <p:strVal val="visible"/>
                                      </p:to>
                                    </p:set>
                                    <p:animEffect transition="in" filter="fade">
                                      <p:cBhvr>
                                        <p:cTn id="15" dur="2000"/>
                                        <p:tgtEl>
                                          <p:spTgt spid="8195">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195">
                                            <p:txEl>
                                              <p:pRg st="4" end="4"/>
                                            </p:txEl>
                                          </p:spTgt>
                                        </p:tgtEl>
                                        <p:attrNameLst>
                                          <p:attrName>style.visibility</p:attrName>
                                        </p:attrNameLst>
                                      </p:cBhvr>
                                      <p:to>
                                        <p:strVal val="visible"/>
                                      </p:to>
                                    </p:set>
                                    <p:animEffect transition="in" filter="fade">
                                      <p:cBhvr>
                                        <p:cTn id="18" dur="2000"/>
                                        <p:tgtEl>
                                          <p:spTgt spid="8195">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195">
                                            <p:txEl>
                                              <p:pRg st="5" end="5"/>
                                            </p:txEl>
                                          </p:spTgt>
                                        </p:tgtEl>
                                        <p:attrNameLst>
                                          <p:attrName>style.visibility</p:attrName>
                                        </p:attrNameLst>
                                      </p:cBhvr>
                                      <p:to>
                                        <p:strVal val="visible"/>
                                      </p:to>
                                    </p:set>
                                    <p:animEffect transition="in" filter="fade">
                                      <p:cBhvr>
                                        <p:cTn id="21" dur="2000"/>
                                        <p:tgtEl>
                                          <p:spTgt spid="8195">
                                            <p:txEl>
                                              <p:pRg st="5" end="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195">
                                            <p:txEl>
                                              <p:pRg st="6" end="6"/>
                                            </p:txEl>
                                          </p:spTgt>
                                        </p:tgtEl>
                                        <p:attrNameLst>
                                          <p:attrName>style.visibility</p:attrName>
                                        </p:attrNameLst>
                                      </p:cBhvr>
                                      <p:to>
                                        <p:strVal val="visible"/>
                                      </p:to>
                                    </p:set>
                                    <p:animEffect transition="in" filter="fade">
                                      <p:cBhvr>
                                        <p:cTn id="24" dur="2000"/>
                                        <p:tgtEl>
                                          <p:spTgt spid="819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b="1" u="sng" dirty="0">
                <a:solidFill>
                  <a:srgbClr val="0070C0"/>
                </a:solidFill>
              </a:rPr>
              <a:t>THE SUM RULE</a:t>
            </a:r>
          </a:p>
        </p:txBody>
      </p:sp>
      <p:sp>
        <p:nvSpPr>
          <p:cNvPr id="4" name="Content Placeholder 3"/>
          <p:cNvSpPr>
            <a:spLocks noGrp="1"/>
          </p:cNvSpPr>
          <p:nvPr>
            <p:ph sz="quarter" idx="1"/>
          </p:nvPr>
        </p:nvSpPr>
        <p:spPr/>
        <p:txBody>
          <a:bodyPr>
            <a:normAutofit/>
          </a:bodyPr>
          <a:lstStyle/>
          <a:p>
            <a:r>
              <a:rPr lang="en-US" dirty="0"/>
              <a:t>If </a:t>
            </a:r>
            <a:r>
              <a:rPr lang="en-US" dirty="0">
                <a:solidFill>
                  <a:srgbClr val="FF0000"/>
                </a:solidFill>
              </a:rPr>
              <a:t>one event</a:t>
            </a:r>
            <a:r>
              <a:rPr lang="en-US" dirty="0"/>
              <a:t> can occur in </a:t>
            </a:r>
            <a:r>
              <a:rPr lang="en-US" dirty="0">
                <a:solidFill>
                  <a:srgbClr val="FF0000"/>
                </a:solidFill>
              </a:rPr>
              <a:t>n</a:t>
            </a:r>
            <a:r>
              <a:rPr lang="en-US" baseline="-25000" dirty="0">
                <a:solidFill>
                  <a:srgbClr val="FF0000"/>
                </a:solidFill>
              </a:rPr>
              <a:t>1</a:t>
            </a:r>
            <a:r>
              <a:rPr lang="en-US" dirty="0"/>
              <a:t> ways.</a:t>
            </a:r>
          </a:p>
          <a:p>
            <a:r>
              <a:rPr lang="en-US" dirty="0"/>
              <a:t>A </a:t>
            </a:r>
            <a:r>
              <a:rPr lang="en-US" dirty="0">
                <a:solidFill>
                  <a:srgbClr val="FF0000"/>
                </a:solidFill>
              </a:rPr>
              <a:t>second event</a:t>
            </a:r>
            <a:r>
              <a:rPr lang="en-US" dirty="0"/>
              <a:t> can occur in </a:t>
            </a:r>
            <a:r>
              <a:rPr lang="en-US" dirty="0">
                <a:solidFill>
                  <a:srgbClr val="FF0000"/>
                </a:solidFill>
              </a:rPr>
              <a:t>n</a:t>
            </a:r>
            <a:r>
              <a:rPr lang="en-US" baseline="-25000" dirty="0">
                <a:solidFill>
                  <a:srgbClr val="FF0000"/>
                </a:solidFill>
              </a:rPr>
              <a:t>2</a:t>
            </a:r>
            <a:r>
              <a:rPr lang="en-US" dirty="0"/>
              <a:t> (different) ways.</a:t>
            </a:r>
          </a:p>
          <a:p>
            <a:endParaRPr lang="en-US" dirty="0"/>
          </a:p>
          <a:p>
            <a:pPr marL="0" indent="0">
              <a:buNone/>
            </a:pPr>
            <a:r>
              <a:rPr lang="en-US" dirty="0"/>
              <a:t>Then the total number of ways in which </a:t>
            </a:r>
            <a:r>
              <a:rPr lang="en-US" dirty="0">
                <a:solidFill>
                  <a:srgbClr val="FF0000"/>
                </a:solidFill>
              </a:rPr>
              <a:t>exactly one</a:t>
            </a:r>
            <a:r>
              <a:rPr lang="en-US" dirty="0"/>
              <a:t> of the events (i.e., first or second) can occur is</a:t>
            </a:r>
          </a:p>
          <a:p>
            <a:endParaRPr lang="en-US" dirty="0"/>
          </a:p>
          <a:p>
            <a:pPr algn="ctr">
              <a:buNone/>
            </a:pPr>
            <a:r>
              <a:rPr lang="en-US" dirty="0"/>
              <a:t>	</a:t>
            </a:r>
            <a:r>
              <a:rPr lang="en-US" dirty="0">
                <a:solidFill>
                  <a:srgbClr val="FF0000"/>
                </a:solidFill>
              </a:rPr>
              <a:t>n</a:t>
            </a:r>
            <a:r>
              <a:rPr lang="en-US" baseline="-25000" dirty="0">
                <a:solidFill>
                  <a:srgbClr val="FF0000"/>
                </a:solidFill>
              </a:rPr>
              <a:t>1</a:t>
            </a:r>
            <a:r>
              <a:rPr lang="en-US" dirty="0">
                <a:solidFill>
                  <a:srgbClr val="FF0000"/>
                </a:solidFill>
              </a:rPr>
              <a:t> + n</a:t>
            </a:r>
            <a:r>
              <a:rPr lang="en-US" baseline="-25000" dirty="0">
                <a:solidFill>
                  <a:srgbClr val="FF0000"/>
                </a:solidFill>
              </a:rPr>
              <a:t>2</a:t>
            </a:r>
            <a:r>
              <a:rPr lang="en-US" dirty="0"/>
              <a:t>.</a:t>
            </a:r>
          </a:p>
          <a:p>
            <a:endParaRPr lang="en-US" dirty="0">
              <a:solidFill>
                <a:srgbClr val="C00000"/>
              </a:solidFill>
            </a:endParaRPr>
          </a:p>
          <a:p>
            <a:endParaRPr lang="en-US" dirty="0">
              <a:sym typeface="Symbol"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20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5890" y="0"/>
            <a:ext cx="10515600" cy="1325563"/>
          </a:xfrm>
        </p:spPr>
        <p:txBody>
          <a:bodyPr>
            <a:normAutofit/>
          </a:bodyPr>
          <a:lstStyle/>
          <a:p>
            <a:pPr algn="ctr"/>
            <a:r>
              <a:rPr lang="en-US" b="1" u="sng" dirty="0">
                <a:solidFill>
                  <a:srgbClr val="0070C0"/>
                </a:solidFill>
              </a:rPr>
              <a:t>EXAMPLE</a:t>
            </a:r>
          </a:p>
        </p:txBody>
      </p:sp>
      <p:sp>
        <p:nvSpPr>
          <p:cNvPr id="4" name="Content Placeholder 3"/>
          <p:cNvSpPr>
            <a:spLocks noGrp="1"/>
          </p:cNvSpPr>
          <p:nvPr>
            <p:ph sz="quarter" idx="1"/>
          </p:nvPr>
        </p:nvSpPr>
        <p:spPr>
          <a:xfrm>
            <a:off x="962576" y="1325563"/>
            <a:ext cx="10883680" cy="5105400"/>
          </a:xfrm>
        </p:spPr>
        <p:txBody>
          <a:bodyPr>
            <a:normAutofit/>
          </a:bodyPr>
          <a:lstStyle/>
          <a:p>
            <a:pPr marL="0" indent="0">
              <a:buNone/>
            </a:pPr>
            <a:r>
              <a:rPr lang="en-US" dirty="0"/>
              <a:t>A student can choose a </a:t>
            </a:r>
            <a:r>
              <a:rPr lang="en-US" dirty="0">
                <a:solidFill>
                  <a:srgbClr val="FF0000"/>
                </a:solidFill>
              </a:rPr>
              <a:t>computer project</a:t>
            </a:r>
            <a:r>
              <a:rPr lang="en-US" dirty="0"/>
              <a:t> from one of the </a:t>
            </a:r>
            <a:r>
              <a:rPr lang="en-US" dirty="0">
                <a:solidFill>
                  <a:srgbClr val="FF0000"/>
                </a:solidFill>
              </a:rPr>
              <a:t>three lists</a:t>
            </a:r>
            <a:r>
              <a:rPr lang="en-US" dirty="0"/>
              <a:t>. The three lists contain </a:t>
            </a:r>
            <a:r>
              <a:rPr lang="en-US" dirty="0">
                <a:solidFill>
                  <a:srgbClr val="FF0000"/>
                </a:solidFill>
              </a:rPr>
              <a:t>23</a:t>
            </a:r>
            <a:r>
              <a:rPr lang="en-US" dirty="0"/>
              <a:t>, </a:t>
            </a:r>
            <a:r>
              <a:rPr lang="en-US" dirty="0">
                <a:solidFill>
                  <a:srgbClr val="FF0000"/>
                </a:solidFill>
              </a:rPr>
              <a:t>15</a:t>
            </a:r>
            <a:r>
              <a:rPr lang="en-US" dirty="0"/>
              <a:t> and </a:t>
            </a:r>
            <a:r>
              <a:rPr lang="en-US" dirty="0">
                <a:solidFill>
                  <a:srgbClr val="FF0000"/>
                </a:solidFill>
              </a:rPr>
              <a:t>19</a:t>
            </a:r>
            <a:r>
              <a:rPr lang="en-US" dirty="0"/>
              <a:t> </a:t>
            </a:r>
            <a:r>
              <a:rPr lang="en-US" dirty="0">
                <a:solidFill>
                  <a:srgbClr val="FF0000"/>
                </a:solidFill>
              </a:rPr>
              <a:t>possible projects</a:t>
            </a:r>
            <a:r>
              <a:rPr lang="en-US" dirty="0"/>
              <a:t>, respectively. </a:t>
            </a:r>
          </a:p>
          <a:p>
            <a:r>
              <a:rPr lang="en-US" dirty="0"/>
              <a:t>How many </a:t>
            </a:r>
            <a:r>
              <a:rPr lang="en-US" dirty="0">
                <a:solidFill>
                  <a:srgbClr val="FF0000"/>
                </a:solidFill>
              </a:rPr>
              <a:t>possible projects</a:t>
            </a:r>
            <a:r>
              <a:rPr lang="en-US" dirty="0"/>
              <a:t> are there to choose from?</a:t>
            </a:r>
          </a:p>
          <a:p>
            <a:pPr marL="0" indent="0">
              <a:buNone/>
            </a:pPr>
            <a:r>
              <a:rPr lang="en-US" b="1" u="sng" dirty="0">
                <a:solidFill>
                  <a:srgbClr val="0070C0"/>
                </a:solidFill>
                <a:latin typeface="+mj-lt"/>
                <a:ea typeface="+mj-ea"/>
                <a:cs typeface="+mj-cs"/>
              </a:rPr>
              <a:t>SOLUTION:</a:t>
            </a:r>
          </a:p>
          <a:p>
            <a:pPr>
              <a:buNone/>
            </a:pPr>
            <a:r>
              <a:rPr lang="en-US" dirty="0">
                <a:solidFill>
                  <a:srgbClr val="FF0000"/>
                </a:solidFill>
              </a:rPr>
              <a:t>	23</a:t>
            </a:r>
            <a:r>
              <a:rPr lang="en-US" dirty="0"/>
              <a:t> choices are in </a:t>
            </a:r>
            <a:r>
              <a:rPr lang="en-US" dirty="0">
                <a:solidFill>
                  <a:srgbClr val="FF0000"/>
                </a:solidFill>
              </a:rPr>
              <a:t>first list</a:t>
            </a:r>
            <a:r>
              <a:rPr lang="en-US" dirty="0"/>
              <a:t>, </a:t>
            </a:r>
          </a:p>
          <a:p>
            <a:pPr>
              <a:buNone/>
            </a:pPr>
            <a:r>
              <a:rPr lang="en-US" dirty="0"/>
              <a:t>	</a:t>
            </a:r>
            <a:r>
              <a:rPr lang="en-US" dirty="0">
                <a:solidFill>
                  <a:srgbClr val="FF0000"/>
                </a:solidFill>
              </a:rPr>
              <a:t>15</a:t>
            </a:r>
            <a:r>
              <a:rPr lang="en-US" dirty="0"/>
              <a:t> choices are in </a:t>
            </a:r>
            <a:r>
              <a:rPr lang="en-US" dirty="0">
                <a:solidFill>
                  <a:srgbClr val="FF0000"/>
                </a:solidFill>
              </a:rPr>
              <a:t>second list</a:t>
            </a:r>
            <a:r>
              <a:rPr lang="en-US" dirty="0"/>
              <a:t>, </a:t>
            </a:r>
          </a:p>
          <a:p>
            <a:pPr>
              <a:buNone/>
            </a:pPr>
            <a:r>
              <a:rPr lang="en-US" dirty="0"/>
              <a:t>	</a:t>
            </a:r>
            <a:r>
              <a:rPr lang="en-US" dirty="0">
                <a:solidFill>
                  <a:srgbClr val="FF0000"/>
                </a:solidFill>
              </a:rPr>
              <a:t>19</a:t>
            </a:r>
            <a:r>
              <a:rPr lang="en-US" dirty="0"/>
              <a:t> choices are in </a:t>
            </a:r>
            <a:r>
              <a:rPr lang="en-US" dirty="0">
                <a:solidFill>
                  <a:srgbClr val="FF0000"/>
                </a:solidFill>
              </a:rPr>
              <a:t>third list</a:t>
            </a:r>
            <a:r>
              <a:rPr lang="en-US" dirty="0"/>
              <a:t>. Hence, there are </a:t>
            </a:r>
          </a:p>
          <a:p>
            <a:pPr>
              <a:buNone/>
            </a:pPr>
            <a:r>
              <a:rPr lang="en-US" dirty="0"/>
              <a:t>	So, we have total number of choices </a:t>
            </a:r>
          </a:p>
          <a:p>
            <a:pPr>
              <a:buNone/>
            </a:pPr>
            <a:r>
              <a:rPr lang="en-US" dirty="0"/>
              <a:t>		= </a:t>
            </a:r>
            <a:r>
              <a:rPr lang="en-US" dirty="0">
                <a:solidFill>
                  <a:srgbClr val="FF0000"/>
                </a:solidFill>
              </a:rPr>
              <a:t>23 + 15 + 19 = </a:t>
            </a:r>
            <a:r>
              <a:rPr lang="en-US" dirty="0">
                <a:solidFill>
                  <a:srgbClr val="0070C0"/>
                </a:solidFill>
              </a:rPr>
              <a:t>57</a:t>
            </a:r>
            <a:r>
              <a:rPr lang="en-US" dirty="0"/>
              <a:t>  projects to choose from.</a:t>
            </a:r>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2000"/>
                                        <p:tgtEl>
                                          <p:spTgt spid="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2000"/>
                                        <p:tgtEl>
                                          <p:spTgt spid="4">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2000"/>
                                        <p:tgtEl>
                                          <p:spTgt spid="4">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fade">
                                      <p:cBhvr>
                                        <p:cTn id="24" dur="2000"/>
                                        <p:tgtEl>
                                          <p:spTgt spid="4">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fade">
                                      <p:cBhvr>
                                        <p:cTn id="29" dur="2000"/>
                                        <p:tgtEl>
                                          <p:spTgt spid="4">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2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087" y="0"/>
            <a:ext cx="10515600" cy="1325563"/>
          </a:xfrm>
        </p:spPr>
        <p:txBody>
          <a:bodyPr>
            <a:normAutofit/>
          </a:bodyPr>
          <a:lstStyle/>
          <a:p>
            <a:pPr algn="ctr"/>
            <a:r>
              <a:rPr lang="en-US" b="1" u="sng" dirty="0">
                <a:solidFill>
                  <a:srgbClr val="0070C0"/>
                </a:solidFill>
              </a:rPr>
              <a:t>GENERALIZED SUM RULE</a:t>
            </a:r>
          </a:p>
        </p:txBody>
      </p:sp>
      <p:sp>
        <p:nvSpPr>
          <p:cNvPr id="4" name="Content Placeholder 3"/>
          <p:cNvSpPr>
            <a:spLocks noGrp="1"/>
          </p:cNvSpPr>
          <p:nvPr>
            <p:ph sz="quarter" idx="1"/>
          </p:nvPr>
        </p:nvSpPr>
        <p:spPr>
          <a:xfrm>
            <a:off x="1187355" y="1219200"/>
            <a:ext cx="10181229" cy="5029200"/>
          </a:xfrm>
        </p:spPr>
        <p:txBody>
          <a:bodyPr>
            <a:normAutofit/>
          </a:bodyPr>
          <a:lstStyle/>
          <a:p>
            <a:pPr marL="0" indent="0">
              <a:buNone/>
            </a:pPr>
            <a:r>
              <a:rPr lang="en-US" dirty="0"/>
              <a:t>   If </a:t>
            </a:r>
            <a:r>
              <a:rPr lang="en-US" dirty="0">
                <a:solidFill>
                  <a:srgbClr val="FF0000"/>
                </a:solidFill>
              </a:rPr>
              <a:t>one event</a:t>
            </a:r>
            <a:r>
              <a:rPr lang="en-US" dirty="0"/>
              <a:t> can occur in </a:t>
            </a:r>
            <a:r>
              <a:rPr lang="en-US" dirty="0">
                <a:solidFill>
                  <a:srgbClr val="FF0000"/>
                </a:solidFill>
              </a:rPr>
              <a:t>n</a:t>
            </a:r>
            <a:r>
              <a:rPr lang="en-US" baseline="-25000" dirty="0">
                <a:solidFill>
                  <a:srgbClr val="FF0000"/>
                </a:solidFill>
              </a:rPr>
              <a:t>1</a:t>
            </a:r>
            <a:r>
              <a:rPr lang="en-US" dirty="0"/>
              <a:t> ways,</a:t>
            </a:r>
          </a:p>
          <a:p>
            <a:pPr>
              <a:buNone/>
            </a:pPr>
            <a:r>
              <a:rPr lang="en-US" dirty="0"/>
              <a:t>	a </a:t>
            </a:r>
            <a:r>
              <a:rPr lang="en-US" dirty="0">
                <a:solidFill>
                  <a:srgbClr val="FF0000"/>
                </a:solidFill>
              </a:rPr>
              <a:t>second event</a:t>
            </a:r>
            <a:r>
              <a:rPr lang="en-US" dirty="0"/>
              <a:t> can occur in </a:t>
            </a:r>
            <a:r>
              <a:rPr lang="en-US" dirty="0">
                <a:solidFill>
                  <a:srgbClr val="FF0000"/>
                </a:solidFill>
              </a:rPr>
              <a:t>n</a:t>
            </a:r>
            <a:r>
              <a:rPr lang="en-US" baseline="-25000" dirty="0">
                <a:solidFill>
                  <a:srgbClr val="FF0000"/>
                </a:solidFill>
              </a:rPr>
              <a:t>2</a:t>
            </a:r>
            <a:r>
              <a:rPr lang="en-US" dirty="0"/>
              <a:t> ways,</a:t>
            </a:r>
          </a:p>
          <a:p>
            <a:pPr>
              <a:buNone/>
            </a:pPr>
            <a:r>
              <a:rPr lang="en-US" dirty="0"/>
              <a:t>	a </a:t>
            </a:r>
            <a:r>
              <a:rPr lang="en-US" dirty="0">
                <a:solidFill>
                  <a:srgbClr val="FF0000"/>
                </a:solidFill>
              </a:rPr>
              <a:t>third event</a:t>
            </a:r>
            <a:r>
              <a:rPr lang="en-US" dirty="0"/>
              <a:t> can occur in </a:t>
            </a:r>
            <a:r>
              <a:rPr lang="en-US" dirty="0">
                <a:solidFill>
                  <a:srgbClr val="FF0000"/>
                </a:solidFill>
              </a:rPr>
              <a:t>n</a:t>
            </a:r>
            <a:r>
              <a:rPr lang="en-US" baseline="-25000" dirty="0">
                <a:solidFill>
                  <a:srgbClr val="FF0000"/>
                </a:solidFill>
              </a:rPr>
              <a:t>3</a:t>
            </a:r>
            <a:r>
              <a:rPr lang="en-US" dirty="0"/>
              <a:t> ways,</a:t>
            </a:r>
          </a:p>
          <a:p>
            <a:pPr>
              <a:buNone/>
            </a:pPr>
            <a:r>
              <a:rPr lang="en-US" dirty="0"/>
              <a:t>	……………………………………..</a:t>
            </a:r>
          </a:p>
          <a:p>
            <a:pPr>
              <a:buNone/>
            </a:pPr>
            <a:r>
              <a:rPr lang="en-US" dirty="0"/>
              <a:t>	 then there are</a:t>
            </a:r>
          </a:p>
          <a:p>
            <a:pPr>
              <a:buNone/>
            </a:pPr>
            <a:r>
              <a:rPr lang="en-US" dirty="0"/>
              <a:t>				 </a:t>
            </a:r>
            <a:r>
              <a:rPr lang="en-US" dirty="0">
                <a:solidFill>
                  <a:srgbClr val="FF0000"/>
                </a:solidFill>
              </a:rPr>
              <a:t>n</a:t>
            </a:r>
            <a:r>
              <a:rPr lang="en-US" baseline="-25000" dirty="0">
                <a:solidFill>
                  <a:srgbClr val="FF0000"/>
                </a:solidFill>
              </a:rPr>
              <a:t>1</a:t>
            </a:r>
            <a:r>
              <a:rPr lang="en-US" dirty="0">
                <a:solidFill>
                  <a:srgbClr val="FF0000"/>
                </a:solidFill>
              </a:rPr>
              <a:t> + n</a:t>
            </a:r>
            <a:r>
              <a:rPr lang="en-US" baseline="-25000" dirty="0">
                <a:solidFill>
                  <a:srgbClr val="FF0000"/>
                </a:solidFill>
              </a:rPr>
              <a:t>2</a:t>
            </a:r>
            <a:r>
              <a:rPr lang="en-US" dirty="0">
                <a:solidFill>
                  <a:srgbClr val="FF0000"/>
                </a:solidFill>
              </a:rPr>
              <a:t> + n</a:t>
            </a:r>
            <a:r>
              <a:rPr lang="en-US" baseline="-25000" dirty="0">
                <a:solidFill>
                  <a:srgbClr val="FF0000"/>
                </a:solidFill>
              </a:rPr>
              <a:t>3</a:t>
            </a:r>
            <a:r>
              <a:rPr lang="en-US" dirty="0">
                <a:solidFill>
                  <a:srgbClr val="FF0000"/>
                </a:solidFill>
              </a:rPr>
              <a:t> + …</a:t>
            </a:r>
          </a:p>
          <a:p>
            <a:pPr>
              <a:buNone/>
            </a:pPr>
            <a:endParaRPr lang="en-US" dirty="0">
              <a:solidFill>
                <a:srgbClr val="FF0000"/>
              </a:solidFill>
            </a:endParaRPr>
          </a:p>
          <a:p>
            <a:pPr>
              <a:buNone/>
            </a:pPr>
            <a:r>
              <a:rPr lang="en-US" dirty="0"/>
              <a:t>	ways in which </a:t>
            </a:r>
            <a:r>
              <a:rPr lang="en-US" dirty="0">
                <a:solidFill>
                  <a:srgbClr val="FF0000"/>
                </a:solidFill>
              </a:rPr>
              <a:t>exactly one</a:t>
            </a:r>
            <a:r>
              <a:rPr lang="en-US" dirty="0"/>
              <a:t> of the events can occur. </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2000"/>
                                        <p:tgtEl>
                                          <p:spTgt spid="4">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fade">
                                      <p:cBhvr>
                                        <p:cTn id="16" dur="2000"/>
                                        <p:tgtEl>
                                          <p:spTgt spid="4">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2000"/>
                                        <p:tgtEl>
                                          <p:spTgt spid="4">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fade">
                                      <p:cBhvr>
                                        <p:cTn id="24" dur="2000"/>
                                        <p:tgtEl>
                                          <p:spTgt spid="4">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animEffect transition="in" filter="fade">
                                      <p:cBhvr>
                                        <p:cTn id="27" dur="2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643FC-3359-422D-9B07-A891410309C2}"/>
              </a:ext>
            </a:extLst>
          </p:cNvPr>
          <p:cNvSpPr>
            <a:spLocks noGrp="1"/>
          </p:cNvSpPr>
          <p:nvPr>
            <p:ph type="title"/>
          </p:nvPr>
        </p:nvSpPr>
        <p:spPr/>
        <p:txBody>
          <a:bodyPr/>
          <a:lstStyle/>
          <a:p>
            <a:r>
              <a:rPr lang="en-US" b="1" u="sng" dirty="0">
                <a:solidFill>
                  <a:srgbClr val="0070C0"/>
                </a:solidFill>
              </a:rPr>
              <a:t>Practice Questions … Do  it by Yourself</a:t>
            </a:r>
            <a:endParaRPr lang="en-US" dirty="0"/>
          </a:p>
        </p:txBody>
      </p:sp>
      <p:sp>
        <p:nvSpPr>
          <p:cNvPr id="3" name="Content Placeholder 2">
            <a:extLst>
              <a:ext uri="{FF2B5EF4-FFF2-40B4-BE49-F238E27FC236}">
                <a16:creationId xmlns:a16="http://schemas.microsoft.com/office/drawing/2014/main" id="{DB6527E4-AB40-4FD1-9D87-0F2AF8FD6319}"/>
              </a:ext>
            </a:extLst>
          </p:cNvPr>
          <p:cNvSpPr>
            <a:spLocks noGrp="1"/>
          </p:cNvSpPr>
          <p:nvPr>
            <p:ph idx="1"/>
          </p:nvPr>
        </p:nvSpPr>
        <p:spPr/>
        <p:txBody>
          <a:bodyPr/>
          <a:lstStyle/>
          <a:p>
            <a:r>
              <a:rPr lang="en-US" sz="2800" dirty="0">
                <a:latin typeface="Cambria Math" panose="02040503050406030204" pitchFamily="18" charset="0"/>
                <a:ea typeface="Cambria Math" panose="02040503050406030204" pitchFamily="18" charset="0"/>
              </a:rPr>
              <a:t>A worker can go to his work place either by train or by bus. There are three different trains and four different busses that can take him to his office in time. </a:t>
            </a:r>
            <a:r>
              <a:rPr lang="en-US" sz="2800" dirty="0">
                <a:solidFill>
                  <a:srgbClr val="B31591"/>
                </a:solidFill>
                <a:latin typeface="Cambria Math" panose="02040503050406030204" pitchFamily="18" charset="0"/>
                <a:ea typeface="Cambria Math" panose="02040503050406030204" pitchFamily="18" charset="0"/>
              </a:rPr>
              <a:t>How many different ways are available for him to go to the office?</a:t>
            </a:r>
          </a:p>
          <a:p>
            <a:r>
              <a:rPr lang="en-US" sz="2800" dirty="0">
                <a:latin typeface="Cambria Math" panose="02040503050406030204" pitchFamily="18" charset="0"/>
                <a:ea typeface="Cambria Math" panose="02040503050406030204" pitchFamily="18" charset="0"/>
              </a:rPr>
              <a:t>Stark Inc. hires a new employee. They have five vacant cabins on ground floor and three vacant offices on second floor. </a:t>
            </a:r>
            <a:r>
              <a:rPr lang="en-US" sz="2800" dirty="0">
                <a:solidFill>
                  <a:srgbClr val="B31591"/>
                </a:solidFill>
                <a:latin typeface="Cambria Math" panose="02040503050406030204" pitchFamily="18" charset="0"/>
                <a:ea typeface="Cambria Math" panose="02040503050406030204" pitchFamily="18" charset="0"/>
              </a:rPr>
              <a:t>How many different ways are available for office management to assign one office / cabin for him?</a:t>
            </a:r>
            <a:endParaRPr lang="en-US" sz="2800" dirty="0">
              <a:latin typeface="Cambria Math" panose="02040503050406030204" pitchFamily="18" charset="0"/>
              <a:ea typeface="Cambria Math" panose="02040503050406030204" pitchFamily="18" charset="0"/>
            </a:endParaRPr>
          </a:p>
          <a:p>
            <a:endParaRPr lang="en-US" dirty="0"/>
          </a:p>
        </p:txBody>
      </p:sp>
    </p:spTree>
    <p:extLst>
      <p:ext uri="{BB962C8B-B14F-4D97-AF65-F5344CB8AC3E}">
        <p14:creationId xmlns:p14="http://schemas.microsoft.com/office/powerpoint/2010/main" val="3506511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087" y="0"/>
            <a:ext cx="10515600" cy="1219200"/>
          </a:xfrm>
        </p:spPr>
        <p:txBody>
          <a:bodyPr>
            <a:normAutofit/>
          </a:bodyPr>
          <a:lstStyle/>
          <a:p>
            <a:pPr algn="ctr"/>
            <a:r>
              <a:rPr lang="en-US" b="1" u="sng" dirty="0">
                <a:solidFill>
                  <a:srgbClr val="0070C0"/>
                </a:solidFill>
              </a:rPr>
              <a:t>SUM RULE FOR DISJOINT SETS</a:t>
            </a:r>
          </a:p>
        </p:txBody>
      </p:sp>
      <p:sp>
        <p:nvSpPr>
          <p:cNvPr id="4" name="Content Placeholder 3"/>
          <p:cNvSpPr>
            <a:spLocks noGrp="1"/>
          </p:cNvSpPr>
          <p:nvPr>
            <p:ph sz="quarter" idx="1"/>
          </p:nvPr>
        </p:nvSpPr>
        <p:spPr>
          <a:xfrm>
            <a:off x="803352" y="1219200"/>
            <a:ext cx="10097069" cy="5105400"/>
          </a:xfrm>
        </p:spPr>
        <p:txBody>
          <a:bodyPr>
            <a:normAutofit/>
          </a:bodyPr>
          <a:lstStyle/>
          <a:p>
            <a:pPr algn="just"/>
            <a:r>
              <a:rPr lang="en-US" dirty="0"/>
              <a:t>If </a:t>
            </a:r>
            <a:r>
              <a:rPr lang="en-US" dirty="0">
                <a:solidFill>
                  <a:srgbClr val="FF0000"/>
                </a:solidFill>
              </a:rPr>
              <a:t>A</a:t>
            </a:r>
            <a:r>
              <a:rPr lang="en-US" baseline="-25000" dirty="0">
                <a:solidFill>
                  <a:srgbClr val="FF0000"/>
                </a:solidFill>
              </a:rPr>
              <a:t>1</a:t>
            </a:r>
            <a:r>
              <a:rPr lang="en-US" dirty="0">
                <a:solidFill>
                  <a:srgbClr val="FF0000"/>
                </a:solidFill>
              </a:rPr>
              <a:t>, A</a:t>
            </a:r>
            <a:r>
              <a:rPr lang="en-US" baseline="-25000" dirty="0">
                <a:solidFill>
                  <a:srgbClr val="FF0000"/>
                </a:solidFill>
              </a:rPr>
              <a:t>2</a:t>
            </a:r>
            <a:r>
              <a:rPr lang="en-US" dirty="0">
                <a:solidFill>
                  <a:srgbClr val="FF0000"/>
                </a:solidFill>
              </a:rPr>
              <a:t>, …, A</a:t>
            </a:r>
            <a:r>
              <a:rPr lang="en-US" baseline="-25000" dirty="0">
                <a:solidFill>
                  <a:srgbClr val="FF0000"/>
                </a:solidFill>
              </a:rPr>
              <a:t>m</a:t>
            </a:r>
            <a:r>
              <a:rPr lang="en-US" baseline="-25000" dirty="0"/>
              <a:t>  </a:t>
            </a:r>
            <a:r>
              <a:rPr lang="en-US" dirty="0"/>
              <a:t>are </a:t>
            </a:r>
            <a:r>
              <a:rPr lang="en-US" dirty="0">
                <a:solidFill>
                  <a:srgbClr val="FF0000"/>
                </a:solidFill>
              </a:rPr>
              <a:t>finite disjoint sets</a:t>
            </a:r>
            <a:r>
              <a:rPr lang="en-US" dirty="0"/>
              <a:t>, then the number of </a:t>
            </a:r>
            <a:r>
              <a:rPr lang="en-US" dirty="0">
                <a:solidFill>
                  <a:srgbClr val="FF0000"/>
                </a:solidFill>
              </a:rPr>
              <a:t>elements</a:t>
            </a:r>
            <a:r>
              <a:rPr lang="en-US" dirty="0"/>
              <a:t> in the </a:t>
            </a:r>
            <a:r>
              <a:rPr lang="en-US" dirty="0">
                <a:solidFill>
                  <a:srgbClr val="FF0000"/>
                </a:solidFill>
              </a:rPr>
              <a:t>union</a:t>
            </a:r>
            <a:r>
              <a:rPr lang="en-US" dirty="0"/>
              <a:t> of these sets is the </a:t>
            </a:r>
            <a:r>
              <a:rPr lang="en-US" dirty="0">
                <a:solidFill>
                  <a:srgbClr val="FF0000"/>
                </a:solidFill>
              </a:rPr>
              <a:t>sum</a:t>
            </a:r>
            <a:r>
              <a:rPr lang="en-US" dirty="0"/>
              <a:t> of the number of elements in them.</a:t>
            </a:r>
          </a:p>
          <a:p>
            <a:pPr algn="just"/>
            <a:endParaRPr lang="en-US" dirty="0"/>
          </a:p>
          <a:p>
            <a:pPr algn="just"/>
            <a:r>
              <a:rPr lang="en-US" dirty="0"/>
              <a:t>If </a:t>
            </a:r>
            <a:r>
              <a:rPr lang="en-US" dirty="0">
                <a:solidFill>
                  <a:srgbClr val="FF0000"/>
                </a:solidFill>
              </a:rPr>
              <a:t>n(A</a:t>
            </a:r>
            <a:r>
              <a:rPr lang="en-US" baseline="-25000" dirty="0">
                <a:solidFill>
                  <a:srgbClr val="FF0000"/>
                </a:solidFill>
              </a:rPr>
              <a:t>i</a:t>
            </a:r>
            <a:r>
              <a:rPr lang="en-US" dirty="0">
                <a:solidFill>
                  <a:srgbClr val="FF0000"/>
                </a:solidFill>
              </a:rPr>
              <a:t>)</a:t>
            </a:r>
            <a:r>
              <a:rPr lang="en-US" dirty="0"/>
              <a:t> denotes the </a:t>
            </a:r>
            <a:r>
              <a:rPr lang="en-US" dirty="0">
                <a:solidFill>
                  <a:srgbClr val="FF0000"/>
                </a:solidFill>
              </a:rPr>
              <a:t>number of elements</a:t>
            </a:r>
            <a:r>
              <a:rPr lang="en-US" dirty="0"/>
              <a:t> in set </a:t>
            </a:r>
            <a:r>
              <a:rPr lang="en-US" dirty="0">
                <a:solidFill>
                  <a:srgbClr val="FF0000"/>
                </a:solidFill>
              </a:rPr>
              <a:t>A</a:t>
            </a:r>
            <a:r>
              <a:rPr lang="en-US" baseline="-25000" dirty="0">
                <a:solidFill>
                  <a:srgbClr val="FF0000"/>
                </a:solidFill>
              </a:rPr>
              <a:t>i</a:t>
            </a:r>
            <a:r>
              <a:rPr lang="en-US" dirty="0"/>
              <a:t>, then</a:t>
            </a:r>
          </a:p>
          <a:p>
            <a:pPr algn="just">
              <a:buNone/>
            </a:pPr>
            <a:endParaRPr lang="en-US" dirty="0"/>
          </a:p>
          <a:p>
            <a:pPr marL="0" indent="0" algn="ctr">
              <a:buNone/>
            </a:pPr>
            <a:r>
              <a:rPr lang="pt-BR" dirty="0">
                <a:solidFill>
                  <a:srgbClr val="FF0000"/>
                </a:solidFill>
              </a:rPr>
              <a:t>n(A</a:t>
            </a:r>
            <a:r>
              <a:rPr lang="pt-BR" baseline="-25000" dirty="0">
                <a:solidFill>
                  <a:srgbClr val="FF0000"/>
                </a:solidFill>
              </a:rPr>
              <a:t>1</a:t>
            </a:r>
            <a:r>
              <a:rPr lang="en-US" dirty="0">
                <a:solidFill>
                  <a:srgbClr val="FF0000"/>
                </a:solidFill>
                <a:sym typeface="Symbol"/>
              </a:rPr>
              <a:t></a:t>
            </a:r>
            <a:r>
              <a:rPr lang="pt-BR" dirty="0">
                <a:solidFill>
                  <a:srgbClr val="FF0000"/>
                </a:solidFill>
              </a:rPr>
              <a:t>A</a:t>
            </a:r>
            <a:r>
              <a:rPr lang="pt-BR" baseline="-25000" dirty="0">
                <a:solidFill>
                  <a:srgbClr val="FF0000"/>
                </a:solidFill>
              </a:rPr>
              <a:t>2</a:t>
            </a:r>
            <a:r>
              <a:rPr lang="en-US" dirty="0">
                <a:solidFill>
                  <a:srgbClr val="FF0000"/>
                </a:solidFill>
                <a:sym typeface="Symbol"/>
              </a:rPr>
              <a:t></a:t>
            </a:r>
            <a:r>
              <a:rPr lang="pt-BR" dirty="0">
                <a:solidFill>
                  <a:srgbClr val="FF0000"/>
                </a:solidFill>
              </a:rPr>
              <a:t> … </a:t>
            </a:r>
            <a:r>
              <a:rPr lang="en-US" dirty="0">
                <a:solidFill>
                  <a:srgbClr val="FF0000"/>
                </a:solidFill>
                <a:sym typeface="Symbol"/>
              </a:rPr>
              <a:t></a:t>
            </a:r>
            <a:r>
              <a:rPr lang="pt-BR" dirty="0">
                <a:solidFill>
                  <a:srgbClr val="FF0000"/>
                </a:solidFill>
              </a:rPr>
              <a:t>A</a:t>
            </a:r>
            <a:r>
              <a:rPr lang="pt-BR" baseline="-25000" dirty="0">
                <a:solidFill>
                  <a:srgbClr val="FF0000"/>
                </a:solidFill>
              </a:rPr>
              <a:t>m</a:t>
            </a:r>
            <a:r>
              <a:rPr lang="pt-BR" dirty="0">
                <a:solidFill>
                  <a:srgbClr val="FF0000"/>
                </a:solidFill>
              </a:rPr>
              <a:t>) = n(A</a:t>
            </a:r>
            <a:r>
              <a:rPr lang="pt-BR" baseline="-25000" dirty="0">
                <a:solidFill>
                  <a:srgbClr val="FF0000"/>
                </a:solidFill>
              </a:rPr>
              <a:t>1</a:t>
            </a:r>
            <a:r>
              <a:rPr lang="pt-BR" dirty="0">
                <a:solidFill>
                  <a:srgbClr val="FF0000"/>
                </a:solidFill>
              </a:rPr>
              <a:t>) + n(A</a:t>
            </a:r>
            <a:r>
              <a:rPr lang="pt-BR" baseline="-25000" dirty="0">
                <a:solidFill>
                  <a:srgbClr val="FF0000"/>
                </a:solidFill>
              </a:rPr>
              <a:t>2</a:t>
            </a:r>
            <a:r>
              <a:rPr lang="pt-BR" dirty="0">
                <a:solidFill>
                  <a:srgbClr val="FF0000"/>
                </a:solidFill>
              </a:rPr>
              <a:t>) + … + n(A</a:t>
            </a:r>
            <a:r>
              <a:rPr lang="pt-BR" baseline="-25000" dirty="0">
                <a:solidFill>
                  <a:srgbClr val="FF0000"/>
                </a:solidFill>
              </a:rPr>
              <a:t>m</a:t>
            </a:r>
            <a:r>
              <a:rPr lang="pt-BR" dirty="0">
                <a:solidFill>
                  <a:srgbClr val="FF0000"/>
                </a:solidFill>
              </a:rPr>
              <a:t>)</a:t>
            </a:r>
            <a:r>
              <a:rPr lang="pt-BR" dirty="0"/>
              <a:t> </a:t>
            </a:r>
            <a:endParaRPr lang="en-US" dirty="0"/>
          </a:p>
          <a:p>
            <a:pPr algn="just">
              <a:buNone/>
            </a:pPr>
            <a:r>
              <a:rPr lang="en-US" dirty="0"/>
              <a:t>	where</a:t>
            </a:r>
          </a:p>
          <a:p>
            <a:pPr algn="ctr">
              <a:buNone/>
            </a:pPr>
            <a:r>
              <a:rPr lang="en-US" dirty="0" err="1">
                <a:solidFill>
                  <a:srgbClr val="FF0000"/>
                </a:solidFill>
              </a:rPr>
              <a:t>A</a:t>
            </a:r>
            <a:r>
              <a:rPr lang="en-US" baseline="-25000" dirty="0" err="1">
                <a:solidFill>
                  <a:srgbClr val="FF0000"/>
                </a:solidFill>
              </a:rPr>
              <a:t>i</a:t>
            </a:r>
            <a:r>
              <a:rPr lang="en-US" dirty="0" err="1">
                <a:solidFill>
                  <a:srgbClr val="FF0000"/>
                </a:solidFill>
                <a:sym typeface="Symbol"/>
              </a:rPr>
              <a:t></a:t>
            </a:r>
            <a:r>
              <a:rPr lang="en-US" dirty="0" err="1">
                <a:solidFill>
                  <a:srgbClr val="FF0000"/>
                </a:solidFill>
              </a:rPr>
              <a:t>A</a:t>
            </a:r>
            <a:r>
              <a:rPr lang="en-US" baseline="-25000" dirty="0" err="1">
                <a:solidFill>
                  <a:srgbClr val="FF0000"/>
                </a:solidFill>
              </a:rPr>
              <a:t>j</a:t>
            </a:r>
            <a:r>
              <a:rPr lang="en-US" dirty="0">
                <a:solidFill>
                  <a:srgbClr val="FF0000"/>
                </a:solidFill>
              </a:rPr>
              <a:t> = </a:t>
            </a:r>
            <a:r>
              <a:rPr lang="en-US" dirty="0">
                <a:solidFill>
                  <a:srgbClr val="FF0000"/>
                </a:solidFill>
                <a:sym typeface="Symbol"/>
              </a:rPr>
              <a:t></a:t>
            </a:r>
            <a:r>
              <a:rPr lang="en-US" dirty="0"/>
              <a:t>    if   </a:t>
            </a:r>
            <a:r>
              <a:rPr lang="en-US" dirty="0" err="1"/>
              <a:t>i</a:t>
            </a:r>
            <a:r>
              <a:rPr lang="en-US" dirty="0"/>
              <a:t> </a:t>
            </a:r>
            <a:r>
              <a:rPr lang="en-US" dirty="0">
                <a:sym typeface="Symbol"/>
              </a:rPr>
              <a:t></a:t>
            </a:r>
            <a:r>
              <a:rPr lang="en-US" dirty="0"/>
              <a:t> j</a:t>
            </a:r>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buNone/>
            </a:pPr>
            <a:endParaRPr lang="en-US" dirty="0"/>
          </a:p>
          <a:p>
            <a:pPr algn="just"/>
            <a:endParaRPr lang="en-US" dirty="0"/>
          </a:p>
          <a:p>
            <a:pPr algn="just"/>
            <a:endParaRPr lang="en-US" dirty="0"/>
          </a:p>
        </p:txBody>
      </p:sp>
      <p:sp>
        <p:nvSpPr>
          <p:cNvPr id="146434"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087" y="0"/>
            <a:ext cx="10515600" cy="1219200"/>
          </a:xfrm>
        </p:spPr>
        <p:txBody>
          <a:bodyPr>
            <a:normAutofit/>
          </a:bodyPr>
          <a:lstStyle/>
          <a:p>
            <a:pPr algn="ctr"/>
            <a:r>
              <a:rPr lang="en-US" b="1" u="sng" dirty="0">
                <a:solidFill>
                  <a:srgbClr val="0070C0"/>
                </a:solidFill>
              </a:rPr>
              <a:t>SUM RULE FOR OVERLAPPING SETS</a:t>
            </a:r>
          </a:p>
        </p:txBody>
      </p:sp>
      <p:sp>
        <p:nvSpPr>
          <p:cNvPr id="4" name="Content Placeholder 3"/>
          <p:cNvSpPr>
            <a:spLocks noGrp="1"/>
          </p:cNvSpPr>
          <p:nvPr>
            <p:ph sz="quarter" idx="1"/>
          </p:nvPr>
        </p:nvSpPr>
        <p:spPr>
          <a:xfrm>
            <a:off x="401676" y="1219200"/>
            <a:ext cx="11388648" cy="5223164"/>
          </a:xfrm>
        </p:spPr>
        <p:txBody>
          <a:bodyPr>
            <a:normAutofit/>
          </a:bodyPr>
          <a:lstStyle/>
          <a:p>
            <a:pPr algn="just"/>
            <a:r>
              <a:rPr lang="en-US" dirty="0"/>
              <a:t>If </a:t>
            </a:r>
            <a:r>
              <a:rPr lang="en-US" dirty="0">
                <a:solidFill>
                  <a:srgbClr val="FF0000"/>
                </a:solidFill>
              </a:rPr>
              <a:t>A</a:t>
            </a:r>
            <a:r>
              <a:rPr lang="en-US" baseline="-25000" dirty="0">
                <a:solidFill>
                  <a:srgbClr val="FF0000"/>
                </a:solidFill>
              </a:rPr>
              <a:t>1 </a:t>
            </a:r>
            <a:r>
              <a:rPr lang="en-US" dirty="0"/>
              <a:t>and</a:t>
            </a:r>
            <a:r>
              <a:rPr lang="en-US" dirty="0">
                <a:solidFill>
                  <a:srgbClr val="FF0000"/>
                </a:solidFill>
              </a:rPr>
              <a:t> A</a:t>
            </a:r>
            <a:r>
              <a:rPr lang="en-US" baseline="-25000" dirty="0">
                <a:solidFill>
                  <a:srgbClr val="FF0000"/>
                </a:solidFill>
              </a:rPr>
              <a:t>2</a:t>
            </a:r>
            <a:r>
              <a:rPr lang="en-US" baseline="-25000" dirty="0"/>
              <a:t> </a:t>
            </a:r>
            <a:r>
              <a:rPr lang="en-US" dirty="0"/>
              <a:t>are </a:t>
            </a:r>
            <a:r>
              <a:rPr lang="en-US" dirty="0">
                <a:solidFill>
                  <a:srgbClr val="FF0000"/>
                </a:solidFill>
              </a:rPr>
              <a:t>not disjoint sets</a:t>
            </a:r>
            <a:r>
              <a:rPr lang="en-US" dirty="0"/>
              <a:t>, then the number of </a:t>
            </a:r>
            <a:r>
              <a:rPr lang="en-US" dirty="0">
                <a:solidFill>
                  <a:srgbClr val="FF0000"/>
                </a:solidFill>
              </a:rPr>
              <a:t>elements</a:t>
            </a:r>
            <a:r>
              <a:rPr lang="en-US" dirty="0"/>
              <a:t> in the </a:t>
            </a:r>
            <a:r>
              <a:rPr lang="en-US" dirty="0">
                <a:solidFill>
                  <a:srgbClr val="FF0000"/>
                </a:solidFill>
              </a:rPr>
              <a:t>union</a:t>
            </a:r>
            <a:r>
              <a:rPr lang="en-US" dirty="0"/>
              <a:t> of these sets is the </a:t>
            </a:r>
            <a:r>
              <a:rPr lang="en-US" dirty="0">
                <a:solidFill>
                  <a:srgbClr val="FF0000"/>
                </a:solidFill>
              </a:rPr>
              <a:t>sum</a:t>
            </a:r>
            <a:r>
              <a:rPr lang="en-US" dirty="0"/>
              <a:t> of the number of elements in them </a:t>
            </a:r>
            <a:r>
              <a:rPr lang="en-US" sz="2800" dirty="0">
                <a:solidFill>
                  <a:srgbClr val="FF0000"/>
                </a:solidFill>
                <a:latin typeface="Cambria Math" panose="02040503050406030204" pitchFamily="18" charset="0"/>
                <a:ea typeface="Cambria Math" panose="02040503050406030204" pitchFamily="18" charset="0"/>
              </a:rPr>
              <a:t>minus</a:t>
            </a:r>
            <a:r>
              <a:rPr lang="en-US" sz="2800" dirty="0">
                <a:latin typeface="Cambria Math" panose="02040503050406030204" pitchFamily="18" charset="0"/>
                <a:ea typeface="Cambria Math" panose="02040503050406030204" pitchFamily="18" charset="0"/>
              </a:rPr>
              <a:t> the number of ways to do the task that are common to these sets.</a:t>
            </a:r>
            <a:endParaRPr lang="en-US" dirty="0"/>
          </a:p>
          <a:p>
            <a:pPr algn="just"/>
            <a:endParaRPr lang="en-US" dirty="0"/>
          </a:p>
          <a:p>
            <a:pPr algn="just"/>
            <a:r>
              <a:rPr lang="en-US" dirty="0"/>
              <a:t>If </a:t>
            </a:r>
            <a:r>
              <a:rPr lang="en-US" dirty="0">
                <a:solidFill>
                  <a:srgbClr val="FF0000"/>
                </a:solidFill>
              </a:rPr>
              <a:t>n(A</a:t>
            </a:r>
            <a:r>
              <a:rPr lang="en-US" baseline="-25000" dirty="0">
                <a:solidFill>
                  <a:srgbClr val="FF0000"/>
                </a:solidFill>
              </a:rPr>
              <a:t>i</a:t>
            </a:r>
            <a:r>
              <a:rPr lang="en-US" dirty="0">
                <a:solidFill>
                  <a:srgbClr val="FF0000"/>
                </a:solidFill>
              </a:rPr>
              <a:t>)</a:t>
            </a:r>
            <a:r>
              <a:rPr lang="en-US" dirty="0"/>
              <a:t> denotes the </a:t>
            </a:r>
            <a:r>
              <a:rPr lang="en-US" dirty="0">
                <a:solidFill>
                  <a:srgbClr val="FF0000"/>
                </a:solidFill>
              </a:rPr>
              <a:t>number of elements</a:t>
            </a:r>
            <a:r>
              <a:rPr lang="en-US" dirty="0"/>
              <a:t> in set </a:t>
            </a:r>
            <a:r>
              <a:rPr lang="en-US" dirty="0">
                <a:solidFill>
                  <a:srgbClr val="FF0000"/>
                </a:solidFill>
              </a:rPr>
              <a:t>A</a:t>
            </a:r>
            <a:r>
              <a:rPr lang="en-US" baseline="-25000" dirty="0">
                <a:solidFill>
                  <a:srgbClr val="FF0000"/>
                </a:solidFill>
              </a:rPr>
              <a:t>i</a:t>
            </a:r>
            <a:r>
              <a:rPr lang="en-US" dirty="0"/>
              <a:t>, then</a:t>
            </a:r>
          </a:p>
          <a:p>
            <a:pPr algn="just">
              <a:buNone/>
            </a:pPr>
            <a:endParaRPr lang="en-US" dirty="0"/>
          </a:p>
          <a:p>
            <a:pPr marL="0" indent="0" algn="ctr">
              <a:buNone/>
            </a:pPr>
            <a:r>
              <a:rPr lang="pt-BR" dirty="0">
                <a:solidFill>
                  <a:srgbClr val="FF0000"/>
                </a:solidFill>
              </a:rPr>
              <a:t>n(A</a:t>
            </a:r>
            <a:r>
              <a:rPr lang="pt-BR" baseline="-25000" dirty="0">
                <a:solidFill>
                  <a:srgbClr val="FF0000"/>
                </a:solidFill>
              </a:rPr>
              <a:t>1</a:t>
            </a:r>
            <a:r>
              <a:rPr lang="en-US" dirty="0">
                <a:solidFill>
                  <a:srgbClr val="FF0000"/>
                </a:solidFill>
                <a:sym typeface="Symbol"/>
              </a:rPr>
              <a:t></a:t>
            </a:r>
            <a:r>
              <a:rPr lang="pt-BR" dirty="0">
                <a:solidFill>
                  <a:srgbClr val="FF0000"/>
                </a:solidFill>
              </a:rPr>
              <a:t>A</a:t>
            </a:r>
            <a:r>
              <a:rPr lang="pt-BR" baseline="-25000" dirty="0">
                <a:solidFill>
                  <a:srgbClr val="FF0000"/>
                </a:solidFill>
              </a:rPr>
              <a:t>2</a:t>
            </a:r>
            <a:r>
              <a:rPr lang="pt-BR" dirty="0">
                <a:solidFill>
                  <a:srgbClr val="FF0000"/>
                </a:solidFill>
              </a:rPr>
              <a:t>) = n(A</a:t>
            </a:r>
            <a:r>
              <a:rPr lang="pt-BR" baseline="-25000" dirty="0">
                <a:solidFill>
                  <a:srgbClr val="FF0000"/>
                </a:solidFill>
              </a:rPr>
              <a:t>1</a:t>
            </a:r>
            <a:r>
              <a:rPr lang="pt-BR" dirty="0">
                <a:solidFill>
                  <a:srgbClr val="FF0000"/>
                </a:solidFill>
              </a:rPr>
              <a:t>) + n(A</a:t>
            </a:r>
            <a:r>
              <a:rPr lang="pt-BR" baseline="-25000" dirty="0">
                <a:solidFill>
                  <a:srgbClr val="FF0000"/>
                </a:solidFill>
              </a:rPr>
              <a:t>2</a:t>
            </a:r>
            <a:r>
              <a:rPr lang="pt-BR" dirty="0">
                <a:solidFill>
                  <a:srgbClr val="FF0000"/>
                </a:solidFill>
              </a:rPr>
              <a:t>) -  n(A</a:t>
            </a:r>
            <a:r>
              <a:rPr lang="pt-BR" baseline="-25000" dirty="0">
                <a:solidFill>
                  <a:srgbClr val="FF0000"/>
                </a:solidFill>
              </a:rPr>
              <a:t>1</a:t>
            </a:r>
            <a:r>
              <a:rPr lang="en-US" dirty="0">
                <a:solidFill>
                  <a:srgbClr val="FF0000"/>
                </a:solidFill>
                <a:sym typeface="Symbol"/>
              </a:rPr>
              <a:t> </a:t>
            </a:r>
            <a:r>
              <a:rPr lang="pt-BR" dirty="0">
                <a:solidFill>
                  <a:srgbClr val="FF0000"/>
                </a:solidFill>
              </a:rPr>
              <a:t> A</a:t>
            </a:r>
            <a:r>
              <a:rPr lang="pt-BR" baseline="-25000" dirty="0">
                <a:solidFill>
                  <a:srgbClr val="FF0000"/>
                </a:solidFill>
              </a:rPr>
              <a:t>2</a:t>
            </a:r>
            <a:r>
              <a:rPr lang="pt-BR" dirty="0">
                <a:solidFill>
                  <a:srgbClr val="FF0000"/>
                </a:solidFill>
              </a:rPr>
              <a:t>)</a:t>
            </a:r>
            <a:r>
              <a:rPr lang="pt-BR" dirty="0"/>
              <a:t> </a:t>
            </a:r>
            <a:endParaRPr lang="en-US" dirty="0"/>
          </a:p>
          <a:p>
            <a:pPr algn="just">
              <a:buNone/>
            </a:pPr>
            <a:r>
              <a:rPr lang="en-US" dirty="0"/>
              <a:t>	</a:t>
            </a:r>
          </a:p>
          <a:p>
            <a:pPr marL="0" indent="0" algn="ctr">
              <a:buNone/>
            </a:pPr>
            <a:r>
              <a:rPr lang="en-US" sz="2800" dirty="0">
                <a:latin typeface="Cambria Math" panose="02040503050406030204" pitchFamily="18" charset="0"/>
                <a:ea typeface="Cambria Math" panose="02040503050406030204" pitchFamily="18" charset="0"/>
              </a:rPr>
              <a:t>To avoid recounting of overlapping values, we use this principle of inclusion-exclusion.</a:t>
            </a:r>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buNone/>
            </a:pPr>
            <a:endParaRPr lang="en-US" dirty="0"/>
          </a:p>
          <a:p>
            <a:pPr algn="just"/>
            <a:endParaRPr lang="en-US" dirty="0"/>
          </a:p>
          <a:p>
            <a:pPr algn="just"/>
            <a:endParaRPr lang="en-US" dirty="0"/>
          </a:p>
        </p:txBody>
      </p:sp>
      <p:sp>
        <p:nvSpPr>
          <p:cNvPr id="146434"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670499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7114741" y="1300117"/>
            <a:ext cx="4737651" cy="614140"/>
          </a:xfrm>
          <a:prstGeom prst="round2DiagRect">
            <a:avLst>
              <a:gd name="adj1" fmla="val 16667"/>
              <a:gd name="adj2" fmla="val 0"/>
            </a:avLst>
          </a:prstGeom>
          <a:ln w="28575" cap="sq">
            <a:solidFill>
              <a:schemeClr val="accent1"/>
            </a:solidFill>
            <a:miter lim="800000"/>
          </a:ln>
          <a:effectLst>
            <a:outerShdw blurRad="254000" algn="tl" rotWithShape="0">
              <a:srgbClr val="000000">
                <a:alpha val="43000"/>
              </a:srgbClr>
            </a:outerShdw>
          </a:effectLst>
        </p:spPr>
      </p:pic>
      <p:pic>
        <p:nvPicPr>
          <p:cNvPr id="3" name="Picture 2">
            <a:extLst>
              <a:ext uri="{FF2B5EF4-FFF2-40B4-BE49-F238E27FC236}">
                <a16:creationId xmlns:a16="http://schemas.microsoft.com/office/drawing/2014/main" id="{F3A6BA0D-654F-1F20-8950-4DB893650891}"/>
              </a:ext>
            </a:extLst>
          </p:cNvPr>
          <p:cNvPicPr>
            <a:picLocks noChangeAspect="1"/>
          </p:cNvPicPr>
          <p:nvPr/>
        </p:nvPicPr>
        <p:blipFill>
          <a:blip r:embed="rId3"/>
          <a:stretch>
            <a:fillRect/>
          </a:stretch>
        </p:blipFill>
        <p:spPr>
          <a:xfrm>
            <a:off x="7830401" y="3988223"/>
            <a:ext cx="4361599" cy="2821603"/>
          </a:xfrm>
          <a:prstGeom prst="rect">
            <a:avLst/>
          </a:prstGeom>
        </p:spPr>
      </p:pic>
      <p:sp>
        <p:nvSpPr>
          <p:cNvPr id="8" name="TextBox 7">
            <a:extLst>
              <a:ext uri="{FF2B5EF4-FFF2-40B4-BE49-F238E27FC236}">
                <a16:creationId xmlns:a16="http://schemas.microsoft.com/office/drawing/2014/main" id="{954209EC-5703-4543-EECB-E283E686138A}"/>
              </a:ext>
            </a:extLst>
          </p:cNvPr>
          <p:cNvSpPr txBox="1"/>
          <p:nvPr/>
        </p:nvSpPr>
        <p:spPr>
          <a:xfrm>
            <a:off x="693217" y="2141563"/>
            <a:ext cx="8035147" cy="3693319"/>
          </a:xfrm>
          <a:prstGeom prst="rect">
            <a:avLst/>
          </a:prstGeom>
          <a:noFill/>
        </p:spPr>
        <p:txBody>
          <a:bodyPr wrap="square">
            <a:spAutoFit/>
          </a:bodyPr>
          <a:lstStyle/>
          <a:p>
            <a:pPr marL="0" indent="0" algn="just">
              <a:buNone/>
            </a:pPr>
            <a:r>
              <a:rPr lang="en-US" sz="2600" dirty="0">
                <a:latin typeface="Cambria Math" panose="02040503050406030204" pitchFamily="18" charset="0"/>
                <a:ea typeface="Cambria Math" panose="02040503050406030204" pitchFamily="18" charset="0"/>
              </a:rPr>
              <a:t>If A = {a, e, </a:t>
            </a:r>
            <a:r>
              <a:rPr lang="en-US" sz="2600" dirty="0" err="1">
                <a:latin typeface="Cambria Math" panose="02040503050406030204" pitchFamily="18" charset="0"/>
                <a:ea typeface="Cambria Math" panose="02040503050406030204" pitchFamily="18" charset="0"/>
              </a:rPr>
              <a:t>i</a:t>
            </a:r>
            <a:r>
              <a:rPr lang="en-US" sz="2600" dirty="0">
                <a:latin typeface="Cambria Math" panose="02040503050406030204" pitchFamily="18" charset="0"/>
                <a:ea typeface="Cambria Math" panose="02040503050406030204" pitchFamily="18" charset="0"/>
              </a:rPr>
              <a:t>, o, u} and B={a, b, c, d, e} then |</a:t>
            </a:r>
            <a:r>
              <a:rPr lang="en-US" sz="2600" b="1" dirty="0">
                <a:solidFill>
                  <a:srgbClr val="C00000"/>
                </a:solidFill>
                <a:latin typeface="Cambria Math" pitchFamily="18" charset="0"/>
                <a:ea typeface="Cambria Math" pitchFamily="18" charset="0"/>
              </a:rPr>
              <a:t>A </a:t>
            </a:r>
            <a:r>
              <a:rPr lang="en-US" sz="2600" b="1" dirty="0">
                <a:solidFill>
                  <a:srgbClr val="C00000"/>
                </a:solidFill>
                <a:latin typeface="Cambria Math" pitchFamily="18" charset="0"/>
                <a:ea typeface="Cambria Math" pitchFamily="18" charset="0"/>
                <a:sym typeface="Symbol" pitchFamily="18" charset="2"/>
              </a:rPr>
              <a:t></a:t>
            </a:r>
            <a:r>
              <a:rPr lang="en-US" sz="2600" b="1" dirty="0">
                <a:solidFill>
                  <a:srgbClr val="C00000"/>
                </a:solidFill>
                <a:latin typeface="Cambria Math" pitchFamily="18" charset="0"/>
                <a:ea typeface="Cambria Math" pitchFamily="18" charset="0"/>
                <a:sym typeface="Math1" pitchFamily="2" charset="2"/>
              </a:rPr>
              <a:t> </a:t>
            </a:r>
            <a:r>
              <a:rPr lang="en-US" sz="2600" b="1" dirty="0">
                <a:solidFill>
                  <a:srgbClr val="C00000"/>
                </a:solidFill>
                <a:latin typeface="Cambria Math" pitchFamily="18" charset="0"/>
                <a:ea typeface="Cambria Math" pitchFamily="18" charset="0"/>
              </a:rPr>
              <a:t>B</a:t>
            </a:r>
            <a:r>
              <a:rPr lang="en-US" sz="2600" dirty="0">
                <a:latin typeface="Cambria Math" panose="02040503050406030204" pitchFamily="18" charset="0"/>
                <a:ea typeface="Cambria Math" panose="02040503050406030204" pitchFamily="18" charset="0"/>
              </a:rPr>
              <a:t>| = ? </a:t>
            </a:r>
          </a:p>
          <a:p>
            <a:pPr marL="0" indent="0" algn="just">
              <a:buNone/>
            </a:pPr>
            <a:r>
              <a:rPr lang="en-US" sz="2600" b="1" dirty="0">
                <a:solidFill>
                  <a:srgbClr val="C00000"/>
                </a:solidFill>
                <a:latin typeface="Cambria Math" pitchFamily="18" charset="0"/>
                <a:ea typeface="Cambria Math" pitchFamily="18" charset="0"/>
              </a:rPr>
              <a:t>A </a:t>
            </a:r>
            <a:r>
              <a:rPr lang="en-US" sz="2600" b="1" dirty="0">
                <a:solidFill>
                  <a:srgbClr val="C00000"/>
                </a:solidFill>
                <a:latin typeface="Cambria Math" pitchFamily="18" charset="0"/>
                <a:ea typeface="Cambria Math" pitchFamily="18" charset="0"/>
                <a:sym typeface="Symbol" pitchFamily="18" charset="2"/>
              </a:rPr>
              <a:t></a:t>
            </a:r>
            <a:r>
              <a:rPr lang="en-US" sz="2600" b="1" dirty="0">
                <a:solidFill>
                  <a:srgbClr val="C00000"/>
                </a:solidFill>
                <a:latin typeface="Cambria Math" pitchFamily="18" charset="0"/>
                <a:ea typeface="Cambria Math" pitchFamily="18" charset="0"/>
                <a:sym typeface="Math1" pitchFamily="2" charset="2"/>
              </a:rPr>
              <a:t> </a:t>
            </a:r>
            <a:r>
              <a:rPr lang="en-US" sz="2600" b="1" dirty="0">
                <a:solidFill>
                  <a:srgbClr val="C00000"/>
                </a:solidFill>
                <a:latin typeface="Cambria Math" pitchFamily="18" charset="0"/>
                <a:ea typeface="Cambria Math" pitchFamily="18" charset="0"/>
              </a:rPr>
              <a:t>B</a:t>
            </a:r>
            <a:r>
              <a:rPr lang="en-US" sz="2600" dirty="0">
                <a:latin typeface="Cambria Math" panose="02040503050406030204" pitchFamily="18" charset="0"/>
                <a:ea typeface="Cambria Math" panose="02040503050406030204" pitchFamily="18" charset="0"/>
              </a:rPr>
              <a:t> = ?</a:t>
            </a:r>
          </a:p>
          <a:p>
            <a:pPr marL="0" indent="0" algn="just">
              <a:buNone/>
            </a:pPr>
            <a:r>
              <a:rPr lang="en-US" sz="2600" b="1" dirty="0">
                <a:solidFill>
                  <a:srgbClr val="B31591"/>
                </a:solidFill>
                <a:latin typeface="Cambria Math" panose="02040503050406030204" pitchFamily="18" charset="0"/>
                <a:ea typeface="Cambria Math" panose="02040503050406030204" pitchFamily="18" charset="0"/>
              </a:rPr>
              <a:t>Solution:</a:t>
            </a:r>
          </a:p>
          <a:p>
            <a:pPr algn="just"/>
            <a:r>
              <a:rPr lang="en-US" sz="2600" dirty="0">
                <a:latin typeface="Cambria Math" panose="02040503050406030204" pitchFamily="18" charset="0"/>
                <a:ea typeface="Cambria Math" panose="02040503050406030204" pitchFamily="18" charset="0"/>
              </a:rPr>
              <a:t>A = {a, e, </a:t>
            </a:r>
            <a:r>
              <a:rPr lang="en-US" sz="2600" dirty="0" err="1">
                <a:latin typeface="Cambria Math" panose="02040503050406030204" pitchFamily="18" charset="0"/>
                <a:ea typeface="Cambria Math" panose="02040503050406030204" pitchFamily="18" charset="0"/>
              </a:rPr>
              <a:t>i</a:t>
            </a:r>
            <a:r>
              <a:rPr lang="en-US" sz="2600" dirty="0">
                <a:latin typeface="Cambria Math" panose="02040503050406030204" pitchFamily="18" charset="0"/>
                <a:ea typeface="Cambria Math" panose="02040503050406030204" pitchFamily="18" charset="0"/>
              </a:rPr>
              <a:t>, o, u}	</a:t>
            </a:r>
            <a:r>
              <a:rPr lang="en-US" sz="2600" dirty="0">
                <a:latin typeface="Cambria Math" panose="02040503050406030204" pitchFamily="18" charset="0"/>
                <a:ea typeface="Cambria Math" panose="02040503050406030204" pitchFamily="18" charset="0"/>
                <a:sym typeface="Wingdings" panose="05000000000000000000" pitchFamily="2" charset="2"/>
              </a:rPr>
              <a:t> </a:t>
            </a:r>
            <a:r>
              <a:rPr lang="en-US" sz="2600" dirty="0">
                <a:latin typeface="Cambria Math" panose="02040503050406030204" pitchFamily="18" charset="0"/>
                <a:ea typeface="Cambria Math" panose="02040503050406030204" pitchFamily="18" charset="0"/>
              </a:rPr>
              <a:t>|</a:t>
            </a:r>
            <a:r>
              <a:rPr lang="en-US" sz="2600" b="1" dirty="0">
                <a:solidFill>
                  <a:srgbClr val="C00000"/>
                </a:solidFill>
                <a:latin typeface="Cambria Math" panose="02040503050406030204" pitchFamily="18" charset="0"/>
                <a:ea typeface="Cambria Math" panose="02040503050406030204" pitchFamily="18" charset="0"/>
              </a:rPr>
              <a:t>A</a:t>
            </a:r>
            <a:r>
              <a:rPr lang="en-US" sz="2600" dirty="0">
                <a:latin typeface="Cambria Math" panose="02040503050406030204" pitchFamily="18" charset="0"/>
                <a:ea typeface="Cambria Math" panose="02040503050406030204" pitchFamily="18" charset="0"/>
              </a:rPr>
              <a:t>| = 5</a:t>
            </a:r>
          </a:p>
          <a:p>
            <a:pPr algn="just"/>
            <a:r>
              <a:rPr lang="en-US" sz="2600" dirty="0">
                <a:latin typeface="Cambria Math" panose="02040503050406030204" pitchFamily="18" charset="0"/>
                <a:ea typeface="Cambria Math" panose="02040503050406030204" pitchFamily="18" charset="0"/>
              </a:rPr>
              <a:t>B={a, b, c, d, e}	</a:t>
            </a:r>
            <a:r>
              <a:rPr lang="en-US" sz="2600" dirty="0">
                <a:latin typeface="Cambria Math" panose="02040503050406030204" pitchFamily="18" charset="0"/>
                <a:ea typeface="Cambria Math" panose="02040503050406030204" pitchFamily="18" charset="0"/>
                <a:sym typeface="Wingdings" panose="05000000000000000000" pitchFamily="2" charset="2"/>
              </a:rPr>
              <a:t> </a:t>
            </a:r>
            <a:r>
              <a:rPr lang="en-US" sz="2600" dirty="0">
                <a:latin typeface="Cambria Math" panose="02040503050406030204" pitchFamily="18" charset="0"/>
                <a:ea typeface="Cambria Math" panose="02040503050406030204" pitchFamily="18" charset="0"/>
              </a:rPr>
              <a:t>|</a:t>
            </a:r>
            <a:r>
              <a:rPr lang="en-US" sz="2600" b="1" dirty="0">
                <a:solidFill>
                  <a:srgbClr val="C00000"/>
                </a:solidFill>
                <a:latin typeface="Cambria Math" panose="02040503050406030204" pitchFamily="18" charset="0"/>
                <a:ea typeface="Cambria Math" panose="02040503050406030204" pitchFamily="18" charset="0"/>
              </a:rPr>
              <a:t>B</a:t>
            </a:r>
            <a:r>
              <a:rPr lang="en-US" sz="2600" dirty="0">
                <a:latin typeface="Cambria Math" panose="02040503050406030204" pitchFamily="18" charset="0"/>
                <a:ea typeface="Cambria Math" panose="02040503050406030204" pitchFamily="18" charset="0"/>
              </a:rPr>
              <a:t>| = 5</a:t>
            </a:r>
          </a:p>
          <a:p>
            <a:pPr algn="just"/>
            <a:r>
              <a:rPr lang="en-US" sz="2600" b="1" dirty="0">
                <a:solidFill>
                  <a:srgbClr val="C00000"/>
                </a:solidFill>
                <a:latin typeface="Cambria Math" pitchFamily="18" charset="0"/>
                <a:ea typeface="Cambria Math" pitchFamily="18" charset="0"/>
              </a:rPr>
              <a:t>A </a:t>
            </a:r>
            <a:r>
              <a:rPr lang="en-US" sz="2600" dirty="0">
                <a:solidFill>
                  <a:srgbClr val="C00000"/>
                </a:solidFill>
                <a:latin typeface="Cambria Math" pitchFamily="18" charset="0"/>
                <a:ea typeface="Cambria Math" pitchFamily="18" charset="0"/>
                <a:sym typeface="Symbol" pitchFamily="18" charset="2"/>
              </a:rPr>
              <a:t></a:t>
            </a:r>
            <a:r>
              <a:rPr lang="en-US" sz="2600" b="1" dirty="0">
                <a:solidFill>
                  <a:srgbClr val="C00000"/>
                </a:solidFill>
                <a:latin typeface="Cambria Math" pitchFamily="18" charset="0"/>
                <a:ea typeface="Cambria Math" pitchFamily="18" charset="0"/>
                <a:sym typeface="Math1" pitchFamily="2" charset="2"/>
              </a:rPr>
              <a:t> </a:t>
            </a:r>
            <a:r>
              <a:rPr lang="en-US" sz="2600" b="1" dirty="0">
                <a:solidFill>
                  <a:srgbClr val="C00000"/>
                </a:solidFill>
                <a:latin typeface="Cambria Math" pitchFamily="18" charset="0"/>
                <a:ea typeface="Cambria Math" pitchFamily="18" charset="0"/>
              </a:rPr>
              <a:t>B</a:t>
            </a:r>
            <a:r>
              <a:rPr lang="en-US" sz="2600" dirty="0">
                <a:latin typeface="Cambria Math" panose="02040503050406030204" pitchFamily="18" charset="0"/>
                <a:ea typeface="Cambria Math" panose="02040503050406030204" pitchFamily="18" charset="0"/>
              </a:rPr>
              <a:t> = {a, e}		</a:t>
            </a:r>
            <a:r>
              <a:rPr lang="en-US" sz="2600" dirty="0">
                <a:latin typeface="Cambria Math" panose="02040503050406030204" pitchFamily="18" charset="0"/>
                <a:ea typeface="Cambria Math" panose="02040503050406030204" pitchFamily="18" charset="0"/>
                <a:sym typeface="Wingdings" panose="05000000000000000000" pitchFamily="2" charset="2"/>
              </a:rPr>
              <a:t> </a:t>
            </a:r>
            <a:r>
              <a:rPr lang="en-US" sz="2600" b="1" dirty="0">
                <a:latin typeface="Cambria Math" pitchFamily="18" charset="0"/>
                <a:ea typeface="Cambria Math" pitchFamily="18" charset="0"/>
              </a:rPr>
              <a:t>|</a:t>
            </a:r>
            <a:r>
              <a:rPr lang="en-US" sz="2600" b="1" dirty="0">
                <a:solidFill>
                  <a:srgbClr val="C00000"/>
                </a:solidFill>
                <a:latin typeface="Cambria Math" pitchFamily="18" charset="0"/>
                <a:ea typeface="Cambria Math" pitchFamily="18" charset="0"/>
              </a:rPr>
              <a:t>A </a:t>
            </a:r>
            <a:r>
              <a:rPr lang="en-US" sz="2600" dirty="0">
                <a:solidFill>
                  <a:srgbClr val="C00000"/>
                </a:solidFill>
                <a:latin typeface="Cambria Math" pitchFamily="18" charset="0"/>
                <a:ea typeface="Cambria Math" pitchFamily="18" charset="0"/>
                <a:sym typeface="Symbol" pitchFamily="18" charset="2"/>
              </a:rPr>
              <a:t></a:t>
            </a:r>
            <a:r>
              <a:rPr lang="en-US" sz="2600" b="1" dirty="0">
                <a:solidFill>
                  <a:srgbClr val="C00000"/>
                </a:solidFill>
                <a:latin typeface="Cambria Math" pitchFamily="18" charset="0"/>
                <a:ea typeface="Cambria Math" pitchFamily="18" charset="0"/>
                <a:sym typeface="Math1" pitchFamily="2" charset="2"/>
              </a:rPr>
              <a:t> </a:t>
            </a:r>
            <a:r>
              <a:rPr lang="en-US" sz="2600" b="1" dirty="0">
                <a:solidFill>
                  <a:srgbClr val="C00000"/>
                </a:solidFill>
                <a:latin typeface="Cambria Math" pitchFamily="18" charset="0"/>
                <a:ea typeface="Cambria Math" pitchFamily="18" charset="0"/>
              </a:rPr>
              <a:t>B</a:t>
            </a:r>
            <a:r>
              <a:rPr lang="en-US" sz="2600" b="1" dirty="0">
                <a:latin typeface="Cambria Math" pitchFamily="18" charset="0"/>
                <a:ea typeface="Cambria Math" pitchFamily="18" charset="0"/>
              </a:rPr>
              <a:t>|</a:t>
            </a:r>
            <a:r>
              <a:rPr lang="en-US" sz="2600" dirty="0">
                <a:latin typeface="Cambria Math" panose="02040503050406030204" pitchFamily="18" charset="0"/>
                <a:ea typeface="Cambria Math" panose="02040503050406030204" pitchFamily="18" charset="0"/>
              </a:rPr>
              <a:t> = 2</a:t>
            </a:r>
            <a:endParaRPr lang="en-US" sz="2600" b="1" dirty="0">
              <a:solidFill>
                <a:srgbClr val="C00000"/>
              </a:solidFill>
              <a:latin typeface="Cambria Math" pitchFamily="18" charset="0"/>
              <a:ea typeface="Cambria Math" pitchFamily="18" charset="0"/>
            </a:endParaRPr>
          </a:p>
          <a:p>
            <a:pPr marL="0" indent="0" algn="just">
              <a:buNone/>
            </a:pPr>
            <a:endParaRPr lang="en-US" sz="2600" dirty="0">
              <a:latin typeface="Cambria Math" panose="02040503050406030204" pitchFamily="18" charset="0"/>
              <a:ea typeface="Cambria Math" panose="02040503050406030204" pitchFamily="18" charset="0"/>
            </a:endParaRPr>
          </a:p>
          <a:p>
            <a:pPr marL="0" indent="0" algn="just">
              <a:buNone/>
            </a:pPr>
            <a:endParaRPr lang="en-US" sz="2600" dirty="0">
              <a:latin typeface="Cambria Math" panose="02040503050406030204" pitchFamily="18" charset="0"/>
              <a:ea typeface="Cambria Math" panose="02040503050406030204" pitchFamily="18" charset="0"/>
            </a:endParaRPr>
          </a:p>
          <a:p>
            <a:pPr marL="0" indent="0" algn="just">
              <a:buNone/>
            </a:pPr>
            <a:r>
              <a:rPr lang="en-US" sz="2600" dirty="0">
                <a:latin typeface="Cambria Math" panose="02040503050406030204" pitchFamily="18" charset="0"/>
                <a:ea typeface="Cambria Math" panose="02040503050406030204" pitchFamily="18" charset="0"/>
              </a:rPr>
              <a:t>|</a:t>
            </a:r>
            <a:r>
              <a:rPr lang="en-US" sz="2600" b="1" dirty="0">
                <a:solidFill>
                  <a:srgbClr val="C00000"/>
                </a:solidFill>
                <a:latin typeface="Cambria Math" pitchFamily="18" charset="0"/>
                <a:ea typeface="Cambria Math" pitchFamily="18" charset="0"/>
              </a:rPr>
              <a:t>A </a:t>
            </a:r>
            <a:r>
              <a:rPr lang="en-US" sz="2600" b="1" dirty="0">
                <a:solidFill>
                  <a:srgbClr val="C00000"/>
                </a:solidFill>
                <a:latin typeface="Cambria Math" pitchFamily="18" charset="0"/>
                <a:ea typeface="Cambria Math" pitchFamily="18" charset="0"/>
                <a:sym typeface="Symbol" pitchFamily="18" charset="2"/>
              </a:rPr>
              <a:t></a:t>
            </a:r>
            <a:r>
              <a:rPr lang="en-US" sz="2600" b="1" dirty="0">
                <a:solidFill>
                  <a:srgbClr val="C00000"/>
                </a:solidFill>
                <a:latin typeface="Cambria Math" pitchFamily="18" charset="0"/>
                <a:ea typeface="Cambria Math" pitchFamily="18" charset="0"/>
                <a:sym typeface="Math1" pitchFamily="2" charset="2"/>
              </a:rPr>
              <a:t> </a:t>
            </a:r>
            <a:r>
              <a:rPr lang="en-US" sz="2600" b="1" dirty="0">
                <a:solidFill>
                  <a:srgbClr val="C00000"/>
                </a:solidFill>
                <a:latin typeface="Cambria Math" pitchFamily="18" charset="0"/>
                <a:ea typeface="Cambria Math" pitchFamily="18" charset="0"/>
              </a:rPr>
              <a:t>B</a:t>
            </a:r>
            <a:r>
              <a:rPr lang="en-US" sz="2600" dirty="0">
                <a:latin typeface="Cambria Math" panose="02040503050406030204" pitchFamily="18" charset="0"/>
                <a:ea typeface="Cambria Math" panose="02040503050406030204" pitchFamily="18" charset="0"/>
              </a:rPr>
              <a:t>| = |</a:t>
            </a:r>
            <a:r>
              <a:rPr lang="en-US" sz="2600" dirty="0">
                <a:solidFill>
                  <a:srgbClr val="C00000"/>
                </a:solidFill>
                <a:latin typeface="Cambria Math" pitchFamily="18" charset="0"/>
                <a:ea typeface="Cambria Math" pitchFamily="18" charset="0"/>
              </a:rPr>
              <a:t>A</a:t>
            </a:r>
            <a:r>
              <a:rPr lang="en-US" sz="2600" dirty="0">
                <a:latin typeface="Cambria Math" panose="02040503050406030204" pitchFamily="18" charset="0"/>
                <a:ea typeface="Cambria Math" panose="02040503050406030204" pitchFamily="18" charset="0"/>
              </a:rPr>
              <a:t>| + |</a:t>
            </a:r>
            <a:r>
              <a:rPr lang="en-US" sz="2600" dirty="0">
                <a:solidFill>
                  <a:srgbClr val="C00000"/>
                </a:solidFill>
                <a:latin typeface="Cambria Math" pitchFamily="18" charset="0"/>
                <a:ea typeface="Cambria Math" pitchFamily="18" charset="0"/>
              </a:rPr>
              <a:t>B</a:t>
            </a:r>
            <a:r>
              <a:rPr lang="en-US" sz="2600" dirty="0">
                <a:latin typeface="Cambria Math" panose="02040503050406030204" pitchFamily="18" charset="0"/>
                <a:ea typeface="Cambria Math" panose="02040503050406030204" pitchFamily="18" charset="0"/>
              </a:rPr>
              <a:t>| - |</a:t>
            </a:r>
            <a:r>
              <a:rPr lang="en-US" sz="2600" dirty="0">
                <a:solidFill>
                  <a:srgbClr val="C00000"/>
                </a:solidFill>
                <a:latin typeface="Cambria Math" pitchFamily="18" charset="0"/>
                <a:ea typeface="Cambria Math" pitchFamily="18" charset="0"/>
              </a:rPr>
              <a:t>A </a:t>
            </a:r>
            <a:r>
              <a:rPr lang="en-US" sz="2600" dirty="0">
                <a:solidFill>
                  <a:srgbClr val="C00000"/>
                </a:solidFill>
                <a:latin typeface="Cambria Math" pitchFamily="18" charset="0"/>
                <a:ea typeface="Cambria Math" pitchFamily="18" charset="0"/>
                <a:sym typeface="Symbol" pitchFamily="18" charset="2"/>
              </a:rPr>
              <a:t></a:t>
            </a:r>
            <a:r>
              <a:rPr lang="en-US" sz="2600" dirty="0">
                <a:solidFill>
                  <a:srgbClr val="C00000"/>
                </a:solidFill>
                <a:latin typeface="Cambria Math" pitchFamily="18" charset="0"/>
                <a:ea typeface="Cambria Math" pitchFamily="18" charset="0"/>
                <a:sym typeface="Math1" pitchFamily="2" charset="2"/>
              </a:rPr>
              <a:t> </a:t>
            </a:r>
            <a:r>
              <a:rPr lang="en-US" sz="2600" dirty="0">
                <a:solidFill>
                  <a:srgbClr val="C00000"/>
                </a:solidFill>
                <a:latin typeface="Cambria Math" pitchFamily="18" charset="0"/>
                <a:ea typeface="Cambria Math" pitchFamily="18" charset="0"/>
              </a:rPr>
              <a:t>B</a:t>
            </a:r>
            <a:r>
              <a:rPr lang="en-US" sz="2600" dirty="0">
                <a:latin typeface="Cambria Math" panose="02040503050406030204" pitchFamily="18" charset="0"/>
                <a:ea typeface="Cambria Math" panose="02040503050406030204" pitchFamily="18" charset="0"/>
              </a:rPr>
              <a:t>| = 5 + 5 – 2 = </a:t>
            </a:r>
            <a:r>
              <a:rPr lang="en-US" sz="2600" dirty="0">
                <a:solidFill>
                  <a:srgbClr val="B31591"/>
                </a:solidFill>
                <a:latin typeface="Cambria Math" panose="02040503050406030204" pitchFamily="18" charset="0"/>
                <a:ea typeface="Cambria Math" panose="02040503050406030204" pitchFamily="18" charset="0"/>
              </a:rPr>
              <a:t>8</a:t>
            </a:r>
          </a:p>
        </p:txBody>
      </p:sp>
      <p:sp>
        <p:nvSpPr>
          <p:cNvPr id="10" name="Title 1">
            <a:extLst>
              <a:ext uri="{FF2B5EF4-FFF2-40B4-BE49-F238E27FC236}">
                <a16:creationId xmlns:a16="http://schemas.microsoft.com/office/drawing/2014/main" id="{CC8B7344-E08E-4CD3-9B48-B0CDF5540CA0}"/>
              </a:ext>
            </a:extLst>
          </p:cNvPr>
          <p:cNvSpPr txBox="1">
            <a:spLocks/>
          </p:cNvSpPr>
          <p:nvPr/>
        </p:nvSpPr>
        <p:spPr>
          <a:xfrm>
            <a:off x="693217" y="94364"/>
            <a:ext cx="10515600" cy="120575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u="sng" dirty="0">
                <a:solidFill>
                  <a:srgbClr val="0070C0"/>
                </a:solidFill>
              </a:rPr>
              <a:t>EXAMPLE … </a:t>
            </a:r>
            <a:r>
              <a:rPr lang="en-US" sz="3600" b="1" u="sng" dirty="0">
                <a:solidFill>
                  <a:srgbClr val="00B050"/>
                </a:solidFill>
              </a:rPr>
              <a:t>Principle of Inclusion – Exclusion </a:t>
            </a:r>
            <a:endParaRPr lang="en-US" b="1" u="sng" dirty="0">
              <a:solidFill>
                <a:srgbClr val="00B050"/>
              </a:solidFill>
            </a:endParaRPr>
          </a:p>
        </p:txBody>
      </p:sp>
    </p:spTree>
    <p:extLst>
      <p:ext uri="{BB962C8B-B14F-4D97-AF65-F5344CB8AC3E}">
        <p14:creationId xmlns:p14="http://schemas.microsoft.com/office/powerpoint/2010/main" val="3006059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8">
                                            <p:txEl>
                                              <p:pRg st="1" end="1"/>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8">
                                            <p:txEl>
                                              <p:pRg st="2" end="2"/>
                                            </p:txEl>
                                          </p:spTgt>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8">
                                            <p:txEl>
                                              <p:pRg st="3" end="3"/>
                                            </p:txEl>
                                          </p:spTgt>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8">
                                            <p:txEl>
                                              <p:pRg st="4" end="4"/>
                                            </p:txEl>
                                          </p:spTgt>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8">
                                            <p:txEl>
                                              <p:pRg st="5" end="5"/>
                                            </p:txEl>
                                          </p:spTgt>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575890" y="1545927"/>
            <a:ext cx="11039520" cy="959655"/>
          </a:xfrm>
        </p:spPr>
        <p:txBody>
          <a:bodyPr>
            <a:normAutofit/>
          </a:bodyPr>
          <a:lstStyle/>
          <a:p>
            <a:pPr marL="0" indent="0">
              <a:buNone/>
            </a:pPr>
            <a:r>
              <a:rPr lang="en-US" sz="2600" dirty="0">
                <a:latin typeface="Cambria Math" panose="02040503050406030204" pitchFamily="18" charset="0"/>
                <a:ea typeface="Cambria Math" panose="02040503050406030204" pitchFamily="18" charset="0"/>
              </a:rPr>
              <a:t>How many </a:t>
            </a:r>
            <a:r>
              <a:rPr lang="en-US" sz="2600" dirty="0">
                <a:solidFill>
                  <a:srgbClr val="FF0000"/>
                </a:solidFill>
                <a:latin typeface="Cambria Math" panose="02040503050406030204" pitchFamily="18" charset="0"/>
                <a:ea typeface="Cambria Math" panose="02040503050406030204" pitchFamily="18" charset="0"/>
              </a:rPr>
              <a:t>positive integers </a:t>
            </a:r>
            <a:r>
              <a:rPr lang="en-US" sz="2600" dirty="0">
                <a:latin typeface="Cambria Math" panose="02040503050406030204" pitchFamily="18" charset="0"/>
                <a:ea typeface="Cambria Math" panose="02040503050406030204" pitchFamily="18" charset="0"/>
              </a:rPr>
              <a:t>not bigger than </a:t>
            </a:r>
            <a:r>
              <a:rPr lang="en-US" sz="2600" dirty="0">
                <a:solidFill>
                  <a:srgbClr val="FF0000"/>
                </a:solidFill>
                <a:latin typeface="Cambria Math" panose="02040503050406030204" pitchFamily="18" charset="0"/>
                <a:ea typeface="Cambria Math" panose="02040503050406030204" pitchFamily="18" charset="0"/>
              </a:rPr>
              <a:t>20 </a:t>
            </a:r>
            <a:r>
              <a:rPr lang="en-US" sz="2600" dirty="0">
                <a:latin typeface="Cambria Math" panose="02040503050406030204" pitchFamily="18" charset="0"/>
                <a:ea typeface="Cambria Math" panose="02040503050406030204" pitchFamily="18" charset="0"/>
              </a:rPr>
              <a:t>are </a:t>
            </a:r>
            <a:r>
              <a:rPr lang="en-US" sz="2600" dirty="0">
                <a:solidFill>
                  <a:srgbClr val="FF0000"/>
                </a:solidFill>
                <a:latin typeface="Cambria Math" panose="02040503050406030204" pitchFamily="18" charset="0"/>
                <a:ea typeface="Cambria Math" panose="02040503050406030204" pitchFamily="18" charset="0"/>
              </a:rPr>
              <a:t>divisible by either 2 or 3</a:t>
            </a:r>
            <a:r>
              <a:rPr lang="en-US" sz="2600" dirty="0">
                <a:latin typeface="Cambria Math" panose="02040503050406030204" pitchFamily="18" charset="0"/>
                <a:ea typeface="Cambria Math" panose="02040503050406030204" pitchFamily="18" charset="0"/>
              </a:rPr>
              <a:t>? </a:t>
            </a:r>
          </a:p>
          <a:p>
            <a:pPr marL="0" indent="0">
              <a:buNone/>
            </a:pPr>
            <a:endParaRPr lang="en-US" sz="2600" dirty="0">
              <a:latin typeface="Cambria Math" panose="02040503050406030204" pitchFamily="18" charset="0"/>
              <a:ea typeface="Cambria Math" panose="02040503050406030204" pitchFamily="18" charset="0"/>
            </a:endParaRPr>
          </a:p>
        </p:txBody>
      </p:sp>
      <p:sp>
        <p:nvSpPr>
          <p:cNvPr id="2" name="TextBox 1">
            <a:extLst>
              <a:ext uri="{FF2B5EF4-FFF2-40B4-BE49-F238E27FC236}">
                <a16:creationId xmlns:a16="http://schemas.microsoft.com/office/drawing/2014/main" id="{DEC5B7FA-D9EC-2D9C-5C55-B2F004FFB3E1}"/>
              </a:ext>
            </a:extLst>
          </p:cNvPr>
          <p:cNvSpPr txBox="1"/>
          <p:nvPr/>
        </p:nvSpPr>
        <p:spPr>
          <a:xfrm>
            <a:off x="575890" y="2025754"/>
            <a:ext cx="10136138" cy="4770537"/>
          </a:xfrm>
          <a:prstGeom prst="rect">
            <a:avLst/>
          </a:prstGeom>
          <a:noFill/>
        </p:spPr>
        <p:txBody>
          <a:bodyPr wrap="square" rtlCol="0">
            <a:spAutoFit/>
          </a:bodyPr>
          <a:lstStyle/>
          <a:p>
            <a:pPr marL="0" indent="0">
              <a:buNone/>
            </a:pPr>
            <a:r>
              <a:rPr lang="en-US" sz="2800" b="1" u="sng" dirty="0">
                <a:solidFill>
                  <a:srgbClr val="0070C0"/>
                </a:solidFill>
                <a:latin typeface="+mj-lt"/>
                <a:ea typeface="+mj-ea"/>
                <a:cs typeface="+mj-cs"/>
              </a:rPr>
              <a:t>Solution:</a:t>
            </a:r>
          </a:p>
          <a:p>
            <a:pPr marL="0" indent="0">
              <a:lnSpc>
                <a:spcPct val="150000"/>
              </a:lnSpc>
              <a:buNone/>
            </a:pPr>
            <a:r>
              <a:rPr lang="en-US" sz="2400" dirty="0">
                <a:latin typeface="Cambria Math" panose="02040503050406030204" pitchFamily="18" charset="0"/>
                <a:ea typeface="Cambria Math" panose="02040503050406030204" pitchFamily="18" charset="0"/>
              </a:rPr>
              <a:t>Set of all positive integers not greater than 20 = A =  </a:t>
            </a:r>
            <a:r>
              <a:rPr lang="en-US" sz="2400" b="1" dirty="0">
                <a:latin typeface="Cambria Math" panose="02040503050406030204" pitchFamily="18" charset="0"/>
                <a:ea typeface="Cambria Math" panose="02040503050406030204" pitchFamily="18" charset="0"/>
              </a:rPr>
              <a:t>{1, 2, 3, …, 20}</a:t>
            </a:r>
          </a:p>
          <a:p>
            <a:pPr marL="0" indent="0">
              <a:lnSpc>
                <a:spcPct val="150000"/>
              </a:lnSpc>
              <a:buNone/>
            </a:pPr>
            <a:r>
              <a:rPr lang="en-US" sz="2400" dirty="0">
                <a:latin typeface="Cambria Math" panose="02040503050406030204" pitchFamily="18" charset="0"/>
                <a:ea typeface="Cambria Math" panose="02040503050406030204" pitchFamily="18" charset="0"/>
              </a:rPr>
              <a:t>Numbers divisible by 2 = B = {2, 4, 6, …, 20}</a:t>
            </a:r>
          </a:p>
          <a:p>
            <a:pPr marL="0" indent="0">
              <a:lnSpc>
                <a:spcPct val="150000"/>
              </a:lnSpc>
              <a:buNone/>
            </a:pPr>
            <a:r>
              <a:rPr lang="en-US" sz="2400" dirty="0">
                <a:latin typeface="Cambria Math" panose="02040503050406030204" pitchFamily="18" charset="0"/>
                <a:ea typeface="Cambria Math" panose="02040503050406030204" pitchFamily="18" charset="0"/>
              </a:rPr>
              <a:t>Numbers divisible by 3 = C = {3, 6, 9, …, 18}</a:t>
            </a:r>
          </a:p>
          <a:p>
            <a:pPr marL="0" indent="0">
              <a:lnSpc>
                <a:spcPct val="150000"/>
              </a:lnSpc>
              <a:buNone/>
            </a:pPr>
            <a:r>
              <a:rPr lang="en-US" sz="2400" dirty="0">
                <a:latin typeface="Cambria Math" panose="02040503050406030204" pitchFamily="18" charset="0"/>
                <a:ea typeface="Cambria Math" panose="02040503050406030204" pitchFamily="18" charset="0"/>
              </a:rPr>
              <a:t>Numbers divisible by both 2 and 3 = B</a:t>
            </a:r>
            <a:r>
              <a:rPr lang="en-US" sz="2400" dirty="0">
                <a:latin typeface="Cambria Math" pitchFamily="18" charset="0"/>
                <a:ea typeface="Cambria Math" pitchFamily="18" charset="0"/>
                <a:sym typeface="Symbol" pitchFamily="18" charset="2"/>
              </a:rPr>
              <a:t>  </a:t>
            </a:r>
            <a:r>
              <a:rPr lang="en-US" sz="2400" dirty="0">
                <a:latin typeface="Cambria Math" panose="02040503050406030204" pitchFamily="18" charset="0"/>
                <a:ea typeface="Cambria Math" panose="02040503050406030204" pitchFamily="18" charset="0"/>
              </a:rPr>
              <a:t>C = {6, 12, 18}</a:t>
            </a:r>
          </a:p>
          <a:p>
            <a:pPr marL="0" indent="0">
              <a:lnSpc>
                <a:spcPct val="150000"/>
              </a:lnSpc>
              <a:buNone/>
            </a:pPr>
            <a:r>
              <a:rPr lang="en-US" sz="2400" dirty="0">
                <a:latin typeface="Cambria Math" panose="02040503050406030204" pitchFamily="18" charset="0"/>
                <a:ea typeface="Cambria Math" panose="02040503050406030204" pitchFamily="18" charset="0"/>
              </a:rPr>
              <a:t>	Required Elements = R = |B∪C| = ?</a:t>
            </a:r>
          </a:p>
          <a:p>
            <a:pPr marL="0" indent="0">
              <a:lnSpc>
                <a:spcPct val="150000"/>
              </a:lnSpc>
              <a:buNone/>
            </a:pPr>
            <a:r>
              <a:rPr lang="en-US" sz="2400" dirty="0">
                <a:latin typeface="Cambria Math" panose="02040503050406030204" pitchFamily="18" charset="0"/>
                <a:ea typeface="Cambria Math" panose="02040503050406030204" pitchFamily="18" charset="0"/>
              </a:rPr>
              <a:t>			| B∪C| = |B| + |C| - |B</a:t>
            </a:r>
            <a:r>
              <a:rPr lang="en-US" sz="2400" dirty="0">
                <a:latin typeface="Cambria Math" pitchFamily="18" charset="0"/>
                <a:ea typeface="Cambria Math" pitchFamily="18" charset="0"/>
                <a:sym typeface="Symbol" pitchFamily="18" charset="2"/>
              </a:rPr>
              <a:t>  </a:t>
            </a:r>
            <a:r>
              <a:rPr lang="en-US" sz="2400" dirty="0">
                <a:latin typeface="Cambria Math" panose="02040503050406030204" pitchFamily="18" charset="0"/>
                <a:ea typeface="Cambria Math" panose="02040503050406030204" pitchFamily="18" charset="0"/>
              </a:rPr>
              <a:t>C|</a:t>
            </a:r>
          </a:p>
          <a:p>
            <a:pPr marL="0" indent="0">
              <a:lnSpc>
                <a:spcPct val="150000"/>
              </a:lnSpc>
              <a:buNone/>
            </a:pPr>
            <a:r>
              <a:rPr lang="en-US" sz="2400" dirty="0">
                <a:latin typeface="Cambria Math" panose="02040503050406030204" pitchFamily="18" charset="0"/>
                <a:ea typeface="Cambria Math" panose="02040503050406030204" pitchFamily="18" charset="0"/>
              </a:rPr>
              <a:t>		Total numbers = 10+6 -3 = 13</a:t>
            </a:r>
          </a:p>
          <a:p>
            <a:endParaRPr lang="en-US" sz="2400" dirty="0"/>
          </a:p>
        </p:txBody>
      </p:sp>
      <p:sp>
        <p:nvSpPr>
          <p:cNvPr id="6" name="Title 1">
            <a:extLst>
              <a:ext uri="{FF2B5EF4-FFF2-40B4-BE49-F238E27FC236}">
                <a16:creationId xmlns:a16="http://schemas.microsoft.com/office/drawing/2014/main" id="{14335954-4FB0-4DD9-9035-451A7603E498}"/>
              </a:ext>
            </a:extLst>
          </p:cNvPr>
          <p:cNvSpPr>
            <a:spLocks noGrp="1"/>
          </p:cNvSpPr>
          <p:nvPr>
            <p:ph type="title"/>
          </p:nvPr>
        </p:nvSpPr>
        <p:spPr>
          <a:xfrm>
            <a:off x="575890" y="0"/>
            <a:ext cx="10515600" cy="1325563"/>
          </a:xfrm>
        </p:spPr>
        <p:txBody>
          <a:bodyPr>
            <a:normAutofit/>
          </a:bodyPr>
          <a:lstStyle/>
          <a:p>
            <a:pPr algn="ctr"/>
            <a:r>
              <a:rPr lang="en-US" b="1" u="sng" dirty="0">
                <a:solidFill>
                  <a:srgbClr val="0070C0"/>
                </a:solidFill>
              </a:rPr>
              <a:t>EXAMPLE … </a:t>
            </a:r>
            <a:r>
              <a:rPr lang="en-US" sz="3600" b="1" u="sng" dirty="0">
                <a:solidFill>
                  <a:srgbClr val="00B050"/>
                </a:solidFill>
              </a:rPr>
              <a:t>Principle of Inclusion – Exclusion </a:t>
            </a:r>
            <a:endParaRPr lang="en-US" b="1" u="sng" dirty="0">
              <a:solidFill>
                <a:srgbClr val="00B050"/>
              </a:solidFill>
            </a:endParaRPr>
          </a:p>
        </p:txBody>
      </p:sp>
    </p:spTree>
    <p:extLst>
      <p:ext uri="{BB962C8B-B14F-4D97-AF65-F5344CB8AC3E}">
        <p14:creationId xmlns:p14="http://schemas.microsoft.com/office/powerpoint/2010/main" val="2799861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643FC-3359-422D-9B07-A891410309C2}"/>
              </a:ext>
            </a:extLst>
          </p:cNvPr>
          <p:cNvSpPr>
            <a:spLocks noGrp="1"/>
          </p:cNvSpPr>
          <p:nvPr>
            <p:ph type="title"/>
          </p:nvPr>
        </p:nvSpPr>
        <p:spPr>
          <a:xfrm>
            <a:off x="658906" y="0"/>
            <a:ext cx="10515600" cy="1114051"/>
          </a:xfrm>
        </p:spPr>
        <p:txBody>
          <a:bodyPr/>
          <a:lstStyle/>
          <a:p>
            <a:r>
              <a:rPr lang="en-US" b="1" u="sng" dirty="0">
                <a:solidFill>
                  <a:srgbClr val="0070C0"/>
                </a:solidFill>
              </a:rPr>
              <a:t>Practice Questions … </a:t>
            </a:r>
            <a:r>
              <a:rPr lang="en-US" b="1" u="sng" dirty="0">
                <a:solidFill>
                  <a:schemeClr val="accent1">
                    <a:lumMod val="75000"/>
                  </a:schemeClr>
                </a:solidFill>
              </a:rPr>
              <a:t>Do  it Yourself</a:t>
            </a:r>
            <a:endParaRPr lang="en-US" dirty="0">
              <a:solidFill>
                <a:schemeClr val="accent1">
                  <a:lumMod val="75000"/>
                </a:schemeClr>
              </a:solidFill>
            </a:endParaRPr>
          </a:p>
        </p:txBody>
      </p:sp>
      <p:sp>
        <p:nvSpPr>
          <p:cNvPr id="3" name="Content Placeholder 2">
            <a:extLst>
              <a:ext uri="{FF2B5EF4-FFF2-40B4-BE49-F238E27FC236}">
                <a16:creationId xmlns:a16="http://schemas.microsoft.com/office/drawing/2014/main" id="{DB6527E4-AB40-4FD1-9D87-0F2AF8FD6319}"/>
              </a:ext>
            </a:extLst>
          </p:cNvPr>
          <p:cNvSpPr>
            <a:spLocks noGrp="1"/>
          </p:cNvSpPr>
          <p:nvPr>
            <p:ph idx="1"/>
          </p:nvPr>
        </p:nvSpPr>
        <p:spPr>
          <a:xfrm>
            <a:off x="658906" y="1277471"/>
            <a:ext cx="10993598" cy="5432611"/>
          </a:xfrm>
        </p:spPr>
        <p:txBody>
          <a:bodyPr>
            <a:normAutofit/>
          </a:bodyPr>
          <a:lstStyle/>
          <a:p>
            <a:pPr algn="just">
              <a:buFont typeface="Wingdings" panose="05000000000000000000" pitchFamily="2" charset="2"/>
              <a:buChar char="ü"/>
            </a:pPr>
            <a:r>
              <a:rPr lang="en-US" sz="2600" dirty="0">
                <a:latin typeface="Cambria Math" panose="02040503050406030204" pitchFamily="18" charset="0"/>
                <a:ea typeface="Cambria Math" panose="02040503050406030204" pitchFamily="18" charset="0"/>
              </a:rPr>
              <a:t>How many bit-strings of length eight either begin with 00 or end with 101?</a:t>
            </a:r>
          </a:p>
          <a:p>
            <a:pPr algn="just">
              <a:buFont typeface="Wingdings" panose="05000000000000000000" pitchFamily="2" charset="2"/>
              <a:buChar char="ü"/>
            </a:pPr>
            <a:r>
              <a:rPr lang="en-US" sz="2600" dirty="0">
                <a:latin typeface="Cambria Math" panose="02040503050406030204" pitchFamily="18" charset="0"/>
                <a:ea typeface="Cambria Math" panose="02040503050406030204" pitchFamily="18" charset="0"/>
              </a:rPr>
              <a:t>How many positive integers up to 1000 are divisible by 7 or 11?</a:t>
            </a:r>
          </a:p>
          <a:p>
            <a:pPr algn="just">
              <a:buFont typeface="Wingdings" panose="05000000000000000000" pitchFamily="2" charset="2"/>
              <a:buChar char="ü"/>
            </a:pPr>
            <a:r>
              <a:rPr lang="en-US" sz="2600" dirty="0">
                <a:latin typeface="Cambria Math" panose="02040503050406030204" pitchFamily="18" charset="0"/>
                <a:ea typeface="Cambria Math" panose="02040503050406030204" pitchFamily="18" charset="0"/>
              </a:rPr>
              <a:t>How many positive integers under 500 are not divisible by either of the numbers 2, 3, 5?</a:t>
            </a:r>
          </a:p>
          <a:p>
            <a:pPr algn="just">
              <a:buFont typeface="Wingdings" panose="05000000000000000000" pitchFamily="2" charset="2"/>
              <a:buChar char="ü"/>
            </a:pPr>
            <a:r>
              <a:rPr lang="en-US" sz="2600" dirty="0">
                <a:latin typeface="Cambria Math" panose="02040503050406030204" pitchFamily="18" charset="0"/>
                <a:ea typeface="Cambria Math" panose="02040503050406030204" pitchFamily="18" charset="0"/>
              </a:rPr>
              <a:t>There are a total of 40 students in a class. 18 of the students have Babar Azam’s pictures, 16 of the students have Shadab Khan’s pictures and 12 of them have Emad Wasim’s pictures. 7 of them have both Babar Azam and Shadab Khan’s pictures. 5 of them have Babar Azam and Emad Wasim’s pictures. 3 of them have both Shadab Khan and Emad Wasim’s pictures. 2 of the students have all three players’ pictures. How many of the students have no pictures of these players at all. </a:t>
            </a:r>
          </a:p>
          <a:p>
            <a:pPr algn="just">
              <a:buFont typeface="Wingdings" panose="05000000000000000000" pitchFamily="2" charset="2"/>
              <a:buChar char="ü"/>
            </a:pPr>
            <a:endParaRPr lang="en-US" sz="2600" dirty="0">
              <a:latin typeface="Cambria Math" panose="02040503050406030204" pitchFamily="18" charset="0"/>
              <a:ea typeface="Cambria Math" panose="02040503050406030204" pitchFamily="18" charset="0"/>
            </a:endParaRPr>
          </a:p>
          <a:p>
            <a:pPr algn="just"/>
            <a:endParaRPr lang="en-US" sz="2600" dirty="0"/>
          </a:p>
        </p:txBody>
      </p:sp>
    </p:spTree>
    <p:extLst>
      <p:ext uri="{BB962C8B-B14F-4D97-AF65-F5344CB8AC3E}">
        <p14:creationId xmlns:p14="http://schemas.microsoft.com/office/powerpoint/2010/main" val="30473958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791" y="0"/>
            <a:ext cx="10515600" cy="1325563"/>
          </a:xfrm>
        </p:spPr>
        <p:txBody>
          <a:bodyPr>
            <a:normAutofit/>
          </a:bodyPr>
          <a:lstStyle/>
          <a:p>
            <a:pPr algn="ctr"/>
            <a:r>
              <a:rPr lang="en-US" b="1" u="sng" dirty="0">
                <a:solidFill>
                  <a:srgbClr val="0070C0"/>
                </a:solidFill>
              </a:rPr>
              <a:t>EXAMPLE</a:t>
            </a:r>
          </a:p>
        </p:txBody>
      </p:sp>
      <p:sp>
        <p:nvSpPr>
          <p:cNvPr id="4" name="Content Placeholder 3"/>
          <p:cNvSpPr>
            <a:spLocks noGrp="1"/>
          </p:cNvSpPr>
          <p:nvPr>
            <p:ph sz="quarter" idx="1"/>
          </p:nvPr>
        </p:nvSpPr>
        <p:spPr>
          <a:xfrm>
            <a:off x="1109609" y="1499129"/>
            <a:ext cx="9829800" cy="3859742"/>
          </a:xfrm>
        </p:spPr>
        <p:txBody>
          <a:bodyPr>
            <a:normAutofit fontScale="92500" lnSpcReduction="10000"/>
          </a:bodyPr>
          <a:lstStyle/>
          <a:p>
            <a:pPr marL="0" indent="0">
              <a:buNone/>
            </a:pPr>
            <a:r>
              <a:rPr lang="en-US" dirty="0"/>
              <a:t>   Suppose</a:t>
            </a:r>
          </a:p>
          <a:p>
            <a:pPr>
              <a:buNone/>
            </a:pPr>
            <a:r>
              <a:rPr lang="en-US" dirty="0"/>
              <a:t>	There are </a:t>
            </a:r>
            <a:r>
              <a:rPr lang="en-US" dirty="0">
                <a:solidFill>
                  <a:srgbClr val="FF0000"/>
                </a:solidFill>
              </a:rPr>
              <a:t>7</a:t>
            </a:r>
            <a:r>
              <a:rPr lang="en-US" dirty="0"/>
              <a:t> different optional courses in</a:t>
            </a:r>
            <a:r>
              <a:rPr lang="en-US" dirty="0">
                <a:solidFill>
                  <a:srgbClr val="FF0000"/>
                </a:solidFill>
              </a:rPr>
              <a:t> Computer Science</a:t>
            </a:r>
            <a:r>
              <a:rPr lang="en-US" dirty="0"/>
              <a:t> and</a:t>
            </a:r>
          </a:p>
          <a:p>
            <a:pPr>
              <a:buNone/>
            </a:pPr>
            <a:r>
              <a:rPr lang="en-US" dirty="0"/>
              <a:t>	</a:t>
            </a:r>
            <a:r>
              <a:rPr lang="en-US" dirty="0">
                <a:solidFill>
                  <a:srgbClr val="FF0000"/>
                </a:solidFill>
              </a:rPr>
              <a:t>3</a:t>
            </a:r>
            <a:r>
              <a:rPr lang="en-US" dirty="0"/>
              <a:t> different optional courses in </a:t>
            </a:r>
            <a:r>
              <a:rPr lang="en-US" dirty="0">
                <a:solidFill>
                  <a:srgbClr val="FF0000"/>
                </a:solidFill>
              </a:rPr>
              <a:t>Mathematics</a:t>
            </a:r>
            <a:r>
              <a:rPr lang="en-US" dirty="0"/>
              <a:t>. </a:t>
            </a:r>
          </a:p>
          <a:p>
            <a:pPr>
              <a:buNone/>
            </a:pPr>
            <a:r>
              <a:rPr lang="en-US" dirty="0"/>
              <a:t>	</a:t>
            </a:r>
          </a:p>
          <a:p>
            <a:pPr>
              <a:buNone/>
            </a:pPr>
            <a:r>
              <a:rPr lang="en-US" dirty="0"/>
              <a:t>	A student who wants to take one optional course of each subject, there are:</a:t>
            </a:r>
          </a:p>
          <a:p>
            <a:pPr>
              <a:buNone/>
            </a:pPr>
            <a:endParaRPr lang="en-US" dirty="0"/>
          </a:p>
          <a:p>
            <a:pPr>
              <a:buNone/>
            </a:pPr>
            <a:r>
              <a:rPr lang="en-US" dirty="0"/>
              <a:t>				</a:t>
            </a:r>
            <a:r>
              <a:rPr lang="en-US" dirty="0">
                <a:solidFill>
                  <a:srgbClr val="FF0000"/>
                </a:solidFill>
              </a:rPr>
              <a:t>7 </a:t>
            </a:r>
            <a:r>
              <a:rPr lang="en-US" dirty="0">
                <a:solidFill>
                  <a:srgbClr val="FF0000"/>
                </a:solidFill>
                <a:sym typeface="Symbol"/>
              </a:rPr>
              <a:t></a:t>
            </a:r>
            <a:r>
              <a:rPr lang="en-US" dirty="0">
                <a:solidFill>
                  <a:srgbClr val="FF0000"/>
                </a:solidFill>
              </a:rPr>
              <a:t> 3 = 21 </a:t>
            </a:r>
            <a:r>
              <a:rPr lang="en-US" dirty="0"/>
              <a:t>        choices.</a:t>
            </a:r>
          </a:p>
          <a:p>
            <a:pPr>
              <a:buNone/>
            </a:pPr>
            <a:r>
              <a:rPr lang="en-US" b="1" dirty="0"/>
              <a:t> </a:t>
            </a:r>
            <a:endParaRPr lang="en-US" dirty="0"/>
          </a:p>
          <a:p>
            <a:endParaRPr lang="en-US"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2000"/>
                                        <p:tgtEl>
                                          <p:spTgt spid="4">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animEffect transition="in" filter="fade">
                                      <p:cBhvr>
                                        <p:cTn id="16" dur="2000"/>
                                        <p:tgtEl>
                                          <p:spTgt spid="4">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animEffect transition="in" filter="fade">
                                      <p:cBhvr>
                                        <p:cTn id="21" dur="20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THE PRODUCT RULE</a:t>
            </a:r>
          </a:p>
        </p:txBody>
      </p:sp>
      <p:sp>
        <p:nvSpPr>
          <p:cNvPr id="4" name="Content Placeholder 3"/>
          <p:cNvSpPr>
            <a:spLocks noGrp="1"/>
          </p:cNvSpPr>
          <p:nvPr>
            <p:ph sz="quarter" idx="1"/>
          </p:nvPr>
        </p:nvSpPr>
        <p:spPr/>
        <p:txBody>
          <a:bodyPr/>
          <a:lstStyle/>
          <a:p>
            <a:r>
              <a:rPr lang="en-US" dirty="0"/>
              <a:t>If </a:t>
            </a:r>
            <a:r>
              <a:rPr lang="en-US" dirty="0">
                <a:solidFill>
                  <a:srgbClr val="FF0000"/>
                </a:solidFill>
              </a:rPr>
              <a:t>one event</a:t>
            </a:r>
            <a:r>
              <a:rPr lang="en-US" dirty="0"/>
              <a:t> can occur in </a:t>
            </a:r>
            <a:r>
              <a:rPr lang="en-US" dirty="0">
                <a:solidFill>
                  <a:srgbClr val="FF0000"/>
                </a:solidFill>
              </a:rPr>
              <a:t>n</a:t>
            </a:r>
            <a:r>
              <a:rPr lang="en-US" baseline="-25000" dirty="0">
                <a:solidFill>
                  <a:srgbClr val="FF0000"/>
                </a:solidFill>
              </a:rPr>
              <a:t>1</a:t>
            </a:r>
            <a:r>
              <a:rPr lang="en-US" dirty="0"/>
              <a:t> ways and if for each of these </a:t>
            </a:r>
            <a:r>
              <a:rPr lang="en-US" dirty="0">
                <a:solidFill>
                  <a:srgbClr val="FF0000"/>
                </a:solidFill>
              </a:rPr>
              <a:t>n</a:t>
            </a:r>
            <a:r>
              <a:rPr lang="en-US" baseline="-25000" dirty="0">
                <a:solidFill>
                  <a:srgbClr val="FF0000"/>
                </a:solidFill>
              </a:rPr>
              <a:t>1</a:t>
            </a:r>
            <a:r>
              <a:rPr lang="en-US" dirty="0"/>
              <a:t> ways, a </a:t>
            </a:r>
            <a:r>
              <a:rPr lang="en-US" dirty="0">
                <a:solidFill>
                  <a:srgbClr val="FF0000"/>
                </a:solidFill>
              </a:rPr>
              <a:t>second event</a:t>
            </a:r>
            <a:r>
              <a:rPr lang="en-US" dirty="0"/>
              <a:t> can occur in </a:t>
            </a:r>
            <a:r>
              <a:rPr lang="en-US" dirty="0">
                <a:solidFill>
                  <a:srgbClr val="FF0000"/>
                </a:solidFill>
              </a:rPr>
              <a:t>n</a:t>
            </a:r>
            <a:r>
              <a:rPr lang="en-US" baseline="-25000" dirty="0">
                <a:solidFill>
                  <a:srgbClr val="FF0000"/>
                </a:solidFill>
              </a:rPr>
              <a:t>2</a:t>
            </a:r>
            <a:r>
              <a:rPr lang="en-US" dirty="0"/>
              <a:t> ways.</a:t>
            </a:r>
          </a:p>
          <a:p>
            <a:endParaRPr lang="en-US" dirty="0"/>
          </a:p>
          <a:p>
            <a:pPr algn="ctr"/>
            <a:r>
              <a:rPr lang="en-US" dirty="0"/>
              <a:t>Then the total number of ways in which both events occur is</a:t>
            </a:r>
          </a:p>
          <a:p>
            <a:pPr marL="0" indent="0" algn="ctr">
              <a:buNone/>
            </a:pPr>
            <a:r>
              <a:rPr lang="en-US" dirty="0">
                <a:solidFill>
                  <a:srgbClr val="FF0000"/>
                </a:solidFill>
              </a:rPr>
              <a:t>n</a:t>
            </a:r>
            <a:r>
              <a:rPr lang="en-US" baseline="-25000" dirty="0">
                <a:solidFill>
                  <a:srgbClr val="FF0000"/>
                </a:solidFill>
              </a:rPr>
              <a:t>1</a:t>
            </a:r>
            <a:r>
              <a:rPr lang="en-US" b="1" dirty="0">
                <a:solidFill>
                  <a:srgbClr val="FF0000"/>
                </a:solidFill>
              </a:rPr>
              <a:t>· </a:t>
            </a:r>
            <a:r>
              <a:rPr lang="en-US" dirty="0">
                <a:solidFill>
                  <a:srgbClr val="FF0000"/>
                </a:solidFill>
              </a:rPr>
              <a:t>n</a:t>
            </a:r>
            <a:r>
              <a:rPr lang="en-US" baseline="-25000" dirty="0">
                <a:solidFill>
                  <a:srgbClr val="FF0000"/>
                </a:solidFill>
              </a:rPr>
              <a:t>2</a:t>
            </a:r>
            <a:endParaRPr lang="en-US" dirty="0"/>
          </a:p>
          <a:p>
            <a:endParaRPr lang="en-US" dirty="0"/>
          </a:p>
          <a:p>
            <a:pPr>
              <a:buNone/>
            </a:pPr>
            <a:endParaRPr lang="en-US"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Effect transition="in" filter="fade">
                                      <p:cBhvr>
                                        <p:cTn id="15" dur="20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087" y="1"/>
            <a:ext cx="10515600" cy="1087162"/>
          </a:xfrm>
        </p:spPr>
        <p:txBody>
          <a:bodyPr>
            <a:normAutofit/>
          </a:bodyPr>
          <a:lstStyle/>
          <a:p>
            <a:pPr algn="ctr"/>
            <a:r>
              <a:rPr lang="en-US" b="1" u="sng" dirty="0">
                <a:solidFill>
                  <a:srgbClr val="0070C0"/>
                </a:solidFill>
              </a:rPr>
              <a:t>EXAMPLE</a:t>
            </a:r>
          </a:p>
        </p:txBody>
      </p:sp>
      <p:sp>
        <p:nvSpPr>
          <p:cNvPr id="4" name="Content Placeholder 3"/>
          <p:cNvSpPr>
            <a:spLocks noGrp="1"/>
          </p:cNvSpPr>
          <p:nvPr>
            <p:ph sz="quarter" idx="1"/>
          </p:nvPr>
        </p:nvSpPr>
        <p:spPr>
          <a:xfrm>
            <a:off x="783791" y="1087163"/>
            <a:ext cx="11012424" cy="5572944"/>
          </a:xfrm>
        </p:spPr>
        <p:txBody>
          <a:bodyPr>
            <a:normAutofit/>
          </a:bodyPr>
          <a:lstStyle/>
          <a:p>
            <a:r>
              <a:rPr lang="en-US" sz="2600" dirty="0"/>
              <a:t>The </a:t>
            </a:r>
            <a:r>
              <a:rPr lang="en-US" sz="2600" dirty="0">
                <a:solidFill>
                  <a:srgbClr val="FF0000"/>
                </a:solidFill>
              </a:rPr>
              <a:t>chairs</a:t>
            </a:r>
            <a:r>
              <a:rPr lang="en-US" sz="2600" dirty="0"/>
              <a:t> of an </a:t>
            </a:r>
            <a:r>
              <a:rPr lang="en-US" sz="2600" dirty="0">
                <a:solidFill>
                  <a:srgbClr val="FF0000"/>
                </a:solidFill>
              </a:rPr>
              <a:t>auditorium</a:t>
            </a:r>
            <a:r>
              <a:rPr lang="en-US" sz="2600" dirty="0"/>
              <a:t> are to be labeled with </a:t>
            </a:r>
            <a:r>
              <a:rPr lang="en-US" sz="2600" dirty="0">
                <a:solidFill>
                  <a:srgbClr val="FF0000"/>
                </a:solidFill>
              </a:rPr>
              <a:t>two characters</a:t>
            </a:r>
            <a:r>
              <a:rPr lang="en-US" sz="2600" dirty="0"/>
              <a:t>, a </a:t>
            </a:r>
            <a:r>
              <a:rPr lang="en-US" sz="2600" dirty="0">
                <a:solidFill>
                  <a:srgbClr val="FF0000"/>
                </a:solidFill>
              </a:rPr>
              <a:t>letter</a:t>
            </a:r>
            <a:r>
              <a:rPr lang="en-US" sz="2600" dirty="0"/>
              <a:t> followed by a </a:t>
            </a:r>
            <a:r>
              <a:rPr lang="en-US" sz="2600" dirty="0">
                <a:solidFill>
                  <a:srgbClr val="FF0000"/>
                </a:solidFill>
              </a:rPr>
              <a:t>digit</a:t>
            </a:r>
            <a:r>
              <a:rPr lang="en-US" sz="2600" dirty="0"/>
              <a:t>.</a:t>
            </a:r>
          </a:p>
          <a:p>
            <a:pPr marL="0" indent="0">
              <a:buNone/>
            </a:pPr>
            <a:r>
              <a:rPr lang="en-US" sz="2600" dirty="0"/>
              <a:t>	What is the </a:t>
            </a:r>
            <a:r>
              <a:rPr lang="en-US" sz="2600" dirty="0">
                <a:solidFill>
                  <a:srgbClr val="FF0000"/>
                </a:solidFill>
              </a:rPr>
              <a:t>largest number</a:t>
            </a:r>
            <a:r>
              <a:rPr lang="en-US" sz="2600" dirty="0"/>
              <a:t> of </a:t>
            </a:r>
            <a:r>
              <a:rPr lang="en-US" sz="2600" dirty="0">
                <a:solidFill>
                  <a:srgbClr val="FF0000"/>
                </a:solidFill>
              </a:rPr>
              <a:t>chairs</a:t>
            </a:r>
            <a:r>
              <a:rPr lang="en-US" sz="2600" dirty="0"/>
              <a:t> that can be labeled differently?</a:t>
            </a:r>
          </a:p>
          <a:p>
            <a:pPr marL="0" indent="0">
              <a:buNone/>
            </a:pPr>
            <a:r>
              <a:rPr lang="en-US" sz="2600" b="1" u="sng" dirty="0">
                <a:solidFill>
                  <a:srgbClr val="0070C0"/>
                </a:solidFill>
              </a:rPr>
              <a:t>SOLUTION:</a:t>
            </a:r>
          </a:p>
          <a:p>
            <a:pPr marL="0" indent="0">
              <a:buNone/>
            </a:pPr>
            <a:r>
              <a:rPr lang="en-US" sz="2600" dirty="0"/>
              <a:t>The </a:t>
            </a:r>
            <a:r>
              <a:rPr lang="en-US" sz="2600" dirty="0">
                <a:solidFill>
                  <a:srgbClr val="FF0000"/>
                </a:solidFill>
              </a:rPr>
              <a:t>procedure</a:t>
            </a:r>
            <a:r>
              <a:rPr lang="en-US" sz="2600" dirty="0"/>
              <a:t> of </a:t>
            </a:r>
            <a:r>
              <a:rPr lang="en-US" sz="2600" dirty="0">
                <a:solidFill>
                  <a:srgbClr val="FF0000"/>
                </a:solidFill>
              </a:rPr>
              <a:t>labeling</a:t>
            </a:r>
            <a:r>
              <a:rPr lang="en-US" sz="2600" dirty="0"/>
              <a:t> a chair consists of </a:t>
            </a:r>
            <a:r>
              <a:rPr lang="en-US" sz="2600" dirty="0">
                <a:solidFill>
                  <a:srgbClr val="FF0000"/>
                </a:solidFill>
              </a:rPr>
              <a:t>two events</a:t>
            </a:r>
            <a:r>
              <a:rPr lang="en-US" sz="2600" dirty="0"/>
              <a:t>, namely,</a:t>
            </a:r>
          </a:p>
          <a:p>
            <a:pPr>
              <a:buNone/>
            </a:pPr>
            <a:r>
              <a:rPr lang="en-US" sz="2600" dirty="0"/>
              <a:t>	Assigning one of the </a:t>
            </a:r>
            <a:r>
              <a:rPr lang="en-US" sz="2600" dirty="0">
                <a:solidFill>
                  <a:srgbClr val="FF0000"/>
                </a:solidFill>
              </a:rPr>
              <a:t>26 letters</a:t>
            </a:r>
            <a:r>
              <a:rPr lang="en-US" sz="2600" dirty="0"/>
              <a:t>:  A, B, C, …, Z and</a:t>
            </a:r>
          </a:p>
          <a:p>
            <a:pPr>
              <a:buNone/>
            </a:pPr>
            <a:r>
              <a:rPr lang="en-US" sz="2600" dirty="0"/>
              <a:t>	Assigning one of the </a:t>
            </a:r>
            <a:r>
              <a:rPr lang="en-US" sz="2600" dirty="0">
                <a:solidFill>
                  <a:srgbClr val="FF0000"/>
                </a:solidFill>
              </a:rPr>
              <a:t>10 digits</a:t>
            </a:r>
            <a:r>
              <a:rPr lang="en-US" sz="2600" dirty="0"/>
              <a:t>:  0, 1, 2, …, 9</a:t>
            </a:r>
          </a:p>
          <a:p>
            <a:pPr>
              <a:buNone/>
            </a:pPr>
            <a:endParaRPr lang="en-US" sz="2600" dirty="0"/>
          </a:p>
          <a:p>
            <a:pPr>
              <a:buNone/>
            </a:pPr>
            <a:r>
              <a:rPr lang="en-US" sz="2600" dirty="0"/>
              <a:t>	By </a:t>
            </a:r>
            <a:r>
              <a:rPr lang="en-US" sz="2600" dirty="0">
                <a:solidFill>
                  <a:srgbClr val="FF0000"/>
                </a:solidFill>
              </a:rPr>
              <a:t>product rule</a:t>
            </a:r>
            <a:r>
              <a:rPr lang="en-US" sz="2600" dirty="0"/>
              <a:t>, there are   26 </a:t>
            </a:r>
            <a:r>
              <a:rPr lang="en-US" sz="2600" dirty="0">
                <a:sym typeface="Symbol"/>
              </a:rPr>
              <a:t></a:t>
            </a:r>
            <a:r>
              <a:rPr lang="en-US" sz="2600" dirty="0"/>
              <a:t> 10 = </a:t>
            </a:r>
            <a:r>
              <a:rPr lang="en-US" sz="2600" dirty="0">
                <a:solidFill>
                  <a:srgbClr val="FF0000"/>
                </a:solidFill>
              </a:rPr>
              <a:t>260</a:t>
            </a:r>
            <a:r>
              <a:rPr lang="en-US" sz="2600" dirty="0"/>
              <a:t> different ways that a </a:t>
            </a:r>
            <a:r>
              <a:rPr lang="en-US" sz="2600" dirty="0">
                <a:solidFill>
                  <a:srgbClr val="FF0000"/>
                </a:solidFill>
              </a:rPr>
              <a:t>chair</a:t>
            </a:r>
            <a:r>
              <a:rPr lang="en-US" sz="2600" dirty="0"/>
              <a:t> can be </a:t>
            </a:r>
            <a:r>
              <a:rPr lang="en-US" sz="2600" dirty="0">
                <a:solidFill>
                  <a:srgbClr val="FF0000"/>
                </a:solidFill>
              </a:rPr>
              <a:t>labeled</a:t>
            </a:r>
            <a:r>
              <a:rPr lang="en-US" sz="2600" dirty="0"/>
              <a:t> by both a </a:t>
            </a:r>
            <a:r>
              <a:rPr lang="en-US" sz="2600" dirty="0">
                <a:solidFill>
                  <a:srgbClr val="FF0000"/>
                </a:solidFill>
              </a:rPr>
              <a:t>letter</a:t>
            </a:r>
            <a:r>
              <a:rPr lang="en-US" sz="2600" dirty="0"/>
              <a:t> and a </a:t>
            </a:r>
            <a:r>
              <a:rPr lang="en-US" sz="2600" dirty="0">
                <a:solidFill>
                  <a:srgbClr val="FF0000"/>
                </a:solidFill>
              </a:rPr>
              <a:t>digit</a:t>
            </a:r>
            <a:r>
              <a:rPr lang="en-US" sz="2600" dirty="0"/>
              <a:t>.</a:t>
            </a:r>
          </a:p>
          <a:p>
            <a:pPr>
              <a:buNone/>
            </a:pPr>
            <a:endParaRPr lang="en-US" sz="2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2000"/>
                                        <p:tgtEl>
                                          <p:spTgt spid="4">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fade">
                                      <p:cBhvr>
                                        <p:cTn id="20" dur="2000"/>
                                        <p:tgtEl>
                                          <p:spTgt spid="4">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2000"/>
                                        <p:tgtEl>
                                          <p:spTgt spid="4">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fade">
                                      <p:cBhvr>
                                        <p:cTn id="26" dur="2000"/>
                                        <p:tgtEl>
                                          <p:spTgt spid="4">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animEffect transition="in" filter="fade">
                                      <p:cBhvr>
                                        <p:cTn id="31" dur="2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087" y="1"/>
            <a:ext cx="10515600" cy="1087162"/>
          </a:xfrm>
        </p:spPr>
        <p:txBody>
          <a:bodyPr>
            <a:normAutofit/>
          </a:bodyPr>
          <a:lstStyle/>
          <a:p>
            <a:pPr algn="ctr"/>
            <a:r>
              <a:rPr lang="en-US" b="1" u="sng" dirty="0">
                <a:solidFill>
                  <a:srgbClr val="0070C0"/>
                </a:solidFill>
              </a:rPr>
              <a:t>EXAMPLE</a:t>
            </a:r>
          </a:p>
        </p:txBody>
      </p:sp>
      <p:sp>
        <p:nvSpPr>
          <p:cNvPr id="4" name="Content Placeholder 3"/>
          <p:cNvSpPr>
            <a:spLocks noGrp="1"/>
          </p:cNvSpPr>
          <p:nvPr>
            <p:ph sz="quarter" idx="1"/>
          </p:nvPr>
        </p:nvSpPr>
        <p:spPr>
          <a:xfrm>
            <a:off x="285750" y="1087163"/>
            <a:ext cx="11906249" cy="5572944"/>
          </a:xfrm>
        </p:spPr>
        <p:txBody>
          <a:bodyPr>
            <a:normAutofit/>
          </a:bodyPr>
          <a:lstStyle/>
          <a:p>
            <a:pPr marL="0" indent="0" algn="just">
              <a:buNone/>
            </a:pPr>
            <a:r>
              <a:rPr lang="en-US" sz="2600" dirty="0"/>
              <a:t>A new company with just two employees, </a:t>
            </a:r>
            <a:r>
              <a:rPr lang="en-US" sz="2600" dirty="0">
                <a:solidFill>
                  <a:srgbClr val="FF0000"/>
                </a:solidFill>
              </a:rPr>
              <a:t>Ahmed</a:t>
            </a:r>
            <a:r>
              <a:rPr lang="en-US" sz="2600" dirty="0"/>
              <a:t> and </a:t>
            </a:r>
            <a:r>
              <a:rPr lang="en-US" sz="2600" dirty="0">
                <a:solidFill>
                  <a:srgbClr val="FF0000"/>
                </a:solidFill>
              </a:rPr>
              <a:t>Saeed</a:t>
            </a:r>
            <a:r>
              <a:rPr lang="en-US" sz="2600" dirty="0"/>
              <a:t>, rents a floor of a building with </a:t>
            </a:r>
            <a:r>
              <a:rPr lang="en-US" sz="2600" dirty="0">
                <a:solidFill>
                  <a:srgbClr val="FF0000"/>
                </a:solidFill>
              </a:rPr>
              <a:t>12 offices</a:t>
            </a:r>
            <a:r>
              <a:rPr lang="en-US" sz="2600" dirty="0"/>
              <a:t>. </a:t>
            </a:r>
          </a:p>
          <a:p>
            <a:pPr marL="0" indent="0" algn="just">
              <a:buNone/>
            </a:pPr>
            <a:r>
              <a:rPr lang="en-US" sz="2600" dirty="0">
                <a:solidFill>
                  <a:srgbClr val="FF0000"/>
                </a:solidFill>
              </a:rPr>
              <a:t>How many ways </a:t>
            </a:r>
            <a:r>
              <a:rPr lang="en-US" sz="2600" dirty="0"/>
              <a:t>are there to assign </a:t>
            </a:r>
            <a:r>
              <a:rPr lang="en-US" sz="2600" dirty="0">
                <a:solidFill>
                  <a:srgbClr val="FF0000"/>
                </a:solidFill>
              </a:rPr>
              <a:t>different </a:t>
            </a:r>
            <a:r>
              <a:rPr lang="en-US" sz="2600" dirty="0"/>
              <a:t>offices to these </a:t>
            </a:r>
            <a:r>
              <a:rPr lang="en-US" sz="2600" dirty="0">
                <a:solidFill>
                  <a:srgbClr val="FF0000"/>
                </a:solidFill>
              </a:rPr>
              <a:t>two employees</a:t>
            </a:r>
            <a:r>
              <a:rPr lang="en-US" sz="2600" dirty="0"/>
              <a:t>?</a:t>
            </a:r>
          </a:p>
          <a:p>
            <a:pPr marL="0" indent="0">
              <a:buNone/>
            </a:pPr>
            <a:r>
              <a:rPr lang="en-US" sz="2600" b="1" u="sng" dirty="0">
                <a:solidFill>
                  <a:srgbClr val="0070C0"/>
                </a:solidFill>
              </a:rPr>
              <a:t>SOLUTION:</a:t>
            </a:r>
          </a:p>
          <a:p>
            <a:pPr marL="0" indent="0">
              <a:buNone/>
            </a:pPr>
            <a:r>
              <a:rPr lang="en-US" sz="2600" dirty="0"/>
              <a:t>The </a:t>
            </a:r>
            <a:r>
              <a:rPr lang="en-US" sz="2600" dirty="0">
                <a:solidFill>
                  <a:srgbClr val="FF0000"/>
                </a:solidFill>
              </a:rPr>
              <a:t>procedure</a:t>
            </a:r>
            <a:r>
              <a:rPr lang="en-US" sz="2600" dirty="0"/>
              <a:t> of </a:t>
            </a:r>
            <a:r>
              <a:rPr lang="en-US" sz="2600" dirty="0">
                <a:solidFill>
                  <a:srgbClr val="FF0000"/>
                </a:solidFill>
              </a:rPr>
              <a:t>assigning </a:t>
            </a:r>
            <a:r>
              <a:rPr lang="en-US" sz="2600" dirty="0"/>
              <a:t>offices to these two employees consists of </a:t>
            </a:r>
            <a:r>
              <a:rPr lang="en-US" sz="2600" dirty="0">
                <a:solidFill>
                  <a:srgbClr val="FF0000"/>
                </a:solidFill>
              </a:rPr>
              <a:t>two events</a:t>
            </a:r>
            <a:r>
              <a:rPr lang="en-US" sz="2600" dirty="0"/>
              <a:t>, namely,</a:t>
            </a:r>
          </a:p>
          <a:p>
            <a:pPr>
              <a:buNone/>
            </a:pPr>
            <a:r>
              <a:rPr lang="en-US" sz="2600" dirty="0"/>
              <a:t>	Assigning an office to</a:t>
            </a:r>
            <a:r>
              <a:rPr lang="en-US" sz="2600" dirty="0">
                <a:solidFill>
                  <a:srgbClr val="FF0000"/>
                </a:solidFill>
              </a:rPr>
              <a:t> Ahmed</a:t>
            </a:r>
            <a:r>
              <a:rPr lang="en-US" sz="2600" dirty="0"/>
              <a:t>:  12 ways</a:t>
            </a:r>
          </a:p>
          <a:p>
            <a:pPr>
              <a:buNone/>
            </a:pPr>
            <a:r>
              <a:rPr lang="en-US" sz="2600" dirty="0"/>
              <a:t>	Assigning an office to </a:t>
            </a:r>
            <a:r>
              <a:rPr lang="en-US" sz="2600" dirty="0">
                <a:solidFill>
                  <a:srgbClr val="FF0000"/>
                </a:solidFill>
              </a:rPr>
              <a:t>Saeed</a:t>
            </a:r>
            <a:r>
              <a:rPr lang="en-US" sz="2600" dirty="0"/>
              <a:t> different from the office assigned to Ahmed:  11 ways </a:t>
            </a:r>
          </a:p>
          <a:p>
            <a:pPr>
              <a:buNone/>
            </a:pPr>
            <a:r>
              <a:rPr lang="en-US" sz="2600" dirty="0"/>
              <a:t>	</a:t>
            </a:r>
          </a:p>
          <a:p>
            <a:pPr algn="ctr">
              <a:buNone/>
            </a:pPr>
            <a:r>
              <a:rPr lang="en-US" sz="2600" dirty="0"/>
              <a:t>By </a:t>
            </a:r>
            <a:r>
              <a:rPr lang="en-US" sz="2600" dirty="0">
                <a:solidFill>
                  <a:srgbClr val="FF0000"/>
                </a:solidFill>
              </a:rPr>
              <a:t>product rule</a:t>
            </a:r>
            <a:r>
              <a:rPr lang="en-US" sz="2600" dirty="0"/>
              <a:t>, there are   </a:t>
            </a:r>
            <a:r>
              <a:rPr lang="en-US" sz="2600" dirty="0">
                <a:solidFill>
                  <a:srgbClr val="FF0000"/>
                </a:solidFill>
              </a:rPr>
              <a:t>12 </a:t>
            </a:r>
            <a:r>
              <a:rPr lang="en-US" sz="2600" dirty="0">
                <a:solidFill>
                  <a:srgbClr val="FF0000"/>
                </a:solidFill>
                <a:sym typeface="Symbol"/>
              </a:rPr>
              <a:t></a:t>
            </a:r>
            <a:r>
              <a:rPr lang="en-US" sz="2600" dirty="0">
                <a:solidFill>
                  <a:srgbClr val="FF0000"/>
                </a:solidFill>
              </a:rPr>
              <a:t> 11 = 132 </a:t>
            </a:r>
            <a:r>
              <a:rPr lang="en-US" sz="2600" dirty="0"/>
              <a:t>different ways to assign </a:t>
            </a:r>
            <a:r>
              <a:rPr lang="en-US" sz="2600" dirty="0">
                <a:solidFill>
                  <a:srgbClr val="FF0000"/>
                </a:solidFill>
              </a:rPr>
              <a:t>offices</a:t>
            </a:r>
            <a:r>
              <a:rPr lang="en-US" sz="2600" dirty="0"/>
              <a:t> to these </a:t>
            </a:r>
            <a:r>
              <a:rPr lang="en-US" sz="2600" dirty="0">
                <a:solidFill>
                  <a:srgbClr val="FF0000"/>
                </a:solidFill>
              </a:rPr>
              <a:t>two employees.</a:t>
            </a:r>
          </a:p>
          <a:p>
            <a:pPr>
              <a:buNone/>
            </a:pPr>
            <a:endParaRPr lang="en-US" sz="2600" dirty="0"/>
          </a:p>
        </p:txBody>
      </p:sp>
    </p:spTree>
    <p:extLst>
      <p:ext uri="{BB962C8B-B14F-4D97-AF65-F5344CB8AC3E}">
        <p14:creationId xmlns:p14="http://schemas.microsoft.com/office/powerpoint/2010/main" val="2401986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Effect transition="in" filter="fade">
                                      <p:cBhvr>
                                        <p:cTn id="25" dur="2000"/>
                                        <p:tgtEl>
                                          <p:spTgt spid="4">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
                                            <p:txEl>
                                              <p:pRg st="5" end="5"/>
                                            </p:txEl>
                                          </p:spTgt>
                                        </p:tgtEl>
                                        <p:attrNameLst>
                                          <p:attrName>style.visibility</p:attrName>
                                        </p:attrNameLst>
                                      </p:cBhvr>
                                      <p:to>
                                        <p:strVal val="visible"/>
                                      </p:to>
                                    </p:set>
                                    <p:animEffect transition="in" filter="fade">
                                      <p:cBhvr>
                                        <p:cTn id="28" dur="2000"/>
                                        <p:tgtEl>
                                          <p:spTgt spid="4">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4">
                                            <p:txEl>
                                              <p:pRg st="6" end="6"/>
                                            </p:txEl>
                                          </p:spTgt>
                                        </p:tgtEl>
                                        <p:attrNameLst>
                                          <p:attrName>style.visibility</p:attrName>
                                        </p:attrNameLst>
                                      </p:cBhvr>
                                      <p:to>
                                        <p:strVal val="visible"/>
                                      </p:to>
                                    </p:set>
                                    <p:animEffect transition="in" filter="fade">
                                      <p:cBhvr>
                                        <p:cTn id="33" dur="2000"/>
                                        <p:tgtEl>
                                          <p:spTgt spid="4">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4">
                                            <p:txEl>
                                              <p:pRg st="7" end="7"/>
                                            </p:txEl>
                                          </p:spTgt>
                                        </p:tgtEl>
                                        <p:attrNameLst>
                                          <p:attrName>style.visibility</p:attrName>
                                        </p:attrNameLst>
                                      </p:cBhvr>
                                      <p:to>
                                        <p:strVal val="visible"/>
                                      </p:to>
                                    </p:set>
                                    <p:animEffect transition="in" filter="fade">
                                      <p:cBhvr>
                                        <p:cTn id="38" dur="2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087" y="0"/>
            <a:ext cx="10515600" cy="1325563"/>
          </a:xfrm>
        </p:spPr>
        <p:txBody>
          <a:bodyPr>
            <a:normAutofit/>
          </a:bodyPr>
          <a:lstStyle/>
          <a:p>
            <a:pPr algn="ctr"/>
            <a:r>
              <a:rPr lang="en-US" b="1" u="sng" dirty="0">
                <a:solidFill>
                  <a:srgbClr val="0070C0"/>
                </a:solidFill>
              </a:rPr>
              <a:t>GENERALIZED PRODUCT RULE</a:t>
            </a:r>
          </a:p>
        </p:txBody>
      </p:sp>
      <p:sp>
        <p:nvSpPr>
          <p:cNvPr id="4" name="Content Placeholder 3"/>
          <p:cNvSpPr>
            <a:spLocks noGrp="1"/>
          </p:cNvSpPr>
          <p:nvPr>
            <p:ph sz="quarter" idx="1"/>
          </p:nvPr>
        </p:nvSpPr>
        <p:spPr>
          <a:xfrm>
            <a:off x="1163471" y="1191904"/>
            <a:ext cx="9865057" cy="5181600"/>
          </a:xfrm>
        </p:spPr>
        <p:txBody>
          <a:bodyPr>
            <a:normAutofit/>
          </a:bodyPr>
          <a:lstStyle/>
          <a:p>
            <a:pPr algn="just"/>
            <a:r>
              <a:rPr lang="en-US" dirty="0"/>
              <a:t>If </a:t>
            </a:r>
            <a:r>
              <a:rPr lang="en-US" dirty="0">
                <a:solidFill>
                  <a:srgbClr val="FF0000"/>
                </a:solidFill>
              </a:rPr>
              <a:t>some event</a:t>
            </a:r>
            <a:r>
              <a:rPr lang="en-US" dirty="0"/>
              <a:t> can occur in </a:t>
            </a:r>
            <a:r>
              <a:rPr lang="en-US" dirty="0">
                <a:solidFill>
                  <a:srgbClr val="FF0000"/>
                </a:solidFill>
              </a:rPr>
              <a:t>n</a:t>
            </a:r>
            <a:r>
              <a:rPr lang="en-US" baseline="-25000" dirty="0">
                <a:solidFill>
                  <a:srgbClr val="FF0000"/>
                </a:solidFill>
              </a:rPr>
              <a:t>1</a:t>
            </a:r>
            <a:r>
              <a:rPr lang="en-US" dirty="0"/>
              <a:t> different ways, and if, following this event, a </a:t>
            </a:r>
            <a:r>
              <a:rPr lang="en-US" dirty="0">
                <a:solidFill>
                  <a:srgbClr val="FF0000"/>
                </a:solidFill>
              </a:rPr>
              <a:t>second event</a:t>
            </a:r>
            <a:r>
              <a:rPr lang="en-US" dirty="0"/>
              <a:t> can occur in </a:t>
            </a:r>
            <a:r>
              <a:rPr lang="en-US" dirty="0">
                <a:solidFill>
                  <a:srgbClr val="FF0000"/>
                </a:solidFill>
              </a:rPr>
              <a:t>n</a:t>
            </a:r>
            <a:r>
              <a:rPr lang="en-US" baseline="-25000" dirty="0">
                <a:solidFill>
                  <a:srgbClr val="FF0000"/>
                </a:solidFill>
              </a:rPr>
              <a:t>2</a:t>
            </a:r>
            <a:r>
              <a:rPr lang="en-US" dirty="0"/>
              <a:t> different ways, and following this </a:t>
            </a:r>
            <a:r>
              <a:rPr lang="en-US" dirty="0">
                <a:solidFill>
                  <a:srgbClr val="FF0000"/>
                </a:solidFill>
              </a:rPr>
              <a:t>second event</a:t>
            </a:r>
            <a:r>
              <a:rPr lang="en-US" dirty="0"/>
              <a:t>, a </a:t>
            </a:r>
            <a:r>
              <a:rPr lang="en-US" dirty="0">
                <a:solidFill>
                  <a:srgbClr val="FF0000"/>
                </a:solidFill>
              </a:rPr>
              <a:t>third event</a:t>
            </a:r>
            <a:r>
              <a:rPr lang="en-US" dirty="0"/>
              <a:t> can occur in </a:t>
            </a:r>
            <a:r>
              <a:rPr lang="en-US" dirty="0">
                <a:solidFill>
                  <a:srgbClr val="FF0000"/>
                </a:solidFill>
              </a:rPr>
              <a:t>n</a:t>
            </a:r>
            <a:r>
              <a:rPr lang="en-US" baseline="-25000" dirty="0">
                <a:solidFill>
                  <a:srgbClr val="FF0000"/>
                </a:solidFill>
              </a:rPr>
              <a:t>3</a:t>
            </a:r>
            <a:r>
              <a:rPr lang="en-US" dirty="0"/>
              <a:t> different ways, …, then the number of ways all the </a:t>
            </a:r>
            <a:r>
              <a:rPr lang="en-US" dirty="0">
                <a:solidFill>
                  <a:srgbClr val="FF0000"/>
                </a:solidFill>
              </a:rPr>
              <a:t>events</a:t>
            </a:r>
            <a:r>
              <a:rPr lang="en-US" dirty="0"/>
              <a:t> can occur in the order indicated is</a:t>
            </a:r>
          </a:p>
          <a:p>
            <a:pPr algn="just">
              <a:buNone/>
            </a:pPr>
            <a:endParaRPr lang="en-US" dirty="0"/>
          </a:p>
          <a:p>
            <a:pPr algn="ctr">
              <a:buNone/>
            </a:pPr>
            <a:r>
              <a:rPr lang="en-US" dirty="0"/>
              <a:t>	</a:t>
            </a:r>
            <a:r>
              <a:rPr lang="en-US" dirty="0">
                <a:solidFill>
                  <a:srgbClr val="FF0000"/>
                </a:solidFill>
              </a:rPr>
              <a:t>n</a:t>
            </a:r>
            <a:r>
              <a:rPr lang="en-US" baseline="-25000" dirty="0">
                <a:solidFill>
                  <a:srgbClr val="FF0000"/>
                </a:solidFill>
              </a:rPr>
              <a:t>1</a:t>
            </a:r>
            <a:r>
              <a:rPr lang="en-US" b="1" dirty="0">
                <a:solidFill>
                  <a:srgbClr val="FF0000"/>
                </a:solidFill>
              </a:rPr>
              <a:t>·  </a:t>
            </a:r>
            <a:r>
              <a:rPr lang="en-US" dirty="0">
                <a:solidFill>
                  <a:srgbClr val="FF0000"/>
                </a:solidFill>
              </a:rPr>
              <a:t>n</a:t>
            </a:r>
            <a:r>
              <a:rPr lang="en-US" baseline="-25000" dirty="0">
                <a:solidFill>
                  <a:srgbClr val="FF0000"/>
                </a:solidFill>
              </a:rPr>
              <a:t>2</a:t>
            </a:r>
            <a:r>
              <a:rPr lang="en-US" b="1" dirty="0">
                <a:solidFill>
                  <a:srgbClr val="FF0000"/>
                </a:solidFill>
              </a:rPr>
              <a:t>·  </a:t>
            </a:r>
            <a:r>
              <a:rPr lang="en-US" dirty="0">
                <a:solidFill>
                  <a:srgbClr val="FF0000"/>
                </a:solidFill>
              </a:rPr>
              <a:t>n</a:t>
            </a:r>
            <a:r>
              <a:rPr lang="en-US" baseline="-25000" dirty="0">
                <a:solidFill>
                  <a:srgbClr val="FF0000"/>
                </a:solidFill>
              </a:rPr>
              <a:t>3</a:t>
            </a:r>
            <a:r>
              <a:rPr lang="en-US" b="1" dirty="0">
                <a:solidFill>
                  <a:srgbClr val="FF0000"/>
                </a:solidFill>
              </a:rPr>
              <a:t>· </a:t>
            </a:r>
            <a:r>
              <a:rPr lang="en-US" dirty="0">
                <a:solidFill>
                  <a:srgbClr val="FF0000"/>
                </a:solidFill>
              </a:rPr>
              <a:t>…</a:t>
            </a:r>
          </a:p>
          <a:p>
            <a:pPr algn="just"/>
            <a:endParaRPr lang="en-US" dirty="0"/>
          </a:p>
          <a:p>
            <a:pPr algn="just">
              <a:buNone/>
            </a:pPr>
            <a:endParaRPr lang="en-US" dirty="0"/>
          </a:p>
          <a:p>
            <a:pPr algn="just"/>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6224" y="0"/>
            <a:ext cx="10515600" cy="1325563"/>
          </a:xfrm>
        </p:spPr>
        <p:txBody>
          <a:bodyPr>
            <a:normAutofit/>
          </a:bodyPr>
          <a:lstStyle/>
          <a:p>
            <a:pPr algn="ctr"/>
            <a:r>
              <a:rPr lang="en-US" b="1" u="sng" dirty="0">
                <a:solidFill>
                  <a:srgbClr val="0070C0"/>
                </a:solidFill>
              </a:rPr>
              <a:t>PRODUCT RULE IN TERMS OF SETS</a:t>
            </a:r>
          </a:p>
        </p:txBody>
      </p:sp>
      <p:sp>
        <p:nvSpPr>
          <p:cNvPr id="4" name="Content Placeholder 3"/>
          <p:cNvSpPr>
            <a:spLocks noGrp="1"/>
          </p:cNvSpPr>
          <p:nvPr>
            <p:ph sz="quarter" idx="1"/>
          </p:nvPr>
        </p:nvSpPr>
        <p:spPr>
          <a:xfrm>
            <a:off x="1179576" y="1446663"/>
            <a:ext cx="9829800" cy="4324175"/>
          </a:xfrm>
        </p:spPr>
        <p:txBody>
          <a:bodyPr>
            <a:normAutofit/>
          </a:bodyPr>
          <a:lstStyle/>
          <a:p>
            <a:pPr algn="just"/>
            <a:r>
              <a:rPr lang="en-US" dirty="0"/>
              <a:t>If </a:t>
            </a:r>
            <a:r>
              <a:rPr lang="en-US" dirty="0">
                <a:solidFill>
                  <a:srgbClr val="FF0000"/>
                </a:solidFill>
              </a:rPr>
              <a:t>A</a:t>
            </a:r>
            <a:r>
              <a:rPr lang="en-US" baseline="-25000" dirty="0">
                <a:solidFill>
                  <a:srgbClr val="FF0000"/>
                </a:solidFill>
              </a:rPr>
              <a:t>1</a:t>
            </a:r>
            <a:r>
              <a:rPr lang="en-US" dirty="0">
                <a:solidFill>
                  <a:srgbClr val="FF0000"/>
                </a:solidFill>
              </a:rPr>
              <a:t>, A</a:t>
            </a:r>
            <a:r>
              <a:rPr lang="en-US" baseline="-25000" dirty="0">
                <a:solidFill>
                  <a:srgbClr val="FF0000"/>
                </a:solidFill>
              </a:rPr>
              <a:t>2</a:t>
            </a:r>
            <a:r>
              <a:rPr lang="en-US" dirty="0">
                <a:solidFill>
                  <a:srgbClr val="FF0000"/>
                </a:solidFill>
              </a:rPr>
              <a:t>, …, A</a:t>
            </a:r>
            <a:r>
              <a:rPr lang="en-US" baseline="-25000" dirty="0">
                <a:solidFill>
                  <a:srgbClr val="FF0000"/>
                </a:solidFill>
              </a:rPr>
              <a:t>m</a:t>
            </a:r>
            <a:r>
              <a:rPr lang="en-US" dirty="0"/>
              <a:t> are </a:t>
            </a:r>
            <a:r>
              <a:rPr lang="en-US" dirty="0">
                <a:solidFill>
                  <a:srgbClr val="FF0000"/>
                </a:solidFill>
              </a:rPr>
              <a:t>finite sets</a:t>
            </a:r>
            <a:r>
              <a:rPr lang="en-US" dirty="0"/>
              <a:t>, then the </a:t>
            </a:r>
            <a:r>
              <a:rPr lang="en-US" dirty="0">
                <a:solidFill>
                  <a:srgbClr val="FF0000"/>
                </a:solidFill>
              </a:rPr>
              <a:t>number</a:t>
            </a:r>
            <a:r>
              <a:rPr lang="en-US" dirty="0"/>
              <a:t> of elements in the </a:t>
            </a:r>
            <a:r>
              <a:rPr lang="en-US" dirty="0">
                <a:solidFill>
                  <a:srgbClr val="FF0000"/>
                </a:solidFill>
              </a:rPr>
              <a:t>Cartesian product</a:t>
            </a:r>
            <a:r>
              <a:rPr lang="en-US" dirty="0"/>
              <a:t> of these sets is the </a:t>
            </a:r>
            <a:r>
              <a:rPr lang="en-US" dirty="0">
                <a:solidFill>
                  <a:srgbClr val="FF0000"/>
                </a:solidFill>
              </a:rPr>
              <a:t>product</a:t>
            </a:r>
            <a:r>
              <a:rPr lang="en-US" dirty="0"/>
              <a:t> of the </a:t>
            </a:r>
            <a:r>
              <a:rPr lang="en-US" dirty="0">
                <a:solidFill>
                  <a:srgbClr val="FF0000"/>
                </a:solidFill>
              </a:rPr>
              <a:t>number</a:t>
            </a:r>
            <a:r>
              <a:rPr lang="en-US" dirty="0"/>
              <a:t> of elements in each set. </a:t>
            </a:r>
          </a:p>
          <a:p>
            <a:pPr algn="just"/>
            <a:endParaRPr lang="en-US" dirty="0"/>
          </a:p>
          <a:p>
            <a:pPr algn="just"/>
            <a:r>
              <a:rPr lang="en-US" dirty="0"/>
              <a:t>If </a:t>
            </a:r>
            <a:r>
              <a:rPr lang="en-US" dirty="0">
                <a:solidFill>
                  <a:srgbClr val="FF0000"/>
                </a:solidFill>
              </a:rPr>
              <a:t>n(A</a:t>
            </a:r>
            <a:r>
              <a:rPr lang="en-US" baseline="-25000" dirty="0">
                <a:solidFill>
                  <a:srgbClr val="FF0000"/>
                </a:solidFill>
              </a:rPr>
              <a:t>i</a:t>
            </a:r>
            <a:r>
              <a:rPr lang="en-US" dirty="0">
                <a:solidFill>
                  <a:srgbClr val="FF0000"/>
                </a:solidFill>
              </a:rPr>
              <a:t>)</a:t>
            </a:r>
            <a:r>
              <a:rPr lang="en-US" dirty="0"/>
              <a:t> denotes the </a:t>
            </a:r>
            <a:r>
              <a:rPr lang="en-US" dirty="0">
                <a:solidFill>
                  <a:srgbClr val="FF0000"/>
                </a:solidFill>
              </a:rPr>
              <a:t>number of elements</a:t>
            </a:r>
            <a:r>
              <a:rPr lang="en-US" dirty="0"/>
              <a:t> in </a:t>
            </a:r>
            <a:r>
              <a:rPr lang="en-US" dirty="0">
                <a:solidFill>
                  <a:srgbClr val="FF0000"/>
                </a:solidFill>
              </a:rPr>
              <a:t>set A</a:t>
            </a:r>
            <a:r>
              <a:rPr lang="en-US" baseline="-25000" dirty="0">
                <a:solidFill>
                  <a:srgbClr val="FF0000"/>
                </a:solidFill>
              </a:rPr>
              <a:t>i</a:t>
            </a:r>
            <a:r>
              <a:rPr lang="en-US" dirty="0"/>
              <a:t>, then</a:t>
            </a:r>
          </a:p>
          <a:p>
            <a:pPr algn="just">
              <a:buNone/>
            </a:pPr>
            <a:endParaRPr lang="en-US" dirty="0"/>
          </a:p>
          <a:p>
            <a:pPr algn="just">
              <a:buNone/>
            </a:pPr>
            <a:r>
              <a:rPr lang="pt-BR" dirty="0"/>
              <a:t>		</a:t>
            </a:r>
            <a:r>
              <a:rPr lang="pt-BR" dirty="0">
                <a:solidFill>
                  <a:srgbClr val="FF0000"/>
                </a:solidFill>
              </a:rPr>
              <a:t>n(A</a:t>
            </a:r>
            <a:r>
              <a:rPr lang="pt-BR" baseline="-25000" dirty="0">
                <a:solidFill>
                  <a:srgbClr val="FF0000"/>
                </a:solidFill>
              </a:rPr>
              <a:t>1</a:t>
            </a:r>
            <a:r>
              <a:rPr lang="pt-BR" dirty="0">
                <a:solidFill>
                  <a:srgbClr val="FF0000"/>
                </a:solidFill>
              </a:rPr>
              <a:t> </a:t>
            </a:r>
            <a:r>
              <a:rPr lang="en-US" dirty="0">
                <a:solidFill>
                  <a:srgbClr val="FF0000"/>
                </a:solidFill>
                <a:sym typeface="Symbol"/>
              </a:rPr>
              <a:t></a:t>
            </a:r>
            <a:r>
              <a:rPr lang="pt-BR" dirty="0">
                <a:solidFill>
                  <a:srgbClr val="FF0000"/>
                </a:solidFill>
              </a:rPr>
              <a:t> A</a:t>
            </a:r>
            <a:r>
              <a:rPr lang="pt-BR" baseline="-25000" dirty="0">
                <a:solidFill>
                  <a:srgbClr val="FF0000"/>
                </a:solidFill>
              </a:rPr>
              <a:t>2</a:t>
            </a:r>
            <a:r>
              <a:rPr lang="en-US" dirty="0">
                <a:solidFill>
                  <a:srgbClr val="FF0000"/>
                </a:solidFill>
                <a:sym typeface="Symbol"/>
              </a:rPr>
              <a:t></a:t>
            </a:r>
            <a:r>
              <a:rPr lang="pt-BR" dirty="0">
                <a:solidFill>
                  <a:srgbClr val="FF0000"/>
                </a:solidFill>
              </a:rPr>
              <a:t> … </a:t>
            </a:r>
            <a:r>
              <a:rPr lang="en-US" dirty="0">
                <a:solidFill>
                  <a:srgbClr val="FF0000"/>
                </a:solidFill>
                <a:sym typeface="Symbol"/>
              </a:rPr>
              <a:t></a:t>
            </a:r>
            <a:r>
              <a:rPr lang="pt-BR" dirty="0">
                <a:solidFill>
                  <a:srgbClr val="FF0000"/>
                </a:solidFill>
              </a:rPr>
              <a:t>A</a:t>
            </a:r>
            <a:r>
              <a:rPr lang="pt-BR" baseline="-25000" dirty="0">
                <a:solidFill>
                  <a:srgbClr val="FF0000"/>
                </a:solidFill>
              </a:rPr>
              <a:t>m</a:t>
            </a:r>
            <a:r>
              <a:rPr lang="pt-BR" dirty="0">
                <a:solidFill>
                  <a:srgbClr val="FF0000"/>
                </a:solidFill>
              </a:rPr>
              <a:t>) =  n(A</a:t>
            </a:r>
            <a:r>
              <a:rPr lang="pt-BR" baseline="-25000" dirty="0">
                <a:solidFill>
                  <a:srgbClr val="FF0000"/>
                </a:solidFill>
              </a:rPr>
              <a:t>1</a:t>
            </a:r>
            <a:r>
              <a:rPr lang="pt-BR" dirty="0">
                <a:solidFill>
                  <a:srgbClr val="FF0000"/>
                </a:solidFill>
              </a:rPr>
              <a:t>)</a:t>
            </a:r>
            <a:r>
              <a:rPr lang="pt-BR" b="1" dirty="0">
                <a:solidFill>
                  <a:srgbClr val="FF0000"/>
                </a:solidFill>
              </a:rPr>
              <a:t>· </a:t>
            </a:r>
            <a:r>
              <a:rPr lang="pt-BR" dirty="0">
                <a:solidFill>
                  <a:srgbClr val="FF0000"/>
                </a:solidFill>
              </a:rPr>
              <a:t>n(A</a:t>
            </a:r>
            <a:r>
              <a:rPr lang="pt-BR" baseline="-25000" dirty="0">
                <a:solidFill>
                  <a:srgbClr val="FF0000"/>
                </a:solidFill>
              </a:rPr>
              <a:t>2</a:t>
            </a:r>
            <a:r>
              <a:rPr lang="pt-BR" dirty="0">
                <a:solidFill>
                  <a:srgbClr val="FF0000"/>
                </a:solidFill>
              </a:rPr>
              <a:t>)</a:t>
            </a:r>
            <a:r>
              <a:rPr lang="pt-BR" b="1" dirty="0">
                <a:solidFill>
                  <a:srgbClr val="FF0000"/>
                </a:solidFill>
              </a:rPr>
              <a:t>· </a:t>
            </a:r>
            <a:r>
              <a:rPr lang="pt-BR" dirty="0">
                <a:solidFill>
                  <a:srgbClr val="FF0000"/>
                </a:solidFill>
              </a:rPr>
              <a:t>…</a:t>
            </a:r>
            <a:r>
              <a:rPr lang="pt-BR" b="1" dirty="0">
                <a:solidFill>
                  <a:srgbClr val="FF0000"/>
                </a:solidFill>
              </a:rPr>
              <a:t>· </a:t>
            </a:r>
            <a:r>
              <a:rPr lang="pt-BR" dirty="0">
                <a:solidFill>
                  <a:srgbClr val="FF0000"/>
                </a:solidFill>
              </a:rPr>
              <a:t>n(A</a:t>
            </a:r>
            <a:r>
              <a:rPr lang="pt-BR" baseline="-25000" dirty="0">
                <a:solidFill>
                  <a:srgbClr val="FF0000"/>
                </a:solidFill>
              </a:rPr>
              <a:t>m</a:t>
            </a:r>
            <a:r>
              <a:rPr lang="pt-BR" dirty="0">
                <a:solidFill>
                  <a:srgbClr val="FF0000"/>
                </a:solidFill>
              </a:rPr>
              <a:t>)</a:t>
            </a:r>
            <a:endParaRPr lang="en-US" dirty="0">
              <a:solidFill>
                <a:srgbClr val="FF0000"/>
              </a:solidFill>
            </a:endParaRPr>
          </a:p>
          <a:p>
            <a:pPr algn="just"/>
            <a:endParaRPr lang="en-US" dirty="0"/>
          </a:p>
          <a:p>
            <a:pPr algn="just"/>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3144" y="0"/>
            <a:ext cx="10515600" cy="1325563"/>
          </a:xfrm>
        </p:spPr>
        <p:txBody>
          <a:bodyPr>
            <a:normAutofit/>
          </a:bodyPr>
          <a:lstStyle/>
          <a:p>
            <a:pPr algn="ctr"/>
            <a:r>
              <a:rPr lang="en-US" b="1" u="sng" dirty="0">
                <a:solidFill>
                  <a:srgbClr val="0070C0"/>
                </a:solidFill>
              </a:rPr>
              <a:t>EXERCISE</a:t>
            </a:r>
          </a:p>
        </p:txBody>
      </p:sp>
      <p:sp>
        <p:nvSpPr>
          <p:cNvPr id="4" name="Content Placeholder 3"/>
          <p:cNvSpPr>
            <a:spLocks noGrp="1"/>
          </p:cNvSpPr>
          <p:nvPr>
            <p:ph sz="quarter" idx="1"/>
          </p:nvPr>
        </p:nvSpPr>
        <p:spPr>
          <a:xfrm>
            <a:off x="1123255" y="1123666"/>
            <a:ext cx="10723001" cy="5522794"/>
          </a:xfrm>
        </p:spPr>
        <p:txBody>
          <a:bodyPr>
            <a:normAutofit/>
          </a:bodyPr>
          <a:lstStyle/>
          <a:p>
            <a:r>
              <a:rPr lang="en-US" dirty="0"/>
              <a:t>Find the </a:t>
            </a:r>
            <a:r>
              <a:rPr lang="en-US" dirty="0">
                <a:solidFill>
                  <a:srgbClr val="FF0000"/>
                </a:solidFill>
              </a:rPr>
              <a:t>number n</a:t>
            </a:r>
            <a:r>
              <a:rPr lang="en-US" dirty="0"/>
              <a:t> of ways that an organization consisting of </a:t>
            </a:r>
            <a:r>
              <a:rPr lang="en-US" dirty="0">
                <a:solidFill>
                  <a:srgbClr val="FF0000"/>
                </a:solidFill>
              </a:rPr>
              <a:t>15 members</a:t>
            </a:r>
            <a:r>
              <a:rPr lang="en-US" dirty="0"/>
              <a:t> can elect a </a:t>
            </a:r>
            <a:r>
              <a:rPr lang="en-US" dirty="0">
                <a:solidFill>
                  <a:srgbClr val="FF0000"/>
                </a:solidFill>
              </a:rPr>
              <a:t>president</a:t>
            </a:r>
            <a:r>
              <a:rPr lang="en-US" dirty="0"/>
              <a:t>, </a:t>
            </a:r>
            <a:r>
              <a:rPr lang="en-US" dirty="0">
                <a:solidFill>
                  <a:srgbClr val="FF0000"/>
                </a:solidFill>
              </a:rPr>
              <a:t>treasurer</a:t>
            </a:r>
            <a:r>
              <a:rPr lang="en-US" dirty="0"/>
              <a:t>, and </a:t>
            </a:r>
            <a:r>
              <a:rPr lang="en-US" dirty="0">
                <a:solidFill>
                  <a:srgbClr val="FF0000"/>
                </a:solidFill>
              </a:rPr>
              <a:t>secretary</a:t>
            </a:r>
            <a:r>
              <a:rPr lang="en-US" dirty="0"/>
              <a:t>. (assuming no person is elected to more than one position)</a:t>
            </a:r>
          </a:p>
          <a:p>
            <a:endParaRPr lang="en-US" dirty="0"/>
          </a:p>
          <a:p>
            <a:pPr marL="0" indent="0">
              <a:buNone/>
            </a:pPr>
            <a:r>
              <a:rPr lang="en-US" b="1" u="sng" dirty="0">
                <a:solidFill>
                  <a:srgbClr val="0070C0"/>
                </a:solidFill>
              </a:rPr>
              <a:t>SOLUTION:</a:t>
            </a:r>
            <a:endParaRPr lang="en-US" dirty="0">
              <a:solidFill>
                <a:srgbClr val="0070C0"/>
              </a:solidFill>
            </a:endParaRPr>
          </a:p>
          <a:p>
            <a:pPr>
              <a:buNone/>
            </a:pPr>
            <a:r>
              <a:rPr lang="en-US" dirty="0"/>
              <a:t>	The </a:t>
            </a:r>
            <a:r>
              <a:rPr lang="en-US" dirty="0">
                <a:solidFill>
                  <a:srgbClr val="FF0000"/>
                </a:solidFill>
              </a:rPr>
              <a:t>president</a:t>
            </a:r>
            <a:r>
              <a:rPr lang="en-US" dirty="0"/>
              <a:t> can be elected in </a:t>
            </a:r>
            <a:r>
              <a:rPr lang="en-US" dirty="0">
                <a:solidFill>
                  <a:srgbClr val="FF0000"/>
                </a:solidFill>
              </a:rPr>
              <a:t>15 different ways</a:t>
            </a:r>
            <a:r>
              <a:rPr lang="en-US" dirty="0"/>
              <a:t>; </a:t>
            </a:r>
          </a:p>
          <a:p>
            <a:pPr>
              <a:buNone/>
            </a:pPr>
            <a:r>
              <a:rPr lang="en-US" dirty="0"/>
              <a:t>	The </a:t>
            </a:r>
            <a:r>
              <a:rPr lang="en-US" dirty="0">
                <a:solidFill>
                  <a:srgbClr val="FF0000"/>
                </a:solidFill>
              </a:rPr>
              <a:t>treasurer</a:t>
            </a:r>
            <a:r>
              <a:rPr lang="en-US" dirty="0"/>
              <a:t> can be elected in </a:t>
            </a:r>
            <a:r>
              <a:rPr lang="en-US" dirty="0">
                <a:solidFill>
                  <a:srgbClr val="FF0000"/>
                </a:solidFill>
              </a:rPr>
              <a:t>14 different ways</a:t>
            </a:r>
            <a:r>
              <a:rPr lang="en-US" dirty="0"/>
              <a:t>;  </a:t>
            </a:r>
          </a:p>
          <a:p>
            <a:pPr>
              <a:buNone/>
            </a:pPr>
            <a:r>
              <a:rPr lang="en-US" dirty="0"/>
              <a:t>	The </a:t>
            </a:r>
            <a:r>
              <a:rPr lang="en-US" dirty="0">
                <a:solidFill>
                  <a:srgbClr val="FF0000"/>
                </a:solidFill>
              </a:rPr>
              <a:t>secretary </a:t>
            </a:r>
            <a:r>
              <a:rPr lang="en-US" dirty="0"/>
              <a:t>can be elected in </a:t>
            </a:r>
            <a:r>
              <a:rPr lang="en-US" dirty="0">
                <a:solidFill>
                  <a:srgbClr val="FF0000"/>
                </a:solidFill>
              </a:rPr>
              <a:t>13 different ways</a:t>
            </a:r>
            <a:r>
              <a:rPr lang="en-US" dirty="0"/>
              <a:t>. </a:t>
            </a:r>
          </a:p>
          <a:p>
            <a:pPr>
              <a:buNone/>
            </a:pPr>
            <a:r>
              <a:rPr lang="en-US" dirty="0"/>
              <a:t>	Thus, by product rule, there are</a:t>
            </a:r>
          </a:p>
          <a:p>
            <a:pPr>
              <a:buNone/>
            </a:pPr>
            <a:r>
              <a:rPr lang="en-US" dirty="0"/>
              <a:t>				</a:t>
            </a:r>
            <a:r>
              <a:rPr lang="en-US" dirty="0">
                <a:solidFill>
                  <a:srgbClr val="FF0000"/>
                </a:solidFill>
              </a:rPr>
              <a:t>n = 15 x 14 </a:t>
            </a:r>
            <a:r>
              <a:rPr lang="en-US" dirty="0">
                <a:solidFill>
                  <a:srgbClr val="FF0000"/>
                </a:solidFill>
                <a:sym typeface="Times New Roman"/>
              </a:rPr>
              <a:t>x</a:t>
            </a:r>
            <a:r>
              <a:rPr lang="en-US" dirty="0">
                <a:solidFill>
                  <a:srgbClr val="FF0000"/>
                </a:solidFill>
              </a:rPr>
              <a:t> 13 = 2730</a:t>
            </a:r>
          </a:p>
          <a:p>
            <a:pPr>
              <a:buNone/>
            </a:pPr>
            <a:r>
              <a:rPr lang="en-US" dirty="0"/>
              <a:t>	different ways in which the organization can elect the officers.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
                                            <p:txEl>
                                              <p:pRg st="4" end="4"/>
                                            </p:txEl>
                                          </p:spTgt>
                                        </p:tgtEl>
                                        <p:attrNameLst>
                                          <p:attrName>style.visibility</p:attrName>
                                        </p:attrNameLst>
                                      </p:cBhvr>
                                      <p:to>
                                        <p:strVal val="visible"/>
                                      </p:to>
                                    </p:set>
                                    <p:animEffect transition="in" filter="fade">
                                      <p:cBhvr>
                                        <p:cTn id="20" dur="2000"/>
                                        <p:tgtEl>
                                          <p:spTgt spid="4">
                                            <p:txEl>
                                              <p:pRg st="4" end="4"/>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animEffect transition="in" filter="fade">
                                      <p:cBhvr>
                                        <p:cTn id="23" dur="2000"/>
                                        <p:tgtEl>
                                          <p:spTgt spid="4">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
                                            <p:txEl>
                                              <p:pRg st="6" end="6"/>
                                            </p:txEl>
                                          </p:spTgt>
                                        </p:tgtEl>
                                        <p:attrNameLst>
                                          <p:attrName>style.visibility</p:attrName>
                                        </p:attrNameLst>
                                      </p:cBhvr>
                                      <p:to>
                                        <p:strVal val="visible"/>
                                      </p:to>
                                    </p:set>
                                    <p:animEffect transition="in" filter="fade">
                                      <p:cBhvr>
                                        <p:cTn id="28" dur="2000"/>
                                        <p:tgtEl>
                                          <p:spTgt spid="4">
                                            <p:txEl>
                                              <p:pRg st="6" end="6"/>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animEffect transition="in" filter="fade">
                                      <p:cBhvr>
                                        <p:cTn id="31" dur="2000"/>
                                        <p:tgtEl>
                                          <p:spTgt spid="4">
                                            <p:txEl>
                                              <p:pRg st="7" end="7"/>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
                                            <p:txEl>
                                              <p:pRg st="8" end="8"/>
                                            </p:txEl>
                                          </p:spTgt>
                                        </p:tgtEl>
                                        <p:attrNameLst>
                                          <p:attrName>style.visibility</p:attrName>
                                        </p:attrNameLst>
                                      </p:cBhvr>
                                      <p:to>
                                        <p:strVal val="visible"/>
                                      </p:to>
                                    </p:set>
                                    <p:animEffect transition="in" filter="fade">
                                      <p:cBhvr>
                                        <p:cTn id="34" dur="20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3144" y="0"/>
            <a:ext cx="10515600" cy="1325563"/>
          </a:xfrm>
        </p:spPr>
        <p:txBody>
          <a:bodyPr>
            <a:normAutofit/>
          </a:bodyPr>
          <a:lstStyle/>
          <a:p>
            <a:pPr algn="ctr"/>
            <a:r>
              <a:rPr lang="en-US" b="1" u="sng" dirty="0">
                <a:solidFill>
                  <a:srgbClr val="0070C0"/>
                </a:solidFill>
              </a:rPr>
              <a:t>EXERCISE</a:t>
            </a:r>
          </a:p>
        </p:txBody>
      </p:sp>
      <p:sp>
        <p:nvSpPr>
          <p:cNvPr id="4" name="Content Placeholder 3"/>
          <p:cNvSpPr>
            <a:spLocks noGrp="1"/>
          </p:cNvSpPr>
          <p:nvPr>
            <p:ph sz="quarter" idx="1"/>
          </p:nvPr>
        </p:nvSpPr>
        <p:spPr>
          <a:xfrm>
            <a:off x="1334068" y="1191904"/>
            <a:ext cx="10304788" cy="5105400"/>
          </a:xfrm>
        </p:spPr>
        <p:txBody>
          <a:bodyPr/>
          <a:lstStyle/>
          <a:p>
            <a:r>
              <a:rPr lang="en-US" dirty="0"/>
              <a:t>There are </a:t>
            </a:r>
            <a:r>
              <a:rPr lang="en-US" dirty="0">
                <a:solidFill>
                  <a:srgbClr val="FF0000"/>
                </a:solidFill>
              </a:rPr>
              <a:t>four bus lines</a:t>
            </a:r>
            <a:r>
              <a:rPr lang="en-US" dirty="0"/>
              <a:t> between </a:t>
            </a:r>
            <a:r>
              <a:rPr lang="en-US" dirty="0">
                <a:solidFill>
                  <a:srgbClr val="FF0000"/>
                </a:solidFill>
              </a:rPr>
              <a:t>A</a:t>
            </a:r>
            <a:r>
              <a:rPr lang="en-US" dirty="0"/>
              <a:t> and </a:t>
            </a:r>
            <a:r>
              <a:rPr lang="en-US" dirty="0">
                <a:solidFill>
                  <a:srgbClr val="FF0000"/>
                </a:solidFill>
              </a:rPr>
              <a:t>B</a:t>
            </a:r>
            <a:r>
              <a:rPr lang="en-US" dirty="0"/>
              <a:t>; and </a:t>
            </a:r>
            <a:r>
              <a:rPr lang="en-US" dirty="0">
                <a:solidFill>
                  <a:srgbClr val="FF0000"/>
                </a:solidFill>
              </a:rPr>
              <a:t>three bus lines</a:t>
            </a:r>
            <a:r>
              <a:rPr lang="en-US" dirty="0"/>
              <a:t> between </a:t>
            </a:r>
            <a:r>
              <a:rPr lang="en-US" dirty="0">
                <a:solidFill>
                  <a:srgbClr val="FF0000"/>
                </a:solidFill>
              </a:rPr>
              <a:t>B</a:t>
            </a:r>
            <a:r>
              <a:rPr lang="en-US" dirty="0"/>
              <a:t> and </a:t>
            </a:r>
            <a:r>
              <a:rPr lang="en-US" dirty="0">
                <a:solidFill>
                  <a:srgbClr val="FF0000"/>
                </a:solidFill>
              </a:rPr>
              <a:t>C</a:t>
            </a:r>
            <a:r>
              <a:rPr lang="en-US" dirty="0"/>
              <a:t>. </a:t>
            </a:r>
          </a:p>
          <a:p>
            <a:r>
              <a:rPr lang="en-US" dirty="0"/>
              <a:t>Find the number of ways a person can travel:</a:t>
            </a:r>
          </a:p>
          <a:p>
            <a:endParaRPr lang="en-US" dirty="0">
              <a:solidFill>
                <a:srgbClr val="C00000"/>
              </a:solidFill>
            </a:endParaRPr>
          </a:p>
          <a:p>
            <a:pPr>
              <a:buNone/>
            </a:pPr>
            <a:r>
              <a:rPr lang="en-US" dirty="0"/>
              <a:t>	(a) By bus from </a:t>
            </a:r>
            <a:r>
              <a:rPr lang="en-US" dirty="0">
                <a:solidFill>
                  <a:srgbClr val="FF0000"/>
                </a:solidFill>
              </a:rPr>
              <a:t>A</a:t>
            </a:r>
            <a:r>
              <a:rPr lang="en-US" dirty="0"/>
              <a:t> to </a:t>
            </a:r>
            <a:r>
              <a:rPr lang="en-US" dirty="0">
                <a:solidFill>
                  <a:srgbClr val="FF0000"/>
                </a:solidFill>
              </a:rPr>
              <a:t>C</a:t>
            </a:r>
            <a:r>
              <a:rPr lang="en-US" dirty="0"/>
              <a:t> by way of </a:t>
            </a:r>
            <a:r>
              <a:rPr lang="en-US" dirty="0">
                <a:solidFill>
                  <a:srgbClr val="FF0000"/>
                </a:solidFill>
              </a:rPr>
              <a:t>B</a:t>
            </a:r>
            <a:r>
              <a:rPr lang="en-US" dirty="0"/>
              <a:t>;</a:t>
            </a:r>
          </a:p>
          <a:p>
            <a:pPr>
              <a:buNone/>
            </a:pPr>
            <a:r>
              <a:rPr lang="en-US" dirty="0"/>
              <a:t>	(b) </a:t>
            </a:r>
            <a:r>
              <a:rPr lang="en-US" dirty="0">
                <a:solidFill>
                  <a:srgbClr val="FF0000"/>
                </a:solidFill>
              </a:rPr>
              <a:t>Round trip</a:t>
            </a:r>
            <a:r>
              <a:rPr lang="en-US" dirty="0"/>
              <a:t> by bus from </a:t>
            </a:r>
            <a:r>
              <a:rPr lang="en-US" dirty="0">
                <a:solidFill>
                  <a:srgbClr val="FF0000"/>
                </a:solidFill>
              </a:rPr>
              <a:t>A</a:t>
            </a:r>
            <a:r>
              <a:rPr lang="en-US" dirty="0"/>
              <a:t> to </a:t>
            </a:r>
            <a:r>
              <a:rPr lang="en-US" dirty="0">
                <a:solidFill>
                  <a:srgbClr val="FF0000"/>
                </a:solidFill>
              </a:rPr>
              <a:t>C</a:t>
            </a:r>
            <a:r>
              <a:rPr lang="en-US" dirty="0"/>
              <a:t> by way of </a:t>
            </a:r>
            <a:r>
              <a:rPr lang="en-US" dirty="0">
                <a:solidFill>
                  <a:srgbClr val="FF0000"/>
                </a:solidFill>
              </a:rPr>
              <a:t>B</a:t>
            </a:r>
            <a:r>
              <a:rPr lang="en-US" dirty="0"/>
              <a:t>;</a:t>
            </a:r>
          </a:p>
          <a:p>
            <a:pPr>
              <a:buNone/>
            </a:pPr>
            <a:r>
              <a:rPr lang="en-US" dirty="0"/>
              <a:t>	(c) </a:t>
            </a:r>
            <a:r>
              <a:rPr lang="en-US" dirty="0">
                <a:solidFill>
                  <a:srgbClr val="FF0000"/>
                </a:solidFill>
              </a:rPr>
              <a:t>Round trip</a:t>
            </a:r>
            <a:r>
              <a:rPr lang="en-US" dirty="0"/>
              <a:t> by bus from </a:t>
            </a:r>
            <a:r>
              <a:rPr lang="en-US" dirty="0">
                <a:solidFill>
                  <a:srgbClr val="FF0000"/>
                </a:solidFill>
              </a:rPr>
              <a:t>A</a:t>
            </a:r>
            <a:r>
              <a:rPr lang="en-US" dirty="0"/>
              <a:t> to </a:t>
            </a:r>
            <a:r>
              <a:rPr lang="en-US" dirty="0">
                <a:solidFill>
                  <a:srgbClr val="FF0000"/>
                </a:solidFill>
              </a:rPr>
              <a:t>C</a:t>
            </a:r>
            <a:r>
              <a:rPr lang="en-US" dirty="0"/>
              <a:t> by way of </a:t>
            </a:r>
            <a:r>
              <a:rPr lang="en-US" dirty="0">
                <a:solidFill>
                  <a:srgbClr val="FF0000"/>
                </a:solidFill>
              </a:rPr>
              <a:t>B</a:t>
            </a:r>
            <a:r>
              <a:rPr lang="en-US" dirty="0"/>
              <a:t>, if the person does not want to use a </a:t>
            </a:r>
            <a:r>
              <a:rPr lang="en-US" dirty="0">
                <a:solidFill>
                  <a:srgbClr val="FF0000"/>
                </a:solidFill>
              </a:rPr>
              <a:t>bus line</a:t>
            </a:r>
            <a:r>
              <a:rPr lang="en-US" dirty="0"/>
              <a:t> more than once.</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Effect transition="in" filter="fade">
                                      <p:cBhvr>
                                        <p:cTn id="15" dur="2000"/>
                                        <p:tgtEl>
                                          <p:spTgt spid="4">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txEl>
                                              <p:pRg st="4" end="4"/>
                                            </p:txEl>
                                          </p:spTgt>
                                        </p:tgtEl>
                                        <p:attrNameLst>
                                          <p:attrName>style.visibility</p:attrName>
                                        </p:attrNameLst>
                                      </p:cBhvr>
                                      <p:to>
                                        <p:strVal val="visible"/>
                                      </p:to>
                                    </p:set>
                                    <p:animEffect transition="in" filter="fade">
                                      <p:cBhvr>
                                        <p:cTn id="20" dur="2000"/>
                                        <p:tgtEl>
                                          <p:spTgt spid="4">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animEffect transition="in" filter="fade">
                                      <p:cBhvr>
                                        <p:cTn id="25" dur="20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088" y="136478"/>
            <a:ext cx="10515600" cy="846161"/>
          </a:xfrm>
        </p:spPr>
        <p:txBody>
          <a:bodyPr>
            <a:normAutofit/>
          </a:bodyPr>
          <a:lstStyle/>
          <a:p>
            <a:pPr algn="ctr"/>
            <a:r>
              <a:rPr lang="en-US" b="1" u="sng" dirty="0">
                <a:solidFill>
                  <a:srgbClr val="0070C0"/>
                </a:solidFill>
              </a:rPr>
              <a:t>SOLUTION</a:t>
            </a:r>
          </a:p>
        </p:txBody>
      </p:sp>
      <p:sp>
        <p:nvSpPr>
          <p:cNvPr id="4" name="Content Placeholder 3"/>
          <p:cNvSpPr>
            <a:spLocks noGrp="1"/>
          </p:cNvSpPr>
          <p:nvPr>
            <p:ph sz="quarter" idx="1"/>
          </p:nvPr>
        </p:nvSpPr>
        <p:spPr>
          <a:xfrm>
            <a:off x="381000" y="1030826"/>
            <a:ext cx="11810999" cy="5827173"/>
          </a:xfrm>
        </p:spPr>
        <p:txBody>
          <a:bodyPr>
            <a:normAutofit/>
          </a:bodyPr>
          <a:lstStyle/>
          <a:p>
            <a:pPr>
              <a:buNone/>
            </a:pPr>
            <a:r>
              <a:rPr lang="en-US" b="1" dirty="0">
                <a:solidFill>
                  <a:srgbClr val="0070C0"/>
                </a:solidFill>
              </a:rPr>
              <a:t>(a)</a:t>
            </a:r>
            <a:r>
              <a:rPr lang="en-US" dirty="0"/>
              <a:t> There are </a:t>
            </a:r>
            <a:r>
              <a:rPr lang="en-US" dirty="0">
                <a:solidFill>
                  <a:srgbClr val="FF0000"/>
                </a:solidFill>
              </a:rPr>
              <a:t>4</a:t>
            </a:r>
            <a:r>
              <a:rPr lang="en-US" dirty="0"/>
              <a:t> ways to go from </a:t>
            </a:r>
            <a:r>
              <a:rPr lang="en-US" dirty="0">
                <a:solidFill>
                  <a:srgbClr val="FF0000"/>
                </a:solidFill>
              </a:rPr>
              <a:t>A</a:t>
            </a:r>
            <a:r>
              <a:rPr lang="en-US" dirty="0"/>
              <a:t> to </a:t>
            </a:r>
            <a:r>
              <a:rPr lang="en-US" dirty="0">
                <a:solidFill>
                  <a:srgbClr val="FF0000"/>
                </a:solidFill>
              </a:rPr>
              <a:t>B</a:t>
            </a:r>
            <a:r>
              <a:rPr lang="en-US" dirty="0"/>
              <a:t> and </a:t>
            </a:r>
            <a:r>
              <a:rPr lang="en-US" dirty="0">
                <a:solidFill>
                  <a:srgbClr val="FF0000"/>
                </a:solidFill>
              </a:rPr>
              <a:t>3</a:t>
            </a:r>
            <a:r>
              <a:rPr lang="en-US" dirty="0"/>
              <a:t> ways to go from </a:t>
            </a:r>
            <a:r>
              <a:rPr lang="en-US" dirty="0">
                <a:solidFill>
                  <a:srgbClr val="FF0000"/>
                </a:solidFill>
              </a:rPr>
              <a:t>B</a:t>
            </a:r>
            <a:r>
              <a:rPr lang="en-US" dirty="0"/>
              <a:t> to </a:t>
            </a:r>
            <a:r>
              <a:rPr lang="en-US" dirty="0">
                <a:solidFill>
                  <a:srgbClr val="FF0000"/>
                </a:solidFill>
              </a:rPr>
              <a:t>C</a:t>
            </a:r>
            <a:r>
              <a:rPr lang="en-US" dirty="0"/>
              <a:t>; </a:t>
            </a:r>
          </a:p>
          <a:p>
            <a:pPr>
              <a:buNone/>
            </a:pPr>
            <a:r>
              <a:rPr lang="en-US" dirty="0"/>
              <a:t>	hence there are</a:t>
            </a:r>
          </a:p>
          <a:p>
            <a:pPr>
              <a:buNone/>
            </a:pPr>
            <a:r>
              <a:rPr lang="en-US" dirty="0"/>
              <a:t>		</a:t>
            </a:r>
            <a:r>
              <a:rPr lang="en-US" dirty="0">
                <a:solidFill>
                  <a:srgbClr val="FF0000"/>
                </a:solidFill>
              </a:rPr>
              <a:t>4 </a:t>
            </a:r>
            <a:r>
              <a:rPr lang="en-US" dirty="0">
                <a:solidFill>
                  <a:srgbClr val="FF0000"/>
                </a:solidFill>
                <a:sym typeface="Times New Roman"/>
              </a:rPr>
              <a:t>x</a:t>
            </a:r>
            <a:r>
              <a:rPr lang="en-US" dirty="0">
                <a:solidFill>
                  <a:srgbClr val="FF0000"/>
                </a:solidFill>
              </a:rPr>
              <a:t> 3 = 12</a:t>
            </a:r>
            <a:r>
              <a:rPr lang="en-US" dirty="0"/>
              <a:t>  ways to go from </a:t>
            </a:r>
            <a:r>
              <a:rPr lang="en-US" dirty="0">
                <a:solidFill>
                  <a:srgbClr val="FF0000"/>
                </a:solidFill>
              </a:rPr>
              <a:t>A</a:t>
            </a:r>
            <a:r>
              <a:rPr lang="en-US" dirty="0"/>
              <a:t> to </a:t>
            </a:r>
            <a:r>
              <a:rPr lang="en-US" dirty="0">
                <a:solidFill>
                  <a:srgbClr val="FF0000"/>
                </a:solidFill>
              </a:rPr>
              <a:t>C</a:t>
            </a:r>
            <a:r>
              <a:rPr lang="en-US" dirty="0"/>
              <a:t> by way of </a:t>
            </a:r>
            <a:r>
              <a:rPr lang="en-US" dirty="0">
                <a:solidFill>
                  <a:srgbClr val="FF0000"/>
                </a:solidFill>
              </a:rPr>
              <a:t>B</a:t>
            </a:r>
            <a:r>
              <a:rPr lang="en-US" dirty="0"/>
              <a:t>.</a:t>
            </a:r>
          </a:p>
          <a:p>
            <a:pPr>
              <a:buNone/>
            </a:pPr>
            <a:endParaRPr lang="en-US" dirty="0"/>
          </a:p>
          <a:p>
            <a:pPr>
              <a:buNone/>
            </a:pPr>
            <a:r>
              <a:rPr lang="en-US" b="1" dirty="0">
                <a:solidFill>
                  <a:srgbClr val="0070C0"/>
                </a:solidFill>
              </a:rPr>
              <a:t>(b)</a:t>
            </a:r>
            <a:r>
              <a:rPr lang="en-US" dirty="0"/>
              <a:t> The person will travel from </a:t>
            </a:r>
            <a:r>
              <a:rPr lang="en-US" dirty="0">
                <a:solidFill>
                  <a:srgbClr val="FF0000"/>
                </a:solidFill>
              </a:rPr>
              <a:t>A</a:t>
            </a:r>
            <a:r>
              <a:rPr lang="en-US" dirty="0"/>
              <a:t> to </a:t>
            </a:r>
            <a:r>
              <a:rPr lang="en-US" dirty="0">
                <a:solidFill>
                  <a:srgbClr val="FF0000"/>
                </a:solidFill>
              </a:rPr>
              <a:t>B</a:t>
            </a:r>
            <a:r>
              <a:rPr lang="en-US" dirty="0"/>
              <a:t> to </a:t>
            </a:r>
            <a:r>
              <a:rPr lang="en-US" dirty="0">
                <a:solidFill>
                  <a:srgbClr val="FF0000"/>
                </a:solidFill>
              </a:rPr>
              <a:t>C</a:t>
            </a:r>
            <a:r>
              <a:rPr lang="en-US" dirty="0"/>
              <a:t> to </a:t>
            </a:r>
            <a:r>
              <a:rPr lang="en-US" dirty="0">
                <a:solidFill>
                  <a:srgbClr val="FF0000"/>
                </a:solidFill>
              </a:rPr>
              <a:t>B</a:t>
            </a:r>
            <a:r>
              <a:rPr lang="en-US" dirty="0"/>
              <a:t> to </a:t>
            </a:r>
            <a:r>
              <a:rPr lang="en-US" dirty="0">
                <a:solidFill>
                  <a:srgbClr val="FF0000"/>
                </a:solidFill>
              </a:rPr>
              <a:t>A</a:t>
            </a:r>
            <a:r>
              <a:rPr lang="en-US" dirty="0"/>
              <a:t> for the round trip.</a:t>
            </a:r>
          </a:p>
          <a:p>
            <a:pPr>
              <a:buNone/>
            </a:pPr>
            <a:r>
              <a:rPr lang="en-US" dirty="0"/>
              <a:t>		</a:t>
            </a:r>
            <a:r>
              <a:rPr lang="en-US" dirty="0" err="1"/>
              <a:t>i.e</a:t>
            </a:r>
            <a:r>
              <a:rPr lang="en-US" dirty="0"/>
              <a:t> 	   </a:t>
            </a:r>
            <a:r>
              <a:rPr lang="en-US" dirty="0">
                <a:solidFill>
                  <a:srgbClr val="FF0000"/>
                </a:solidFill>
              </a:rPr>
              <a:t>(A →B →C →B →A)</a:t>
            </a:r>
          </a:p>
          <a:p>
            <a:pPr>
              <a:buNone/>
            </a:pPr>
            <a:endParaRPr lang="en-US" dirty="0">
              <a:solidFill>
                <a:srgbClr val="FF0000"/>
              </a:solidFill>
            </a:endParaRPr>
          </a:p>
          <a:p>
            <a:pPr>
              <a:buNone/>
            </a:pPr>
            <a:r>
              <a:rPr lang="en-US" dirty="0"/>
              <a:t>	The person can travel </a:t>
            </a:r>
            <a:r>
              <a:rPr lang="en-US" dirty="0">
                <a:solidFill>
                  <a:srgbClr val="FF0000"/>
                </a:solidFill>
              </a:rPr>
              <a:t>4</a:t>
            </a:r>
            <a:r>
              <a:rPr lang="en-US" dirty="0"/>
              <a:t> ways from </a:t>
            </a:r>
            <a:r>
              <a:rPr lang="en-US" dirty="0">
                <a:solidFill>
                  <a:srgbClr val="FF0000"/>
                </a:solidFill>
              </a:rPr>
              <a:t>A</a:t>
            </a:r>
            <a:r>
              <a:rPr lang="en-US" dirty="0"/>
              <a:t> to </a:t>
            </a:r>
            <a:r>
              <a:rPr lang="en-US" dirty="0">
                <a:solidFill>
                  <a:srgbClr val="FF0000"/>
                </a:solidFill>
              </a:rPr>
              <a:t>B</a:t>
            </a:r>
            <a:r>
              <a:rPr lang="en-US" dirty="0"/>
              <a:t> and </a:t>
            </a:r>
            <a:r>
              <a:rPr lang="en-US" dirty="0">
                <a:solidFill>
                  <a:srgbClr val="FF0000"/>
                </a:solidFill>
              </a:rPr>
              <a:t>3</a:t>
            </a:r>
            <a:r>
              <a:rPr lang="en-US" dirty="0"/>
              <a:t> way from </a:t>
            </a:r>
            <a:r>
              <a:rPr lang="en-US" dirty="0">
                <a:solidFill>
                  <a:srgbClr val="FF0000"/>
                </a:solidFill>
              </a:rPr>
              <a:t>B</a:t>
            </a:r>
            <a:r>
              <a:rPr lang="en-US" dirty="0"/>
              <a:t> to </a:t>
            </a:r>
            <a:r>
              <a:rPr lang="en-US" dirty="0">
                <a:solidFill>
                  <a:srgbClr val="FF0000"/>
                </a:solidFill>
              </a:rPr>
              <a:t>C</a:t>
            </a:r>
            <a:r>
              <a:rPr lang="en-US" dirty="0"/>
              <a:t> and </a:t>
            </a:r>
            <a:r>
              <a:rPr lang="en-US" dirty="0">
                <a:solidFill>
                  <a:srgbClr val="FF0000"/>
                </a:solidFill>
              </a:rPr>
              <a:t>back</a:t>
            </a:r>
            <a:r>
              <a:rPr lang="en-US" dirty="0"/>
              <a:t>.</a:t>
            </a:r>
          </a:p>
          <a:p>
            <a:pPr>
              <a:buNone/>
            </a:pPr>
            <a:r>
              <a:rPr lang="en-US" dirty="0"/>
              <a:t>		i.e.,	 </a:t>
            </a:r>
          </a:p>
          <a:p>
            <a:pPr>
              <a:buNone/>
            </a:pPr>
            <a:endParaRPr lang="en-US" dirty="0"/>
          </a:p>
          <a:p>
            <a:pPr>
              <a:buNone/>
            </a:pPr>
            <a:r>
              <a:rPr lang="en-US" dirty="0"/>
              <a:t>	Thus there are </a:t>
            </a:r>
            <a:r>
              <a:rPr lang="en-US" dirty="0">
                <a:solidFill>
                  <a:srgbClr val="FF0000"/>
                </a:solidFill>
              </a:rPr>
              <a:t>4 </a:t>
            </a:r>
            <a:r>
              <a:rPr lang="en-US" dirty="0">
                <a:solidFill>
                  <a:srgbClr val="FF0000"/>
                </a:solidFill>
                <a:sym typeface="Times New Roman"/>
              </a:rPr>
              <a:t>x </a:t>
            </a:r>
            <a:r>
              <a:rPr lang="en-US" dirty="0">
                <a:solidFill>
                  <a:srgbClr val="FF0000"/>
                </a:solidFill>
              </a:rPr>
              <a:t>3 </a:t>
            </a:r>
            <a:r>
              <a:rPr lang="en-US" dirty="0">
                <a:solidFill>
                  <a:srgbClr val="FF0000"/>
                </a:solidFill>
                <a:sym typeface="Times New Roman"/>
              </a:rPr>
              <a:t>x </a:t>
            </a:r>
            <a:r>
              <a:rPr lang="en-US" dirty="0">
                <a:solidFill>
                  <a:srgbClr val="FF0000"/>
                </a:solidFill>
              </a:rPr>
              <a:t>3 </a:t>
            </a:r>
            <a:r>
              <a:rPr lang="en-US" dirty="0">
                <a:solidFill>
                  <a:srgbClr val="FF0000"/>
                </a:solidFill>
                <a:sym typeface="Times New Roman"/>
              </a:rPr>
              <a:t>x</a:t>
            </a:r>
            <a:r>
              <a:rPr lang="en-US" dirty="0">
                <a:solidFill>
                  <a:srgbClr val="FF0000"/>
                </a:solidFill>
              </a:rPr>
              <a:t> 4 = 144</a:t>
            </a:r>
            <a:r>
              <a:rPr lang="en-US" dirty="0"/>
              <a:t> ways to travel the round trip.</a:t>
            </a:r>
          </a:p>
          <a:p>
            <a:pPr>
              <a:buNone/>
            </a:pPr>
            <a:endParaRPr lang="en-US" dirty="0"/>
          </a:p>
          <a:p>
            <a:endParaRPr lang="en-US" dirty="0"/>
          </a:p>
        </p:txBody>
      </p:sp>
      <p:sp>
        <p:nvSpPr>
          <p:cNvPr id="195586"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95587" name="Rectangle 3"/>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2"/>
          <p:cNvGraphicFramePr>
            <a:graphicFrameLocks noChangeAspect="1"/>
          </p:cNvGraphicFramePr>
          <p:nvPr>
            <p:extLst>
              <p:ext uri="{D42A27DB-BD31-4B8C-83A1-F6EECF244321}">
                <p14:modId xmlns:p14="http://schemas.microsoft.com/office/powerpoint/2010/main" val="3890622924"/>
              </p:ext>
            </p:extLst>
          </p:nvPr>
        </p:nvGraphicFramePr>
        <p:xfrm>
          <a:off x="4140395" y="5293773"/>
          <a:ext cx="2773684" cy="533401"/>
        </p:xfrm>
        <a:graphic>
          <a:graphicData uri="http://schemas.openxmlformats.org/presentationml/2006/ole">
            <mc:AlternateContent xmlns:mc="http://schemas.openxmlformats.org/markup-compatibility/2006">
              <mc:Choice xmlns:v="urn:schemas-microsoft-com:vml" Requires="v">
                <p:oleObj spid="_x0000_s35857" r:id="rId3" imgW="1308100" imgH="279400" progId="">
                  <p:embed/>
                </p:oleObj>
              </mc:Choice>
              <mc:Fallback>
                <p:oleObj r:id="rId3" imgW="1308100" imgH="279400" progId="">
                  <p:embed/>
                  <p:pic>
                    <p:nvPicPr>
                      <p:cNvPr id="5"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0395" y="5293773"/>
                        <a:ext cx="2773684" cy="5334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a:xfrm>
            <a:off x="1179576" y="777921"/>
            <a:ext cx="9829800" cy="5308979"/>
          </a:xfrm>
        </p:spPr>
        <p:txBody>
          <a:bodyPr>
            <a:normAutofit/>
          </a:bodyPr>
          <a:lstStyle/>
          <a:p>
            <a:pPr>
              <a:buNone/>
            </a:pPr>
            <a:r>
              <a:rPr lang="en-US" b="1" dirty="0">
                <a:solidFill>
                  <a:srgbClr val="0070C0"/>
                </a:solidFill>
              </a:rPr>
              <a:t>(c)</a:t>
            </a:r>
            <a:r>
              <a:rPr lang="en-US" dirty="0"/>
              <a:t> The person can travel </a:t>
            </a:r>
            <a:r>
              <a:rPr lang="en-US" dirty="0">
                <a:solidFill>
                  <a:srgbClr val="FF0000"/>
                </a:solidFill>
              </a:rPr>
              <a:t>4</a:t>
            </a:r>
            <a:r>
              <a:rPr lang="en-US" dirty="0"/>
              <a:t> ways from </a:t>
            </a:r>
            <a:r>
              <a:rPr lang="en-US" dirty="0">
                <a:solidFill>
                  <a:srgbClr val="FF0000"/>
                </a:solidFill>
              </a:rPr>
              <a:t>A</a:t>
            </a:r>
            <a:r>
              <a:rPr lang="en-US" dirty="0"/>
              <a:t> to </a:t>
            </a:r>
            <a:r>
              <a:rPr lang="en-US" dirty="0">
                <a:solidFill>
                  <a:srgbClr val="FF0000"/>
                </a:solidFill>
              </a:rPr>
              <a:t>B</a:t>
            </a:r>
            <a:r>
              <a:rPr lang="en-US" dirty="0"/>
              <a:t> and </a:t>
            </a:r>
            <a:r>
              <a:rPr lang="en-US" dirty="0">
                <a:solidFill>
                  <a:srgbClr val="FF0000"/>
                </a:solidFill>
              </a:rPr>
              <a:t>3</a:t>
            </a:r>
            <a:r>
              <a:rPr lang="en-US" dirty="0"/>
              <a:t> ways from </a:t>
            </a:r>
            <a:r>
              <a:rPr lang="en-US" dirty="0">
                <a:solidFill>
                  <a:srgbClr val="FF0000"/>
                </a:solidFill>
              </a:rPr>
              <a:t>B</a:t>
            </a:r>
            <a:r>
              <a:rPr lang="en-US" dirty="0"/>
              <a:t> to </a:t>
            </a:r>
            <a:r>
              <a:rPr lang="en-US" dirty="0">
                <a:solidFill>
                  <a:srgbClr val="FF0000"/>
                </a:solidFill>
              </a:rPr>
              <a:t>C</a:t>
            </a:r>
            <a:r>
              <a:rPr lang="en-US" dirty="0"/>
              <a:t>, but only </a:t>
            </a:r>
            <a:r>
              <a:rPr lang="en-US" dirty="0">
                <a:solidFill>
                  <a:srgbClr val="FF0000"/>
                </a:solidFill>
              </a:rPr>
              <a:t>2</a:t>
            </a:r>
            <a:r>
              <a:rPr lang="en-US" dirty="0"/>
              <a:t> ways from </a:t>
            </a:r>
            <a:r>
              <a:rPr lang="en-US" dirty="0">
                <a:solidFill>
                  <a:srgbClr val="FF0000"/>
                </a:solidFill>
              </a:rPr>
              <a:t>C</a:t>
            </a:r>
            <a:r>
              <a:rPr lang="en-US" dirty="0"/>
              <a:t> to </a:t>
            </a:r>
            <a:r>
              <a:rPr lang="en-US" dirty="0">
                <a:solidFill>
                  <a:srgbClr val="FF0000"/>
                </a:solidFill>
              </a:rPr>
              <a:t>B</a:t>
            </a:r>
            <a:r>
              <a:rPr lang="en-US" dirty="0"/>
              <a:t> and </a:t>
            </a:r>
            <a:r>
              <a:rPr lang="en-US" dirty="0">
                <a:solidFill>
                  <a:srgbClr val="FF0000"/>
                </a:solidFill>
              </a:rPr>
              <a:t>3</a:t>
            </a:r>
            <a:r>
              <a:rPr lang="en-US" dirty="0"/>
              <a:t> ways from </a:t>
            </a:r>
            <a:r>
              <a:rPr lang="en-US" dirty="0">
                <a:solidFill>
                  <a:srgbClr val="FF0000"/>
                </a:solidFill>
              </a:rPr>
              <a:t>B</a:t>
            </a:r>
            <a:r>
              <a:rPr lang="en-US" dirty="0"/>
              <a:t> to </a:t>
            </a:r>
            <a:r>
              <a:rPr lang="en-US" dirty="0">
                <a:solidFill>
                  <a:srgbClr val="FF0000"/>
                </a:solidFill>
              </a:rPr>
              <a:t>A</a:t>
            </a:r>
            <a:r>
              <a:rPr lang="en-US" dirty="0"/>
              <a:t>,</a:t>
            </a:r>
          </a:p>
          <a:p>
            <a:pPr>
              <a:buNone/>
            </a:pPr>
            <a:endParaRPr lang="en-US" dirty="0"/>
          </a:p>
          <a:p>
            <a:pPr>
              <a:buNone/>
            </a:pPr>
            <a:r>
              <a:rPr lang="en-US" dirty="0"/>
              <a:t>	Since bus line cannot be used more than once. Thus</a:t>
            </a:r>
          </a:p>
          <a:p>
            <a:pPr>
              <a:buNone/>
            </a:pPr>
            <a:endParaRPr lang="en-US" dirty="0"/>
          </a:p>
          <a:p>
            <a:pPr>
              <a:buNone/>
            </a:pPr>
            <a:r>
              <a:rPr lang="en-US" dirty="0"/>
              <a:t>	i.e.,	 </a:t>
            </a:r>
          </a:p>
          <a:p>
            <a:endParaRPr lang="en-US" dirty="0"/>
          </a:p>
          <a:p>
            <a:pPr>
              <a:buNone/>
            </a:pPr>
            <a:r>
              <a:rPr lang="en-US" dirty="0"/>
              <a:t>	Hence there are </a:t>
            </a:r>
            <a:r>
              <a:rPr lang="en-US" dirty="0">
                <a:solidFill>
                  <a:srgbClr val="FF0000"/>
                </a:solidFill>
              </a:rPr>
              <a:t>4 x 3 x 2 x 3 = 72</a:t>
            </a:r>
            <a:r>
              <a:rPr lang="en-US" dirty="0"/>
              <a:t> ways to travel the round trip without using a bus line more than once.</a:t>
            </a:r>
          </a:p>
          <a:p>
            <a:endParaRPr lang="en-US" dirty="0"/>
          </a:p>
        </p:txBody>
      </p:sp>
      <p:sp>
        <p:nvSpPr>
          <p:cNvPr id="210946"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0947" name="Rectangle 3"/>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2"/>
          <p:cNvGraphicFramePr>
            <a:graphicFrameLocks noChangeAspect="1"/>
          </p:cNvGraphicFramePr>
          <p:nvPr>
            <p:extLst>
              <p:ext uri="{D42A27DB-BD31-4B8C-83A1-F6EECF244321}">
                <p14:modId xmlns:p14="http://schemas.microsoft.com/office/powerpoint/2010/main" val="1834838829"/>
              </p:ext>
            </p:extLst>
          </p:nvPr>
        </p:nvGraphicFramePr>
        <p:xfrm>
          <a:off x="3426725" y="2969809"/>
          <a:ext cx="4591905" cy="918381"/>
        </p:xfrm>
        <a:graphic>
          <a:graphicData uri="http://schemas.openxmlformats.org/presentationml/2006/ole">
            <mc:AlternateContent xmlns:mc="http://schemas.openxmlformats.org/markup-compatibility/2006">
              <mc:Choice xmlns:v="urn:schemas-microsoft-com:vml" Requires="v">
                <p:oleObj spid="_x0000_s36880" r:id="rId3" imgW="1308100" imgH="279400" progId="">
                  <p:embed/>
                </p:oleObj>
              </mc:Choice>
              <mc:Fallback>
                <p:oleObj r:id="rId3" imgW="1308100" imgH="279400" progId="">
                  <p:embed/>
                  <p:pic>
                    <p:nvPicPr>
                      <p:cNvPr id="5"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6725" y="2969809"/>
                        <a:ext cx="4591905" cy="918381"/>
                      </a:xfrm>
                      <a:prstGeom prst="rect">
                        <a:avLst/>
                      </a:prstGeom>
                      <a:noFill/>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5031" y="0"/>
            <a:ext cx="10515600" cy="1325563"/>
          </a:xfrm>
        </p:spPr>
        <p:txBody>
          <a:bodyPr>
            <a:normAutofit/>
          </a:bodyPr>
          <a:lstStyle/>
          <a:p>
            <a:pPr algn="ctr"/>
            <a:r>
              <a:rPr lang="en-US" b="1" u="sng" dirty="0">
                <a:solidFill>
                  <a:srgbClr val="0070C0"/>
                </a:solidFill>
              </a:rPr>
              <a:t>EXERCISE</a:t>
            </a:r>
          </a:p>
        </p:txBody>
      </p:sp>
      <p:sp>
        <p:nvSpPr>
          <p:cNvPr id="4" name="Content Placeholder 3"/>
          <p:cNvSpPr>
            <a:spLocks noGrp="1"/>
          </p:cNvSpPr>
          <p:nvPr>
            <p:ph sz="quarter" idx="1"/>
          </p:nvPr>
        </p:nvSpPr>
        <p:spPr>
          <a:xfrm>
            <a:off x="1981200" y="1219200"/>
            <a:ext cx="8229600" cy="5181600"/>
          </a:xfrm>
        </p:spPr>
        <p:txBody>
          <a:bodyPr>
            <a:normAutofit/>
          </a:bodyPr>
          <a:lstStyle/>
          <a:p>
            <a:r>
              <a:rPr lang="en-US" dirty="0"/>
              <a:t>How many </a:t>
            </a:r>
            <a:r>
              <a:rPr lang="en-US" dirty="0">
                <a:solidFill>
                  <a:srgbClr val="FF0000"/>
                </a:solidFill>
              </a:rPr>
              <a:t>bit strings</a:t>
            </a:r>
            <a:r>
              <a:rPr lang="en-US" dirty="0"/>
              <a:t> of </a:t>
            </a:r>
            <a:r>
              <a:rPr lang="en-US" dirty="0">
                <a:solidFill>
                  <a:srgbClr val="FF0000"/>
                </a:solidFill>
              </a:rPr>
              <a:t>length</a:t>
            </a:r>
            <a:r>
              <a:rPr lang="en-US" dirty="0"/>
              <a:t> </a:t>
            </a:r>
            <a:r>
              <a:rPr lang="en-US" dirty="0">
                <a:solidFill>
                  <a:srgbClr val="FF0000"/>
                </a:solidFill>
              </a:rPr>
              <a:t>8</a:t>
            </a:r>
            <a:r>
              <a:rPr lang="en-US" dirty="0"/>
              <a:t> </a:t>
            </a:r>
          </a:p>
          <a:p>
            <a:pPr>
              <a:buNone/>
            </a:pPr>
            <a:endParaRPr lang="en-US" dirty="0"/>
          </a:p>
          <a:p>
            <a:pPr>
              <a:buNone/>
            </a:pPr>
            <a:r>
              <a:rPr lang="en-US" dirty="0"/>
              <a:t>	(</a:t>
            </a:r>
            <a:r>
              <a:rPr lang="en-US" dirty="0" err="1"/>
              <a:t>i</a:t>
            </a:r>
            <a:r>
              <a:rPr lang="en-US" dirty="0"/>
              <a:t>)  </a:t>
            </a:r>
            <a:r>
              <a:rPr lang="en-US" dirty="0">
                <a:solidFill>
                  <a:srgbClr val="FF0000"/>
                </a:solidFill>
              </a:rPr>
              <a:t>begin</a:t>
            </a:r>
            <a:r>
              <a:rPr lang="en-US" dirty="0"/>
              <a:t> with a </a:t>
            </a:r>
            <a:r>
              <a:rPr lang="en-US" dirty="0">
                <a:solidFill>
                  <a:srgbClr val="FF0000"/>
                </a:solidFill>
              </a:rPr>
              <a:t>“1”</a:t>
            </a:r>
            <a:r>
              <a:rPr lang="en-US" dirty="0"/>
              <a:t>?</a:t>
            </a:r>
          </a:p>
          <a:p>
            <a:pPr>
              <a:buNone/>
            </a:pPr>
            <a:r>
              <a:rPr lang="en-US" dirty="0"/>
              <a:t>   (ii) </a:t>
            </a:r>
            <a:r>
              <a:rPr lang="en-US" dirty="0">
                <a:solidFill>
                  <a:srgbClr val="FF0000"/>
                </a:solidFill>
              </a:rPr>
              <a:t>begin</a:t>
            </a:r>
            <a:r>
              <a:rPr lang="en-US" dirty="0"/>
              <a:t> and </a:t>
            </a:r>
            <a:r>
              <a:rPr lang="en-US" dirty="0">
                <a:solidFill>
                  <a:srgbClr val="FF0000"/>
                </a:solidFill>
              </a:rPr>
              <a:t>end</a:t>
            </a:r>
            <a:r>
              <a:rPr lang="en-US" dirty="0"/>
              <a:t> with a </a:t>
            </a:r>
            <a:r>
              <a:rPr lang="en-US" dirty="0">
                <a:solidFill>
                  <a:srgbClr val="FF0000"/>
                </a:solidFill>
              </a:rPr>
              <a:t>“1”</a:t>
            </a:r>
            <a:r>
              <a:rPr lang="en-US" dirty="0"/>
              <a: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0439" y="0"/>
            <a:ext cx="10515600" cy="996287"/>
          </a:xfrm>
        </p:spPr>
        <p:txBody>
          <a:bodyPr>
            <a:normAutofit/>
          </a:bodyPr>
          <a:lstStyle/>
          <a:p>
            <a:pPr algn="ctr"/>
            <a:r>
              <a:rPr lang="en-US" b="1" u="sng" dirty="0">
                <a:solidFill>
                  <a:srgbClr val="0070C0"/>
                </a:solidFill>
              </a:rPr>
              <a:t>SOLUTION</a:t>
            </a:r>
          </a:p>
        </p:txBody>
      </p:sp>
      <p:sp>
        <p:nvSpPr>
          <p:cNvPr id="4" name="Content Placeholder 3"/>
          <p:cNvSpPr>
            <a:spLocks noGrp="1"/>
          </p:cNvSpPr>
          <p:nvPr>
            <p:ph sz="quarter" idx="1"/>
          </p:nvPr>
        </p:nvSpPr>
        <p:spPr>
          <a:xfrm>
            <a:off x="440140" y="1095543"/>
            <a:ext cx="11311719" cy="5181600"/>
          </a:xfrm>
        </p:spPr>
        <p:txBody>
          <a:bodyPr>
            <a:normAutofit/>
          </a:bodyPr>
          <a:lstStyle/>
          <a:p>
            <a:pPr>
              <a:buNone/>
            </a:pPr>
            <a:r>
              <a:rPr lang="en-US" sz="2600" b="1" dirty="0">
                <a:solidFill>
                  <a:srgbClr val="0070C0"/>
                </a:solidFill>
              </a:rPr>
              <a:t>(</a:t>
            </a:r>
            <a:r>
              <a:rPr lang="en-US" sz="2600" b="1" dirty="0" err="1">
                <a:solidFill>
                  <a:srgbClr val="0070C0"/>
                </a:solidFill>
              </a:rPr>
              <a:t>i</a:t>
            </a:r>
            <a:r>
              <a:rPr lang="en-US" sz="2600" b="1" dirty="0">
                <a:solidFill>
                  <a:srgbClr val="0070C0"/>
                </a:solidFill>
              </a:rPr>
              <a:t>)</a:t>
            </a:r>
            <a:r>
              <a:rPr lang="en-US" sz="2600" dirty="0"/>
              <a:t> If the </a:t>
            </a:r>
            <a:r>
              <a:rPr lang="en-US" sz="2600" dirty="0">
                <a:solidFill>
                  <a:srgbClr val="FF0000"/>
                </a:solidFill>
              </a:rPr>
              <a:t>first bit</a:t>
            </a:r>
            <a:r>
              <a:rPr lang="en-US" sz="2600" dirty="0"/>
              <a:t> (left most bit) is a </a:t>
            </a:r>
            <a:r>
              <a:rPr lang="en-US" sz="2600" dirty="0">
                <a:solidFill>
                  <a:srgbClr val="FF0000"/>
                </a:solidFill>
              </a:rPr>
              <a:t>1</a:t>
            </a:r>
            <a:r>
              <a:rPr lang="en-US" sz="2600" dirty="0"/>
              <a:t>, then it can be filled in only one way. </a:t>
            </a:r>
          </a:p>
          <a:p>
            <a:pPr>
              <a:buNone/>
            </a:pPr>
            <a:r>
              <a:rPr lang="en-US" sz="2600" dirty="0"/>
              <a:t>	Each of the </a:t>
            </a:r>
            <a:r>
              <a:rPr lang="en-US" sz="2600" dirty="0">
                <a:solidFill>
                  <a:srgbClr val="FF0000"/>
                </a:solidFill>
              </a:rPr>
              <a:t>remaining seven positions</a:t>
            </a:r>
            <a:r>
              <a:rPr lang="en-US" sz="2600" dirty="0"/>
              <a:t> in the </a:t>
            </a:r>
            <a:r>
              <a:rPr lang="en-US" sz="2600" dirty="0">
                <a:solidFill>
                  <a:srgbClr val="FF0000"/>
                </a:solidFill>
              </a:rPr>
              <a:t>bit string</a:t>
            </a:r>
            <a:r>
              <a:rPr lang="en-US" sz="2600" dirty="0"/>
              <a:t> can be filled in </a:t>
            </a:r>
            <a:r>
              <a:rPr lang="en-US" sz="2600" dirty="0">
                <a:solidFill>
                  <a:srgbClr val="FF0000"/>
                </a:solidFill>
              </a:rPr>
              <a:t>2 ways</a:t>
            </a:r>
            <a:r>
              <a:rPr lang="en-US" sz="2600" dirty="0"/>
              <a:t> (i.e., either by </a:t>
            </a:r>
            <a:r>
              <a:rPr lang="en-US" sz="2600" dirty="0">
                <a:solidFill>
                  <a:srgbClr val="FF0000"/>
                </a:solidFill>
              </a:rPr>
              <a:t>0</a:t>
            </a:r>
            <a:r>
              <a:rPr lang="en-US" sz="2600" dirty="0"/>
              <a:t> or </a:t>
            </a:r>
            <a:r>
              <a:rPr lang="en-US" sz="2600" dirty="0">
                <a:solidFill>
                  <a:srgbClr val="FF0000"/>
                </a:solidFill>
              </a:rPr>
              <a:t>1</a:t>
            </a:r>
            <a:r>
              <a:rPr lang="en-US" sz="2600" dirty="0"/>
              <a:t>). </a:t>
            </a:r>
          </a:p>
          <a:p>
            <a:pPr>
              <a:buNone/>
            </a:pPr>
            <a:r>
              <a:rPr lang="en-US" sz="2600" dirty="0"/>
              <a:t>	Hence, </a:t>
            </a:r>
          </a:p>
          <a:p>
            <a:pPr>
              <a:buNone/>
            </a:pPr>
            <a:r>
              <a:rPr lang="en-US" sz="2600" dirty="0"/>
              <a:t>	there are  </a:t>
            </a:r>
            <a:r>
              <a:rPr lang="en-US" sz="2600" b="1" dirty="0"/>
              <a:t> </a:t>
            </a:r>
            <a:r>
              <a:rPr lang="en-US" sz="2600" b="1" dirty="0">
                <a:solidFill>
                  <a:srgbClr val="FF0000"/>
                </a:solidFill>
              </a:rPr>
              <a:t>1 </a:t>
            </a:r>
            <a:r>
              <a:rPr lang="en-US" sz="2600" b="1" dirty="0">
                <a:solidFill>
                  <a:srgbClr val="FF0000"/>
                </a:solidFill>
                <a:sym typeface="Times New Roman"/>
              </a:rPr>
              <a:t>x </a:t>
            </a:r>
            <a:r>
              <a:rPr lang="en-US" sz="2600" b="1" dirty="0">
                <a:solidFill>
                  <a:srgbClr val="FF0000"/>
                </a:solidFill>
              </a:rPr>
              <a:t>2 </a:t>
            </a:r>
            <a:r>
              <a:rPr lang="en-US" sz="2600" b="1" dirty="0">
                <a:solidFill>
                  <a:srgbClr val="FF0000"/>
                </a:solidFill>
                <a:sym typeface="Times New Roman"/>
              </a:rPr>
              <a:t>x </a:t>
            </a:r>
            <a:r>
              <a:rPr lang="en-US" sz="2600" b="1" dirty="0">
                <a:solidFill>
                  <a:srgbClr val="FF0000"/>
                </a:solidFill>
              </a:rPr>
              <a:t>2 </a:t>
            </a:r>
            <a:r>
              <a:rPr lang="en-US" sz="2600" b="1" dirty="0">
                <a:solidFill>
                  <a:srgbClr val="FF0000"/>
                </a:solidFill>
                <a:sym typeface="Times New Roman"/>
              </a:rPr>
              <a:t>x </a:t>
            </a:r>
            <a:r>
              <a:rPr lang="en-US" sz="2600" b="1" dirty="0">
                <a:solidFill>
                  <a:srgbClr val="FF0000"/>
                </a:solidFill>
              </a:rPr>
              <a:t>2 </a:t>
            </a:r>
            <a:r>
              <a:rPr lang="en-US" sz="2600" b="1" dirty="0">
                <a:solidFill>
                  <a:srgbClr val="FF0000"/>
                </a:solidFill>
                <a:sym typeface="Times New Roman"/>
              </a:rPr>
              <a:t>x </a:t>
            </a:r>
            <a:r>
              <a:rPr lang="en-US" sz="2600" b="1" dirty="0">
                <a:solidFill>
                  <a:srgbClr val="FF0000"/>
                </a:solidFill>
              </a:rPr>
              <a:t>2 </a:t>
            </a:r>
            <a:r>
              <a:rPr lang="en-US" sz="2600" b="1" dirty="0">
                <a:solidFill>
                  <a:srgbClr val="FF0000"/>
                </a:solidFill>
                <a:sym typeface="Times New Roman"/>
              </a:rPr>
              <a:t>x </a:t>
            </a:r>
            <a:r>
              <a:rPr lang="en-US" sz="2600" b="1" dirty="0">
                <a:solidFill>
                  <a:srgbClr val="FF0000"/>
                </a:solidFill>
              </a:rPr>
              <a:t>2 </a:t>
            </a:r>
            <a:r>
              <a:rPr lang="en-US" sz="2600" b="1" dirty="0">
                <a:solidFill>
                  <a:srgbClr val="FF0000"/>
                </a:solidFill>
                <a:sym typeface="Times New Roman"/>
              </a:rPr>
              <a:t>x </a:t>
            </a:r>
            <a:r>
              <a:rPr lang="en-US" sz="2600" b="1" dirty="0">
                <a:solidFill>
                  <a:srgbClr val="FF0000"/>
                </a:solidFill>
              </a:rPr>
              <a:t>2 </a:t>
            </a:r>
            <a:r>
              <a:rPr lang="en-US" sz="2600" b="1" dirty="0">
                <a:solidFill>
                  <a:srgbClr val="FF0000"/>
                </a:solidFill>
                <a:sym typeface="Times New Roman"/>
              </a:rPr>
              <a:t>x </a:t>
            </a:r>
            <a:r>
              <a:rPr lang="en-US" sz="2600" b="1" dirty="0">
                <a:solidFill>
                  <a:srgbClr val="FF0000"/>
                </a:solidFill>
              </a:rPr>
              <a:t>2 = 2</a:t>
            </a:r>
            <a:r>
              <a:rPr lang="en-US" sz="2600" b="1" baseline="30000" dirty="0">
                <a:solidFill>
                  <a:srgbClr val="FF0000"/>
                </a:solidFill>
              </a:rPr>
              <a:t>7</a:t>
            </a:r>
            <a:r>
              <a:rPr lang="en-US" sz="2600" b="1" dirty="0">
                <a:solidFill>
                  <a:srgbClr val="FF0000"/>
                </a:solidFill>
              </a:rPr>
              <a:t> = 128</a:t>
            </a:r>
            <a:r>
              <a:rPr lang="en-US" sz="2600" b="1" dirty="0"/>
              <a:t> </a:t>
            </a:r>
            <a:r>
              <a:rPr lang="en-US" sz="2600" dirty="0"/>
              <a:t>different </a:t>
            </a:r>
            <a:r>
              <a:rPr lang="en-US" sz="2600" dirty="0">
                <a:solidFill>
                  <a:srgbClr val="FF0000"/>
                </a:solidFill>
              </a:rPr>
              <a:t>bit strings</a:t>
            </a:r>
            <a:r>
              <a:rPr lang="en-US" sz="2600" dirty="0"/>
              <a:t> of </a:t>
            </a:r>
            <a:r>
              <a:rPr lang="en-US" sz="2600" dirty="0">
                <a:solidFill>
                  <a:srgbClr val="FF0000"/>
                </a:solidFill>
              </a:rPr>
              <a:t>length 8</a:t>
            </a:r>
            <a:r>
              <a:rPr lang="en-US" sz="2600" dirty="0"/>
              <a:t> that </a:t>
            </a:r>
            <a:r>
              <a:rPr lang="en-US" sz="2600" dirty="0">
                <a:solidFill>
                  <a:srgbClr val="FF0000"/>
                </a:solidFill>
              </a:rPr>
              <a:t>begin</a:t>
            </a:r>
            <a:r>
              <a:rPr lang="en-US" sz="2600" dirty="0"/>
              <a:t> with a </a:t>
            </a:r>
            <a:r>
              <a:rPr lang="en-US" sz="2600" dirty="0">
                <a:solidFill>
                  <a:srgbClr val="FF0000"/>
                </a:solidFill>
              </a:rPr>
              <a:t>1</a:t>
            </a:r>
            <a:r>
              <a:rPr lang="en-US" sz="2600" dirty="0"/>
              <a:t>.</a:t>
            </a:r>
          </a:p>
          <a:p>
            <a:pPr>
              <a:buNone/>
            </a:pPr>
            <a:endParaRPr lang="en-US" sz="2600" dirty="0"/>
          </a:p>
          <a:p>
            <a:pPr>
              <a:buNone/>
            </a:pPr>
            <a:r>
              <a:rPr lang="en-US" sz="2600" b="1" dirty="0">
                <a:solidFill>
                  <a:srgbClr val="0070C0"/>
                </a:solidFill>
              </a:rPr>
              <a:t>(ii)</a:t>
            </a:r>
            <a:r>
              <a:rPr lang="en-US" sz="2600" b="1" dirty="0"/>
              <a:t> </a:t>
            </a:r>
            <a:r>
              <a:rPr lang="en-US" sz="2600" dirty="0"/>
              <a:t>If the </a:t>
            </a:r>
            <a:r>
              <a:rPr lang="en-US" sz="2600" dirty="0">
                <a:solidFill>
                  <a:srgbClr val="FF0000"/>
                </a:solidFill>
              </a:rPr>
              <a:t>first</a:t>
            </a:r>
            <a:r>
              <a:rPr lang="en-US" sz="2600" dirty="0"/>
              <a:t> and</a:t>
            </a:r>
            <a:r>
              <a:rPr lang="en-US" sz="2600" dirty="0">
                <a:solidFill>
                  <a:srgbClr val="FF0000"/>
                </a:solidFill>
              </a:rPr>
              <a:t> last bit</a:t>
            </a:r>
            <a:r>
              <a:rPr lang="en-US" sz="2600" dirty="0"/>
              <a:t> in an </a:t>
            </a:r>
            <a:r>
              <a:rPr lang="en-US" sz="2600" dirty="0">
                <a:solidFill>
                  <a:srgbClr val="FF0000"/>
                </a:solidFill>
              </a:rPr>
              <a:t>8 bit</a:t>
            </a:r>
            <a:r>
              <a:rPr lang="en-US" sz="2600" dirty="0"/>
              <a:t> string is a </a:t>
            </a:r>
            <a:r>
              <a:rPr lang="en-US" sz="2600" dirty="0">
                <a:solidFill>
                  <a:srgbClr val="FF0000"/>
                </a:solidFill>
              </a:rPr>
              <a:t>1</a:t>
            </a:r>
            <a:r>
              <a:rPr lang="en-US" sz="2600" dirty="0"/>
              <a:t>, then only the</a:t>
            </a:r>
            <a:r>
              <a:rPr lang="en-US" sz="2600" dirty="0">
                <a:solidFill>
                  <a:srgbClr val="FF0000"/>
                </a:solidFill>
              </a:rPr>
              <a:t> intermediate six bits</a:t>
            </a:r>
            <a:r>
              <a:rPr lang="en-US" sz="2600" dirty="0"/>
              <a:t> can be filled in </a:t>
            </a:r>
            <a:r>
              <a:rPr lang="en-US" sz="2600" dirty="0">
                <a:solidFill>
                  <a:srgbClr val="FF0000"/>
                </a:solidFill>
              </a:rPr>
              <a:t>2 ways</a:t>
            </a:r>
            <a:r>
              <a:rPr lang="en-US" sz="2600" dirty="0"/>
              <a:t>, i.e. by a 0 or 1.</a:t>
            </a:r>
          </a:p>
          <a:p>
            <a:pPr>
              <a:buNone/>
            </a:pPr>
            <a:r>
              <a:rPr lang="en-US" sz="2600" dirty="0"/>
              <a:t>	 Hence there are  </a:t>
            </a:r>
            <a:r>
              <a:rPr lang="en-US" sz="2600" b="1" dirty="0">
                <a:solidFill>
                  <a:srgbClr val="FF0000"/>
                </a:solidFill>
              </a:rPr>
              <a:t>1 </a:t>
            </a:r>
            <a:r>
              <a:rPr lang="en-US" sz="2600" b="1" dirty="0">
                <a:solidFill>
                  <a:srgbClr val="FF0000"/>
                </a:solidFill>
                <a:sym typeface="Times New Roman"/>
              </a:rPr>
              <a:t>x </a:t>
            </a:r>
            <a:r>
              <a:rPr lang="en-US" sz="2600" b="1" dirty="0">
                <a:solidFill>
                  <a:srgbClr val="FF0000"/>
                </a:solidFill>
              </a:rPr>
              <a:t>2 </a:t>
            </a:r>
            <a:r>
              <a:rPr lang="en-US" sz="2600" b="1" dirty="0">
                <a:solidFill>
                  <a:srgbClr val="FF0000"/>
                </a:solidFill>
                <a:sym typeface="Times New Roman"/>
              </a:rPr>
              <a:t>x </a:t>
            </a:r>
            <a:r>
              <a:rPr lang="en-US" sz="2600" b="1" dirty="0">
                <a:solidFill>
                  <a:srgbClr val="FF0000"/>
                </a:solidFill>
              </a:rPr>
              <a:t>2 </a:t>
            </a:r>
            <a:r>
              <a:rPr lang="en-US" sz="2600" b="1" dirty="0">
                <a:solidFill>
                  <a:srgbClr val="FF0000"/>
                </a:solidFill>
                <a:sym typeface="Times New Roman"/>
              </a:rPr>
              <a:t>x </a:t>
            </a:r>
            <a:r>
              <a:rPr lang="en-US" sz="2600" b="1" dirty="0">
                <a:solidFill>
                  <a:srgbClr val="FF0000"/>
                </a:solidFill>
              </a:rPr>
              <a:t>2</a:t>
            </a:r>
            <a:r>
              <a:rPr lang="en-US" sz="2600" b="1" dirty="0">
                <a:solidFill>
                  <a:srgbClr val="FF0000"/>
                </a:solidFill>
                <a:sym typeface="Times New Roman"/>
              </a:rPr>
              <a:t> x </a:t>
            </a:r>
            <a:r>
              <a:rPr lang="en-US" sz="2600" b="1" dirty="0">
                <a:solidFill>
                  <a:srgbClr val="FF0000"/>
                </a:solidFill>
              </a:rPr>
              <a:t>2 </a:t>
            </a:r>
            <a:r>
              <a:rPr lang="en-US" sz="2600" b="1" dirty="0">
                <a:solidFill>
                  <a:srgbClr val="FF0000"/>
                </a:solidFill>
                <a:sym typeface="Times New Roman"/>
              </a:rPr>
              <a:t>x </a:t>
            </a:r>
            <a:r>
              <a:rPr lang="en-US" sz="2600" b="1" dirty="0">
                <a:solidFill>
                  <a:srgbClr val="FF0000"/>
                </a:solidFill>
              </a:rPr>
              <a:t>2 </a:t>
            </a:r>
            <a:r>
              <a:rPr lang="en-US" sz="2600" b="1" dirty="0">
                <a:solidFill>
                  <a:srgbClr val="FF0000"/>
                </a:solidFill>
                <a:sym typeface="Times New Roman"/>
              </a:rPr>
              <a:t>x </a:t>
            </a:r>
            <a:r>
              <a:rPr lang="en-US" sz="2600" b="1" dirty="0">
                <a:solidFill>
                  <a:srgbClr val="FF0000"/>
                </a:solidFill>
              </a:rPr>
              <a:t>2 </a:t>
            </a:r>
            <a:r>
              <a:rPr lang="en-US" sz="2600" b="1" dirty="0">
                <a:solidFill>
                  <a:srgbClr val="FF0000"/>
                </a:solidFill>
                <a:sym typeface="Times New Roman"/>
              </a:rPr>
              <a:t>x </a:t>
            </a:r>
            <a:r>
              <a:rPr lang="en-US" sz="2600" b="1" dirty="0">
                <a:solidFill>
                  <a:srgbClr val="FF0000"/>
                </a:solidFill>
              </a:rPr>
              <a:t>1 = 2</a:t>
            </a:r>
            <a:r>
              <a:rPr lang="en-US" sz="2600" b="1" baseline="30000" dirty="0">
                <a:solidFill>
                  <a:srgbClr val="FF0000"/>
                </a:solidFill>
              </a:rPr>
              <a:t>6</a:t>
            </a:r>
            <a:r>
              <a:rPr lang="en-US" sz="2600" b="1" dirty="0">
                <a:solidFill>
                  <a:srgbClr val="FF0000"/>
                </a:solidFill>
              </a:rPr>
              <a:t> = 64</a:t>
            </a:r>
          </a:p>
          <a:p>
            <a:pPr>
              <a:buNone/>
            </a:pPr>
            <a:r>
              <a:rPr lang="en-US" sz="2600" dirty="0"/>
              <a:t>	different bit strings of </a:t>
            </a:r>
            <a:r>
              <a:rPr lang="en-US" sz="2600" dirty="0">
                <a:solidFill>
                  <a:srgbClr val="FF0000"/>
                </a:solidFill>
              </a:rPr>
              <a:t>length 8</a:t>
            </a:r>
            <a:r>
              <a:rPr lang="en-US" sz="2600" dirty="0"/>
              <a:t> that </a:t>
            </a:r>
            <a:r>
              <a:rPr lang="en-US" sz="2600" dirty="0">
                <a:solidFill>
                  <a:srgbClr val="FF0000"/>
                </a:solidFill>
              </a:rPr>
              <a:t>begin</a:t>
            </a:r>
            <a:r>
              <a:rPr lang="en-US" sz="2600" dirty="0"/>
              <a:t> and </a:t>
            </a:r>
            <a:r>
              <a:rPr lang="en-US" sz="2600" dirty="0">
                <a:solidFill>
                  <a:srgbClr val="FF0000"/>
                </a:solidFill>
              </a:rPr>
              <a:t>end</a:t>
            </a:r>
            <a:r>
              <a:rPr lang="en-US" sz="2600" dirty="0"/>
              <a:t> with a </a:t>
            </a:r>
            <a:r>
              <a:rPr lang="en-US" sz="2600" dirty="0">
                <a:solidFill>
                  <a:srgbClr val="FF0000"/>
                </a:solidFill>
              </a:rPr>
              <a:t>1</a:t>
            </a:r>
            <a:r>
              <a:rPr lang="en-US" sz="2600" dirty="0"/>
              <a:t>.</a:t>
            </a:r>
          </a:p>
          <a:p>
            <a:endParaRPr lang="en-US" sz="2600" dirty="0"/>
          </a:p>
          <a:p>
            <a:endParaRPr lang="en-US" sz="2600" dirty="0"/>
          </a:p>
          <a:p>
            <a:endParaRPr lang="en-US" sz="2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2000"/>
                                        <p:tgtEl>
                                          <p:spTgt spid="4">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fade">
                                      <p:cBhvr>
                                        <p:cTn id="16" dur="2000"/>
                                        <p:tgtEl>
                                          <p:spTgt spid="4">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animEffect transition="in" filter="fade">
                                      <p:cBhvr>
                                        <p:cTn id="21" dur="2000"/>
                                        <p:tgtEl>
                                          <p:spTgt spid="4">
                                            <p:txEl>
                                              <p:pRg st="5" end="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
                                            <p:txEl>
                                              <p:pRg st="6" end="6"/>
                                            </p:txEl>
                                          </p:spTgt>
                                        </p:tgtEl>
                                        <p:attrNameLst>
                                          <p:attrName>style.visibility</p:attrName>
                                        </p:attrNameLst>
                                      </p:cBhvr>
                                      <p:to>
                                        <p:strVal val="visible"/>
                                      </p:to>
                                    </p:set>
                                    <p:animEffect transition="in" filter="fade">
                                      <p:cBhvr>
                                        <p:cTn id="24" dur="2000"/>
                                        <p:tgtEl>
                                          <p:spTgt spid="4">
                                            <p:txEl>
                                              <p:pRg st="6" end="6"/>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animEffect transition="in" filter="fade">
                                      <p:cBhvr>
                                        <p:cTn id="27" dur="2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496" y="1"/>
            <a:ext cx="10515600" cy="1037230"/>
          </a:xfrm>
        </p:spPr>
        <p:txBody>
          <a:bodyPr>
            <a:normAutofit/>
          </a:bodyPr>
          <a:lstStyle/>
          <a:p>
            <a:pPr algn="ctr"/>
            <a:r>
              <a:rPr lang="en-US" b="1" u="sng" dirty="0">
                <a:solidFill>
                  <a:srgbClr val="0070C0"/>
                </a:solidFill>
              </a:rPr>
              <a:t>EXERCISE</a:t>
            </a:r>
          </a:p>
        </p:txBody>
      </p:sp>
      <p:sp>
        <p:nvSpPr>
          <p:cNvPr id="4" name="Content Placeholder 3"/>
          <p:cNvSpPr>
            <a:spLocks noGrp="1"/>
          </p:cNvSpPr>
          <p:nvPr>
            <p:ph sz="quarter" idx="1"/>
          </p:nvPr>
        </p:nvSpPr>
        <p:spPr>
          <a:xfrm>
            <a:off x="739254" y="1037231"/>
            <a:ext cx="10913250" cy="5636524"/>
          </a:xfrm>
        </p:spPr>
        <p:txBody>
          <a:bodyPr>
            <a:normAutofit fontScale="92500" lnSpcReduction="10000"/>
          </a:bodyPr>
          <a:lstStyle/>
          <a:p>
            <a:pPr marL="0" indent="0">
              <a:buNone/>
            </a:pPr>
            <a:r>
              <a:rPr lang="en-US" dirty="0"/>
              <a:t>Suppose that an </a:t>
            </a:r>
            <a:r>
              <a:rPr lang="en-US" dirty="0">
                <a:solidFill>
                  <a:srgbClr val="FF0000"/>
                </a:solidFill>
              </a:rPr>
              <a:t>automobile license plate</a:t>
            </a:r>
            <a:r>
              <a:rPr lang="en-US" dirty="0"/>
              <a:t> has </a:t>
            </a:r>
            <a:r>
              <a:rPr lang="en-US" dirty="0">
                <a:solidFill>
                  <a:srgbClr val="FF0000"/>
                </a:solidFill>
              </a:rPr>
              <a:t>three letters</a:t>
            </a:r>
            <a:r>
              <a:rPr lang="en-US" dirty="0"/>
              <a:t> followed by </a:t>
            </a:r>
            <a:r>
              <a:rPr lang="en-US" dirty="0">
                <a:solidFill>
                  <a:srgbClr val="FF0000"/>
                </a:solidFill>
              </a:rPr>
              <a:t>three digits</a:t>
            </a:r>
            <a:r>
              <a:rPr lang="en-US" dirty="0"/>
              <a:t>.</a:t>
            </a:r>
          </a:p>
          <a:p>
            <a:pPr marL="0" indent="0">
              <a:buNone/>
            </a:pPr>
            <a:r>
              <a:rPr lang="en-US" dirty="0"/>
              <a:t>	a) How many </a:t>
            </a:r>
            <a:r>
              <a:rPr lang="en-US" dirty="0">
                <a:solidFill>
                  <a:srgbClr val="FF0000"/>
                </a:solidFill>
              </a:rPr>
              <a:t>different license plates</a:t>
            </a:r>
            <a:r>
              <a:rPr lang="en-US" dirty="0"/>
              <a:t> are possible?</a:t>
            </a:r>
          </a:p>
          <a:p>
            <a:pPr marL="0" indent="0">
              <a:buNone/>
            </a:pPr>
            <a:r>
              <a:rPr lang="en-US" b="1" u="sng" dirty="0">
                <a:solidFill>
                  <a:srgbClr val="0070C0"/>
                </a:solidFill>
              </a:rPr>
              <a:t>SOLUTION:</a:t>
            </a:r>
            <a:endParaRPr lang="en-US" dirty="0">
              <a:solidFill>
                <a:srgbClr val="0070C0"/>
              </a:solidFill>
            </a:endParaRPr>
          </a:p>
          <a:p>
            <a:pPr>
              <a:buNone/>
            </a:pPr>
            <a:r>
              <a:rPr lang="en-US" dirty="0"/>
              <a:t>Each of the </a:t>
            </a:r>
            <a:r>
              <a:rPr lang="en-US" dirty="0">
                <a:solidFill>
                  <a:srgbClr val="FF0000"/>
                </a:solidFill>
              </a:rPr>
              <a:t>three letters</a:t>
            </a:r>
            <a:r>
              <a:rPr lang="en-US" dirty="0"/>
              <a:t> can be written in </a:t>
            </a:r>
            <a:r>
              <a:rPr lang="en-US" dirty="0">
                <a:solidFill>
                  <a:srgbClr val="FF0000"/>
                </a:solidFill>
              </a:rPr>
              <a:t>26 different ways</a:t>
            </a:r>
            <a:r>
              <a:rPr lang="en-US" dirty="0"/>
              <a:t>, and each of the </a:t>
            </a:r>
            <a:r>
              <a:rPr lang="en-US" dirty="0">
                <a:solidFill>
                  <a:srgbClr val="FF0000"/>
                </a:solidFill>
              </a:rPr>
              <a:t>three digits</a:t>
            </a:r>
            <a:r>
              <a:rPr lang="en-US" dirty="0"/>
              <a:t> can be written in </a:t>
            </a:r>
            <a:r>
              <a:rPr lang="en-US" dirty="0">
                <a:solidFill>
                  <a:srgbClr val="FF0000"/>
                </a:solidFill>
              </a:rPr>
              <a:t>10 different ways</a:t>
            </a:r>
            <a:r>
              <a:rPr lang="en-US" dirty="0"/>
              <a:t>.</a:t>
            </a:r>
          </a:p>
          <a:p>
            <a:pPr>
              <a:buNone/>
            </a:pPr>
            <a:r>
              <a:rPr lang="en-US" dirty="0"/>
              <a:t>	 </a:t>
            </a:r>
          </a:p>
          <a:p>
            <a:endParaRPr lang="en-US" dirty="0"/>
          </a:p>
          <a:p>
            <a:endParaRPr lang="en-US" dirty="0"/>
          </a:p>
          <a:p>
            <a:endParaRPr lang="en-US" dirty="0"/>
          </a:p>
          <a:p>
            <a:pPr>
              <a:buNone/>
            </a:pPr>
            <a:r>
              <a:rPr lang="en-US" dirty="0"/>
              <a:t>		Hence, by the product rule, there is a total of </a:t>
            </a:r>
          </a:p>
          <a:p>
            <a:pPr>
              <a:buNone/>
            </a:pPr>
            <a:r>
              <a:rPr lang="en-US" dirty="0"/>
              <a:t>			</a:t>
            </a:r>
            <a:r>
              <a:rPr lang="en-US" dirty="0">
                <a:solidFill>
                  <a:srgbClr val="FF0000"/>
                </a:solidFill>
              </a:rPr>
              <a:t>26 </a:t>
            </a:r>
            <a:r>
              <a:rPr lang="en-US" dirty="0">
                <a:solidFill>
                  <a:srgbClr val="FF0000"/>
                </a:solidFill>
                <a:sym typeface="Times New Roman"/>
              </a:rPr>
              <a:t>x</a:t>
            </a:r>
            <a:r>
              <a:rPr lang="en-US" dirty="0">
                <a:solidFill>
                  <a:srgbClr val="FF0000"/>
                </a:solidFill>
              </a:rPr>
              <a:t> 26 </a:t>
            </a:r>
            <a:r>
              <a:rPr lang="en-US" dirty="0">
                <a:solidFill>
                  <a:srgbClr val="FF0000"/>
                </a:solidFill>
                <a:sym typeface="Times New Roman"/>
              </a:rPr>
              <a:t>x</a:t>
            </a:r>
            <a:r>
              <a:rPr lang="en-US" dirty="0">
                <a:solidFill>
                  <a:srgbClr val="FF0000"/>
                </a:solidFill>
              </a:rPr>
              <a:t> 26 </a:t>
            </a:r>
            <a:r>
              <a:rPr lang="en-US" dirty="0">
                <a:solidFill>
                  <a:srgbClr val="FF0000"/>
                </a:solidFill>
                <a:sym typeface="Times New Roman"/>
              </a:rPr>
              <a:t>x</a:t>
            </a:r>
            <a:r>
              <a:rPr lang="en-US" dirty="0">
                <a:solidFill>
                  <a:srgbClr val="FF0000"/>
                </a:solidFill>
              </a:rPr>
              <a:t> 10 </a:t>
            </a:r>
            <a:r>
              <a:rPr lang="en-US" dirty="0">
                <a:solidFill>
                  <a:srgbClr val="FF0000"/>
                </a:solidFill>
                <a:sym typeface="Times New Roman"/>
              </a:rPr>
              <a:t>x</a:t>
            </a:r>
            <a:r>
              <a:rPr lang="en-US" dirty="0">
                <a:solidFill>
                  <a:srgbClr val="FF0000"/>
                </a:solidFill>
              </a:rPr>
              <a:t> 10 </a:t>
            </a:r>
            <a:r>
              <a:rPr lang="en-US" dirty="0">
                <a:solidFill>
                  <a:srgbClr val="FF0000"/>
                </a:solidFill>
                <a:sym typeface="Times New Roman"/>
              </a:rPr>
              <a:t>x</a:t>
            </a:r>
            <a:r>
              <a:rPr lang="en-US" dirty="0">
                <a:solidFill>
                  <a:srgbClr val="FF0000"/>
                </a:solidFill>
              </a:rPr>
              <a:t> 10 = 17,576,000</a:t>
            </a:r>
          </a:p>
          <a:p>
            <a:pPr>
              <a:buNone/>
            </a:pPr>
            <a:r>
              <a:rPr lang="en-US" dirty="0"/>
              <a:t>			different license plates possible.</a:t>
            </a:r>
          </a:p>
          <a:p>
            <a:pPr marL="0" indent="0">
              <a:buNone/>
            </a:pPr>
            <a:endParaRPr lang="en-US" dirty="0"/>
          </a:p>
          <a:p>
            <a:pPr>
              <a:buNone/>
            </a:pPr>
            <a:endParaRPr lang="en-US" dirty="0"/>
          </a:p>
        </p:txBody>
      </p:sp>
      <p:graphicFrame>
        <p:nvGraphicFramePr>
          <p:cNvPr id="5" name="Group 4">
            <a:extLst>
              <a:ext uri="{FF2B5EF4-FFF2-40B4-BE49-F238E27FC236}">
                <a16:creationId xmlns:a16="http://schemas.microsoft.com/office/drawing/2014/main" id="{E7D32E45-4E21-4821-A62B-2CC13638C436}"/>
              </a:ext>
            </a:extLst>
          </p:cNvPr>
          <p:cNvGraphicFramePr>
            <a:graphicFrameLocks noGrp="1"/>
          </p:cNvGraphicFramePr>
          <p:nvPr>
            <p:extLst>
              <p:ext uri="{D42A27DB-BD31-4B8C-83A1-F6EECF244321}">
                <p14:modId xmlns:p14="http://schemas.microsoft.com/office/powerpoint/2010/main" val="462626952"/>
              </p:ext>
            </p:extLst>
          </p:nvPr>
        </p:nvGraphicFramePr>
        <p:xfrm>
          <a:off x="3001948" y="3998333"/>
          <a:ext cx="5486400" cy="381000"/>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81000">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itchFamily="34" charset="0"/>
                        <a:cs typeface="Arial" pitchFamily="34" charset="0"/>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itchFamily="34" charset="0"/>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itchFamily="34" charset="0"/>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itchFamily="34" charset="0"/>
                        <a:cs typeface="Arial" pitchFamily="34" charset="0"/>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6" name="Line 20">
            <a:extLst>
              <a:ext uri="{FF2B5EF4-FFF2-40B4-BE49-F238E27FC236}">
                <a16:creationId xmlns:a16="http://schemas.microsoft.com/office/drawing/2014/main" id="{6D163290-E4A1-4847-9A35-ED0F30745DDF}"/>
              </a:ext>
            </a:extLst>
          </p:cNvPr>
          <p:cNvSpPr>
            <a:spLocks noChangeShapeType="1"/>
          </p:cNvSpPr>
          <p:nvPr/>
        </p:nvSpPr>
        <p:spPr bwMode="auto">
          <a:xfrm>
            <a:off x="3078148" y="3869746"/>
            <a:ext cx="838200" cy="0"/>
          </a:xfrm>
          <a:prstGeom prst="line">
            <a:avLst/>
          </a:prstGeom>
          <a:noFill/>
          <a:ln w="9525">
            <a:solidFill>
              <a:srgbClr val="000000"/>
            </a:solidFill>
            <a:round/>
            <a:headEnd type="arrow" w="med" len="med"/>
            <a:tailEnd/>
          </a:ln>
        </p:spPr>
        <p:txBody>
          <a:bodyPr vert="horz" wrap="square" lIns="91440" tIns="45720" rIns="91440" bIns="45720" numCol="1" anchor="t" anchorCtr="0" compatLnSpc="1">
            <a:prstTxWarp prst="textNoShape">
              <a:avLst/>
            </a:prstTxWarp>
          </a:bodyPr>
          <a:lstStyle/>
          <a:p>
            <a:endParaRPr lang="en-US"/>
          </a:p>
        </p:txBody>
      </p:sp>
      <p:sp>
        <p:nvSpPr>
          <p:cNvPr id="7" name="Line 21">
            <a:extLst>
              <a:ext uri="{FF2B5EF4-FFF2-40B4-BE49-F238E27FC236}">
                <a16:creationId xmlns:a16="http://schemas.microsoft.com/office/drawing/2014/main" id="{D3A60E89-B3C9-40FF-B692-1EDE765E717C}"/>
              </a:ext>
            </a:extLst>
          </p:cNvPr>
          <p:cNvSpPr>
            <a:spLocks noChangeShapeType="1"/>
          </p:cNvSpPr>
          <p:nvPr/>
        </p:nvSpPr>
        <p:spPr bwMode="auto">
          <a:xfrm>
            <a:off x="4830748" y="3869746"/>
            <a:ext cx="762000" cy="0"/>
          </a:xfrm>
          <a:prstGeom prst="line">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en-US"/>
          </a:p>
        </p:txBody>
      </p:sp>
      <p:sp>
        <p:nvSpPr>
          <p:cNvPr id="8" name="Line 22">
            <a:extLst>
              <a:ext uri="{FF2B5EF4-FFF2-40B4-BE49-F238E27FC236}">
                <a16:creationId xmlns:a16="http://schemas.microsoft.com/office/drawing/2014/main" id="{A3C93E48-601F-423F-A7D3-EB69D4A09856}"/>
              </a:ext>
            </a:extLst>
          </p:cNvPr>
          <p:cNvSpPr>
            <a:spLocks noChangeShapeType="1"/>
          </p:cNvSpPr>
          <p:nvPr/>
        </p:nvSpPr>
        <p:spPr bwMode="auto">
          <a:xfrm>
            <a:off x="5745148" y="3860221"/>
            <a:ext cx="990600" cy="0"/>
          </a:xfrm>
          <a:prstGeom prst="line">
            <a:avLst/>
          </a:prstGeom>
          <a:noFill/>
          <a:ln w="9525">
            <a:solidFill>
              <a:srgbClr val="000000"/>
            </a:solidFill>
            <a:round/>
            <a:headEnd type="arrow" w="med" len="med"/>
            <a:tailEnd/>
          </a:ln>
        </p:spPr>
        <p:txBody>
          <a:bodyPr vert="horz" wrap="square" lIns="91440" tIns="45720" rIns="91440" bIns="45720" numCol="1" anchor="t" anchorCtr="0" compatLnSpc="1">
            <a:prstTxWarp prst="textNoShape">
              <a:avLst/>
            </a:prstTxWarp>
          </a:bodyPr>
          <a:lstStyle/>
          <a:p>
            <a:endParaRPr lang="en-US"/>
          </a:p>
        </p:txBody>
      </p:sp>
      <p:sp>
        <p:nvSpPr>
          <p:cNvPr id="9" name="Line 23">
            <a:extLst>
              <a:ext uri="{FF2B5EF4-FFF2-40B4-BE49-F238E27FC236}">
                <a16:creationId xmlns:a16="http://schemas.microsoft.com/office/drawing/2014/main" id="{2EFF702A-6C06-4220-AA31-C282C5D60195}"/>
              </a:ext>
            </a:extLst>
          </p:cNvPr>
          <p:cNvSpPr>
            <a:spLocks noChangeShapeType="1"/>
          </p:cNvSpPr>
          <p:nvPr/>
        </p:nvSpPr>
        <p:spPr bwMode="auto">
          <a:xfrm>
            <a:off x="7573948" y="3869746"/>
            <a:ext cx="762000" cy="0"/>
          </a:xfrm>
          <a:prstGeom prst="line">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en-US"/>
          </a:p>
        </p:txBody>
      </p:sp>
      <p:sp>
        <p:nvSpPr>
          <p:cNvPr id="10" name="AutoShape 24">
            <a:extLst>
              <a:ext uri="{FF2B5EF4-FFF2-40B4-BE49-F238E27FC236}">
                <a16:creationId xmlns:a16="http://schemas.microsoft.com/office/drawing/2014/main" id="{476E0E7B-596D-46D5-BEB9-FAEE1ADB8F44}"/>
              </a:ext>
            </a:extLst>
          </p:cNvPr>
          <p:cNvSpPr>
            <a:spLocks/>
          </p:cNvSpPr>
          <p:nvPr/>
        </p:nvSpPr>
        <p:spPr bwMode="auto">
          <a:xfrm rot="-5400000">
            <a:off x="4221148" y="3274433"/>
            <a:ext cx="228600" cy="2667000"/>
          </a:xfrm>
          <a:prstGeom prst="leftBrace">
            <a:avLst>
              <a:gd name="adj1" fmla="val 97222"/>
              <a:gd name="adj2" fmla="val 50000"/>
            </a:avLst>
          </a:prstGeom>
          <a:noFill/>
          <a:ln w="9525">
            <a:solidFill>
              <a:srgbClr val="000000"/>
            </a:solidFill>
            <a:round/>
            <a:headEnd/>
            <a:tailEnd/>
          </a:ln>
        </p:spPr>
        <p:txBody>
          <a:bodyPr vert="horz" wrap="square" lIns="91440" tIns="45720" rIns="91440" bIns="45720" numCol="1" anchor="ctr" anchorCtr="0" compatLnSpc="1">
            <a:prstTxWarp prst="textNoShape">
              <a:avLst/>
            </a:prstTxWarp>
          </a:bodyPr>
          <a:lstStyle/>
          <a:p>
            <a:endParaRPr lang="en-US"/>
          </a:p>
        </p:txBody>
      </p:sp>
      <p:sp>
        <p:nvSpPr>
          <p:cNvPr id="11" name="AutoShape 25">
            <a:extLst>
              <a:ext uri="{FF2B5EF4-FFF2-40B4-BE49-F238E27FC236}">
                <a16:creationId xmlns:a16="http://schemas.microsoft.com/office/drawing/2014/main" id="{A3CB914D-EFB3-47CE-A9CE-9B3EE4E7067F}"/>
              </a:ext>
            </a:extLst>
          </p:cNvPr>
          <p:cNvSpPr>
            <a:spLocks/>
          </p:cNvSpPr>
          <p:nvPr/>
        </p:nvSpPr>
        <p:spPr bwMode="auto">
          <a:xfrm rot="-5400000">
            <a:off x="7002448" y="3312533"/>
            <a:ext cx="228600" cy="2590800"/>
          </a:xfrm>
          <a:prstGeom prst="leftBrace">
            <a:avLst>
              <a:gd name="adj1" fmla="val 94444"/>
              <a:gd name="adj2" fmla="val 50000"/>
            </a:avLst>
          </a:prstGeom>
          <a:noFill/>
          <a:ln w="9525">
            <a:solidFill>
              <a:srgbClr val="000000"/>
            </a:solidFill>
            <a:round/>
            <a:headEnd/>
            <a:tailEnd/>
          </a:ln>
        </p:spPr>
        <p:txBody>
          <a:bodyPr vert="horz" wrap="square" lIns="91440" tIns="45720" rIns="91440" bIns="45720" numCol="1" anchor="ctr" anchorCtr="0" compatLnSpc="1">
            <a:prstTxWarp prst="textNoShape">
              <a:avLst/>
            </a:prstTxWarp>
          </a:bodyPr>
          <a:lstStyle/>
          <a:p>
            <a:endParaRPr lang="en-US"/>
          </a:p>
        </p:txBody>
      </p:sp>
      <p:sp>
        <p:nvSpPr>
          <p:cNvPr id="12" name="Text Box 26">
            <a:extLst>
              <a:ext uri="{FF2B5EF4-FFF2-40B4-BE49-F238E27FC236}">
                <a16:creationId xmlns:a16="http://schemas.microsoft.com/office/drawing/2014/main" id="{075AE67A-3B69-4118-B712-19A23F0DBE2E}"/>
              </a:ext>
            </a:extLst>
          </p:cNvPr>
          <p:cNvSpPr txBox="1">
            <a:spLocks noChangeArrowheads="1"/>
          </p:cNvSpPr>
          <p:nvPr/>
        </p:nvSpPr>
        <p:spPr bwMode="auto">
          <a:xfrm>
            <a:off x="3811574" y="4722233"/>
            <a:ext cx="1209675" cy="2603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400" dirty="0">
                <a:solidFill>
                  <a:srgbClr val="000000"/>
                </a:solidFill>
                <a:latin typeface="Calibri" pitchFamily="34" charset="0"/>
                <a:cs typeface="Arial" pitchFamily="34" charset="0"/>
              </a:rPr>
              <a:t>26 ways each</a:t>
            </a:r>
            <a:endParaRPr lang="en-US" sz="1400" dirty="0">
              <a:latin typeface="Arial" pitchFamily="34" charset="0"/>
              <a:cs typeface="Arial" pitchFamily="34" charset="0"/>
            </a:endParaRPr>
          </a:p>
        </p:txBody>
      </p:sp>
      <p:sp>
        <p:nvSpPr>
          <p:cNvPr id="13" name="Text Box 27">
            <a:extLst>
              <a:ext uri="{FF2B5EF4-FFF2-40B4-BE49-F238E27FC236}">
                <a16:creationId xmlns:a16="http://schemas.microsoft.com/office/drawing/2014/main" id="{39D1E436-1360-41E9-9850-F5284009C360}"/>
              </a:ext>
            </a:extLst>
          </p:cNvPr>
          <p:cNvSpPr txBox="1">
            <a:spLocks noChangeArrowheads="1"/>
          </p:cNvSpPr>
          <p:nvPr/>
        </p:nvSpPr>
        <p:spPr bwMode="auto">
          <a:xfrm>
            <a:off x="6684948" y="4722233"/>
            <a:ext cx="12319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400" dirty="0">
                <a:solidFill>
                  <a:srgbClr val="000000"/>
                </a:solidFill>
                <a:latin typeface="Calibri" pitchFamily="34" charset="0"/>
                <a:cs typeface="Arial" pitchFamily="34" charset="0"/>
              </a:rPr>
              <a:t>10 ways each</a:t>
            </a:r>
            <a:endParaRPr lang="en-US" sz="1400" dirty="0">
              <a:latin typeface="Arial" pitchFamily="34" charset="0"/>
              <a:cs typeface="Arial" pitchFamily="34" charset="0"/>
            </a:endParaRPr>
          </a:p>
        </p:txBody>
      </p:sp>
      <p:sp>
        <p:nvSpPr>
          <p:cNvPr id="14" name="Text Box 28">
            <a:extLst>
              <a:ext uri="{FF2B5EF4-FFF2-40B4-BE49-F238E27FC236}">
                <a16:creationId xmlns:a16="http://schemas.microsoft.com/office/drawing/2014/main" id="{2FEA090C-AA17-4F81-8EDD-EE7F37889148}"/>
              </a:ext>
            </a:extLst>
          </p:cNvPr>
          <p:cNvSpPr txBox="1">
            <a:spLocks noChangeArrowheads="1"/>
          </p:cNvSpPr>
          <p:nvPr/>
        </p:nvSpPr>
        <p:spPr bwMode="auto">
          <a:xfrm>
            <a:off x="4040174" y="3693533"/>
            <a:ext cx="752475" cy="2222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400" dirty="0">
                <a:solidFill>
                  <a:srgbClr val="000000"/>
                </a:solidFill>
                <a:latin typeface="Calibri" pitchFamily="34" charset="0"/>
                <a:cs typeface="Arial" pitchFamily="34" charset="0"/>
              </a:rPr>
              <a:t>letters</a:t>
            </a:r>
            <a:endParaRPr lang="en-US" sz="1400" dirty="0">
              <a:latin typeface="Arial" pitchFamily="34" charset="0"/>
              <a:cs typeface="Arial" pitchFamily="34" charset="0"/>
            </a:endParaRPr>
          </a:p>
        </p:txBody>
      </p:sp>
      <p:sp>
        <p:nvSpPr>
          <p:cNvPr id="15" name="Text Box 29">
            <a:extLst>
              <a:ext uri="{FF2B5EF4-FFF2-40B4-BE49-F238E27FC236}">
                <a16:creationId xmlns:a16="http://schemas.microsoft.com/office/drawing/2014/main" id="{AE00FDA9-F5AE-452B-8087-E058F6E0F0FF}"/>
              </a:ext>
            </a:extLst>
          </p:cNvPr>
          <p:cNvSpPr txBox="1">
            <a:spLocks noChangeArrowheads="1"/>
          </p:cNvSpPr>
          <p:nvPr/>
        </p:nvSpPr>
        <p:spPr bwMode="auto">
          <a:xfrm>
            <a:off x="6888148" y="3693533"/>
            <a:ext cx="6477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400" dirty="0">
                <a:solidFill>
                  <a:srgbClr val="000000"/>
                </a:solidFill>
                <a:latin typeface="Calibri" pitchFamily="34" charset="0"/>
                <a:cs typeface="Arial" pitchFamily="34" charset="0"/>
              </a:rPr>
              <a:t>digits</a:t>
            </a:r>
            <a:endParaRPr lang="en-US" sz="1400" dirty="0">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9" end="9"/>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p:bldP spid="13" grpId="0"/>
      <p:bldP spid="14" grpId="0"/>
      <p:bldP spid="1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a:xfrm>
            <a:off x="574964" y="361950"/>
            <a:ext cx="11375736" cy="6496050"/>
          </a:xfrm>
        </p:spPr>
        <p:txBody>
          <a:bodyPr>
            <a:normAutofit fontScale="92500" lnSpcReduction="20000"/>
          </a:bodyPr>
          <a:lstStyle/>
          <a:p>
            <a:pPr marL="0" indent="0">
              <a:buNone/>
            </a:pPr>
            <a:r>
              <a:rPr lang="en-US" dirty="0"/>
              <a:t>(b) How many </a:t>
            </a:r>
            <a:r>
              <a:rPr lang="en-US" dirty="0">
                <a:solidFill>
                  <a:srgbClr val="FF0000"/>
                </a:solidFill>
              </a:rPr>
              <a:t>different license plates</a:t>
            </a:r>
            <a:r>
              <a:rPr lang="en-US" dirty="0"/>
              <a:t> are possible </a:t>
            </a:r>
            <a:r>
              <a:rPr lang="en-US" dirty="0">
                <a:solidFill>
                  <a:srgbClr val="FF0000"/>
                </a:solidFill>
              </a:rPr>
              <a:t>(repetition is not allowed)?</a:t>
            </a:r>
          </a:p>
          <a:p>
            <a:pPr marL="0" indent="0">
              <a:buNone/>
            </a:pPr>
            <a:r>
              <a:rPr lang="en-US" b="1" u="sng" dirty="0">
                <a:solidFill>
                  <a:srgbClr val="0070C0"/>
                </a:solidFill>
              </a:rPr>
              <a:t>SOLUTION:</a:t>
            </a:r>
            <a:endParaRPr lang="en-US" dirty="0">
              <a:solidFill>
                <a:srgbClr val="0070C0"/>
              </a:solidFill>
            </a:endParaRPr>
          </a:p>
          <a:p>
            <a:pPr>
              <a:buNone/>
            </a:pPr>
            <a:r>
              <a:rPr lang="en-US" dirty="0"/>
              <a:t>	The </a:t>
            </a:r>
            <a:r>
              <a:rPr lang="en-US" dirty="0">
                <a:solidFill>
                  <a:srgbClr val="FF0000"/>
                </a:solidFill>
              </a:rPr>
              <a:t>first</a:t>
            </a:r>
            <a:r>
              <a:rPr lang="en-US" dirty="0"/>
              <a:t> place can be filled in 		</a:t>
            </a:r>
            <a:r>
              <a:rPr lang="en-US" dirty="0">
                <a:solidFill>
                  <a:srgbClr val="FF0000"/>
                </a:solidFill>
              </a:rPr>
              <a:t>26</a:t>
            </a:r>
            <a:r>
              <a:rPr lang="en-US" dirty="0"/>
              <a:t> ways</a:t>
            </a:r>
          </a:p>
          <a:p>
            <a:pPr>
              <a:buNone/>
            </a:pPr>
            <a:r>
              <a:rPr lang="en-US" dirty="0"/>
              <a:t>	The </a:t>
            </a:r>
            <a:r>
              <a:rPr lang="en-US" dirty="0">
                <a:solidFill>
                  <a:srgbClr val="FF0000"/>
                </a:solidFill>
              </a:rPr>
              <a:t>second</a:t>
            </a:r>
            <a:r>
              <a:rPr lang="en-US" dirty="0"/>
              <a:t> place can be filled in 	</a:t>
            </a:r>
            <a:r>
              <a:rPr lang="en-US" dirty="0">
                <a:solidFill>
                  <a:srgbClr val="FF0000"/>
                </a:solidFill>
              </a:rPr>
              <a:t>25</a:t>
            </a:r>
            <a:r>
              <a:rPr lang="en-US" dirty="0"/>
              <a:t> ways</a:t>
            </a:r>
          </a:p>
          <a:p>
            <a:pPr>
              <a:buNone/>
            </a:pPr>
            <a:r>
              <a:rPr lang="en-US" dirty="0"/>
              <a:t>	The </a:t>
            </a:r>
            <a:r>
              <a:rPr lang="en-US" dirty="0">
                <a:solidFill>
                  <a:srgbClr val="FF0000"/>
                </a:solidFill>
              </a:rPr>
              <a:t>third </a:t>
            </a:r>
            <a:r>
              <a:rPr lang="en-US" dirty="0"/>
              <a:t>place can be filled in 		</a:t>
            </a:r>
            <a:r>
              <a:rPr lang="en-US" dirty="0">
                <a:solidFill>
                  <a:srgbClr val="FF0000"/>
                </a:solidFill>
              </a:rPr>
              <a:t>24</a:t>
            </a:r>
            <a:r>
              <a:rPr lang="en-US" dirty="0"/>
              <a:t> ways</a:t>
            </a:r>
          </a:p>
          <a:p>
            <a:pPr>
              <a:buNone/>
            </a:pPr>
            <a:r>
              <a:rPr lang="en-US" dirty="0"/>
              <a:t>	The </a:t>
            </a:r>
            <a:r>
              <a:rPr lang="en-US" dirty="0">
                <a:solidFill>
                  <a:srgbClr val="FF0000"/>
                </a:solidFill>
              </a:rPr>
              <a:t>fourth </a:t>
            </a:r>
            <a:r>
              <a:rPr lang="en-US" dirty="0"/>
              <a:t>place can be filled in 	</a:t>
            </a:r>
            <a:r>
              <a:rPr lang="en-US" dirty="0">
                <a:solidFill>
                  <a:srgbClr val="FF0000"/>
                </a:solidFill>
              </a:rPr>
              <a:t>10</a:t>
            </a:r>
            <a:r>
              <a:rPr lang="en-US" dirty="0"/>
              <a:t> ways</a:t>
            </a:r>
          </a:p>
          <a:p>
            <a:pPr>
              <a:buNone/>
            </a:pPr>
            <a:r>
              <a:rPr lang="en-US" dirty="0"/>
              <a:t>	The </a:t>
            </a:r>
            <a:r>
              <a:rPr lang="en-US" dirty="0">
                <a:solidFill>
                  <a:srgbClr val="FF0000"/>
                </a:solidFill>
              </a:rPr>
              <a:t>fifth</a:t>
            </a:r>
            <a:r>
              <a:rPr lang="en-US" dirty="0"/>
              <a:t> place can be filled in 		</a:t>
            </a:r>
            <a:r>
              <a:rPr lang="en-US" dirty="0">
                <a:solidFill>
                  <a:srgbClr val="FF0000"/>
                </a:solidFill>
              </a:rPr>
              <a:t>9</a:t>
            </a:r>
            <a:r>
              <a:rPr lang="en-US" dirty="0"/>
              <a:t> ways</a:t>
            </a:r>
          </a:p>
          <a:p>
            <a:pPr>
              <a:buNone/>
            </a:pPr>
            <a:r>
              <a:rPr lang="en-US" dirty="0"/>
              <a:t>	The </a:t>
            </a:r>
            <a:r>
              <a:rPr lang="en-US" dirty="0">
                <a:solidFill>
                  <a:srgbClr val="FF0000"/>
                </a:solidFill>
              </a:rPr>
              <a:t>sixth</a:t>
            </a:r>
            <a:r>
              <a:rPr lang="en-US" dirty="0"/>
              <a:t> place can be filled in 		</a:t>
            </a:r>
            <a:r>
              <a:rPr lang="en-US" dirty="0">
                <a:solidFill>
                  <a:srgbClr val="FF0000"/>
                </a:solidFill>
              </a:rPr>
              <a:t>8</a:t>
            </a:r>
            <a:r>
              <a:rPr lang="en-US" dirty="0"/>
              <a:t> ways</a:t>
            </a:r>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r>
              <a:rPr lang="en-US" dirty="0"/>
              <a:t>		    Number of license plates with no letter and digit repetition are </a:t>
            </a:r>
          </a:p>
          <a:p>
            <a:pPr>
              <a:buNone/>
            </a:pPr>
            <a:r>
              <a:rPr lang="en-US" dirty="0">
                <a:solidFill>
                  <a:srgbClr val="FF0000"/>
                </a:solidFill>
              </a:rPr>
              <a:t>				26 </a:t>
            </a:r>
            <a:r>
              <a:rPr lang="en-US" dirty="0">
                <a:solidFill>
                  <a:srgbClr val="FF0000"/>
                </a:solidFill>
                <a:sym typeface="Times New Roman"/>
              </a:rPr>
              <a:t>x</a:t>
            </a:r>
            <a:r>
              <a:rPr lang="en-US" dirty="0">
                <a:solidFill>
                  <a:srgbClr val="FF0000"/>
                </a:solidFill>
              </a:rPr>
              <a:t> 25 </a:t>
            </a:r>
            <a:r>
              <a:rPr lang="en-US" dirty="0">
                <a:solidFill>
                  <a:srgbClr val="FF0000"/>
                </a:solidFill>
                <a:sym typeface="Times New Roman"/>
              </a:rPr>
              <a:t>x</a:t>
            </a:r>
            <a:r>
              <a:rPr lang="en-US" dirty="0">
                <a:solidFill>
                  <a:srgbClr val="FF0000"/>
                </a:solidFill>
              </a:rPr>
              <a:t> 24 </a:t>
            </a:r>
            <a:r>
              <a:rPr lang="en-US" dirty="0">
                <a:solidFill>
                  <a:srgbClr val="FF0000"/>
                </a:solidFill>
                <a:sym typeface="Times New Roman"/>
              </a:rPr>
              <a:t>x</a:t>
            </a:r>
            <a:r>
              <a:rPr lang="en-US" dirty="0">
                <a:solidFill>
                  <a:srgbClr val="FF0000"/>
                </a:solidFill>
              </a:rPr>
              <a:t> 10 </a:t>
            </a:r>
            <a:r>
              <a:rPr lang="en-US" dirty="0">
                <a:solidFill>
                  <a:srgbClr val="FF0000"/>
                </a:solidFill>
                <a:sym typeface="Times New Roman"/>
              </a:rPr>
              <a:t>x</a:t>
            </a:r>
            <a:r>
              <a:rPr lang="en-US" dirty="0">
                <a:solidFill>
                  <a:srgbClr val="FF0000"/>
                </a:solidFill>
              </a:rPr>
              <a:t> 9 </a:t>
            </a:r>
            <a:r>
              <a:rPr lang="en-US" dirty="0">
                <a:solidFill>
                  <a:srgbClr val="FF0000"/>
                </a:solidFill>
                <a:sym typeface="Times New Roman"/>
              </a:rPr>
              <a:t>x</a:t>
            </a:r>
            <a:r>
              <a:rPr lang="en-US" dirty="0">
                <a:solidFill>
                  <a:srgbClr val="FF0000"/>
                </a:solidFill>
              </a:rPr>
              <a:t> 8 = 11,232,000</a:t>
            </a:r>
          </a:p>
          <a:p>
            <a:endParaRPr lang="en-US" dirty="0"/>
          </a:p>
        </p:txBody>
      </p:sp>
      <p:grpSp>
        <p:nvGrpSpPr>
          <p:cNvPr id="2" name="Group 1">
            <a:extLst>
              <a:ext uri="{FF2B5EF4-FFF2-40B4-BE49-F238E27FC236}">
                <a16:creationId xmlns:a16="http://schemas.microsoft.com/office/drawing/2014/main" id="{99964A8C-2CAF-4E52-850E-115F6C9BFE58}"/>
              </a:ext>
            </a:extLst>
          </p:cNvPr>
          <p:cNvGrpSpPr/>
          <p:nvPr/>
        </p:nvGrpSpPr>
        <p:grpSpPr>
          <a:xfrm>
            <a:off x="2583429" y="3609975"/>
            <a:ext cx="6453249" cy="1858728"/>
            <a:chOff x="3193029" y="3594762"/>
            <a:chExt cx="6453249" cy="1858728"/>
          </a:xfrm>
        </p:grpSpPr>
        <p:grpSp>
          <p:nvGrpSpPr>
            <p:cNvPr id="8" name="Group 7">
              <a:extLst>
                <a:ext uri="{FF2B5EF4-FFF2-40B4-BE49-F238E27FC236}">
                  <a16:creationId xmlns:a16="http://schemas.microsoft.com/office/drawing/2014/main" id="{6DA3CDB8-5C82-FC65-9204-3CD4775B76D1}"/>
                </a:ext>
              </a:extLst>
            </p:cNvPr>
            <p:cNvGrpSpPr/>
            <p:nvPr/>
          </p:nvGrpSpPr>
          <p:grpSpPr>
            <a:xfrm>
              <a:off x="3193029" y="3594762"/>
              <a:ext cx="6453249" cy="1858728"/>
              <a:chOff x="1817913" y="3880512"/>
              <a:chExt cx="5559839" cy="1540492"/>
            </a:xfrm>
          </p:grpSpPr>
          <p:sp>
            <p:nvSpPr>
              <p:cNvPr id="168963" name="Line 3"/>
              <p:cNvSpPr>
                <a:spLocks noChangeShapeType="1"/>
              </p:cNvSpPr>
              <p:nvPr/>
            </p:nvSpPr>
            <p:spPr bwMode="auto">
              <a:xfrm>
                <a:off x="1862138" y="4267200"/>
                <a:ext cx="5486400" cy="0"/>
              </a:xfrm>
              <a:prstGeom prst="line">
                <a:avLst/>
              </a:prstGeom>
              <a:noFill/>
              <a:ln w="28575" cap="sq">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64" name="Text Box 4"/>
              <p:cNvSpPr txBox="1">
                <a:spLocks noChangeArrowheads="1"/>
              </p:cNvSpPr>
              <p:nvPr/>
            </p:nvSpPr>
            <p:spPr bwMode="auto">
              <a:xfrm>
                <a:off x="2895600" y="3886200"/>
                <a:ext cx="8382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400" b="1" dirty="0">
                    <a:solidFill>
                      <a:srgbClr val="000000"/>
                    </a:solidFill>
                    <a:latin typeface="Calibri" pitchFamily="34" charset="0"/>
                    <a:cs typeface="Arial" pitchFamily="34" charset="0"/>
                  </a:rPr>
                  <a:t>letters</a:t>
                </a:r>
                <a:endParaRPr lang="en-US" sz="1400" b="1" dirty="0">
                  <a:latin typeface="Arial" pitchFamily="34" charset="0"/>
                  <a:cs typeface="Arial" pitchFamily="34" charset="0"/>
                </a:endParaRPr>
              </a:p>
            </p:txBody>
          </p:sp>
          <p:sp>
            <p:nvSpPr>
              <p:cNvPr id="168965" name="Text Box 5"/>
              <p:cNvSpPr txBox="1">
                <a:spLocks noChangeArrowheads="1"/>
              </p:cNvSpPr>
              <p:nvPr/>
            </p:nvSpPr>
            <p:spPr bwMode="auto">
              <a:xfrm>
                <a:off x="5773738" y="3880512"/>
                <a:ext cx="779462" cy="2524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400" b="1" dirty="0">
                    <a:solidFill>
                      <a:srgbClr val="000000"/>
                    </a:solidFill>
                    <a:latin typeface="Calibri" pitchFamily="34" charset="0"/>
                    <a:cs typeface="Arial" pitchFamily="34" charset="0"/>
                  </a:rPr>
                  <a:t>digits</a:t>
                </a:r>
                <a:endParaRPr lang="en-US" sz="1400" b="1" dirty="0">
                  <a:latin typeface="Arial" pitchFamily="34" charset="0"/>
                  <a:cs typeface="Arial" pitchFamily="34" charset="0"/>
                </a:endParaRPr>
              </a:p>
            </p:txBody>
          </p:sp>
          <p:sp>
            <p:nvSpPr>
              <p:cNvPr id="168966" name="Line 6"/>
              <p:cNvSpPr>
                <a:spLocks noChangeShapeType="1"/>
              </p:cNvSpPr>
              <p:nvPr/>
            </p:nvSpPr>
            <p:spPr bwMode="auto">
              <a:xfrm>
                <a:off x="1938338" y="4038600"/>
                <a:ext cx="838200" cy="0"/>
              </a:xfrm>
              <a:prstGeom prst="line">
                <a:avLst/>
              </a:prstGeom>
              <a:noFill/>
              <a:ln w="9525">
                <a:solidFill>
                  <a:srgbClr val="000000"/>
                </a:solidFill>
                <a:round/>
                <a:headEnd type="arrow" w="med" len="med"/>
                <a:tailEnd/>
              </a:ln>
            </p:spPr>
            <p:txBody>
              <a:bodyPr vert="horz" wrap="square" lIns="91440" tIns="45720" rIns="91440" bIns="45720" numCol="1" anchor="t" anchorCtr="0" compatLnSpc="1">
                <a:prstTxWarp prst="textNoShape">
                  <a:avLst/>
                </a:prstTxWarp>
              </a:bodyPr>
              <a:lstStyle/>
              <a:p>
                <a:endParaRPr lang="en-US"/>
              </a:p>
            </p:txBody>
          </p:sp>
          <p:sp>
            <p:nvSpPr>
              <p:cNvPr id="168967" name="Line 7"/>
              <p:cNvSpPr>
                <a:spLocks noChangeShapeType="1"/>
              </p:cNvSpPr>
              <p:nvPr/>
            </p:nvSpPr>
            <p:spPr bwMode="auto">
              <a:xfrm>
                <a:off x="3690938" y="4038600"/>
                <a:ext cx="762000" cy="0"/>
              </a:xfrm>
              <a:prstGeom prst="line">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en-US"/>
              </a:p>
            </p:txBody>
          </p:sp>
          <p:sp>
            <p:nvSpPr>
              <p:cNvPr id="168968" name="Line 8"/>
              <p:cNvSpPr>
                <a:spLocks noChangeShapeType="1"/>
              </p:cNvSpPr>
              <p:nvPr/>
            </p:nvSpPr>
            <p:spPr bwMode="auto">
              <a:xfrm>
                <a:off x="4605338" y="4038600"/>
                <a:ext cx="990600" cy="0"/>
              </a:xfrm>
              <a:prstGeom prst="line">
                <a:avLst/>
              </a:prstGeom>
              <a:noFill/>
              <a:ln w="9525">
                <a:solidFill>
                  <a:srgbClr val="000000"/>
                </a:solidFill>
                <a:round/>
                <a:headEnd type="arrow" w="med" len="med"/>
                <a:tailEnd/>
              </a:ln>
            </p:spPr>
            <p:txBody>
              <a:bodyPr vert="horz" wrap="square" lIns="91440" tIns="45720" rIns="91440" bIns="45720" numCol="1" anchor="t" anchorCtr="0" compatLnSpc="1">
                <a:prstTxWarp prst="textNoShape">
                  <a:avLst/>
                </a:prstTxWarp>
              </a:bodyPr>
              <a:lstStyle/>
              <a:p>
                <a:endParaRPr lang="en-US"/>
              </a:p>
            </p:txBody>
          </p:sp>
          <p:sp>
            <p:nvSpPr>
              <p:cNvPr id="168969" name="Line 9"/>
              <p:cNvSpPr>
                <a:spLocks noChangeShapeType="1"/>
              </p:cNvSpPr>
              <p:nvPr/>
            </p:nvSpPr>
            <p:spPr bwMode="auto">
              <a:xfrm>
                <a:off x="6434138" y="4038600"/>
                <a:ext cx="762000" cy="0"/>
              </a:xfrm>
              <a:prstGeom prst="line">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en-US"/>
              </a:p>
            </p:txBody>
          </p:sp>
          <p:sp>
            <p:nvSpPr>
              <p:cNvPr id="168972" name="Text Box 12"/>
              <p:cNvSpPr txBox="1">
                <a:spLocks noChangeArrowheads="1"/>
              </p:cNvSpPr>
              <p:nvPr/>
            </p:nvSpPr>
            <p:spPr bwMode="auto">
              <a:xfrm>
                <a:off x="2962172" y="5072045"/>
                <a:ext cx="771627" cy="30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400" b="1" dirty="0">
                    <a:solidFill>
                      <a:srgbClr val="000000"/>
                    </a:solidFill>
                    <a:latin typeface="Calibri" pitchFamily="34" charset="0"/>
                    <a:cs typeface="Arial" pitchFamily="34" charset="0"/>
                  </a:rPr>
                  <a:t>25 ways</a:t>
                </a:r>
                <a:endParaRPr lang="en-US" sz="1400" b="1" dirty="0">
                  <a:latin typeface="Arial" pitchFamily="34" charset="0"/>
                  <a:cs typeface="Arial" pitchFamily="34" charset="0"/>
                </a:endParaRPr>
              </a:p>
            </p:txBody>
          </p:sp>
          <p:sp>
            <p:nvSpPr>
              <p:cNvPr id="168973" name="Text Box 13"/>
              <p:cNvSpPr txBox="1">
                <a:spLocks noChangeArrowheads="1"/>
              </p:cNvSpPr>
              <p:nvPr/>
            </p:nvSpPr>
            <p:spPr bwMode="auto">
              <a:xfrm>
                <a:off x="3916362" y="5078104"/>
                <a:ext cx="703262"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400" b="1" dirty="0">
                    <a:solidFill>
                      <a:srgbClr val="000000"/>
                    </a:solidFill>
                    <a:latin typeface="Calibri" pitchFamily="34" charset="0"/>
                    <a:cs typeface="Arial" pitchFamily="34" charset="0"/>
                  </a:rPr>
                  <a:t>24 ways </a:t>
                </a:r>
                <a:endParaRPr lang="en-US" sz="1400" b="1" dirty="0">
                  <a:latin typeface="Arial" pitchFamily="34" charset="0"/>
                  <a:cs typeface="Arial" pitchFamily="34" charset="0"/>
                </a:endParaRPr>
              </a:p>
            </p:txBody>
          </p:sp>
          <p:sp>
            <p:nvSpPr>
              <p:cNvPr id="168974" name="Text Box 14"/>
              <p:cNvSpPr txBox="1">
                <a:spLocks noChangeArrowheads="1"/>
              </p:cNvSpPr>
              <p:nvPr/>
            </p:nvSpPr>
            <p:spPr bwMode="auto">
              <a:xfrm>
                <a:off x="1817913" y="5067300"/>
                <a:ext cx="914400" cy="3508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400" b="1" dirty="0">
                    <a:solidFill>
                      <a:srgbClr val="000000"/>
                    </a:solidFill>
                    <a:latin typeface="Calibri" pitchFamily="34" charset="0"/>
                    <a:cs typeface="Arial" pitchFamily="34" charset="0"/>
                  </a:rPr>
                  <a:t>26 ways</a:t>
                </a:r>
                <a:endParaRPr lang="en-US" sz="1400" b="1" dirty="0">
                  <a:latin typeface="Arial" pitchFamily="34" charset="0"/>
                  <a:cs typeface="Arial" pitchFamily="34" charset="0"/>
                </a:endParaRPr>
              </a:p>
            </p:txBody>
          </p:sp>
          <p:sp>
            <p:nvSpPr>
              <p:cNvPr id="168975" name="Line 15"/>
              <p:cNvSpPr>
                <a:spLocks noChangeShapeType="1"/>
              </p:cNvSpPr>
              <p:nvPr/>
            </p:nvSpPr>
            <p:spPr bwMode="auto">
              <a:xfrm>
                <a:off x="2166938" y="4651044"/>
                <a:ext cx="0" cy="38100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68976" name="Text Box 16"/>
              <p:cNvSpPr txBox="1">
                <a:spLocks noChangeArrowheads="1"/>
              </p:cNvSpPr>
              <p:nvPr/>
            </p:nvSpPr>
            <p:spPr bwMode="auto">
              <a:xfrm>
                <a:off x="6613879" y="5055273"/>
                <a:ext cx="703263" cy="2243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400" b="1" dirty="0">
                    <a:solidFill>
                      <a:srgbClr val="000000"/>
                    </a:solidFill>
                    <a:latin typeface="Calibri" pitchFamily="34" charset="0"/>
                    <a:cs typeface="Arial" pitchFamily="34" charset="0"/>
                  </a:rPr>
                  <a:t>8 ways</a:t>
                </a:r>
                <a:endParaRPr lang="en-US" sz="1400" b="1" dirty="0">
                  <a:latin typeface="Arial" pitchFamily="34" charset="0"/>
                  <a:cs typeface="Arial" pitchFamily="34" charset="0"/>
                </a:endParaRPr>
              </a:p>
            </p:txBody>
          </p:sp>
          <p:sp>
            <p:nvSpPr>
              <p:cNvPr id="168977" name="Line 17"/>
              <p:cNvSpPr>
                <a:spLocks noChangeShapeType="1"/>
              </p:cNvSpPr>
              <p:nvPr/>
            </p:nvSpPr>
            <p:spPr bwMode="auto">
              <a:xfrm>
                <a:off x="6815138" y="4651044"/>
                <a:ext cx="0" cy="38100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68978" name="Line 18"/>
              <p:cNvSpPr>
                <a:spLocks noChangeShapeType="1"/>
              </p:cNvSpPr>
              <p:nvPr/>
            </p:nvSpPr>
            <p:spPr bwMode="auto">
              <a:xfrm>
                <a:off x="1864056" y="4643656"/>
                <a:ext cx="5486400" cy="0"/>
              </a:xfrm>
              <a:prstGeom prst="line">
                <a:avLst/>
              </a:prstGeom>
              <a:noFill/>
              <a:ln w="28575" cap="sq">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0" name="Line 20"/>
              <p:cNvSpPr>
                <a:spLocks noChangeShapeType="1"/>
              </p:cNvSpPr>
              <p:nvPr/>
            </p:nvSpPr>
            <p:spPr bwMode="auto">
              <a:xfrm>
                <a:off x="1890712" y="4640262"/>
                <a:ext cx="5486400" cy="0"/>
              </a:xfrm>
              <a:prstGeom prst="line">
                <a:avLst/>
              </a:prstGeom>
              <a:noFill/>
              <a:ln w="28575" cap="sq">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1" name="Line 21"/>
              <p:cNvSpPr>
                <a:spLocks noChangeShapeType="1"/>
              </p:cNvSpPr>
              <p:nvPr/>
            </p:nvSpPr>
            <p:spPr bwMode="auto">
              <a:xfrm>
                <a:off x="1862777" y="4297362"/>
                <a:ext cx="14287" cy="350838"/>
              </a:xfrm>
              <a:prstGeom prst="line">
                <a:avLst/>
              </a:prstGeom>
              <a:noFill/>
              <a:ln w="28575" cap="sq">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2" name="Line 22"/>
              <p:cNvSpPr>
                <a:spLocks noChangeShapeType="1"/>
              </p:cNvSpPr>
              <p:nvPr/>
            </p:nvSpPr>
            <p:spPr bwMode="auto">
              <a:xfrm>
                <a:off x="2790825" y="4297362"/>
                <a:ext cx="14287" cy="350838"/>
              </a:xfrm>
              <a:prstGeom prst="line">
                <a:avLst/>
              </a:prstGeom>
              <a:noFill/>
              <a:ln w="127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3" name="Line 23"/>
              <p:cNvSpPr>
                <a:spLocks noChangeShapeType="1"/>
              </p:cNvSpPr>
              <p:nvPr/>
            </p:nvSpPr>
            <p:spPr bwMode="auto">
              <a:xfrm>
                <a:off x="3705225" y="4297362"/>
                <a:ext cx="14287" cy="350838"/>
              </a:xfrm>
              <a:prstGeom prst="line">
                <a:avLst/>
              </a:prstGeom>
              <a:noFill/>
              <a:ln w="127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4" name="Line 24"/>
              <p:cNvSpPr>
                <a:spLocks noChangeShapeType="1"/>
              </p:cNvSpPr>
              <p:nvPr/>
            </p:nvSpPr>
            <p:spPr bwMode="auto">
              <a:xfrm>
                <a:off x="4619625" y="4291012"/>
                <a:ext cx="14287" cy="349250"/>
              </a:xfrm>
              <a:prstGeom prst="line">
                <a:avLst/>
              </a:prstGeom>
              <a:noFill/>
              <a:ln w="127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5" name="Line 25"/>
              <p:cNvSpPr>
                <a:spLocks noChangeShapeType="1"/>
              </p:cNvSpPr>
              <p:nvPr/>
            </p:nvSpPr>
            <p:spPr bwMode="auto">
              <a:xfrm>
                <a:off x="5534025" y="4297362"/>
                <a:ext cx="14287" cy="350838"/>
              </a:xfrm>
              <a:prstGeom prst="line">
                <a:avLst/>
              </a:prstGeom>
              <a:noFill/>
              <a:ln w="127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6" name="Line 26"/>
              <p:cNvSpPr>
                <a:spLocks noChangeShapeType="1"/>
              </p:cNvSpPr>
              <p:nvPr/>
            </p:nvSpPr>
            <p:spPr bwMode="auto">
              <a:xfrm>
                <a:off x="6448425" y="4297362"/>
                <a:ext cx="14287" cy="350838"/>
              </a:xfrm>
              <a:prstGeom prst="line">
                <a:avLst/>
              </a:prstGeom>
              <a:noFill/>
              <a:ln w="127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7" name="Line 27"/>
              <p:cNvSpPr>
                <a:spLocks noChangeShapeType="1"/>
              </p:cNvSpPr>
              <p:nvPr/>
            </p:nvSpPr>
            <p:spPr bwMode="auto">
              <a:xfrm>
                <a:off x="7363464" y="4283714"/>
                <a:ext cx="14288" cy="350838"/>
              </a:xfrm>
              <a:prstGeom prst="line">
                <a:avLst/>
              </a:prstGeom>
              <a:noFill/>
              <a:ln w="28575" cap="sq">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0" name="Line 15">
              <a:extLst>
                <a:ext uri="{FF2B5EF4-FFF2-40B4-BE49-F238E27FC236}">
                  <a16:creationId xmlns:a16="http://schemas.microsoft.com/office/drawing/2014/main" id="{196B16D5-164D-4D2D-9B81-FFD504E2F315}"/>
                </a:ext>
              </a:extLst>
            </p:cNvPr>
            <p:cNvSpPr>
              <a:spLocks noChangeShapeType="1"/>
            </p:cNvSpPr>
            <p:nvPr/>
          </p:nvSpPr>
          <p:spPr bwMode="auto">
            <a:xfrm>
              <a:off x="4908973" y="4524471"/>
              <a:ext cx="0" cy="459707"/>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31" name="Line 15">
              <a:extLst>
                <a:ext uri="{FF2B5EF4-FFF2-40B4-BE49-F238E27FC236}">
                  <a16:creationId xmlns:a16="http://schemas.microsoft.com/office/drawing/2014/main" id="{184C474A-AE18-4DA8-A857-76569286DA90}"/>
                </a:ext>
              </a:extLst>
            </p:cNvPr>
            <p:cNvSpPr>
              <a:spLocks noChangeShapeType="1"/>
            </p:cNvSpPr>
            <p:nvPr/>
          </p:nvSpPr>
          <p:spPr bwMode="auto">
            <a:xfrm>
              <a:off x="5934939" y="4511461"/>
              <a:ext cx="0" cy="459707"/>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32" name="Line 15">
              <a:extLst>
                <a:ext uri="{FF2B5EF4-FFF2-40B4-BE49-F238E27FC236}">
                  <a16:creationId xmlns:a16="http://schemas.microsoft.com/office/drawing/2014/main" id="{DD6796B6-B1FD-4689-AE37-2142EC5FBC7C}"/>
                </a:ext>
              </a:extLst>
            </p:cNvPr>
            <p:cNvSpPr>
              <a:spLocks noChangeShapeType="1"/>
            </p:cNvSpPr>
            <p:nvPr/>
          </p:nvSpPr>
          <p:spPr bwMode="auto">
            <a:xfrm>
              <a:off x="6994593" y="4524471"/>
              <a:ext cx="0" cy="459707"/>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33" name="Line 15">
              <a:extLst>
                <a:ext uri="{FF2B5EF4-FFF2-40B4-BE49-F238E27FC236}">
                  <a16:creationId xmlns:a16="http://schemas.microsoft.com/office/drawing/2014/main" id="{69B2AEEC-64B8-4BB7-A012-DFAF6D9D9DB2}"/>
                </a:ext>
              </a:extLst>
            </p:cNvPr>
            <p:cNvSpPr>
              <a:spLocks noChangeShapeType="1"/>
            </p:cNvSpPr>
            <p:nvPr/>
          </p:nvSpPr>
          <p:spPr bwMode="auto">
            <a:xfrm>
              <a:off x="8075811" y="4524471"/>
              <a:ext cx="0" cy="459707"/>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34" name="Text Box 13">
              <a:extLst>
                <a:ext uri="{FF2B5EF4-FFF2-40B4-BE49-F238E27FC236}">
                  <a16:creationId xmlns:a16="http://schemas.microsoft.com/office/drawing/2014/main" id="{10F6445F-52C6-48C7-B553-8B8DB08673D4}"/>
                </a:ext>
              </a:extLst>
            </p:cNvPr>
            <p:cNvSpPr txBox="1">
              <a:spLocks noChangeArrowheads="1"/>
            </p:cNvSpPr>
            <p:nvPr/>
          </p:nvSpPr>
          <p:spPr bwMode="auto">
            <a:xfrm>
              <a:off x="6656846" y="5012206"/>
              <a:ext cx="816269" cy="4137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400" b="1" dirty="0">
                  <a:solidFill>
                    <a:srgbClr val="000000"/>
                  </a:solidFill>
                  <a:latin typeface="Calibri" pitchFamily="34" charset="0"/>
                  <a:cs typeface="Arial" pitchFamily="34" charset="0"/>
                </a:rPr>
                <a:t>10 ways </a:t>
              </a:r>
              <a:endParaRPr lang="en-US" sz="1400" b="1" dirty="0">
                <a:latin typeface="Arial" pitchFamily="34" charset="0"/>
                <a:cs typeface="Arial" pitchFamily="34" charset="0"/>
              </a:endParaRPr>
            </a:p>
          </p:txBody>
        </p:sp>
        <p:sp>
          <p:nvSpPr>
            <p:cNvPr id="35" name="Text Box 13">
              <a:extLst>
                <a:ext uri="{FF2B5EF4-FFF2-40B4-BE49-F238E27FC236}">
                  <a16:creationId xmlns:a16="http://schemas.microsoft.com/office/drawing/2014/main" id="{A9B7379C-92D5-4C38-B93E-7885CA97C02E}"/>
                </a:ext>
              </a:extLst>
            </p:cNvPr>
            <p:cNvSpPr txBox="1">
              <a:spLocks noChangeArrowheads="1"/>
            </p:cNvSpPr>
            <p:nvPr/>
          </p:nvSpPr>
          <p:spPr bwMode="auto">
            <a:xfrm>
              <a:off x="7784515" y="5012206"/>
              <a:ext cx="816269" cy="4137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400" b="1" dirty="0">
                  <a:solidFill>
                    <a:srgbClr val="000000"/>
                  </a:solidFill>
                  <a:latin typeface="Calibri" pitchFamily="34" charset="0"/>
                  <a:cs typeface="Arial" pitchFamily="34" charset="0"/>
                </a:rPr>
                <a:t>9 ways </a:t>
              </a:r>
              <a:endParaRPr lang="en-US" sz="1400" b="1" dirty="0">
                <a:latin typeface="Arial" pitchFamily="34" charset="0"/>
                <a:cs typeface="Arial" pitchFamily="34" charset="0"/>
              </a:endParaRPr>
            </a:p>
          </p:txBody>
        </p:sp>
      </p:grpSp>
    </p:spTree>
    <p:extLst>
      <p:ext uri="{BB962C8B-B14F-4D97-AF65-F5344CB8AC3E}">
        <p14:creationId xmlns:p14="http://schemas.microsoft.com/office/powerpoint/2010/main" val="891078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20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2000"/>
                                        <p:tgtEl>
                                          <p:spTgt spid="4">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20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20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2000"/>
                                        <p:tgtEl>
                                          <p:spTgt spid="4">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2000"/>
                                        <p:tgtEl>
                                          <p:spTgt spid="4">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13" end="13"/>
                                            </p:txEl>
                                          </p:spTgt>
                                        </p:tgtEl>
                                        <p:attrNameLst>
                                          <p:attrName>style.visibility</p:attrName>
                                        </p:attrNameLst>
                                      </p:cBhvr>
                                      <p:to>
                                        <p:strVal val="visible"/>
                                      </p:to>
                                    </p:set>
                                    <p:animEffect transition="in" filter="fade">
                                      <p:cBhvr>
                                        <p:cTn id="37" dur="2000"/>
                                        <p:tgtEl>
                                          <p:spTgt spid="4">
                                            <p:txEl>
                                              <p:pRg st="13" end="13"/>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
                                            <p:txEl>
                                              <p:pRg st="14" end="14"/>
                                            </p:txEl>
                                          </p:spTgt>
                                        </p:tgtEl>
                                        <p:attrNameLst>
                                          <p:attrName>style.visibility</p:attrName>
                                        </p:attrNameLst>
                                      </p:cBhvr>
                                      <p:to>
                                        <p:strVal val="visible"/>
                                      </p:to>
                                    </p:set>
                                    <p:animEffect transition="in" filter="fade">
                                      <p:cBhvr>
                                        <p:cTn id="40" dur="2000"/>
                                        <p:tgtEl>
                                          <p:spTgt spid="4">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a:xfrm>
            <a:off x="574964" y="568037"/>
            <a:ext cx="10868892" cy="5708072"/>
          </a:xfrm>
        </p:spPr>
        <p:txBody>
          <a:bodyPr>
            <a:normAutofit fontScale="92500" lnSpcReduction="10000"/>
          </a:bodyPr>
          <a:lstStyle/>
          <a:p>
            <a:pPr>
              <a:buNone/>
            </a:pPr>
            <a:r>
              <a:rPr lang="en-US" dirty="0"/>
              <a:t>(b) How many license plates could begin with A and end on 0?</a:t>
            </a:r>
          </a:p>
          <a:p>
            <a:pPr>
              <a:buNone/>
            </a:pPr>
            <a:endParaRPr lang="en-US" dirty="0"/>
          </a:p>
          <a:p>
            <a:pPr marL="0" indent="0">
              <a:buNone/>
            </a:pPr>
            <a:r>
              <a:rPr lang="en-US" b="1" u="sng" dirty="0">
                <a:solidFill>
                  <a:srgbClr val="0070C0"/>
                </a:solidFill>
              </a:rPr>
              <a:t>SOLUTION:</a:t>
            </a:r>
            <a:endParaRPr lang="en-US" dirty="0">
              <a:solidFill>
                <a:srgbClr val="0070C0"/>
              </a:solidFill>
            </a:endParaRPr>
          </a:p>
          <a:p>
            <a:pPr>
              <a:buNone/>
            </a:pPr>
            <a:r>
              <a:rPr lang="en-US" dirty="0"/>
              <a:t>	The </a:t>
            </a:r>
            <a:r>
              <a:rPr lang="en-US" dirty="0">
                <a:solidFill>
                  <a:srgbClr val="FF0000"/>
                </a:solidFill>
              </a:rPr>
              <a:t>first</a:t>
            </a:r>
            <a:r>
              <a:rPr lang="en-US" dirty="0"/>
              <a:t> and </a:t>
            </a:r>
            <a:r>
              <a:rPr lang="en-US" dirty="0">
                <a:solidFill>
                  <a:srgbClr val="FF0000"/>
                </a:solidFill>
              </a:rPr>
              <a:t>last place</a:t>
            </a:r>
            <a:r>
              <a:rPr lang="en-US" dirty="0"/>
              <a:t> can be filled in </a:t>
            </a:r>
            <a:r>
              <a:rPr lang="en-US" dirty="0">
                <a:solidFill>
                  <a:srgbClr val="FF0000"/>
                </a:solidFill>
              </a:rPr>
              <a:t>one</a:t>
            </a:r>
            <a:r>
              <a:rPr lang="en-US" dirty="0"/>
              <a:t> way only, while each of </a:t>
            </a:r>
            <a:r>
              <a:rPr lang="en-US" dirty="0">
                <a:solidFill>
                  <a:srgbClr val="FF0000"/>
                </a:solidFill>
              </a:rPr>
              <a:t>second</a:t>
            </a:r>
            <a:r>
              <a:rPr lang="en-US" dirty="0"/>
              <a:t> and </a:t>
            </a:r>
            <a:r>
              <a:rPr lang="en-US" dirty="0">
                <a:solidFill>
                  <a:srgbClr val="FF0000"/>
                </a:solidFill>
              </a:rPr>
              <a:t>third place</a:t>
            </a:r>
            <a:r>
              <a:rPr lang="en-US" dirty="0"/>
              <a:t> can be filled in </a:t>
            </a:r>
            <a:r>
              <a:rPr lang="en-US" dirty="0">
                <a:solidFill>
                  <a:srgbClr val="FF0000"/>
                </a:solidFill>
              </a:rPr>
              <a:t>26 ways</a:t>
            </a:r>
            <a:r>
              <a:rPr lang="en-US" dirty="0"/>
              <a:t> and each of </a:t>
            </a:r>
            <a:r>
              <a:rPr lang="en-US" dirty="0">
                <a:solidFill>
                  <a:srgbClr val="FF0000"/>
                </a:solidFill>
              </a:rPr>
              <a:t>fourth</a:t>
            </a:r>
            <a:r>
              <a:rPr lang="en-US" dirty="0"/>
              <a:t> and </a:t>
            </a:r>
            <a:r>
              <a:rPr lang="en-US" dirty="0">
                <a:solidFill>
                  <a:srgbClr val="FF0000"/>
                </a:solidFill>
              </a:rPr>
              <a:t>fifth place</a:t>
            </a:r>
            <a:r>
              <a:rPr lang="en-US" dirty="0"/>
              <a:t> can be filled in </a:t>
            </a:r>
            <a:r>
              <a:rPr lang="en-US" dirty="0">
                <a:solidFill>
                  <a:srgbClr val="FF0000"/>
                </a:solidFill>
              </a:rPr>
              <a:t>10 ways</a:t>
            </a:r>
            <a:r>
              <a:rPr lang="en-US" dirty="0"/>
              <a:t>.</a:t>
            </a:r>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r>
              <a:rPr lang="en-US" dirty="0"/>
              <a:t>	Number of license plates that </a:t>
            </a:r>
            <a:r>
              <a:rPr lang="en-US" dirty="0">
                <a:solidFill>
                  <a:srgbClr val="FF0000"/>
                </a:solidFill>
              </a:rPr>
              <a:t>begin</a:t>
            </a:r>
            <a:r>
              <a:rPr lang="en-US" dirty="0"/>
              <a:t> with </a:t>
            </a:r>
            <a:r>
              <a:rPr lang="en-US" dirty="0">
                <a:solidFill>
                  <a:srgbClr val="FF0000"/>
                </a:solidFill>
              </a:rPr>
              <a:t>A</a:t>
            </a:r>
            <a:r>
              <a:rPr lang="en-US" dirty="0"/>
              <a:t> and </a:t>
            </a:r>
            <a:r>
              <a:rPr lang="en-US" dirty="0">
                <a:solidFill>
                  <a:srgbClr val="FF0000"/>
                </a:solidFill>
              </a:rPr>
              <a:t>end</a:t>
            </a:r>
            <a:r>
              <a:rPr lang="en-US" dirty="0"/>
              <a:t> in </a:t>
            </a:r>
            <a:r>
              <a:rPr lang="en-US" dirty="0">
                <a:solidFill>
                  <a:srgbClr val="FF0000"/>
                </a:solidFill>
              </a:rPr>
              <a:t>0</a:t>
            </a:r>
            <a:r>
              <a:rPr lang="en-US" dirty="0"/>
              <a:t> are </a:t>
            </a:r>
          </a:p>
          <a:p>
            <a:pPr>
              <a:buNone/>
            </a:pPr>
            <a:r>
              <a:rPr lang="en-US" dirty="0">
                <a:solidFill>
                  <a:srgbClr val="FF0000"/>
                </a:solidFill>
              </a:rPr>
              <a:t>				1 </a:t>
            </a:r>
            <a:r>
              <a:rPr lang="en-US" dirty="0">
                <a:solidFill>
                  <a:srgbClr val="FF0000"/>
                </a:solidFill>
                <a:sym typeface="Times New Roman"/>
              </a:rPr>
              <a:t>x</a:t>
            </a:r>
            <a:r>
              <a:rPr lang="en-US" dirty="0">
                <a:solidFill>
                  <a:srgbClr val="FF0000"/>
                </a:solidFill>
              </a:rPr>
              <a:t> 26 </a:t>
            </a:r>
            <a:r>
              <a:rPr lang="en-US" dirty="0">
                <a:solidFill>
                  <a:srgbClr val="FF0000"/>
                </a:solidFill>
                <a:sym typeface="Times New Roman"/>
              </a:rPr>
              <a:t>x</a:t>
            </a:r>
            <a:r>
              <a:rPr lang="en-US" dirty="0">
                <a:solidFill>
                  <a:srgbClr val="FF0000"/>
                </a:solidFill>
              </a:rPr>
              <a:t> 26 </a:t>
            </a:r>
            <a:r>
              <a:rPr lang="en-US" dirty="0">
                <a:solidFill>
                  <a:srgbClr val="FF0000"/>
                </a:solidFill>
                <a:sym typeface="Times New Roman"/>
              </a:rPr>
              <a:t>x</a:t>
            </a:r>
            <a:r>
              <a:rPr lang="en-US" dirty="0">
                <a:solidFill>
                  <a:srgbClr val="FF0000"/>
                </a:solidFill>
              </a:rPr>
              <a:t> 10 </a:t>
            </a:r>
            <a:r>
              <a:rPr lang="en-US" dirty="0">
                <a:solidFill>
                  <a:srgbClr val="FF0000"/>
                </a:solidFill>
                <a:sym typeface="Times New Roman"/>
              </a:rPr>
              <a:t>x</a:t>
            </a:r>
            <a:r>
              <a:rPr lang="en-US" dirty="0">
                <a:solidFill>
                  <a:srgbClr val="FF0000"/>
                </a:solidFill>
              </a:rPr>
              <a:t> 10 </a:t>
            </a:r>
            <a:r>
              <a:rPr lang="en-US" dirty="0">
                <a:solidFill>
                  <a:srgbClr val="FF0000"/>
                </a:solidFill>
                <a:sym typeface="Times New Roman"/>
              </a:rPr>
              <a:t>x</a:t>
            </a:r>
            <a:r>
              <a:rPr lang="en-US" dirty="0">
                <a:solidFill>
                  <a:srgbClr val="FF0000"/>
                </a:solidFill>
              </a:rPr>
              <a:t> 1 = 67600</a:t>
            </a:r>
          </a:p>
          <a:p>
            <a:endParaRPr lang="en-US" dirty="0"/>
          </a:p>
        </p:txBody>
      </p:sp>
      <p:grpSp>
        <p:nvGrpSpPr>
          <p:cNvPr id="8" name="Group 7">
            <a:extLst>
              <a:ext uri="{FF2B5EF4-FFF2-40B4-BE49-F238E27FC236}">
                <a16:creationId xmlns:a16="http://schemas.microsoft.com/office/drawing/2014/main" id="{6DA3CDB8-5C82-FC65-9204-3CD4775B76D1}"/>
              </a:ext>
            </a:extLst>
          </p:cNvPr>
          <p:cNvGrpSpPr/>
          <p:nvPr/>
        </p:nvGrpSpPr>
        <p:grpSpPr>
          <a:xfrm>
            <a:off x="2831471" y="3118512"/>
            <a:ext cx="6529057" cy="1855270"/>
            <a:chOff x="1752600" y="3880512"/>
            <a:chExt cx="5625152" cy="1537626"/>
          </a:xfrm>
        </p:grpSpPr>
        <p:sp>
          <p:nvSpPr>
            <p:cNvPr id="168963" name="Line 3"/>
            <p:cNvSpPr>
              <a:spLocks noChangeShapeType="1"/>
            </p:cNvSpPr>
            <p:nvPr/>
          </p:nvSpPr>
          <p:spPr bwMode="auto">
            <a:xfrm>
              <a:off x="1862138" y="4267200"/>
              <a:ext cx="5486400" cy="0"/>
            </a:xfrm>
            <a:prstGeom prst="line">
              <a:avLst/>
            </a:prstGeom>
            <a:noFill/>
            <a:ln w="28575" cap="sq">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64" name="Text Box 4"/>
            <p:cNvSpPr txBox="1">
              <a:spLocks noChangeArrowheads="1"/>
            </p:cNvSpPr>
            <p:nvPr/>
          </p:nvSpPr>
          <p:spPr bwMode="auto">
            <a:xfrm>
              <a:off x="2895600" y="3886200"/>
              <a:ext cx="8382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400" b="1" dirty="0">
                  <a:solidFill>
                    <a:srgbClr val="000000"/>
                  </a:solidFill>
                  <a:latin typeface="Calibri" pitchFamily="34" charset="0"/>
                  <a:cs typeface="Arial" pitchFamily="34" charset="0"/>
                </a:rPr>
                <a:t>letters</a:t>
              </a:r>
              <a:endParaRPr lang="en-US" sz="1400" b="1" dirty="0">
                <a:latin typeface="Arial" pitchFamily="34" charset="0"/>
                <a:cs typeface="Arial" pitchFamily="34" charset="0"/>
              </a:endParaRPr>
            </a:p>
          </p:txBody>
        </p:sp>
        <p:sp>
          <p:nvSpPr>
            <p:cNvPr id="168965" name="Text Box 5"/>
            <p:cNvSpPr txBox="1">
              <a:spLocks noChangeArrowheads="1"/>
            </p:cNvSpPr>
            <p:nvPr/>
          </p:nvSpPr>
          <p:spPr bwMode="auto">
            <a:xfrm>
              <a:off x="5773738" y="3880512"/>
              <a:ext cx="779462" cy="2524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400" b="1" dirty="0">
                  <a:solidFill>
                    <a:srgbClr val="000000"/>
                  </a:solidFill>
                  <a:latin typeface="Calibri" pitchFamily="34" charset="0"/>
                  <a:cs typeface="Arial" pitchFamily="34" charset="0"/>
                </a:rPr>
                <a:t>digits</a:t>
              </a:r>
              <a:endParaRPr lang="en-US" sz="1400" b="1" dirty="0">
                <a:latin typeface="Arial" pitchFamily="34" charset="0"/>
                <a:cs typeface="Arial" pitchFamily="34" charset="0"/>
              </a:endParaRPr>
            </a:p>
          </p:txBody>
        </p:sp>
        <p:sp>
          <p:nvSpPr>
            <p:cNvPr id="168966" name="Line 6"/>
            <p:cNvSpPr>
              <a:spLocks noChangeShapeType="1"/>
            </p:cNvSpPr>
            <p:nvPr/>
          </p:nvSpPr>
          <p:spPr bwMode="auto">
            <a:xfrm>
              <a:off x="1938338" y="4038600"/>
              <a:ext cx="838200" cy="0"/>
            </a:xfrm>
            <a:prstGeom prst="line">
              <a:avLst/>
            </a:prstGeom>
            <a:noFill/>
            <a:ln w="9525">
              <a:solidFill>
                <a:srgbClr val="000000"/>
              </a:solidFill>
              <a:round/>
              <a:headEnd type="arrow" w="med" len="med"/>
              <a:tailEnd/>
            </a:ln>
          </p:spPr>
          <p:txBody>
            <a:bodyPr vert="horz" wrap="square" lIns="91440" tIns="45720" rIns="91440" bIns="45720" numCol="1" anchor="t" anchorCtr="0" compatLnSpc="1">
              <a:prstTxWarp prst="textNoShape">
                <a:avLst/>
              </a:prstTxWarp>
            </a:bodyPr>
            <a:lstStyle/>
            <a:p>
              <a:endParaRPr lang="en-US"/>
            </a:p>
          </p:txBody>
        </p:sp>
        <p:sp>
          <p:nvSpPr>
            <p:cNvPr id="168967" name="Line 7"/>
            <p:cNvSpPr>
              <a:spLocks noChangeShapeType="1"/>
            </p:cNvSpPr>
            <p:nvPr/>
          </p:nvSpPr>
          <p:spPr bwMode="auto">
            <a:xfrm>
              <a:off x="3690938" y="4038600"/>
              <a:ext cx="762000" cy="0"/>
            </a:xfrm>
            <a:prstGeom prst="line">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en-US"/>
            </a:p>
          </p:txBody>
        </p:sp>
        <p:sp>
          <p:nvSpPr>
            <p:cNvPr id="168968" name="Line 8"/>
            <p:cNvSpPr>
              <a:spLocks noChangeShapeType="1"/>
            </p:cNvSpPr>
            <p:nvPr/>
          </p:nvSpPr>
          <p:spPr bwMode="auto">
            <a:xfrm>
              <a:off x="4605338" y="4038600"/>
              <a:ext cx="990600" cy="0"/>
            </a:xfrm>
            <a:prstGeom prst="line">
              <a:avLst/>
            </a:prstGeom>
            <a:noFill/>
            <a:ln w="9525">
              <a:solidFill>
                <a:srgbClr val="000000"/>
              </a:solidFill>
              <a:round/>
              <a:headEnd type="arrow" w="med" len="med"/>
              <a:tailEnd/>
            </a:ln>
          </p:spPr>
          <p:txBody>
            <a:bodyPr vert="horz" wrap="square" lIns="91440" tIns="45720" rIns="91440" bIns="45720" numCol="1" anchor="t" anchorCtr="0" compatLnSpc="1">
              <a:prstTxWarp prst="textNoShape">
                <a:avLst/>
              </a:prstTxWarp>
            </a:bodyPr>
            <a:lstStyle/>
            <a:p>
              <a:endParaRPr lang="en-US"/>
            </a:p>
          </p:txBody>
        </p:sp>
        <p:sp>
          <p:nvSpPr>
            <p:cNvPr id="168969" name="Line 9"/>
            <p:cNvSpPr>
              <a:spLocks noChangeShapeType="1"/>
            </p:cNvSpPr>
            <p:nvPr/>
          </p:nvSpPr>
          <p:spPr bwMode="auto">
            <a:xfrm>
              <a:off x="6434138" y="4038600"/>
              <a:ext cx="762000" cy="0"/>
            </a:xfrm>
            <a:prstGeom prst="line">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en-US"/>
            </a:p>
          </p:txBody>
        </p:sp>
        <p:sp>
          <p:nvSpPr>
            <p:cNvPr id="168970" name="AutoShape 10"/>
            <p:cNvSpPr>
              <a:spLocks/>
            </p:cNvSpPr>
            <p:nvPr/>
          </p:nvSpPr>
          <p:spPr bwMode="auto">
            <a:xfrm rot="-5400000">
              <a:off x="3500438" y="4000500"/>
              <a:ext cx="304800" cy="1752600"/>
            </a:xfrm>
            <a:prstGeom prst="leftBrace">
              <a:avLst>
                <a:gd name="adj1" fmla="val 47917"/>
                <a:gd name="adj2" fmla="val 50000"/>
              </a:avLst>
            </a:prstGeom>
            <a:noFill/>
            <a:ln w="9525">
              <a:solidFill>
                <a:srgbClr val="000000"/>
              </a:solidFill>
              <a:round/>
              <a:headEnd/>
              <a:tailEnd/>
            </a:ln>
          </p:spPr>
          <p:txBody>
            <a:bodyPr vert="horz" wrap="square" lIns="91440" tIns="45720" rIns="91440" bIns="45720" numCol="1" anchor="ctr" anchorCtr="0" compatLnSpc="1">
              <a:prstTxWarp prst="textNoShape">
                <a:avLst/>
              </a:prstTxWarp>
            </a:bodyPr>
            <a:lstStyle/>
            <a:p>
              <a:endParaRPr lang="en-US"/>
            </a:p>
          </p:txBody>
        </p:sp>
        <p:sp>
          <p:nvSpPr>
            <p:cNvPr id="168971" name="AutoShape 11"/>
            <p:cNvSpPr>
              <a:spLocks/>
            </p:cNvSpPr>
            <p:nvPr/>
          </p:nvSpPr>
          <p:spPr bwMode="auto">
            <a:xfrm rot="-5400000">
              <a:off x="5405438" y="3924300"/>
              <a:ext cx="304800" cy="1752600"/>
            </a:xfrm>
            <a:prstGeom prst="leftBrace">
              <a:avLst>
                <a:gd name="adj1" fmla="val 47917"/>
                <a:gd name="adj2" fmla="val 50000"/>
              </a:avLst>
            </a:prstGeom>
            <a:noFill/>
            <a:ln w="9525">
              <a:solidFill>
                <a:srgbClr val="000000"/>
              </a:solidFill>
              <a:round/>
              <a:headEnd/>
              <a:tailEnd/>
            </a:ln>
          </p:spPr>
          <p:txBody>
            <a:bodyPr vert="horz" wrap="square" lIns="91440" tIns="45720" rIns="91440" bIns="45720" numCol="1" anchor="ctr" anchorCtr="0" compatLnSpc="1">
              <a:prstTxWarp prst="textNoShape">
                <a:avLst/>
              </a:prstTxWarp>
            </a:bodyPr>
            <a:lstStyle/>
            <a:p>
              <a:endParaRPr lang="en-US"/>
            </a:p>
          </p:txBody>
        </p:sp>
        <p:sp>
          <p:nvSpPr>
            <p:cNvPr id="168972" name="Text Box 12"/>
            <p:cNvSpPr txBox="1">
              <a:spLocks noChangeArrowheads="1"/>
            </p:cNvSpPr>
            <p:nvPr/>
          </p:nvSpPr>
          <p:spPr bwMode="auto">
            <a:xfrm>
              <a:off x="3102946" y="5105400"/>
              <a:ext cx="1262062" cy="30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400" b="1" dirty="0">
                  <a:solidFill>
                    <a:srgbClr val="000000"/>
                  </a:solidFill>
                  <a:latin typeface="Calibri" pitchFamily="34" charset="0"/>
                  <a:cs typeface="Arial" pitchFamily="34" charset="0"/>
                </a:rPr>
                <a:t>26 ways each</a:t>
              </a:r>
              <a:endParaRPr lang="en-US" sz="1400" b="1" dirty="0">
                <a:latin typeface="Arial" pitchFamily="34" charset="0"/>
                <a:cs typeface="Arial" pitchFamily="34" charset="0"/>
              </a:endParaRPr>
            </a:p>
          </p:txBody>
        </p:sp>
        <p:sp>
          <p:nvSpPr>
            <p:cNvPr id="168973" name="Text Box 13"/>
            <p:cNvSpPr txBox="1">
              <a:spLocks noChangeArrowheads="1"/>
            </p:cNvSpPr>
            <p:nvPr/>
          </p:nvSpPr>
          <p:spPr bwMode="auto">
            <a:xfrm>
              <a:off x="4987924" y="5067300"/>
              <a:ext cx="1184275"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400" b="1" dirty="0">
                  <a:solidFill>
                    <a:srgbClr val="000000"/>
                  </a:solidFill>
                  <a:latin typeface="Calibri" pitchFamily="34" charset="0"/>
                  <a:cs typeface="Arial" pitchFamily="34" charset="0"/>
                </a:rPr>
                <a:t>10 ways each</a:t>
              </a:r>
              <a:endParaRPr lang="en-US" sz="1400" b="1" dirty="0">
                <a:latin typeface="Arial" pitchFamily="34" charset="0"/>
                <a:cs typeface="Arial" pitchFamily="34" charset="0"/>
              </a:endParaRPr>
            </a:p>
          </p:txBody>
        </p:sp>
        <p:sp>
          <p:nvSpPr>
            <p:cNvPr id="168974" name="Text Box 14"/>
            <p:cNvSpPr txBox="1">
              <a:spLocks noChangeArrowheads="1"/>
            </p:cNvSpPr>
            <p:nvPr/>
          </p:nvSpPr>
          <p:spPr bwMode="auto">
            <a:xfrm>
              <a:off x="1752600" y="5067300"/>
              <a:ext cx="914400" cy="3508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400" b="1" dirty="0">
                  <a:solidFill>
                    <a:srgbClr val="000000"/>
                  </a:solidFill>
                  <a:latin typeface="Calibri" pitchFamily="34" charset="0"/>
                  <a:cs typeface="Arial" pitchFamily="34" charset="0"/>
                </a:rPr>
                <a:t>one way</a:t>
              </a:r>
              <a:endParaRPr lang="en-US" sz="1400" b="1" dirty="0">
                <a:latin typeface="Arial" pitchFamily="34" charset="0"/>
                <a:cs typeface="Arial" pitchFamily="34" charset="0"/>
              </a:endParaRPr>
            </a:p>
          </p:txBody>
        </p:sp>
        <p:sp>
          <p:nvSpPr>
            <p:cNvPr id="168975" name="Line 15"/>
            <p:cNvSpPr>
              <a:spLocks noChangeShapeType="1"/>
            </p:cNvSpPr>
            <p:nvPr/>
          </p:nvSpPr>
          <p:spPr bwMode="auto">
            <a:xfrm>
              <a:off x="2166938" y="4651044"/>
              <a:ext cx="0" cy="38100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68976" name="Text Box 16"/>
            <p:cNvSpPr txBox="1">
              <a:spLocks noChangeArrowheads="1"/>
            </p:cNvSpPr>
            <p:nvPr/>
          </p:nvSpPr>
          <p:spPr bwMode="auto">
            <a:xfrm>
              <a:off x="6359856" y="5078104"/>
              <a:ext cx="969962"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400" b="1" dirty="0">
                  <a:solidFill>
                    <a:srgbClr val="000000"/>
                  </a:solidFill>
                  <a:latin typeface="Calibri" pitchFamily="34" charset="0"/>
                  <a:cs typeface="Arial" pitchFamily="34" charset="0"/>
                </a:rPr>
                <a:t>one way</a:t>
              </a:r>
              <a:endParaRPr lang="en-US" sz="1400" b="1" dirty="0">
                <a:latin typeface="Arial" pitchFamily="34" charset="0"/>
                <a:cs typeface="Arial" pitchFamily="34" charset="0"/>
              </a:endParaRPr>
            </a:p>
          </p:txBody>
        </p:sp>
        <p:sp>
          <p:nvSpPr>
            <p:cNvPr id="168977" name="Line 17"/>
            <p:cNvSpPr>
              <a:spLocks noChangeShapeType="1"/>
            </p:cNvSpPr>
            <p:nvPr/>
          </p:nvSpPr>
          <p:spPr bwMode="auto">
            <a:xfrm>
              <a:off x="6815138" y="4651044"/>
              <a:ext cx="0" cy="38100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68978" name="Line 18"/>
            <p:cNvSpPr>
              <a:spLocks noChangeShapeType="1"/>
            </p:cNvSpPr>
            <p:nvPr/>
          </p:nvSpPr>
          <p:spPr bwMode="auto">
            <a:xfrm>
              <a:off x="1864056" y="4643656"/>
              <a:ext cx="5486400" cy="0"/>
            </a:xfrm>
            <a:prstGeom prst="line">
              <a:avLst/>
            </a:prstGeom>
            <a:noFill/>
            <a:ln w="28575" cap="sq">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79" name="Rectangle 19"/>
            <p:cNvSpPr>
              <a:spLocks noChangeArrowheads="1"/>
            </p:cNvSpPr>
            <p:nvPr/>
          </p:nvSpPr>
          <p:spPr bwMode="auto">
            <a:xfrm>
              <a:off x="1828800" y="4253552"/>
              <a:ext cx="914400" cy="3508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fontAlgn="base">
                <a:spcBef>
                  <a:spcPct val="0"/>
                </a:spcBef>
                <a:spcAft>
                  <a:spcPts val="1000"/>
                </a:spcAft>
              </a:pPr>
              <a:r>
                <a:rPr lang="en-US" sz="1400" b="1" dirty="0">
                  <a:solidFill>
                    <a:srgbClr val="000000"/>
                  </a:solidFill>
                  <a:latin typeface="Calibri" pitchFamily="34" charset="0"/>
                  <a:cs typeface="Arial" pitchFamily="34" charset="0"/>
                </a:rPr>
                <a:t>A</a:t>
              </a:r>
              <a:endParaRPr lang="en-US" sz="1400" b="1" dirty="0">
                <a:latin typeface="Arial" pitchFamily="34" charset="0"/>
                <a:cs typeface="Arial" pitchFamily="34" charset="0"/>
              </a:endParaRPr>
            </a:p>
          </p:txBody>
        </p:sp>
        <p:sp>
          <p:nvSpPr>
            <p:cNvPr id="168980" name="Line 20"/>
            <p:cNvSpPr>
              <a:spLocks noChangeShapeType="1"/>
            </p:cNvSpPr>
            <p:nvPr/>
          </p:nvSpPr>
          <p:spPr bwMode="auto">
            <a:xfrm>
              <a:off x="1890712" y="4640262"/>
              <a:ext cx="5486400" cy="0"/>
            </a:xfrm>
            <a:prstGeom prst="line">
              <a:avLst/>
            </a:prstGeom>
            <a:noFill/>
            <a:ln w="28575" cap="sq">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1" name="Line 21"/>
            <p:cNvSpPr>
              <a:spLocks noChangeShapeType="1"/>
            </p:cNvSpPr>
            <p:nvPr/>
          </p:nvSpPr>
          <p:spPr bwMode="auto">
            <a:xfrm>
              <a:off x="1862777" y="4297362"/>
              <a:ext cx="14287" cy="350838"/>
            </a:xfrm>
            <a:prstGeom prst="line">
              <a:avLst/>
            </a:prstGeom>
            <a:noFill/>
            <a:ln w="28575" cap="sq">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2" name="Line 22"/>
            <p:cNvSpPr>
              <a:spLocks noChangeShapeType="1"/>
            </p:cNvSpPr>
            <p:nvPr/>
          </p:nvSpPr>
          <p:spPr bwMode="auto">
            <a:xfrm>
              <a:off x="2790825" y="4297362"/>
              <a:ext cx="14287" cy="350838"/>
            </a:xfrm>
            <a:prstGeom prst="line">
              <a:avLst/>
            </a:prstGeom>
            <a:noFill/>
            <a:ln w="127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3" name="Line 23"/>
            <p:cNvSpPr>
              <a:spLocks noChangeShapeType="1"/>
            </p:cNvSpPr>
            <p:nvPr/>
          </p:nvSpPr>
          <p:spPr bwMode="auto">
            <a:xfrm>
              <a:off x="3705225" y="4297362"/>
              <a:ext cx="14287" cy="350838"/>
            </a:xfrm>
            <a:prstGeom prst="line">
              <a:avLst/>
            </a:prstGeom>
            <a:noFill/>
            <a:ln w="127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4" name="Line 24"/>
            <p:cNvSpPr>
              <a:spLocks noChangeShapeType="1"/>
            </p:cNvSpPr>
            <p:nvPr/>
          </p:nvSpPr>
          <p:spPr bwMode="auto">
            <a:xfrm>
              <a:off x="4619625" y="4291012"/>
              <a:ext cx="14287" cy="349250"/>
            </a:xfrm>
            <a:prstGeom prst="line">
              <a:avLst/>
            </a:prstGeom>
            <a:noFill/>
            <a:ln w="127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5" name="Line 25"/>
            <p:cNvSpPr>
              <a:spLocks noChangeShapeType="1"/>
            </p:cNvSpPr>
            <p:nvPr/>
          </p:nvSpPr>
          <p:spPr bwMode="auto">
            <a:xfrm>
              <a:off x="5534025" y="4297362"/>
              <a:ext cx="14287" cy="350838"/>
            </a:xfrm>
            <a:prstGeom prst="line">
              <a:avLst/>
            </a:prstGeom>
            <a:noFill/>
            <a:ln w="127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6" name="Line 26"/>
            <p:cNvSpPr>
              <a:spLocks noChangeShapeType="1"/>
            </p:cNvSpPr>
            <p:nvPr/>
          </p:nvSpPr>
          <p:spPr bwMode="auto">
            <a:xfrm>
              <a:off x="6448425" y="4297362"/>
              <a:ext cx="14287" cy="350838"/>
            </a:xfrm>
            <a:prstGeom prst="line">
              <a:avLst/>
            </a:prstGeom>
            <a:noFill/>
            <a:ln w="127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7" name="Line 27"/>
            <p:cNvSpPr>
              <a:spLocks noChangeShapeType="1"/>
            </p:cNvSpPr>
            <p:nvPr/>
          </p:nvSpPr>
          <p:spPr bwMode="auto">
            <a:xfrm>
              <a:off x="7363464" y="4283714"/>
              <a:ext cx="14288" cy="350838"/>
            </a:xfrm>
            <a:prstGeom prst="line">
              <a:avLst/>
            </a:prstGeom>
            <a:noFill/>
            <a:ln w="28575" cap="sq">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97" name="Rectangle 37"/>
            <p:cNvSpPr>
              <a:spLocks noChangeArrowheads="1"/>
            </p:cNvSpPr>
            <p:nvPr/>
          </p:nvSpPr>
          <p:spPr bwMode="auto">
            <a:xfrm>
              <a:off x="6463352" y="4267200"/>
              <a:ext cx="914400" cy="3508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fontAlgn="base">
                <a:spcBef>
                  <a:spcPct val="0"/>
                </a:spcBef>
                <a:spcAft>
                  <a:spcPts val="1000"/>
                </a:spcAft>
              </a:pPr>
              <a:r>
                <a:rPr lang="en-US" sz="1100">
                  <a:solidFill>
                    <a:srgbClr val="000000"/>
                  </a:solidFill>
                  <a:latin typeface="Times New Roman" pitchFamily="18" charset="0"/>
                  <a:cs typeface="Arial" pitchFamily="34" charset="0"/>
                </a:rPr>
                <a:t>0</a:t>
              </a:r>
              <a:endParaRPr lang="en-US">
                <a:latin typeface="Arial" pitchFamily="34" charset="0"/>
                <a:cs typeface="Arial"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2000"/>
                                        <p:tgtEl>
                                          <p:spTgt spid="4">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9" end="9"/>
                                            </p:txEl>
                                          </p:spTgt>
                                        </p:tgtEl>
                                        <p:attrNameLst>
                                          <p:attrName>style.visibility</p:attrName>
                                        </p:attrNameLst>
                                      </p:cBhvr>
                                      <p:to>
                                        <p:strVal val="visible"/>
                                      </p:to>
                                    </p:set>
                                    <p:animEffect transition="in" filter="fade">
                                      <p:cBhvr>
                                        <p:cTn id="17" dur="2000"/>
                                        <p:tgtEl>
                                          <p:spTgt spid="4">
                                            <p:txEl>
                                              <p:pRg st="9" end="9"/>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
                                            <p:txEl>
                                              <p:pRg st="10" end="10"/>
                                            </p:txEl>
                                          </p:spTgt>
                                        </p:tgtEl>
                                        <p:attrNameLst>
                                          <p:attrName>style.visibility</p:attrName>
                                        </p:attrNameLst>
                                      </p:cBhvr>
                                      <p:to>
                                        <p:strVal val="visible"/>
                                      </p:to>
                                    </p:set>
                                    <p:animEffect transition="in" filter="fade">
                                      <p:cBhvr>
                                        <p:cTn id="20" dur="20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a:xfrm>
            <a:off x="574964" y="568037"/>
            <a:ext cx="10868892" cy="5708072"/>
          </a:xfrm>
        </p:spPr>
        <p:txBody>
          <a:bodyPr>
            <a:normAutofit fontScale="92500" lnSpcReduction="20000"/>
          </a:bodyPr>
          <a:lstStyle/>
          <a:p>
            <a:pPr>
              <a:buNone/>
            </a:pPr>
            <a:r>
              <a:rPr lang="en-US" dirty="0"/>
              <a:t>(c) How many license plates do not contain any vowel?</a:t>
            </a:r>
          </a:p>
          <a:p>
            <a:pPr>
              <a:buNone/>
            </a:pPr>
            <a:endParaRPr lang="en-US" dirty="0"/>
          </a:p>
          <a:p>
            <a:pPr marL="0" indent="0">
              <a:buNone/>
            </a:pPr>
            <a:r>
              <a:rPr lang="en-US" b="1" u="sng" dirty="0">
                <a:solidFill>
                  <a:srgbClr val="0070C0"/>
                </a:solidFill>
              </a:rPr>
              <a:t>SOLUTION:</a:t>
            </a:r>
            <a:endParaRPr lang="en-US" dirty="0">
              <a:solidFill>
                <a:srgbClr val="0070C0"/>
              </a:solidFill>
            </a:endParaRPr>
          </a:p>
          <a:p>
            <a:pPr>
              <a:buNone/>
            </a:pPr>
            <a:r>
              <a:rPr lang="en-US" dirty="0"/>
              <a:t>Alphabets contain </a:t>
            </a:r>
            <a:r>
              <a:rPr lang="en-US" dirty="0">
                <a:solidFill>
                  <a:srgbClr val="FF0000"/>
                </a:solidFill>
              </a:rPr>
              <a:t>5 Vowels (a, e, </a:t>
            </a:r>
            <a:r>
              <a:rPr lang="en-US" dirty="0" err="1">
                <a:solidFill>
                  <a:srgbClr val="FF0000"/>
                </a:solidFill>
              </a:rPr>
              <a:t>i</a:t>
            </a:r>
            <a:r>
              <a:rPr lang="en-US" dirty="0">
                <a:solidFill>
                  <a:srgbClr val="FF0000"/>
                </a:solidFill>
              </a:rPr>
              <a:t>, o, u). </a:t>
            </a:r>
          </a:p>
          <a:p>
            <a:pPr>
              <a:buNone/>
            </a:pPr>
            <a:r>
              <a:rPr lang="en-US" dirty="0"/>
              <a:t>So by </a:t>
            </a:r>
            <a:r>
              <a:rPr lang="en-US" dirty="0">
                <a:solidFill>
                  <a:srgbClr val="FF0000"/>
                </a:solidFill>
              </a:rPr>
              <a:t>excluding the vowels</a:t>
            </a:r>
            <a:r>
              <a:rPr lang="en-US" dirty="0"/>
              <a:t>, the remaining </a:t>
            </a:r>
            <a:r>
              <a:rPr lang="en-US" dirty="0">
                <a:solidFill>
                  <a:srgbClr val="FF0000"/>
                </a:solidFill>
              </a:rPr>
              <a:t>letters </a:t>
            </a:r>
            <a:r>
              <a:rPr lang="en-US" dirty="0"/>
              <a:t>can be filled in </a:t>
            </a:r>
            <a:r>
              <a:rPr lang="en-US" dirty="0">
                <a:solidFill>
                  <a:srgbClr val="FF0000"/>
                </a:solidFill>
              </a:rPr>
              <a:t>21 ways </a:t>
            </a:r>
          </a:p>
          <a:p>
            <a:pPr>
              <a:buNone/>
            </a:pPr>
            <a:r>
              <a:rPr lang="en-US" dirty="0"/>
              <a:t>and each digit can be filled in </a:t>
            </a:r>
            <a:r>
              <a:rPr lang="en-US" dirty="0">
                <a:solidFill>
                  <a:srgbClr val="FF0000"/>
                </a:solidFill>
              </a:rPr>
              <a:t>10 ways</a:t>
            </a:r>
            <a:r>
              <a:rPr lang="en-US" dirty="0"/>
              <a:t>.</a:t>
            </a:r>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r>
              <a:rPr lang="en-US" dirty="0"/>
              <a:t>	Number of license plates that does </a:t>
            </a:r>
            <a:r>
              <a:rPr lang="en-US" dirty="0">
                <a:solidFill>
                  <a:srgbClr val="FF0000"/>
                </a:solidFill>
              </a:rPr>
              <a:t>not contain </a:t>
            </a:r>
            <a:r>
              <a:rPr lang="en-US" dirty="0"/>
              <a:t>any</a:t>
            </a:r>
            <a:r>
              <a:rPr lang="en-US" dirty="0">
                <a:solidFill>
                  <a:srgbClr val="FF0000"/>
                </a:solidFill>
              </a:rPr>
              <a:t> vowel</a:t>
            </a:r>
            <a:r>
              <a:rPr lang="en-US" dirty="0"/>
              <a:t> are </a:t>
            </a:r>
          </a:p>
          <a:p>
            <a:pPr>
              <a:buNone/>
            </a:pPr>
            <a:r>
              <a:rPr lang="en-US" dirty="0">
                <a:solidFill>
                  <a:srgbClr val="FF0000"/>
                </a:solidFill>
              </a:rPr>
              <a:t>				21 </a:t>
            </a:r>
            <a:r>
              <a:rPr lang="en-US" dirty="0">
                <a:solidFill>
                  <a:srgbClr val="FF0000"/>
                </a:solidFill>
                <a:sym typeface="Times New Roman"/>
              </a:rPr>
              <a:t>x</a:t>
            </a:r>
            <a:r>
              <a:rPr lang="en-US" dirty="0">
                <a:solidFill>
                  <a:srgbClr val="FF0000"/>
                </a:solidFill>
              </a:rPr>
              <a:t> 21 </a:t>
            </a:r>
            <a:r>
              <a:rPr lang="en-US" dirty="0">
                <a:solidFill>
                  <a:srgbClr val="FF0000"/>
                </a:solidFill>
                <a:sym typeface="Times New Roman"/>
              </a:rPr>
              <a:t>x</a:t>
            </a:r>
            <a:r>
              <a:rPr lang="en-US" dirty="0">
                <a:solidFill>
                  <a:srgbClr val="FF0000"/>
                </a:solidFill>
              </a:rPr>
              <a:t> 21 </a:t>
            </a:r>
            <a:r>
              <a:rPr lang="en-US" dirty="0">
                <a:solidFill>
                  <a:srgbClr val="FF0000"/>
                </a:solidFill>
                <a:sym typeface="Times New Roman"/>
              </a:rPr>
              <a:t>x</a:t>
            </a:r>
            <a:r>
              <a:rPr lang="en-US" dirty="0">
                <a:solidFill>
                  <a:srgbClr val="FF0000"/>
                </a:solidFill>
              </a:rPr>
              <a:t> 10 </a:t>
            </a:r>
            <a:r>
              <a:rPr lang="en-US" dirty="0">
                <a:solidFill>
                  <a:srgbClr val="FF0000"/>
                </a:solidFill>
                <a:sym typeface="Times New Roman"/>
              </a:rPr>
              <a:t>x</a:t>
            </a:r>
            <a:r>
              <a:rPr lang="en-US" dirty="0">
                <a:solidFill>
                  <a:srgbClr val="FF0000"/>
                </a:solidFill>
              </a:rPr>
              <a:t> 10 </a:t>
            </a:r>
            <a:r>
              <a:rPr lang="en-US" dirty="0">
                <a:solidFill>
                  <a:srgbClr val="FF0000"/>
                </a:solidFill>
                <a:sym typeface="Times New Roman"/>
              </a:rPr>
              <a:t>x</a:t>
            </a:r>
            <a:r>
              <a:rPr lang="en-US" dirty="0">
                <a:solidFill>
                  <a:srgbClr val="FF0000"/>
                </a:solidFill>
              </a:rPr>
              <a:t> 10 = 9,261,000</a:t>
            </a:r>
          </a:p>
          <a:p>
            <a:endParaRPr lang="en-US" dirty="0"/>
          </a:p>
        </p:txBody>
      </p:sp>
      <p:grpSp>
        <p:nvGrpSpPr>
          <p:cNvPr id="8" name="Group 7">
            <a:extLst>
              <a:ext uri="{FF2B5EF4-FFF2-40B4-BE49-F238E27FC236}">
                <a16:creationId xmlns:a16="http://schemas.microsoft.com/office/drawing/2014/main" id="{6DA3CDB8-5C82-FC65-9204-3CD4775B76D1}"/>
              </a:ext>
            </a:extLst>
          </p:cNvPr>
          <p:cNvGrpSpPr/>
          <p:nvPr/>
        </p:nvGrpSpPr>
        <p:grpSpPr>
          <a:xfrm>
            <a:off x="2958611" y="3118512"/>
            <a:ext cx="6401917" cy="1868676"/>
            <a:chOff x="1862138" y="3880512"/>
            <a:chExt cx="5515614" cy="1548737"/>
          </a:xfrm>
        </p:grpSpPr>
        <p:sp>
          <p:nvSpPr>
            <p:cNvPr id="168963" name="Line 3"/>
            <p:cNvSpPr>
              <a:spLocks noChangeShapeType="1"/>
            </p:cNvSpPr>
            <p:nvPr/>
          </p:nvSpPr>
          <p:spPr bwMode="auto">
            <a:xfrm>
              <a:off x="1862138" y="4267200"/>
              <a:ext cx="5486400" cy="0"/>
            </a:xfrm>
            <a:prstGeom prst="line">
              <a:avLst/>
            </a:prstGeom>
            <a:noFill/>
            <a:ln w="28575" cap="sq">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64" name="Text Box 4"/>
            <p:cNvSpPr txBox="1">
              <a:spLocks noChangeArrowheads="1"/>
            </p:cNvSpPr>
            <p:nvPr/>
          </p:nvSpPr>
          <p:spPr bwMode="auto">
            <a:xfrm>
              <a:off x="2895600" y="3886200"/>
              <a:ext cx="8382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400" b="1" dirty="0">
                  <a:solidFill>
                    <a:srgbClr val="000000"/>
                  </a:solidFill>
                  <a:latin typeface="Calibri" pitchFamily="34" charset="0"/>
                  <a:cs typeface="Arial" pitchFamily="34" charset="0"/>
                </a:rPr>
                <a:t>letters</a:t>
              </a:r>
              <a:endParaRPr lang="en-US" sz="1400" b="1" dirty="0">
                <a:latin typeface="Arial" pitchFamily="34" charset="0"/>
                <a:cs typeface="Arial" pitchFamily="34" charset="0"/>
              </a:endParaRPr>
            </a:p>
          </p:txBody>
        </p:sp>
        <p:sp>
          <p:nvSpPr>
            <p:cNvPr id="168965" name="Text Box 5"/>
            <p:cNvSpPr txBox="1">
              <a:spLocks noChangeArrowheads="1"/>
            </p:cNvSpPr>
            <p:nvPr/>
          </p:nvSpPr>
          <p:spPr bwMode="auto">
            <a:xfrm>
              <a:off x="5773738" y="3880512"/>
              <a:ext cx="779462" cy="2524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400" b="1" dirty="0">
                  <a:solidFill>
                    <a:srgbClr val="000000"/>
                  </a:solidFill>
                  <a:latin typeface="Calibri" pitchFamily="34" charset="0"/>
                  <a:cs typeface="Arial" pitchFamily="34" charset="0"/>
                </a:rPr>
                <a:t>digits</a:t>
              </a:r>
              <a:endParaRPr lang="en-US" sz="1400" b="1" dirty="0">
                <a:latin typeface="Arial" pitchFamily="34" charset="0"/>
                <a:cs typeface="Arial" pitchFamily="34" charset="0"/>
              </a:endParaRPr>
            </a:p>
          </p:txBody>
        </p:sp>
        <p:sp>
          <p:nvSpPr>
            <p:cNvPr id="168966" name="Line 6"/>
            <p:cNvSpPr>
              <a:spLocks noChangeShapeType="1"/>
            </p:cNvSpPr>
            <p:nvPr/>
          </p:nvSpPr>
          <p:spPr bwMode="auto">
            <a:xfrm>
              <a:off x="1938338" y="4038600"/>
              <a:ext cx="838200" cy="0"/>
            </a:xfrm>
            <a:prstGeom prst="line">
              <a:avLst/>
            </a:prstGeom>
            <a:noFill/>
            <a:ln w="9525">
              <a:solidFill>
                <a:srgbClr val="000000"/>
              </a:solidFill>
              <a:round/>
              <a:headEnd type="arrow" w="med" len="med"/>
              <a:tailEnd/>
            </a:ln>
          </p:spPr>
          <p:txBody>
            <a:bodyPr vert="horz" wrap="square" lIns="91440" tIns="45720" rIns="91440" bIns="45720" numCol="1" anchor="t" anchorCtr="0" compatLnSpc="1">
              <a:prstTxWarp prst="textNoShape">
                <a:avLst/>
              </a:prstTxWarp>
            </a:bodyPr>
            <a:lstStyle/>
            <a:p>
              <a:endParaRPr lang="en-US"/>
            </a:p>
          </p:txBody>
        </p:sp>
        <p:sp>
          <p:nvSpPr>
            <p:cNvPr id="168967" name="Line 7"/>
            <p:cNvSpPr>
              <a:spLocks noChangeShapeType="1"/>
            </p:cNvSpPr>
            <p:nvPr/>
          </p:nvSpPr>
          <p:spPr bwMode="auto">
            <a:xfrm>
              <a:off x="3690938" y="4038600"/>
              <a:ext cx="762000" cy="0"/>
            </a:xfrm>
            <a:prstGeom prst="line">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en-US"/>
            </a:p>
          </p:txBody>
        </p:sp>
        <p:sp>
          <p:nvSpPr>
            <p:cNvPr id="168968" name="Line 8"/>
            <p:cNvSpPr>
              <a:spLocks noChangeShapeType="1"/>
            </p:cNvSpPr>
            <p:nvPr/>
          </p:nvSpPr>
          <p:spPr bwMode="auto">
            <a:xfrm>
              <a:off x="4605338" y="4038600"/>
              <a:ext cx="990600" cy="0"/>
            </a:xfrm>
            <a:prstGeom prst="line">
              <a:avLst/>
            </a:prstGeom>
            <a:noFill/>
            <a:ln w="9525">
              <a:solidFill>
                <a:srgbClr val="000000"/>
              </a:solidFill>
              <a:round/>
              <a:headEnd type="arrow" w="med" len="med"/>
              <a:tailEnd/>
            </a:ln>
          </p:spPr>
          <p:txBody>
            <a:bodyPr vert="horz" wrap="square" lIns="91440" tIns="45720" rIns="91440" bIns="45720" numCol="1" anchor="t" anchorCtr="0" compatLnSpc="1">
              <a:prstTxWarp prst="textNoShape">
                <a:avLst/>
              </a:prstTxWarp>
            </a:bodyPr>
            <a:lstStyle/>
            <a:p>
              <a:endParaRPr lang="en-US"/>
            </a:p>
          </p:txBody>
        </p:sp>
        <p:sp>
          <p:nvSpPr>
            <p:cNvPr id="168969" name="Line 9"/>
            <p:cNvSpPr>
              <a:spLocks noChangeShapeType="1"/>
            </p:cNvSpPr>
            <p:nvPr/>
          </p:nvSpPr>
          <p:spPr bwMode="auto">
            <a:xfrm>
              <a:off x="6434138" y="4038600"/>
              <a:ext cx="762000" cy="0"/>
            </a:xfrm>
            <a:prstGeom prst="line">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en-US"/>
            </a:p>
          </p:txBody>
        </p:sp>
        <p:sp>
          <p:nvSpPr>
            <p:cNvPr id="168970" name="AutoShape 10"/>
            <p:cNvSpPr>
              <a:spLocks/>
            </p:cNvSpPr>
            <p:nvPr/>
          </p:nvSpPr>
          <p:spPr bwMode="auto">
            <a:xfrm rot="16200000">
              <a:off x="3081339" y="3581400"/>
              <a:ext cx="304800" cy="2590801"/>
            </a:xfrm>
            <a:prstGeom prst="leftBrace">
              <a:avLst>
                <a:gd name="adj1" fmla="val 47917"/>
                <a:gd name="adj2" fmla="val 50000"/>
              </a:avLst>
            </a:prstGeom>
            <a:noFill/>
            <a:ln w="9525">
              <a:solidFill>
                <a:srgbClr val="000000"/>
              </a:solidFill>
              <a:round/>
              <a:headEnd/>
              <a:tailEnd/>
            </a:ln>
          </p:spPr>
          <p:txBody>
            <a:bodyPr vert="horz" wrap="square" lIns="91440" tIns="45720" rIns="91440" bIns="45720" numCol="1" anchor="ctr" anchorCtr="0" compatLnSpc="1">
              <a:prstTxWarp prst="textNoShape">
                <a:avLst/>
              </a:prstTxWarp>
            </a:bodyPr>
            <a:lstStyle/>
            <a:p>
              <a:endParaRPr lang="en-US"/>
            </a:p>
          </p:txBody>
        </p:sp>
        <p:sp>
          <p:nvSpPr>
            <p:cNvPr id="168971" name="AutoShape 11"/>
            <p:cNvSpPr>
              <a:spLocks/>
            </p:cNvSpPr>
            <p:nvPr/>
          </p:nvSpPr>
          <p:spPr bwMode="auto">
            <a:xfrm rot="16200000">
              <a:off x="5832156" y="3570668"/>
              <a:ext cx="350837" cy="2681928"/>
            </a:xfrm>
            <a:prstGeom prst="leftBrace">
              <a:avLst>
                <a:gd name="adj1" fmla="val 47917"/>
                <a:gd name="adj2" fmla="val 50000"/>
              </a:avLst>
            </a:prstGeom>
            <a:noFill/>
            <a:ln w="9525">
              <a:solidFill>
                <a:srgbClr val="000000"/>
              </a:solidFill>
              <a:round/>
              <a:headEnd/>
              <a:tailEnd/>
            </a:ln>
          </p:spPr>
          <p:txBody>
            <a:bodyPr vert="horz" wrap="square" lIns="91440" tIns="45720" rIns="91440" bIns="45720" numCol="1" anchor="ctr" anchorCtr="0" compatLnSpc="1">
              <a:prstTxWarp prst="textNoShape">
                <a:avLst/>
              </a:prstTxWarp>
            </a:bodyPr>
            <a:lstStyle/>
            <a:p>
              <a:endParaRPr lang="en-US" dirty="0"/>
            </a:p>
          </p:txBody>
        </p:sp>
        <p:sp>
          <p:nvSpPr>
            <p:cNvPr id="168972" name="Text Box 12"/>
            <p:cNvSpPr txBox="1">
              <a:spLocks noChangeArrowheads="1"/>
            </p:cNvSpPr>
            <p:nvPr/>
          </p:nvSpPr>
          <p:spPr bwMode="auto">
            <a:xfrm>
              <a:off x="2809876" y="5105400"/>
              <a:ext cx="1262062" cy="30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400" b="1" dirty="0">
                  <a:solidFill>
                    <a:srgbClr val="000000"/>
                  </a:solidFill>
                  <a:latin typeface="Calibri" pitchFamily="34" charset="0"/>
                  <a:cs typeface="Arial" pitchFamily="34" charset="0"/>
                </a:rPr>
                <a:t>21 ways each</a:t>
              </a:r>
              <a:endParaRPr lang="en-US" sz="1400" b="1" dirty="0">
                <a:latin typeface="Arial" pitchFamily="34" charset="0"/>
                <a:cs typeface="Arial" pitchFamily="34" charset="0"/>
              </a:endParaRPr>
            </a:p>
          </p:txBody>
        </p:sp>
        <p:sp>
          <p:nvSpPr>
            <p:cNvPr id="168973" name="Text Box 13"/>
            <p:cNvSpPr txBox="1">
              <a:spLocks noChangeArrowheads="1"/>
            </p:cNvSpPr>
            <p:nvPr/>
          </p:nvSpPr>
          <p:spPr bwMode="auto">
            <a:xfrm>
              <a:off x="5535560" y="5086349"/>
              <a:ext cx="1184275"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400" b="1" dirty="0">
                  <a:solidFill>
                    <a:srgbClr val="000000"/>
                  </a:solidFill>
                  <a:latin typeface="Calibri" pitchFamily="34" charset="0"/>
                  <a:cs typeface="Arial" pitchFamily="34" charset="0"/>
                </a:rPr>
                <a:t>10 ways each</a:t>
              </a:r>
              <a:endParaRPr lang="en-US" sz="1400" b="1" dirty="0">
                <a:latin typeface="Arial" pitchFamily="34" charset="0"/>
                <a:cs typeface="Arial" pitchFamily="34" charset="0"/>
              </a:endParaRPr>
            </a:p>
          </p:txBody>
        </p:sp>
        <p:sp>
          <p:nvSpPr>
            <p:cNvPr id="168978" name="Line 18"/>
            <p:cNvSpPr>
              <a:spLocks noChangeShapeType="1"/>
            </p:cNvSpPr>
            <p:nvPr/>
          </p:nvSpPr>
          <p:spPr bwMode="auto">
            <a:xfrm>
              <a:off x="1864056" y="4643656"/>
              <a:ext cx="5486400" cy="0"/>
            </a:xfrm>
            <a:prstGeom prst="line">
              <a:avLst/>
            </a:prstGeom>
            <a:noFill/>
            <a:ln w="28575" cap="sq">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0" name="Line 20"/>
            <p:cNvSpPr>
              <a:spLocks noChangeShapeType="1"/>
            </p:cNvSpPr>
            <p:nvPr/>
          </p:nvSpPr>
          <p:spPr bwMode="auto">
            <a:xfrm>
              <a:off x="1890712" y="4640262"/>
              <a:ext cx="5486400" cy="0"/>
            </a:xfrm>
            <a:prstGeom prst="line">
              <a:avLst/>
            </a:prstGeom>
            <a:noFill/>
            <a:ln w="28575" cap="sq">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1" name="Line 21"/>
            <p:cNvSpPr>
              <a:spLocks noChangeShapeType="1"/>
            </p:cNvSpPr>
            <p:nvPr/>
          </p:nvSpPr>
          <p:spPr bwMode="auto">
            <a:xfrm>
              <a:off x="1862777" y="4297362"/>
              <a:ext cx="14287" cy="350838"/>
            </a:xfrm>
            <a:prstGeom prst="line">
              <a:avLst/>
            </a:prstGeom>
            <a:noFill/>
            <a:ln w="28575" cap="sq">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2" name="Line 22"/>
            <p:cNvSpPr>
              <a:spLocks noChangeShapeType="1"/>
            </p:cNvSpPr>
            <p:nvPr/>
          </p:nvSpPr>
          <p:spPr bwMode="auto">
            <a:xfrm>
              <a:off x="2790825" y="4297362"/>
              <a:ext cx="14287" cy="350838"/>
            </a:xfrm>
            <a:prstGeom prst="line">
              <a:avLst/>
            </a:prstGeom>
            <a:noFill/>
            <a:ln w="127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3" name="Line 23"/>
            <p:cNvSpPr>
              <a:spLocks noChangeShapeType="1"/>
            </p:cNvSpPr>
            <p:nvPr/>
          </p:nvSpPr>
          <p:spPr bwMode="auto">
            <a:xfrm>
              <a:off x="3705225" y="4297362"/>
              <a:ext cx="14287" cy="350838"/>
            </a:xfrm>
            <a:prstGeom prst="line">
              <a:avLst/>
            </a:prstGeom>
            <a:noFill/>
            <a:ln w="127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4" name="Line 24"/>
            <p:cNvSpPr>
              <a:spLocks noChangeShapeType="1"/>
            </p:cNvSpPr>
            <p:nvPr/>
          </p:nvSpPr>
          <p:spPr bwMode="auto">
            <a:xfrm>
              <a:off x="4619625" y="4291012"/>
              <a:ext cx="14287" cy="349250"/>
            </a:xfrm>
            <a:prstGeom prst="line">
              <a:avLst/>
            </a:prstGeom>
            <a:noFill/>
            <a:ln w="127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5" name="Line 25"/>
            <p:cNvSpPr>
              <a:spLocks noChangeShapeType="1"/>
            </p:cNvSpPr>
            <p:nvPr/>
          </p:nvSpPr>
          <p:spPr bwMode="auto">
            <a:xfrm>
              <a:off x="5534025" y="4297362"/>
              <a:ext cx="14287" cy="350838"/>
            </a:xfrm>
            <a:prstGeom prst="line">
              <a:avLst/>
            </a:prstGeom>
            <a:noFill/>
            <a:ln w="127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6" name="Line 26"/>
            <p:cNvSpPr>
              <a:spLocks noChangeShapeType="1"/>
            </p:cNvSpPr>
            <p:nvPr/>
          </p:nvSpPr>
          <p:spPr bwMode="auto">
            <a:xfrm>
              <a:off x="6448425" y="4297362"/>
              <a:ext cx="14287" cy="350838"/>
            </a:xfrm>
            <a:prstGeom prst="line">
              <a:avLst/>
            </a:prstGeom>
            <a:noFill/>
            <a:ln w="127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7" name="Line 27"/>
            <p:cNvSpPr>
              <a:spLocks noChangeShapeType="1"/>
            </p:cNvSpPr>
            <p:nvPr/>
          </p:nvSpPr>
          <p:spPr bwMode="auto">
            <a:xfrm>
              <a:off x="7363464" y="4283714"/>
              <a:ext cx="14288" cy="350838"/>
            </a:xfrm>
            <a:prstGeom prst="line">
              <a:avLst/>
            </a:prstGeom>
            <a:noFill/>
            <a:ln w="28575" cap="sq">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979934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2000"/>
                                        <p:tgtEl>
                                          <p:spTgt spid="4">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fade">
                                      <p:cBhvr>
                                        <p:cTn id="12" dur="2000"/>
                                        <p:tgtEl>
                                          <p:spTgt spid="4">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animEffect transition="in" filter="fade">
                                      <p:cBhvr>
                                        <p:cTn id="17" dur="2000"/>
                                        <p:tgtEl>
                                          <p:spTgt spid="4">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11" end="11"/>
                                            </p:txEl>
                                          </p:spTgt>
                                        </p:tgtEl>
                                        <p:attrNameLst>
                                          <p:attrName>style.visibility</p:attrName>
                                        </p:attrNameLst>
                                      </p:cBhvr>
                                      <p:to>
                                        <p:strVal val="visible"/>
                                      </p:to>
                                    </p:set>
                                    <p:animEffect transition="in" filter="fade">
                                      <p:cBhvr>
                                        <p:cTn id="27" dur="2000"/>
                                        <p:tgtEl>
                                          <p:spTgt spid="4">
                                            <p:txEl>
                                              <p:pRg st="11" end="11"/>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
                                            <p:txEl>
                                              <p:pRg st="12" end="12"/>
                                            </p:txEl>
                                          </p:spTgt>
                                        </p:tgtEl>
                                        <p:attrNameLst>
                                          <p:attrName>style.visibility</p:attrName>
                                        </p:attrNameLst>
                                      </p:cBhvr>
                                      <p:to>
                                        <p:strVal val="visible"/>
                                      </p:to>
                                    </p:set>
                                    <p:animEffect transition="in" filter="fade">
                                      <p:cBhvr>
                                        <p:cTn id="30" dur="2000"/>
                                        <p:tgtEl>
                                          <p:spTgt spid="4">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a:xfrm>
            <a:off x="574964" y="568037"/>
            <a:ext cx="10868892" cy="5708072"/>
          </a:xfrm>
        </p:spPr>
        <p:txBody>
          <a:bodyPr>
            <a:normAutofit fontScale="92500" lnSpcReduction="20000"/>
          </a:bodyPr>
          <a:lstStyle/>
          <a:p>
            <a:pPr>
              <a:buNone/>
            </a:pPr>
            <a:r>
              <a:rPr lang="en-US" dirty="0"/>
              <a:t>(d) How many license plates do not end on even digit?</a:t>
            </a:r>
          </a:p>
          <a:p>
            <a:pPr>
              <a:buNone/>
            </a:pPr>
            <a:endParaRPr lang="en-US" dirty="0"/>
          </a:p>
          <a:p>
            <a:pPr marL="0" indent="0">
              <a:buNone/>
            </a:pPr>
            <a:r>
              <a:rPr lang="en-US" b="1" u="sng" dirty="0">
                <a:solidFill>
                  <a:srgbClr val="0070C0"/>
                </a:solidFill>
              </a:rPr>
              <a:t>SOLUTION:</a:t>
            </a:r>
            <a:endParaRPr lang="en-US" dirty="0">
              <a:solidFill>
                <a:srgbClr val="0070C0"/>
              </a:solidFill>
            </a:endParaRPr>
          </a:p>
          <a:p>
            <a:pPr>
              <a:buNone/>
            </a:pPr>
            <a:r>
              <a:rPr lang="en-US" dirty="0"/>
              <a:t>	 Each of the </a:t>
            </a:r>
            <a:r>
              <a:rPr lang="en-US" dirty="0">
                <a:solidFill>
                  <a:srgbClr val="FF0000"/>
                </a:solidFill>
              </a:rPr>
              <a:t>three letters</a:t>
            </a:r>
            <a:r>
              <a:rPr lang="en-US" dirty="0"/>
              <a:t> can be written in </a:t>
            </a:r>
            <a:r>
              <a:rPr lang="en-US" dirty="0">
                <a:solidFill>
                  <a:srgbClr val="FF0000"/>
                </a:solidFill>
              </a:rPr>
              <a:t>26 different ways</a:t>
            </a:r>
            <a:r>
              <a:rPr lang="en-US" dirty="0"/>
              <a:t>, </a:t>
            </a:r>
          </a:p>
          <a:p>
            <a:pPr>
              <a:buNone/>
            </a:pPr>
            <a:r>
              <a:rPr lang="en-US" dirty="0"/>
              <a:t>	and each of </a:t>
            </a:r>
            <a:r>
              <a:rPr lang="en-US" dirty="0">
                <a:solidFill>
                  <a:srgbClr val="FF0000"/>
                </a:solidFill>
              </a:rPr>
              <a:t>fourth</a:t>
            </a:r>
            <a:r>
              <a:rPr lang="en-US" dirty="0"/>
              <a:t> and </a:t>
            </a:r>
            <a:r>
              <a:rPr lang="en-US" dirty="0">
                <a:solidFill>
                  <a:srgbClr val="FF0000"/>
                </a:solidFill>
              </a:rPr>
              <a:t>fifth place</a:t>
            </a:r>
            <a:r>
              <a:rPr lang="en-US" dirty="0"/>
              <a:t> can be filled in </a:t>
            </a:r>
            <a:r>
              <a:rPr lang="en-US" dirty="0">
                <a:solidFill>
                  <a:srgbClr val="FF0000"/>
                </a:solidFill>
              </a:rPr>
              <a:t>10 ways</a:t>
            </a:r>
            <a:endParaRPr lang="en-US" dirty="0"/>
          </a:p>
          <a:p>
            <a:pPr>
              <a:buNone/>
            </a:pPr>
            <a:r>
              <a:rPr lang="en-US" dirty="0"/>
              <a:t>	while </a:t>
            </a:r>
            <a:r>
              <a:rPr lang="en-US" dirty="0">
                <a:solidFill>
                  <a:srgbClr val="FF0000"/>
                </a:solidFill>
              </a:rPr>
              <a:t>sixth place</a:t>
            </a:r>
            <a:r>
              <a:rPr lang="en-US" dirty="0"/>
              <a:t> can be filled in </a:t>
            </a:r>
            <a:r>
              <a:rPr lang="en-US" dirty="0">
                <a:solidFill>
                  <a:srgbClr val="FF0000"/>
                </a:solidFill>
              </a:rPr>
              <a:t> 5 ways (as from 0-9 , 5 digits are even)</a:t>
            </a: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r>
              <a:rPr lang="en-US" dirty="0"/>
              <a:t>	Number of license plates that </a:t>
            </a:r>
            <a:r>
              <a:rPr lang="en-US" dirty="0">
                <a:solidFill>
                  <a:srgbClr val="FF0000"/>
                </a:solidFill>
              </a:rPr>
              <a:t>do not end </a:t>
            </a:r>
            <a:r>
              <a:rPr lang="en-US" dirty="0"/>
              <a:t>on </a:t>
            </a:r>
            <a:r>
              <a:rPr lang="en-US" dirty="0">
                <a:solidFill>
                  <a:srgbClr val="FF0000"/>
                </a:solidFill>
              </a:rPr>
              <a:t>even digit </a:t>
            </a:r>
            <a:r>
              <a:rPr lang="en-US" dirty="0"/>
              <a:t>are </a:t>
            </a:r>
          </a:p>
          <a:p>
            <a:pPr>
              <a:buNone/>
            </a:pPr>
            <a:r>
              <a:rPr lang="en-US" dirty="0">
                <a:solidFill>
                  <a:srgbClr val="FF0000"/>
                </a:solidFill>
              </a:rPr>
              <a:t>				26 </a:t>
            </a:r>
            <a:r>
              <a:rPr lang="en-US" dirty="0">
                <a:solidFill>
                  <a:srgbClr val="FF0000"/>
                </a:solidFill>
                <a:sym typeface="Times New Roman"/>
              </a:rPr>
              <a:t>x</a:t>
            </a:r>
            <a:r>
              <a:rPr lang="en-US" dirty="0">
                <a:solidFill>
                  <a:srgbClr val="FF0000"/>
                </a:solidFill>
              </a:rPr>
              <a:t> 26 </a:t>
            </a:r>
            <a:r>
              <a:rPr lang="en-US" dirty="0">
                <a:solidFill>
                  <a:srgbClr val="FF0000"/>
                </a:solidFill>
                <a:sym typeface="Times New Roman"/>
              </a:rPr>
              <a:t>x</a:t>
            </a:r>
            <a:r>
              <a:rPr lang="en-US" dirty="0">
                <a:solidFill>
                  <a:srgbClr val="FF0000"/>
                </a:solidFill>
              </a:rPr>
              <a:t> 26 </a:t>
            </a:r>
            <a:r>
              <a:rPr lang="en-US" dirty="0">
                <a:solidFill>
                  <a:srgbClr val="FF0000"/>
                </a:solidFill>
                <a:sym typeface="Times New Roman"/>
              </a:rPr>
              <a:t>x</a:t>
            </a:r>
            <a:r>
              <a:rPr lang="en-US" dirty="0">
                <a:solidFill>
                  <a:srgbClr val="FF0000"/>
                </a:solidFill>
              </a:rPr>
              <a:t> 10 </a:t>
            </a:r>
            <a:r>
              <a:rPr lang="en-US" dirty="0">
                <a:solidFill>
                  <a:srgbClr val="FF0000"/>
                </a:solidFill>
                <a:sym typeface="Times New Roman"/>
              </a:rPr>
              <a:t>x</a:t>
            </a:r>
            <a:r>
              <a:rPr lang="en-US" dirty="0">
                <a:solidFill>
                  <a:srgbClr val="FF0000"/>
                </a:solidFill>
              </a:rPr>
              <a:t> 10 </a:t>
            </a:r>
            <a:r>
              <a:rPr lang="en-US" dirty="0">
                <a:solidFill>
                  <a:srgbClr val="FF0000"/>
                </a:solidFill>
                <a:sym typeface="Times New Roman"/>
              </a:rPr>
              <a:t>x</a:t>
            </a:r>
            <a:r>
              <a:rPr lang="en-US" dirty="0">
                <a:solidFill>
                  <a:srgbClr val="FF0000"/>
                </a:solidFill>
              </a:rPr>
              <a:t> 5 = 8,788,000</a:t>
            </a:r>
          </a:p>
          <a:p>
            <a:endParaRPr lang="en-US" dirty="0"/>
          </a:p>
        </p:txBody>
      </p:sp>
      <p:grpSp>
        <p:nvGrpSpPr>
          <p:cNvPr id="8" name="Group 7">
            <a:extLst>
              <a:ext uri="{FF2B5EF4-FFF2-40B4-BE49-F238E27FC236}">
                <a16:creationId xmlns:a16="http://schemas.microsoft.com/office/drawing/2014/main" id="{6DA3CDB8-5C82-FC65-9204-3CD4775B76D1}"/>
              </a:ext>
            </a:extLst>
          </p:cNvPr>
          <p:cNvGrpSpPr/>
          <p:nvPr/>
        </p:nvGrpSpPr>
        <p:grpSpPr>
          <a:xfrm>
            <a:off x="2919915" y="3118512"/>
            <a:ext cx="6440612" cy="1845692"/>
            <a:chOff x="1828800" y="3880512"/>
            <a:chExt cx="5548952" cy="1529688"/>
          </a:xfrm>
        </p:grpSpPr>
        <p:sp>
          <p:nvSpPr>
            <p:cNvPr id="168963" name="Line 3"/>
            <p:cNvSpPr>
              <a:spLocks noChangeShapeType="1"/>
            </p:cNvSpPr>
            <p:nvPr/>
          </p:nvSpPr>
          <p:spPr bwMode="auto">
            <a:xfrm>
              <a:off x="1862138" y="4267200"/>
              <a:ext cx="5486400" cy="0"/>
            </a:xfrm>
            <a:prstGeom prst="line">
              <a:avLst/>
            </a:prstGeom>
            <a:noFill/>
            <a:ln w="28575" cap="sq">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64" name="Text Box 4"/>
            <p:cNvSpPr txBox="1">
              <a:spLocks noChangeArrowheads="1"/>
            </p:cNvSpPr>
            <p:nvPr/>
          </p:nvSpPr>
          <p:spPr bwMode="auto">
            <a:xfrm>
              <a:off x="2895600" y="3886200"/>
              <a:ext cx="8382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400" b="1" dirty="0">
                  <a:solidFill>
                    <a:srgbClr val="000000"/>
                  </a:solidFill>
                  <a:latin typeface="Calibri" pitchFamily="34" charset="0"/>
                  <a:cs typeface="Arial" pitchFamily="34" charset="0"/>
                </a:rPr>
                <a:t>letters</a:t>
              </a:r>
              <a:endParaRPr lang="en-US" sz="1400" b="1" dirty="0">
                <a:latin typeface="Arial" pitchFamily="34" charset="0"/>
                <a:cs typeface="Arial" pitchFamily="34" charset="0"/>
              </a:endParaRPr>
            </a:p>
          </p:txBody>
        </p:sp>
        <p:sp>
          <p:nvSpPr>
            <p:cNvPr id="168965" name="Text Box 5"/>
            <p:cNvSpPr txBox="1">
              <a:spLocks noChangeArrowheads="1"/>
            </p:cNvSpPr>
            <p:nvPr/>
          </p:nvSpPr>
          <p:spPr bwMode="auto">
            <a:xfrm>
              <a:off x="5773738" y="3880512"/>
              <a:ext cx="779462" cy="2524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400" b="1" dirty="0">
                  <a:solidFill>
                    <a:srgbClr val="000000"/>
                  </a:solidFill>
                  <a:latin typeface="Calibri" pitchFamily="34" charset="0"/>
                  <a:cs typeface="Arial" pitchFamily="34" charset="0"/>
                </a:rPr>
                <a:t>digits</a:t>
              </a:r>
              <a:endParaRPr lang="en-US" sz="1400" b="1" dirty="0">
                <a:latin typeface="Arial" pitchFamily="34" charset="0"/>
                <a:cs typeface="Arial" pitchFamily="34" charset="0"/>
              </a:endParaRPr>
            </a:p>
          </p:txBody>
        </p:sp>
        <p:sp>
          <p:nvSpPr>
            <p:cNvPr id="168966" name="Line 6"/>
            <p:cNvSpPr>
              <a:spLocks noChangeShapeType="1"/>
            </p:cNvSpPr>
            <p:nvPr/>
          </p:nvSpPr>
          <p:spPr bwMode="auto">
            <a:xfrm>
              <a:off x="1938338" y="4038600"/>
              <a:ext cx="838200" cy="0"/>
            </a:xfrm>
            <a:prstGeom prst="line">
              <a:avLst/>
            </a:prstGeom>
            <a:noFill/>
            <a:ln w="9525">
              <a:solidFill>
                <a:srgbClr val="000000"/>
              </a:solidFill>
              <a:round/>
              <a:headEnd type="arrow" w="med" len="med"/>
              <a:tailEnd/>
            </a:ln>
          </p:spPr>
          <p:txBody>
            <a:bodyPr vert="horz" wrap="square" lIns="91440" tIns="45720" rIns="91440" bIns="45720" numCol="1" anchor="t" anchorCtr="0" compatLnSpc="1">
              <a:prstTxWarp prst="textNoShape">
                <a:avLst/>
              </a:prstTxWarp>
            </a:bodyPr>
            <a:lstStyle/>
            <a:p>
              <a:endParaRPr lang="en-US"/>
            </a:p>
          </p:txBody>
        </p:sp>
        <p:sp>
          <p:nvSpPr>
            <p:cNvPr id="168967" name="Line 7"/>
            <p:cNvSpPr>
              <a:spLocks noChangeShapeType="1"/>
            </p:cNvSpPr>
            <p:nvPr/>
          </p:nvSpPr>
          <p:spPr bwMode="auto">
            <a:xfrm>
              <a:off x="3690938" y="4038600"/>
              <a:ext cx="762000" cy="0"/>
            </a:xfrm>
            <a:prstGeom prst="line">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en-US"/>
            </a:p>
          </p:txBody>
        </p:sp>
        <p:sp>
          <p:nvSpPr>
            <p:cNvPr id="168968" name="Line 8"/>
            <p:cNvSpPr>
              <a:spLocks noChangeShapeType="1"/>
            </p:cNvSpPr>
            <p:nvPr/>
          </p:nvSpPr>
          <p:spPr bwMode="auto">
            <a:xfrm>
              <a:off x="4605338" y="4038600"/>
              <a:ext cx="990600" cy="0"/>
            </a:xfrm>
            <a:prstGeom prst="line">
              <a:avLst/>
            </a:prstGeom>
            <a:noFill/>
            <a:ln w="9525">
              <a:solidFill>
                <a:srgbClr val="000000"/>
              </a:solidFill>
              <a:round/>
              <a:headEnd type="arrow" w="med" len="med"/>
              <a:tailEnd/>
            </a:ln>
          </p:spPr>
          <p:txBody>
            <a:bodyPr vert="horz" wrap="square" lIns="91440" tIns="45720" rIns="91440" bIns="45720" numCol="1" anchor="t" anchorCtr="0" compatLnSpc="1">
              <a:prstTxWarp prst="textNoShape">
                <a:avLst/>
              </a:prstTxWarp>
            </a:bodyPr>
            <a:lstStyle/>
            <a:p>
              <a:endParaRPr lang="en-US"/>
            </a:p>
          </p:txBody>
        </p:sp>
        <p:sp>
          <p:nvSpPr>
            <p:cNvPr id="168969" name="Line 9"/>
            <p:cNvSpPr>
              <a:spLocks noChangeShapeType="1"/>
            </p:cNvSpPr>
            <p:nvPr/>
          </p:nvSpPr>
          <p:spPr bwMode="auto">
            <a:xfrm>
              <a:off x="6434138" y="4038600"/>
              <a:ext cx="762000" cy="0"/>
            </a:xfrm>
            <a:prstGeom prst="line">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en-US"/>
            </a:p>
          </p:txBody>
        </p:sp>
        <p:sp>
          <p:nvSpPr>
            <p:cNvPr id="168970" name="AutoShape 10"/>
            <p:cNvSpPr>
              <a:spLocks/>
            </p:cNvSpPr>
            <p:nvPr/>
          </p:nvSpPr>
          <p:spPr bwMode="auto">
            <a:xfrm rot="16200000">
              <a:off x="3050384" y="3550445"/>
              <a:ext cx="304800" cy="2652710"/>
            </a:xfrm>
            <a:prstGeom prst="leftBrace">
              <a:avLst>
                <a:gd name="adj1" fmla="val 47917"/>
                <a:gd name="adj2" fmla="val 50000"/>
              </a:avLst>
            </a:prstGeom>
            <a:noFill/>
            <a:ln w="9525">
              <a:solidFill>
                <a:srgbClr val="000000"/>
              </a:solidFill>
              <a:round/>
              <a:headEnd/>
              <a:tailEnd/>
            </a:ln>
          </p:spPr>
          <p:txBody>
            <a:bodyPr vert="horz" wrap="square" lIns="91440" tIns="45720" rIns="91440" bIns="45720" numCol="1" anchor="ctr" anchorCtr="0" compatLnSpc="1">
              <a:prstTxWarp prst="textNoShape">
                <a:avLst/>
              </a:prstTxWarp>
            </a:bodyPr>
            <a:lstStyle/>
            <a:p>
              <a:endParaRPr lang="en-US"/>
            </a:p>
          </p:txBody>
        </p:sp>
        <p:sp>
          <p:nvSpPr>
            <p:cNvPr id="168971" name="AutoShape 11"/>
            <p:cNvSpPr>
              <a:spLocks/>
            </p:cNvSpPr>
            <p:nvPr/>
          </p:nvSpPr>
          <p:spPr bwMode="auto">
            <a:xfrm rot="-5400000">
              <a:off x="5405438" y="3924300"/>
              <a:ext cx="304800" cy="1752600"/>
            </a:xfrm>
            <a:prstGeom prst="leftBrace">
              <a:avLst>
                <a:gd name="adj1" fmla="val 47917"/>
                <a:gd name="adj2" fmla="val 50000"/>
              </a:avLst>
            </a:prstGeom>
            <a:noFill/>
            <a:ln w="9525">
              <a:solidFill>
                <a:srgbClr val="000000"/>
              </a:solidFill>
              <a:round/>
              <a:headEnd/>
              <a:tailEnd/>
            </a:ln>
          </p:spPr>
          <p:txBody>
            <a:bodyPr vert="horz" wrap="square" lIns="91440" tIns="45720" rIns="91440" bIns="45720" numCol="1" anchor="ctr" anchorCtr="0" compatLnSpc="1">
              <a:prstTxWarp prst="textNoShape">
                <a:avLst/>
              </a:prstTxWarp>
            </a:bodyPr>
            <a:lstStyle/>
            <a:p>
              <a:endParaRPr lang="en-US"/>
            </a:p>
          </p:txBody>
        </p:sp>
        <p:sp>
          <p:nvSpPr>
            <p:cNvPr id="168972" name="Text Box 12"/>
            <p:cNvSpPr txBox="1">
              <a:spLocks noChangeArrowheads="1"/>
            </p:cNvSpPr>
            <p:nvPr/>
          </p:nvSpPr>
          <p:spPr bwMode="auto">
            <a:xfrm>
              <a:off x="2743200" y="5071061"/>
              <a:ext cx="1262062" cy="30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400" b="1" dirty="0">
                  <a:solidFill>
                    <a:srgbClr val="000000"/>
                  </a:solidFill>
                  <a:latin typeface="Calibri" pitchFamily="34" charset="0"/>
                  <a:cs typeface="Arial" pitchFamily="34" charset="0"/>
                </a:rPr>
                <a:t>26 ways each</a:t>
              </a:r>
              <a:endParaRPr lang="en-US" sz="1400" b="1" dirty="0">
                <a:latin typeface="Arial" pitchFamily="34" charset="0"/>
                <a:cs typeface="Arial" pitchFamily="34" charset="0"/>
              </a:endParaRPr>
            </a:p>
          </p:txBody>
        </p:sp>
        <p:sp>
          <p:nvSpPr>
            <p:cNvPr id="168973" name="Text Box 13"/>
            <p:cNvSpPr txBox="1">
              <a:spLocks noChangeArrowheads="1"/>
            </p:cNvSpPr>
            <p:nvPr/>
          </p:nvSpPr>
          <p:spPr bwMode="auto">
            <a:xfrm>
              <a:off x="4987924" y="5067300"/>
              <a:ext cx="1184275"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400" b="1" dirty="0">
                  <a:solidFill>
                    <a:srgbClr val="000000"/>
                  </a:solidFill>
                  <a:latin typeface="Calibri" pitchFamily="34" charset="0"/>
                  <a:cs typeface="Arial" pitchFamily="34" charset="0"/>
                </a:rPr>
                <a:t>10 ways each</a:t>
              </a:r>
              <a:endParaRPr lang="en-US" sz="1400" b="1" dirty="0">
                <a:latin typeface="Arial" pitchFamily="34" charset="0"/>
                <a:cs typeface="Arial" pitchFamily="34" charset="0"/>
              </a:endParaRPr>
            </a:p>
          </p:txBody>
        </p:sp>
        <p:sp>
          <p:nvSpPr>
            <p:cNvPr id="168976" name="Text Box 16"/>
            <p:cNvSpPr txBox="1">
              <a:spLocks noChangeArrowheads="1"/>
            </p:cNvSpPr>
            <p:nvPr/>
          </p:nvSpPr>
          <p:spPr bwMode="auto">
            <a:xfrm>
              <a:off x="6616024" y="5076187"/>
              <a:ext cx="732512" cy="19786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400" b="1" dirty="0">
                  <a:solidFill>
                    <a:srgbClr val="000000"/>
                  </a:solidFill>
                  <a:latin typeface="Calibri" pitchFamily="34" charset="0"/>
                  <a:cs typeface="Arial" pitchFamily="34" charset="0"/>
                </a:rPr>
                <a:t>5 ways</a:t>
              </a:r>
              <a:endParaRPr lang="en-US" sz="1400" b="1" dirty="0">
                <a:latin typeface="Arial" pitchFamily="34" charset="0"/>
                <a:cs typeface="Arial" pitchFamily="34" charset="0"/>
              </a:endParaRPr>
            </a:p>
          </p:txBody>
        </p:sp>
        <p:sp>
          <p:nvSpPr>
            <p:cNvPr id="168977" name="Line 17"/>
            <p:cNvSpPr>
              <a:spLocks noChangeShapeType="1"/>
            </p:cNvSpPr>
            <p:nvPr/>
          </p:nvSpPr>
          <p:spPr bwMode="auto">
            <a:xfrm>
              <a:off x="6815138" y="4651044"/>
              <a:ext cx="0" cy="38100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68978" name="Line 18"/>
            <p:cNvSpPr>
              <a:spLocks noChangeShapeType="1"/>
            </p:cNvSpPr>
            <p:nvPr/>
          </p:nvSpPr>
          <p:spPr bwMode="auto">
            <a:xfrm>
              <a:off x="1864056" y="4643656"/>
              <a:ext cx="5486400" cy="0"/>
            </a:xfrm>
            <a:prstGeom prst="line">
              <a:avLst/>
            </a:prstGeom>
            <a:noFill/>
            <a:ln w="28575" cap="sq">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79" name="Rectangle 19"/>
            <p:cNvSpPr>
              <a:spLocks noChangeArrowheads="1"/>
            </p:cNvSpPr>
            <p:nvPr/>
          </p:nvSpPr>
          <p:spPr bwMode="auto">
            <a:xfrm>
              <a:off x="1828800" y="4253552"/>
              <a:ext cx="914400" cy="3508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fontAlgn="base">
                <a:spcBef>
                  <a:spcPct val="0"/>
                </a:spcBef>
                <a:spcAft>
                  <a:spcPts val="1000"/>
                </a:spcAft>
              </a:pPr>
              <a:r>
                <a:rPr lang="en-US" sz="1400" b="1" dirty="0">
                  <a:solidFill>
                    <a:srgbClr val="000000"/>
                  </a:solidFill>
                  <a:latin typeface="Calibri" pitchFamily="34" charset="0"/>
                  <a:cs typeface="Arial" pitchFamily="34" charset="0"/>
                </a:rPr>
                <a:t>A</a:t>
              </a:r>
              <a:endParaRPr lang="en-US" sz="1400" b="1" dirty="0">
                <a:latin typeface="Arial" pitchFamily="34" charset="0"/>
                <a:cs typeface="Arial" pitchFamily="34" charset="0"/>
              </a:endParaRPr>
            </a:p>
          </p:txBody>
        </p:sp>
        <p:sp>
          <p:nvSpPr>
            <p:cNvPr id="168980" name="Line 20"/>
            <p:cNvSpPr>
              <a:spLocks noChangeShapeType="1"/>
            </p:cNvSpPr>
            <p:nvPr/>
          </p:nvSpPr>
          <p:spPr bwMode="auto">
            <a:xfrm>
              <a:off x="1890712" y="4640262"/>
              <a:ext cx="5486400" cy="0"/>
            </a:xfrm>
            <a:prstGeom prst="line">
              <a:avLst/>
            </a:prstGeom>
            <a:noFill/>
            <a:ln w="28575" cap="sq">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1" name="Line 21"/>
            <p:cNvSpPr>
              <a:spLocks noChangeShapeType="1"/>
            </p:cNvSpPr>
            <p:nvPr/>
          </p:nvSpPr>
          <p:spPr bwMode="auto">
            <a:xfrm>
              <a:off x="1862777" y="4297362"/>
              <a:ext cx="14287" cy="350838"/>
            </a:xfrm>
            <a:prstGeom prst="line">
              <a:avLst/>
            </a:prstGeom>
            <a:noFill/>
            <a:ln w="28575" cap="sq">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2" name="Line 22"/>
            <p:cNvSpPr>
              <a:spLocks noChangeShapeType="1"/>
            </p:cNvSpPr>
            <p:nvPr/>
          </p:nvSpPr>
          <p:spPr bwMode="auto">
            <a:xfrm>
              <a:off x="2790825" y="4297362"/>
              <a:ext cx="14287" cy="350838"/>
            </a:xfrm>
            <a:prstGeom prst="line">
              <a:avLst/>
            </a:prstGeom>
            <a:noFill/>
            <a:ln w="127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3" name="Line 23"/>
            <p:cNvSpPr>
              <a:spLocks noChangeShapeType="1"/>
            </p:cNvSpPr>
            <p:nvPr/>
          </p:nvSpPr>
          <p:spPr bwMode="auto">
            <a:xfrm>
              <a:off x="3705225" y="4297362"/>
              <a:ext cx="14287" cy="350838"/>
            </a:xfrm>
            <a:prstGeom prst="line">
              <a:avLst/>
            </a:prstGeom>
            <a:noFill/>
            <a:ln w="127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4" name="Line 24"/>
            <p:cNvSpPr>
              <a:spLocks noChangeShapeType="1"/>
            </p:cNvSpPr>
            <p:nvPr/>
          </p:nvSpPr>
          <p:spPr bwMode="auto">
            <a:xfrm>
              <a:off x="4619625" y="4291012"/>
              <a:ext cx="14287" cy="349250"/>
            </a:xfrm>
            <a:prstGeom prst="line">
              <a:avLst/>
            </a:prstGeom>
            <a:noFill/>
            <a:ln w="127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5" name="Line 25"/>
            <p:cNvSpPr>
              <a:spLocks noChangeShapeType="1"/>
            </p:cNvSpPr>
            <p:nvPr/>
          </p:nvSpPr>
          <p:spPr bwMode="auto">
            <a:xfrm>
              <a:off x="5534025" y="4297362"/>
              <a:ext cx="14287" cy="350838"/>
            </a:xfrm>
            <a:prstGeom prst="line">
              <a:avLst/>
            </a:prstGeom>
            <a:noFill/>
            <a:ln w="127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6" name="Line 26"/>
            <p:cNvSpPr>
              <a:spLocks noChangeShapeType="1"/>
            </p:cNvSpPr>
            <p:nvPr/>
          </p:nvSpPr>
          <p:spPr bwMode="auto">
            <a:xfrm>
              <a:off x="6448425" y="4297362"/>
              <a:ext cx="14287" cy="350838"/>
            </a:xfrm>
            <a:prstGeom prst="line">
              <a:avLst/>
            </a:prstGeom>
            <a:noFill/>
            <a:ln w="127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7" name="Line 27"/>
            <p:cNvSpPr>
              <a:spLocks noChangeShapeType="1"/>
            </p:cNvSpPr>
            <p:nvPr/>
          </p:nvSpPr>
          <p:spPr bwMode="auto">
            <a:xfrm>
              <a:off x="7363464" y="4283714"/>
              <a:ext cx="14288" cy="350838"/>
            </a:xfrm>
            <a:prstGeom prst="line">
              <a:avLst/>
            </a:prstGeom>
            <a:noFill/>
            <a:ln w="28575" cap="sq">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97" name="Rectangle 37"/>
            <p:cNvSpPr>
              <a:spLocks noChangeArrowheads="1"/>
            </p:cNvSpPr>
            <p:nvPr/>
          </p:nvSpPr>
          <p:spPr bwMode="auto">
            <a:xfrm>
              <a:off x="6463352" y="4267200"/>
              <a:ext cx="914400" cy="3508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fontAlgn="base">
                <a:spcBef>
                  <a:spcPct val="0"/>
                </a:spcBef>
                <a:spcAft>
                  <a:spcPts val="1000"/>
                </a:spcAft>
              </a:pPr>
              <a:endParaRPr lang="en-US" dirty="0">
                <a:latin typeface="Arial" pitchFamily="34" charset="0"/>
                <a:cs typeface="Arial" pitchFamily="34" charset="0"/>
              </a:endParaRPr>
            </a:p>
          </p:txBody>
        </p:sp>
      </p:grpSp>
    </p:spTree>
    <p:extLst>
      <p:ext uri="{BB962C8B-B14F-4D97-AF65-F5344CB8AC3E}">
        <p14:creationId xmlns:p14="http://schemas.microsoft.com/office/powerpoint/2010/main" val="1791758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2000"/>
                                        <p:tgtEl>
                                          <p:spTgt spid="4">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fade">
                                      <p:cBhvr>
                                        <p:cTn id="12" dur="2000"/>
                                        <p:tgtEl>
                                          <p:spTgt spid="4">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animEffect transition="in" filter="fade">
                                      <p:cBhvr>
                                        <p:cTn id="17" dur="2000"/>
                                        <p:tgtEl>
                                          <p:spTgt spid="4">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11" end="11"/>
                                            </p:txEl>
                                          </p:spTgt>
                                        </p:tgtEl>
                                        <p:attrNameLst>
                                          <p:attrName>style.visibility</p:attrName>
                                        </p:attrNameLst>
                                      </p:cBhvr>
                                      <p:to>
                                        <p:strVal val="visible"/>
                                      </p:to>
                                    </p:set>
                                    <p:animEffect transition="in" filter="fade">
                                      <p:cBhvr>
                                        <p:cTn id="27" dur="2000"/>
                                        <p:tgtEl>
                                          <p:spTgt spid="4">
                                            <p:txEl>
                                              <p:pRg st="11" end="11"/>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
                                            <p:txEl>
                                              <p:pRg st="12" end="12"/>
                                            </p:txEl>
                                          </p:spTgt>
                                        </p:tgtEl>
                                        <p:attrNameLst>
                                          <p:attrName>style.visibility</p:attrName>
                                        </p:attrNameLst>
                                      </p:cBhvr>
                                      <p:to>
                                        <p:strVal val="visible"/>
                                      </p:to>
                                    </p:set>
                                    <p:animEffect transition="in" filter="fade">
                                      <p:cBhvr>
                                        <p:cTn id="30" dur="2000"/>
                                        <p:tgtEl>
                                          <p:spTgt spid="4">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5849" y="0"/>
            <a:ext cx="10515600" cy="873457"/>
          </a:xfrm>
        </p:spPr>
        <p:txBody>
          <a:bodyPr>
            <a:normAutofit/>
          </a:bodyPr>
          <a:lstStyle/>
          <a:p>
            <a:pPr algn="ctr"/>
            <a:r>
              <a:rPr lang="en-US" b="1" u="sng" dirty="0">
                <a:solidFill>
                  <a:srgbClr val="0070C0"/>
                </a:solidFill>
              </a:rPr>
              <a:t>EXERCISE</a:t>
            </a:r>
          </a:p>
        </p:txBody>
      </p:sp>
      <p:sp>
        <p:nvSpPr>
          <p:cNvPr id="4" name="Content Placeholder 3"/>
          <p:cNvSpPr>
            <a:spLocks noGrp="1"/>
          </p:cNvSpPr>
          <p:nvPr>
            <p:ph sz="quarter" idx="1"/>
          </p:nvPr>
        </p:nvSpPr>
        <p:spPr>
          <a:xfrm>
            <a:off x="678249" y="873457"/>
            <a:ext cx="11290838" cy="5704764"/>
          </a:xfrm>
        </p:spPr>
        <p:txBody>
          <a:bodyPr>
            <a:noAutofit/>
          </a:bodyPr>
          <a:lstStyle/>
          <a:p>
            <a:pPr marL="0" indent="0">
              <a:buNone/>
            </a:pPr>
            <a:r>
              <a:rPr lang="en-US" sz="2600" dirty="0"/>
              <a:t>A </a:t>
            </a:r>
            <a:r>
              <a:rPr lang="en-US" sz="2600" dirty="0">
                <a:solidFill>
                  <a:srgbClr val="FF0000"/>
                </a:solidFill>
              </a:rPr>
              <a:t>variable name</a:t>
            </a:r>
            <a:r>
              <a:rPr lang="en-US" sz="2600" dirty="0"/>
              <a:t> in a programming language must be either a </a:t>
            </a:r>
            <a:r>
              <a:rPr lang="en-US" sz="2600" dirty="0">
                <a:solidFill>
                  <a:srgbClr val="FF0000"/>
                </a:solidFill>
              </a:rPr>
              <a:t>letter</a:t>
            </a:r>
            <a:r>
              <a:rPr lang="en-US" sz="2600" dirty="0"/>
              <a:t> or a </a:t>
            </a:r>
            <a:r>
              <a:rPr lang="en-US" sz="2600" dirty="0">
                <a:solidFill>
                  <a:srgbClr val="FF0000"/>
                </a:solidFill>
              </a:rPr>
              <a:t>letter</a:t>
            </a:r>
            <a:r>
              <a:rPr lang="en-US" sz="2600" dirty="0"/>
              <a:t> followed by a </a:t>
            </a:r>
            <a:r>
              <a:rPr lang="en-US" sz="2600" dirty="0">
                <a:solidFill>
                  <a:srgbClr val="FF0000"/>
                </a:solidFill>
              </a:rPr>
              <a:t>digit</a:t>
            </a:r>
            <a:r>
              <a:rPr lang="en-US" sz="2600" dirty="0"/>
              <a:t>.</a:t>
            </a:r>
          </a:p>
          <a:p>
            <a:pPr marL="0" indent="0">
              <a:buNone/>
            </a:pPr>
            <a:r>
              <a:rPr lang="en-US" sz="2600" dirty="0"/>
              <a:t>	How many </a:t>
            </a:r>
            <a:r>
              <a:rPr lang="en-US" sz="2600" dirty="0">
                <a:solidFill>
                  <a:srgbClr val="FF0000"/>
                </a:solidFill>
              </a:rPr>
              <a:t>different variable names</a:t>
            </a:r>
            <a:r>
              <a:rPr lang="en-US" sz="2600" dirty="0"/>
              <a:t> are possible?</a:t>
            </a:r>
          </a:p>
          <a:p>
            <a:pPr marL="0" indent="0">
              <a:buNone/>
            </a:pPr>
            <a:r>
              <a:rPr lang="en-US" sz="2600" b="1" u="sng" dirty="0">
                <a:solidFill>
                  <a:srgbClr val="0070C0"/>
                </a:solidFill>
              </a:rPr>
              <a:t>SOLUTION:</a:t>
            </a:r>
            <a:endParaRPr lang="en-US" sz="2600" dirty="0">
              <a:solidFill>
                <a:srgbClr val="0070C0"/>
              </a:solidFill>
            </a:endParaRPr>
          </a:p>
          <a:p>
            <a:r>
              <a:rPr lang="en-US" sz="2400" dirty="0"/>
              <a:t>First consider </a:t>
            </a:r>
            <a:r>
              <a:rPr lang="en-US" sz="2400" dirty="0">
                <a:solidFill>
                  <a:srgbClr val="FF0000"/>
                </a:solidFill>
              </a:rPr>
              <a:t>variable</a:t>
            </a:r>
            <a:r>
              <a:rPr lang="en-US" sz="2400" dirty="0"/>
              <a:t> names </a:t>
            </a:r>
            <a:r>
              <a:rPr lang="en-US" sz="2400" dirty="0">
                <a:solidFill>
                  <a:srgbClr val="FF0000"/>
                </a:solidFill>
              </a:rPr>
              <a:t>one character</a:t>
            </a:r>
            <a:r>
              <a:rPr lang="en-US" sz="2400" dirty="0"/>
              <a:t> in length.</a:t>
            </a:r>
          </a:p>
          <a:p>
            <a:r>
              <a:rPr lang="en-US" sz="2400" dirty="0"/>
              <a:t>Since such names consist of a </a:t>
            </a:r>
            <a:r>
              <a:rPr lang="en-US" sz="2400" dirty="0">
                <a:solidFill>
                  <a:srgbClr val="FF0000"/>
                </a:solidFill>
              </a:rPr>
              <a:t>single letter</a:t>
            </a:r>
            <a:r>
              <a:rPr lang="en-US" sz="2400" dirty="0"/>
              <a:t>, there are </a:t>
            </a:r>
            <a:r>
              <a:rPr lang="en-US" sz="2400" dirty="0">
                <a:solidFill>
                  <a:srgbClr val="FF0000"/>
                </a:solidFill>
              </a:rPr>
              <a:t>26 variable names</a:t>
            </a:r>
            <a:r>
              <a:rPr lang="en-US" sz="2400" dirty="0"/>
              <a:t> of length </a:t>
            </a:r>
            <a:r>
              <a:rPr lang="en-US" sz="2400" dirty="0">
                <a:solidFill>
                  <a:srgbClr val="FF0000"/>
                </a:solidFill>
              </a:rPr>
              <a:t>1</a:t>
            </a:r>
            <a:r>
              <a:rPr lang="en-US" sz="2400" dirty="0"/>
              <a:t>.</a:t>
            </a:r>
          </a:p>
          <a:p>
            <a:r>
              <a:rPr lang="en-US" sz="2400" dirty="0"/>
              <a:t>Next, consider </a:t>
            </a:r>
            <a:r>
              <a:rPr lang="en-US" sz="2400" dirty="0">
                <a:solidFill>
                  <a:srgbClr val="FF0000"/>
                </a:solidFill>
              </a:rPr>
              <a:t>variable</a:t>
            </a:r>
            <a:r>
              <a:rPr lang="en-US" sz="2400" dirty="0"/>
              <a:t> names </a:t>
            </a:r>
            <a:r>
              <a:rPr lang="en-US" sz="2400" dirty="0">
                <a:solidFill>
                  <a:srgbClr val="FF0000"/>
                </a:solidFill>
              </a:rPr>
              <a:t>two characters</a:t>
            </a:r>
            <a:r>
              <a:rPr lang="en-US" sz="2400" dirty="0"/>
              <a:t> in length. </a:t>
            </a:r>
          </a:p>
          <a:p>
            <a:pPr>
              <a:buNone/>
            </a:pPr>
            <a:r>
              <a:rPr lang="en-US" sz="2400" dirty="0"/>
              <a:t>	Since the </a:t>
            </a:r>
            <a:r>
              <a:rPr lang="en-US" sz="2400" dirty="0">
                <a:solidFill>
                  <a:srgbClr val="FF0000"/>
                </a:solidFill>
              </a:rPr>
              <a:t>first character</a:t>
            </a:r>
            <a:r>
              <a:rPr lang="en-US" sz="2400" dirty="0"/>
              <a:t> is a </a:t>
            </a:r>
            <a:r>
              <a:rPr lang="en-US" sz="2400" dirty="0">
                <a:solidFill>
                  <a:srgbClr val="FF0000"/>
                </a:solidFill>
              </a:rPr>
              <a:t>letter</a:t>
            </a:r>
            <a:r>
              <a:rPr lang="en-US" sz="2400" dirty="0"/>
              <a:t>, there are </a:t>
            </a:r>
            <a:r>
              <a:rPr lang="en-US" sz="2400" dirty="0">
                <a:solidFill>
                  <a:srgbClr val="FF0000"/>
                </a:solidFill>
              </a:rPr>
              <a:t>26</a:t>
            </a:r>
            <a:r>
              <a:rPr lang="en-US" sz="2400" dirty="0"/>
              <a:t> ways to choose it. The </a:t>
            </a:r>
            <a:r>
              <a:rPr lang="en-US" sz="2400" dirty="0">
                <a:solidFill>
                  <a:srgbClr val="FF0000"/>
                </a:solidFill>
              </a:rPr>
              <a:t>second character</a:t>
            </a:r>
            <a:r>
              <a:rPr lang="en-US" sz="2400" dirty="0"/>
              <a:t> is a </a:t>
            </a:r>
            <a:r>
              <a:rPr lang="en-US" sz="2400" dirty="0">
                <a:solidFill>
                  <a:srgbClr val="FF0000"/>
                </a:solidFill>
              </a:rPr>
              <a:t>digit</a:t>
            </a:r>
            <a:r>
              <a:rPr lang="en-US" sz="2400" dirty="0"/>
              <a:t>, there are </a:t>
            </a:r>
            <a:r>
              <a:rPr lang="en-US" sz="2400" dirty="0">
                <a:solidFill>
                  <a:srgbClr val="FF0000"/>
                </a:solidFill>
              </a:rPr>
              <a:t>10</a:t>
            </a:r>
            <a:r>
              <a:rPr lang="en-US" sz="2400" dirty="0"/>
              <a:t> ways to choose it. </a:t>
            </a:r>
          </a:p>
          <a:p>
            <a:pPr>
              <a:buNone/>
            </a:pPr>
            <a:r>
              <a:rPr lang="en-US" sz="2400" dirty="0"/>
              <a:t>	Hence, to construct </a:t>
            </a:r>
            <a:r>
              <a:rPr lang="en-US" sz="2400" dirty="0">
                <a:solidFill>
                  <a:srgbClr val="FF0000"/>
                </a:solidFill>
              </a:rPr>
              <a:t>variable name</a:t>
            </a:r>
            <a:r>
              <a:rPr lang="en-US" sz="2400" dirty="0"/>
              <a:t> of </a:t>
            </a:r>
            <a:r>
              <a:rPr lang="en-US" sz="2400" dirty="0">
                <a:solidFill>
                  <a:srgbClr val="FF0000"/>
                </a:solidFill>
              </a:rPr>
              <a:t>two characters</a:t>
            </a:r>
            <a:r>
              <a:rPr lang="en-US" sz="2400" dirty="0"/>
              <a:t> in length, there are </a:t>
            </a:r>
            <a:r>
              <a:rPr lang="en-US" sz="2400" dirty="0">
                <a:solidFill>
                  <a:srgbClr val="FF0000"/>
                </a:solidFill>
              </a:rPr>
              <a:t>26 </a:t>
            </a:r>
            <a:r>
              <a:rPr lang="en-US" sz="2400" dirty="0">
                <a:solidFill>
                  <a:srgbClr val="FF0000"/>
                </a:solidFill>
                <a:sym typeface="Times New Roman"/>
              </a:rPr>
              <a:t>x</a:t>
            </a:r>
            <a:r>
              <a:rPr lang="en-US" sz="2400" dirty="0">
                <a:solidFill>
                  <a:srgbClr val="FF0000"/>
                </a:solidFill>
              </a:rPr>
              <a:t>10 = 260 ways</a:t>
            </a:r>
            <a:r>
              <a:rPr lang="en-US" sz="2400" dirty="0"/>
              <a:t>.</a:t>
            </a:r>
          </a:p>
          <a:p>
            <a:r>
              <a:rPr lang="en-US" sz="2400" dirty="0"/>
              <a:t>Finally, by sum rule, there are </a:t>
            </a:r>
            <a:r>
              <a:rPr lang="en-US" sz="2400" dirty="0">
                <a:solidFill>
                  <a:srgbClr val="FF0000"/>
                </a:solidFill>
              </a:rPr>
              <a:t>26 + 260 = 286</a:t>
            </a:r>
            <a:r>
              <a:rPr lang="en-US" sz="2400" dirty="0"/>
              <a:t> possible </a:t>
            </a:r>
            <a:r>
              <a:rPr lang="en-US" sz="2400" dirty="0">
                <a:solidFill>
                  <a:srgbClr val="FF0000"/>
                </a:solidFill>
              </a:rPr>
              <a:t>variable names</a:t>
            </a:r>
            <a:r>
              <a:rPr lang="en-US" sz="2400" dirty="0"/>
              <a:t> in the programming language.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2326" y="0"/>
            <a:ext cx="10515600" cy="1325563"/>
          </a:xfrm>
        </p:spPr>
        <p:txBody>
          <a:bodyPr>
            <a:normAutofit/>
          </a:bodyPr>
          <a:lstStyle/>
          <a:p>
            <a:pPr algn="ctr"/>
            <a:r>
              <a:rPr lang="en-US" b="1" u="sng" dirty="0">
                <a:solidFill>
                  <a:srgbClr val="0070C0"/>
                </a:solidFill>
              </a:rPr>
              <a:t>EXERCISE</a:t>
            </a:r>
          </a:p>
        </p:txBody>
      </p:sp>
      <p:sp>
        <p:nvSpPr>
          <p:cNvPr id="4" name="Content Placeholder 3"/>
          <p:cNvSpPr>
            <a:spLocks noGrp="1"/>
          </p:cNvSpPr>
          <p:nvPr>
            <p:ph sz="quarter" idx="1"/>
          </p:nvPr>
        </p:nvSpPr>
        <p:spPr>
          <a:xfrm>
            <a:off x="1179576" y="1201003"/>
            <a:ext cx="9829800" cy="5363570"/>
          </a:xfrm>
        </p:spPr>
        <p:txBody>
          <a:bodyPr>
            <a:normAutofit/>
          </a:bodyPr>
          <a:lstStyle/>
          <a:p>
            <a:pPr marL="0" indent="0">
              <a:buNone/>
            </a:pPr>
            <a:r>
              <a:rPr lang="en-US" sz="2600" dirty="0"/>
              <a:t>A computer </a:t>
            </a:r>
            <a:r>
              <a:rPr lang="en-US" sz="2600" dirty="0">
                <a:solidFill>
                  <a:srgbClr val="FF0000"/>
                </a:solidFill>
              </a:rPr>
              <a:t>access code</a:t>
            </a:r>
            <a:r>
              <a:rPr lang="en-US" sz="2600" dirty="0"/>
              <a:t> word consists of from </a:t>
            </a:r>
            <a:r>
              <a:rPr lang="en-US" sz="2600" dirty="0">
                <a:solidFill>
                  <a:srgbClr val="FF0000"/>
                </a:solidFill>
              </a:rPr>
              <a:t>one</a:t>
            </a:r>
            <a:r>
              <a:rPr lang="en-US" sz="2600" dirty="0"/>
              <a:t> to </a:t>
            </a:r>
            <a:r>
              <a:rPr lang="en-US" sz="2600" dirty="0">
                <a:solidFill>
                  <a:srgbClr val="FF0000"/>
                </a:solidFill>
              </a:rPr>
              <a:t>three</a:t>
            </a:r>
            <a:r>
              <a:rPr lang="en-US" sz="2600" dirty="0"/>
              <a:t> letters of </a:t>
            </a:r>
            <a:r>
              <a:rPr lang="en-US" sz="2600" dirty="0">
                <a:solidFill>
                  <a:srgbClr val="FF0000"/>
                </a:solidFill>
              </a:rPr>
              <a:t>English</a:t>
            </a:r>
            <a:r>
              <a:rPr lang="en-US" sz="2600" dirty="0"/>
              <a:t> alphabets with </a:t>
            </a:r>
            <a:r>
              <a:rPr lang="en-US" sz="2600" dirty="0">
                <a:solidFill>
                  <a:srgbClr val="FF0000"/>
                </a:solidFill>
              </a:rPr>
              <a:t>repetitions</a:t>
            </a:r>
            <a:r>
              <a:rPr lang="en-US" sz="2600" dirty="0"/>
              <a:t> allowed. </a:t>
            </a:r>
          </a:p>
          <a:p>
            <a:pPr marL="0" indent="0">
              <a:buNone/>
            </a:pPr>
            <a:r>
              <a:rPr lang="en-US" sz="2600" dirty="0"/>
              <a:t>	How many </a:t>
            </a:r>
            <a:r>
              <a:rPr lang="en-US" sz="2600" dirty="0">
                <a:solidFill>
                  <a:srgbClr val="FF0000"/>
                </a:solidFill>
              </a:rPr>
              <a:t>different code</a:t>
            </a:r>
            <a:r>
              <a:rPr lang="en-US" sz="2600" dirty="0"/>
              <a:t> words are possible.</a:t>
            </a:r>
            <a:endParaRPr lang="en-US" sz="2600" dirty="0">
              <a:solidFill>
                <a:srgbClr val="C00000"/>
              </a:solidFill>
            </a:endParaRPr>
          </a:p>
          <a:p>
            <a:pPr>
              <a:buNone/>
            </a:pPr>
            <a:r>
              <a:rPr lang="en-US" sz="2600" b="1" u="sng" dirty="0">
                <a:solidFill>
                  <a:srgbClr val="0070C0"/>
                </a:solidFill>
              </a:rPr>
              <a:t>SOLUTION:</a:t>
            </a:r>
            <a:endParaRPr lang="en-US" sz="2600" dirty="0">
              <a:solidFill>
                <a:srgbClr val="0070C0"/>
              </a:solidFill>
            </a:endParaRPr>
          </a:p>
          <a:p>
            <a:pPr>
              <a:buNone/>
            </a:pPr>
            <a:r>
              <a:rPr lang="en-US" sz="2600" dirty="0">
                <a:solidFill>
                  <a:srgbClr val="FF0000"/>
                </a:solidFill>
              </a:rPr>
              <a:t>		Number of code</a:t>
            </a:r>
            <a:r>
              <a:rPr lang="en-US" sz="2600" dirty="0"/>
              <a:t> words of length 1 = </a:t>
            </a:r>
            <a:r>
              <a:rPr lang="en-US" sz="2600" dirty="0">
                <a:solidFill>
                  <a:srgbClr val="FF0000"/>
                </a:solidFill>
              </a:rPr>
              <a:t>26</a:t>
            </a:r>
            <a:r>
              <a:rPr lang="en-US" sz="2600" baseline="30000" dirty="0">
                <a:solidFill>
                  <a:srgbClr val="FF0000"/>
                </a:solidFill>
              </a:rPr>
              <a:t>1</a:t>
            </a:r>
            <a:endParaRPr lang="en-US" sz="2600" dirty="0">
              <a:solidFill>
                <a:srgbClr val="FF0000"/>
              </a:solidFill>
            </a:endParaRPr>
          </a:p>
          <a:p>
            <a:pPr>
              <a:buNone/>
            </a:pPr>
            <a:r>
              <a:rPr lang="en-US" sz="2600" dirty="0"/>
              <a:t>		</a:t>
            </a:r>
            <a:r>
              <a:rPr lang="en-US" sz="2600" dirty="0">
                <a:solidFill>
                  <a:srgbClr val="FF0000"/>
                </a:solidFill>
              </a:rPr>
              <a:t>Number of code</a:t>
            </a:r>
            <a:r>
              <a:rPr lang="en-US" sz="2600" dirty="0"/>
              <a:t> words of length 2 = </a:t>
            </a:r>
            <a:r>
              <a:rPr lang="en-US" sz="2600" dirty="0">
                <a:solidFill>
                  <a:srgbClr val="FF0000"/>
                </a:solidFill>
              </a:rPr>
              <a:t>26</a:t>
            </a:r>
            <a:r>
              <a:rPr lang="en-US" sz="2600" baseline="30000" dirty="0">
                <a:solidFill>
                  <a:srgbClr val="FF0000"/>
                </a:solidFill>
              </a:rPr>
              <a:t>2</a:t>
            </a:r>
            <a:endParaRPr lang="en-US" sz="2600" dirty="0">
              <a:solidFill>
                <a:srgbClr val="FF0000"/>
              </a:solidFill>
            </a:endParaRPr>
          </a:p>
          <a:p>
            <a:pPr>
              <a:buNone/>
            </a:pPr>
            <a:r>
              <a:rPr lang="en-US" sz="2600" dirty="0"/>
              <a:t>		</a:t>
            </a:r>
            <a:r>
              <a:rPr lang="en-US" sz="2600" dirty="0">
                <a:solidFill>
                  <a:srgbClr val="FF0000"/>
                </a:solidFill>
              </a:rPr>
              <a:t>Number of code</a:t>
            </a:r>
            <a:r>
              <a:rPr lang="en-US" sz="2600" dirty="0"/>
              <a:t> words of length 3 = </a:t>
            </a:r>
            <a:r>
              <a:rPr lang="en-US" sz="2600" dirty="0">
                <a:solidFill>
                  <a:srgbClr val="FF0000"/>
                </a:solidFill>
              </a:rPr>
              <a:t>26</a:t>
            </a:r>
            <a:r>
              <a:rPr lang="en-US" sz="2600" baseline="30000" dirty="0">
                <a:solidFill>
                  <a:srgbClr val="FF0000"/>
                </a:solidFill>
              </a:rPr>
              <a:t>3</a:t>
            </a:r>
            <a:endParaRPr lang="en-US" sz="2600" dirty="0">
              <a:solidFill>
                <a:srgbClr val="FF0000"/>
              </a:solidFill>
            </a:endParaRPr>
          </a:p>
          <a:p>
            <a:endParaRPr lang="en-US" sz="2600" dirty="0"/>
          </a:p>
          <a:p>
            <a:pPr>
              <a:buNone/>
            </a:pPr>
            <a:r>
              <a:rPr lang="en-US" sz="2600" dirty="0"/>
              <a:t>	Hence, the </a:t>
            </a:r>
            <a:r>
              <a:rPr lang="en-US" sz="2600" dirty="0">
                <a:solidFill>
                  <a:srgbClr val="FF0000"/>
                </a:solidFill>
              </a:rPr>
              <a:t>total number of code</a:t>
            </a:r>
            <a:r>
              <a:rPr lang="en-US" sz="2600" dirty="0"/>
              <a:t> words</a:t>
            </a:r>
          </a:p>
          <a:p>
            <a:pPr>
              <a:buNone/>
            </a:pPr>
            <a:r>
              <a:rPr lang="en-US" sz="2600" dirty="0"/>
              <a:t>				 = 26</a:t>
            </a:r>
            <a:r>
              <a:rPr lang="en-US" sz="2600" baseline="30000" dirty="0"/>
              <a:t>1</a:t>
            </a:r>
            <a:r>
              <a:rPr lang="en-US" sz="2600" dirty="0"/>
              <a:t>  + 26</a:t>
            </a:r>
            <a:r>
              <a:rPr lang="en-US" sz="2600" baseline="30000" dirty="0"/>
              <a:t>2</a:t>
            </a:r>
            <a:r>
              <a:rPr lang="en-US" sz="2600" dirty="0"/>
              <a:t>  + 26</a:t>
            </a:r>
            <a:r>
              <a:rPr lang="en-US" sz="2600" baseline="30000" dirty="0"/>
              <a:t>3</a:t>
            </a:r>
          </a:p>
          <a:p>
            <a:pPr>
              <a:buNone/>
            </a:pPr>
            <a:r>
              <a:rPr lang="en-US" sz="2600" baseline="30000" dirty="0"/>
              <a:t>				</a:t>
            </a:r>
            <a:r>
              <a:rPr lang="en-US" sz="2600" dirty="0"/>
              <a:t> = </a:t>
            </a:r>
            <a:r>
              <a:rPr lang="en-US" sz="2600" dirty="0">
                <a:solidFill>
                  <a:srgbClr val="FF0000"/>
                </a:solidFill>
              </a:rPr>
              <a:t>18,278</a:t>
            </a:r>
          </a:p>
          <a:p>
            <a:pPr>
              <a:buNone/>
            </a:pPr>
            <a:endParaRPr lang="en-US" sz="2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643FC-3359-422D-9B07-A891410309C2}"/>
              </a:ext>
            </a:extLst>
          </p:cNvPr>
          <p:cNvSpPr>
            <a:spLocks noGrp="1"/>
          </p:cNvSpPr>
          <p:nvPr>
            <p:ph type="title"/>
          </p:nvPr>
        </p:nvSpPr>
        <p:spPr>
          <a:xfrm>
            <a:off x="658906" y="0"/>
            <a:ext cx="10515600" cy="1114051"/>
          </a:xfrm>
        </p:spPr>
        <p:txBody>
          <a:bodyPr/>
          <a:lstStyle/>
          <a:p>
            <a:pPr algn="ctr"/>
            <a:r>
              <a:rPr lang="en-US" b="1" u="sng" dirty="0" err="1">
                <a:solidFill>
                  <a:srgbClr val="0070C0"/>
                </a:solidFill>
              </a:rPr>
              <a:t>Excercise</a:t>
            </a:r>
            <a:r>
              <a:rPr lang="en-US" b="1" u="sng" dirty="0">
                <a:solidFill>
                  <a:srgbClr val="0070C0"/>
                </a:solidFill>
              </a:rPr>
              <a:t>… </a:t>
            </a:r>
            <a:r>
              <a:rPr lang="en-US" b="1" u="sng" dirty="0">
                <a:solidFill>
                  <a:schemeClr val="accent1">
                    <a:lumMod val="75000"/>
                  </a:schemeClr>
                </a:solidFill>
              </a:rPr>
              <a:t>Do  it Yourself</a:t>
            </a:r>
            <a:endParaRPr lang="en-US" dirty="0">
              <a:solidFill>
                <a:schemeClr val="accent1">
                  <a:lumMod val="75000"/>
                </a:schemeClr>
              </a:solidFill>
            </a:endParaRPr>
          </a:p>
        </p:txBody>
      </p:sp>
      <p:sp>
        <p:nvSpPr>
          <p:cNvPr id="3" name="Content Placeholder 2">
            <a:extLst>
              <a:ext uri="{FF2B5EF4-FFF2-40B4-BE49-F238E27FC236}">
                <a16:creationId xmlns:a16="http://schemas.microsoft.com/office/drawing/2014/main" id="{DB6527E4-AB40-4FD1-9D87-0F2AF8FD6319}"/>
              </a:ext>
            </a:extLst>
          </p:cNvPr>
          <p:cNvSpPr>
            <a:spLocks noGrp="1"/>
          </p:cNvSpPr>
          <p:nvPr>
            <p:ph idx="1"/>
          </p:nvPr>
        </p:nvSpPr>
        <p:spPr>
          <a:xfrm>
            <a:off x="658906" y="1277471"/>
            <a:ext cx="10993598" cy="5432611"/>
          </a:xfrm>
        </p:spPr>
        <p:txBody>
          <a:bodyPr>
            <a:normAutofit/>
          </a:bodyPr>
          <a:lstStyle/>
          <a:p>
            <a:pPr marL="0" indent="0" algn="just">
              <a:buNone/>
            </a:pPr>
            <a:r>
              <a:rPr lang="en-US" sz="2800" dirty="0">
                <a:solidFill>
                  <a:srgbClr val="FF0000"/>
                </a:solidFill>
                <a:latin typeface="Cambria Math" panose="02040503050406030204" pitchFamily="18" charset="0"/>
                <a:ea typeface="Cambria Math" panose="02040503050406030204" pitchFamily="18" charset="0"/>
              </a:rPr>
              <a:t>Alice</a:t>
            </a:r>
            <a:r>
              <a:rPr lang="en-US" sz="2800" dirty="0">
                <a:latin typeface="Cambria Math" panose="02040503050406030204" pitchFamily="18" charset="0"/>
                <a:ea typeface="Cambria Math" panose="02040503050406030204" pitchFamily="18" charset="0"/>
              </a:rPr>
              <a:t> invites her friends </a:t>
            </a:r>
            <a:r>
              <a:rPr lang="en-US" sz="2800" dirty="0">
                <a:solidFill>
                  <a:srgbClr val="FF0000"/>
                </a:solidFill>
                <a:latin typeface="Cambria Math" panose="02040503050406030204" pitchFamily="18" charset="0"/>
                <a:ea typeface="Cambria Math" panose="02040503050406030204" pitchFamily="18" charset="0"/>
              </a:rPr>
              <a:t>Bob, Carl, Dian, Eve, Fred </a:t>
            </a:r>
            <a:r>
              <a:rPr lang="en-US" sz="2800" dirty="0">
                <a:latin typeface="Cambria Math" panose="02040503050406030204" pitchFamily="18" charset="0"/>
                <a:ea typeface="Cambria Math" panose="02040503050406030204" pitchFamily="18" charset="0"/>
              </a:rPr>
              <a:t>and </a:t>
            </a:r>
            <a:r>
              <a:rPr lang="en-US" sz="2800" dirty="0">
                <a:solidFill>
                  <a:srgbClr val="FF0000"/>
                </a:solidFill>
                <a:latin typeface="Cambria Math" panose="02040503050406030204" pitchFamily="18" charset="0"/>
                <a:ea typeface="Cambria Math" panose="02040503050406030204" pitchFamily="18" charset="0"/>
              </a:rPr>
              <a:t>George</a:t>
            </a:r>
            <a:r>
              <a:rPr lang="en-US" sz="2800" dirty="0">
                <a:latin typeface="Cambria Math" panose="02040503050406030204" pitchFamily="18" charset="0"/>
                <a:ea typeface="Cambria Math" panose="02040503050406030204" pitchFamily="18" charset="0"/>
              </a:rPr>
              <a:t> on her birthday party. Every participant is supposed to shake every other participant’s hand. </a:t>
            </a:r>
          </a:p>
          <a:p>
            <a:pPr marL="0" indent="0" algn="just">
              <a:buNone/>
            </a:pPr>
            <a:r>
              <a:rPr lang="en-US" sz="2800" dirty="0">
                <a:solidFill>
                  <a:srgbClr val="FF0000"/>
                </a:solidFill>
                <a:latin typeface="Cambria Math" panose="02040503050406030204" pitchFamily="18" charset="0"/>
                <a:ea typeface="Cambria Math" panose="02040503050406030204" pitchFamily="18" charset="0"/>
              </a:rPr>
              <a:t>How many handshakes</a:t>
            </a:r>
            <a:r>
              <a:rPr lang="en-US" sz="2800" dirty="0">
                <a:latin typeface="Cambria Math" panose="02040503050406030204" pitchFamily="18" charset="0"/>
                <a:ea typeface="Cambria Math" panose="02040503050406030204" pitchFamily="18" charset="0"/>
              </a:rPr>
              <a:t>?</a:t>
            </a:r>
          </a:p>
          <a:p>
            <a:pPr algn="just">
              <a:buFont typeface="Wingdings" panose="05000000000000000000" pitchFamily="2" charset="2"/>
              <a:buChar char="ü"/>
            </a:pPr>
            <a:endParaRPr lang="en-US" sz="2600" dirty="0">
              <a:latin typeface="Cambria Math" panose="02040503050406030204" pitchFamily="18" charset="0"/>
              <a:ea typeface="Cambria Math" panose="02040503050406030204" pitchFamily="18" charset="0"/>
            </a:endParaRPr>
          </a:p>
          <a:p>
            <a:pPr algn="just"/>
            <a:endParaRPr lang="en-US" sz="2600" dirty="0"/>
          </a:p>
        </p:txBody>
      </p:sp>
    </p:spTree>
    <p:extLst>
      <p:ext uri="{BB962C8B-B14F-4D97-AF65-F5344CB8AC3E}">
        <p14:creationId xmlns:p14="http://schemas.microsoft.com/office/powerpoint/2010/main" val="15954434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1199" y="1114051"/>
            <a:ext cx="10887530" cy="4894863"/>
          </a:xfrm>
        </p:spPr>
        <p:txBody>
          <a:bodyPr>
            <a:normAutofit/>
          </a:bodyPr>
          <a:lstStyle/>
          <a:p>
            <a:pPr marL="0" indent="0" algn="just">
              <a:buNone/>
            </a:pPr>
            <a:r>
              <a:rPr lang="en-US" sz="2400" dirty="0"/>
              <a:t>Let </a:t>
            </a:r>
            <a:r>
              <a:rPr lang="en-US" sz="2400" dirty="0">
                <a:solidFill>
                  <a:srgbClr val="FF0000"/>
                </a:solidFill>
              </a:rPr>
              <a:t>X</a:t>
            </a:r>
            <a:r>
              <a:rPr lang="en-US" sz="2400" dirty="0"/>
              <a:t> denote a digit that can take any of the values </a:t>
            </a:r>
            <a:r>
              <a:rPr lang="en-US" sz="2400" dirty="0">
                <a:solidFill>
                  <a:srgbClr val="FF0000"/>
                </a:solidFill>
              </a:rPr>
              <a:t>0 through 9</a:t>
            </a:r>
            <a:r>
              <a:rPr lang="en-US" sz="2400" dirty="0"/>
              <a:t>, let </a:t>
            </a:r>
            <a:r>
              <a:rPr lang="en-US" sz="2400" dirty="0">
                <a:solidFill>
                  <a:srgbClr val="FF0000"/>
                </a:solidFill>
              </a:rPr>
              <a:t>N</a:t>
            </a:r>
            <a:r>
              <a:rPr lang="en-US" sz="2400" dirty="0"/>
              <a:t> denote a digit that can take any of the values </a:t>
            </a:r>
            <a:r>
              <a:rPr lang="en-US" sz="2400" dirty="0">
                <a:solidFill>
                  <a:srgbClr val="FF0000"/>
                </a:solidFill>
              </a:rPr>
              <a:t>2 through 9</a:t>
            </a:r>
            <a:r>
              <a:rPr lang="en-US" sz="2400" dirty="0"/>
              <a:t>, and let </a:t>
            </a:r>
            <a:r>
              <a:rPr lang="en-US" sz="2400" dirty="0">
                <a:solidFill>
                  <a:srgbClr val="FF0000"/>
                </a:solidFill>
              </a:rPr>
              <a:t>Y</a:t>
            </a:r>
            <a:r>
              <a:rPr lang="en-US" sz="2400" dirty="0"/>
              <a:t> denote a digit that must be a </a:t>
            </a:r>
            <a:r>
              <a:rPr lang="en-US" sz="2400" dirty="0">
                <a:solidFill>
                  <a:srgbClr val="FF0000"/>
                </a:solidFill>
              </a:rPr>
              <a:t>0 or a 1.</a:t>
            </a:r>
          </a:p>
          <a:p>
            <a:pPr marL="0" indent="0" algn="just">
              <a:buNone/>
            </a:pPr>
            <a:r>
              <a:rPr lang="en-US" sz="2400" dirty="0"/>
              <a:t>In the </a:t>
            </a:r>
            <a:r>
              <a:rPr lang="en-US" sz="2400" dirty="0">
                <a:solidFill>
                  <a:srgbClr val="FF0000"/>
                </a:solidFill>
              </a:rPr>
              <a:t>old plan</a:t>
            </a:r>
            <a:r>
              <a:rPr lang="en-US" sz="2400" dirty="0"/>
              <a:t>, the formats of the area code, office code, and station code are NYX, NNX, and XXXX, respectively, so that telephone numbers had the form </a:t>
            </a:r>
            <a:r>
              <a:rPr lang="en-US" sz="2400" dirty="0">
                <a:solidFill>
                  <a:srgbClr val="FF0000"/>
                </a:solidFill>
              </a:rPr>
              <a:t>NYX-NNX-XXXX.</a:t>
            </a:r>
          </a:p>
          <a:p>
            <a:pPr marL="0" indent="0" algn="just">
              <a:buNone/>
            </a:pPr>
            <a:r>
              <a:rPr lang="en-US" sz="2400" dirty="0"/>
              <a:t>In the </a:t>
            </a:r>
            <a:r>
              <a:rPr lang="en-US" sz="2400" dirty="0">
                <a:solidFill>
                  <a:srgbClr val="FF0000"/>
                </a:solidFill>
              </a:rPr>
              <a:t>new plan</a:t>
            </a:r>
            <a:r>
              <a:rPr lang="en-US" sz="2400" dirty="0"/>
              <a:t>, the formats of these codes are NXX, NXX, and XXXX, respectively, so that telephone numbers have the form </a:t>
            </a:r>
            <a:r>
              <a:rPr lang="en-US" sz="2400" dirty="0">
                <a:solidFill>
                  <a:srgbClr val="FF0000"/>
                </a:solidFill>
              </a:rPr>
              <a:t>NXX-NXX-XXXX</a:t>
            </a:r>
            <a:r>
              <a:rPr lang="en-US" sz="2400" dirty="0"/>
              <a:t>. </a:t>
            </a:r>
          </a:p>
          <a:p>
            <a:pPr marL="514350" indent="-514350" algn="just">
              <a:buFont typeface="+mj-lt"/>
              <a:buAutoNum type="arabicPeriod"/>
            </a:pPr>
            <a:r>
              <a:rPr lang="en-US" sz="2400" dirty="0"/>
              <a:t>How many </a:t>
            </a:r>
            <a:r>
              <a:rPr lang="en-US" sz="2400" dirty="0">
                <a:solidFill>
                  <a:srgbClr val="FF0000"/>
                </a:solidFill>
              </a:rPr>
              <a:t>different North American telephone numbers </a:t>
            </a:r>
            <a:r>
              <a:rPr lang="en-US" sz="2400" dirty="0"/>
              <a:t>are possible under </a:t>
            </a:r>
            <a:r>
              <a:rPr lang="en-US" sz="2400" dirty="0">
                <a:solidFill>
                  <a:srgbClr val="FF0000"/>
                </a:solidFill>
              </a:rPr>
              <a:t>the old plan </a:t>
            </a:r>
            <a:r>
              <a:rPr lang="en-US" sz="2400" dirty="0"/>
              <a:t>and under </a:t>
            </a:r>
            <a:r>
              <a:rPr lang="en-US" sz="2400" dirty="0">
                <a:solidFill>
                  <a:srgbClr val="FF0000"/>
                </a:solidFill>
              </a:rPr>
              <a:t>the new plan</a:t>
            </a:r>
            <a:r>
              <a:rPr lang="en-US" sz="2400" dirty="0"/>
              <a:t>?</a:t>
            </a:r>
          </a:p>
          <a:p>
            <a:pPr marL="514350" indent="-514350" algn="just">
              <a:buFont typeface="+mj-lt"/>
              <a:buAutoNum type="arabicPeriod"/>
            </a:pPr>
            <a:r>
              <a:rPr lang="en-US" sz="2400" dirty="0"/>
              <a:t>In </a:t>
            </a:r>
            <a:r>
              <a:rPr lang="en-US" sz="2400" dirty="0">
                <a:solidFill>
                  <a:srgbClr val="FF0000"/>
                </a:solidFill>
              </a:rPr>
              <a:t>total</a:t>
            </a:r>
            <a:r>
              <a:rPr lang="en-US" sz="2400" dirty="0"/>
              <a:t> how many telephone numbers are possible under the </a:t>
            </a:r>
            <a:r>
              <a:rPr lang="en-US" sz="2400" dirty="0">
                <a:solidFill>
                  <a:srgbClr val="FF0000"/>
                </a:solidFill>
              </a:rPr>
              <a:t>old plan </a:t>
            </a:r>
            <a:r>
              <a:rPr lang="en-US" sz="2400" dirty="0"/>
              <a:t>and the </a:t>
            </a:r>
            <a:r>
              <a:rPr lang="en-US" sz="2400" dirty="0">
                <a:solidFill>
                  <a:srgbClr val="FF0000"/>
                </a:solidFill>
              </a:rPr>
              <a:t>new plan</a:t>
            </a:r>
          </a:p>
          <a:p>
            <a:pPr algn="just"/>
            <a:endParaRPr lang="en-US" sz="2400" dirty="0"/>
          </a:p>
        </p:txBody>
      </p:sp>
      <p:sp>
        <p:nvSpPr>
          <p:cNvPr id="4" name="Title 1">
            <a:extLst>
              <a:ext uri="{FF2B5EF4-FFF2-40B4-BE49-F238E27FC236}">
                <a16:creationId xmlns:a16="http://schemas.microsoft.com/office/drawing/2014/main" id="{ECFD2115-6D48-4484-9085-A166166128E0}"/>
              </a:ext>
            </a:extLst>
          </p:cNvPr>
          <p:cNvSpPr>
            <a:spLocks noGrp="1"/>
          </p:cNvSpPr>
          <p:nvPr>
            <p:ph type="title"/>
          </p:nvPr>
        </p:nvSpPr>
        <p:spPr>
          <a:xfrm>
            <a:off x="593271" y="0"/>
            <a:ext cx="10515600" cy="1114051"/>
          </a:xfrm>
        </p:spPr>
        <p:txBody>
          <a:bodyPr/>
          <a:lstStyle/>
          <a:p>
            <a:pPr algn="ctr"/>
            <a:r>
              <a:rPr lang="en-US" b="1" u="sng" dirty="0" err="1">
                <a:solidFill>
                  <a:srgbClr val="0070C0"/>
                </a:solidFill>
              </a:rPr>
              <a:t>Excercise</a:t>
            </a:r>
            <a:r>
              <a:rPr lang="en-US" b="1" u="sng" dirty="0">
                <a:solidFill>
                  <a:srgbClr val="0070C0"/>
                </a:solidFill>
              </a:rPr>
              <a:t>… </a:t>
            </a:r>
            <a:r>
              <a:rPr lang="en-US" b="1" u="sng" dirty="0">
                <a:solidFill>
                  <a:schemeClr val="accent1">
                    <a:lumMod val="75000"/>
                  </a:schemeClr>
                </a:solidFill>
              </a:rPr>
              <a:t>Do  it Yourself</a:t>
            </a:r>
            <a:endParaRPr lang="en-US" dirty="0">
              <a:solidFill>
                <a:schemeClr val="accent1">
                  <a:lumMod val="75000"/>
                </a:schemeClr>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1199" y="1114051"/>
            <a:ext cx="10887530" cy="5606063"/>
          </a:xfrm>
        </p:spPr>
        <p:txBody>
          <a:bodyPr>
            <a:noAutofit/>
          </a:bodyPr>
          <a:lstStyle/>
          <a:p>
            <a:pPr marL="0" indent="0" algn="just">
              <a:lnSpc>
                <a:spcPct val="120000"/>
              </a:lnSpc>
              <a:buNone/>
            </a:pPr>
            <a:r>
              <a:rPr lang="en-US" sz="1800" b="1" i="0" u="none" strike="noStrike" baseline="0" dirty="0"/>
              <a:t>Counting Internet Addresses </a:t>
            </a:r>
            <a:r>
              <a:rPr lang="en-US" sz="1800" b="0" i="0" u="none" strike="noStrike" baseline="0" dirty="0"/>
              <a:t>In the Internet, which is made up of interconnected physical networks of computers, each computer (or more precisely, each network connection of a computer) is assigned an </a:t>
            </a:r>
            <a:r>
              <a:rPr lang="en-US" sz="1800" b="0" i="1" u="none" strike="noStrike" baseline="0" dirty="0"/>
              <a:t>Internet address</a:t>
            </a:r>
            <a:r>
              <a:rPr lang="en-US" sz="1800" b="0" i="0" u="none" strike="noStrike" baseline="0" dirty="0"/>
              <a:t>. In Version 4 of the Internet Protocol (IPv4), now in use, </a:t>
            </a:r>
            <a:r>
              <a:rPr lang="en-US" sz="1800" b="0" i="0" u="none" strike="noStrike" baseline="0" dirty="0">
                <a:solidFill>
                  <a:srgbClr val="000000"/>
                </a:solidFill>
              </a:rPr>
              <a:t>an address is a string of 32 bits. It begins with a </a:t>
            </a:r>
            <a:r>
              <a:rPr lang="en-US" sz="1800" b="0" i="1" u="none" strike="noStrike" baseline="0" dirty="0">
                <a:solidFill>
                  <a:srgbClr val="000000"/>
                </a:solidFill>
              </a:rPr>
              <a:t>network number </a:t>
            </a:r>
            <a:r>
              <a:rPr lang="en-US" sz="1800" b="0" i="0" u="none" strike="noStrike" baseline="0" dirty="0">
                <a:solidFill>
                  <a:srgbClr val="000000"/>
                </a:solidFill>
              </a:rPr>
              <a:t>(</a:t>
            </a:r>
            <a:r>
              <a:rPr lang="en-US" sz="1800" b="0" i="1" u="none" strike="noStrike" baseline="0" dirty="0" err="1">
                <a:solidFill>
                  <a:srgbClr val="000000"/>
                </a:solidFill>
              </a:rPr>
              <a:t>netid</a:t>
            </a:r>
            <a:r>
              <a:rPr lang="en-US" sz="1800" b="0" i="1" u="none" strike="noStrike" baseline="0" dirty="0">
                <a:solidFill>
                  <a:srgbClr val="000000"/>
                </a:solidFill>
              </a:rPr>
              <a:t> </a:t>
            </a:r>
            <a:r>
              <a:rPr lang="en-US" sz="1800" b="0" i="0" u="none" strike="noStrike" baseline="0" dirty="0">
                <a:solidFill>
                  <a:srgbClr val="000000"/>
                </a:solidFill>
              </a:rPr>
              <a:t>). The </a:t>
            </a:r>
            <a:r>
              <a:rPr lang="en-US" sz="1800" b="0" i="0" u="none" strike="noStrike" baseline="0" dirty="0" err="1">
                <a:solidFill>
                  <a:srgbClr val="000000"/>
                </a:solidFill>
              </a:rPr>
              <a:t>netid</a:t>
            </a:r>
            <a:r>
              <a:rPr lang="en-US" sz="1800" b="0" i="0" u="none" strike="noStrike" baseline="0" dirty="0">
                <a:solidFill>
                  <a:srgbClr val="000000"/>
                </a:solidFill>
              </a:rPr>
              <a:t> is followed by a </a:t>
            </a:r>
            <a:r>
              <a:rPr lang="en-US" sz="1800" b="0" i="1" u="none" strike="noStrike" baseline="0" dirty="0">
                <a:solidFill>
                  <a:srgbClr val="000000"/>
                </a:solidFill>
              </a:rPr>
              <a:t>host number </a:t>
            </a:r>
            <a:r>
              <a:rPr lang="en-US" sz="1800" b="0" i="0" u="none" strike="noStrike" baseline="0" dirty="0">
                <a:solidFill>
                  <a:srgbClr val="000000"/>
                </a:solidFill>
              </a:rPr>
              <a:t>(</a:t>
            </a:r>
            <a:r>
              <a:rPr lang="en-US" sz="1800" b="0" i="1" u="none" strike="noStrike" baseline="0" dirty="0" err="1">
                <a:solidFill>
                  <a:srgbClr val="000000"/>
                </a:solidFill>
              </a:rPr>
              <a:t>hostid</a:t>
            </a:r>
            <a:r>
              <a:rPr lang="en-US" sz="1800" b="0" i="1" u="none" strike="noStrike" baseline="0" dirty="0">
                <a:solidFill>
                  <a:srgbClr val="000000"/>
                </a:solidFill>
              </a:rPr>
              <a:t> </a:t>
            </a:r>
            <a:r>
              <a:rPr lang="en-US" sz="1800" b="0" i="0" u="none" strike="noStrike" baseline="0" dirty="0">
                <a:solidFill>
                  <a:srgbClr val="000000"/>
                </a:solidFill>
              </a:rPr>
              <a:t>), which identifies a computer as a member of a particular network. Three forms of addresses are used, with different numbers of bits used for </a:t>
            </a:r>
            <a:r>
              <a:rPr lang="en-US" sz="1800" b="0" i="0" u="none" strike="noStrike" baseline="0" dirty="0" err="1">
                <a:solidFill>
                  <a:srgbClr val="000000"/>
                </a:solidFill>
              </a:rPr>
              <a:t>netids</a:t>
            </a:r>
            <a:r>
              <a:rPr lang="en-US" sz="1800" b="0" i="0" u="none" strike="noStrike" baseline="0" dirty="0">
                <a:solidFill>
                  <a:srgbClr val="000000"/>
                </a:solidFill>
              </a:rPr>
              <a:t> and </a:t>
            </a:r>
            <a:r>
              <a:rPr lang="en-US" sz="1800" b="0" i="0" u="none" strike="noStrike" baseline="0" dirty="0" err="1">
                <a:solidFill>
                  <a:srgbClr val="000000"/>
                </a:solidFill>
              </a:rPr>
              <a:t>hostids</a:t>
            </a:r>
            <a:r>
              <a:rPr lang="en-US" sz="1800" b="0" i="0" u="none" strike="noStrike" baseline="0" dirty="0">
                <a:solidFill>
                  <a:srgbClr val="000000"/>
                </a:solidFill>
              </a:rPr>
              <a:t>. </a:t>
            </a:r>
            <a:r>
              <a:rPr lang="en-US" sz="1800" b="1" i="0" u="none" strike="noStrike" baseline="0" dirty="0">
                <a:solidFill>
                  <a:srgbClr val="000000"/>
                </a:solidFill>
              </a:rPr>
              <a:t>Class A addresses</a:t>
            </a:r>
            <a:r>
              <a:rPr lang="en-US" sz="1800" b="0" i="0" u="none" strike="noStrike" baseline="0" dirty="0">
                <a:solidFill>
                  <a:srgbClr val="000000"/>
                </a:solidFill>
              </a:rPr>
              <a:t>, used for the largest networks, consist of 0, followed by a 7-bit </a:t>
            </a:r>
            <a:r>
              <a:rPr lang="en-US" sz="1800" b="0" i="0" u="none" strike="noStrike" baseline="0" dirty="0" err="1">
                <a:solidFill>
                  <a:srgbClr val="000000"/>
                </a:solidFill>
              </a:rPr>
              <a:t>netid</a:t>
            </a:r>
            <a:r>
              <a:rPr lang="en-US" sz="1800" b="0" i="0" u="none" strike="noStrike" baseline="0" dirty="0">
                <a:solidFill>
                  <a:srgbClr val="000000"/>
                </a:solidFill>
              </a:rPr>
              <a:t> and a 24-bit </a:t>
            </a:r>
            <a:r>
              <a:rPr lang="en-US" sz="1800" b="0" i="0" u="none" strike="noStrike" baseline="0" dirty="0" err="1">
                <a:solidFill>
                  <a:srgbClr val="000000"/>
                </a:solidFill>
              </a:rPr>
              <a:t>hostid</a:t>
            </a:r>
            <a:r>
              <a:rPr lang="en-US" sz="1800" b="0" i="0" u="none" strike="noStrike" baseline="0" dirty="0">
                <a:solidFill>
                  <a:srgbClr val="000000"/>
                </a:solidFill>
              </a:rPr>
              <a:t>. </a:t>
            </a:r>
            <a:r>
              <a:rPr lang="en-US" sz="1800" b="1" i="0" u="none" strike="noStrike" baseline="0" dirty="0">
                <a:solidFill>
                  <a:srgbClr val="000000"/>
                </a:solidFill>
              </a:rPr>
              <a:t>Class B addresses</a:t>
            </a:r>
            <a:r>
              <a:rPr lang="en-US" sz="1800" b="0" i="0" u="none" strike="noStrike" baseline="0" dirty="0">
                <a:solidFill>
                  <a:srgbClr val="000000"/>
                </a:solidFill>
              </a:rPr>
              <a:t>, used for medium-sized networks, consist of 10, followed by a 14-bit </a:t>
            </a:r>
            <a:r>
              <a:rPr lang="en-US" sz="1800" b="0" i="0" u="none" strike="noStrike" baseline="0" dirty="0" err="1">
                <a:solidFill>
                  <a:srgbClr val="000000"/>
                </a:solidFill>
              </a:rPr>
              <a:t>netid</a:t>
            </a:r>
            <a:r>
              <a:rPr lang="en-US" sz="1800" b="0" i="0" u="none" strike="noStrike" baseline="0" dirty="0">
                <a:solidFill>
                  <a:srgbClr val="000000"/>
                </a:solidFill>
              </a:rPr>
              <a:t> and a 16-bit </a:t>
            </a:r>
            <a:r>
              <a:rPr lang="en-US" sz="1800" b="0" i="0" u="none" strike="noStrike" baseline="0" dirty="0" err="1">
                <a:solidFill>
                  <a:srgbClr val="000000"/>
                </a:solidFill>
              </a:rPr>
              <a:t>hostid</a:t>
            </a:r>
            <a:r>
              <a:rPr lang="en-US" sz="1800" b="0" i="0" u="none" strike="noStrike" baseline="0" dirty="0">
                <a:solidFill>
                  <a:srgbClr val="000000"/>
                </a:solidFill>
              </a:rPr>
              <a:t>. </a:t>
            </a:r>
            <a:r>
              <a:rPr lang="en-US" sz="1800" b="1" i="0" u="none" strike="noStrike" baseline="0" dirty="0">
                <a:solidFill>
                  <a:srgbClr val="000000"/>
                </a:solidFill>
              </a:rPr>
              <a:t>Class C addresses</a:t>
            </a:r>
            <a:r>
              <a:rPr lang="en-US" sz="1800" b="0" i="0" u="none" strike="noStrike" baseline="0" dirty="0">
                <a:solidFill>
                  <a:srgbClr val="000000"/>
                </a:solidFill>
              </a:rPr>
              <a:t>, used for the smallest networks, consist of 110, followed by a 21-bit </a:t>
            </a:r>
            <a:r>
              <a:rPr lang="en-US" sz="1800" b="0" i="0" u="none" strike="noStrike" baseline="0" dirty="0" err="1">
                <a:solidFill>
                  <a:srgbClr val="000000"/>
                </a:solidFill>
              </a:rPr>
              <a:t>netid</a:t>
            </a:r>
            <a:r>
              <a:rPr lang="en-US" sz="1800" b="0" i="0" u="none" strike="noStrike" baseline="0" dirty="0">
                <a:solidFill>
                  <a:srgbClr val="000000"/>
                </a:solidFill>
              </a:rPr>
              <a:t> and an 8-bit </a:t>
            </a:r>
            <a:r>
              <a:rPr lang="en-US" sz="1800" b="0" i="0" u="none" strike="noStrike" baseline="0" dirty="0" err="1">
                <a:solidFill>
                  <a:srgbClr val="000000"/>
                </a:solidFill>
              </a:rPr>
              <a:t>hostid</a:t>
            </a:r>
            <a:r>
              <a:rPr lang="en-US" sz="1800" b="0" i="0" u="none" strike="noStrike" baseline="0" dirty="0">
                <a:solidFill>
                  <a:srgbClr val="000000"/>
                </a:solidFill>
              </a:rPr>
              <a:t>. There are several restrictions on addresses because of special uses: 1111111 is not available as the </a:t>
            </a:r>
            <a:r>
              <a:rPr lang="en-US" sz="1800" b="0" i="0" u="none" strike="noStrike" baseline="0" dirty="0" err="1">
                <a:solidFill>
                  <a:srgbClr val="000000"/>
                </a:solidFill>
              </a:rPr>
              <a:t>netid</a:t>
            </a:r>
            <a:r>
              <a:rPr lang="en-US" sz="1800" b="0" i="0" u="none" strike="noStrike" baseline="0" dirty="0">
                <a:solidFill>
                  <a:srgbClr val="000000"/>
                </a:solidFill>
              </a:rPr>
              <a:t> of a Class A network, and the </a:t>
            </a:r>
            <a:r>
              <a:rPr lang="en-US" sz="1800" b="0" i="0" u="none" strike="noStrike" baseline="0" dirty="0" err="1">
                <a:solidFill>
                  <a:srgbClr val="000000"/>
                </a:solidFill>
              </a:rPr>
              <a:t>hostids</a:t>
            </a:r>
            <a:r>
              <a:rPr lang="en-US" sz="1800" b="0" i="0" u="none" strike="noStrike" baseline="0" dirty="0">
                <a:solidFill>
                  <a:srgbClr val="000000"/>
                </a:solidFill>
              </a:rPr>
              <a:t> consisting of all 0s and all 1s are not available for use in any network. A computer on the Internet has either a Class A, a Class B, or a Class C address. (Besides Class A, B, and C addresses, there are also Class D addresses, reserved for use in multicasting when multiple computers are addressed at a single time, consisting of 1110 followed by 28 bits, and Class E addresses, reserved for future use, consisting of 11110 followed by 27 bits. Neither Class D nor Class E addresses are assigned as the IPv4 address of a computer on the Internet.)</a:t>
            </a:r>
          </a:p>
          <a:p>
            <a:pPr marL="0" indent="0" algn="just">
              <a:lnSpc>
                <a:spcPct val="120000"/>
              </a:lnSpc>
              <a:buNone/>
            </a:pPr>
            <a:r>
              <a:rPr lang="en-US" sz="1800" b="1" i="0" u="none" strike="noStrike" baseline="0" dirty="0"/>
              <a:t>The lack of available IPv4 address has become a crisis!</a:t>
            </a:r>
          </a:p>
          <a:p>
            <a:pPr marL="0" indent="0" algn="just">
              <a:buNone/>
            </a:pPr>
            <a:endParaRPr lang="en-US" sz="1800" dirty="0"/>
          </a:p>
        </p:txBody>
      </p:sp>
      <p:sp>
        <p:nvSpPr>
          <p:cNvPr id="4" name="Title 1">
            <a:extLst>
              <a:ext uri="{FF2B5EF4-FFF2-40B4-BE49-F238E27FC236}">
                <a16:creationId xmlns:a16="http://schemas.microsoft.com/office/drawing/2014/main" id="{ECFD2115-6D48-4484-9085-A166166128E0}"/>
              </a:ext>
            </a:extLst>
          </p:cNvPr>
          <p:cNvSpPr>
            <a:spLocks noGrp="1"/>
          </p:cNvSpPr>
          <p:nvPr>
            <p:ph type="title"/>
          </p:nvPr>
        </p:nvSpPr>
        <p:spPr>
          <a:xfrm>
            <a:off x="593271" y="0"/>
            <a:ext cx="10515600" cy="1114051"/>
          </a:xfrm>
        </p:spPr>
        <p:txBody>
          <a:bodyPr/>
          <a:lstStyle/>
          <a:p>
            <a:pPr algn="ctr"/>
            <a:r>
              <a:rPr lang="en-US" b="1" u="sng" dirty="0" err="1">
                <a:solidFill>
                  <a:srgbClr val="0070C0"/>
                </a:solidFill>
              </a:rPr>
              <a:t>Excercise</a:t>
            </a:r>
            <a:r>
              <a:rPr lang="en-US" b="1" u="sng" dirty="0">
                <a:solidFill>
                  <a:srgbClr val="0070C0"/>
                </a:solidFill>
              </a:rPr>
              <a:t>… </a:t>
            </a:r>
            <a:r>
              <a:rPr lang="en-US" b="1" u="sng" dirty="0">
                <a:solidFill>
                  <a:schemeClr val="accent1">
                    <a:lumMod val="75000"/>
                  </a:schemeClr>
                </a:solidFill>
              </a:rPr>
              <a:t>Do  it Yourself</a:t>
            </a:r>
            <a:endParaRPr lang="en-US" dirty="0">
              <a:solidFill>
                <a:schemeClr val="accent1">
                  <a:lumMod val="75000"/>
                </a:schemeClr>
              </a:solidFill>
            </a:endParaRPr>
          </a:p>
        </p:txBody>
      </p:sp>
      <p:sp>
        <p:nvSpPr>
          <p:cNvPr id="5" name="TextBox 4">
            <a:extLst>
              <a:ext uri="{FF2B5EF4-FFF2-40B4-BE49-F238E27FC236}">
                <a16:creationId xmlns:a16="http://schemas.microsoft.com/office/drawing/2014/main" id="{0B251E98-CF10-48E9-A7D1-3387073F4C20}"/>
              </a:ext>
            </a:extLst>
          </p:cNvPr>
          <p:cNvSpPr txBox="1"/>
          <p:nvPr/>
        </p:nvSpPr>
        <p:spPr>
          <a:xfrm>
            <a:off x="9303657" y="6350782"/>
            <a:ext cx="2177144" cy="369332"/>
          </a:xfrm>
          <a:prstGeom prst="rect">
            <a:avLst/>
          </a:prstGeom>
          <a:noFill/>
        </p:spPr>
        <p:txBody>
          <a:bodyPr wrap="square">
            <a:spAutoFit/>
          </a:bodyPr>
          <a:lstStyle/>
          <a:p>
            <a:pPr algn="just"/>
            <a:r>
              <a:rPr lang="en-US" sz="1800" b="1" dirty="0">
                <a:solidFill>
                  <a:srgbClr val="FF0000"/>
                </a:solidFill>
              </a:rPr>
              <a:t>Next Page</a:t>
            </a:r>
          </a:p>
        </p:txBody>
      </p:sp>
    </p:spTree>
    <p:extLst>
      <p:ext uri="{BB962C8B-B14F-4D97-AF65-F5344CB8AC3E}">
        <p14:creationId xmlns:p14="http://schemas.microsoft.com/office/powerpoint/2010/main" val="9228811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3B530C-19C5-4129-8A20-2FAC02887FBD}"/>
              </a:ext>
            </a:extLst>
          </p:cNvPr>
          <p:cNvSpPr>
            <a:spLocks noGrp="1"/>
          </p:cNvSpPr>
          <p:nvPr>
            <p:ph idx="1"/>
          </p:nvPr>
        </p:nvSpPr>
        <p:spPr>
          <a:xfrm>
            <a:off x="344859" y="1114052"/>
            <a:ext cx="11012424" cy="1905000"/>
          </a:xfrm>
        </p:spPr>
        <p:txBody>
          <a:bodyPr>
            <a:normAutofit/>
          </a:bodyPr>
          <a:lstStyle/>
          <a:p>
            <a:pPr marL="0" indent="0" algn="just">
              <a:lnSpc>
                <a:spcPct val="120000"/>
              </a:lnSpc>
              <a:buNone/>
            </a:pPr>
            <a:r>
              <a:rPr lang="en-US" sz="2000" b="0" i="0" u="none" strike="noStrike" baseline="0" dirty="0">
                <a:solidFill>
                  <a:srgbClr val="000000"/>
                </a:solidFill>
              </a:rPr>
              <a:t>Figure 1 illustrates IPv4 addressing. (Limitations on the number of Class A and Class B </a:t>
            </a:r>
            <a:r>
              <a:rPr lang="en-US" sz="2000" b="0" i="0" u="none" strike="noStrike" baseline="0" dirty="0" err="1">
                <a:solidFill>
                  <a:srgbClr val="000000"/>
                </a:solidFill>
              </a:rPr>
              <a:t>netids</a:t>
            </a:r>
            <a:r>
              <a:rPr lang="en-US" sz="2000" b="0" i="0" u="none" strike="noStrike" baseline="0" dirty="0">
                <a:solidFill>
                  <a:srgbClr val="000000"/>
                </a:solidFill>
              </a:rPr>
              <a:t> have made IPv4 addressing inadequate; IPv6, a new version of IP, uses 128-bit addresses to solve this problem.)</a:t>
            </a:r>
          </a:p>
          <a:p>
            <a:pPr marL="0" indent="0" algn="just">
              <a:lnSpc>
                <a:spcPct val="120000"/>
              </a:lnSpc>
              <a:buNone/>
            </a:pPr>
            <a:r>
              <a:rPr lang="en-US" sz="2000" b="1" i="0" u="none" strike="noStrike" baseline="0" dirty="0">
                <a:solidFill>
                  <a:srgbClr val="000000"/>
                </a:solidFill>
              </a:rPr>
              <a:t>How many different IPv4 addresses are available for computers on the Internet?</a:t>
            </a:r>
            <a:endParaRPr lang="en-PK" sz="2000" b="1" dirty="0"/>
          </a:p>
          <a:p>
            <a:endParaRPr lang="en-US" sz="2000" dirty="0"/>
          </a:p>
        </p:txBody>
      </p:sp>
      <p:sp>
        <p:nvSpPr>
          <p:cNvPr id="4" name="Title 1">
            <a:extLst>
              <a:ext uri="{FF2B5EF4-FFF2-40B4-BE49-F238E27FC236}">
                <a16:creationId xmlns:a16="http://schemas.microsoft.com/office/drawing/2014/main" id="{1AE18023-0BB7-4DB3-9E6A-730EB66F19FA}"/>
              </a:ext>
            </a:extLst>
          </p:cNvPr>
          <p:cNvSpPr>
            <a:spLocks noGrp="1"/>
          </p:cNvSpPr>
          <p:nvPr>
            <p:ph type="title"/>
          </p:nvPr>
        </p:nvSpPr>
        <p:spPr>
          <a:xfrm>
            <a:off x="593271" y="0"/>
            <a:ext cx="10515600" cy="1114051"/>
          </a:xfrm>
        </p:spPr>
        <p:txBody>
          <a:bodyPr/>
          <a:lstStyle/>
          <a:p>
            <a:pPr algn="ctr"/>
            <a:r>
              <a:rPr lang="en-US" b="1" u="sng" dirty="0" err="1">
                <a:solidFill>
                  <a:srgbClr val="0070C0"/>
                </a:solidFill>
              </a:rPr>
              <a:t>Excercise</a:t>
            </a:r>
            <a:r>
              <a:rPr lang="en-US" b="1" u="sng" dirty="0">
                <a:solidFill>
                  <a:srgbClr val="0070C0"/>
                </a:solidFill>
              </a:rPr>
              <a:t>… </a:t>
            </a:r>
            <a:r>
              <a:rPr lang="en-US" b="1" u="sng" dirty="0">
                <a:solidFill>
                  <a:schemeClr val="accent1">
                    <a:lumMod val="75000"/>
                  </a:schemeClr>
                </a:solidFill>
              </a:rPr>
              <a:t>Do  it Yourself… </a:t>
            </a:r>
            <a:r>
              <a:rPr lang="en-US" b="1" u="sng" dirty="0">
                <a:solidFill>
                  <a:srgbClr val="00B050"/>
                </a:solidFill>
              </a:rPr>
              <a:t>Continued..</a:t>
            </a:r>
            <a:endParaRPr lang="en-US" dirty="0">
              <a:solidFill>
                <a:srgbClr val="00B050"/>
              </a:solidFill>
            </a:endParaRPr>
          </a:p>
        </p:txBody>
      </p:sp>
      <p:pic>
        <p:nvPicPr>
          <p:cNvPr id="5" name="Picture 4">
            <a:extLst>
              <a:ext uri="{FF2B5EF4-FFF2-40B4-BE49-F238E27FC236}">
                <a16:creationId xmlns:a16="http://schemas.microsoft.com/office/drawing/2014/main" id="{F101CF0A-F58B-4F2D-85CC-A7E8CEC658B2}"/>
              </a:ext>
            </a:extLst>
          </p:cNvPr>
          <p:cNvPicPr>
            <a:picLocks noChangeAspect="1"/>
          </p:cNvPicPr>
          <p:nvPr/>
        </p:nvPicPr>
        <p:blipFill>
          <a:blip r:embed="rId2"/>
          <a:stretch>
            <a:fillRect/>
          </a:stretch>
        </p:blipFill>
        <p:spPr>
          <a:xfrm>
            <a:off x="834717" y="2757794"/>
            <a:ext cx="10601739" cy="3810000"/>
          </a:xfrm>
          <a:prstGeom prst="rect">
            <a:avLst/>
          </a:prstGeom>
        </p:spPr>
      </p:pic>
    </p:spTree>
    <p:extLst>
      <p:ext uri="{BB962C8B-B14F-4D97-AF65-F5344CB8AC3E}">
        <p14:creationId xmlns:p14="http://schemas.microsoft.com/office/powerpoint/2010/main" val="17991440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643FC-3359-422D-9B07-A891410309C2}"/>
              </a:ext>
            </a:extLst>
          </p:cNvPr>
          <p:cNvSpPr>
            <a:spLocks noGrp="1"/>
          </p:cNvSpPr>
          <p:nvPr>
            <p:ph type="title"/>
          </p:nvPr>
        </p:nvSpPr>
        <p:spPr>
          <a:xfrm>
            <a:off x="658906" y="308563"/>
            <a:ext cx="10515600" cy="1114051"/>
          </a:xfrm>
        </p:spPr>
        <p:txBody>
          <a:bodyPr>
            <a:normAutofit fontScale="90000"/>
          </a:bodyPr>
          <a:lstStyle/>
          <a:p>
            <a:pPr algn="ctr"/>
            <a:r>
              <a:rPr lang="en-US" b="1" u="sng" dirty="0">
                <a:solidFill>
                  <a:srgbClr val="0070C0"/>
                </a:solidFill>
              </a:rPr>
              <a:t>Practice Questions … </a:t>
            </a:r>
            <a:r>
              <a:rPr lang="en-US" b="1" u="sng" dirty="0">
                <a:solidFill>
                  <a:schemeClr val="accent1">
                    <a:lumMod val="75000"/>
                  </a:schemeClr>
                </a:solidFill>
              </a:rPr>
              <a:t>Do  it Yourself</a:t>
            </a:r>
            <a:br>
              <a:rPr lang="en-US" b="1" u="sng" dirty="0">
                <a:solidFill>
                  <a:schemeClr val="accent1">
                    <a:lumMod val="75000"/>
                  </a:schemeClr>
                </a:solidFill>
              </a:rPr>
            </a:br>
            <a:r>
              <a:rPr lang="en-US" b="1" u="sng" dirty="0">
                <a:solidFill>
                  <a:srgbClr val="00B050"/>
                </a:solidFill>
              </a:rPr>
              <a:t>Bit String Problems</a:t>
            </a:r>
            <a:endParaRPr lang="en-US" dirty="0">
              <a:solidFill>
                <a:srgbClr val="00B050"/>
              </a:solidFill>
            </a:endParaRPr>
          </a:p>
        </p:txBody>
      </p:sp>
      <p:sp>
        <p:nvSpPr>
          <p:cNvPr id="3" name="Content Placeholder 2">
            <a:extLst>
              <a:ext uri="{FF2B5EF4-FFF2-40B4-BE49-F238E27FC236}">
                <a16:creationId xmlns:a16="http://schemas.microsoft.com/office/drawing/2014/main" id="{DB6527E4-AB40-4FD1-9D87-0F2AF8FD6319}"/>
              </a:ext>
            </a:extLst>
          </p:cNvPr>
          <p:cNvSpPr>
            <a:spLocks noGrp="1"/>
          </p:cNvSpPr>
          <p:nvPr>
            <p:ph idx="1"/>
          </p:nvPr>
        </p:nvSpPr>
        <p:spPr>
          <a:xfrm>
            <a:off x="658906" y="1567757"/>
            <a:ext cx="10993598" cy="4818529"/>
          </a:xfrm>
        </p:spPr>
        <p:txBody>
          <a:bodyPr>
            <a:normAutofit/>
          </a:bodyPr>
          <a:lstStyle/>
          <a:p>
            <a:pPr>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How many unique bit-strings of length </a:t>
            </a:r>
            <a:r>
              <a:rPr lang="en-US" sz="2400" dirty="0">
                <a:solidFill>
                  <a:srgbClr val="B31591"/>
                </a:solidFill>
                <a:latin typeface="Cambria Math" panose="02040503050406030204" pitchFamily="18" charset="0"/>
                <a:ea typeface="Cambria Math" panose="02040503050406030204" pitchFamily="18" charset="0"/>
              </a:rPr>
              <a:t>2 </a:t>
            </a:r>
            <a:r>
              <a:rPr lang="en-US" sz="2400" dirty="0">
                <a:latin typeface="Cambria Math" panose="02040503050406030204" pitchFamily="18" charset="0"/>
                <a:ea typeface="Cambria Math" panose="02040503050406030204" pitchFamily="18" charset="0"/>
              </a:rPr>
              <a:t>are possible?</a:t>
            </a:r>
          </a:p>
          <a:p>
            <a:pPr>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How many unique bit-strings of length </a:t>
            </a:r>
            <a:r>
              <a:rPr lang="en-US" sz="2400" dirty="0">
                <a:solidFill>
                  <a:srgbClr val="B31591"/>
                </a:solidFill>
                <a:latin typeface="Cambria Math" panose="02040503050406030204" pitchFamily="18" charset="0"/>
                <a:ea typeface="Cambria Math" panose="02040503050406030204" pitchFamily="18" charset="0"/>
              </a:rPr>
              <a:t>5</a:t>
            </a:r>
            <a:r>
              <a:rPr lang="en-US" sz="2400" dirty="0">
                <a:latin typeface="Cambria Math" panose="02040503050406030204" pitchFamily="18" charset="0"/>
                <a:ea typeface="Cambria Math" panose="02040503050406030204" pitchFamily="18" charset="0"/>
              </a:rPr>
              <a:t> are possible?</a:t>
            </a:r>
          </a:p>
          <a:p>
            <a:pPr>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How many unique bit-strings of length </a:t>
            </a:r>
            <a:r>
              <a:rPr lang="en-US" sz="2400" dirty="0">
                <a:solidFill>
                  <a:srgbClr val="B31591"/>
                </a:solidFill>
                <a:latin typeface="Cambria Math" panose="02040503050406030204" pitchFamily="18" charset="0"/>
                <a:ea typeface="Cambria Math" panose="02040503050406030204" pitchFamily="18" charset="0"/>
              </a:rPr>
              <a:t>10</a:t>
            </a:r>
            <a:r>
              <a:rPr lang="en-US" sz="2400" dirty="0">
                <a:latin typeface="Cambria Math" panose="02040503050406030204" pitchFamily="18" charset="0"/>
                <a:ea typeface="Cambria Math" panose="02040503050406030204" pitchFamily="18" charset="0"/>
              </a:rPr>
              <a:t> are possible?</a:t>
            </a:r>
          </a:p>
          <a:p>
            <a:pPr>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How many unique bit-strings of length </a:t>
            </a:r>
            <a:r>
              <a:rPr lang="en-US" sz="2400" b="1" dirty="0">
                <a:solidFill>
                  <a:srgbClr val="B31591"/>
                </a:solidFill>
                <a:latin typeface="Cambria Math" panose="02040503050406030204" pitchFamily="18" charset="0"/>
                <a:ea typeface="Cambria Math" panose="02040503050406030204" pitchFamily="18" charset="0"/>
              </a:rPr>
              <a:t>N</a:t>
            </a:r>
            <a:r>
              <a:rPr lang="en-US" sz="2400" dirty="0">
                <a:latin typeface="Cambria Math" panose="02040503050406030204" pitchFamily="18" charset="0"/>
                <a:ea typeface="Cambria Math" panose="02040503050406030204" pitchFamily="18" charset="0"/>
              </a:rPr>
              <a:t> are possible?</a:t>
            </a:r>
          </a:p>
          <a:p>
            <a:pPr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How many unique bit-strings of length </a:t>
            </a:r>
            <a:r>
              <a:rPr lang="en-US" sz="2400" dirty="0">
                <a:solidFill>
                  <a:srgbClr val="B31591"/>
                </a:solidFill>
                <a:latin typeface="Cambria Math" panose="02040503050406030204" pitchFamily="18" charset="0"/>
                <a:ea typeface="Cambria Math" panose="02040503050406030204" pitchFamily="18" charset="0"/>
              </a:rPr>
              <a:t>10</a:t>
            </a:r>
            <a:r>
              <a:rPr lang="en-US" sz="2400" dirty="0">
                <a:latin typeface="Cambria Math" panose="02040503050406030204" pitchFamily="18" charset="0"/>
                <a:ea typeface="Cambria Math" panose="02040503050406030204" pitchFamily="18" charset="0"/>
              </a:rPr>
              <a:t> that start with </a:t>
            </a:r>
            <a:r>
              <a:rPr lang="en-US" sz="2400" dirty="0">
                <a:solidFill>
                  <a:srgbClr val="B31591"/>
                </a:solidFill>
                <a:latin typeface="Cambria Math" panose="02040503050406030204" pitchFamily="18" charset="0"/>
                <a:ea typeface="Cambria Math" panose="02040503050406030204" pitchFamily="18" charset="0"/>
              </a:rPr>
              <a:t>00</a:t>
            </a:r>
            <a:r>
              <a:rPr lang="en-US" sz="2400" dirty="0">
                <a:latin typeface="Cambria Math" panose="02040503050406030204" pitchFamily="18" charset="0"/>
                <a:ea typeface="Cambria Math" panose="02040503050406030204" pitchFamily="18" charset="0"/>
              </a:rPr>
              <a:t> are possible?</a:t>
            </a:r>
          </a:p>
          <a:p>
            <a:pPr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How many unique bit-strings of length </a:t>
            </a:r>
            <a:r>
              <a:rPr lang="en-US" sz="2400" dirty="0">
                <a:solidFill>
                  <a:srgbClr val="B31591"/>
                </a:solidFill>
                <a:latin typeface="Cambria Math" panose="02040503050406030204" pitchFamily="18" charset="0"/>
                <a:ea typeface="Cambria Math" panose="02040503050406030204" pitchFamily="18" charset="0"/>
              </a:rPr>
              <a:t>10</a:t>
            </a:r>
            <a:r>
              <a:rPr lang="en-US" sz="2400" dirty="0">
                <a:latin typeface="Cambria Math" panose="02040503050406030204" pitchFamily="18" charset="0"/>
                <a:ea typeface="Cambria Math" panose="02040503050406030204" pitchFamily="18" charset="0"/>
              </a:rPr>
              <a:t> that end on </a:t>
            </a:r>
            <a:r>
              <a:rPr lang="en-US" sz="2400" dirty="0">
                <a:solidFill>
                  <a:srgbClr val="B31591"/>
                </a:solidFill>
                <a:latin typeface="Cambria Math" panose="02040503050406030204" pitchFamily="18" charset="0"/>
                <a:ea typeface="Cambria Math" panose="02040503050406030204" pitchFamily="18" charset="0"/>
              </a:rPr>
              <a:t>111</a:t>
            </a:r>
            <a:r>
              <a:rPr lang="en-US" sz="2400" dirty="0">
                <a:latin typeface="Cambria Math" panose="02040503050406030204" pitchFamily="18" charset="0"/>
                <a:ea typeface="Cambria Math" panose="02040503050406030204" pitchFamily="18" charset="0"/>
              </a:rPr>
              <a:t> are possible?</a:t>
            </a:r>
          </a:p>
          <a:p>
            <a:pPr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How many unique bit-strings of length </a:t>
            </a:r>
            <a:r>
              <a:rPr lang="en-US" sz="2400" dirty="0">
                <a:solidFill>
                  <a:srgbClr val="B31591"/>
                </a:solidFill>
                <a:latin typeface="Cambria Math" panose="02040503050406030204" pitchFamily="18" charset="0"/>
                <a:ea typeface="Cambria Math" panose="02040503050406030204" pitchFamily="18" charset="0"/>
              </a:rPr>
              <a:t>10</a:t>
            </a:r>
            <a:r>
              <a:rPr lang="en-US" sz="2400" dirty="0">
                <a:latin typeface="Cambria Math" panose="02040503050406030204" pitchFamily="18" charset="0"/>
                <a:ea typeface="Cambria Math" panose="02040503050406030204" pitchFamily="18" charset="0"/>
              </a:rPr>
              <a:t> are possible that start on </a:t>
            </a:r>
            <a:r>
              <a:rPr lang="en-US" sz="2400" dirty="0">
                <a:solidFill>
                  <a:srgbClr val="B31591"/>
                </a:solidFill>
                <a:latin typeface="Cambria Math" panose="02040503050406030204" pitchFamily="18" charset="0"/>
                <a:ea typeface="Cambria Math" panose="02040503050406030204" pitchFamily="18" charset="0"/>
              </a:rPr>
              <a:t>00</a:t>
            </a:r>
            <a:r>
              <a:rPr lang="en-US" sz="2400" dirty="0">
                <a:latin typeface="Cambria Math" panose="02040503050406030204" pitchFamily="18" charset="0"/>
                <a:ea typeface="Cambria Math" panose="02040503050406030204" pitchFamily="18" charset="0"/>
              </a:rPr>
              <a:t> and end on </a:t>
            </a:r>
            <a:r>
              <a:rPr lang="en-US" sz="2400" dirty="0">
                <a:solidFill>
                  <a:srgbClr val="B31591"/>
                </a:solidFill>
                <a:latin typeface="Cambria Math" panose="02040503050406030204" pitchFamily="18" charset="0"/>
                <a:ea typeface="Cambria Math" panose="02040503050406030204" pitchFamily="18" charset="0"/>
              </a:rPr>
              <a:t>11</a:t>
            </a:r>
            <a:r>
              <a:rPr lang="en-US" sz="2400" dirty="0">
                <a:latin typeface="Cambria Math" panose="02040503050406030204" pitchFamily="18" charset="0"/>
                <a:ea typeface="Cambria Math" panose="02040503050406030204" pitchFamily="18" charset="0"/>
              </a:rPr>
              <a:t>?</a:t>
            </a:r>
          </a:p>
          <a:p>
            <a:pPr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How many unique bit-strings of length </a:t>
            </a:r>
            <a:r>
              <a:rPr lang="en-US" sz="2400" dirty="0">
                <a:solidFill>
                  <a:srgbClr val="B31591"/>
                </a:solidFill>
                <a:latin typeface="Cambria Math" panose="02040503050406030204" pitchFamily="18" charset="0"/>
                <a:ea typeface="Cambria Math" panose="02040503050406030204" pitchFamily="18" charset="0"/>
              </a:rPr>
              <a:t>10</a:t>
            </a:r>
            <a:r>
              <a:rPr lang="en-US" sz="2400" dirty="0">
                <a:latin typeface="Cambria Math" panose="02040503050406030204" pitchFamily="18" charset="0"/>
                <a:ea typeface="Cambria Math" panose="02040503050406030204" pitchFamily="18" charset="0"/>
              </a:rPr>
              <a:t> must contain substring </a:t>
            </a:r>
            <a:r>
              <a:rPr lang="en-US" sz="2400" dirty="0">
                <a:solidFill>
                  <a:srgbClr val="B31591"/>
                </a:solidFill>
                <a:latin typeface="Cambria Math" panose="02040503050406030204" pitchFamily="18" charset="0"/>
                <a:ea typeface="Cambria Math" panose="02040503050406030204" pitchFamily="18" charset="0"/>
              </a:rPr>
              <a:t>111</a:t>
            </a:r>
            <a:r>
              <a:rPr lang="en-US" sz="2400" dirty="0">
                <a:latin typeface="Cambria Math" panose="02040503050406030204" pitchFamily="18" charset="0"/>
                <a:ea typeface="Cambria Math" panose="02040503050406030204" pitchFamily="18" charset="0"/>
              </a:rPr>
              <a:t>?</a:t>
            </a:r>
          </a:p>
          <a:p>
            <a:pPr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How many unique bit-strings of length </a:t>
            </a:r>
            <a:r>
              <a:rPr lang="en-US" sz="2400" dirty="0">
                <a:solidFill>
                  <a:srgbClr val="B31591"/>
                </a:solidFill>
                <a:latin typeface="Cambria Math" panose="02040503050406030204" pitchFamily="18" charset="0"/>
                <a:ea typeface="Cambria Math" panose="02040503050406030204" pitchFamily="18" charset="0"/>
              </a:rPr>
              <a:t>10</a:t>
            </a:r>
            <a:r>
              <a:rPr lang="en-US" sz="2400" dirty="0">
                <a:latin typeface="Cambria Math" panose="02040503050406030204" pitchFamily="18" charset="0"/>
                <a:ea typeface="Cambria Math" panose="02040503050406030204" pitchFamily="18" charset="0"/>
              </a:rPr>
              <a:t> do not contain substring </a:t>
            </a:r>
            <a:r>
              <a:rPr lang="en-US" sz="2400" dirty="0">
                <a:solidFill>
                  <a:srgbClr val="B31591"/>
                </a:solidFill>
                <a:latin typeface="Cambria Math" panose="02040503050406030204" pitchFamily="18" charset="0"/>
                <a:ea typeface="Cambria Math" panose="02040503050406030204" pitchFamily="18" charset="0"/>
              </a:rPr>
              <a:t>111</a:t>
            </a:r>
            <a:r>
              <a:rPr lang="en-US" sz="2400" dirty="0">
                <a:latin typeface="Cambria Math" panose="02040503050406030204" pitchFamily="18" charset="0"/>
                <a:ea typeface="Cambria Math" panose="02040503050406030204" pitchFamily="18" charset="0"/>
              </a:rPr>
              <a:t>?</a:t>
            </a:r>
          </a:p>
          <a:p>
            <a:pPr algn="just">
              <a:buFont typeface="Wingdings" panose="05000000000000000000" pitchFamily="2" charset="2"/>
              <a:buChar char="ü"/>
            </a:pPr>
            <a:endParaRPr lang="en-US" sz="2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4281344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643FC-3359-422D-9B07-A891410309C2}"/>
              </a:ext>
            </a:extLst>
          </p:cNvPr>
          <p:cNvSpPr>
            <a:spLocks noGrp="1"/>
          </p:cNvSpPr>
          <p:nvPr>
            <p:ph type="title"/>
          </p:nvPr>
        </p:nvSpPr>
        <p:spPr>
          <a:xfrm>
            <a:off x="658906" y="304800"/>
            <a:ext cx="10515600" cy="1114051"/>
          </a:xfrm>
        </p:spPr>
        <p:txBody>
          <a:bodyPr>
            <a:normAutofit fontScale="90000"/>
          </a:bodyPr>
          <a:lstStyle/>
          <a:p>
            <a:pPr algn="ctr"/>
            <a:r>
              <a:rPr lang="en-US" b="1" u="sng" dirty="0">
                <a:solidFill>
                  <a:srgbClr val="0070C0"/>
                </a:solidFill>
              </a:rPr>
              <a:t>Practice Questions … </a:t>
            </a:r>
            <a:r>
              <a:rPr lang="en-US" b="1" u="sng" dirty="0">
                <a:solidFill>
                  <a:schemeClr val="accent1">
                    <a:lumMod val="75000"/>
                  </a:schemeClr>
                </a:solidFill>
              </a:rPr>
              <a:t>Do  it Yourself</a:t>
            </a:r>
            <a:br>
              <a:rPr lang="en-US" b="1" u="sng" dirty="0">
                <a:solidFill>
                  <a:schemeClr val="accent1">
                    <a:lumMod val="75000"/>
                  </a:schemeClr>
                </a:solidFill>
              </a:rPr>
            </a:br>
            <a:r>
              <a:rPr lang="en-US" b="1" u="sng" dirty="0">
                <a:solidFill>
                  <a:srgbClr val="00B050"/>
                </a:solidFill>
              </a:rPr>
              <a:t>Password Problems</a:t>
            </a:r>
            <a:endParaRPr lang="en-US" dirty="0">
              <a:solidFill>
                <a:srgbClr val="00B050"/>
              </a:solidFill>
            </a:endParaRPr>
          </a:p>
        </p:txBody>
      </p:sp>
      <p:sp>
        <p:nvSpPr>
          <p:cNvPr id="3" name="Content Placeholder 2">
            <a:extLst>
              <a:ext uri="{FF2B5EF4-FFF2-40B4-BE49-F238E27FC236}">
                <a16:creationId xmlns:a16="http://schemas.microsoft.com/office/drawing/2014/main" id="{DB6527E4-AB40-4FD1-9D87-0F2AF8FD6319}"/>
              </a:ext>
            </a:extLst>
          </p:cNvPr>
          <p:cNvSpPr>
            <a:spLocks noGrp="1"/>
          </p:cNvSpPr>
          <p:nvPr>
            <p:ph idx="1"/>
          </p:nvPr>
        </p:nvSpPr>
        <p:spPr>
          <a:xfrm>
            <a:off x="658906" y="1625814"/>
            <a:ext cx="10993598" cy="5432611"/>
          </a:xfrm>
        </p:spPr>
        <p:txBody>
          <a:bodyPr>
            <a:normAutofit/>
          </a:bodyPr>
          <a:lstStyle/>
          <a:p>
            <a:pPr algn="just">
              <a:buFont typeface="Wingdings" panose="05000000000000000000" pitchFamily="2" charset="2"/>
              <a:buChar char="q"/>
            </a:pPr>
            <a:r>
              <a:rPr lang="en-US" sz="2400" dirty="0">
                <a:latin typeface="Cambria Math" panose="02040503050406030204" pitchFamily="18" charset="0"/>
                <a:ea typeface="Cambria Math" panose="02040503050406030204" pitchFamily="18" charset="0"/>
              </a:rPr>
              <a:t>Each user on a computer system has a password, which is six characters long. Each character in the password is an uppercase letter or a digit. </a:t>
            </a:r>
            <a:r>
              <a:rPr lang="en-US" sz="2400" dirty="0">
                <a:solidFill>
                  <a:srgbClr val="FF0000"/>
                </a:solidFill>
                <a:latin typeface="Cambria Math" panose="02040503050406030204" pitchFamily="18" charset="0"/>
                <a:ea typeface="Cambria Math" panose="02040503050406030204" pitchFamily="18" charset="0"/>
              </a:rPr>
              <a:t>How many unique passwords are possible?</a:t>
            </a:r>
          </a:p>
          <a:p>
            <a:pPr marL="0" indent="0" algn="just">
              <a:buNone/>
            </a:pPr>
            <a:endParaRPr lang="en-US" sz="2400" dirty="0">
              <a:solidFill>
                <a:srgbClr val="FF0000"/>
              </a:solidFill>
              <a:latin typeface="Cambria Math" panose="02040503050406030204" pitchFamily="18" charset="0"/>
              <a:ea typeface="Cambria Math" panose="02040503050406030204" pitchFamily="18" charset="0"/>
            </a:endParaRPr>
          </a:p>
          <a:p>
            <a:pPr algn="just">
              <a:buFont typeface="Wingdings" panose="05000000000000000000" pitchFamily="2" charset="2"/>
              <a:buChar char="q"/>
            </a:pPr>
            <a:r>
              <a:rPr lang="en-US" sz="2400" dirty="0">
                <a:latin typeface="Cambria Math" panose="02040503050406030204" pitchFamily="18" charset="0"/>
                <a:ea typeface="Cambria Math" panose="02040503050406030204" pitchFamily="18" charset="0"/>
              </a:rPr>
              <a:t>Each user on a computer system has a password, which is six characters long, where each character is an uppercase letter or a digit. Each password must contain at least one digit. </a:t>
            </a:r>
            <a:r>
              <a:rPr lang="en-US" sz="2400" dirty="0">
                <a:solidFill>
                  <a:srgbClr val="FF0000"/>
                </a:solidFill>
                <a:latin typeface="Cambria Math" panose="02040503050406030204" pitchFamily="18" charset="0"/>
                <a:ea typeface="Cambria Math" panose="02040503050406030204" pitchFamily="18" charset="0"/>
              </a:rPr>
              <a:t>How many unique passwords are possible?</a:t>
            </a:r>
          </a:p>
          <a:p>
            <a:pPr marL="0" indent="0" algn="just">
              <a:buNone/>
            </a:pPr>
            <a:endParaRPr lang="en-US" sz="24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9332286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Freeform: Shape 22">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BC8BA007-143D-5203-7BB6-1AC9D7EF0646}"/>
              </a:ext>
            </a:extLst>
          </p:cNvPr>
          <p:cNvSpPr>
            <a:spLocks noGrp="1"/>
          </p:cNvSpPr>
          <p:nvPr>
            <p:ph idx="1"/>
          </p:nvPr>
        </p:nvSpPr>
        <p:spPr>
          <a:xfrm>
            <a:off x="701086" y="1256212"/>
            <a:ext cx="6393662" cy="3925388"/>
          </a:xfrm>
        </p:spPr>
        <p:txBody>
          <a:bodyPr>
            <a:normAutofit/>
          </a:bodyPr>
          <a:lstStyle/>
          <a:p>
            <a:r>
              <a:rPr lang="en-US" dirty="0"/>
              <a:t>The topics we covered:</a:t>
            </a:r>
          </a:p>
          <a:p>
            <a:pPr marL="457200" indent="-457200">
              <a:buFont typeface="Arial" panose="020B0604020202020204" pitchFamily="34" charset="0"/>
              <a:buChar char="•"/>
            </a:pPr>
            <a:r>
              <a:rPr lang="en-US" dirty="0"/>
              <a:t>Combinatorics</a:t>
            </a:r>
          </a:p>
          <a:p>
            <a:pPr marL="457200" indent="-457200">
              <a:buFont typeface="Arial" panose="020B0604020202020204" pitchFamily="34" charset="0"/>
              <a:buChar char="•"/>
            </a:pPr>
            <a:r>
              <a:rPr lang="en-US" dirty="0"/>
              <a:t>Basic Counting Principles</a:t>
            </a:r>
          </a:p>
          <a:p>
            <a:pPr marL="685800" lvl="1" indent="-457200"/>
            <a:r>
              <a:rPr lang="en-US" dirty="0"/>
              <a:t>Sum Rule</a:t>
            </a:r>
          </a:p>
          <a:p>
            <a:pPr marL="685800" lvl="1" indent="-457200"/>
            <a:r>
              <a:rPr lang="en-US" dirty="0"/>
              <a:t>Product Rule</a:t>
            </a:r>
          </a:p>
          <a:p>
            <a:pPr marL="457200" indent="-457200">
              <a:buFont typeface="Arial" panose="020B0604020202020204" pitchFamily="34" charset="0"/>
              <a:buChar char="•"/>
            </a:pPr>
            <a:r>
              <a:rPr lang="en-US" dirty="0"/>
              <a:t>Practice Questions</a:t>
            </a:r>
            <a:endParaRPr lang="en-PK" dirty="0"/>
          </a:p>
        </p:txBody>
      </p:sp>
      <p:sp>
        <p:nvSpPr>
          <p:cNvPr id="25" name="Oval 24">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 name="Graphic 8" descr="Books">
            <a:extLst>
              <a:ext uri="{FF2B5EF4-FFF2-40B4-BE49-F238E27FC236}">
                <a16:creationId xmlns:a16="http://schemas.microsoft.com/office/drawing/2014/main" id="{15422CC9-DE1C-CDFA-10C5-EC1FEBB1DAA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87184" y="1216485"/>
            <a:ext cx="3781051" cy="3781051"/>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27" name="Freeform: Shape 26">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29" name="Straight Connector 28">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31" name="Freeform: Shape 30">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Freeform: Shape 32">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Freeform: Shape 34">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itle 3">
            <a:extLst>
              <a:ext uri="{FF2B5EF4-FFF2-40B4-BE49-F238E27FC236}">
                <a16:creationId xmlns:a16="http://schemas.microsoft.com/office/drawing/2014/main" id="{32344EE1-CFFD-57AA-4D75-9BBE96554682}"/>
              </a:ext>
            </a:extLst>
          </p:cNvPr>
          <p:cNvSpPr txBox="1">
            <a:spLocks/>
          </p:cNvSpPr>
          <p:nvPr/>
        </p:nvSpPr>
        <p:spPr>
          <a:xfrm>
            <a:off x="841248" y="365760"/>
            <a:ext cx="5120640" cy="132588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u="sng" dirty="0">
                <a:solidFill>
                  <a:schemeClr val="tx1"/>
                </a:solidFill>
              </a:rPr>
              <a:t>Summary</a:t>
            </a:r>
          </a:p>
        </p:txBody>
      </p:sp>
    </p:spTree>
    <p:extLst>
      <p:ext uri="{BB962C8B-B14F-4D97-AF65-F5344CB8AC3E}">
        <p14:creationId xmlns:p14="http://schemas.microsoft.com/office/powerpoint/2010/main" val="206282804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heme/theme1.xml><?xml version="1.0" encoding="utf-8"?>
<a:theme xmlns:a="http://schemas.openxmlformats.org/drawingml/2006/main" name="ShapesVTI">
  <a:themeElements>
    <a:clrScheme name="Shapes">
      <a:dk1>
        <a:sysClr val="windowText" lastClr="000000"/>
      </a:dk1>
      <a:lt1>
        <a:sysClr val="window" lastClr="FFFFFF"/>
      </a:lt1>
      <a:dk2>
        <a:srgbClr val="281B10"/>
      </a:dk2>
      <a:lt2>
        <a:srgbClr val="FFF9F5"/>
      </a:lt2>
      <a:accent1>
        <a:srgbClr val="EE7661"/>
      </a:accent1>
      <a:accent2>
        <a:srgbClr val="4E91F0"/>
      </a:accent2>
      <a:accent3>
        <a:srgbClr val="5B5260"/>
      </a:accent3>
      <a:accent4>
        <a:srgbClr val="2CC3B4"/>
      </a:accent4>
      <a:accent5>
        <a:srgbClr val="C097F8"/>
      </a:accent5>
      <a:accent6>
        <a:srgbClr val="FF9514"/>
      </a:accent6>
      <a:hlink>
        <a:srgbClr val="E50CBC"/>
      </a:hlink>
      <a:folHlink>
        <a:srgbClr val="6257FF"/>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apesVTI" id="{C78D20FD-A872-4243-8597-B534C62538FF}" vid="{7CAFCCF9-7834-41D6-B6AB-7D225A18A4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8413533D-8C39-401E-8B75-B1AEEEC56B9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A449C04-64B3-4403-94B7-8D2284C38D1B}">
  <ds:schemaRefs>
    <ds:schemaRef ds:uri="http://schemas.microsoft.com/sharepoint/v3/contenttype/forms"/>
  </ds:schemaRefs>
</ds:datastoreItem>
</file>

<file path=customXml/itemProps3.xml><?xml version="1.0" encoding="utf-8"?>
<ds:datastoreItem xmlns:ds="http://schemas.openxmlformats.org/officeDocument/2006/customXml" ds:itemID="{FBDEF148-1770-458F-8F5B-C3D0A278AA97}">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
  <TotalTime>29485</TotalTime>
  <Words>3966</Words>
  <Application>Microsoft Office PowerPoint</Application>
  <PresentationFormat>Widescreen</PresentationFormat>
  <Paragraphs>374</Paragraphs>
  <Slides>41</Slides>
  <Notes>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0</vt:i4>
      </vt:variant>
      <vt:variant>
        <vt:lpstr>Slide Titles</vt:lpstr>
      </vt:variant>
      <vt:variant>
        <vt:i4>41</vt:i4>
      </vt:variant>
    </vt:vector>
  </HeadingPairs>
  <TitlesOfParts>
    <vt:vector size="50" baseType="lpstr">
      <vt:lpstr>Arial</vt:lpstr>
      <vt:lpstr>Calibri</vt:lpstr>
      <vt:lpstr>Cambria</vt:lpstr>
      <vt:lpstr>Cambria Math</vt:lpstr>
      <vt:lpstr>Century Gothic</vt:lpstr>
      <vt:lpstr>Comic Sans MS</vt:lpstr>
      <vt:lpstr>Times New Roman</vt:lpstr>
      <vt:lpstr>Wingdings</vt:lpstr>
      <vt:lpstr>ShapesVTI</vt:lpstr>
      <vt:lpstr>PowerPoint Presentation</vt:lpstr>
      <vt:lpstr>Section 6.1   Counting</vt:lpstr>
      <vt:lpstr>PowerPoint Presentation</vt:lpstr>
      <vt:lpstr>BASIC COUNTING PRINCIPLES</vt:lpstr>
      <vt:lpstr>PowerPoint Presentation</vt:lpstr>
      <vt:lpstr>EXAMPLE</vt:lpstr>
      <vt:lpstr>THE SUM RULE</vt:lpstr>
      <vt:lpstr>EXAMPLE</vt:lpstr>
      <vt:lpstr>GENERALIZED SUM RULE</vt:lpstr>
      <vt:lpstr>Practice Questions … Do  it by Yourself</vt:lpstr>
      <vt:lpstr>SUM RULE FOR DISJOINT SETS</vt:lpstr>
      <vt:lpstr>SUM RULE FOR OVERLAPPING SETS</vt:lpstr>
      <vt:lpstr>PowerPoint Presentation</vt:lpstr>
      <vt:lpstr>EXAMPLE … Principle of Inclusion – Exclusion </vt:lpstr>
      <vt:lpstr>Practice Questions … Do  it Yourself</vt:lpstr>
      <vt:lpstr>EXAMPLE</vt:lpstr>
      <vt:lpstr>THE PRODUCT RULE</vt:lpstr>
      <vt:lpstr>EXAMPLE</vt:lpstr>
      <vt:lpstr>EXAMPLE</vt:lpstr>
      <vt:lpstr>GENERALIZED PRODUCT RULE</vt:lpstr>
      <vt:lpstr>PRODUCT RULE IN TERMS OF SETS</vt:lpstr>
      <vt:lpstr>EXERCISE</vt:lpstr>
      <vt:lpstr>EXERCISE</vt:lpstr>
      <vt:lpstr>SOLUTION</vt:lpstr>
      <vt:lpstr>PowerPoint Presentation</vt:lpstr>
      <vt:lpstr>EXERCISE</vt:lpstr>
      <vt:lpstr>SOLUTION</vt:lpstr>
      <vt:lpstr>EXERCISE</vt:lpstr>
      <vt:lpstr>PowerPoint Presentation</vt:lpstr>
      <vt:lpstr>PowerPoint Presentation</vt:lpstr>
      <vt:lpstr>PowerPoint Presentation</vt:lpstr>
      <vt:lpstr>PowerPoint Presentation</vt:lpstr>
      <vt:lpstr>EXERCISE</vt:lpstr>
      <vt:lpstr>EXERCISE</vt:lpstr>
      <vt:lpstr>Excercise… Do  it Yourself</vt:lpstr>
      <vt:lpstr>Excercise… Do  it Yourself</vt:lpstr>
      <vt:lpstr>Excercise… Do  it Yourself</vt:lpstr>
      <vt:lpstr>Excercise… Do  it Yourself… Continued..</vt:lpstr>
      <vt:lpstr>Practice Questions … Do  it Yourself Bit String Problems</vt:lpstr>
      <vt:lpstr>Practice Questions … Do  it Yourself Password Problems</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CC2031  Digital Logic Design Section – V11</dc:title>
  <dc:creator>IQRA JAVED</dc:creator>
  <cp:lastModifiedBy>IQRA JAVED</cp:lastModifiedBy>
  <cp:revision>99</cp:revision>
  <cp:lastPrinted>2024-03-28T06:21:38Z</cp:lastPrinted>
  <dcterms:created xsi:type="dcterms:W3CDTF">2023-10-03T05:27:31Z</dcterms:created>
  <dcterms:modified xsi:type="dcterms:W3CDTF">2025-06-05T07:56:41Z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