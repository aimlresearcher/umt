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32"/>
  </p:notesMasterIdLst>
  <p:sldIdLst>
    <p:sldId id="3894" r:id="rId5"/>
    <p:sldId id="3892" r:id="rId6"/>
    <p:sldId id="257" r:id="rId7"/>
    <p:sldId id="259" r:id="rId8"/>
    <p:sldId id="260" r:id="rId9"/>
    <p:sldId id="261" r:id="rId10"/>
    <p:sldId id="326" r:id="rId11"/>
    <p:sldId id="3876" r:id="rId12"/>
    <p:sldId id="263" r:id="rId13"/>
    <p:sldId id="398" r:id="rId14"/>
    <p:sldId id="278" r:id="rId15"/>
    <p:sldId id="3877" r:id="rId16"/>
    <p:sldId id="269" r:id="rId17"/>
    <p:sldId id="270" r:id="rId18"/>
    <p:sldId id="3879" r:id="rId19"/>
    <p:sldId id="3880" r:id="rId20"/>
    <p:sldId id="323" r:id="rId21"/>
    <p:sldId id="3881" r:id="rId22"/>
    <p:sldId id="3883" r:id="rId23"/>
    <p:sldId id="3884" r:id="rId24"/>
    <p:sldId id="3885" r:id="rId25"/>
    <p:sldId id="3886" r:id="rId26"/>
    <p:sldId id="3891" r:id="rId27"/>
    <p:sldId id="280" r:id="rId28"/>
    <p:sldId id="282" r:id="rId29"/>
    <p:sldId id="3893" r:id="rId30"/>
    <p:sldId id="385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48" autoAdjust="0"/>
    <p:restoredTop sz="94660"/>
  </p:normalViewPr>
  <p:slideViewPr>
    <p:cSldViewPr snapToGrid="0">
      <p:cViewPr varScale="1">
        <p:scale>
          <a:sx n="47" d="100"/>
          <a:sy n="47" d="100"/>
        </p:scale>
        <p:origin x="60" y="378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00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3/10/2025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FALL 2023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/>
              <a:t>CC1041 Discrete Structures : Lecture 3-4 by Iqra Javed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>
                <a:solidFill>
                  <a:prstClr val="black">
                    <a:tint val="75000"/>
                  </a:prstClr>
                </a:solidFill>
              </a:rPr>
              <a:t>FALL 2023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fr-FR">
                <a:solidFill>
                  <a:prstClr val="black">
                    <a:tint val="75000"/>
                  </a:prstClr>
                </a:solidFill>
              </a:rPr>
              <a:t>CC1041 Discrete Structures : Lecture 3-4 by Iqra Javed</a:t>
            </a:r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9BB25E70-F951-4043-8895-D1EFDDA97DDE}"/>
              </a:ext>
            </a:extLst>
          </p:cNvPr>
          <p:cNvSpPr txBox="1">
            <a:spLocks/>
          </p:cNvSpPr>
          <p:nvPr/>
        </p:nvSpPr>
        <p:spPr>
          <a:xfrm>
            <a:off x="460375" y="1948069"/>
            <a:ext cx="11594776" cy="40737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CC 141 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Discrete Structures</a:t>
            </a:r>
            <a:br>
              <a:rPr lang="en-US" sz="4800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br>
              <a:rPr lang="en-US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Department of Computer Science</a:t>
            </a:r>
            <a:b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5">
                    <a:lumMod val="50000"/>
                  </a:schemeClr>
                </a:solidFill>
                <a:latin typeface="Century Gothic" panose="020B0502020202020204" pitchFamily="34" charset="0"/>
                <a:ea typeface="Cambria Math" panose="02040503050406030204" pitchFamily="18" charset="0"/>
              </a:rPr>
              <a:t>School of Systems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University of Management and Technology</a:t>
            </a:r>
            <a:b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</a:br>
            <a:r>
              <a:rPr lang="en-US" sz="3200" dirty="0">
                <a:solidFill>
                  <a:schemeClr val="accent6">
                    <a:lumMod val="75000"/>
                  </a:schemeClr>
                </a:solidFill>
                <a:latin typeface="Comic Sans MS" panose="030F0702030302020204" pitchFamily="66" charset="0"/>
                <a:ea typeface="Cambria Math" panose="02040503050406030204" pitchFamily="18" charset="0"/>
              </a:rPr>
              <a:t>Lahore, Pakistan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1BB6BA-659C-4C58-A7BC-E779ADA85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" y="223319"/>
            <a:ext cx="2220849" cy="222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780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7C59BEC-C4CC-4741-B975-08C543178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72DEF309-605D-4117-9340-6D589B6C3A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6173" flipV="1">
            <a:off x="3930947" y="651615"/>
            <a:ext cx="4083433" cy="408343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523240" y="136525"/>
            <a:ext cx="10515600" cy="9396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spcAft>
                <a:spcPts val="600"/>
              </a:spcAft>
            </a:pPr>
            <a:r>
              <a:rPr lang="en-US" dirty="0">
                <a:solidFill>
                  <a:schemeClr val="tx1"/>
                </a:solidFill>
              </a:rPr>
              <a:t>Overview of Previous Lectures</a:t>
            </a:r>
            <a:endParaRPr lang="en-US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A007-143D-5203-7BB6-1AC9D7E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3768" y="1128286"/>
            <a:ext cx="5393361" cy="5311724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 dirty="0"/>
              <a:t>Chapter 1 :  The Foundations: Logic and Proofs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 i="1" dirty="0"/>
              <a:t>1.1 Propositional Logic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Statement, Proposition, Truth value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Propositional symbol, Open proposition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Compound Propositions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Operators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Conditional statements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Truth tables of compound propositions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Precedence of logical operators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Logic and bit operation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 b="1" i="1" dirty="0"/>
              <a:t>1.2 Application of Propositional Logic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Translating English Statement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System Specifications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Boolean Searches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Logic Puzzles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sz="1700" dirty="0"/>
              <a:t>Logic Circuits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77008" y="5228027"/>
            <a:ext cx="1107241" cy="107720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09962" y="1929820"/>
            <a:ext cx="4221597" cy="4221597"/>
          </a:xfrm>
          <a:custGeom>
            <a:avLst/>
            <a:gdLst/>
            <a:ahLst/>
            <a:cxnLst/>
            <a:rect l="l" t="t" r="r" b="b"/>
            <a:pathLst>
              <a:path w="4221597" h="4303912">
                <a:moveTo>
                  <a:pt x="126986" y="0"/>
                </a:moveTo>
                <a:lnTo>
                  <a:pt x="4094611" y="0"/>
                </a:lnTo>
                <a:cubicBezTo>
                  <a:pt x="4164743" y="0"/>
                  <a:pt x="4221597" y="56854"/>
                  <a:pt x="4221597" y="126986"/>
                </a:cubicBezTo>
                <a:lnTo>
                  <a:pt x="4221597" y="4176926"/>
                </a:lnTo>
                <a:cubicBezTo>
                  <a:pt x="4221597" y="4247058"/>
                  <a:pt x="4164743" y="4303912"/>
                  <a:pt x="4094611" y="4303912"/>
                </a:cubicBezTo>
                <a:lnTo>
                  <a:pt x="126986" y="4303912"/>
                </a:lnTo>
                <a:cubicBezTo>
                  <a:pt x="56854" y="4303912"/>
                  <a:pt x="0" y="4247058"/>
                  <a:pt x="0" y="4176926"/>
                </a:cubicBezTo>
                <a:lnTo>
                  <a:pt x="0" y="126986"/>
                </a:lnTo>
                <a:cubicBezTo>
                  <a:pt x="0" y="56854"/>
                  <a:pt x="56854" y="0"/>
                  <a:pt x="126986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73501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10E6C9DE-6D63-4CEE-8719-FCE294362B8F}"/>
              </a:ext>
            </a:extLst>
          </p:cNvPr>
          <p:cNvSpPr txBox="1">
            <a:spLocks/>
          </p:cNvSpPr>
          <p:nvPr/>
        </p:nvSpPr>
        <p:spPr>
          <a:xfrm>
            <a:off x="3319272" y="1380744"/>
            <a:ext cx="8288010" cy="25146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Section 1.3: PROPOSITIONAL EQUIVALENCES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080A33EA-2DDE-BC8E-A51B-68FED692CA15}"/>
              </a:ext>
            </a:extLst>
          </p:cNvPr>
          <p:cNvSpPr txBox="1">
            <a:spLocks/>
          </p:cNvSpPr>
          <p:nvPr/>
        </p:nvSpPr>
        <p:spPr>
          <a:xfrm>
            <a:off x="5229808" y="4070046"/>
            <a:ext cx="6377474" cy="2326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Tautology, Contradiction</a:t>
            </a:r>
            <a:r>
              <a:rPr lang="en-US" altLang="en-US" sz="2800" dirty="0"/>
              <a:t> &amp; </a:t>
            </a:r>
            <a:r>
              <a:rPr lang="en-US" sz="2800" dirty="0"/>
              <a:t>Contingency</a:t>
            </a:r>
            <a:endParaRPr lang="zh-CN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Logical Equivalence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93192" lvl="1" indent="0">
              <a:buNone/>
            </a:pPr>
            <a:r>
              <a:rPr lang="en-US" sz="3600" dirty="0"/>
              <a:t>A compound proposition that is always true, no matter what the truth values of the propositional variables that occur in it, is called a </a:t>
            </a:r>
            <a:r>
              <a:rPr lang="en-US" sz="3600" i="1" dirty="0">
                <a:solidFill>
                  <a:srgbClr val="FF0000"/>
                </a:solidFill>
              </a:rPr>
              <a:t>tautology. </a:t>
            </a:r>
          </a:p>
          <a:p>
            <a:pPr marL="393192" lvl="1" indent="0">
              <a:buNone/>
            </a:pPr>
            <a:endParaRPr lang="en-US" sz="3600" b="1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en-PK" sz="2400" b="1" dirty="0"/>
              <a:t>Examples: </a:t>
            </a:r>
          </a:p>
          <a:p>
            <a:pPr lvl="1">
              <a:lnSpc>
                <a:spcPct val="90000"/>
              </a:lnSpc>
            </a:pPr>
            <a:r>
              <a:rPr lang="en-US" altLang="en-PK" b="1" dirty="0">
                <a:sym typeface="Symbol" panose="05050102010706020507" pitchFamily="18" charset="2"/>
              </a:rPr>
              <a:t>P  (</a:t>
            </a: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P)</a:t>
            </a:r>
            <a:endParaRPr lang="en-US" altLang="en-PK" b="1" dirty="0"/>
          </a:p>
          <a:p>
            <a:pPr lvl="1">
              <a:lnSpc>
                <a:spcPct val="90000"/>
              </a:lnSpc>
            </a:pP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(</a:t>
            </a:r>
            <a:r>
              <a:rPr lang="en-US" altLang="en-PK" b="1" dirty="0"/>
              <a:t>P </a:t>
            </a:r>
            <a:r>
              <a:rPr lang="en-US" altLang="en-PK" b="1" dirty="0">
                <a:sym typeface="Symbol" panose="05050102010706020507" pitchFamily="18" charset="2"/>
              </a:rPr>
              <a:t> Q)  (</a:t>
            </a: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P)  (</a:t>
            </a: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Q)</a:t>
            </a:r>
          </a:p>
          <a:p>
            <a:pPr lvl="1" algn="ctr"/>
            <a:endParaRPr lang="zh-CN" altLang="en-US" sz="3600" b="1" dirty="0"/>
          </a:p>
          <a:p>
            <a:endParaRPr lang="zh-CN" altLang="en-US" sz="3600" dirty="0"/>
          </a:p>
        </p:txBody>
      </p:sp>
      <p:sp>
        <p:nvSpPr>
          <p:cNvPr id="1048637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TAUTOLOGY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Content Placeholder 1"/>
          <p:cNvSpPr>
            <a:spLocks noGrp="1"/>
          </p:cNvSpPr>
          <p:nvPr>
            <p:ph idx="1"/>
          </p:nvPr>
        </p:nvSpPr>
        <p:spPr>
          <a:xfrm>
            <a:off x="797020" y="1499129"/>
            <a:ext cx="9829800" cy="3859742"/>
          </a:xfrm>
        </p:spPr>
        <p:txBody>
          <a:bodyPr>
            <a:normAutofit/>
          </a:bodyPr>
          <a:lstStyle/>
          <a:p>
            <a:endParaRPr lang="en-US" dirty="0"/>
          </a:p>
          <a:p>
            <a:pPr marL="137160" indent="0">
              <a:buNone/>
            </a:pPr>
            <a:r>
              <a:rPr lang="en-US" dirty="0"/>
              <a:t>A compound proposition that is always false is called a contradiction.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en-PK" sz="2400" b="1" dirty="0"/>
              <a:t>Examples: </a:t>
            </a:r>
          </a:p>
          <a:p>
            <a:pPr lvl="1">
              <a:lnSpc>
                <a:spcPct val="90000"/>
              </a:lnSpc>
            </a:pPr>
            <a:r>
              <a:rPr lang="en-US" altLang="en-PK" b="1" dirty="0">
                <a:sym typeface="Symbol" panose="05050102010706020507" pitchFamily="18" charset="2"/>
              </a:rPr>
              <a:t>P  (</a:t>
            </a:r>
            <a:r>
              <a:rPr lang="en-CA" altLang="en-PK" b="1" dirty="0">
                <a:sym typeface="Symbol" panose="05050102010706020507" pitchFamily="18" charset="2"/>
              </a:rPr>
              <a:t> P</a:t>
            </a:r>
            <a:r>
              <a:rPr lang="en-US" altLang="en-PK" b="1" dirty="0">
                <a:sym typeface="Symbol" panose="05050102010706020507" pitchFamily="18" charset="2"/>
              </a:rPr>
              <a:t>)</a:t>
            </a:r>
            <a:endParaRPr lang="en-US" altLang="en-PK" b="1" dirty="0"/>
          </a:p>
          <a:p>
            <a:pPr lvl="1">
              <a:lnSpc>
                <a:spcPct val="90000"/>
              </a:lnSpc>
            </a:pPr>
            <a:r>
              <a:rPr lang="en-CA" altLang="en-PK" b="1" dirty="0">
                <a:sym typeface="Symbol" panose="05050102010706020507" pitchFamily="18" charset="2"/>
              </a:rPr>
              <a:t></a:t>
            </a:r>
            <a:r>
              <a:rPr lang="en-US" altLang="en-PK" b="1" dirty="0">
                <a:sym typeface="Symbol" panose="05050102010706020507" pitchFamily="18" charset="2"/>
              </a:rPr>
              <a:t>(</a:t>
            </a:r>
            <a:r>
              <a:rPr lang="en-CA" altLang="en-PK" b="1" dirty="0">
                <a:sym typeface="Symbol" panose="05050102010706020507" pitchFamily="18" charset="2"/>
              </a:rPr>
              <a:t></a:t>
            </a:r>
            <a:r>
              <a:rPr lang="en-US" altLang="en-PK" b="1" dirty="0">
                <a:sym typeface="Symbol" panose="05050102010706020507" pitchFamily="18" charset="2"/>
              </a:rPr>
              <a:t>(</a:t>
            </a:r>
            <a:r>
              <a:rPr lang="en-US" altLang="en-PK" b="1" dirty="0"/>
              <a:t>P </a:t>
            </a:r>
            <a:r>
              <a:rPr lang="en-US" altLang="en-PK" b="1" dirty="0">
                <a:sym typeface="Symbol" panose="05050102010706020507" pitchFamily="18" charset="2"/>
              </a:rPr>
              <a:t> Q)   (</a:t>
            </a:r>
            <a:r>
              <a:rPr lang="en-CA" altLang="en-PK" b="1" dirty="0">
                <a:sym typeface="Symbol" panose="05050102010706020507" pitchFamily="18" charset="2"/>
              </a:rPr>
              <a:t></a:t>
            </a:r>
            <a:r>
              <a:rPr lang="en-US" altLang="en-PK" b="1" dirty="0">
                <a:sym typeface="Symbol" panose="05050102010706020507" pitchFamily="18" charset="2"/>
              </a:rPr>
              <a:t>P)  (</a:t>
            </a:r>
            <a:r>
              <a:rPr lang="en-CA" altLang="en-PK" b="1" dirty="0">
                <a:sym typeface="Symbol" panose="05050102010706020507" pitchFamily="18" charset="2"/>
              </a:rPr>
              <a:t></a:t>
            </a:r>
            <a:r>
              <a:rPr lang="en-US" altLang="en-PK" b="1" dirty="0">
                <a:sym typeface="Symbol" panose="05050102010706020507" pitchFamily="18" charset="2"/>
              </a:rPr>
              <a:t>Q))</a:t>
            </a:r>
          </a:p>
        </p:txBody>
      </p:sp>
      <p:sp>
        <p:nvSpPr>
          <p:cNvPr id="1048639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CONTRADICTION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201866B-840A-44D9-B73D-3F24AB34AB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7200" y="4246880"/>
            <a:ext cx="6329680" cy="2611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pPr marL="137160" indent="0">
              <a:buNone/>
            </a:pPr>
            <a:r>
              <a:rPr lang="en-US" dirty="0"/>
              <a:t>A compound proposition that is neither a tautology nor a contradiction is called a contingency.</a:t>
            </a:r>
          </a:p>
          <a:p>
            <a:pPr marL="137160" indent="0">
              <a:buNone/>
            </a:pPr>
            <a:endParaRPr lang="en-US" dirty="0"/>
          </a:p>
          <a:p>
            <a:pPr marL="137160" indent="0">
              <a:buNone/>
            </a:pPr>
            <a:r>
              <a:rPr lang="en-US" altLang="en-PK" sz="2800" b="1" dirty="0"/>
              <a:t>Examples: </a:t>
            </a:r>
          </a:p>
          <a:p>
            <a:pPr lvl="1"/>
            <a:r>
              <a:rPr lang="en-US" altLang="en-US" sz="2800" b="1" dirty="0"/>
              <a:t>P ∧ Q</a:t>
            </a:r>
          </a:p>
          <a:p>
            <a:pPr lvl="1"/>
            <a:r>
              <a:rPr lang="en-US" altLang="en-PK" sz="2800" b="1" dirty="0">
                <a:sym typeface="Symbol" panose="05050102010706020507" pitchFamily="18" charset="2"/>
              </a:rPr>
              <a:t>P  (</a:t>
            </a:r>
            <a:r>
              <a:rPr lang="en-CA" altLang="en-PK" sz="2800" b="1" dirty="0">
                <a:sym typeface="Symbol" panose="05050102010706020507" pitchFamily="18" charset="2"/>
              </a:rPr>
              <a:t> </a:t>
            </a:r>
            <a:r>
              <a:rPr lang="en-US" altLang="en-PK" sz="2800" b="1" dirty="0">
                <a:sym typeface="Symbol" panose="05050102010706020507" pitchFamily="18" charset="2"/>
              </a:rPr>
              <a:t>Q)</a:t>
            </a:r>
            <a:endParaRPr lang="en-US" altLang="en-PK" sz="2800" b="1" dirty="0"/>
          </a:p>
          <a:p>
            <a:pPr lvl="1"/>
            <a:endParaRPr lang="zh-CN" altLang="en-US" sz="3600" b="1" dirty="0"/>
          </a:p>
          <a:p>
            <a:pPr lvl="1"/>
            <a:endParaRPr lang="zh-CN" altLang="en-US" dirty="0"/>
          </a:p>
        </p:txBody>
      </p:sp>
      <p:sp>
        <p:nvSpPr>
          <p:cNvPr id="1048641" name="Title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/>
              <a:t>CONTINGENCY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truth table to show that [(p → q) ∧ p] → q is a tautology.</a:t>
            </a:r>
          </a:p>
          <a:p>
            <a:r>
              <a:rPr lang="en-US" dirty="0"/>
              <a:t>Use truth table to show that (p ∧ ~q) ∧ (~p ∨ q) is a contradiction.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8" name="Content Placeholder 5"/>
          <p:cNvSpPr>
            <a:spLocks noGrp="1"/>
          </p:cNvSpPr>
          <p:nvPr>
            <p:ph idx="1"/>
          </p:nvPr>
        </p:nvSpPr>
        <p:spPr>
          <a:xfrm>
            <a:off x="493776" y="1690687"/>
            <a:ext cx="11158728" cy="4802187"/>
          </a:xfrm>
        </p:spPr>
        <p:txBody>
          <a:bodyPr/>
          <a:lstStyle/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Compound propositions that have the same truth values in all possible cases are called </a:t>
            </a:r>
            <a:r>
              <a:rPr lang="en-US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logically equivalent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. </a:t>
            </a: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compound propositions p and q are called logically equivalent if </a:t>
            </a:r>
            <a:b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			p ↔ q is a tautology.</a:t>
            </a:r>
          </a:p>
          <a:p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notation </a:t>
            </a:r>
            <a:r>
              <a:rPr lang="en-US" b="1" dirty="0">
                <a:latin typeface="Cambria Math" panose="02040503050406030204" pitchFamily="18" charset="0"/>
                <a:ea typeface="Cambria Math" panose="02040503050406030204" pitchFamily="18" charset="0"/>
              </a:rPr>
              <a:t>p ≡ q</a:t>
            </a:r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 denotes that p and q are logically equivalent.</a:t>
            </a:r>
          </a:p>
        </p:txBody>
      </p:sp>
      <p:sp>
        <p:nvSpPr>
          <p:cNvPr id="1048750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LOGICAL EQUIVALENCE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Content Placeholder 6"/>
          <p:cNvSpPr>
            <a:spLocks noGrp="1"/>
          </p:cNvSpPr>
          <p:nvPr>
            <p:ph idx="1"/>
          </p:nvPr>
        </p:nvSpPr>
        <p:spPr>
          <a:xfrm>
            <a:off x="974303" y="2687216"/>
            <a:ext cx="9965840" cy="3551024"/>
          </a:xfrm>
        </p:spPr>
        <p:txBody>
          <a:bodyPr>
            <a:normAutofit/>
          </a:bodyPr>
          <a:lstStyle/>
          <a:p>
            <a:pPr lvl="1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symbol ≡ is not a logical connective </a:t>
            </a:r>
          </a:p>
          <a:p>
            <a:pPr lvl="1"/>
            <a:endParaRPr lang="en-US" sz="2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lvl="1"/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Hence, p ≡ q is not a compound proposition</a:t>
            </a:r>
            <a:r>
              <a:rPr lang="en-US" alt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, r</a:t>
            </a:r>
            <a:r>
              <a:rPr lang="en-US" sz="2400" dirty="0">
                <a:latin typeface="Cambria Math" panose="02040503050406030204" pitchFamily="18" charset="0"/>
                <a:ea typeface="Cambria Math" panose="02040503050406030204" pitchFamily="18" charset="0"/>
              </a:rPr>
              <a:t>ather it is the statement that p ↔ q is a tautology. </a:t>
            </a:r>
          </a:p>
          <a:p>
            <a:pPr marL="914400" lvl="2" indent="0">
              <a:buNone/>
            </a:pPr>
            <a:endParaRPr lang="zh-CN" altLang="en-US" sz="2400" dirty="0">
              <a:latin typeface="Cambria Math" panose="02040503050406030204" pitchFamily="18" charset="0"/>
            </a:endParaRPr>
          </a:p>
          <a:p>
            <a:pPr lvl="1"/>
            <a:r>
              <a:rPr lang="en-US" dirty="0">
                <a:latin typeface="Cambria Math" panose="02040503050406030204" pitchFamily="18" charset="0"/>
                <a:ea typeface="Cambria Math" panose="02040503050406030204" pitchFamily="18" charset="0"/>
              </a:rPr>
              <a:t>The symbol ⇔ is sometimes used instead of ≡ to denote logical equivalence.</a:t>
            </a:r>
          </a:p>
        </p:txBody>
      </p:sp>
      <p:sp>
        <p:nvSpPr>
          <p:cNvPr id="1048645" name="Title 3"/>
          <p:cNvSpPr>
            <a:spLocks noGrp="1"/>
          </p:cNvSpPr>
          <p:nvPr>
            <p:ph type="title"/>
          </p:nvPr>
        </p:nvSpPr>
        <p:spPr>
          <a:xfrm>
            <a:off x="4477014" y="1189183"/>
            <a:ext cx="1849141" cy="1325563"/>
          </a:xfrm>
        </p:spPr>
        <p:txBody>
          <a:bodyPr rtlCol="0">
            <a:normAutofit/>
          </a:bodyPr>
          <a:lstStyle/>
          <a:p>
            <a:r>
              <a:rPr lang="en-US" dirty="0"/>
              <a:t>p ≡ q</a:t>
            </a:r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CDA2EB90-2710-A26D-3B58-90A1D6C59560}"/>
              </a:ext>
            </a:extLst>
          </p:cNvPr>
          <p:cNvSpPr txBox="1">
            <a:spLocks/>
          </p:cNvSpPr>
          <p:nvPr/>
        </p:nvSpPr>
        <p:spPr>
          <a:xfrm>
            <a:off x="424543" y="2747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dirty="0"/>
            </a:br>
            <a:r>
              <a:rPr lang="en-US" dirty="0"/>
              <a:t>LOGICAL EQUIVALENCE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402" name="Rectangle 1026">
            <a:extLst>
              <a:ext uri="{FF2B5EF4-FFF2-40B4-BE49-F238E27FC236}">
                <a16:creationId xmlns:a16="http://schemas.microsoft.com/office/drawing/2014/main" id="{23531882-D482-1EAD-780A-BF7EC0EA8C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942" y="526855"/>
            <a:ext cx="7772400" cy="685800"/>
          </a:xfrm>
        </p:spPr>
        <p:txBody>
          <a:bodyPr/>
          <a:lstStyle/>
          <a:p>
            <a:r>
              <a:rPr lang="en-US" sz="4000" dirty="0"/>
              <a:t>LOGICAL EQUIVALENCE</a:t>
            </a:r>
            <a:endParaRPr lang="en-CA" altLang="en-PK" sz="4000" dirty="0"/>
          </a:p>
        </p:txBody>
      </p:sp>
      <p:sp>
        <p:nvSpPr>
          <p:cNvPr id="486403" name="Rectangle 1027">
            <a:extLst>
              <a:ext uri="{FF2B5EF4-FFF2-40B4-BE49-F238E27FC236}">
                <a16:creationId xmlns:a16="http://schemas.microsoft.com/office/drawing/2014/main" id="{20805CF8-AAD5-E161-9EA6-F8C3A06899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06400" y="1635967"/>
            <a:ext cx="11277600" cy="4695178"/>
          </a:xfrm>
        </p:spPr>
        <p:txBody>
          <a:bodyPr>
            <a:normAutofit/>
          </a:bodyPr>
          <a:lstStyle/>
          <a:p>
            <a:pPr marL="230188" indent="-230188"/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Definition: two propositional statements S1 and S2 are said to be (logically) equivalent, denoted S1 </a:t>
            </a: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 S2</a:t>
            </a:r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 if</a:t>
            </a:r>
          </a:p>
          <a:p>
            <a:pPr marL="919163" lvl="1"/>
            <a:r>
              <a:rPr lang="en-US" altLang="en-PK" sz="2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They have the same truth table, or</a:t>
            </a:r>
          </a:p>
          <a:p>
            <a:pPr marL="919163" lvl="1"/>
            <a:r>
              <a:rPr lang="en-US" altLang="en-PK" sz="2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S1 </a:t>
            </a:r>
            <a:r>
              <a:rPr lang="en-US" altLang="en-PK" sz="2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  <a:sym typeface="Symbol" panose="05050102010706020507" pitchFamily="18" charset="2"/>
              </a:rPr>
              <a:t> S2 is a tautology</a:t>
            </a:r>
          </a:p>
          <a:p>
            <a:pPr marL="690563" lvl="1" indent="0">
              <a:buNone/>
            </a:pPr>
            <a:endParaRPr lang="en-US" altLang="en-PK" sz="2800" b="1" dirty="0">
              <a:latin typeface="Cambria Math" panose="02040503050406030204" pitchFamily="18" charset="0"/>
              <a:ea typeface="Cambria Math" panose="02040503050406030204" pitchFamily="18" charset="0"/>
              <a:sym typeface="Symbol" panose="05050102010706020507" pitchFamily="18" charset="2"/>
            </a:endParaRPr>
          </a:p>
          <a:p>
            <a:pPr marL="230188" indent="-230188"/>
            <a:r>
              <a:rPr lang="en-US" altLang="en-PK" dirty="0">
                <a:latin typeface="Cambria Math" panose="02040503050406030204" pitchFamily="18" charset="0"/>
                <a:ea typeface="Cambria Math" panose="02040503050406030204" pitchFamily="18" charset="0"/>
              </a:rPr>
              <a:t>Equivalence can be established by</a:t>
            </a:r>
          </a:p>
          <a:p>
            <a:pPr marL="919163" lvl="1"/>
            <a:r>
              <a:rPr lang="en-US" altLang="en-PK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Constructing truth tables</a:t>
            </a:r>
          </a:p>
          <a:p>
            <a:pPr marL="919163" lvl="1"/>
            <a:r>
              <a:rPr lang="en-US" altLang="en-PK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Using equivalence laws </a:t>
            </a:r>
            <a:endParaRPr lang="en-US" altLang="en-PK" sz="2800" b="1" dirty="0">
              <a:solidFill>
                <a:srgbClr val="FF0000"/>
              </a:solidFill>
              <a:latin typeface="Cambria Math" panose="02040503050406030204" pitchFamily="18" charset="0"/>
              <a:ea typeface="Cambria Math" panose="020405030504060302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64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803" name="Group 59">
            <a:extLst>
              <a:ext uri="{FF2B5EF4-FFF2-40B4-BE49-F238E27FC236}">
                <a16:creationId xmlns:a16="http://schemas.microsoft.com/office/drawing/2014/main" id="{C48A90A2-D089-C715-524A-BC687D63D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15742"/>
              </p:ext>
            </p:extLst>
          </p:nvPr>
        </p:nvGraphicFramePr>
        <p:xfrm>
          <a:off x="2155372" y="2347609"/>
          <a:ext cx="8416212" cy="3261164"/>
        </p:xfrm>
        <a:graphic>
          <a:graphicData uri="http://schemas.openxmlformats.org/drawingml/2006/table">
            <a:tbl>
              <a:tblPr/>
              <a:tblGrid>
                <a:gridCol w="1145225">
                  <a:extLst>
                    <a:ext uri="{9D8B030D-6E8A-4147-A177-3AD203B41FA5}">
                      <a16:colId xmlns:a16="http://schemas.microsoft.com/office/drawing/2014/main" val="2529237573"/>
                    </a:ext>
                  </a:extLst>
                </a:gridCol>
                <a:gridCol w="1145224">
                  <a:extLst>
                    <a:ext uri="{9D8B030D-6E8A-4147-A177-3AD203B41FA5}">
                      <a16:colId xmlns:a16="http://schemas.microsoft.com/office/drawing/2014/main" val="3063811083"/>
                    </a:ext>
                  </a:extLst>
                </a:gridCol>
                <a:gridCol w="1337938">
                  <a:extLst>
                    <a:ext uri="{9D8B030D-6E8A-4147-A177-3AD203B41FA5}">
                      <a16:colId xmlns:a16="http://schemas.microsoft.com/office/drawing/2014/main" val="1764300132"/>
                    </a:ext>
                  </a:extLst>
                </a:gridCol>
                <a:gridCol w="1699670">
                  <a:extLst>
                    <a:ext uri="{9D8B030D-6E8A-4147-A177-3AD203B41FA5}">
                      <a16:colId xmlns:a16="http://schemas.microsoft.com/office/drawing/2014/main" val="237220042"/>
                    </a:ext>
                  </a:extLst>
                </a:gridCol>
                <a:gridCol w="3088155">
                  <a:extLst>
                    <a:ext uri="{9D8B030D-6E8A-4147-A177-3AD203B41FA5}">
                      <a16:colId xmlns:a16="http://schemas.microsoft.com/office/drawing/2014/main" val="1510385200"/>
                    </a:ext>
                  </a:extLst>
                </a:gridCol>
              </a:tblGrid>
              <a:tr h="854868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endParaRPr kumimoji="0" lang="en-CA" altLang="en-PK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Q</a:t>
                      </a:r>
                      <a:endParaRPr kumimoji="0" lang="en-CA" altLang="en-PK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PK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2400" b="0" i="0" u="none" strike="noStrike" cap="none" normalizeH="0" baseline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Q)</a:t>
                      </a:r>
                      <a:endParaRPr kumimoji="0" lang="en-CA" altLang="en-PK" sz="2400" b="0" i="0" u="none" strike="noStrike" cap="none" normalizeH="0" baseline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CA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P)(</a:t>
                      </a:r>
                      <a:r>
                        <a:rPr kumimoji="0" lang="en-CA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Q)</a:t>
                      </a:r>
                      <a:endParaRPr kumimoji="0" lang="en-CA" altLang="en-PK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CA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P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Q)</a:t>
                      </a:r>
                      <a:r>
                        <a:rPr kumimoji="0" lang="en-US" altLang="en-PK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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(</a:t>
                      </a:r>
                      <a:r>
                        <a:rPr kumimoji="0" lang="en-CA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P)(</a:t>
                      </a:r>
                      <a:r>
                        <a:rPr kumimoji="0" lang="en-CA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</a:t>
                      </a:r>
                      <a:r>
                        <a:rPr kumimoji="0" lang="en-US" altLang="en-PK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  <a:sym typeface="Symbol" panose="05050102010706020507" pitchFamily="18" charset="2"/>
                        </a:rPr>
                        <a:t>Q)</a:t>
                      </a:r>
                      <a:endParaRPr kumimoji="0" lang="en-CA" altLang="en-PK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FFFF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  <a:sym typeface="Symbol" panose="05050102010706020507" pitchFamily="18" charset="2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79176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9372184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8218581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2893022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4475238"/>
                  </a:ext>
                </a:extLst>
              </a:tr>
            </a:tbl>
          </a:graphicData>
        </a:graphic>
      </p:graphicFrame>
      <p:sp>
        <p:nvSpPr>
          <p:cNvPr id="2" name="Rectangle 1026">
            <a:extLst>
              <a:ext uri="{FF2B5EF4-FFF2-40B4-BE49-F238E27FC236}">
                <a16:creationId xmlns:a16="http://schemas.microsoft.com/office/drawing/2014/main" id="{5887E262-7057-7CDE-92A5-CCB814CBB7C5}"/>
              </a:ext>
            </a:extLst>
          </p:cNvPr>
          <p:cNvSpPr txBox="1">
            <a:spLocks noChangeArrowheads="1"/>
          </p:cNvSpPr>
          <p:nvPr/>
        </p:nvSpPr>
        <p:spPr>
          <a:xfrm>
            <a:off x="576942" y="526855"/>
            <a:ext cx="9862458" cy="685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LOGICAL EQUIVALENCE using TRUTH TABLES</a:t>
            </a:r>
            <a:endParaRPr lang="en-CA" altLang="en-PK" sz="4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B8E4DB-C328-DAB9-A0D8-444010780FC2}"/>
              </a:ext>
            </a:extLst>
          </p:cNvPr>
          <p:cNvSpPr txBox="1"/>
          <p:nvPr/>
        </p:nvSpPr>
        <p:spPr>
          <a:xfrm>
            <a:off x="1003818" y="1258503"/>
            <a:ext cx="9334499" cy="9048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CA" altLang="en-PK" sz="2000" b="0" i="0" u="none" strike="noStrike" cap="none" normalizeH="0" baseline="0" dirty="0">
                <a:ln>
                  <a:noFill/>
                </a:ln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Prove that </a:t>
            </a:r>
            <a:r>
              <a:rPr kumimoji="0" lang="en-CA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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Q)</a:t>
            </a:r>
            <a:r>
              <a:rPr lang="en-US" altLang="en-PK" sz="24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r>
              <a:rPr lang="en-US" altLang="en-PK" sz="2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and</a:t>
            </a:r>
            <a:r>
              <a:rPr lang="en-US" altLang="en-PK" sz="20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kumimoji="0" lang="en-CA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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P)(</a:t>
            </a:r>
            <a:r>
              <a:rPr kumimoji="0" lang="en-CA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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Q)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are logically equivalent </a:t>
            </a:r>
          </a:p>
          <a:p>
            <a:pPr marL="0" marR="0" lvl="0" indent="0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PK" sz="2000" b="0" i="0" u="none" strike="noStrike" cap="none" normalizeH="0" baseline="0" dirty="0">
                <a:ln>
                  <a:noFill/>
                </a:ln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and </a:t>
            </a:r>
            <a:r>
              <a:rPr kumimoji="0" lang="en-CA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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(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Q)(</a:t>
            </a:r>
            <a:r>
              <a:rPr kumimoji="0" lang="en-CA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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P)(</a:t>
            </a:r>
            <a:r>
              <a:rPr kumimoji="0" lang="en-CA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</a:t>
            </a:r>
            <a:r>
              <a:rPr kumimoji="0" lang="en-US" altLang="en-PK" sz="2400" b="1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Q)</a:t>
            </a:r>
            <a:r>
              <a:rPr kumimoji="0" lang="en-US" altLang="en-PK" sz="2000" b="0" i="0" u="none" strike="noStrike" cap="none" normalizeH="0" baseline="0" dirty="0">
                <a:ln>
                  <a:noFill/>
                </a:ln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is a Tautology</a:t>
            </a:r>
            <a:endParaRPr kumimoji="0" lang="en-CA" altLang="en-PK" sz="2000" b="0" i="0" u="none" strike="noStrike" cap="none" normalizeH="0" baseline="0" dirty="0">
              <a:ln>
                <a:noFill/>
              </a:ln>
              <a:latin typeface="Calibri" panose="020F0502020204030204" pitchFamily="34" charset="0"/>
              <a:cs typeface="Calibri" panose="020F0502020204030204" pitchFamily="34" charset="0"/>
              <a:sym typeface="Symbol" panose="05050102010706020507" pitchFamily="18" charset="2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DF44B50-A0AD-5348-94F2-B74B8B16DA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8103716"/>
              </p:ext>
            </p:extLst>
          </p:nvPr>
        </p:nvGraphicFramePr>
        <p:xfrm>
          <a:off x="4437711" y="3202477"/>
          <a:ext cx="1337938" cy="2406296"/>
        </p:xfrm>
        <a:graphic>
          <a:graphicData uri="http://schemas.openxmlformats.org/drawingml/2006/table">
            <a:tbl>
              <a:tblPr/>
              <a:tblGrid>
                <a:gridCol w="1337938">
                  <a:extLst>
                    <a:ext uri="{9D8B030D-6E8A-4147-A177-3AD203B41FA5}">
                      <a16:colId xmlns:a16="http://schemas.microsoft.com/office/drawing/2014/main" val="884586332"/>
                    </a:ext>
                  </a:extLst>
                </a:gridCol>
              </a:tblGrid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FF33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670207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1872074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2664407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8582095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9A79776-FCCE-C65B-CA21-9FC734C3A7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044383"/>
              </p:ext>
            </p:extLst>
          </p:nvPr>
        </p:nvGraphicFramePr>
        <p:xfrm>
          <a:off x="5775649" y="3193201"/>
          <a:ext cx="1699670" cy="2406296"/>
        </p:xfrm>
        <a:graphic>
          <a:graphicData uri="http://schemas.openxmlformats.org/drawingml/2006/table">
            <a:tbl>
              <a:tblPr/>
              <a:tblGrid>
                <a:gridCol w="1699670">
                  <a:extLst>
                    <a:ext uri="{9D8B030D-6E8A-4147-A177-3AD203B41FA5}">
                      <a16:colId xmlns:a16="http://schemas.microsoft.com/office/drawing/2014/main" val="3504704952"/>
                    </a:ext>
                  </a:extLst>
                </a:gridCol>
              </a:tblGrid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F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4592284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641678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9730860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3564566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54185A6-CF9B-E95E-3F44-06974F7655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7926192"/>
              </p:ext>
            </p:extLst>
          </p:nvPr>
        </p:nvGraphicFramePr>
        <p:xfrm>
          <a:off x="7483429" y="3193201"/>
          <a:ext cx="3088155" cy="2406296"/>
        </p:xfrm>
        <a:graphic>
          <a:graphicData uri="http://schemas.openxmlformats.org/drawingml/2006/table">
            <a:tbl>
              <a:tblPr/>
              <a:tblGrid>
                <a:gridCol w="3088155">
                  <a:extLst>
                    <a:ext uri="{9D8B030D-6E8A-4147-A177-3AD203B41FA5}">
                      <a16:colId xmlns:a16="http://schemas.microsoft.com/office/drawing/2014/main" val="1850935062"/>
                    </a:ext>
                  </a:extLst>
                </a:gridCol>
              </a:tblGrid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786473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071865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8498518"/>
                  </a:ext>
                </a:extLst>
              </a:tr>
              <a:tr h="601574">
                <a:tc>
                  <a:txBody>
                    <a:bodyPr/>
                    <a:lstStyle>
                      <a:lvl1pPr>
                        <a:defRPr sz="32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1pPr>
                      <a:lvl2pPr>
                        <a:defRPr sz="24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2pPr>
                      <a:lvl3pPr>
                        <a:defRPr sz="2000"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3pPr>
                      <a:lvl4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4pPr>
                      <a:lvl5pPr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rgbClr val="FFFF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PK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CC00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Comic Sans MS" panose="030F0702030302020204" pitchFamily="66" charset="0"/>
                        </a:rPr>
                        <a:t>T</a:t>
                      </a:r>
                      <a:endParaRPr kumimoji="0" lang="en-CA" altLang="en-PK" sz="3200" b="0" i="0" u="none" strike="noStrike" cap="none" normalizeH="0" baseline="0" dirty="0">
                        <a:ln>
                          <a:noFill/>
                        </a:ln>
                        <a:solidFill>
                          <a:srgbClr val="00CC00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Comic Sans MS" panose="030F0702030302020204" pitchFamily="66" charset="0"/>
                      </a:endParaRPr>
                    </a:p>
                  </a:txBody>
                  <a:tcPr anchor="ctr" anchorCtr="1" horzOverflow="overflow">
                    <a:lnL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6090422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8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8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Content Placeholder 5"/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990724"/>
          </a:xfrm>
        </p:spPr>
        <p:txBody>
          <a:bodyPr/>
          <a:lstStyle/>
          <a:p>
            <a:r>
              <a:rPr lang="en-US" dirty="0"/>
              <a:t>p → q and ￢p ∨ q are logically equivalent</a:t>
            </a:r>
          </a:p>
        </p:txBody>
      </p:sp>
      <p:sp>
        <p:nvSpPr>
          <p:cNvPr id="1048649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A VERY IMPORTANT EQUIVALENCE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244500-9146-A1EC-3632-C57E6D8C62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8424" t="35073" r="34782" b="17391"/>
          <a:stretch/>
        </p:blipFill>
        <p:spPr>
          <a:xfrm>
            <a:off x="2944765" y="2802835"/>
            <a:ext cx="5705062" cy="326003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165" name="Freeform: Shape 2097164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167" name="Arc 2097166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97169" name="Rectangle 2097168">
            <a:extLst>
              <a:ext uri="{FF2B5EF4-FFF2-40B4-BE49-F238E27FC236}">
                <a16:creationId xmlns:a16="http://schemas.microsoft.com/office/drawing/2014/main" id="{2B577FF9-3543-4875-815D-3D87BD8A2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57" name="Title 2"/>
          <p:cNvSpPr>
            <a:spLocks noGrp="1"/>
          </p:cNvSpPr>
          <p:nvPr>
            <p:ph type="title"/>
          </p:nvPr>
        </p:nvSpPr>
        <p:spPr>
          <a:xfrm>
            <a:off x="874815" y="798703"/>
            <a:ext cx="5221185" cy="3072015"/>
          </a:xfr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b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DE MORGAN’S LAWS</a:t>
            </a:r>
            <a:br>
              <a:rPr lang="en-US" sz="51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8656" name="Content Placeholder 1"/>
          <p:cNvSpPr>
            <a:spLocks noGrp="1"/>
          </p:cNvSpPr>
          <p:nvPr>
            <p:ph type="body" idx="1"/>
          </p:nvPr>
        </p:nvSpPr>
        <p:spPr>
          <a:xfrm>
            <a:off x="870148" y="3962792"/>
            <a:ext cx="5221185" cy="21021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097171" name="Freeform: Shape 2097170">
            <a:extLst>
              <a:ext uri="{FF2B5EF4-FFF2-40B4-BE49-F238E27FC236}">
                <a16:creationId xmlns:a16="http://schemas.microsoft.com/office/drawing/2014/main" id="{F5569EEC-E12F-4856-B407-02B2813A4A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04059" y="0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173" name="Freeform: Shape 2097172">
            <a:extLst>
              <a:ext uri="{FF2B5EF4-FFF2-40B4-BE49-F238E27FC236}">
                <a16:creationId xmlns:a16="http://schemas.microsoft.com/office/drawing/2014/main" id="{CF860788-3A6A-45A3-B3F1-06F159665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67336" y="1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182" name="Freeform: Shape 2097181">
            <a:extLst>
              <a:ext uri="{FF2B5EF4-FFF2-40B4-BE49-F238E27FC236}">
                <a16:creationId xmlns:a16="http://schemas.microsoft.com/office/drawing/2014/main" id="{DF1E3393-B852-4883-B778-ED35251129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032259" y="2916245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2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183" name="Freeform: Shape 2097182">
            <a:extLst>
              <a:ext uri="{FF2B5EF4-FFF2-40B4-BE49-F238E27FC236}">
                <a16:creationId xmlns:a16="http://schemas.microsoft.com/office/drawing/2014/main" id="{39853D09-4205-4CC7-83EB-288E886AC9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48440" y="5717906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40" name="Freeform: Shape 1048639">
            <a:extLst>
              <a:ext uri="{FF2B5EF4-FFF2-40B4-BE49-F238E27FC236}">
                <a16:creationId xmlns:a16="http://schemas.microsoft.com/office/drawing/2014/main" id="{0D040B79-3E73-4A31-840D-D6B9C9FDFC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47511" y="6258756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181" name="Freeform: Shape 2097180">
            <a:extLst>
              <a:ext uri="{FF2B5EF4-FFF2-40B4-BE49-F238E27FC236}">
                <a16:creationId xmlns:a16="http://schemas.microsoft.com/office/drawing/2014/main" id="{156C6AE5-3F8B-42AC-9EA4-1B686A11E9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43820" y="5835650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337E7A8-383B-D033-1383-7AB32CC193F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67" t="47102" r="47811" b="19420"/>
          <a:stretch/>
        </p:blipFill>
        <p:spPr>
          <a:xfrm>
            <a:off x="6647511" y="1720330"/>
            <a:ext cx="4812508" cy="321122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Content Placeholder 1"/>
          <p:cNvSpPr>
            <a:spLocks noGrp="1"/>
          </p:cNvSpPr>
          <p:nvPr>
            <p:ph idx="1"/>
          </p:nvPr>
        </p:nvSpPr>
        <p:spPr>
          <a:xfrm>
            <a:off x="1981200" y="1481329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1048659" name="Title 2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br>
              <a:rPr lang="en-US" dirty="0"/>
            </a:br>
            <a:r>
              <a:rPr lang="en-US" dirty="0"/>
              <a:t>DE MORGAN’S LAWS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B2DE09-D255-41F8-6E11-2D4424A1A8A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58" t="27681" r="10163" b="23913"/>
          <a:stretch/>
        </p:blipFill>
        <p:spPr>
          <a:xfrm>
            <a:off x="1421296" y="1898374"/>
            <a:ext cx="9531626" cy="33196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Content Placeholder 1"/>
          <p:cNvSpPr>
            <a:spLocks noGrp="1"/>
          </p:cNvSpPr>
          <p:nvPr>
            <p:ph idx="1"/>
          </p:nvPr>
        </p:nvSpPr>
        <p:spPr>
          <a:xfrm>
            <a:off x="589788" y="1890776"/>
            <a:ext cx="11012424" cy="3859742"/>
          </a:xfrm>
        </p:spPr>
        <p:txBody>
          <a:bodyPr/>
          <a:lstStyle/>
          <a:p>
            <a:pPr marL="109728" indent="0">
              <a:buNone/>
            </a:pPr>
            <a:r>
              <a:rPr lang="en-US" dirty="0"/>
              <a:t>Express the negations of </a:t>
            </a:r>
          </a:p>
          <a:p>
            <a:pPr marL="109728" indent="0">
              <a:buNone/>
            </a:pPr>
            <a:endParaRPr lang="zh-CN" altLang="en-US" dirty="0"/>
          </a:p>
          <a:p>
            <a:r>
              <a:rPr lang="en-US" dirty="0"/>
              <a:t>“Ahmad has a cellphone and he has a laptop computer”. </a:t>
            </a:r>
          </a:p>
          <a:p>
            <a:endParaRPr lang="zh-CN" altLang="en-US" dirty="0"/>
          </a:p>
          <a:p>
            <a:r>
              <a:rPr lang="en-US" dirty="0"/>
              <a:t>“Jack will go to the concert or Steve will go to the concert.”</a:t>
            </a:r>
          </a:p>
        </p:txBody>
      </p:sp>
      <p:sp>
        <p:nvSpPr>
          <p:cNvPr id="1048661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DE MORGAN’S LAWS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0" name="Content Placeholder 1"/>
          <p:cNvSpPr>
            <a:spLocks noGrp="1"/>
          </p:cNvSpPr>
          <p:nvPr>
            <p:ph sz="half" idx="1"/>
          </p:nvPr>
        </p:nvSpPr>
        <p:spPr>
          <a:xfrm>
            <a:off x="1113453" y="1966912"/>
            <a:ext cx="4114800" cy="4525963"/>
          </a:xfrm>
        </p:spPr>
        <p:txBody>
          <a:bodyPr>
            <a:normAutofit/>
          </a:bodyPr>
          <a:lstStyle/>
          <a:p>
            <a:r>
              <a:rPr lang="en-US" dirty="0"/>
              <a:t>“Ahmad has a cellphone and he has a laptop computer”</a:t>
            </a:r>
          </a:p>
          <a:p>
            <a:endParaRPr lang="en-US" dirty="0"/>
          </a:p>
          <a:p>
            <a:r>
              <a:rPr lang="en-US" dirty="0"/>
              <a:t>“Jack will go to the concert or Steve will go to the concert.”</a:t>
            </a:r>
          </a:p>
        </p:txBody>
      </p:sp>
      <p:sp>
        <p:nvSpPr>
          <p:cNvPr id="1048621" name="Content Placeholder 4"/>
          <p:cNvSpPr>
            <a:spLocks noGrp="1"/>
          </p:cNvSpPr>
          <p:nvPr>
            <p:ph sz="half" idx="2"/>
          </p:nvPr>
        </p:nvSpPr>
        <p:spPr>
          <a:xfrm>
            <a:off x="6172200" y="1966912"/>
            <a:ext cx="5181600" cy="4351338"/>
          </a:xfrm>
        </p:spPr>
        <p:txBody>
          <a:bodyPr>
            <a:normAutofit/>
          </a:bodyPr>
          <a:lstStyle/>
          <a:p>
            <a:r>
              <a:rPr lang="en-US" dirty="0"/>
              <a:t>“Ahmad does not have a cellphone or he does not have a laptop computer.”</a:t>
            </a:r>
          </a:p>
          <a:p>
            <a:endParaRPr lang="en-US" dirty="0"/>
          </a:p>
          <a:p>
            <a:r>
              <a:rPr lang="en-US" dirty="0"/>
              <a:t>“Jack will not go to the concert and Steve will not go to the concert.”</a:t>
            </a:r>
          </a:p>
        </p:txBody>
      </p:sp>
      <p:sp>
        <p:nvSpPr>
          <p:cNvPr id="1048622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DE MORGAN’S LAWS</a:t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Use De Morgan’s laws to find the negation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Ibrahim is smart and hard working.</a:t>
            </a:r>
          </a:p>
          <a:p>
            <a:r>
              <a:rPr lang="en-US" dirty="0"/>
              <a:t>Ahmed support Peshawar </a:t>
            </a:r>
            <a:r>
              <a:rPr lang="en-US" dirty="0" err="1"/>
              <a:t>Zalmi</a:t>
            </a:r>
            <a:r>
              <a:rPr lang="en-US" dirty="0"/>
              <a:t> or Karachi Kings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161" name="Freeform: Shape 2097160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163" name="Arc 2097162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97165" name="Rectangle 2097164">
            <a:extLst>
              <a:ext uri="{FF2B5EF4-FFF2-40B4-BE49-F238E27FC236}">
                <a16:creationId xmlns:a16="http://schemas.microsoft.com/office/drawing/2014/main" id="{BCC81228-CEA3-402B-B8E5-688F5BFA7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97167" name="Arc 2097166">
            <a:extLst>
              <a:ext uri="{FF2B5EF4-FFF2-40B4-BE49-F238E27FC236}">
                <a16:creationId xmlns:a16="http://schemas.microsoft.com/office/drawing/2014/main" id="{BC0916B8-FF7A-4ECB-9FD7-C7668658D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011959" flipH="1">
            <a:off x="548353" y="3147190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11" name="Title 3"/>
          <p:cNvSpPr>
            <a:spLocks noGrp="1"/>
          </p:cNvSpPr>
          <p:nvPr>
            <p:ph type="title"/>
          </p:nvPr>
        </p:nvSpPr>
        <p:spPr>
          <a:xfrm>
            <a:off x="874815" y="2322864"/>
            <a:ext cx="5491090" cy="2387600"/>
          </a:xfr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l"/>
            <a:b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SOME IMPORTANT EQUIVALENCES</a:t>
            </a:r>
            <a:b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48610" name="Content Placeholder 4"/>
          <p:cNvSpPr>
            <a:spLocks noGrp="1"/>
          </p:cNvSpPr>
          <p:nvPr>
            <p:ph type="body" idx="1"/>
          </p:nvPr>
        </p:nvSpPr>
        <p:spPr>
          <a:xfrm>
            <a:off x="870148" y="4802538"/>
            <a:ext cx="5491090" cy="14119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</p:txBody>
      </p:sp>
      <p:sp>
        <p:nvSpPr>
          <p:cNvPr id="2097169" name="Rectangle 2097168">
            <a:extLst>
              <a:ext uri="{FF2B5EF4-FFF2-40B4-BE49-F238E27FC236}">
                <a16:creationId xmlns:a16="http://schemas.microsoft.com/office/drawing/2014/main" id="{9DC011D4-C95F-4B2E-9A3C-A46DCDE956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38584" y="447363"/>
            <a:ext cx="734141" cy="734141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6D2287-DD23-C3B7-5DC5-9462E4DD21E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502" t="24931" r="42201" b="12174"/>
          <a:stretch/>
        </p:blipFill>
        <p:spPr>
          <a:xfrm>
            <a:off x="6071071" y="0"/>
            <a:ext cx="4709776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</p:txBody>
      </p:sp>
      <p:sp>
        <p:nvSpPr>
          <p:cNvPr id="1048590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LOGICAL EQUIVALENCES of DISTRIBUTIVE LAW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BD73C7-533D-205D-B21B-F5CD010FD5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168" t="45507" r="24675" b="13768"/>
          <a:stretch/>
        </p:blipFill>
        <p:spPr>
          <a:xfrm>
            <a:off x="1560443" y="2245698"/>
            <a:ext cx="8413981" cy="39209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A4FD1C0-4F03-B26C-044D-036A641C416D}"/>
              </a:ext>
            </a:extLst>
          </p:cNvPr>
          <p:cNvSpPr txBox="1"/>
          <p:nvPr/>
        </p:nvSpPr>
        <p:spPr>
          <a:xfrm>
            <a:off x="1070737" y="1541917"/>
            <a:ext cx="94355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Show that p ∨ (q ∧ r) and (p ∨ q) ∧ (p ∨ r) are logically equivalent. </a:t>
            </a:r>
          </a:p>
          <a:p>
            <a:r>
              <a:rPr lang="en-US" dirty="0"/>
              <a:t>This is the distributive law of disjunction (OR) over conjunction (AND)</a:t>
            </a:r>
            <a:endParaRPr lang="en-PK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2"/>
          <p:cNvSpPr>
            <a:spLocks noGrp="1"/>
          </p:cNvSpPr>
          <p:nvPr>
            <p:ph type="title"/>
          </p:nvPr>
        </p:nvSpPr>
        <p:spPr>
          <a:xfrm>
            <a:off x="192155" y="138567"/>
            <a:ext cx="11704984" cy="1223093"/>
          </a:xfrm>
        </p:spPr>
        <p:txBody>
          <a:bodyPr rtlCol="0">
            <a:normAutofit/>
          </a:bodyPr>
          <a:lstStyle/>
          <a:p>
            <a:r>
              <a:rPr lang="en-US" sz="3200" dirty="0"/>
              <a:t>LOGICAL EQUIVALENCES INVOLVING CONDITIONAL STATEMENTS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A5CEA5-15B7-6766-4247-AE533EB468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4266" t="19923" r="56304" b="12174"/>
          <a:stretch/>
        </p:blipFill>
        <p:spPr>
          <a:xfrm>
            <a:off x="4184374" y="1015834"/>
            <a:ext cx="4114800" cy="534051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1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 </a:t>
            </a:r>
          </a:p>
          <a:p>
            <a:pPr lvl="1"/>
            <a:endParaRPr lang="en-US" dirty="0"/>
          </a:p>
        </p:txBody>
      </p:sp>
      <p:sp>
        <p:nvSpPr>
          <p:cNvPr id="1048602" name="Title 2"/>
          <p:cNvSpPr>
            <a:spLocks noGrp="1"/>
          </p:cNvSpPr>
          <p:nvPr>
            <p:ph type="title"/>
          </p:nvPr>
        </p:nvSpPr>
        <p:spPr>
          <a:xfrm>
            <a:off x="268224" y="292777"/>
            <a:ext cx="11652504" cy="1325563"/>
          </a:xfrm>
        </p:spPr>
        <p:txBody>
          <a:bodyPr>
            <a:normAutofit fontScale="90000"/>
          </a:bodyPr>
          <a:lstStyle/>
          <a:p>
            <a:br>
              <a:rPr lang="en-US" sz="3600" dirty="0"/>
            </a:br>
            <a:r>
              <a:rPr lang="en-US" sz="3600" dirty="0"/>
              <a:t>LOGICAL EQUIVALENCES INVOLVING BICONDITIONAL STATEMENTS</a:t>
            </a:r>
            <a:br>
              <a:rPr lang="en-US" sz="3600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23588-75E4-4CBE-46E6-15C3ABA1DD9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4375" t="21014" r="19701" b="40290"/>
          <a:stretch/>
        </p:blipFill>
        <p:spPr>
          <a:xfrm>
            <a:off x="3591453" y="1618340"/>
            <a:ext cx="5019147" cy="421419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Freeform: Shape 1048617">
            <a:extLst>
              <a:ext uri="{FF2B5EF4-FFF2-40B4-BE49-F238E27FC236}">
                <a16:creationId xmlns:a16="http://schemas.microsoft.com/office/drawing/2014/main" id="{8A7BA06D-B3FF-4E91-8639-B4569AE3A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/>
            <a:ahLst/>
            <a:cxnLst/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20" name="Arc 1048619">
            <a:extLst>
              <a:ext uri="{FF2B5EF4-FFF2-40B4-BE49-F238E27FC236}">
                <a16:creationId xmlns:a16="http://schemas.microsoft.com/office/drawing/2014/main" id="{2B30C86D-5A07-48BC-9C9D-6F9A2DB1E9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555710" y="106482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48622" name="Rectangle 1048621">
            <a:extLst>
              <a:ext uri="{FF2B5EF4-FFF2-40B4-BE49-F238E27FC236}">
                <a16:creationId xmlns:a16="http://schemas.microsoft.com/office/drawing/2014/main" id="{5AB83C82-30AD-4DF2-A9AD-CE1547FDED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24" name="Rectangle 1048623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26" name="Oval 1048625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13" name="Title 2"/>
          <p:cNvSpPr>
            <a:spLocks noGrp="1"/>
          </p:cNvSpPr>
          <p:nvPr>
            <p:ph type="title"/>
          </p:nvPr>
        </p:nvSpPr>
        <p:spPr>
          <a:xfrm>
            <a:off x="3315031" y="1380754"/>
            <a:ext cx="5561938" cy="2513516"/>
          </a:xfrm>
        </p:spPr>
        <p:txBody>
          <a:bodyPr vert="horz" lIns="91440" tIns="45720" rIns="91440" bIns="45720" rtlCol="0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sz="5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CONSTRUCTING NEW LOGICAL EQUIVALENCES</a:t>
            </a:r>
          </a:p>
        </p:txBody>
      </p:sp>
      <p:sp>
        <p:nvSpPr>
          <p:cNvPr id="1048612" name="Text Placeholder 1048611"/>
          <p:cNvSpPr>
            <a:spLocks noGrp="1"/>
          </p:cNvSpPr>
          <p:nvPr>
            <p:ph type="body" idx="1"/>
          </p:nvPr>
        </p:nvSpPr>
        <p:spPr>
          <a:xfrm>
            <a:off x="3315031" y="4076802"/>
            <a:ext cx="5561938" cy="153458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Using already Established Equivalences</a:t>
            </a:r>
          </a:p>
        </p:txBody>
      </p:sp>
      <p:sp>
        <p:nvSpPr>
          <p:cNvPr id="1048628" name="Arc 1048627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8630" name="Oval 1048629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426" name="Rectangle 1026">
            <a:extLst>
              <a:ext uri="{FF2B5EF4-FFF2-40B4-BE49-F238E27FC236}">
                <a16:creationId xmlns:a16="http://schemas.microsoft.com/office/drawing/2014/main" id="{16C2709C-C70C-95DD-3E63-00858EB881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38200" y="202041"/>
            <a:ext cx="7772400" cy="685800"/>
          </a:xfrm>
        </p:spPr>
        <p:txBody>
          <a:bodyPr/>
          <a:lstStyle/>
          <a:p>
            <a:r>
              <a:rPr lang="en-US" altLang="en-PK" sz="4000" dirty="0"/>
              <a:t>Exercises</a:t>
            </a:r>
            <a:endParaRPr lang="en-CA" altLang="en-PK" sz="4000" dirty="0"/>
          </a:p>
        </p:txBody>
      </p:sp>
      <p:sp>
        <p:nvSpPr>
          <p:cNvPr id="487427" name="Rectangle 1027">
            <a:extLst>
              <a:ext uri="{FF2B5EF4-FFF2-40B4-BE49-F238E27FC236}">
                <a16:creationId xmlns:a16="http://schemas.microsoft.com/office/drawing/2014/main" id="{9B073B1E-28BF-F3A5-1F07-12B89E88F8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2393" y="2085068"/>
            <a:ext cx="10524929" cy="3597275"/>
          </a:xfrm>
        </p:spPr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altLang="en-PK" dirty="0">
                <a:sym typeface="Symbol" panose="05050102010706020507" pitchFamily="18" charset="2"/>
              </a:rPr>
              <a:t>LHS =</a:t>
            </a:r>
            <a:r>
              <a:rPr lang="en-US" altLang="en-PK" b="1" dirty="0">
                <a:sym typeface="Symbol" panose="05050102010706020507" pitchFamily="18" charset="2"/>
              </a:rPr>
              <a:t> (</a:t>
            </a:r>
            <a:r>
              <a:rPr lang="en-US" altLang="en-PK" b="1" dirty="0"/>
              <a:t>P </a:t>
            </a:r>
            <a:r>
              <a:rPr lang="en-US" altLang="en-PK" b="1" dirty="0">
                <a:sym typeface="Symbol" panose="05050102010706020507" pitchFamily="18" charset="2"/>
              </a:rPr>
              <a:t> Q)  (P  R)</a:t>
            </a:r>
          </a:p>
          <a:p>
            <a:pPr marL="457200" lvl="1" indent="0">
              <a:buNone/>
            </a:pPr>
            <a:r>
              <a:rPr lang="en-US" altLang="en-PK" b="1" dirty="0">
                <a:sym typeface="Symbol" panose="05050102010706020507" pitchFamily="18" charset="2"/>
              </a:rPr>
              <a:t>	  </a:t>
            </a:r>
            <a:r>
              <a:rPr lang="en-US" altLang="en-PK" dirty="0">
                <a:sym typeface="Symbol" panose="05050102010706020507" pitchFamily="18" charset="2"/>
              </a:rPr>
              <a:t>=</a:t>
            </a:r>
            <a:r>
              <a:rPr lang="en-US" altLang="en-PK" b="1" dirty="0">
                <a:sym typeface="Symbol" panose="05050102010706020507" pitchFamily="18" charset="2"/>
              </a:rPr>
              <a:t> (</a:t>
            </a: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P  Q</a:t>
            </a:r>
            <a:r>
              <a:rPr lang="en-US" altLang="en-PK" b="1" dirty="0"/>
              <a:t> ) </a:t>
            </a:r>
            <a:r>
              <a:rPr lang="en-US" altLang="en-PK" b="1" dirty="0">
                <a:sym typeface="Symbol" panose="05050102010706020507" pitchFamily="18" charset="2"/>
              </a:rPr>
              <a:t> (</a:t>
            </a: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P  R</a:t>
            </a:r>
            <a:r>
              <a:rPr lang="en-US" altLang="en-PK" b="1" dirty="0"/>
              <a:t> )    </a:t>
            </a:r>
            <a:r>
              <a:rPr lang="en-US" altLang="en-PK" sz="1800" dirty="0"/>
              <a:t>Implication Law : P </a:t>
            </a:r>
            <a:r>
              <a:rPr lang="en-US" altLang="en-PK" sz="1800" dirty="0">
                <a:sym typeface="Symbol" panose="05050102010706020507" pitchFamily="18" charset="2"/>
              </a:rPr>
              <a:t> Q = </a:t>
            </a:r>
            <a:r>
              <a:rPr lang="en-CA" altLang="en-PK" sz="1800" dirty="0">
                <a:sym typeface="Symbol" panose="05050102010706020507" pitchFamily="18" charset="2"/>
              </a:rPr>
              <a:t> </a:t>
            </a:r>
            <a:r>
              <a:rPr lang="en-US" altLang="en-PK" sz="1800" dirty="0">
                <a:sym typeface="Symbol" panose="05050102010706020507" pitchFamily="18" charset="2"/>
              </a:rPr>
              <a:t>P  Q</a:t>
            </a:r>
            <a:r>
              <a:rPr lang="en-US" altLang="en-PK" sz="1800" dirty="0"/>
              <a:t> </a:t>
            </a:r>
            <a:endParaRPr lang="en-US" altLang="en-PK" sz="18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en-PK" dirty="0">
                <a:sym typeface="Symbol" panose="05050102010706020507" pitchFamily="18" charset="2"/>
              </a:rPr>
              <a:t>	  =</a:t>
            </a:r>
            <a:r>
              <a:rPr lang="en-US" altLang="en-PK" b="1" dirty="0">
                <a:sym typeface="Symbol" panose="05050102010706020507" pitchFamily="18" charset="2"/>
              </a:rPr>
              <a:t> </a:t>
            </a: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P  (Q</a:t>
            </a:r>
            <a:r>
              <a:rPr lang="en-US" altLang="en-PK" b="1" dirty="0"/>
              <a:t> </a:t>
            </a:r>
            <a:r>
              <a:rPr lang="en-US" altLang="en-PK" b="1" dirty="0">
                <a:sym typeface="Symbol" panose="05050102010706020507" pitchFamily="18" charset="2"/>
              </a:rPr>
              <a:t> R) 		 </a:t>
            </a:r>
            <a:r>
              <a:rPr lang="en-US" altLang="en-PK" sz="1800" dirty="0">
                <a:sym typeface="Symbol" panose="05050102010706020507" pitchFamily="18" charset="2"/>
              </a:rPr>
              <a:t>Distributive Law : P  (Q</a:t>
            </a:r>
            <a:r>
              <a:rPr lang="en-US" altLang="en-PK" sz="1800" dirty="0"/>
              <a:t> </a:t>
            </a:r>
            <a:r>
              <a:rPr lang="en-US" altLang="en-PK" sz="1800" dirty="0">
                <a:sym typeface="Symbol" panose="05050102010706020507" pitchFamily="18" charset="2"/>
              </a:rPr>
              <a:t> R)  = (P  Q</a:t>
            </a:r>
            <a:r>
              <a:rPr lang="en-US" altLang="en-PK" sz="1800" dirty="0"/>
              <a:t>) </a:t>
            </a:r>
            <a:r>
              <a:rPr lang="en-US" altLang="en-PK" sz="1800" dirty="0">
                <a:sym typeface="Symbol" panose="05050102010706020507" pitchFamily="18" charset="2"/>
              </a:rPr>
              <a:t> (P  R</a:t>
            </a:r>
            <a:r>
              <a:rPr lang="en-US" altLang="en-PK" sz="1800" dirty="0"/>
              <a:t>) </a:t>
            </a:r>
          </a:p>
          <a:p>
            <a:pPr marL="457200" lvl="1" indent="0">
              <a:buNone/>
            </a:pPr>
            <a:endParaRPr lang="en-US" altLang="en-PK" sz="18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en-PK" dirty="0">
                <a:sym typeface="Symbol" panose="05050102010706020507" pitchFamily="18" charset="2"/>
              </a:rPr>
              <a:t>RHS =</a:t>
            </a:r>
            <a:r>
              <a:rPr lang="en-US" altLang="en-PK" sz="1800" dirty="0">
                <a:sym typeface="Symbol" panose="05050102010706020507" pitchFamily="18" charset="2"/>
              </a:rPr>
              <a:t>  </a:t>
            </a:r>
            <a:r>
              <a:rPr lang="en-US" altLang="en-PK" b="1" dirty="0">
                <a:sym typeface="Symbol" panose="05050102010706020507" pitchFamily="18" charset="2"/>
              </a:rPr>
              <a:t>P  (Q  R) </a:t>
            </a:r>
          </a:p>
          <a:p>
            <a:pPr marL="457200" lvl="1" indent="0">
              <a:buNone/>
            </a:pPr>
            <a:r>
              <a:rPr lang="en-US" altLang="en-PK" b="1" dirty="0">
                <a:sym typeface="Symbol" panose="05050102010706020507" pitchFamily="18" charset="2"/>
              </a:rPr>
              <a:t>	   </a:t>
            </a:r>
            <a:r>
              <a:rPr lang="en-US" altLang="en-PK" dirty="0">
                <a:sym typeface="Symbol" panose="05050102010706020507" pitchFamily="18" charset="2"/>
              </a:rPr>
              <a:t>=</a:t>
            </a:r>
            <a:r>
              <a:rPr lang="en-US" altLang="en-PK" b="1" dirty="0">
                <a:sym typeface="Symbol" panose="05050102010706020507" pitchFamily="18" charset="2"/>
              </a:rPr>
              <a:t> </a:t>
            </a:r>
            <a:r>
              <a:rPr lang="en-CA" altLang="en-PK" b="1" dirty="0">
                <a:sym typeface="Symbol" panose="05050102010706020507" pitchFamily="18" charset="2"/>
              </a:rPr>
              <a:t> </a:t>
            </a:r>
            <a:r>
              <a:rPr lang="en-US" altLang="en-PK" b="1" dirty="0">
                <a:sym typeface="Symbol" panose="05050102010706020507" pitchFamily="18" charset="2"/>
              </a:rPr>
              <a:t>P  ( Q</a:t>
            </a:r>
            <a:r>
              <a:rPr lang="en-US" altLang="en-PK" b="1" dirty="0"/>
              <a:t>  </a:t>
            </a:r>
            <a:r>
              <a:rPr lang="en-US" altLang="en-PK" b="1" dirty="0">
                <a:sym typeface="Symbol" panose="05050102010706020507" pitchFamily="18" charset="2"/>
              </a:rPr>
              <a:t> R</a:t>
            </a:r>
            <a:r>
              <a:rPr lang="en-US" altLang="en-PK" b="1" dirty="0"/>
              <a:t> )   	</a:t>
            </a:r>
            <a:r>
              <a:rPr lang="en-US" altLang="en-PK" sz="1800" b="1" dirty="0"/>
              <a:t> </a:t>
            </a:r>
            <a:r>
              <a:rPr lang="en-US" altLang="en-PK" sz="1800" dirty="0"/>
              <a:t>Implication Law : P </a:t>
            </a:r>
            <a:r>
              <a:rPr lang="en-US" altLang="en-PK" sz="1800" dirty="0">
                <a:sym typeface="Symbol" panose="05050102010706020507" pitchFamily="18" charset="2"/>
              </a:rPr>
              <a:t> Q = </a:t>
            </a:r>
            <a:r>
              <a:rPr lang="en-CA" altLang="en-PK" sz="1800" dirty="0">
                <a:sym typeface="Symbol" panose="05050102010706020507" pitchFamily="18" charset="2"/>
              </a:rPr>
              <a:t> </a:t>
            </a:r>
            <a:r>
              <a:rPr lang="en-US" altLang="en-PK" sz="1800" dirty="0">
                <a:sym typeface="Symbol" panose="05050102010706020507" pitchFamily="18" charset="2"/>
              </a:rPr>
              <a:t>P  Q</a:t>
            </a:r>
            <a:r>
              <a:rPr lang="en-US" altLang="en-PK" sz="1800" dirty="0"/>
              <a:t> </a:t>
            </a:r>
            <a:endParaRPr lang="en-US" altLang="en-PK" sz="1800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endParaRPr lang="en-US" altLang="en-PK" dirty="0">
              <a:sym typeface="Symbol" panose="05050102010706020507" pitchFamily="18" charset="2"/>
            </a:endParaRPr>
          </a:p>
          <a:p>
            <a:pPr marL="457200" lvl="1" indent="0">
              <a:buNone/>
            </a:pPr>
            <a:r>
              <a:rPr lang="en-US" altLang="en-PK" dirty="0">
                <a:sym typeface="Symbol" panose="05050102010706020507" pitchFamily="18" charset="2"/>
              </a:rPr>
              <a:t>Hence LHS = RHS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A781E6-977A-4298-AEA1-9AEDB05D465B}"/>
              </a:ext>
            </a:extLst>
          </p:cNvPr>
          <p:cNvSpPr txBox="1"/>
          <p:nvPr/>
        </p:nvSpPr>
        <p:spPr>
          <a:xfrm>
            <a:off x="1468430" y="887841"/>
            <a:ext cx="94728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2400" dirty="0">
                <a:sym typeface="Symbol" panose="05050102010706020507" pitchFamily="18" charset="2"/>
              </a:rPr>
              <a:t>Show that </a:t>
            </a:r>
            <a:r>
              <a:rPr lang="en-US" altLang="en-PK" sz="2400" b="1" dirty="0">
                <a:sym typeface="Symbol" panose="05050102010706020507" pitchFamily="18" charset="2"/>
              </a:rPr>
              <a:t>(</a:t>
            </a:r>
            <a:r>
              <a:rPr lang="en-US" altLang="en-PK" sz="2400" b="1" dirty="0"/>
              <a:t>P </a:t>
            </a:r>
            <a:r>
              <a:rPr lang="en-US" altLang="en-PK" sz="2400" b="1" dirty="0">
                <a:sym typeface="Symbol" panose="05050102010706020507" pitchFamily="18" charset="2"/>
              </a:rPr>
              <a:t> Q)  (P  R)  P  (Q  R) </a:t>
            </a:r>
            <a:r>
              <a:rPr lang="en-US" altLang="en-PK" sz="2400" dirty="0">
                <a:sym typeface="Symbol" panose="05050102010706020507" pitchFamily="18" charset="2"/>
              </a:rPr>
              <a:t>by equivalence laws:</a:t>
            </a:r>
            <a:r>
              <a:rPr lang="en-US" altLang="en-PK" sz="2800" dirty="0">
                <a:sym typeface="Symbol" panose="05050102010706020507" pitchFamily="18" charset="2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28521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874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2"/>
          <p:cNvSpPr>
            <a:spLocks noGrp="1"/>
          </p:cNvSpPr>
          <p:nvPr>
            <p:ph type="title"/>
          </p:nvPr>
        </p:nvSpPr>
        <p:spPr>
          <a:xfrm>
            <a:off x="436857" y="770036"/>
            <a:ext cx="11496994" cy="1325563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Show that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￢(p → q)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 ∧￢q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 are logically equivalent using Equivalence Laws.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AC2EB2-503B-E777-F453-8121009BAB71}"/>
              </a:ext>
            </a:extLst>
          </p:cNvPr>
          <p:cNvSpPr txBox="1"/>
          <p:nvPr/>
        </p:nvSpPr>
        <p:spPr>
          <a:xfrm>
            <a:off x="2466780" y="3140762"/>
            <a:ext cx="85495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3200" b="1" dirty="0">
                <a:sym typeface="Symbol" panose="05050102010706020507" pitchFamily="18" charset="2"/>
              </a:rPr>
              <a:t>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PK" sz="3200" b="1" dirty="0">
                <a:sym typeface="Symbol" panose="05050102010706020507" pitchFamily="18" charset="2"/>
              </a:rPr>
              <a:t>(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US" altLang="en-PK" sz="3200" b="1" dirty="0">
                <a:sym typeface="Symbol" panose="05050102010706020507" pitchFamily="18" charset="2"/>
              </a:rPr>
              <a:t>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q)		 </a:t>
            </a:r>
            <a:r>
              <a:rPr lang="en-US" altLang="en-PK" sz="2000" dirty="0"/>
              <a:t>Implication Law : P </a:t>
            </a:r>
            <a:r>
              <a:rPr lang="en-US" altLang="en-PK" sz="2000" dirty="0">
                <a:sym typeface="Symbol" panose="05050102010706020507" pitchFamily="18" charset="2"/>
              </a:rPr>
              <a:t> Q =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￢</a:t>
            </a:r>
            <a:r>
              <a:rPr lang="en-CA" altLang="en-PK" sz="2000" dirty="0">
                <a:sym typeface="Symbol" panose="05050102010706020507" pitchFamily="18" charset="2"/>
              </a:rPr>
              <a:t> </a:t>
            </a:r>
            <a:r>
              <a:rPr lang="en-US" altLang="en-PK" sz="2000" dirty="0">
                <a:sym typeface="Symbol" panose="05050102010706020507" pitchFamily="18" charset="2"/>
              </a:rPr>
              <a:t>P  Q</a:t>
            </a:r>
            <a:r>
              <a:rPr lang="en-US" altLang="en-PK" sz="2000" dirty="0"/>
              <a:t> </a:t>
            </a:r>
            <a:endParaRPr lang="en-PK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776F98-61D5-0585-35D0-CE0170188996}"/>
              </a:ext>
            </a:extLst>
          </p:cNvPr>
          <p:cNvSpPr txBox="1"/>
          <p:nvPr/>
        </p:nvSpPr>
        <p:spPr>
          <a:xfrm>
            <a:off x="2368359" y="3880507"/>
            <a:ext cx="97583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PK" sz="3200" b="1" dirty="0">
                <a:sym typeface="Symbol" panose="05050102010706020507" pitchFamily="18" charset="2"/>
              </a:rPr>
              <a:t>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altLang="en-PK" sz="3200" b="1" dirty="0">
                <a:sym typeface="Symbol" panose="05050102010706020507" pitchFamily="18" charset="2"/>
              </a:rPr>
              <a:t>(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p) </a:t>
            </a:r>
            <a:r>
              <a:rPr lang="en-US" altLang="en-PK" sz="3200" b="1" dirty="0">
                <a:sym typeface="Symbol" panose="05050102010706020507" pitchFamily="18" charset="2"/>
              </a:rPr>
              <a:t> 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q	</a:t>
            </a:r>
            <a:r>
              <a:rPr lang="en-US" altLang="en-PK" sz="2000" dirty="0"/>
              <a:t>   Second </a:t>
            </a:r>
            <a:r>
              <a:rPr lang="en-US" altLang="en-PK" sz="2000" dirty="0" err="1"/>
              <a:t>DeMorgan</a:t>
            </a:r>
            <a:r>
              <a:rPr lang="en-US" altLang="en-PK" sz="2000" dirty="0"/>
              <a:t> law: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CA" altLang="en-PK" sz="2000" dirty="0">
                <a:sym typeface="Symbol" panose="05050102010706020507" pitchFamily="18" charset="2"/>
              </a:rPr>
              <a:t> (</a:t>
            </a:r>
            <a:r>
              <a:rPr lang="en-US" altLang="en-PK" sz="2000" dirty="0">
                <a:sym typeface="Symbol" panose="05050102010706020507" pitchFamily="18" charset="2"/>
              </a:rPr>
              <a:t>P  Q)=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altLang="en-PK" sz="2000" dirty="0">
                <a:sym typeface="Symbol" panose="05050102010706020507" pitchFamily="18" charset="2"/>
              </a:rPr>
              <a:t>P </a:t>
            </a:r>
            <a:r>
              <a:rPr lang="en-US" altLang="en-PK" sz="2000" b="1" dirty="0">
                <a:sym typeface="Symbol" panose="05050102010706020507" pitchFamily="18" charset="2"/>
              </a:rPr>
              <a:t>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altLang="en-PK" sz="2000" dirty="0">
                <a:sym typeface="Symbol" panose="05050102010706020507" pitchFamily="18" charset="2"/>
              </a:rPr>
              <a:t> Q </a:t>
            </a:r>
            <a:r>
              <a:rPr lang="en-US" altLang="en-PK" sz="2000" dirty="0"/>
              <a:t> </a:t>
            </a:r>
            <a:endParaRPr lang="en-PK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FE0CCC-E220-EC8E-5B62-3AA9497130BD}"/>
              </a:ext>
            </a:extLst>
          </p:cNvPr>
          <p:cNvSpPr txBox="1"/>
          <p:nvPr/>
        </p:nvSpPr>
        <p:spPr>
          <a:xfrm>
            <a:off x="2368359" y="4650711"/>
            <a:ext cx="864798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PK" sz="3200" b="1" dirty="0">
                <a:sym typeface="Symbol" panose="05050102010706020507" pitchFamily="18" charset="2"/>
              </a:rPr>
              <a:t> 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US" altLang="en-PK" sz="3200" b="1" dirty="0">
                <a:sym typeface="Symbol" panose="05050102010706020507" pitchFamily="18" charset="2"/>
              </a:rPr>
              <a:t>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q			  </a:t>
            </a:r>
            <a:r>
              <a:rPr lang="en-US" altLang="en-PK" sz="2000" dirty="0"/>
              <a:t>Double Negation Law :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￢ (￢</a:t>
            </a:r>
            <a:r>
              <a:rPr lang="en-CA" altLang="en-PK" sz="2000" dirty="0">
                <a:sym typeface="Symbol" panose="05050102010706020507" pitchFamily="18" charset="2"/>
              </a:rPr>
              <a:t> </a:t>
            </a:r>
            <a:r>
              <a:rPr lang="en-US" altLang="en-PK" sz="2000" dirty="0">
                <a:sym typeface="Symbol" panose="05050102010706020507" pitchFamily="18" charset="2"/>
              </a:rPr>
              <a:t>P ) = P</a:t>
            </a:r>
          </a:p>
          <a:p>
            <a:endParaRPr lang="en-US" altLang="en-PK" sz="2000" b="1" dirty="0">
              <a:sym typeface="Symbol" panose="05050102010706020507" pitchFamily="18" charset="2"/>
            </a:endParaRPr>
          </a:p>
          <a:p>
            <a:r>
              <a:rPr lang="en-US" altLang="en-PK" sz="32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= RHS </a:t>
            </a:r>
            <a:endParaRPr lang="en-PK" sz="4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4F7723-0C96-B76E-2946-0767C937C155}"/>
              </a:ext>
            </a:extLst>
          </p:cNvPr>
          <p:cNvSpPr txBox="1"/>
          <p:nvPr/>
        </p:nvSpPr>
        <p:spPr>
          <a:xfrm>
            <a:off x="1819470" y="2325793"/>
            <a:ext cx="80079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LHS</a:t>
            </a: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32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= ￢(p → q) </a:t>
            </a:r>
            <a:endParaRPr lang="en-PK" sz="32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3AA6AC-5823-D4D2-53EC-75430F914195}"/>
              </a:ext>
            </a:extLst>
          </p:cNvPr>
          <p:cNvSpPr txBox="1"/>
          <p:nvPr/>
        </p:nvSpPr>
        <p:spPr>
          <a:xfrm>
            <a:off x="2368360" y="4650710"/>
            <a:ext cx="57850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en-PK" sz="3200" b="1" dirty="0">
                <a:solidFill>
                  <a:srgbClr val="00B050"/>
                </a:solidFill>
                <a:sym typeface="Symbol" panose="05050102010706020507" pitchFamily="18" charset="2"/>
              </a:rPr>
              <a:t> </a:t>
            </a:r>
            <a:r>
              <a:rPr lang="en-US" sz="32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 </a:t>
            </a:r>
            <a:r>
              <a:rPr lang="en-US" altLang="en-PK" sz="3200" b="1" dirty="0">
                <a:solidFill>
                  <a:srgbClr val="00B050"/>
                </a:solidFill>
                <a:sym typeface="Symbol" panose="05050102010706020507" pitchFamily="18" charset="2"/>
              </a:rPr>
              <a:t></a:t>
            </a:r>
            <a:r>
              <a:rPr lang="en-US" sz="3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sz="3200" b="1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q			 </a:t>
            </a:r>
          </a:p>
          <a:p>
            <a:endParaRPr lang="en-US" altLang="en-PK" sz="2000" b="1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  <a:sym typeface="Symbol" panose="05050102010706020507" pitchFamily="18" charset="2"/>
            </a:endParaRPr>
          </a:p>
          <a:p>
            <a:r>
              <a:rPr lang="en-US" altLang="en-PK" sz="3200" dirty="0">
                <a:solidFill>
                  <a:srgbClr val="00B050"/>
                </a:solidFill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= RHS </a:t>
            </a:r>
            <a:endParaRPr lang="en-PK" sz="4400" dirty="0">
              <a:solidFill>
                <a:srgbClr val="00B05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10" grpId="0"/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Title 2"/>
          <p:cNvSpPr>
            <a:spLocks noGrp="1"/>
          </p:cNvSpPr>
          <p:nvPr>
            <p:ph type="title"/>
          </p:nvPr>
        </p:nvSpPr>
        <p:spPr>
          <a:xfrm>
            <a:off x="407685" y="-66493"/>
            <a:ext cx="11575970" cy="1325563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Show that ￢(p ∨ (￢p ∧ q)) and ￢p ∧￢q are logically equivalent.</a:t>
            </a:r>
            <a:endParaRPr lang="en-US" sz="2400" dirty="0"/>
          </a:p>
        </p:txBody>
      </p:sp>
      <p:pic>
        <p:nvPicPr>
          <p:cNvPr id="2097163" name="Picture 2"/>
          <p:cNvPicPr>
            <a:picLocks noChangeAspect="1" noChangeArrowheads="1"/>
          </p:cNvPicPr>
          <p:nvPr/>
        </p:nvPicPr>
        <p:blipFill rotWithShape="1">
          <a:blip r:embed="rId2"/>
          <a:srcRect t="-109" r="43590" b="81823"/>
          <a:stretch/>
        </p:blipFill>
        <p:spPr bwMode="auto">
          <a:xfrm>
            <a:off x="497612" y="1400886"/>
            <a:ext cx="6655542" cy="648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C81C696B-8128-96B3-8C4F-2EBCA165AAC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7855" t="14872" r="43590" b="68696"/>
          <a:stretch/>
        </p:blipFill>
        <p:spPr bwMode="auto">
          <a:xfrm>
            <a:off x="2604304" y="2167876"/>
            <a:ext cx="4548850" cy="58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DA7158B7-7E1C-8762-45FF-8AAEFF06DF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7854" t="28964" r="43591" b="54604"/>
          <a:stretch/>
        </p:blipFill>
        <p:spPr bwMode="auto">
          <a:xfrm>
            <a:off x="2604304" y="2904997"/>
            <a:ext cx="4548850" cy="58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7AF4D3DC-A299-53B1-2ABA-3B09C2F5B5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8737" t="40889" r="42708" b="42679"/>
          <a:stretch/>
        </p:blipFill>
        <p:spPr bwMode="auto">
          <a:xfrm>
            <a:off x="2675681" y="3456711"/>
            <a:ext cx="4548850" cy="58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2">
            <a:extLst>
              <a:ext uri="{FF2B5EF4-FFF2-40B4-BE49-F238E27FC236}">
                <a16:creationId xmlns:a16="http://schemas.microsoft.com/office/drawing/2014/main" id="{164108D1-DB11-4BF1-38AC-AB408392744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19522" t="54891" r="41923" b="28677"/>
          <a:stretch/>
        </p:blipFill>
        <p:spPr bwMode="auto">
          <a:xfrm>
            <a:off x="2789499" y="4164699"/>
            <a:ext cx="4548850" cy="58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ED43B757-CF80-EFA1-ABDC-19FF489645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20014" t="68192" r="45110" b="15376"/>
          <a:stretch/>
        </p:blipFill>
        <p:spPr bwMode="auto">
          <a:xfrm>
            <a:off x="2892706" y="4805420"/>
            <a:ext cx="4114800" cy="58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E013F8AD-F2B6-01F0-998B-D006BFC0A64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/>
          <a:srcRect l="20014" t="83575" r="45110" b="-7"/>
          <a:stretch/>
        </p:blipFill>
        <p:spPr bwMode="auto">
          <a:xfrm>
            <a:off x="2892706" y="5513990"/>
            <a:ext cx="4114800" cy="582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0F88EB2-086A-B4A3-A4B9-A357DF1F321B}"/>
              </a:ext>
            </a:extLst>
          </p:cNvPr>
          <p:cNvSpPr txBox="1"/>
          <p:nvPr/>
        </p:nvSpPr>
        <p:spPr>
          <a:xfrm>
            <a:off x="7007506" y="1576935"/>
            <a:ext cx="5209679" cy="369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1800" dirty="0"/>
              <a:t>Second </a:t>
            </a:r>
            <a:r>
              <a:rPr lang="en-US" altLang="en-PK" sz="1800" dirty="0" err="1"/>
              <a:t>DeMorgan</a:t>
            </a:r>
            <a:r>
              <a:rPr lang="en-US" altLang="en-PK" sz="1800" dirty="0"/>
              <a:t> law: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CA" altLang="en-PK" sz="1800" dirty="0">
                <a:sym typeface="Symbol" panose="05050102010706020507" pitchFamily="18" charset="2"/>
              </a:rPr>
              <a:t> (</a:t>
            </a:r>
            <a:r>
              <a:rPr lang="en-US" altLang="en-PK" sz="1800" dirty="0">
                <a:sym typeface="Symbol" panose="05050102010706020507" pitchFamily="18" charset="2"/>
              </a:rPr>
              <a:t>P  Q)=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altLang="en-PK" sz="1800" dirty="0">
                <a:sym typeface="Symbol" panose="05050102010706020507" pitchFamily="18" charset="2"/>
              </a:rPr>
              <a:t>P </a:t>
            </a:r>
            <a:r>
              <a:rPr lang="en-US" altLang="en-PK" sz="1800" b="1" dirty="0">
                <a:sym typeface="Symbol" panose="05050102010706020507" pitchFamily="18" charset="2"/>
              </a:rPr>
              <a:t>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altLang="en-PK" sz="1800" dirty="0">
                <a:sym typeface="Symbol" panose="05050102010706020507" pitchFamily="18" charset="2"/>
              </a:rPr>
              <a:t> Q </a:t>
            </a:r>
            <a:endParaRPr lang="en-PK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C21204-C36A-61B0-DEB3-D49E28AD552C}"/>
              </a:ext>
            </a:extLst>
          </p:cNvPr>
          <p:cNvSpPr txBox="1"/>
          <p:nvPr/>
        </p:nvSpPr>
        <p:spPr>
          <a:xfrm>
            <a:off x="6982320" y="2305496"/>
            <a:ext cx="50013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1800" dirty="0"/>
              <a:t>First </a:t>
            </a:r>
            <a:r>
              <a:rPr lang="en-US" altLang="en-PK" sz="1800" dirty="0" err="1"/>
              <a:t>DeMorgan</a:t>
            </a:r>
            <a:r>
              <a:rPr lang="en-US" altLang="en-PK" sz="1800" dirty="0"/>
              <a:t> law: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CA" altLang="en-PK" sz="1800" dirty="0">
                <a:sym typeface="Symbol" panose="05050102010706020507" pitchFamily="18" charset="2"/>
              </a:rPr>
              <a:t> (</a:t>
            </a:r>
            <a:r>
              <a:rPr lang="en-US" altLang="en-PK" sz="1800" dirty="0">
                <a:sym typeface="Symbol" panose="05050102010706020507" pitchFamily="18" charset="2"/>
              </a:rPr>
              <a:t>P </a:t>
            </a:r>
            <a:r>
              <a:rPr lang="en-US" altLang="en-PK" sz="1800" b="1" dirty="0">
                <a:sym typeface="Symbol" panose="05050102010706020507" pitchFamily="18" charset="2"/>
              </a:rPr>
              <a:t></a:t>
            </a:r>
            <a:r>
              <a:rPr lang="en-US" altLang="en-PK" sz="1800" dirty="0">
                <a:sym typeface="Symbol" panose="05050102010706020507" pitchFamily="18" charset="2"/>
              </a:rPr>
              <a:t> Q)=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altLang="en-PK" sz="1800" dirty="0">
                <a:sym typeface="Symbol" panose="05050102010706020507" pitchFamily="18" charset="2"/>
              </a:rPr>
              <a:t>P 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￢</a:t>
            </a:r>
            <a:r>
              <a:rPr lang="en-US" altLang="en-PK" sz="1800" dirty="0">
                <a:sym typeface="Symbol" panose="05050102010706020507" pitchFamily="18" charset="2"/>
              </a:rPr>
              <a:t> Q </a:t>
            </a:r>
            <a:endParaRPr lang="en-PK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83B705-EBE7-40B6-BB0B-B6F2F5B481F8}"/>
              </a:ext>
            </a:extLst>
          </p:cNvPr>
          <p:cNvSpPr txBox="1"/>
          <p:nvPr/>
        </p:nvSpPr>
        <p:spPr>
          <a:xfrm>
            <a:off x="7007506" y="3031722"/>
            <a:ext cx="45488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1800" dirty="0"/>
              <a:t>Double Negation Law : </a:t>
            </a:r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800" dirty="0"/>
              <a:t>￢ (￢</a:t>
            </a:r>
            <a:r>
              <a:rPr lang="en-CA" altLang="en-PK" sz="1800" dirty="0">
                <a:sym typeface="Symbol" panose="05050102010706020507" pitchFamily="18" charset="2"/>
              </a:rPr>
              <a:t> </a:t>
            </a:r>
            <a:r>
              <a:rPr lang="en-US" altLang="en-PK" sz="1800" dirty="0">
                <a:sym typeface="Symbol" panose="05050102010706020507" pitchFamily="18" charset="2"/>
              </a:rPr>
              <a:t>P ) = 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8A7E6D-7CF2-D6DC-C84E-C57FD4F3CDF1}"/>
              </a:ext>
            </a:extLst>
          </p:cNvPr>
          <p:cNvSpPr txBox="1"/>
          <p:nvPr/>
        </p:nvSpPr>
        <p:spPr>
          <a:xfrm>
            <a:off x="6504248" y="3595002"/>
            <a:ext cx="57965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1" indent="0">
              <a:buNone/>
            </a:pPr>
            <a:r>
              <a:rPr lang="en-US" altLang="en-PK" b="1" dirty="0">
                <a:sym typeface="Symbol" panose="05050102010706020507" pitchFamily="18" charset="2"/>
              </a:rPr>
              <a:t> </a:t>
            </a:r>
            <a:r>
              <a:rPr lang="en-US" altLang="en-PK" sz="1800" dirty="0">
                <a:sym typeface="Symbol" panose="05050102010706020507" pitchFamily="18" charset="2"/>
              </a:rPr>
              <a:t>Distributive Law : P  (Q</a:t>
            </a:r>
            <a:r>
              <a:rPr lang="en-US" altLang="en-PK" sz="1800" dirty="0"/>
              <a:t> </a:t>
            </a:r>
            <a:r>
              <a:rPr lang="en-US" altLang="en-PK" sz="1800" dirty="0">
                <a:sym typeface="Symbol" panose="05050102010706020507" pitchFamily="18" charset="2"/>
              </a:rPr>
              <a:t> R)  = (P  Q</a:t>
            </a:r>
            <a:r>
              <a:rPr lang="en-US" altLang="en-PK" sz="1800" dirty="0"/>
              <a:t>) </a:t>
            </a:r>
            <a:r>
              <a:rPr lang="en-US" altLang="en-PK" sz="1800" dirty="0">
                <a:sym typeface="Symbol" panose="05050102010706020507" pitchFamily="18" charset="2"/>
              </a:rPr>
              <a:t> (P  R</a:t>
            </a:r>
            <a:r>
              <a:rPr lang="en-US" altLang="en-PK" sz="1800" dirty="0"/>
              <a:t>) </a:t>
            </a:r>
          </a:p>
          <a:p>
            <a:pPr marL="457200" lvl="1" indent="0">
              <a:buNone/>
            </a:pPr>
            <a:endParaRPr lang="en-US" altLang="en-PK" sz="1800" dirty="0">
              <a:sym typeface="Symbol" panose="05050102010706020507" pitchFamily="18" charset="2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B4690F-93EF-E60E-4039-AB1E1A1709A1}"/>
              </a:ext>
            </a:extLst>
          </p:cNvPr>
          <p:cNvSpPr txBox="1"/>
          <p:nvPr/>
        </p:nvSpPr>
        <p:spPr>
          <a:xfrm>
            <a:off x="7093641" y="4931497"/>
            <a:ext cx="4111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1800" dirty="0">
                <a:sym typeface="Symbol" panose="05050102010706020507" pitchFamily="18" charset="2"/>
              </a:rPr>
              <a:t>Commutative Law: P v Q = Q v P </a:t>
            </a:r>
            <a:endParaRPr lang="en-PK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FB02241-571E-5B13-C0A4-0390F3AD2C10}"/>
              </a:ext>
            </a:extLst>
          </p:cNvPr>
          <p:cNvSpPr txBox="1"/>
          <p:nvPr/>
        </p:nvSpPr>
        <p:spPr>
          <a:xfrm>
            <a:off x="7153154" y="5513434"/>
            <a:ext cx="39928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dirty="0">
                <a:sym typeface="Symbol" panose="05050102010706020507" pitchFamily="18" charset="2"/>
              </a:rPr>
              <a:t>Identity Law : </a:t>
            </a:r>
            <a:r>
              <a:rPr lang="en-US" altLang="en-PK" sz="1800" dirty="0">
                <a:sym typeface="Symbol" panose="05050102010706020507" pitchFamily="18" charset="2"/>
              </a:rPr>
              <a:t> P v </a:t>
            </a:r>
            <a:r>
              <a:rPr lang="en-US" altLang="en-PK" sz="1800" b="1" dirty="0">
                <a:sym typeface="Symbol" panose="05050102010706020507" pitchFamily="18" charset="2"/>
              </a:rPr>
              <a:t>F</a:t>
            </a:r>
            <a:r>
              <a:rPr lang="en-US" altLang="en-PK" sz="1800" dirty="0">
                <a:sym typeface="Symbol" panose="05050102010706020507" pitchFamily="18" charset="2"/>
              </a:rPr>
              <a:t> = </a:t>
            </a:r>
            <a:r>
              <a:rPr lang="en-US" altLang="en-PK" sz="1800" b="1" dirty="0">
                <a:sym typeface="Symbol" panose="05050102010706020507" pitchFamily="18" charset="2"/>
              </a:rPr>
              <a:t>P</a:t>
            </a:r>
            <a:r>
              <a:rPr lang="en-US" altLang="en-PK" sz="1800" dirty="0">
                <a:sym typeface="Symbol" panose="05050102010706020507" pitchFamily="18" charset="2"/>
              </a:rPr>
              <a:t> </a:t>
            </a:r>
            <a:endParaRPr lang="en-PK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59959D-DF8B-DDA0-068F-EB3EE106F2AC}"/>
              </a:ext>
            </a:extLst>
          </p:cNvPr>
          <p:cNvSpPr txBox="1"/>
          <p:nvPr/>
        </p:nvSpPr>
        <p:spPr>
          <a:xfrm>
            <a:off x="7093641" y="4155196"/>
            <a:ext cx="4111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PK" sz="1800" dirty="0">
                <a:sym typeface="Symbol" panose="05050102010706020507" pitchFamily="18" charset="2"/>
              </a:rPr>
              <a:t>Negation Law : P </a:t>
            </a:r>
            <a:r>
              <a:rPr lang="en-US" altLang="en-PK" dirty="0">
                <a:sym typeface="Symbol" panose="05050102010706020507" pitchFamily="18" charset="2"/>
              </a:rPr>
              <a:t> </a:t>
            </a:r>
            <a:r>
              <a:rPr lang="en-US" dirty="0"/>
              <a:t>￢</a:t>
            </a:r>
            <a:r>
              <a:rPr lang="en-CA" altLang="en-PK" dirty="0">
                <a:sym typeface="Symbol" panose="05050102010706020507" pitchFamily="18" charset="2"/>
              </a:rPr>
              <a:t> </a:t>
            </a:r>
            <a:r>
              <a:rPr lang="en-US" altLang="en-PK" dirty="0">
                <a:sym typeface="Symbol" panose="05050102010706020507" pitchFamily="18" charset="2"/>
              </a:rPr>
              <a:t>P</a:t>
            </a:r>
            <a:r>
              <a:rPr lang="en-US" altLang="en-PK" sz="1800" dirty="0">
                <a:sym typeface="Symbol" panose="05050102010706020507" pitchFamily="18" charset="2"/>
              </a:rPr>
              <a:t> = F</a:t>
            </a:r>
            <a:endParaRPr lang="en-PK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7" grpId="0"/>
      <p:bldP spid="19" grpId="0"/>
      <p:bldP spid="21" grpId="0"/>
      <p:bldP spid="2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BA902-C6E6-401D-9F2F-B918949BF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latin typeface="Calibri"/>
                <a:cs typeface="Calibri"/>
              </a:rPr>
              <a:t>Q:</a:t>
            </a:r>
            <a:r>
              <a:rPr lang="en-US" sz="2800" spc="-55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1,5,6,7,9,16,17,22,23,24,30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AD6CC544-15FF-48F1-B444-1C4D24ED4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39750" y="365125"/>
            <a:ext cx="10515600" cy="1325563"/>
          </a:xfrm>
          <a:prstGeom prst="rect">
            <a:avLst/>
          </a:prstGeom>
        </p:spPr>
        <p:txBody>
          <a:bodyPr vert="horz" wrap="square" lIns="0" tIns="13335" rIns="0" bIns="0" rtlCol="0" anchor="b">
            <a:spAutoFit/>
          </a:bodyPr>
          <a:lstStyle/>
          <a:p>
            <a:pPr marL="15875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Practice</a:t>
            </a:r>
            <a:r>
              <a:rPr spc="-25" dirty="0"/>
              <a:t> </a:t>
            </a:r>
            <a:r>
              <a:rPr spc="-10" dirty="0"/>
              <a:t>Problems</a:t>
            </a:r>
          </a:p>
        </p:txBody>
      </p:sp>
    </p:spTree>
    <p:extLst>
      <p:ext uri="{BB962C8B-B14F-4D97-AF65-F5344CB8AC3E}">
        <p14:creationId xmlns:p14="http://schemas.microsoft.com/office/powerpoint/2010/main" val="9851348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CD81A2A-6ED4-4EF4-A14C-912D31E148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661932C-CA15-4E17-B115-FAE7CBEE4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198657" y="1"/>
            <a:ext cx="1155142" cy="625027"/>
          </a:xfrm>
          <a:custGeom>
            <a:avLst/>
            <a:gdLst>
              <a:gd name="connsiteX0" fmla="*/ 4784 w 1155142"/>
              <a:gd name="connsiteY0" fmla="*/ 0 h 625027"/>
              <a:gd name="connsiteX1" fmla="*/ 1150358 w 1155142"/>
              <a:gd name="connsiteY1" fmla="*/ 0 h 625027"/>
              <a:gd name="connsiteX2" fmla="*/ 1155142 w 1155142"/>
              <a:gd name="connsiteY2" fmla="*/ 47456 h 625027"/>
              <a:gd name="connsiteX3" fmla="*/ 577571 w 1155142"/>
              <a:gd name="connsiteY3" fmla="*/ 625027 h 625027"/>
              <a:gd name="connsiteX4" fmla="*/ 0 w 1155142"/>
              <a:gd name="connsiteY4" fmla="*/ 47456 h 625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625027">
                <a:moveTo>
                  <a:pt x="4784" y="0"/>
                </a:moveTo>
                <a:lnTo>
                  <a:pt x="1150358" y="0"/>
                </a:lnTo>
                <a:lnTo>
                  <a:pt x="1155142" y="47456"/>
                </a:lnTo>
                <a:cubicBezTo>
                  <a:pt x="1155142" y="366440"/>
                  <a:pt x="896555" y="625027"/>
                  <a:pt x="577571" y="625027"/>
                </a:cubicBezTo>
                <a:cubicBezTo>
                  <a:pt x="258587" y="625027"/>
                  <a:pt x="0" y="366440"/>
                  <a:pt x="0" y="47456"/>
                </a:cubicBezTo>
                <a:close/>
              </a:path>
            </a:pathLst>
          </a:custGeom>
          <a:solidFill>
            <a:schemeClr val="accent5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BA007-143D-5203-7BB6-1AC9D7EF06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56211"/>
            <a:ext cx="7073774" cy="5100137"/>
          </a:xfrm>
        </p:spPr>
        <p:txBody>
          <a:bodyPr>
            <a:normAutofit/>
          </a:bodyPr>
          <a:lstStyle/>
          <a:p>
            <a:r>
              <a:rPr lang="en-US" sz="2000" b="1" dirty="0"/>
              <a:t>Chapter 1 :  The Foundations: Logic and Proofs</a:t>
            </a:r>
          </a:p>
          <a:p>
            <a:r>
              <a:rPr lang="en-US" sz="2000" dirty="0"/>
              <a:t>1.3 Propositional Equivalence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Tautology vs Contradiction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Logical Equivalence </a:t>
            </a:r>
          </a:p>
          <a:p>
            <a:pPr marL="571500" lvl="1" indent="-342900"/>
            <a:r>
              <a:rPr lang="en-US" sz="1600" dirty="0" err="1"/>
              <a:t>DeMorgan’s</a:t>
            </a:r>
            <a:r>
              <a:rPr lang="en-US" sz="1600" dirty="0"/>
              <a:t> Law,</a:t>
            </a:r>
          </a:p>
          <a:p>
            <a:pPr marL="571500" lvl="1" indent="-342900"/>
            <a:r>
              <a:rPr lang="en-US" sz="1600" dirty="0"/>
              <a:t>Other Laws of Equivalence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Constructing New Logical Equivalences</a:t>
            </a:r>
          </a:p>
          <a:p>
            <a:pPr marL="571500" lvl="1" indent="-342900"/>
            <a:r>
              <a:rPr lang="en-US" sz="1600" dirty="0"/>
              <a:t>Using Truth Tables</a:t>
            </a:r>
          </a:p>
          <a:p>
            <a:pPr marL="571500" lvl="1" indent="-342900"/>
            <a:r>
              <a:rPr lang="en-US" sz="1600" dirty="0"/>
              <a:t>Using Laws of Equivalences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590ADD5-9383-4D3D-9047-3DA2593CCB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8185" y="3423959"/>
            <a:ext cx="540822" cy="540822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Books">
            <a:extLst>
              <a:ext uri="{FF2B5EF4-FFF2-40B4-BE49-F238E27FC236}">
                <a16:creationId xmlns:a16="http://schemas.microsoft.com/office/drawing/2014/main" id="{15422CC9-DE1C-CDFA-10C5-EC1FEBB1DA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87184" y="1216485"/>
            <a:ext cx="3781051" cy="3781051"/>
          </a:xfrm>
          <a:custGeom>
            <a:avLst/>
            <a:gdLst/>
            <a:ahLst/>
            <a:cxnLst/>
            <a:rect l="l" t="t" r="r" b="b"/>
            <a:pathLst>
              <a:path w="4114800" h="5712488">
                <a:moveTo>
                  <a:pt x="133155" y="0"/>
                </a:moveTo>
                <a:lnTo>
                  <a:pt x="3981645" y="0"/>
                </a:lnTo>
                <a:cubicBezTo>
                  <a:pt x="4055184" y="0"/>
                  <a:pt x="4114800" y="59616"/>
                  <a:pt x="4114800" y="133155"/>
                </a:cubicBezTo>
                <a:lnTo>
                  <a:pt x="4114800" y="5579333"/>
                </a:lnTo>
                <a:cubicBezTo>
                  <a:pt x="4114800" y="5652872"/>
                  <a:pt x="4055184" y="5712488"/>
                  <a:pt x="3981645" y="5712488"/>
                </a:cubicBezTo>
                <a:lnTo>
                  <a:pt x="133155" y="5712488"/>
                </a:lnTo>
                <a:cubicBezTo>
                  <a:pt x="59616" y="5712488"/>
                  <a:pt x="0" y="5652872"/>
                  <a:pt x="0" y="5579333"/>
                </a:cubicBezTo>
                <a:lnTo>
                  <a:pt x="0" y="133155"/>
                </a:lnTo>
                <a:cubicBezTo>
                  <a:pt x="0" y="59616"/>
                  <a:pt x="59616" y="0"/>
                  <a:pt x="133155" y="0"/>
                </a:cubicBezTo>
                <a:close/>
              </a:path>
            </a:pathLst>
          </a:cu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DABE3E45-88CF-45D8-8D40-C773324D9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49602" y="1"/>
            <a:ext cx="2066948" cy="1621879"/>
          </a:xfrm>
          <a:custGeom>
            <a:avLst/>
            <a:gdLst>
              <a:gd name="connsiteX0" fmla="*/ 0 w 2066948"/>
              <a:gd name="connsiteY0" fmla="*/ 0 h 1621879"/>
              <a:gd name="connsiteX1" fmla="*/ 123825 w 2066948"/>
              <a:gd name="connsiteY1" fmla="*/ 0 h 1621879"/>
              <a:gd name="connsiteX2" fmla="*/ 123825 w 2066948"/>
              <a:gd name="connsiteY2" fmla="*/ 1452620 h 1621879"/>
              <a:gd name="connsiteX3" fmla="*/ 1881378 w 2066948"/>
              <a:gd name="connsiteY3" fmla="*/ 436017 h 1621879"/>
              <a:gd name="connsiteX4" fmla="*/ 1127572 w 2066948"/>
              <a:gd name="connsiteY4" fmla="*/ 0 h 1621879"/>
              <a:gd name="connsiteX5" fmla="*/ 1374887 w 2066948"/>
              <a:gd name="connsiteY5" fmla="*/ 0 h 1621879"/>
              <a:gd name="connsiteX6" fmla="*/ 2035969 w 2066948"/>
              <a:gd name="connsiteY6" fmla="*/ 382391 h 1621879"/>
              <a:gd name="connsiteX7" fmla="*/ 2058648 w 2066948"/>
              <a:gd name="connsiteY7" fmla="*/ 466963 h 1621879"/>
              <a:gd name="connsiteX8" fmla="*/ 2035969 w 2066948"/>
              <a:gd name="connsiteY8" fmla="*/ 489642 h 1621879"/>
              <a:gd name="connsiteX9" fmla="*/ 92869 w 2066948"/>
              <a:gd name="connsiteY9" fmla="*/ 1613592 h 1621879"/>
              <a:gd name="connsiteX10" fmla="*/ 61913 w 2066948"/>
              <a:gd name="connsiteY10" fmla="*/ 1621879 h 1621879"/>
              <a:gd name="connsiteX11" fmla="*/ 0 w 2066948"/>
              <a:gd name="connsiteY11" fmla="*/ 1559967 h 16218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066948" h="1621879">
                <a:moveTo>
                  <a:pt x="0" y="0"/>
                </a:moveTo>
                <a:lnTo>
                  <a:pt x="123825" y="0"/>
                </a:lnTo>
                <a:lnTo>
                  <a:pt x="123825" y="1452620"/>
                </a:lnTo>
                <a:lnTo>
                  <a:pt x="1881378" y="436017"/>
                </a:lnTo>
                <a:lnTo>
                  <a:pt x="1127572" y="0"/>
                </a:lnTo>
                <a:lnTo>
                  <a:pt x="1374887" y="0"/>
                </a:lnTo>
                <a:lnTo>
                  <a:pt x="2035969" y="382391"/>
                </a:lnTo>
                <a:cubicBezTo>
                  <a:pt x="2065582" y="399479"/>
                  <a:pt x="2075745" y="437340"/>
                  <a:pt x="2058648" y="466963"/>
                </a:cubicBezTo>
                <a:cubicBezTo>
                  <a:pt x="2053219" y="476384"/>
                  <a:pt x="2045389" y="484204"/>
                  <a:pt x="2035969" y="489642"/>
                </a:cubicBezTo>
                <a:lnTo>
                  <a:pt x="92869" y="1613592"/>
                </a:lnTo>
                <a:cubicBezTo>
                  <a:pt x="83458" y="1619031"/>
                  <a:pt x="72780" y="1621889"/>
                  <a:pt x="61913" y="1621879"/>
                </a:cubicBezTo>
                <a:cubicBezTo>
                  <a:pt x="27719" y="1621879"/>
                  <a:pt x="0" y="1594161"/>
                  <a:pt x="0" y="1559967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9CD1692-827B-4C8D-B4A1-134FD04CF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138745" y="1027906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B91ECDA9-56DC-4270-8F33-01C5637B8C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463438">
            <a:off x="7456580" y="5166682"/>
            <a:ext cx="1835725" cy="2024785"/>
          </a:xfrm>
          <a:custGeom>
            <a:avLst/>
            <a:gdLst>
              <a:gd name="connsiteX0" fmla="*/ 1801138 w 1835725"/>
              <a:gd name="connsiteY0" fmla="*/ 1622662 h 2024785"/>
              <a:gd name="connsiteX1" fmla="*/ 1835717 w 1835725"/>
              <a:gd name="connsiteY1" fmla="*/ 1680254 h 2024785"/>
              <a:gd name="connsiteX2" fmla="*/ 1812568 w 1835725"/>
              <a:gd name="connsiteY2" fmla="*/ 1877193 h 2024785"/>
              <a:gd name="connsiteX3" fmla="*/ 1776210 w 1835725"/>
              <a:gd name="connsiteY3" fmla="*/ 2024785 h 2024785"/>
              <a:gd name="connsiteX4" fmla="*/ 1655772 w 1835725"/>
              <a:gd name="connsiteY4" fmla="*/ 1983449 h 2024785"/>
              <a:gd name="connsiteX5" fmla="*/ 1687591 w 1835725"/>
              <a:gd name="connsiteY5" fmla="*/ 1854495 h 2024785"/>
              <a:gd name="connsiteX6" fmla="*/ 1708939 w 1835725"/>
              <a:gd name="connsiteY6" fmla="*/ 1673301 h 2024785"/>
              <a:gd name="connsiteX7" fmla="*/ 1778129 w 1835725"/>
              <a:gd name="connsiteY7" fmla="*/ 1615979 h 2024785"/>
              <a:gd name="connsiteX8" fmla="*/ 1801138 w 1835725"/>
              <a:gd name="connsiteY8" fmla="*/ 1622662 h 2024785"/>
              <a:gd name="connsiteX9" fmla="*/ 1585229 w 1835725"/>
              <a:gd name="connsiteY9" fmla="*/ 764759 h 2024785"/>
              <a:gd name="connsiteX10" fmla="*/ 1623024 w 1835725"/>
              <a:gd name="connsiteY10" fmla="*/ 792810 h 2024785"/>
              <a:gd name="connsiteX11" fmla="*/ 1777614 w 1835725"/>
              <a:gd name="connsiteY11" fmla="*/ 1157141 h 2024785"/>
              <a:gd name="connsiteX12" fmla="*/ 1733799 w 1835725"/>
              <a:gd name="connsiteY12" fmla="*/ 1235532 h 2024785"/>
              <a:gd name="connsiteX13" fmla="*/ 1716464 w 1835725"/>
              <a:gd name="connsiteY13" fmla="*/ 1237722 h 2024785"/>
              <a:gd name="connsiteX14" fmla="*/ 1716464 w 1835725"/>
              <a:gd name="connsiteY14" fmla="*/ 1237913 h 2024785"/>
              <a:gd name="connsiteX15" fmla="*/ 1655409 w 1835725"/>
              <a:gd name="connsiteY15" fmla="*/ 1191717 h 2024785"/>
              <a:gd name="connsiteX16" fmla="*/ 1513200 w 1835725"/>
              <a:gd name="connsiteY16" fmla="*/ 856627 h 2024785"/>
              <a:gd name="connsiteX17" fmla="*/ 1538499 w 1835725"/>
              <a:gd name="connsiteY17" fmla="*/ 770415 h 2024785"/>
              <a:gd name="connsiteX18" fmla="*/ 1585229 w 1835725"/>
              <a:gd name="connsiteY18" fmla="*/ 764759 h 2024785"/>
              <a:gd name="connsiteX19" fmla="*/ 477919 w 1835725"/>
              <a:gd name="connsiteY19" fmla="*/ 21437 h 2024785"/>
              <a:gd name="connsiteX20" fmla="*/ 509236 w 1835725"/>
              <a:gd name="connsiteY20" fmla="*/ 84182 h 2024785"/>
              <a:gd name="connsiteX21" fmla="*/ 445829 w 1835725"/>
              <a:gd name="connsiteY21" fmla="*/ 139871 h 2024785"/>
              <a:gd name="connsiteX22" fmla="*/ 437447 w 1835725"/>
              <a:gd name="connsiteY22" fmla="*/ 139395 h 2024785"/>
              <a:gd name="connsiteX23" fmla="*/ 73211 w 1835725"/>
              <a:gd name="connsiteY23" fmla="*/ 137204 h 2024785"/>
              <a:gd name="connsiteX24" fmla="*/ 749 w 1835725"/>
              <a:gd name="connsiteY24" fmla="*/ 84082 h 2024785"/>
              <a:gd name="connsiteX25" fmla="*/ 53871 w 1835725"/>
              <a:gd name="connsiteY25" fmla="*/ 11621 h 2024785"/>
              <a:gd name="connsiteX26" fmla="*/ 58352 w 1835725"/>
              <a:gd name="connsiteY26" fmla="*/ 11093 h 2024785"/>
              <a:gd name="connsiteX27" fmla="*/ 454020 w 1835725"/>
              <a:gd name="connsiteY27" fmla="*/ 13474 h 2024785"/>
              <a:gd name="connsiteX28" fmla="*/ 477919 w 1835725"/>
              <a:gd name="connsiteY28" fmla="*/ 21437 h 2024785"/>
              <a:gd name="connsiteX29" fmla="*/ 957797 w 1835725"/>
              <a:gd name="connsiteY29" fmla="*/ 167970 h 2024785"/>
              <a:gd name="connsiteX30" fmla="*/ 1286982 w 1835725"/>
              <a:gd name="connsiteY30" fmla="*/ 387616 h 2024785"/>
              <a:gd name="connsiteX31" fmla="*/ 1293725 w 1835725"/>
              <a:gd name="connsiteY31" fmla="*/ 477075 h 2024785"/>
              <a:gd name="connsiteX32" fmla="*/ 1245453 w 1835725"/>
              <a:gd name="connsiteY32" fmla="*/ 499154 h 2024785"/>
              <a:gd name="connsiteX33" fmla="*/ 1245167 w 1835725"/>
              <a:gd name="connsiteY33" fmla="*/ 499154 h 2024785"/>
              <a:gd name="connsiteX34" fmla="*/ 1203638 w 1835725"/>
              <a:gd name="connsiteY34" fmla="*/ 484104 h 2024785"/>
              <a:gd name="connsiteX35" fmla="*/ 900647 w 1835725"/>
              <a:gd name="connsiteY35" fmla="*/ 281508 h 2024785"/>
              <a:gd name="connsiteX36" fmla="*/ 872454 w 1835725"/>
              <a:gd name="connsiteY36" fmla="*/ 196164 h 2024785"/>
              <a:gd name="connsiteX37" fmla="*/ 957797 w 1835725"/>
              <a:gd name="connsiteY37" fmla="*/ 167970 h 2024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835725" h="2024785">
                <a:moveTo>
                  <a:pt x="1801138" y="1622662"/>
                </a:moveTo>
                <a:cubicBezTo>
                  <a:pt x="1822105" y="1633400"/>
                  <a:pt x="1836117" y="1655372"/>
                  <a:pt x="1835717" y="1680254"/>
                </a:cubicBezTo>
                <a:cubicBezTo>
                  <a:pt x="1832093" y="1746382"/>
                  <a:pt x="1824354" y="1812154"/>
                  <a:pt x="1812568" y="1877193"/>
                </a:cubicBezTo>
                <a:lnTo>
                  <a:pt x="1776210" y="2024785"/>
                </a:lnTo>
                <a:lnTo>
                  <a:pt x="1655772" y="1983449"/>
                </a:lnTo>
                <a:lnTo>
                  <a:pt x="1687591" y="1854495"/>
                </a:lnTo>
                <a:cubicBezTo>
                  <a:pt x="1698455" y="1794657"/>
                  <a:pt x="1705590" y="1734142"/>
                  <a:pt x="1708939" y="1673301"/>
                </a:cubicBezTo>
                <a:cubicBezTo>
                  <a:pt x="1712216" y="1638363"/>
                  <a:pt x="1743190" y="1612703"/>
                  <a:pt x="1778129" y="1615979"/>
                </a:cubicBezTo>
                <a:cubicBezTo>
                  <a:pt x="1786387" y="1616753"/>
                  <a:pt x="1794149" y="1619084"/>
                  <a:pt x="1801138" y="1622662"/>
                </a:cubicBezTo>
                <a:close/>
                <a:moveTo>
                  <a:pt x="1585229" y="764759"/>
                </a:moveTo>
                <a:cubicBezTo>
                  <a:pt x="1600438" y="768789"/>
                  <a:pt x="1614156" y="778436"/>
                  <a:pt x="1623024" y="792810"/>
                </a:cubicBezTo>
                <a:cubicBezTo>
                  <a:pt x="1689575" y="907319"/>
                  <a:pt x="1741505" y="1029715"/>
                  <a:pt x="1777614" y="1157141"/>
                </a:cubicBezTo>
                <a:cubicBezTo>
                  <a:pt x="1787149" y="1190888"/>
                  <a:pt x="1767537" y="1225969"/>
                  <a:pt x="1733799" y="1235532"/>
                </a:cubicBezTo>
                <a:cubicBezTo>
                  <a:pt x="1728151" y="1237046"/>
                  <a:pt x="1722312" y="1237780"/>
                  <a:pt x="1716464" y="1237722"/>
                </a:cubicBezTo>
                <a:lnTo>
                  <a:pt x="1716464" y="1237913"/>
                </a:lnTo>
                <a:cubicBezTo>
                  <a:pt x="1688070" y="1237913"/>
                  <a:pt x="1663124" y="1219044"/>
                  <a:pt x="1655409" y="1191717"/>
                </a:cubicBezTo>
                <a:cubicBezTo>
                  <a:pt x="1622214" y="1074512"/>
                  <a:pt x="1574437" y="961936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53325" y="762319"/>
                  <a:pt x="1570022" y="760730"/>
                  <a:pt x="1585229" y="764759"/>
                </a:cubicBezTo>
                <a:close/>
                <a:moveTo>
                  <a:pt x="477919" y="21437"/>
                </a:moveTo>
                <a:cubicBezTo>
                  <a:pt x="499341" y="33775"/>
                  <a:pt x="512445" y="58102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89834" y="-4456"/>
                  <a:pt x="322735" y="-3656"/>
                  <a:pt x="454020" y="13474"/>
                </a:cubicBezTo>
                <a:cubicBezTo>
                  <a:pt x="462713" y="14543"/>
                  <a:pt x="470778" y="17324"/>
                  <a:pt x="477919" y="21437"/>
                </a:cubicBezTo>
                <a:close/>
                <a:moveTo>
                  <a:pt x="957797" y="167970"/>
                </a:move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8235" y="164811"/>
                  <a:pt x="926445" y="152188"/>
                  <a:pt x="957797" y="167970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75F47824-961D-465D-84F9-EAE11BC617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9527" y="6033795"/>
            <a:ext cx="1991064" cy="824205"/>
          </a:xfrm>
          <a:custGeom>
            <a:avLst/>
            <a:gdLst>
              <a:gd name="connsiteX0" fmla="*/ 995532 w 1991064"/>
              <a:gd name="connsiteY0" fmla="*/ 0 h 824205"/>
              <a:gd name="connsiteX1" fmla="*/ 1984823 w 1991064"/>
              <a:gd name="connsiteY1" fmla="*/ 784423 h 824205"/>
              <a:gd name="connsiteX2" fmla="*/ 1991064 w 1991064"/>
              <a:gd name="connsiteY2" fmla="*/ 824205 h 824205"/>
              <a:gd name="connsiteX3" fmla="*/ 0 w 1991064"/>
              <a:gd name="connsiteY3" fmla="*/ 824205 h 824205"/>
              <a:gd name="connsiteX4" fmla="*/ 6241 w 1991064"/>
              <a:gd name="connsiteY4" fmla="*/ 784423 h 824205"/>
              <a:gd name="connsiteX5" fmla="*/ 995532 w 1991064"/>
              <a:gd name="connsiteY5" fmla="*/ 0 h 8242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991064" h="824205">
                <a:moveTo>
                  <a:pt x="995532" y="0"/>
                </a:moveTo>
                <a:cubicBezTo>
                  <a:pt x="1483521" y="0"/>
                  <a:pt x="1890663" y="336754"/>
                  <a:pt x="1984823" y="784423"/>
                </a:cubicBezTo>
                <a:lnTo>
                  <a:pt x="1991064" y="824205"/>
                </a:lnTo>
                <a:lnTo>
                  <a:pt x="0" y="824205"/>
                </a:lnTo>
                <a:lnTo>
                  <a:pt x="6241" y="784423"/>
                </a:lnTo>
                <a:cubicBezTo>
                  <a:pt x="100402" y="336754"/>
                  <a:pt x="507544" y="0"/>
                  <a:pt x="99553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FEC9DA3E-C1D7-472D-B7C0-F71AE41FB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51696" y="5519196"/>
            <a:ext cx="1340305" cy="1338805"/>
          </a:xfrm>
          <a:custGeom>
            <a:avLst/>
            <a:gdLst>
              <a:gd name="connsiteX0" fmla="*/ 61913 w 1340305"/>
              <a:gd name="connsiteY0" fmla="*/ 0 h 1338805"/>
              <a:gd name="connsiteX1" fmla="*/ 1340305 w 1340305"/>
              <a:gd name="connsiteY1" fmla="*/ 0 h 1338805"/>
              <a:gd name="connsiteX2" fmla="*/ 1340305 w 1340305"/>
              <a:gd name="connsiteY2" fmla="*/ 123825 h 1338805"/>
              <a:gd name="connsiteX3" fmla="*/ 123825 w 1340305"/>
              <a:gd name="connsiteY3" fmla="*/ 123825 h 1338805"/>
              <a:gd name="connsiteX4" fmla="*/ 123825 w 1340305"/>
              <a:gd name="connsiteY4" fmla="*/ 1338805 h 1338805"/>
              <a:gd name="connsiteX5" fmla="*/ 0 w 1340305"/>
              <a:gd name="connsiteY5" fmla="*/ 1338805 h 1338805"/>
              <a:gd name="connsiteX6" fmla="*/ 0 w 1340305"/>
              <a:gd name="connsiteY6" fmla="*/ 61913 h 1338805"/>
              <a:gd name="connsiteX7" fmla="*/ 61913 w 1340305"/>
              <a:gd name="connsiteY7" fmla="*/ 0 h 13388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340305" h="1338805">
                <a:moveTo>
                  <a:pt x="61913" y="0"/>
                </a:moveTo>
                <a:lnTo>
                  <a:pt x="1340305" y="0"/>
                </a:lnTo>
                <a:lnTo>
                  <a:pt x="1340305" y="123825"/>
                </a:lnTo>
                <a:lnTo>
                  <a:pt x="123825" y="123825"/>
                </a:lnTo>
                <a:lnTo>
                  <a:pt x="123825" y="1338805"/>
                </a:lnTo>
                <a:lnTo>
                  <a:pt x="0" y="1338805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32344EE1-CFFD-57AA-4D75-9BBE96554682}"/>
              </a:ext>
            </a:extLst>
          </p:cNvPr>
          <p:cNvSpPr txBox="1">
            <a:spLocks/>
          </p:cNvSpPr>
          <p:nvPr/>
        </p:nvSpPr>
        <p:spPr>
          <a:xfrm>
            <a:off x="838201" y="148000"/>
            <a:ext cx="512064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2062828042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{FF24DC02-2B8A-471C-B42D-D3B73C291671}tf78504181_win32</Template>
  <TotalTime>4462</TotalTime>
  <Words>1153</Words>
  <Application>Microsoft Office PowerPoint</Application>
  <PresentationFormat>Widescreen</PresentationFormat>
  <Paragraphs>166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Arial</vt:lpstr>
      <vt:lpstr>Avenir Next LT Pro</vt:lpstr>
      <vt:lpstr>Calibri</vt:lpstr>
      <vt:lpstr>Cambria Math</vt:lpstr>
      <vt:lpstr>Century Gothic</vt:lpstr>
      <vt:lpstr>Comic Sans MS</vt:lpstr>
      <vt:lpstr>Tw Cen MT</vt:lpstr>
      <vt:lpstr>ShapesVTI</vt:lpstr>
      <vt:lpstr>PowerPoint Presentation</vt:lpstr>
      <vt:lpstr>PowerPoint Presentation</vt:lpstr>
      <vt:lpstr>PowerPoint Presentation</vt:lpstr>
      <vt:lpstr>TAUTOLOGY</vt:lpstr>
      <vt:lpstr>CONTRADICTION</vt:lpstr>
      <vt:lpstr>CONTINGENCY</vt:lpstr>
      <vt:lpstr>Class Activity</vt:lpstr>
      <vt:lpstr> LOGICAL EQUIVALENCE </vt:lpstr>
      <vt:lpstr>p ≡ q</vt:lpstr>
      <vt:lpstr>LOGICAL EQUIVALENCE</vt:lpstr>
      <vt:lpstr>PowerPoint Presentation</vt:lpstr>
      <vt:lpstr>A VERY IMPORTANT EQUIVALENCE</vt:lpstr>
      <vt:lpstr> DE MORGAN’S LAWS </vt:lpstr>
      <vt:lpstr> DE MORGAN’S LAWS </vt:lpstr>
      <vt:lpstr> DE MORGAN’S LAWS </vt:lpstr>
      <vt:lpstr> DE MORGAN’S LAWS </vt:lpstr>
      <vt:lpstr>Class Activity</vt:lpstr>
      <vt:lpstr> SOME IMPORTANT EQUIVALENCES </vt:lpstr>
      <vt:lpstr> LOGICAL EQUIVALENCES of DISTRIBUTIVE LAW </vt:lpstr>
      <vt:lpstr>LOGICAL EQUIVALENCES INVOLVING CONDITIONAL STATEMENTS</vt:lpstr>
      <vt:lpstr> LOGICAL EQUIVALENCES INVOLVING BICONDITIONAL STATEMENTS </vt:lpstr>
      <vt:lpstr>CONSTRUCTING NEW LOGICAL EQUIVALENCES</vt:lpstr>
      <vt:lpstr>Exercises</vt:lpstr>
      <vt:lpstr>Show that ￢(p → q) and p ∧￢q are logically equivalent using Equivalence Laws.</vt:lpstr>
      <vt:lpstr>Show that ￢(p ∨ (￢p ∧ q)) and ￢p ∧￢q are logically equivalent.</vt:lpstr>
      <vt:lpstr>Practice Problems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CC2031  Digital Logic Design Section – V11</dc:title>
  <dc:creator>IQRA JAVED</dc:creator>
  <cp:lastModifiedBy>IQRA JAVED</cp:lastModifiedBy>
  <cp:revision>58</cp:revision>
  <dcterms:created xsi:type="dcterms:W3CDTF">2023-10-03T05:27:31Z</dcterms:created>
  <dcterms:modified xsi:type="dcterms:W3CDTF">2025-03-10T06:56:07Z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