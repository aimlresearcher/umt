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gif" ContentType="image/gif"/>
  <Default Extension="png" ContentType="image/png"/>
  <Default Extension="rels" ContentType="application/vnd.openxmlformats-package.relationships+xml"/>
  <Default Extension="svg" ContentType="image/svg+xml"/>
  <Default Extension="vml" ContentType="application/vnd.openxmlformats-officedocument.vmlDrawing"/>
  <Default Extension="wdp" ContentType="image/vnd.ms-photo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68" r:id="rId4"/>
  </p:sldMasterIdLst>
  <p:notesMasterIdLst>
    <p:notesMasterId r:id="rId58"/>
  </p:notesMasterIdLst>
  <p:sldIdLst>
    <p:sldId id="3894" r:id="rId5"/>
    <p:sldId id="3885" r:id="rId6"/>
    <p:sldId id="257" r:id="rId7"/>
    <p:sldId id="357" r:id="rId8"/>
    <p:sldId id="358" r:id="rId9"/>
    <p:sldId id="359" r:id="rId10"/>
    <p:sldId id="258" r:id="rId11"/>
    <p:sldId id="320" r:id="rId12"/>
    <p:sldId id="323" r:id="rId13"/>
    <p:sldId id="324" r:id="rId14"/>
    <p:sldId id="326" r:id="rId15"/>
    <p:sldId id="328" r:id="rId16"/>
    <p:sldId id="329" r:id="rId17"/>
    <p:sldId id="365" r:id="rId18"/>
    <p:sldId id="366" r:id="rId19"/>
    <p:sldId id="332" r:id="rId20"/>
    <p:sldId id="409" r:id="rId21"/>
    <p:sldId id="410" r:id="rId22"/>
    <p:sldId id="333" r:id="rId23"/>
    <p:sldId id="335" r:id="rId24"/>
    <p:sldId id="369" r:id="rId25"/>
    <p:sldId id="370" r:id="rId26"/>
    <p:sldId id="373" r:id="rId27"/>
    <p:sldId id="374" r:id="rId28"/>
    <p:sldId id="375" r:id="rId29"/>
    <p:sldId id="376" r:id="rId30"/>
    <p:sldId id="411" r:id="rId31"/>
    <p:sldId id="412" r:id="rId32"/>
    <p:sldId id="379" r:id="rId33"/>
    <p:sldId id="380" r:id="rId34"/>
    <p:sldId id="391" r:id="rId35"/>
    <p:sldId id="392" r:id="rId36"/>
    <p:sldId id="393" r:id="rId37"/>
    <p:sldId id="395" r:id="rId38"/>
    <p:sldId id="396" r:id="rId39"/>
    <p:sldId id="397" r:id="rId40"/>
    <p:sldId id="398" r:id="rId41"/>
    <p:sldId id="399" r:id="rId42"/>
    <p:sldId id="400" r:id="rId43"/>
    <p:sldId id="3895" r:id="rId44"/>
    <p:sldId id="3896" r:id="rId45"/>
    <p:sldId id="3897" r:id="rId46"/>
    <p:sldId id="417" r:id="rId47"/>
    <p:sldId id="418" r:id="rId48"/>
    <p:sldId id="402" r:id="rId49"/>
    <p:sldId id="403" r:id="rId50"/>
    <p:sldId id="404" r:id="rId51"/>
    <p:sldId id="3898" r:id="rId52"/>
    <p:sldId id="3899" r:id="rId53"/>
    <p:sldId id="394" r:id="rId54"/>
    <p:sldId id="405" r:id="rId55"/>
    <p:sldId id="406" r:id="rId56"/>
    <p:sldId id="3855" r:id="rId5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200" userDrawn="1">
          <p15:clr>
            <a:srgbClr val="A4A3A4"/>
          </p15:clr>
        </p15:guide>
        <p15:guide id="2" orient="horz" pos="3408" userDrawn="1">
          <p15:clr>
            <a:srgbClr val="A4A3A4"/>
          </p15:clr>
        </p15:guide>
        <p15:guide id="3" pos="6936" userDrawn="1">
          <p15:clr>
            <a:srgbClr val="A4A3A4"/>
          </p15:clr>
        </p15:guide>
        <p15:guide id="4" pos="744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3697" autoAdjust="0"/>
    <p:restoredTop sz="94660"/>
  </p:normalViewPr>
  <p:slideViewPr>
    <p:cSldViewPr snapToGrid="0">
      <p:cViewPr>
        <p:scale>
          <a:sx n="75" d="100"/>
          <a:sy n="75" d="100"/>
        </p:scale>
        <p:origin x="54" y="-210"/>
      </p:cViewPr>
      <p:guideLst>
        <p:guide orient="horz" pos="1200"/>
        <p:guide orient="horz" pos="3408"/>
        <p:guide pos="6936"/>
        <p:guide pos="744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50" Type="http://schemas.openxmlformats.org/officeDocument/2006/relationships/slide" Target="slides/slide46.xml"/><Relationship Id="rId55" Type="http://schemas.openxmlformats.org/officeDocument/2006/relationships/slide" Target="slides/slide51.xml"/><Relationship Id="rId63" Type="http://schemas.microsoft.com/office/2018/10/relationships/authors" Target="authors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3" Type="http://schemas.openxmlformats.org/officeDocument/2006/relationships/slide" Target="slides/slide49.xml"/><Relationship Id="rId58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61" Type="http://schemas.openxmlformats.org/officeDocument/2006/relationships/theme" Target="theme/theme1.xml"/><Relationship Id="rId19" Type="http://schemas.openxmlformats.org/officeDocument/2006/relationships/slide" Target="slides/slide1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56" Type="http://schemas.openxmlformats.org/officeDocument/2006/relationships/slide" Target="slides/slide52.xml"/><Relationship Id="rId8" Type="http://schemas.openxmlformats.org/officeDocument/2006/relationships/slide" Target="slides/slide4.xml"/><Relationship Id="rId51" Type="http://schemas.openxmlformats.org/officeDocument/2006/relationships/slide" Target="slides/slide47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59" Type="http://schemas.openxmlformats.org/officeDocument/2006/relationships/presProps" Target="presProps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openxmlformats.org/officeDocument/2006/relationships/slide" Target="slides/slide50.xml"/><Relationship Id="rId62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slide" Target="slides/slide45.xml"/><Relationship Id="rId57" Type="http://schemas.openxmlformats.org/officeDocument/2006/relationships/slide" Target="slides/slide53.xml"/><Relationship Id="rId10" Type="http://schemas.openxmlformats.org/officeDocument/2006/relationships/slide" Target="slides/slide6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slide" Target="slides/slide48.xml"/><Relationship Id="rId60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8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29.w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30.w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33.w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37.w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38.wmf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45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C7BA811-8917-4F1D-B22F-E96045BFA4E0}" type="datetimeFigureOut">
              <a:rPr lang="en-US" smtClean="0"/>
              <a:t>6/13/2025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40C6A29-4676-420C-BBE3-ACC2B80F64D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045970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9A9766F-89E5-4D71-A4F5-B0FB6CA5E374}" type="slidenum">
              <a:rPr lang="en-US" smtClean="0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563726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13">
            <a:extLst>
              <a:ext uri="{FF2B5EF4-FFF2-40B4-BE49-F238E27FC236}">
                <a16:creationId xmlns:a16="http://schemas.microsoft.com/office/drawing/2014/main" id="{FCE00AC6-1AA1-42D9-83DD-4C308C3F9322}"/>
              </a:ext>
            </a:extLst>
          </p:cNvPr>
          <p:cNvSpPr/>
          <p:nvPr userDrawn="1"/>
        </p:nvSpPr>
        <p:spPr>
          <a:xfrm>
            <a:off x="4000500" y="1087403"/>
            <a:ext cx="8191500" cy="5770597"/>
          </a:xfrm>
          <a:custGeom>
            <a:avLst/>
            <a:gdLst>
              <a:gd name="connsiteX0" fmla="*/ 4929467 w 8191500"/>
              <a:gd name="connsiteY0" fmla="*/ 0 h 5770597"/>
              <a:gd name="connsiteX1" fmla="*/ 8065066 w 8191500"/>
              <a:gd name="connsiteY1" fmla="*/ 1118513 h 5770597"/>
              <a:gd name="connsiteX2" fmla="*/ 8191500 w 8191500"/>
              <a:gd name="connsiteY2" fmla="*/ 1227339 h 5770597"/>
              <a:gd name="connsiteX3" fmla="*/ 8191500 w 8191500"/>
              <a:gd name="connsiteY3" fmla="*/ 5770597 h 5770597"/>
              <a:gd name="connsiteX4" fmla="*/ 79523 w 8191500"/>
              <a:gd name="connsiteY4" fmla="*/ 5770597 h 5770597"/>
              <a:gd name="connsiteX5" fmla="*/ 56799 w 8191500"/>
              <a:gd name="connsiteY5" fmla="*/ 5644158 h 5770597"/>
              <a:gd name="connsiteX6" fmla="*/ 0 w 8191500"/>
              <a:gd name="connsiteY6" fmla="*/ 4898209 h 5770597"/>
              <a:gd name="connsiteX7" fmla="*/ 4929467 w 8191500"/>
              <a:gd name="connsiteY7" fmla="*/ 0 h 57705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191500" h="5770597">
                <a:moveTo>
                  <a:pt x="4929467" y="0"/>
                </a:moveTo>
                <a:cubicBezTo>
                  <a:pt x="6120547" y="0"/>
                  <a:pt x="7212963" y="419755"/>
                  <a:pt x="8065066" y="1118513"/>
                </a:cubicBezTo>
                <a:lnTo>
                  <a:pt x="8191500" y="1227339"/>
                </a:lnTo>
                <a:lnTo>
                  <a:pt x="8191500" y="5770597"/>
                </a:lnTo>
                <a:lnTo>
                  <a:pt x="79523" y="5770597"/>
                </a:lnTo>
                <a:lnTo>
                  <a:pt x="56799" y="5644158"/>
                </a:lnTo>
                <a:cubicBezTo>
                  <a:pt x="19398" y="5400934"/>
                  <a:pt x="0" y="5151822"/>
                  <a:pt x="0" y="4898209"/>
                </a:cubicBezTo>
                <a:cubicBezTo>
                  <a:pt x="0" y="2193003"/>
                  <a:pt x="2206998" y="0"/>
                  <a:pt x="4929467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5319A315-F756-49EC-8181-0EC3F0A37B09}"/>
              </a:ext>
            </a:extLst>
          </p:cNvPr>
          <p:cNvCxnSpPr>
            <a:cxnSpLocks/>
          </p:cNvCxnSpPr>
          <p:nvPr userDrawn="1"/>
        </p:nvCxnSpPr>
        <p:spPr>
          <a:xfrm>
            <a:off x="406241" y="183933"/>
            <a:ext cx="0" cy="1597708"/>
          </a:xfrm>
          <a:prstGeom prst="line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560F3E26-F530-48F5-983F-9DCFF41D4F39}"/>
              </a:ext>
            </a:extLst>
          </p:cNvPr>
          <p:cNvSpPr/>
          <p:nvPr userDrawn="1"/>
        </p:nvSpPr>
        <p:spPr>
          <a:xfrm>
            <a:off x="5292348" y="1"/>
            <a:ext cx="2279742" cy="1267785"/>
          </a:xfrm>
          <a:custGeom>
            <a:avLst/>
            <a:gdLst>
              <a:gd name="connsiteX0" fmla="*/ 0 w 2279742"/>
              <a:gd name="connsiteY0" fmla="*/ 0 h 1267785"/>
              <a:gd name="connsiteX1" fmla="*/ 138700 w 2279742"/>
              <a:gd name="connsiteY1" fmla="*/ 0 h 1267785"/>
              <a:gd name="connsiteX2" fmla="*/ 138700 w 2279742"/>
              <a:gd name="connsiteY2" fmla="*/ 1078193 h 1267785"/>
              <a:gd name="connsiteX3" fmla="*/ 2002733 w 2279742"/>
              <a:gd name="connsiteY3" fmla="*/ 0 h 1267785"/>
              <a:gd name="connsiteX4" fmla="*/ 2279742 w 2279742"/>
              <a:gd name="connsiteY4" fmla="*/ 0 h 1267785"/>
              <a:gd name="connsiteX5" fmla="*/ 104026 w 2279742"/>
              <a:gd name="connsiteY5" fmla="*/ 1258503 h 1267785"/>
              <a:gd name="connsiteX6" fmla="*/ 69351 w 2279742"/>
              <a:gd name="connsiteY6" fmla="*/ 1267785 h 1267785"/>
              <a:gd name="connsiteX7" fmla="*/ 0 w 2279742"/>
              <a:gd name="connsiteY7" fmla="*/ 1198436 h 12677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279742" h="1267785">
                <a:moveTo>
                  <a:pt x="0" y="0"/>
                </a:moveTo>
                <a:lnTo>
                  <a:pt x="138700" y="0"/>
                </a:lnTo>
                <a:lnTo>
                  <a:pt x="138700" y="1078193"/>
                </a:lnTo>
                <a:lnTo>
                  <a:pt x="2002733" y="0"/>
                </a:lnTo>
                <a:lnTo>
                  <a:pt x="2279742" y="0"/>
                </a:lnTo>
                <a:lnTo>
                  <a:pt x="104026" y="1258503"/>
                </a:lnTo>
                <a:cubicBezTo>
                  <a:pt x="93484" y="1264595"/>
                  <a:pt x="81523" y="1267796"/>
                  <a:pt x="69351" y="1267785"/>
                </a:cubicBezTo>
                <a:cubicBezTo>
                  <a:pt x="31049" y="1267785"/>
                  <a:pt x="0" y="1236737"/>
                  <a:pt x="0" y="1198436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5C97701E-DAF9-4174-AA91-DA203CD27D6A}"/>
              </a:ext>
            </a:extLst>
          </p:cNvPr>
          <p:cNvSpPr/>
          <p:nvPr userDrawn="1"/>
        </p:nvSpPr>
        <p:spPr>
          <a:xfrm>
            <a:off x="10208695" y="1"/>
            <a:ext cx="1135066" cy="477997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4F765374-1A4B-41DC-9E75-A95A6C655328}"/>
              </a:ext>
            </a:extLst>
          </p:cNvPr>
          <p:cNvSpPr/>
          <p:nvPr userDrawn="1"/>
        </p:nvSpPr>
        <p:spPr>
          <a:xfrm>
            <a:off x="1569044" y="514898"/>
            <a:ext cx="2393351" cy="2328423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7618DB8E-B14E-42E2-B454-6F4F36A8A9D9}"/>
              </a:ext>
            </a:extLst>
          </p:cNvPr>
          <p:cNvSpPr/>
          <p:nvPr userDrawn="1"/>
        </p:nvSpPr>
        <p:spPr>
          <a:xfrm flipH="1">
            <a:off x="0" y="2949740"/>
            <a:ext cx="1186451" cy="1771650"/>
          </a:xfrm>
          <a:custGeom>
            <a:avLst/>
            <a:gdLst>
              <a:gd name="connsiteX0" fmla="*/ 61913 w 1186451"/>
              <a:gd name="connsiteY0" fmla="*/ 0 h 1771650"/>
              <a:gd name="connsiteX1" fmla="*/ 1186451 w 1186451"/>
              <a:gd name="connsiteY1" fmla="*/ 0 h 1771650"/>
              <a:gd name="connsiteX2" fmla="*/ 1186451 w 1186451"/>
              <a:gd name="connsiteY2" fmla="*/ 123825 h 1771650"/>
              <a:gd name="connsiteX3" fmla="*/ 123825 w 1186451"/>
              <a:gd name="connsiteY3" fmla="*/ 123825 h 1771650"/>
              <a:gd name="connsiteX4" fmla="*/ 123825 w 1186451"/>
              <a:gd name="connsiteY4" fmla="*/ 1647825 h 1771650"/>
              <a:gd name="connsiteX5" fmla="*/ 1186451 w 1186451"/>
              <a:gd name="connsiteY5" fmla="*/ 1647825 h 1771650"/>
              <a:gd name="connsiteX6" fmla="*/ 1186451 w 1186451"/>
              <a:gd name="connsiteY6" fmla="*/ 1771650 h 1771650"/>
              <a:gd name="connsiteX7" fmla="*/ 61913 w 1186451"/>
              <a:gd name="connsiteY7" fmla="*/ 1771650 h 1771650"/>
              <a:gd name="connsiteX8" fmla="*/ 0 w 1186451"/>
              <a:gd name="connsiteY8" fmla="*/ 1709738 h 1771650"/>
              <a:gd name="connsiteX9" fmla="*/ 0 w 1186451"/>
              <a:gd name="connsiteY9" fmla="*/ 61913 h 1771650"/>
              <a:gd name="connsiteX10" fmla="*/ 61913 w 1186451"/>
              <a:gd name="connsiteY10" fmla="*/ 0 h 1771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186451" h="1771650">
                <a:moveTo>
                  <a:pt x="61913" y="0"/>
                </a:moveTo>
                <a:lnTo>
                  <a:pt x="1186451" y="0"/>
                </a:lnTo>
                <a:lnTo>
                  <a:pt x="1186451" y="123825"/>
                </a:lnTo>
                <a:lnTo>
                  <a:pt x="123825" y="123825"/>
                </a:lnTo>
                <a:lnTo>
                  <a:pt x="123825" y="1647825"/>
                </a:lnTo>
                <a:lnTo>
                  <a:pt x="1186451" y="1647825"/>
                </a:lnTo>
                <a:lnTo>
                  <a:pt x="1186451" y="1771650"/>
                </a:lnTo>
                <a:lnTo>
                  <a:pt x="61913" y="1771650"/>
                </a:lnTo>
                <a:cubicBezTo>
                  <a:pt x="27719" y="1771650"/>
                  <a:pt x="0" y="1743932"/>
                  <a:pt x="0" y="1709738"/>
                </a:cubicBezTo>
                <a:lnTo>
                  <a:pt x="0" y="61913"/>
                </a:lnTo>
                <a:cubicBezTo>
                  <a:pt x="0" y="27719"/>
                  <a:pt x="27719" y="0"/>
                  <a:pt x="61913" y="0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Arc 21">
            <a:extLst>
              <a:ext uri="{FF2B5EF4-FFF2-40B4-BE49-F238E27FC236}">
                <a16:creationId xmlns:a16="http://schemas.microsoft.com/office/drawing/2014/main" id="{97666F55-03F1-4D18-9653-0F360E127A7E}"/>
              </a:ext>
            </a:extLst>
          </p:cNvPr>
          <p:cNvSpPr/>
          <p:nvPr userDrawn="1"/>
        </p:nvSpPr>
        <p:spPr>
          <a:xfrm rot="16200000">
            <a:off x="1539683" y="4203427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4DE1A06-8754-4870-9E44-E39BADAD984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093208" y="2743200"/>
            <a:ext cx="6592824" cy="2386584"/>
          </a:xfrm>
        </p:spPr>
        <p:txBody>
          <a:bodyPr anchor="b"/>
          <a:lstStyle>
            <a:lvl1pPr algn="r"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527F020-BBC3-49BB-91C2-5B2CBD64B3C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093208" y="5221224"/>
            <a:ext cx="6592824" cy="996696"/>
          </a:xfrm>
        </p:spPr>
        <p:txBody>
          <a:bodyPr/>
          <a:lstStyle>
            <a:lvl1pPr marL="0" indent="0" algn="r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10104151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val 9">
            <a:extLst>
              <a:ext uri="{FF2B5EF4-FFF2-40B4-BE49-F238E27FC236}">
                <a16:creationId xmlns:a16="http://schemas.microsoft.com/office/drawing/2014/main" id="{AFA665D7-34D0-4262-B345-9B1A1BA8DA17}"/>
              </a:ext>
            </a:extLst>
          </p:cNvPr>
          <p:cNvSpPr/>
          <p:nvPr userDrawn="1"/>
        </p:nvSpPr>
        <p:spPr>
          <a:xfrm>
            <a:off x="489189" y="1119031"/>
            <a:ext cx="4619938" cy="4619938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39ECC553-79E5-4B14-89C9-4DAD2B1021B1}"/>
              </a:ext>
            </a:extLst>
          </p:cNvPr>
          <p:cNvSpPr/>
          <p:nvPr userDrawn="1"/>
        </p:nvSpPr>
        <p:spPr>
          <a:xfrm rot="19809111">
            <a:off x="8683720" y="941148"/>
            <a:ext cx="2987899" cy="2987899"/>
          </a:xfrm>
          <a:prstGeom prst="arc">
            <a:avLst>
              <a:gd name="adj1" fmla="val 15817365"/>
              <a:gd name="adj2" fmla="val 1781380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55797934-7E2B-4F94-89C4-0279413FF821}"/>
              </a:ext>
            </a:extLst>
          </p:cNvPr>
          <p:cNvSpPr/>
          <p:nvPr userDrawn="1"/>
        </p:nvSpPr>
        <p:spPr>
          <a:xfrm>
            <a:off x="910048" y="4780992"/>
            <a:ext cx="546100" cy="54610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49FF209-11EE-4A3F-9685-A155FECD0D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0432" y="1399032"/>
            <a:ext cx="3236976" cy="4069080"/>
          </a:xfrm>
        </p:spPr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47AF11-F208-4FDA-9E19-D6CA347213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88152" y="1527048"/>
            <a:ext cx="5111496" cy="3931920"/>
          </a:xfrm>
        </p:spPr>
        <p:txBody>
          <a:bodyPr anchor="ctr"/>
          <a:lstStyle>
            <a:lvl1pPr marL="0" indent="0">
              <a:buNone/>
              <a:defRPr/>
            </a:lvl1pPr>
            <a:lvl2pPr marL="228600">
              <a:defRPr/>
            </a:lvl2pPr>
            <a:lvl3pPr marL="457200">
              <a:defRPr/>
            </a:lvl3pPr>
            <a:lvl4pPr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E82FA1-02B7-467E-9F16-D178149407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>
              <a:defRPr/>
            </a:pPr>
            <a:r>
              <a:rPr lang="en-US">
                <a:solidFill>
                  <a:prstClr val="black">
                    <a:tint val="75000"/>
                  </a:prstClr>
                </a:solidFill>
              </a:rPr>
              <a:t>9/3/20XX</a:t>
            </a:r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389247-FB8A-4494-859B-B3754B02A5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>
              <a:defRPr/>
            </a:pPr>
            <a:r>
              <a:rPr lang="fr-FR">
                <a:solidFill>
                  <a:prstClr val="black">
                    <a:tint val="75000"/>
                  </a:prstClr>
                </a:solidFill>
              </a:rPr>
              <a:t>Discrete Structures : Lecture 1-2 by IQRA JAVED</a:t>
            </a:r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CA5B62-3338-46A5-B381-A63B88CB0D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>
              <a:defRPr/>
            </a:pPr>
            <a:fld id="{D76B855D-E9CC-4FF8-AD85-6CDC7B89A0DE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139446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2 small 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icture Placeholder 21">
            <a:extLst>
              <a:ext uri="{FF2B5EF4-FFF2-40B4-BE49-F238E27FC236}">
                <a16:creationId xmlns:a16="http://schemas.microsoft.com/office/drawing/2014/main" id="{5A614E3F-4FB2-4152-A59C-941C908D7B0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200479" y="1150210"/>
            <a:ext cx="2207046" cy="2204178"/>
          </a:xfrm>
          <a:custGeom>
            <a:avLst/>
            <a:gdLst>
              <a:gd name="connsiteX0" fmla="*/ 1098749 w 2207046"/>
              <a:gd name="connsiteY0" fmla="*/ 0 h 2204178"/>
              <a:gd name="connsiteX1" fmla="*/ 2201707 w 2207046"/>
              <a:gd name="connsiteY1" fmla="*/ 995326 h 2204178"/>
              <a:gd name="connsiteX2" fmla="*/ 2207046 w 2207046"/>
              <a:gd name="connsiteY2" fmla="*/ 1101058 h 2204178"/>
              <a:gd name="connsiteX3" fmla="*/ 2207046 w 2207046"/>
              <a:gd name="connsiteY3" fmla="*/ 1116306 h 2204178"/>
              <a:gd name="connsiteX4" fmla="*/ 2201707 w 2207046"/>
              <a:gd name="connsiteY4" fmla="*/ 1222039 h 2204178"/>
              <a:gd name="connsiteX5" fmla="*/ 1322187 w 2207046"/>
              <a:gd name="connsiteY5" fmla="*/ 2194840 h 2204178"/>
              <a:gd name="connsiteX6" fmla="*/ 1260999 w 2207046"/>
              <a:gd name="connsiteY6" fmla="*/ 2204178 h 2204178"/>
              <a:gd name="connsiteX7" fmla="*/ 936500 w 2207046"/>
              <a:gd name="connsiteY7" fmla="*/ 2204178 h 2204178"/>
              <a:gd name="connsiteX8" fmla="*/ 875311 w 2207046"/>
              <a:gd name="connsiteY8" fmla="*/ 2194840 h 2204178"/>
              <a:gd name="connsiteX9" fmla="*/ 12592 w 2207046"/>
              <a:gd name="connsiteY9" fmla="*/ 1332120 h 2204178"/>
              <a:gd name="connsiteX10" fmla="*/ 0 w 2207046"/>
              <a:gd name="connsiteY10" fmla="*/ 1249617 h 2204178"/>
              <a:gd name="connsiteX11" fmla="*/ 0 w 2207046"/>
              <a:gd name="connsiteY11" fmla="*/ 967747 h 2204178"/>
              <a:gd name="connsiteX12" fmla="*/ 12592 w 2207046"/>
              <a:gd name="connsiteY12" fmla="*/ 885244 h 2204178"/>
              <a:gd name="connsiteX13" fmla="*/ 1098749 w 2207046"/>
              <a:gd name="connsiteY13" fmla="*/ 0 h 22041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2207046" h="2204178">
                <a:moveTo>
                  <a:pt x="1098749" y="0"/>
                </a:moveTo>
                <a:cubicBezTo>
                  <a:pt x="1672788" y="0"/>
                  <a:pt x="2144931" y="436266"/>
                  <a:pt x="2201707" y="995326"/>
                </a:cubicBezTo>
                <a:lnTo>
                  <a:pt x="2207046" y="1101058"/>
                </a:lnTo>
                <a:lnTo>
                  <a:pt x="2207046" y="1116306"/>
                </a:lnTo>
                <a:lnTo>
                  <a:pt x="2201707" y="1222039"/>
                </a:lnTo>
                <a:cubicBezTo>
                  <a:pt x="2152501" y="1706557"/>
                  <a:pt x="1791308" y="2098844"/>
                  <a:pt x="1322187" y="2194840"/>
                </a:cubicBezTo>
                <a:lnTo>
                  <a:pt x="1260999" y="2204178"/>
                </a:lnTo>
                <a:lnTo>
                  <a:pt x="936500" y="2204178"/>
                </a:lnTo>
                <a:lnTo>
                  <a:pt x="875311" y="2194840"/>
                </a:lnTo>
                <a:cubicBezTo>
                  <a:pt x="442276" y="2106228"/>
                  <a:pt x="101204" y="1765156"/>
                  <a:pt x="12592" y="1332120"/>
                </a:cubicBezTo>
                <a:lnTo>
                  <a:pt x="0" y="1249617"/>
                </a:lnTo>
                <a:lnTo>
                  <a:pt x="0" y="967747"/>
                </a:lnTo>
                <a:lnTo>
                  <a:pt x="12592" y="885244"/>
                </a:lnTo>
                <a:cubicBezTo>
                  <a:pt x="115972" y="380036"/>
                  <a:pt x="562980" y="0"/>
                  <a:pt x="1098749" y="0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 sz="18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8A1F486A-F545-4642-B1CB-5356704413D3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8444632" y="2579683"/>
            <a:ext cx="3096807" cy="3096807"/>
          </a:xfrm>
          <a:custGeom>
            <a:avLst/>
            <a:gdLst>
              <a:gd name="connsiteX0" fmla="*/ 1548404 w 3096807"/>
              <a:gd name="connsiteY0" fmla="*/ 0 h 3096807"/>
              <a:gd name="connsiteX1" fmla="*/ 3096807 w 3096807"/>
              <a:gd name="connsiteY1" fmla="*/ 1548404 h 3096807"/>
              <a:gd name="connsiteX2" fmla="*/ 1548404 w 3096807"/>
              <a:gd name="connsiteY2" fmla="*/ 3096807 h 3096807"/>
              <a:gd name="connsiteX3" fmla="*/ 0 w 3096807"/>
              <a:gd name="connsiteY3" fmla="*/ 1548404 h 3096807"/>
              <a:gd name="connsiteX4" fmla="*/ 1548404 w 3096807"/>
              <a:gd name="connsiteY4" fmla="*/ 0 h 30968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96807" h="3096807">
                <a:moveTo>
                  <a:pt x="1548404" y="0"/>
                </a:moveTo>
                <a:cubicBezTo>
                  <a:pt x="2403564" y="0"/>
                  <a:pt x="3096807" y="693243"/>
                  <a:pt x="3096807" y="1548404"/>
                </a:cubicBezTo>
                <a:cubicBezTo>
                  <a:pt x="3096807" y="2403564"/>
                  <a:pt x="2403564" y="3096807"/>
                  <a:pt x="1548404" y="3096807"/>
                </a:cubicBezTo>
                <a:cubicBezTo>
                  <a:pt x="693243" y="3096807"/>
                  <a:pt x="0" y="2403564"/>
                  <a:pt x="0" y="1548404"/>
                </a:cubicBezTo>
                <a:cubicBezTo>
                  <a:pt x="0" y="693243"/>
                  <a:pt x="693243" y="0"/>
                  <a:pt x="1548404" y="0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 sz="18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49FF209-11EE-4A3F-9685-A155FECD0D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9496" y="365124"/>
            <a:ext cx="5806440" cy="132588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47AF11-F208-4FDA-9E19-D6CA347213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9496" y="1825625"/>
            <a:ext cx="5806440" cy="4352544"/>
          </a:xfrm>
        </p:spPr>
        <p:txBody>
          <a:bodyPr>
            <a:normAutofit/>
          </a:bodyPr>
          <a:lstStyle>
            <a:lvl1pPr marL="0" indent="0">
              <a:lnSpc>
                <a:spcPct val="110000"/>
              </a:lnSpc>
              <a:buNone/>
              <a:defRPr sz="2400"/>
            </a:lvl1pPr>
            <a:lvl2pPr marL="228600">
              <a:lnSpc>
                <a:spcPct val="110000"/>
              </a:lnSpc>
              <a:defRPr sz="2000"/>
            </a:lvl2pPr>
            <a:lvl3pPr marL="457200">
              <a:lnSpc>
                <a:spcPct val="110000"/>
              </a:lnSpc>
              <a:defRPr sz="1800"/>
            </a:lvl3pPr>
            <a:lvl4pPr marL="685800">
              <a:lnSpc>
                <a:spcPct val="110000"/>
              </a:lnSpc>
              <a:defRPr sz="1600"/>
            </a:lvl4pPr>
            <a:lvl5pPr>
              <a:lnSpc>
                <a:spcPct val="110000"/>
              </a:lnSpc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E82FA1-02B7-467E-9F16-D178149407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>
              <a:defRPr/>
            </a:pPr>
            <a:r>
              <a:rPr lang="en-US">
                <a:solidFill>
                  <a:prstClr val="black">
                    <a:tint val="75000"/>
                  </a:prstClr>
                </a:solidFill>
              </a:rPr>
              <a:t>9/3/20XX</a:t>
            </a:r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389247-FB8A-4494-859B-B3754B02A5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>
              <a:defRPr/>
            </a:pPr>
            <a:r>
              <a:rPr lang="fr-FR">
                <a:solidFill>
                  <a:prstClr val="black">
                    <a:tint val="75000"/>
                  </a:prstClr>
                </a:solidFill>
              </a:rPr>
              <a:t>Discrete Structures : Lecture 1-2 by IQRA JAVED</a:t>
            </a:r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CA5B62-3338-46A5-B381-A63B88CB0D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>
              <a:defRPr/>
            </a:pPr>
            <a:fld id="{D76B855D-E9CC-4FF8-AD85-6CDC7B89A0DE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E8E71C73-7BAD-4838-88C1-42E045A9D179}"/>
              </a:ext>
            </a:extLst>
          </p:cNvPr>
          <p:cNvSpPr/>
          <p:nvPr userDrawn="1"/>
        </p:nvSpPr>
        <p:spPr>
          <a:xfrm>
            <a:off x="10249620" y="1555068"/>
            <a:ext cx="819303" cy="797078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4560922-5803-412D-880B-065E75DCBC0A}"/>
              </a:ext>
            </a:extLst>
          </p:cNvPr>
          <p:cNvSpPr/>
          <p:nvPr userDrawn="1"/>
        </p:nvSpPr>
        <p:spPr>
          <a:xfrm>
            <a:off x="7590089" y="4034393"/>
            <a:ext cx="876704" cy="876704"/>
          </a:xfrm>
          <a:prstGeom prst="rect">
            <a:avLst/>
          </a:prstGeom>
          <a:noFill/>
          <a:ln w="127000">
            <a:solidFill>
              <a:schemeClr val="accent6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208399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val 6">
            <a:extLst>
              <a:ext uri="{FF2B5EF4-FFF2-40B4-BE49-F238E27FC236}">
                <a16:creationId xmlns:a16="http://schemas.microsoft.com/office/drawing/2014/main" id="{200EACD1-D216-4037-8AFF-80CF273586DF}"/>
              </a:ext>
            </a:extLst>
          </p:cNvPr>
          <p:cNvSpPr/>
          <p:nvPr userDrawn="1"/>
        </p:nvSpPr>
        <p:spPr>
          <a:xfrm>
            <a:off x="2815929" y="148929"/>
            <a:ext cx="6560142" cy="6560142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Arc 7">
            <a:extLst>
              <a:ext uri="{FF2B5EF4-FFF2-40B4-BE49-F238E27FC236}">
                <a16:creationId xmlns:a16="http://schemas.microsoft.com/office/drawing/2014/main" id="{F941DE04-3FEA-4A57-B200-F9F6A765C792}"/>
              </a:ext>
            </a:extLst>
          </p:cNvPr>
          <p:cNvSpPr/>
          <p:nvPr userDrawn="1"/>
        </p:nvSpPr>
        <p:spPr>
          <a:xfrm rot="9222429" flipV="1">
            <a:off x="2494119" y="-28502"/>
            <a:ext cx="6816262" cy="6816262"/>
          </a:xfrm>
          <a:prstGeom prst="arc">
            <a:avLst>
              <a:gd name="adj1" fmla="val 16200000"/>
              <a:gd name="adj2" fmla="val 20093138"/>
            </a:avLst>
          </a:prstGeom>
          <a:ln w="127000" cap="rnd">
            <a:solidFill>
              <a:schemeClr val="accent4">
                <a:alpha val="9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A565C7B4-4152-4548-A771-EB148A028FDB}"/>
              </a:ext>
            </a:extLst>
          </p:cNvPr>
          <p:cNvSpPr/>
          <p:nvPr userDrawn="1"/>
        </p:nvSpPr>
        <p:spPr>
          <a:xfrm>
            <a:off x="8165417" y="5241988"/>
            <a:ext cx="759403" cy="738802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04C0001-5D76-45A0-A9F4-7172BDDD5D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19272" y="1380744"/>
            <a:ext cx="5559552" cy="2514600"/>
          </a:xfrm>
        </p:spPr>
        <p:txBody>
          <a:bodyPr anchor="b"/>
          <a:lstStyle>
            <a:lvl1pPr algn="ctr"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E1462C4-0E4B-4DB7-A8BF-FE55142760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319272" y="4078224"/>
            <a:ext cx="5559552" cy="1536192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7855737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9FF209-11EE-4A3F-9685-A155FECD0D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9496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47AF11-F208-4FDA-9E19-D6CA347213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79576" y="1911096"/>
            <a:ext cx="9829800" cy="38597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E82FA1-02B7-467E-9F16-D178149407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>
              <a:defRPr/>
            </a:pPr>
            <a:r>
              <a:rPr lang="en-US">
                <a:solidFill>
                  <a:prstClr val="black">
                    <a:tint val="75000"/>
                  </a:prstClr>
                </a:solidFill>
              </a:rPr>
              <a:t>9/3/20XX</a:t>
            </a:r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389247-FB8A-4494-859B-B3754B02A5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>
              <a:defRPr/>
            </a:pPr>
            <a:r>
              <a:rPr lang="fr-FR">
                <a:solidFill>
                  <a:prstClr val="black">
                    <a:tint val="75000"/>
                  </a:prstClr>
                </a:solidFill>
              </a:rPr>
              <a:t>Discrete Structures : Lecture 1-2 by IQRA JAVED</a:t>
            </a:r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CA5B62-3338-46A5-B381-A63B88CB0D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>
              <a:defRPr/>
            </a:pPr>
            <a:fld id="{D76B855D-E9CC-4FF8-AD85-6CDC7B89A0DE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23DA7759-3209-4FE2-96D1-4EEDD81E9EA0}"/>
              </a:ext>
            </a:extLst>
          </p:cNvPr>
          <p:cNvSpPr/>
          <p:nvPr/>
        </p:nvSpPr>
        <p:spPr>
          <a:xfrm>
            <a:off x="10494433" y="2"/>
            <a:ext cx="849328" cy="357668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41460DAD-8769-4C9F-9C8C-BB0443909D76}"/>
              </a:ext>
            </a:extLst>
          </p:cNvPr>
          <p:cNvSpPr/>
          <p:nvPr/>
        </p:nvSpPr>
        <p:spPr>
          <a:xfrm flipH="1">
            <a:off x="123536" y="5717905"/>
            <a:ext cx="1771609" cy="1140095"/>
          </a:xfrm>
          <a:custGeom>
            <a:avLst/>
            <a:gdLst>
              <a:gd name="connsiteX0" fmla="*/ 1561721 w 1771609"/>
              <a:gd name="connsiteY0" fmla="*/ 763041 h 1140095"/>
              <a:gd name="connsiteX1" fmla="*/ 1623024 w 1771609"/>
              <a:gd name="connsiteY1" fmla="*/ 792810 h 1140095"/>
              <a:gd name="connsiteX2" fmla="*/ 1711735 w 1771609"/>
              <a:gd name="connsiteY2" fmla="*/ 970132 h 1140095"/>
              <a:gd name="connsiteX3" fmla="*/ 1771609 w 1771609"/>
              <a:gd name="connsiteY3" fmla="*/ 1140095 h 1140095"/>
              <a:gd name="connsiteX4" fmla="*/ 1637225 w 1771609"/>
              <a:gd name="connsiteY4" fmla="*/ 1140095 h 1140095"/>
              <a:gd name="connsiteX5" fmla="*/ 1594820 w 1771609"/>
              <a:gd name="connsiteY5" fmla="*/ 1019711 h 1140095"/>
              <a:gd name="connsiteX6" fmla="*/ 1513200 w 1771609"/>
              <a:gd name="connsiteY6" fmla="*/ 856627 h 1140095"/>
              <a:gd name="connsiteX7" fmla="*/ 1538499 w 1771609"/>
              <a:gd name="connsiteY7" fmla="*/ 770415 h 1140095"/>
              <a:gd name="connsiteX8" fmla="*/ 1561721 w 1771609"/>
              <a:gd name="connsiteY8" fmla="*/ 763041 h 1140095"/>
              <a:gd name="connsiteX9" fmla="*/ 933455 w 1771609"/>
              <a:gd name="connsiteY9" fmla="*/ 161309 h 1140095"/>
              <a:gd name="connsiteX10" fmla="*/ 957797 w 1771609"/>
              <a:gd name="connsiteY10" fmla="*/ 167970 h 1140095"/>
              <a:gd name="connsiteX11" fmla="*/ 1286982 w 1771609"/>
              <a:gd name="connsiteY11" fmla="*/ 387616 h 1140095"/>
              <a:gd name="connsiteX12" fmla="*/ 1293725 w 1771609"/>
              <a:gd name="connsiteY12" fmla="*/ 477075 h 1140095"/>
              <a:gd name="connsiteX13" fmla="*/ 1245453 w 1771609"/>
              <a:gd name="connsiteY13" fmla="*/ 499154 h 1140095"/>
              <a:gd name="connsiteX14" fmla="*/ 1245167 w 1771609"/>
              <a:gd name="connsiteY14" fmla="*/ 499154 h 1140095"/>
              <a:gd name="connsiteX15" fmla="*/ 1203638 w 1771609"/>
              <a:gd name="connsiteY15" fmla="*/ 484104 h 1140095"/>
              <a:gd name="connsiteX16" fmla="*/ 900647 w 1771609"/>
              <a:gd name="connsiteY16" fmla="*/ 281508 h 1140095"/>
              <a:gd name="connsiteX17" fmla="*/ 872454 w 1771609"/>
              <a:gd name="connsiteY17" fmla="*/ 196164 h 1140095"/>
              <a:gd name="connsiteX18" fmla="*/ 933455 w 1771609"/>
              <a:gd name="connsiteY18" fmla="*/ 161309 h 1140095"/>
              <a:gd name="connsiteX19" fmla="*/ 256260 w 1771609"/>
              <a:gd name="connsiteY19" fmla="*/ 29 h 1140095"/>
              <a:gd name="connsiteX20" fmla="*/ 454020 w 1771609"/>
              <a:gd name="connsiteY20" fmla="*/ 13474 h 1140095"/>
              <a:gd name="connsiteX21" fmla="*/ 509236 w 1771609"/>
              <a:gd name="connsiteY21" fmla="*/ 84182 h 1140095"/>
              <a:gd name="connsiteX22" fmla="*/ 445829 w 1771609"/>
              <a:gd name="connsiteY22" fmla="*/ 139871 h 1140095"/>
              <a:gd name="connsiteX23" fmla="*/ 437447 w 1771609"/>
              <a:gd name="connsiteY23" fmla="*/ 139395 h 1140095"/>
              <a:gd name="connsiteX24" fmla="*/ 73211 w 1771609"/>
              <a:gd name="connsiteY24" fmla="*/ 137204 h 1140095"/>
              <a:gd name="connsiteX25" fmla="*/ 749 w 1771609"/>
              <a:gd name="connsiteY25" fmla="*/ 84082 h 1140095"/>
              <a:gd name="connsiteX26" fmla="*/ 53871 w 1771609"/>
              <a:gd name="connsiteY26" fmla="*/ 11621 h 1140095"/>
              <a:gd name="connsiteX27" fmla="*/ 58352 w 1771609"/>
              <a:gd name="connsiteY27" fmla="*/ 11093 h 1140095"/>
              <a:gd name="connsiteX28" fmla="*/ 256260 w 1771609"/>
              <a:gd name="connsiteY28" fmla="*/ 29 h 11400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</a:cxnLst>
            <a:rect l="l" t="t" r="r" b="b"/>
            <a:pathLst>
              <a:path w="1771609" h="1140095">
                <a:moveTo>
                  <a:pt x="1561721" y="763041"/>
                </a:moveTo>
                <a:cubicBezTo>
                  <a:pt x="1585506" y="760324"/>
                  <a:pt x="1609722" y="771249"/>
                  <a:pt x="1623024" y="792810"/>
                </a:cubicBezTo>
                <a:cubicBezTo>
                  <a:pt x="1656300" y="850065"/>
                  <a:pt x="1685920" y="909291"/>
                  <a:pt x="1711735" y="970132"/>
                </a:cubicBezTo>
                <a:lnTo>
                  <a:pt x="1771609" y="1140095"/>
                </a:lnTo>
                <a:lnTo>
                  <a:pt x="1637225" y="1140095"/>
                </a:lnTo>
                <a:lnTo>
                  <a:pt x="1594820" y="1019711"/>
                </a:lnTo>
                <a:cubicBezTo>
                  <a:pt x="1571072" y="963753"/>
                  <a:pt x="1543818" y="909282"/>
                  <a:pt x="1513200" y="856627"/>
                </a:cubicBezTo>
                <a:cubicBezTo>
                  <a:pt x="1496379" y="825834"/>
                  <a:pt x="1507704" y="787236"/>
                  <a:pt x="1538499" y="770415"/>
                </a:cubicBezTo>
                <a:cubicBezTo>
                  <a:pt x="1545912" y="766367"/>
                  <a:pt x="1553792" y="763946"/>
                  <a:pt x="1561721" y="763041"/>
                </a:cubicBezTo>
                <a:close/>
                <a:moveTo>
                  <a:pt x="933455" y="161309"/>
                </a:moveTo>
                <a:cubicBezTo>
                  <a:pt x="941693" y="161855"/>
                  <a:pt x="949959" y="164025"/>
                  <a:pt x="957797" y="167970"/>
                </a:cubicBezTo>
                <a:cubicBezTo>
                  <a:pt x="1076184" y="227289"/>
                  <a:pt x="1186759" y="301068"/>
                  <a:pt x="1286982" y="387616"/>
                </a:cubicBezTo>
                <a:cubicBezTo>
                  <a:pt x="1313547" y="410457"/>
                  <a:pt x="1316566" y="450510"/>
                  <a:pt x="1293725" y="477075"/>
                </a:cubicBezTo>
                <a:cubicBezTo>
                  <a:pt x="1281638" y="491137"/>
                  <a:pt x="1263998" y="499204"/>
                  <a:pt x="1245453" y="499154"/>
                </a:cubicBezTo>
                <a:lnTo>
                  <a:pt x="1245167" y="499154"/>
                </a:lnTo>
                <a:cubicBezTo>
                  <a:pt x="1229965" y="499301"/>
                  <a:pt x="1215220" y="493956"/>
                  <a:pt x="1203638" y="484104"/>
                </a:cubicBezTo>
                <a:cubicBezTo>
                  <a:pt x="1111407" y="404300"/>
                  <a:pt x="1009633" y="336248"/>
                  <a:pt x="900647" y="281508"/>
                </a:cubicBezTo>
                <a:cubicBezTo>
                  <a:pt x="869295" y="265726"/>
                  <a:pt x="856672" y="227516"/>
                  <a:pt x="872454" y="196164"/>
                </a:cubicBezTo>
                <a:cubicBezTo>
                  <a:pt x="884290" y="172650"/>
                  <a:pt x="908742" y="159670"/>
                  <a:pt x="933455" y="161309"/>
                </a:cubicBezTo>
                <a:close/>
                <a:moveTo>
                  <a:pt x="256260" y="29"/>
                </a:moveTo>
                <a:cubicBezTo>
                  <a:pt x="322331" y="427"/>
                  <a:pt x="388378" y="4909"/>
                  <a:pt x="454020" y="13474"/>
                </a:cubicBezTo>
                <a:cubicBezTo>
                  <a:pt x="488793" y="17752"/>
                  <a:pt x="513514" y="49409"/>
                  <a:pt x="509236" y="84182"/>
                </a:cubicBezTo>
                <a:cubicBezTo>
                  <a:pt x="505303" y="116151"/>
                  <a:pt x="478038" y="140098"/>
                  <a:pt x="445829" y="139871"/>
                </a:cubicBezTo>
                <a:cubicBezTo>
                  <a:pt x="443027" y="139899"/>
                  <a:pt x="440227" y="139740"/>
                  <a:pt x="437447" y="139395"/>
                </a:cubicBezTo>
                <a:cubicBezTo>
                  <a:pt x="316592" y="123615"/>
                  <a:pt x="194247" y="122878"/>
                  <a:pt x="73211" y="137204"/>
                </a:cubicBezTo>
                <a:cubicBezTo>
                  <a:pt x="38532" y="142545"/>
                  <a:pt x="6090" y="118762"/>
                  <a:pt x="749" y="84082"/>
                </a:cubicBezTo>
                <a:cubicBezTo>
                  <a:pt x="-4591" y="49403"/>
                  <a:pt x="19192" y="16961"/>
                  <a:pt x="53871" y="11621"/>
                </a:cubicBezTo>
                <a:cubicBezTo>
                  <a:pt x="55358" y="11392"/>
                  <a:pt x="56852" y="11216"/>
                  <a:pt x="58352" y="11093"/>
                </a:cubicBezTo>
                <a:cubicBezTo>
                  <a:pt x="124093" y="3319"/>
                  <a:pt x="190189" y="-369"/>
                  <a:pt x="256260" y="29"/>
                </a:cubicBezTo>
                <a:close/>
              </a:path>
            </a:pathLst>
          </a:custGeom>
          <a:solidFill>
            <a:schemeClr val="accent4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750812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E11BF3-02E8-4EB7-818E-652B82CF2C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54D3190-B78C-42F1-9D62-F523886BBE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>
              <a:defRPr/>
            </a:pPr>
            <a:r>
              <a:rPr lang="en-US">
                <a:solidFill>
                  <a:prstClr val="black">
                    <a:tint val="75000"/>
                  </a:prstClr>
                </a:solidFill>
              </a:rPr>
              <a:t>9/3/20XX</a:t>
            </a:r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A381C40-F9FC-4D58-8508-F0632DF5A0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>
              <a:defRPr/>
            </a:pPr>
            <a:r>
              <a:rPr lang="fr-FR">
                <a:solidFill>
                  <a:prstClr val="black">
                    <a:tint val="75000"/>
                  </a:prstClr>
                </a:solidFill>
              </a:rPr>
              <a:t>Discrete Structures : Lecture 1-2 by IQRA JAVED</a:t>
            </a:r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101CBCC-4CC2-49BD-B155-01E0F4D798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>
              <a:defRPr/>
            </a:pPr>
            <a:fld id="{D76B855D-E9CC-4FF8-AD85-6CDC7B89A0DE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DC13EF9C-0B5A-4364-91AA-E5DD5B536E54}"/>
              </a:ext>
            </a:extLst>
          </p:cNvPr>
          <p:cNvSpPr/>
          <p:nvPr/>
        </p:nvSpPr>
        <p:spPr>
          <a:xfrm rot="16200000">
            <a:off x="-388933" y="4841194"/>
            <a:ext cx="1737401" cy="959536"/>
          </a:xfrm>
          <a:custGeom>
            <a:avLst/>
            <a:gdLst>
              <a:gd name="connsiteX0" fmla="*/ 0 w 1737401"/>
              <a:gd name="connsiteY0" fmla="*/ 0 h 959536"/>
              <a:gd name="connsiteX1" fmla="*/ 123825 w 1737401"/>
              <a:gd name="connsiteY1" fmla="*/ 0 h 959536"/>
              <a:gd name="connsiteX2" fmla="*/ 123825 w 1737401"/>
              <a:gd name="connsiteY2" fmla="*/ 790277 h 959536"/>
              <a:gd name="connsiteX3" fmla="*/ 1490095 w 1737401"/>
              <a:gd name="connsiteY3" fmla="*/ 0 h 959536"/>
              <a:gd name="connsiteX4" fmla="*/ 1737401 w 1737401"/>
              <a:gd name="connsiteY4" fmla="*/ 0 h 959536"/>
              <a:gd name="connsiteX5" fmla="*/ 92869 w 1737401"/>
              <a:gd name="connsiteY5" fmla="*/ 951249 h 959536"/>
              <a:gd name="connsiteX6" fmla="*/ 61913 w 1737401"/>
              <a:gd name="connsiteY6" fmla="*/ 959536 h 959536"/>
              <a:gd name="connsiteX7" fmla="*/ 0 w 1737401"/>
              <a:gd name="connsiteY7" fmla="*/ 897624 h 959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37401" h="959536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8F674475-6327-490A-BD7F-084F5C07F2E4}"/>
              </a:ext>
            </a:extLst>
          </p:cNvPr>
          <p:cNvSpPr/>
          <p:nvPr/>
        </p:nvSpPr>
        <p:spPr>
          <a:xfrm>
            <a:off x="10494433" y="2"/>
            <a:ext cx="849328" cy="357668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4753B078-30BA-4AB9-A020-EE8D9404B6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11096"/>
            <a:ext cx="10515600" cy="38597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8989230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slide with pictur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63E3FD7E-C80A-4707-A8E9-4134DF91F3F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1"/>
            <a:ext cx="12192000" cy="6858000"/>
          </a:xfrm>
        </p:spPr>
        <p:txBody>
          <a:bodyPr/>
          <a:lstStyle>
            <a:lvl1pPr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10EC23F5-CD2E-4207-A4E6-73BDFF74D8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1500" y="370600"/>
            <a:ext cx="5923842" cy="5923842"/>
          </a:xfrm>
          <a:custGeom>
            <a:avLst/>
            <a:gdLst>
              <a:gd name="connsiteX0" fmla="*/ 2961921 w 5923842"/>
              <a:gd name="connsiteY0" fmla="*/ 0 h 5923842"/>
              <a:gd name="connsiteX1" fmla="*/ 5923842 w 5923842"/>
              <a:gd name="connsiteY1" fmla="*/ 2961921 h 5923842"/>
              <a:gd name="connsiteX2" fmla="*/ 2961921 w 5923842"/>
              <a:gd name="connsiteY2" fmla="*/ 5923842 h 5923842"/>
              <a:gd name="connsiteX3" fmla="*/ 0 w 5923842"/>
              <a:gd name="connsiteY3" fmla="*/ 2961921 h 5923842"/>
              <a:gd name="connsiteX4" fmla="*/ 2961921 w 5923842"/>
              <a:gd name="connsiteY4" fmla="*/ 0 h 59238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923842" h="5923842">
                <a:moveTo>
                  <a:pt x="2961921" y="0"/>
                </a:moveTo>
                <a:cubicBezTo>
                  <a:pt x="4597745" y="0"/>
                  <a:pt x="5923842" y="1326097"/>
                  <a:pt x="5923842" y="2961921"/>
                </a:cubicBezTo>
                <a:cubicBezTo>
                  <a:pt x="5923842" y="4597745"/>
                  <a:pt x="4597745" y="5923842"/>
                  <a:pt x="2961921" y="5923842"/>
                </a:cubicBezTo>
                <a:cubicBezTo>
                  <a:pt x="1326097" y="5923842"/>
                  <a:pt x="0" y="4597745"/>
                  <a:pt x="0" y="2961921"/>
                </a:cubicBezTo>
                <a:cubicBezTo>
                  <a:pt x="0" y="1326097"/>
                  <a:pt x="1326097" y="0"/>
                  <a:pt x="2961921" y="0"/>
                </a:cubicBezTo>
                <a:close/>
              </a:path>
            </a:pathLst>
          </a:custGeom>
          <a:solidFill>
            <a:schemeClr val="bg1">
              <a:alpha val="95000"/>
            </a:schemeClr>
          </a:solidFill>
        </p:spPr>
        <p:txBody>
          <a:bodyPr wrap="square" lIns="457200" rIns="457200" bIns="2331720" anchor="b" anchorCtr="0">
            <a:noAutofit/>
          </a:bodyPr>
          <a:lstStyle>
            <a:lvl1pPr algn="ctr">
              <a:defRPr sz="4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E1462C4-0E4B-4DB7-A8BF-FE55142760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575304" y="4379976"/>
            <a:ext cx="5038344" cy="713232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6B76FE53-FB67-4871-8485-71BAAFD7D1BF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latin typeface="+mn-lt"/>
              </a:defRPr>
            </a:lvl1pPr>
          </a:lstStyle>
          <a:p>
            <a:pPr>
              <a:defRPr/>
            </a:pPr>
            <a:r>
              <a:rPr lang="en-US"/>
              <a:t>9/3/20XX</a:t>
            </a:r>
            <a:endParaRPr lang="en-US" dirty="0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AD26FED4-1CE2-444B-A77E-EB3CB505AF19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latin typeface="+mn-lt"/>
              </a:defRPr>
            </a:lvl1pPr>
          </a:lstStyle>
          <a:p>
            <a:pPr>
              <a:defRPr/>
            </a:pPr>
            <a:r>
              <a:rPr lang="fr-FR"/>
              <a:t>Discrete Structures : Lecture 1-2 by IQRA JAVED</a:t>
            </a:r>
            <a:endParaRPr lang="en-US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28FD25AA-10CC-48D8-9577-257871107B9A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latin typeface="+mn-lt"/>
              </a:defRPr>
            </a:lvl1pPr>
          </a:lstStyle>
          <a:p>
            <a:pPr>
              <a:defRPr/>
            </a:pPr>
            <a:fld id="{D76B855D-E9CC-4FF8-AD85-6CDC7B89A0DE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3281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ABFD05-2CB2-4A7E-89E7-57615BA82B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9532B8-D460-476D-816F-725E8D96C0A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6F7120F-70AF-4ED5-B364-3AA55C6B44B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3D8B65F-F709-469F-9961-4D01896CAA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>
              <a:defRPr/>
            </a:pPr>
            <a:r>
              <a:rPr lang="en-US">
                <a:solidFill>
                  <a:prstClr val="black">
                    <a:tint val="75000"/>
                  </a:prstClr>
                </a:solidFill>
              </a:rPr>
              <a:t>9/3/20XX</a:t>
            </a:r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781C6BC-B23D-48BC-AD44-654DDB8D01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>
              <a:defRPr/>
            </a:pPr>
            <a:r>
              <a:rPr lang="fr-FR">
                <a:solidFill>
                  <a:prstClr val="black">
                    <a:tint val="75000"/>
                  </a:prstClr>
                </a:solidFill>
              </a:rPr>
              <a:t>Discrete Structures : Lecture 1-2 by IQRA JAVED</a:t>
            </a:r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100D60B-86A1-479D-BCE8-06D2C3DBC9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>
              <a:defRPr/>
            </a:pPr>
            <a:fld id="{D76B855D-E9CC-4FF8-AD85-6CDC7B89A0DE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B4EC5136-99DA-40B5-8F79-5C3A56D38BA1}"/>
              </a:ext>
            </a:extLst>
          </p:cNvPr>
          <p:cNvSpPr/>
          <p:nvPr/>
        </p:nvSpPr>
        <p:spPr>
          <a:xfrm rot="16200000">
            <a:off x="-388933" y="4841194"/>
            <a:ext cx="1737401" cy="959536"/>
          </a:xfrm>
          <a:custGeom>
            <a:avLst/>
            <a:gdLst>
              <a:gd name="connsiteX0" fmla="*/ 0 w 1737401"/>
              <a:gd name="connsiteY0" fmla="*/ 0 h 959536"/>
              <a:gd name="connsiteX1" fmla="*/ 123825 w 1737401"/>
              <a:gd name="connsiteY1" fmla="*/ 0 h 959536"/>
              <a:gd name="connsiteX2" fmla="*/ 123825 w 1737401"/>
              <a:gd name="connsiteY2" fmla="*/ 790277 h 959536"/>
              <a:gd name="connsiteX3" fmla="*/ 1490095 w 1737401"/>
              <a:gd name="connsiteY3" fmla="*/ 0 h 959536"/>
              <a:gd name="connsiteX4" fmla="*/ 1737401 w 1737401"/>
              <a:gd name="connsiteY4" fmla="*/ 0 h 959536"/>
              <a:gd name="connsiteX5" fmla="*/ 92869 w 1737401"/>
              <a:gd name="connsiteY5" fmla="*/ 951249 h 959536"/>
              <a:gd name="connsiteX6" fmla="*/ 61913 w 1737401"/>
              <a:gd name="connsiteY6" fmla="*/ 959536 h 959536"/>
              <a:gd name="connsiteX7" fmla="*/ 0 w 1737401"/>
              <a:gd name="connsiteY7" fmla="*/ 897624 h 959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37401" h="959536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4F8FB775-26C4-41BA-837C-4478D48D2157}"/>
              </a:ext>
            </a:extLst>
          </p:cNvPr>
          <p:cNvSpPr/>
          <p:nvPr/>
        </p:nvSpPr>
        <p:spPr>
          <a:xfrm>
            <a:off x="10494433" y="2"/>
            <a:ext cx="849328" cy="357668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769069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92983E-E761-4429-9203-7FE8B2DB67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921E9B7-62BE-49BA-AC6B-55250D6627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C41A3FD-B90A-4C31-BD6B-581F9E2E0E5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0D1D55-B722-4968-B171-AF3B462DDAD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71085A8-02C2-4E7F-935E-5AEECBAD19B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A8A5018-8A77-40E8-B159-4894ECF228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>
              <a:defRPr/>
            </a:pPr>
            <a:r>
              <a:rPr lang="en-US">
                <a:solidFill>
                  <a:prstClr val="black">
                    <a:tint val="75000"/>
                  </a:prstClr>
                </a:solidFill>
              </a:rPr>
              <a:t>9/3/20XX</a:t>
            </a:r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AD79441-8908-4461-9FDD-BCE6388370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>
              <a:defRPr/>
            </a:pPr>
            <a:r>
              <a:rPr lang="fr-FR">
                <a:solidFill>
                  <a:prstClr val="black">
                    <a:tint val="75000"/>
                  </a:prstClr>
                </a:solidFill>
              </a:rPr>
              <a:t>Discrete Structures : Lecture 1-2 by IQRA JAVED</a:t>
            </a:r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8D29F7D-B101-4950-A2C0-F350FB26D4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>
              <a:defRPr/>
            </a:pPr>
            <a:fld id="{D76B855D-E9CC-4FF8-AD85-6CDC7B89A0DE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862D7398-9A79-4B24-9C7D-F0DEED57C70B}"/>
              </a:ext>
            </a:extLst>
          </p:cNvPr>
          <p:cNvSpPr/>
          <p:nvPr/>
        </p:nvSpPr>
        <p:spPr>
          <a:xfrm rot="16200000">
            <a:off x="-388933" y="4841194"/>
            <a:ext cx="1737401" cy="959536"/>
          </a:xfrm>
          <a:custGeom>
            <a:avLst/>
            <a:gdLst>
              <a:gd name="connsiteX0" fmla="*/ 0 w 1737401"/>
              <a:gd name="connsiteY0" fmla="*/ 0 h 959536"/>
              <a:gd name="connsiteX1" fmla="*/ 123825 w 1737401"/>
              <a:gd name="connsiteY1" fmla="*/ 0 h 959536"/>
              <a:gd name="connsiteX2" fmla="*/ 123825 w 1737401"/>
              <a:gd name="connsiteY2" fmla="*/ 790277 h 959536"/>
              <a:gd name="connsiteX3" fmla="*/ 1490095 w 1737401"/>
              <a:gd name="connsiteY3" fmla="*/ 0 h 959536"/>
              <a:gd name="connsiteX4" fmla="*/ 1737401 w 1737401"/>
              <a:gd name="connsiteY4" fmla="*/ 0 h 959536"/>
              <a:gd name="connsiteX5" fmla="*/ 92869 w 1737401"/>
              <a:gd name="connsiteY5" fmla="*/ 951249 h 959536"/>
              <a:gd name="connsiteX6" fmla="*/ 61913 w 1737401"/>
              <a:gd name="connsiteY6" fmla="*/ 959536 h 959536"/>
              <a:gd name="connsiteX7" fmla="*/ 0 w 1737401"/>
              <a:gd name="connsiteY7" fmla="*/ 897624 h 959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37401" h="959536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C07F28CD-1873-4E36-A064-2D25E0A85017}"/>
              </a:ext>
            </a:extLst>
          </p:cNvPr>
          <p:cNvSpPr/>
          <p:nvPr/>
        </p:nvSpPr>
        <p:spPr>
          <a:xfrm>
            <a:off x="10494433" y="2"/>
            <a:ext cx="849328" cy="357668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55946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 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92983E-E761-4429-9203-7FE8B2DB67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921E9B7-62BE-49BA-AC6B-55250D6627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32918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C41A3FD-B90A-4C31-BD6B-581F9E2E0E5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3291840" cy="3684588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0D1D55-B722-4968-B171-AF3B462DDAD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453128" y="1681163"/>
            <a:ext cx="32918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71085A8-02C2-4E7F-935E-5AEECBAD19B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453128" y="2505075"/>
            <a:ext cx="3291840" cy="3684588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A8A5018-8A77-40E8-B159-4894ECF228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>
              <a:defRPr/>
            </a:pPr>
            <a:r>
              <a:rPr lang="en-US">
                <a:solidFill>
                  <a:prstClr val="black">
                    <a:tint val="75000"/>
                  </a:prstClr>
                </a:solidFill>
              </a:rPr>
              <a:t>9/3/20XX</a:t>
            </a:r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AD79441-8908-4461-9FDD-BCE6388370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>
              <a:defRPr/>
            </a:pPr>
            <a:r>
              <a:rPr lang="fr-FR">
                <a:solidFill>
                  <a:prstClr val="black">
                    <a:tint val="75000"/>
                  </a:prstClr>
                </a:solidFill>
              </a:rPr>
              <a:t>Discrete Structures : Lecture 1-2 by IQRA JAVED</a:t>
            </a:r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8D29F7D-B101-4950-A2C0-F350FB26D4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>
              <a:defRPr/>
            </a:pPr>
            <a:fld id="{D76B855D-E9CC-4FF8-AD85-6CDC7B89A0DE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862D7398-9A79-4B24-9C7D-F0DEED57C70B}"/>
              </a:ext>
            </a:extLst>
          </p:cNvPr>
          <p:cNvSpPr/>
          <p:nvPr/>
        </p:nvSpPr>
        <p:spPr>
          <a:xfrm rot="16200000">
            <a:off x="-388933" y="4841194"/>
            <a:ext cx="1737401" cy="959536"/>
          </a:xfrm>
          <a:custGeom>
            <a:avLst/>
            <a:gdLst>
              <a:gd name="connsiteX0" fmla="*/ 0 w 1737401"/>
              <a:gd name="connsiteY0" fmla="*/ 0 h 959536"/>
              <a:gd name="connsiteX1" fmla="*/ 123825 w 1737401"/>
              <a:gd name="connsiteY1" fmla="*/ 0 h 959536"/>
              <a:gd name="connsiteX2" fmla="*/ 123825 w 1737401"/>
              <a:gd name="connsiteY2" fmla="*/ 790277 h 959536"/>
              <a:gd name="connsiteX3" fmla="*/ 1490095 w 1737401"/>
              <a:gd name="connsiteY3" fmla="*/ 0 h 959536"/>
              <a:gd name="connsiteX4" fmla="*/ 1737401 w 1737401"/>
              <a:gd name="connsiteY4" fmla="*/ 0 h 959536"/>
              <a:gd name="connsiteX5" fmla="*/ 92869 w 1737401"/>
              <a:gd name="connsiteY5" fmla="*/ 951249 h 959536"/>
              <a:gd name="connsiteX6" fmla="*/ 61913 w 1737401"/>
              <a:gd name="connsiteY6" fmla="*/ 959536 h 959536"/>
              <a:gd name="connsiteX7" fmla="*/ 0 w 1737401"/>
              <a:gd name="connsiteY7" fmla="*/ 897624 h 959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37401" h="959536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C07F28CD-1873-4E36-A064-2D25E0A85017}"/>
              </a:ext>
            </a:extLst>
          </p:cNvPr>
          <p:cNvSpPr/>
          <p:nvPr/>
        </p:nvSpPr>
        <p:spPr>
          <a:xfrm>
            <a:off x="10494433" y="2"/>
            <a:ext cx="849328" cy="357668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ACF5677B-E56F-4452-ADDC-DA0E20A955E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065008" y="1681163"/>
            <a:ext cx="32918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Content Placeholder 5">
            <a:extLst>
              <a:ext uri="{FF2B5EF4-FFF2-40B4-BE49-F238E27FC236}">
                <a16:creationId xmlns:a16="http://schemas.microsoft.com/office/drawing/2014/main" id="{865D9C09-AB3B-40EB-B1DA-9C6D72343451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065008" y="2505075"/>
            <a:ext cx="3291840" cy="3684588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672738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with 2 medium 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icture Placeholder 19">
            <a:extLst>
              <a:ext uri="{FF2B5EF4-FFF2-40B4-BE49-F238E27FC236}">
                <a16:creationId xmlns:a16="http://schemas.microsoft.com/office/drawing/2014/main" id="{FAA9DFF3-1B49-48A9-BF8A-57DD7D07CFAF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7901259" y="2727729"/>
            <a:ext cx="4290740" cy="4130271"/>
          </a:xfrm>
          <a:custGeom>
            <a:avLst/>
            <a:gdLst>
              <a:gd name="connsiteX0" fmla="*/ 2503809 w 4290740"/>
              <a:gd name="connsiteY0" fmla="*/ 0 h 4130271"/>
              <a:gd name="connsiteX1" fmla="*/ 4198398 w 4290740"/>
              <a:gd name="connsiteY1" fmla="*/ 660580 h 4130271"/>
              <a:gd name="connsiteX2" fmla="*/ 4290740 w 4290740"/>
              <a:gd name="connsiteY2" fmla="*/ 751285 h 4130271"/>
              <a:gd name="connsiteX3" fmla="*/ 4290740 w 4290740"/>
              <a:gd name="connsiteY3" fmla="*/ 4130271 h 4130271"/>
              <a:gd name="connsiteX4" fmla="*/ 604508 w 4290740"/>
              <a:gd name="connsiteY4" fmla="*/ 4130271 h 4130271"/>
              <a:gd name="connsiteX5" fmla="*/ 461940 w 4290740"/>
              <a:gd name="connsiteY5" fmla="*/ 3953232 h 4130271"/>
              <a:gd name="connsiteX6" fmla="*/ 0 w 4290740"/>
              <a:gd name="connsiteY6" fmla="*/ 2503809 h 4130271"/>
              <a:gd name="connsiteX7" fmla="*/ 2503809 w 4290740"/>
              <a:gd name="connsiteY7" fmla="*/ 0 h 41302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290740" h="4130271">
                <a:moveTo>
                  <a:pt x="2503809" y="0"/>
                </a:moveTo>
                <a:cubicBezTo>
                  <a:pt x="3157405" y="0"/>
                  <a:pt x="3752509" y="250434"/>
                  <a:pt x="4198398" y="660580"/>
                </a:cubicBezTo>
                <a:lnTo>
                  <a:pt x="4290740" y="751285"/>
                </a:lnTo>
                <a:lnTo>
                  <a:pt x="4290740" y="4130271"/>
                </a:lnTo>
                <a:lnTo>
                  <a:pt x="604508" y="4130271"/>
                </a:lnTo>
                <a:lnTo>
                  <a:pt x="461940" y="3953232"/>
                </a:lnTo>
                <a:cubicBezTo>
                  <a:pt x="171051" y="3544183"/>
                  <a:pt x="0" y="3043971"/>
                  <a:pt x="0" y="2503809"/>
                </a:cubicBezTo>
                <a:cubicBezTo>
                  <a:pt x="0" y="1120992"/>
                  <a:pt x="1120992" y="0"/>
                  <a:pt x="2503809" y="0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 sz="18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5CFEFC13-B998-4A6F-A7ED-411E266D288C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261609" y="0"/>
            <a:ext cx="3519311" cy="3007909"/>
          </a:xfrm>
          <a:custGeom>
            <a:avLst/>
            <a:gdLst>
              <a:gd name="connsiteX0" fmla="*/ 519779 w 3519311"/>
              <a:gd name="connsiteY0" fmla="*/ 0 h 3007909"/>
              <a:gd name="connsiteX1" fmla="*/ 2999531 w 3519311"/>
              <a:gd name="connsiteY1" fmla="*/ 0 h 3007909"/>
              <a:gd name="connsiteX2" fmla="*/ 3003920 w 3519311"/>
              <a:gd name="connsiteY2" fmla="*/ 3989 h 3007909"/>
              <a:gd name="connsiteX3" fmla="*/ 3519311 w 3519311"/>
              <a:gd name="connsiteY3" fmla="*/ 1248253 h 3007909"/>
              <a:gd name="connsiteX4" fmla="*/ 1759655 w 3519311"/>
              <a:gd name="connsiteY4" fmla="*/ 3007909 h 3007909"/>
              <a:gd name="connsiteX5" fmla="*/ 9084 w 3519311"/>
              <a:gd name="connsiteY5" fmla="*/ 1428168 h 3007909"/>
              <a:gd name="connsiteX6" fmla="*/ 0 w 3519311"/>
              <a:gd name="connsiteY6" fmla="*/ 1248273 h 3007909"/>
              <a:gd name="connsiteX7" fmla="*/ 0 w 3519311"/>
              <a:gd name="connsiteY7" fmla="*/ 1248233 h 3007909"/>
              <a:gd name="connsiteX8" fmla="*/ 9084 w 3519311"/>
              <a:gd name="connsiteY8" fmla="*/ 1068339 h 3007909"/>
              <a:gd name="connsiteX9" fmla="*/ 515391 w 3519311"/>
              <a:gd name="connsiteY9" fmla="*/ 3989 h 30079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3519311" h="3007909">
                <a:moveTo>
                  <a:pt x="519779" y="0"/>
                </a:moveTo>
                <a:lnTo>
                  <a:pt x="2999531" y="0"/>
                </a:lnTo>
                <a:lnTo>
                  <a:pt x="3003920" y="3989"/>
                </a:lnTo>
                <a:cubicBezTo>
                  <a:pt x="3322355" y="322424"/>
                  <a:pt x="3519311" y="762338"/>
                  <a:pt x="3519311" y="1248253"/>
                </a:cubicBezTo>
                <a:cubicBezTo>
                  <a:pt x="3519311" y="2220084"/>
                  <a:pt x="2731486" y="3007909"/>
                  <a:pt x="1759655" y="3007909"/>
                </a:cubicBezTo>
                <a:cubicBezTo>
                  <a:pt x="848565" y="3007909"/>
                  <a:pt x="99196" y="2315485"/>
                  <a:pt x="9084" y="1428168"/>
                </a:cubicBezTo>
                <a:lnTo>
                  <a:pt x="0" y="1248273"/>
                </a:lnTo>
                <a:lnTo>
                  <a:pt x="0" y="1248233"/>
                </a:lnTo>
                <a:lnTo>
                  <a:pt x="9084" y="1068339"/>
                </a:lnTo>
                <a:cubicBezTo>
                  <a:pt x="51137" y="654258"/>
                  <a:pt x="236761" y="282620"/>
                  <a:pt x="515391" y="3989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 sz="18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B7BFFB5A-A05C-4B0C-905C-5884361304B2}"/>
              </a:ext>
            </a:extLst>
          </p:cNvPr>
          <p:cNvSpPr/>
          <p:nvPr userDrawn="1"/>
        </p:nvSpPr>
        <p:spPr>
          <a:xfrm>
            <a:off x="10420569" y="1364732"/>
            <a:ext cx="947488" cy="92178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9F33AC6C-4807-4785-AE9F-84BFEEDA9F7E}"/>
              </a:ext>
            </a:extLst>
          </p:cNvPr>
          <p:cNvSpPr/>
          <p:nvPr userDrawn="1"/>
        </p:nvSpPr>
        <p:spPr>
          <a:xfrm rot="4759070" flipV="1">
            <a:off x="6034138" y="-673140"/>
            <a:ext cx="4021193" cy="4021193"/>
          </a:xfrm>
          <a:prstGeom prst="arc">
            <a:avLst>
              <a:gd name="adj1" fmla="val 16200000"/>
              <a:gd name="adj2" fmla="val 20093138"/>
            </a:avLst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0E11BF3-02E8-4EB7-818E-652B82CF2C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365760"/>
            <a:ext cx="5120640" cy="132588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54D3190-B78C-42F1-9D62-F523886BBE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>
              <a:defRPr/>
            </a:pPr>
            <a:r>
              <a:rPr lang="en-US">
                <a:solidFill>
                  <a:prstClr val="black">
                    <a:tint val="75000"/>
                  </a:prstClr>
                </a:solidFill>
              </a:rPr>
              <a:t>9/3/20XX</a:t>
            </a:r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A381C40-F9FC-4D58-8508-F0632DF5A0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>
              <a:defRPr/>
            </a:pPr>
            <a:r>
              <a:rPr lang="fr-FR">
                <a:solidFill>
                  <a:prstClr val="black">
                    <a:tint val="75000"/>
                  </a:prstClr>
                </a:solidFill>
              </a:rPr>
              <a:t>Discrete Structures : Lecture 1-2 by IQRA JAVED</a:t>
            </a:r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101CBCC-4CC2-49BD-B155-01E0F4D798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>
              <a:defRPr/>
            </a:pPr>
            <a:fld id="{D76B855D-E9CC-4FF8-AD85-6CDC7B89A0DE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4753B078-30BA-4AB9-A020-EE8D9404B6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1248" y="1828800"/>
            <a:ext cx="5093208" cy="4352544"/>
          </a:xfrm>
        </p:spPr>
        <p:txBody>
          <a:bodyPr/>
          <a:lstStyle>
            <a:lvl1pPr marL="0" indent="0">
              <a:buNone/>
              <a:defRPr sz="2400"/>
            </a:lvl1pPr>
            <a:lvl2pPr marL="228600">
              <a:defRPr/>
            </a:lvl2pPr>
            <a:lvl3pPr marL="457200">
              <a:defRPr/>
            </a:lvl3pPr>
            <a:lvl4pPr marL="685800"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141317861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val 9">
            <a:extLst>
              <a:ext uri="{FF2B5EF4-FFF2-40B4-BE49-F238E27FC236}">
                <a16:creationId xmlns:a16="http://schemas.microsoft.com/office/drawing/2014/main" id="{2642EAF0-DE94-4F90-82E3-6F316AA8353A}"/>
              </a:ext>
            </a:extLst>
          </p:cNvPr>
          <p:cNvSpPr/>
          <p:nvPr userDrawn="1"/>
        </p:nvSpPr>
        <p:spPr>
          <a:xfrm>
            <a:off x="707393" y="847600"/>
            <a:ext cx="4619938" cy="4619938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D22D7888-22FA-4AA1-9BA4-CC61D6643D47}"/>
              </a:ext>
            </a:extLst>
          </p:cNvPr>
          <p:cNvSpPr/>
          <p:nvPr userDrawn="1"/>
        </p:nvSpPr>
        <p:spPr>
          <a:xfrm flipH="1">
            <a:off x="530529" y="0"/>
            <a:ext cx="1155142" cy="591009"/>
          </a:xfrm>
          <a:custGeom>
            <a:avLst/>
            <a:gdLst>
              <a:gd name="connsiteX0" fmla="*/ 1355 w 1155142"/>
              <a:gd name="connsiteY0" fmla="*/ 0 h 591009"/>
              <a:gd name="connsiteX1" fmla="*/ 1153787 w 1155142"/>
              <a:gd name="connsiteY1" fmla="*/ 0 h 591009"/>
              <a:gd name="connsiteX2" fmla="*/ 1155142 w 1155142"/>
              <a:gd name="connsiteY2" fmla="*/ 13438 h 591009"/>
              <a:gd name="connsiteX3" fmla="*/ 577571 w 1155142"/>
              <a:gd name="connsiteY3" fmla="*/ 591009 h 591009"/>
              <a:gd name="connsiteX4" fmla="*/ 0 w 1155142"/>
              <a:gd name="connsiteY4" fmla="*/ 13438 h 5910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55142" h="591009">
                <a:moveTo>
                  <a:pt x="1355" y="0"/>
                </a:moveTo>
                <a:lnTo>
                  <a:pt x="1153787" y="0"/>
                </a:lnTo>
                <a:lnTo>
                  <a:pt x="1155142" y="13438"/>
                </a:lnTo>
                <a:cubicBezTo>
                  <a:pt x="1155142" y="332422"/>
                  <a:pt x="896555" y="591009"/>
                  <a:pt x="577571" y="591009"/>
                </a:cubicBezTo>
                <a:cubicBezTo>
                  <a:pt x="258587" y="591009"/>
                  <a:pt x="0" y="332422"/>
                  <a:pt x="0" y="13438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EBB6E464-8999-4773-A1F2-E6CAA990E572}"/>
              </a:ext>
            </a:extLst>
          </p:cNvPr>
          <p:cNvSpPr/>
          <p:nvPr userDrawn="1"/>
        </p:nvSpPr>
        <p:spPr>
          <a:xfrm flipH="1">
            <a:off x="3961511" y="-1"/>
            <a:ext cx="1737401" cy="959536"/>
          </a:xfrm>
          <a:custGeom>
            <a:avLst/>
            <a:gdLst>
              <a:gd name="connsiteX0" fmla="*/ 0 w 1737401"/>
              <a:gd name="connsiteY0" fmla="*/ 0 h 959536"/>
              <a:gd name="connsiteX1" fmla="*/ 123825 w 1737401"/>
              <a:gd name="connsiteY1" fmla="*/ 0 h 959536"/>
              <a:gd name="connsiteX2" fmla="*/ 123825 w 1737401"/>
              <a:gd name="connsiteY2" fmla="*/ 790277 h 959536"/>
              <a:gd name="connsiteX3" fmla="*/ 1490095 w 1737401"/>
              <a:gd name="connsiteY3" fmla="*/ 0 h 959536"/>
              <a:gd name="connsiteX4" fmla="*/ 1737401 w 1737401"/>
              <a:gd name="connsiteY4" fmla="*/ 0 h 959536"/>
              <a:gd name="connsiteX5" fmla="*/ 92869 w 1737401"/>
              <a:gd name="connsiteY5" fmla="*/ 951249 h 959536"/>
              <a:gd name="connsiteX6" fmla="*/ 61913 w 1737401"/>
              <a:gd name="connsiteY6" fmla="*/ 959536 h 959536"/>
              <a:gd name="connsiteX7" fmla="*/ 0 w 1737401"/>
              <a:gd name="connsiteY7" fmla="*/ 897624 h 959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37401" h="959536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CE9CE183-B21E-41EB-A082-DF9C3AD659D5}"/>
              </a:ext>
            </a:extLst>
          </p:cNvPr>
          <p:cNvSpPr/>
          <p:nvPr userDrawn="1"/>
        </p:nvSpPr>
        <p:spPr>
          <a:xfrm flipH="1">
            <a:off x="0" y="2936831"/>
            <a:ext cx="159741" cy="552996"/>
          </a:xfrm>
          <a:custGeom>
            <a:avLst/>
            <a:gdLst>
              <a:gd name="connsiteX0" fmla="*/ 159741 w 159741"/>
              <a:gd name="connsiteY0" fmla="*/ 0 h 552996"/>
              <a:gd name="connsiteX1" fmla="*/ 159741 w 159741"/>
              <a:gd name="connsiteY1" fmla="*/ 552996 h 552996"/>
              <a:gd name="connsiteX2" fmla="*/ 141849 w 159741"/>
              <a:gd name="connsiteY2" fmla="*/ 543285 h 552996"/>
              <a:gd name="connsiteX3" fmla="*/ 0 w 159741"/>
              <a:gd name="connsiteY3" fmla="*/ 276498 h 552996"/>
              <a:gd name="connsiteX4" fmla="*/ 141849 w 159741"/>
              <a:gd name="connsiteY4" fmla="*/ 9711 h 5529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9741" h="552996">
                <a:moveTo>
                  <a:pt x="159741" y="0"/>
                </a:moveTo>
                <a:lnTo>
                  <a:pt x="159741" y="552996"/>
                </a:lnTo>
                <a:lnTo>
                  <a:pt x="141849" y="543285"/>
                </a:lnTo>
                <a:cubicBezTo>
                  <a:pt x="56268" y="485467"/>
                  <a:pt x="0" y="387554"/>
                  <a:pt x="0" y="276498"/>
                </a:cubicBezTo>
                <a:cubicBezTo>
                  <a:pt x="0" y="165443"/>
                  <a:pt x="56268" y="67529"/>
                  <a:pt x="141849" y="9711"/>
                </a:cubicBezTo>
                <a:close/>
              </a:path>
            </a:pathLst>
          </a:custGeom>
          <a:solidFill>
            <a:schemeClr val="accent4"/>
          </a:solidFill>
          <a:ln w="1270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1EA14BE8-FDD0-4434-9C3E-BFF78C22D9E3}"/>
              </a:ext>
            </a:extLst>
          </p:cNvPr>
          <p:cNvSpPr/>
          <p:nvPr userDrawn="1"/>
        </p:nvSpPr>
        <p:spPr>
          <a:xfrm flipH="1">
            <a:off x="0" y="5835649"/>
            <a:ext cx="1548180" cy="1022351"/>
          </a:xfrm>
          <a:custGeom>
            <a:avLst/>
            <a:gdLst>
              <a:gd name="connsiteX0" fmla="*/ 61913 w 1548180"/>
              <a:gd name="connsiteY0" fmla="*/ 0 h 1022351"/>
              <a:gd name="connsiteX1" fmla="*/ 1548180 w 1548180"/>
              <a:gd name="connsiteY1" fmla="*/ 0 h 1022351"/>
              <a:gd name="connsiteX2" fmla="*/ 1548180 w 1548180"/>
              <a:gd name="connsiteY2" fmla="*/ 123825 h 1022351"/>
              <a:gd name="connsiteX3" fmla="*/ 123825 w 1548180"/>
              <a:gd name="connsiteY3" fmla="*/ 123825 h 1022351"/>
              <a:gd name="connsiteX4" fmla="*/ 123825 w 1548180"/>
              <a:gd name="connsiteY4" fmla="*/ 1022351 h 1022351"/>
              <a:gd name="connsiteX5" fmla="*/ 0 w 1548180"/>
              <a:gd name="connsiteY5" fmla="*/ 1022351 h 1022351"/>
              <a:gd name="connsiteX6" fmla="*/ 0 w 1548180"/>
              <a:gd name="connsiteY6" fmla="*/ 61913 h 1022351"/>
              <a:gd name="connsiteX7" fmla="*/ 61913 w 1548180"/>
              <a:gd name="connsiteY7" fmla="*/ 0 h 10223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548180" h="1022351">
                <a:moveTo>
                  <a:pt x="61913" y="0"/>
                </a:moveTo>
                <a:lnTo>
                  <a:pt x="1548180" y="0"/>
                </a:lnTo>
                <a:lnTo>
                  <a:pt x="1548180" y="123825"/>
                </a:lnTo>
                <a:lnTo>
                  <a:pt x="123825" y="123825"/>
                </a:lnTo>
                <a:lnTo>
                  <a:pt x="123825" y="1022351"/>
                </a:lnTo>
                <a:lnTo>
                  <a:pt x="0" y="1022351"/>
                </a:lnTo>
                <a:lnTo>
                  <a:pt x="0" y="61913"/>
                </a:lnTo>
                <a:cubicBezTo>
                  <a:pt x="0" y="27719"/>
                  <a:pt x="27719" y="0"/>
                  <a:pt x="61913" y="0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5C76330B-4C5E-463F-921A-D91F1F1F6049}"/>
              </a:ext>
            </a:extLst>
          </p:cNvPr>
          <p:cNvSpPr/>
          <p:nvPr userDrawn="1"/>
        </p:nvSpPr>
        <p:spPr>
          <a:xfrm flipH="1">
            <a:off x="3405056" y="5717905"/>
            <a:ext cx="1771609" cy="1140095"/>
          </a:xfrm>
          <a:custGeom>
            <a:avLst/>
            <a:gdLst>
              <a:gd name="connsiteX0" fmla="*/ 1561721 w 1771609"/>
              <a:gd name="connsiteY0" fmla="*/ 763041 h 1140095"/>
              <a:gd name="connsiteX1" fmla="*/ 1623024 w 1771609"/>
              <a:gd name="connsiteY1" fmla="*/ 792810 h 1140095"/>
              <a:gd name="connsiteX2" fmla="*/ 1711735 w 1771609"/>
              <a:gd name="connsiteY2" fmla="*/ 970132 h 1140095"/>
              <a:gd name="connsiteX3" fmla="*/ 1771609 w 1771609"/>
              <a:gd name="connsiteY3" fmla="*/ 1140095 h 1140095"/>
              <a:gd name="connsiteX4" fmla="*/ 1637225 w 1771609"/>
              <a:gd name="connsiteY4" fmla="*/ 1140095 h 1140095"/>
              <a:gd name="connsiteX5" fmla="*/ 1594820 w 1771609"/>
              <a:gd name="connsiteY5" fmla="*/ 1019711 h 1140095"/>
              <a:gd name="connsiteX6" fmla="*/ 1513200 w 1771609"/>
              <a:gd name="connsiteY6" fmla="*/ 856627 h 1140095"/>
              <a:gd name="connsiteX7" fmla="*/ 1538499 w 1771609"/>
              <a:gd name="connsiteY7" fmla="*/ 770415 h 1140095"/>
              <a:gd name="connsiteX8" fmla="*/ 1561721 w 1771609"/>
              <a:gd name="connsiteY8" fmla="*/ 763041 h 1140095"/>
              <a:gd name="connsiteX9" fmla="*/ 933455 w 1771609"/>
              <a:gd name="connsiteY9" fmla="*/ 161309 h 1140095"/>
              <a:gd name="connsiteX10" fmla="*/ 957797 w 1771609"/>
              <a:gd name="connsiteY10" fmla="*/ 167970 h 1140095"/>
              <a:gd name="connsiteX11" fmla="*/ 1286982 w 1771609"/>
              <a:gd name="connsiteY11" fmla="*/ 387616 h 1140095"/>
              <a:gd name="connsiteX12" fmla="*/ 1293725 w 1771609"/>
              <a:gd name="connsiteY12" fmla="*/ 477075 h 1140095"/>
              <a:gd name="connsiteX13" fmla="*/ 1245453 w 1771609"/>
              <a:gd name="connsiteY13" fmla="*/ 499154 h 1140095"/>
              <a:gd name="connsiteX14" fmla="*/ 1245167 w 1771609"/>
              <a:gd name="connsiteY14" fmla="*/ 499154 h 1140095"/>
              <a:gd name="connsiteX15" fmla="*/ 1203638 w 1771609"/>
              <a:gd name="connsiteY15" fmla="*/ 484104 h 1140095"/>
              <a:gd name="connsiteX16" fmla="*/ 900647 w 1771609"/>
              <a:gd name="connsiteY16" fmla="*/ 281508 h 1140095"/>
              <a:gd name="connsiteX17" fmla="*/ 872454 w 1771609"/>
              <a:gd name="connsiteY17" fmla="*/ 196164 h 1140095"/>
              <a:gd name="connsiteX18" fmla="*/ 933455 w 1771609"/>
              <a:gd name="connsiteY18" fmla="*/ 161309 h 1140095"/>
              <a:gd name="connsiteX19" fmla="*/ 256260 w 1771609"/>
              <a:gd name="connsiteY19" fmla="*/ 29 h 1140095"/>
              <a:gd name="connsiteX20" fmla="*/ 454020 w 1771609"/>
              <a:gd name="connsiteY20" fmla="*/ 13474 h 1140095"/>
              <a:gd name="connsiteX21" fmla="*/ 509236 w 1771609"/>
              <a:gd name="connsiteY21" fmla="*/ 84182 h 1140095"/>
              <a:gd name="connsiteX22" fmla="*/ 445829 w 1771609"/>
              <a:gd name="connsiteY22" fmla="*/ 139871 h 1140095"/>
              <a:gd name="connsiteX23" fmla="*/ 437447 w 1771609"/>
              <a:gd name="connsiteY23" fmla="*/ 139395 h 1140095"/>
              <a:gd name="connsiteX24" fmla="*/ 73211 w 1771609"/>
              <a:gd name="connsiteY24" fmla="*/ 137204 h 1140095"/>
              <a:gd name="connsiteX25" fmla="*/ 749 w 1771609"/>
              <a:gd name="connsiteY25" fmla="*/ 84082 h 1140095"/>
              <a:gd name="connsiteX26" fmla="*/ 53871 w 1771609"/>
              <a:gd name="connsiteY26" fmla="*/ 11621 h 1140095"/>
              <a:gd name="connsiteX27" fmla="*/ 58352 w 1771609"/>
              <a:gd name="connsiteY27" fmla="*/ 11093 h 1140095"/>
              <a:gd name="connsiteX28" fmla="*/ 256260 w 1771609"/>
              <a:gd name="connsiteY28" fmla="*/ 29 h 11400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</a:cxnLst>
            <a:rect l="l" t="t" r="r" b="b"/>
            <a:pathLst>
              <a:path w="1771609" h="1140095">
                <a:moveTo>
                  <a:pt x="1561721" y="763041"/>
                </a:moveTo>
                <a:cubicBezTo>
                  <a:pt x="1585506" y="760324"/>
                  <a:pt x="1609722" y="771249"/>
                  <a:pt x="1623024" y="792810"/>
                </a:cubicBezTo>
                <a:cubicBezTo>
                  <a:pt x="1656300" y="850065"/>
                  <a:pt x="1685920" y="909291"/>
                  <a:pt x="1711735" y="970132"/>
                </a:cubicBezTo>
                <a:lnTo>
                  <a:pt x="1771609" y="1140095"/>
                </a:lnTo>
                <a:lnTo>
                  <a:pt x="1637225" y="1140095"/>
                </a:lnTo>
                <a:lnTo>
                  <a:pt x="1594820" y="1019711"/>
                </a:lnTo>
                <a:cubicBezTo>
                  <a:pt x="1571072" y="963753"/>
                  <a:pt x="1543818" y="909282"/>
                  <a:pt x="1513200" y="856627"/>
                </a:cubicBezTo>
                <a:cubicBezTo>
                  <a:pt x="1496379" y="825834"/>
                  <a:pt x="1507704" y="787236"/>
                  <a:pt x="1538499" y="770415"/>
                </a:cubicBezTo>
                <a:cubicBezTo>
                  <a:pt x="1545912" y="766367"/>
                  <a:pt x="1553792" y="763946"/>
                  <a:pt x="1561721" y="763041"/>
                </a:cubicBezTo>
                <a:close/>
                <a:moveTo>
                  <a:pt x="933455" y="161309"/>
                </a:moveTo>
                <a:cubicBezTo>
                  <a:pt x="941693" y="161855"/>
                  <a:pt x="949959" y="164025"/>
                  <a:pt x="957797" y="167970"/>
                </a:cubicBezTo>
                <a:cubicBezTo>
                  <a:pt x="1076184" y="227289"/>
                  <a:pt x="1186759" y="301068"/>
                  <a:pt x="1286982" y="387616"/>
                </a:cubicBezTo>
                <a:cubicBezTo>
                  <a:pt x="1313547" y="410457"/>
                  <a:pt x="1316566" y="450510"/>
                  <a:pt x="1293725" y="477075"/>
                </a:cubicBezTo>
                <a:cubicBezTo>
                  <a:pt x="1281638" y="491137"/>
                  <a:pt x="1263998" y="499204"/>
                  <a:pt x="1245453" y="499154"/>
                </a:cubicBezTo>
                <a:lnTo>
                  <a:pt x="1245167" y="499154"/>
                </a:lnTo>
                <a:cubicBezTo>
                  <a:pt x="1229965" y="499301"/>
                  <a:pt x="1215220" y="493956"/>
                  <a:pt x="1203638" y="484104"/>
                </a:cubicBezTo>
                <a:cubicBezTo>
                  <a:pt x="1111407" y="404300"/>
                  <a:pt x="1009633" y="336248"/>
                  <a:pt x="900647" y="281508"/>
                </a:cubicBezTo>
                <a:cubicBezTo>
                  <a:pt x="869295" y="265726"/>
                  <a:pt x="856672" y="227516"/>
                  <a:pt x="872454" y="196164"/>
                </a:cubicBezTo>
                <a:cubicBezTo>
                  <a:pt x="884290" y="172650"/>
                  <a:pt x="908742" y="159670"/>
                  <a:pt x="933455" y="161309"/>
                </a:cubicBezTo>
                <a:close/>
                <a:moveTo>
                  <a:pt x="256260" y="29"/>
                </a:moveTo>
                <a:cubicBezTo>
                  <a:pt x="322331" y="427"/>
                  <a:pt x="388378" y="4909"/>
                  <a:pt x="454020" y="13474"/>
                </a:cubicBezTo>
                <a:cubicBezTo>
                  <a:pt x="488793" y="17752"/>
                  <a:pt x="513514" y="49409"/>
                  <a:pt x="509236" y="84182"/>
                </a:cubicBezTo>
                <a:cubicBezTo>
                  <a:pt x="505303" y="116151"/>
                  <a:pt x="478038" y="140098"/>
                  <a:pt x="445829" y="139871"/>
                </a:cubicBezTo>
                <a:cubicBezTo>
                  <a:pt x="443027" y="139899"/>
                  <a:pt x="440227" y="139740"/>
                  <a:pt x="437447" y="139395"/>
                </a:cubicBezTo>
                <a:cubicBezTo>
                  <a:pt x="316592" y="123615"/>
                  <a:pt x="194247" y="122878"/>
                  <a:pt x="73211" y="137204"/>
                </a:cubicBezTo>
                <a:cubicBezTo>
                  <a:pt x="38532" y="142545"/>
                  <a:pt x="6090" y="118762"/>
                  <a:pt x="749" y="84082"/>
                </a:cubicBezTo>
                <a:cubicBezTo>
                  <a:pt x="-4591" y="49403"/>
                  <a:pt x="19192" y="16961"/>
                  <a:pt x="53871" y="11621"/>
                </a:cubicBezTo>
                <a:cubicBezTo>
                  <a:pt x="55358" y="11392"/>
                  <a:pt x="56852" y="11216"/>
                  <a:pt x="58352" y="11093"/>
                </a:cubicBezTo>
                <a:cubicBezTo>
                  <a:pt x="124093" y="3319"/>
                  <a:pt x="190189" y="-369"/>
                  <a:pt x="256260" y="29"/>
                </a:cubicBezTo>
                <a:close/>
              </a:path>
            </a:pathLst>
          </a:custGeom>
          <a:solidFill>
            <a:schemeClr val="accent4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E494E364-7EA8-4D92-915D-75D1A3A67C07}"/>
              </a:ext>
            </a:extLst>
          </p:cNvPr>
          <p:cNvSpPr/>
          <p:nvPr userDrawn="1"/>
        </p:nvSpPr>
        <p:spPr>
          <a:xfrm flipH="1">
            <a:off x="4132972" y="6258755"/>
            <a:ext cx="1565940" cy="599245"/>
          </a:xfrm>
          <a:custGeom>
            <a:avLst/>
            <a:gdLst>
              <a:gd name="connsiteX0" fmla="*/ 782970 w 1565940"/>
              <a:gd name="connsiteY0" fmla="*/ 0 h 599245"/>
              <a:gd name="connsiteX1" fmla="*/ 1528042 w 1565940"/>
              <a:gd name="connsiteY1" fmla="*/ 480469 h 599245"/>
              <a:gd name="connsiteX2" fmla="*/ 1565940 w 1565940"/>
              <a:gd name="connsiteY2" fmla="*/ 599245 h 599245"/>
              <a:gd name="connsiteX3" fmla="*/ 0 w 1565940"/>
              <a:gd name="connsiteY3" fmla="*/ 599245 h 599245"/>
              <a:gd name="connsiteX4" fmla="*/ 37898 w 1565940"/>
              <a:gd name="connsiteY4" fmla="*/ 480469 h 599245"/>
              <a:gd name="connsiteX5" fmla="*/ 782970 w 1565940"/>
              <a:gd name="connsiteY5" fmla="*/ 0 h 5992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565940" h="599245">
                <a:moveTo>
                  <a:pt x="782970" y="0"/>
                </a:moveTo>
                <a:cubicBezTo>
                  <a:pt x="1117910" y="0"/>
                  <a:pt x="1405287" y="198118"/>
                  <a:pt x="1528042" y="480469"/>
                </a:cubicBezTo>
                <a:lnTo>
                  <a:pt x="1565940" y="599245"/>
                </a:lnTo>
                <a:lnTo>
                  <a:pt x="0" y="599245"/>
                </a:lnTo>
                <a:lnTo>
                  <a:pt x="37898" y="480469"/>
                </a:lnTo>
                <a:cubicBezTo>
                  <a:pt x="160653" y="198118"/>
                  <a:pt x="448030" y="0"/>
                  <a:pt x="782970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0E11BF3-02E8-4EB7-818E-652B82CF2C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9888" y="1234440"/>
            <a:ext cx="3236976" cy="4069080"/>
          </a:xfrm>
        </p:spPr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54D3190-B78C-42F1-9D62-F523886BBE5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682496" y="6356350"/>
            <a:ext cx="1545336" cy="365125"/>
          </a:xfr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pPr>
              <a:defRPr/>
            </a:pPr>
            <a:r>
              <a:rPr lang="en-US">
                <a:solidFill>
                  <a:prstClr val="black">
                    <a:tint val="75000"/>
                  </a:prstClr>
                </a:solidFill>
              </a:rPr>
              <a:t>9/3/20XX</a:t>
            </a:r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A381C40-F9FC-4D58-8508-F0632DF5A0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099048" y="6356350"/>
            <a:ext cx="4114800" cy="365125"/>
          </a:xfrm>
        </p:spPr>
        <p:txBody>
          <a:bodyPr/>
          <a:lstStyle>
            <a:lvl1pPr algn="l">
              <a:defRPr>
                <a:latin typeface="+mn-lt"/>
              </a:defRPr>
            </a:lvl1pPr>
          </a:lstStyle>
          <a:p>
            <a:pPr algn="l">
              <a:defRPr/>
            </a:pPr>
            <a:r>
              <a:rPr lang="fr-FR">
                <a:solidFill>
                  <a:prstClr val="black">
                    <a:tint val="75000"/>
                  </a:prstClr>
                </a:solidFill>
              </a:rPr>
              <a:t>Discrete Structures : Lecture 1-2 by IQRA JAVED</a:t>
            </a:r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101CBCC-4CC2-49BD-B155-01E0F4D798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06456" y="6356350"/>
            <a:ext cx="850392" cy="365125"/>
          </a:xfr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pPr>
              <a:defRPr/>
            </a:pPr>
            <a:fld id="{D76B855D-E9CC-4FF8-AD85-6CDC7B89A0DE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4753B078-30BA-4AB9-A020-EE8D9404B6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65976" y="2551176"/>
            <a:ext cx="4709160" cy="1755648"/>
          </a:xfrm>
        </p:spPr>
        <p:txBody>
          <a:bodyPr/>
          <a:lstStyle>
            <a:lvl1pPr marL="0" indent="0">
              <a:buNone/>
              <a:defRPr sz="2400"/>
            </a:lvl1pPr>
            <a:lvl2pPr marL="228600">
              <a:defRPr sz="1800"/>
            </a:lvl2pPr>
            <a:lvl3pPr marL="457200">
              <a:defRPr sz="18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8267791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7024287-C9B9-48AC-8E4D-A282DE2F44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>
              <a:defRPr/>
            </a:pPr>
            <a:r>
              <a:rPr lang="en-US">
                <a:solidFill>
                  <a:prstClr val="black">
                    <a:tint val="75000"/>
                  </a:prstClr>
                </a:solidFill>
              </a:rPr>
              <a:t>9/3/20XX</a:t>
            </a:r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D34C9A2-75A7-4164-B3B8-E6A9D60BA0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>
              <a:defRPr/>
            </a:pPr>
            <a:r>
              <a:rPr lang="fr-FR">
                <a:solidFill>
                  <a:prstClr val="black">
                    <a:tint val="75000"/>
                  </a:prstClr>
                </a:solidFill>
              </a:rPr>
              <a:t>Discrete Structures : Lecture 1-2 by IQRA JAVED</a:t>
            </a:r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CBE73CE-2859-4D49-A9EC-26AF3FBDF6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>
              <a:defRPr/>
            </a:pPr>
            <a:fld id="{D76B855D-E9CC-4FF8-AD85-6CDC7B89A0DE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reeform: Shape 4">
            <a:extLst>
              <a:ext uri="{FF2B5EF4-FFF2-40B4-BE49-F238E27FC236}">
                <a16:creationId xmlns:a16="http://schemas.microsoft.com/office/drawing/2014/main" id="{AA5ED585-FEBB-4DAD-84C0-97BEE6C360C3}"/>
              </a:ext>
            </a:extLst>
          </p:cNvPr>
          <p:cNvSpPr/>
          <p:nvPr/>
        </p:nvSpPr>
        <p:spPr>
          <a:xfrm rot="16200000">
            <a:off x="-388933" y="4841194"/>
            <a:ext cx="1737401" cy="959536"/>
          </a:xfrm>
          <a:custGeom>
            <a:avLst/>
            <a:gdLst>
              <a:gd name="connsiteX0" fmla="*/ 0 w 1737401"/>
              <a:gd name="connsiteY0" fmla="*/ 0 h 959536"/>
              <a:gd name="connsiteX1" fmla="*/ 123825 w 1737401"/>
              <a:gd name="connsiteY1" fmla="*/ 0 h 959536"/>
              <a:gd name="connsiteX2" fmla="*/ 123825 w 1737401"/>
              <a:gd name="connsiteY2" fmla="*/ 790277 h 959536"/>
              <a:gd name="connsiteX3" fmla="*/ 1490095 w 1737401"/>
              <a:gd name="connsiteY3" fmla="*/ 0 h 959536"/>
              <a:gd name="connsiteX4" fmla="*/ 1737401 w 1737401"/>
              <a:gd name="connsiteY4" fmla="*/ 0 h 959536"/>
              <a:gd name="connsiteX5" fmla="*/ 92869 w 1737401"/>
              <a:gd name="connsiteY5" fmla="*/ 951249 h 959536"/>
              <a:gd name="connsiteX6" fmla="*/ 61913 w 1737401"/>
              <a:gd name="connsiteY6" fmla="*/ 959536 h 959536"/>
              <a:gd name="connsiteX7" fmla="*/ 0 w 1737401"/>
              <a:gd name="connsiteY7" fmla="*/ 897624 h 959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37401" h="959536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EF6AC352-A720-4DB3-87CA-A33B0607CA2F}"/>
              </a:ext>
            </a:extLst>
          </p:cNvPr>
          <p:cNvSpPr/>
          <p:nvPr/>
        </p:nvSpPr>
        <p:spPr>
          <a:xfrm>
            <a:off x="10494433" y="2"/>
            <a:ext cx="849328" cy="357668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9464895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7024287-C9B9-48AC-8E4D-A282DE2F44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>
              <a:defRPr/>
            </a:pPr>
            <a:r>
              <a:rPr lang="en-US">
                <a:solidFill>
                  <a:prstClr val="black">
                    <a:tint val="75000"/>
                  </a:prstClr>
                </a:solidFill>
              </a:rPr>
              <a:t>9/3/20XX</a:t>
            </a:r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D34C9A2-75A7-4164-B3B8-E6A9D60BA0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>
              <a:defRPr/>
            </a:pPr>
            <a:r>
              <a:rPr lang="fr-FR">
                <a:solidFill>
                  <a:prstClr val="black">
                    <a:tint val="75000"/>
                  </a:prstClr>
                </a:solidFill>
              </a:rPr>
              <a:t>Discrete Structures : Lecture 1-2 by IQRA JAVED</a:t>
            </a:r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CBE73CE-2859-4D49-A9EC-26AF3FBDF6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>
              <a:defRPr/>
            </a:pPr>
            <a:fld id="{D76B855D-E9CC-4FF8-AD85-6CDC7B89A0DE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reeform: Shape 4">
            <a:extLst>
              <a:ext uri="{FF2B5EF4-FFF2-40B4-BE49-F238E27FC236}">
                <a16:creationId xmlns:a16="http://schemas.microsoft.com/office/drawing/2014/main" id="{AA5ED585-FEBB-4DAD-84C0-97BEE6C360C3}"/>
              </a:ext>
            </a:extLst>
          </p:cNvPr>
          <p:cNvSpPr/>
          <p:nvPr/>
        </p:nvSpPr>
        <p:spPr>
          <a:xfrm rot="16200000">
            <a:off x="-388933" y="4841194"/>
            <a:ext cx="1737401" cy="959536"/>
          </a:xfrm>
          <a:custGeom>
            <a:avLst/>
            <a:gdLst>
              <a:gd name="connsiteX0" fmla="*/ 0 w 1737401"/>
              <a:gd name="connsiteY0" fmla="*/ 0 h 959536"/>
              <a:gd name="connsiteX1" fmla="*/ 123825 w 1737401"/>
              <a:gd name="connsiteY1" fmla="*/ 0 h 959536"/>
              <a:gd name="connsiteX2" fmla="*/ 123825 w 1737401"/>
              <a:gd name="connsiteY2" fmla="*/ 790277 h 959536"/>
              <a:gd name="connsiteX3" fmla="*/ 1490095 w 1737401"/>
              <a:gd name="connsiteY3" fmla="*/ 0 h 959536"/>
              <a:gd name="connsiteX4" fmla="*/ 1737401 w 1737401"/>
              <a:gd name="connsiteY4" fmla="*/ 0 h 959536"/>
              <a:gd name="connsiteX5" fmla="*/ 92869 w 1737401"/>
              <a:gd name="connsiteY5" fmla="*/ 951249 h 959536"/>
              <a:gd name="connsiteX6" fmla="*/ 61913 w 1737401"/>
              <a:gd name="connsiteY6" fmla="*/ 959536 h 959536"/>
              <a:gd name="connsiteX7" fmla="*/ 0 w 1737401"/>
              <a:gd name="connsiteY7" fmla="*/ 897624 h 959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37401" h="959536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EF6AC352-A720-4DB3-87CA-A33B0607CA2F}"/>
              </a:ext>
            </a:extLst>
          </p:cNvPr>
          <p:cNvSpPr/>
          <p:nvPr/>
        </p:nvSpPr>
        <p:spPr>
          <a:xfrm>
            <a:off x="10494433" y="2"/>
            <a:ext cx="849328" cy="357668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C9A1C714-6A0E-456D-A2E2-6288C0EA07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63540568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FFC812-4DB6-4F98-9404-29C191D3BA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F0855E-0CD6-47DD-B648-4C84C783D7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D50082B-17D7-4D61-8AEB-81517D85D25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1A70783-FF31-4C4E-9196-EB169B2097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>
              <a:defRPr/>
            </a:pPr>
            <a:r>
              <a:rPr lang="en-US">
                <a:solidFill>
                  <a:prstClr val="black">
                    <a:tint val="75000"/>
                  </a:prstClr>
                </a:solidFill>
              </a:rPr>
              <a:t>9/3/20XX</a:t>
            </a:r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D92E260-747D-40FD-A062-9DD5E6835A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>
              <a:defRPr/>
            </a:pPr>
            <a:r>
              <a:rPr lang="fr-FR">
                <a:solidFill>
                  <a:prstClr val="black">
                    <a:tint val="75000"/>
                  </a:prstClr>
                </a:solidFill>
              </a:rPr>
              <a:t>Discrete Structures : Lecture 1-2 by IQRA JAVED</a:t>
            </a:r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87E50A0-1E05-49C5-88C9-4626775120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>
              <a:defRPr/>
            </a:pPr>
            <a:fld id="{D76B855D-E9CC-4FF8-AD85-6CDC7B89A0DE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2C155C63-9F58-4422-B669-F97486280671}"/>
              </a:ext>
            </a:extLst>
          </p:cNvPr>
          <p:cNvSpPr/>
          <p:nvPr/>
        </p:nvSpPr>
        <p:spPr>
          <a:xfrm rot="16200000">
            <a:off x="-388933" y="4841194"/>
            <a:ext cx="1737401" cy="959536"/>
          </a:xfrm>
          <a:custGeom>
            <a:avLst/>
            <a:gdLst>
              <a:gd name="connsiteX0" fmla="*/ 0 w 1737401"/>
              <a:gd name="connsiteY0" fmla="*/ 0 h 959536"/>
              <a:gd name="connsiteX1" fmla="*/ 123825 w 1737401"/>
              <a:gd name="connsiteY1" fmla="*/ 0 h 959536"/>
              <a:gd name="connsiteX2" fmla="*/ 123825 w 1737401"/>
              <a:gd name="connsiteY2" fmla="*/ 790277 h 959536"/>
              <a:gd name="connsiteX3" fmla="*/ 1490095 w 1737401"/>
              <a:gd name="connsiteY3" fmla="*/ 0 h 959536"/>
              <a:gd name="connsiteX4" fmla="*/ 1737401 w 1737401"/>
              <a:gd name="connsiteY4" fmla="*/ 0 h 959536"/>
              <a:gd name="connsiteX5" fmla="*/ 92869 w 1737401"/>
              <a:gd name="connsiteY5" fmla="*/ 951249 h 959536"/>
              <a:gd name="connsiteX6" fmla="*/ 61913 w 1737401"/>
              <a:gd name="connsiteY6" fmla="*/ 959536 h 959536"/>
              <a:gd name="connsiteX7" fmla="*/ 0 w 1737401"/>
              <a:gd name="connsiteY7" fmla="*/ 897624 h 959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37401" h="959536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385DBA62-0EDB-47AA-86C7-90463BC9B308}"/>
              </a:ext>
            </a:extLst>
          </p:cNvPr>
          <p:cNvSpPr/>
          <p:nvPr/>
        </p:nvSpPr>
        <p:spPr>
          <a:xfrm>
            <a:off x="10494433" y="2"/>
            <a:ext cx="849328" cy="357668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1862812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1D7521-E43D-41D1-B458-26B20DC6DD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2472CF2-2653-4B98-A416-D7A0A860ECE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6EF87F5-0B10-4AC7-9599-F088C5E796D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2A07CB7-0520-4D64-B76C-C31AC55783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>
              <a:defRPr/>
            </a:pPr>
            <a:r>
              <a:rPr lang="en-US">
                <a:solidFill>
                  <a:prstClr val="black">
                    <a:tint val="75000"/>
                  </a:prstClr>
                </a:solidFill>
              </a:rPr>
              <a:t>9/3/20XX</a:t>
            </a:r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2EEB226-AD45-45DF-AAB5-5513AE732A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>
              <a:defRPr/>
            </a:pPr>
            <a:r>
              <a:rPr lang="fr-FR">
                <a:solidFill>
                  <a:prstClr val="black">
                    <a:tint val="75000"/>
                  </a:prstClr>
                </a:solidFill>
              </a:rPr>
              <a:t>Discrete Structures : Lecture 1-2 by IQRA JAVED</a:t>
            </a:r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E96AEB-9481-4CCE-B110-FEDD334835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>
              <a:defRPr/>
            </a:pPr>
            <a:fld id="{D76B855D-E9CC-4FF8-AD85-6CDC7B89A0DE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6BA9707F-7BCE-464F-BF45-E216527084EE}"/>
              </a:ext>
            </a:extLst>
          </p:cNvPr>
          <p:cNvSpPr/>
          <p:nvPr/>
        </p:nvSpPr>
        <p:spPr>
          <a:xfrm rot="16200000">
            <a:off x="-388933" y="4841194"/>
            <a:ext cx="1737401" cy="959536"/>
          </a:xfrm>
          <a:custGeom>
            <a:avLst/>
            <a:gdLst>
              <a:gd name="connsiteX0" fmla="*/ 0 w 1737401"/>
              <a:gd name="connsiteY0" fmla="*/ 0 h 959536"/>
              <a:gd name="connsiteX1" fmla="*/ 123825 w 1737401"/>
              <a:gd name="connsiteY1" fmla="*/ 0 h 959536"/>
              <a:gd name="connsiteX2" fmla="*/ 123825 w 1737401"/>
              <a:gd name="connsiteY2" fmla="*/ 790277 h 959536"/>
              <a:gd name="connsiteX3" fmla="*/ 1490095 w 1737401"/>
              <a:gd name="connsiteY3" fmla="*/ 0 h 959536"/>
              <a:gd name="connsiteX4" fmla="*/ 1737401 w 1737401"/>
              <a:gd name="connsiteY4" fmla="*/ 0 h 959536"/>
              <a:gd name="connsiteX5" fmla="*/ 92869 w 1737401"/>
              <a:gd name="connsiteY5" fmla="*/ 951249 h 959536"/>
              <a:gd name="connsiteX6" fmla="*/ 61913 w 1737401"/>
              <a:gd name="connsiteY6" fmla="*/ 959536 h 959536"/>
              <a:gd name="connsiteX7" fmla="*/ 0 w 1737401"/>
              <a:gd name="connsiteY7" fmla="*/ 897624 h 959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37401" h="959536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BC589723-2CC8-49D1-B4E1-36FECED6A2D7}"/>
              </a:ext>
            </a:extLst>
          </p:cNvPr>
          <p:cNvSpPr/>
          <p:nvPr/>
        </p:nvSpPr>
        <p:spPr>
          <a:xfrm>
            <a:off x="10494433" y="2"/>
            <a:ext cx="849328" cy="357668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1401258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itle 8"/>
          <p:cNvSpPr>
            <a:spLocks noGrp="1"/>
          </p:cNvSpPr>
          <p:nvPr>
            <p:ph type="title"/>
          </p:nvPr>
        </p:nvSpPr>
        <p:spPr>
          <a:xfrm>
            <a:off x="609600" y="359465"/>
            <a:ext cx="10972800" cy="1143000"/>
          </a:xfrm>
          <a:prstGeom prst="rect">
            <a:avLst/>
          </a:prstGeom>
        </p:spPr>
        <p:txBody>
          <a:bodyPr anchor="b" anchorCtr="0">
            <a:normAutofit/>
          </a:bodyPr>
          <a:lstStyle/>
          <a:p>
            <a:pPr algn="l"/>
            <a:r>
              <a:rPr lang="en-US"/>
              <a:t>Click to edit Master title style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14FD69-4A85-4715-A222-ABB225B63BC6}" type="datetimeFigureOut">
              <a:rPr lang="en-US" smtClean="0"/>
              <a:pPr/>
              <a:t>6/13/2025</a:t>
            </a:fld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algn="r"/>
            <a:fld id="{D4C49B74-5DB2-4B03-B1D2-7F6A3C51C318}" type="slidenum">
              <a:rPr lang="en-US" smtClean="0"/>
              <a:pPr algn="r"/>
              <a:t>‹#›</a:t>
            </a:fld>
            <a:endParaRPr lang="en-US"/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31259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7EC5685-19F1-49DA-ADE5-D5D32F1659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FFC0A4D-22A1-4554-B5DE-887974F4DF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9D5CDC-F2CE-410E-AD13-DDC235C71C6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cap="none" spc="0" baseline="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r>
              <a:rPr lang="en-US">
                <a:solidFill>
                  <a:prstClr val="black">
                    <a:tint val="75000"/>
                  </a:prstClr>
                </a:solidFill>
              </a:rPr>
              <a:t>9/3/20XX</a:t>
            </a:r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40CD45-794A-4BB0-A427-0CE61AEAF48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cap="none" spc="0" baseline="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r>
              <a:rPr lang="fr-FR">
                <a:solidFill>
                  <a:prstClr val="black">
                    <a:tint val="75000"/>
                  </a:prstClr>
                </a:solidFill>
              </a:rPr>
              <a:t>Discrete Structures : Lecture 1-2 by IQRA JAVED</a:t>
            </a:r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B3AB91-9588-4071-92D2-364F4A6ED09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cap="none" spc="0" baseline="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fld id="{D76B855D-E9CC-4FF8-AD85-6CDC7B89A0DE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676686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0" r:id="rId1"/>
    <p:sldLayoutId id="2147483781" r:id="rId2"/>
    <p:sldLayoutId id="2147483782" r:id="rId3"/>
    <p:sldLayoutId id="2147483771" r:id="rId4"/>
    <p:sldLayoutId id="2147483770" r:id="rId5"/>
    <p:sldLayoutId id="2147483774" r:id="rId6"/>
    <p:sldLayoutId id="2147483783" r:id="rId7"/>
    <p:sldLayoutId id="2147483772" r:id="rId8"/>
    <p:sldLayoutId id="2147483773" r:id="rId9"/>
    <p:sldLayoutId id="2147483785" r:id="rId10"/>
    <p:sldLayoutId id="2147483786" r:id="rId11"/>
    <p:sldLayoutId id="2147483787" r:id="rId12"/>
    <p:sldLayoutId id="2147483775" r:id="rId13"/>
    <p:sldLayoutId id="2147483788" r:id="rId14"/>
    <p:sldLayoutId id="2147483776" r:id="rId15"/>
    <p:sldLayoutId id="2147483777" r:id="rId16"/>
    <p:sldLayoutId id="2147483789" r:id="rId17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4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.xml"/><Relationship Id="rId1" Type="http://schemas.openxmlformats.org/officeDocument/2006/relationships/tags" Target="../tags/tag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7.xml"/></Relationships>
</file>

<file path=ppt/slides/_rels/slide5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.xml"/><Relationship Id="rId1" Type="http://schemas.openxmlformats.org/officeDocument/2006/relationships/tags" Target="../tags/tag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emf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emf"/><Relationship Id="rId2" Type="http://schemas.openxmlformats.org/officeDocument/2006/relationships/image" Target="../media/image10.emf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4.emf"/><Relationship Id="rId5" Type="http://schemas.openxmlformats.org/officeDocument/2006/relationships/image" Target="../media/image13.emf"/><Relationship Id="rId4" Type="http://schemas.openxmlformats.org/officeDocument/2006/relationships/image" Target="../media/image12.emf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emf"/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emf"/><Relationship Id="rId2" Type="http://schemas.openxmlformats.org/officeDocument/2006/relationships/image" Target="../media/image16.emf"/><Relationship Id="rId1" Type="http://schemas.openxmlformats.org/officeDocument/2006/relationships/slideLayout" Target="../slideLayouts/slideLayout5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5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18.wmf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emf"/><Relationship Id="rId2" Type="http://schemas.openxmlformats.org/officeDocument/2006/relationships/image" Target="../media/image19.emf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23.emf"/><Relationship Id="rId5" Type="http://schemas.openxmlformats.org/officeDocument/2006/relationships/image" Target="../media/image22.emf"/><Relationship Id="rId4" Type="http://schemas.openxmlformats.org/officeDocument/2006/relationships/image" Target="../media/image21.emf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emf"/><Relationship Id="rId2" Type="http://schemas.openxmlformats.org/officeDocument/2006/relationships/image" Target="../media/image24.emf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6.emf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emf"/><Relationship Id="rId1" Type="http://schemas.openxmlformats.org/officeDocument/2006/relationships/slideLayout" Target="../slideLayouts/slideLayout5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emf"/><Relationship Id="rId1" Type="http://schemas.openxmlformats.org/officeDocument/2006/relationships/slideLayout" Target="../slideLayouts/slideLayout5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Layout" Target="../slideLayouts/slideLayout5.xml"/><Relationship Id="rId1" Type="http://schemas.openxmlformats.org/officeDocument/2006/relationships/vmlDrawing" Target="../drawings/vmlDrawing2.vml"/><Relationship Id="rId4" Type="http://schemas.openxmlformats.org/officeDocument/2006/relationships/image" Target="../media/image29.wmf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Layout" Target="../slideLayouts/slideLayout5.xml"/><Relationship Id="rId1" Type="http://schemas.openxmlformats.org/officeDocument/2006/relationships/vmlDrawing" Target="../drawings/vmlDrawing3.vml"/><Relationship Id="rId4" Type="http://schemas.openxmlformats.org/officeDocument/2006/relationships/image" Target="../media/image30.wmf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gif"/><Relationship Id="rId2" Type="http://schemas.openxmlformats.org/officeDocument/2006/relationships/image" Target="../media/image31.gif"/><Relationship Id="rId1" Type="http://schemas.openxmlformats.org/officeDocument/2006/relationships/slideLayout" Target="../slideLayouts/slideLayout5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Layout" Target="../slideLayouts/slideLayout5.xml"/><Relationship Id="rId1" Type="http://schemas.openxmlformats.org/officeDocument/2006/relationships/vmlDrawing" Target="../drawings/vmlDrawing4.vml"/><Relationship Id="rId5" Type="http://schemas.openxmlformats.org/officeDocument/2006/relationships/image" Target="../media/image34.emf"/><Relationship Id="rId4" Type="http://schemas.openxmlformats.org/officeDocument/2006/relationships/image" Target="../media/image33.wmf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emf"/><Relationship Id="rId1" Type="http://schemas.openxmlformats.org/officeDocument/2006/relationships/slideLayout" Target="../slideLayouts/slideLayout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emf"/><Relationship Id="rId1" Type="http://schemas.openxmlformats.org/officeDocument/2006/relationships/slideLayout" Target="../slideLayouts/slideLayout5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Layout" Target="../slideLayouts/slideLayout5.xml"/><Relationship Id="rId1" Type="http://schemas.openxmlformats.org/officeDocument/2006/relationships/vmlDrawing" Target="../drawings/vmlDrawing5.vml"/><Relationship Id="rId4" Type="http://schemas.openxmlformats.org/officeDocument/2006/relationships/image" Target="../media/image37.wmf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2" Type="http://schemas.openxmlformats.org/officeDocument/2006/relationships/slideLayout" Target="../slideLayouts/slideLayout5.xml"/><Relationship Id="rId1" Type="http://schemas.openxmlformats.org/officeDocument/2006/relationships/vmlDrawing" Target="../drawings/vmlDrawing6.vml"/><Relationship Id="rId5" Type="http://schemas.openxmlformats.org/officeDocument/2006/relationships/image" Target="../media/image39.emf"/><Relationship Id="rId4" Type="http://schemas.openxmlformats.org/officeDocument/2006/relationships/image" Target="../media/image38.wmf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5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5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5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5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.bin"/><Relationship Id="rId2" Type="http://schemas.openxmlformats.org/officeDocument/2006/relationships/slideLayout" Target="../slideLayouts/slideLayout5.xml"/><Relationship Id="rId1" Type="http://schemas.openxmlformats.org/officeDocument/2006/relationships/vmlDrawing" Target="../drawings/vmlDrawing7.vml"/><Relationship Id="rId4" Type="http://schemas.openxmlformats.org/officeDocument/2006/relationships/image" Target="../media/image45.wmf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gif"/><Relationship Id="rId2" Type="http://schemas.openxmlformats.org/officeDocument/2006/relationships/image" Target="../media/image46.gif"/><Relationship Id="rId1" Type="http://schemas.openxmlformats.org/officeDocument/2006/relationships/slideLayout" Target="../slideLayouts/slideLayout5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5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5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5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5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sv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9BB25E70-F951-4043-8895-D1EFDDA97DDE}"/>
              </a:ext>
            </a:extLst>
          </p:cNvPr>
          <p:cNvSpPr txBox="1">
            <a:spLocks/>
          </p:cNvSpPr>
          <p:nvPr/>
        </p:nvSpPr>
        <p:spPr>
          <a:xfrm>
            <a:off x="460375" y="1948069"/>
            <a:ext cx="11594776" cy="407377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4800" dirty="0">
                <a:solidFill>
                  <a:srgbClr val="C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CC 141 </a:t>
            </a:r>
            <a:br>
              <a:rPr lang="en-US" sz="4800" dirty="0">
                <a:solidFill>
                  <a:srgbClr val="C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</a:br>
            <a:r>
              <a:rPr lang="en-US" sz="4800" dirty="0">
                <a:solidFill>
                  <a:srgbClr val="C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Discrete Structures</a:t>
            </a:r>
            <a:br>
              <a:rPr lang="en-US" sz="4800" dirty="0">
                <a:solidFill>
                  <a:srgbClr val="C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</a:br>
            <a:br>
              <a:rPr lang="en-US" dirty="0">
                <a:solidFill>
                  <a:srgbClr val="C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</a:br>
            <a:r>
              <a:rPr lang="en-US" sz="3200" dirty="0">
                <a:solidFill>
                  <a:schemeClr val="accent5">
                    <a:lumMod val="50000"/>
                  </a:schemeClr>
                </a:solidFill>
                <a:latin typeface="Century Gothic" panose="020B0502020202020204" pitchFamily="34" charset="0"/>
                <a:ea typeface="Cambria Math" panose="02040503050406030204" pitchFamily="18" charset="0"/>
              </a:rPr>
              <a:t>Department of Computer Science</a:t>
            </a:r>
            <a:br>
              <a:rPr lang="en-US" sz="3200" dirty="0">
                <a:solidFill>
                  <a:schemeClr val="accent5">
                    <a:lumMod val="50000"/>
                  </a:schemeClr>
                </a:solidFill>
                <a:latin typeface="Century Gothic" panose="020B0502020202020204" pitchFamily="34" charset="0"/>
                <a:ea typeface="Cambria Math" panose="02040503050406030204" pitchFamily="18" charset="0"/>
              </a:rPr>
            </a:br>
            <a:r>
              <a:rPr lang="en-US" sz="3200" dirty="0">
                <a:solidFill>
                  <a:schemeClr val="accent5">
                    <a:lumMod val="50000"/>
                  </a:schemeClr>
                </a:solidFill>
                <a:latin typeface="Century Gothic" panose="020B0502020202020204" pitchFamily="34" charset="0"/>
                <a:ea typeface="Cambria Math" panose="02040503050406030204" pitchFamily="18" charset="0"/>
              </a:rPr>
              <a:t>School of Systems and Technology</a:t>
            </a:r>
            <a:br>
              <a:rPr lang="en-US" sz="3200" dirty="0">
                <a:solidFill>
                  <a:schemeClr val="accent6">
                    <a:lumMod val="75000"/>
                  </a:schemeClr>
                </a:solidFill>
                <a:latin typeface="Comic Sans MS" panose="030F0702030302020204" pitchFamily="66" charset="0"/>
                <a:ea typeface="Cambria Math" panose="02040503050406030204" pitchFamily="18" charset="0"/>
              </a:rPr>
            </a:br>
            <a:br>
              <a:rPr lang="en-US" sz="3200" dirty="0">
                <a:solidFill>
                  <a:schemeClr val="accent6">
                    <a:lumMod val="75000"/>
                  </a:schemeClr>
                </a:solidFill>
                <a:latin typeface="Comic Sans MS" panose="030F0702030302020204" pitchFamily="66" charset="0"/>
                <a:ea typeface="Cambria Math" panose="02040503050406030204" pitchFamily="18" charset="0"/>
              </a:rPr>
            </a:br>
            <a:r>
              <a:rPr lang="en-US" sz="3200" dirty="0">
                <a:solidFill>
                  <a:schemeClr val="accent6">
                    <a:lumMod val="75000"/>
                  </a:schemeClr>
                </a:solidFill>
                <a:latin typeface="Comic Sans MS" panose="030F0702030302020204" pitchFamily="66" charset="0"/>
                <a:ea typeface="Cambria Math" panose="02040503050406030204" pitchFamily="18" charset="0"/>
              </a:rPr>
              <a:t>University of Management and Technology</a:t>
            </a:r>
            <a:br>
              <a:rPr lang="en-US" sz="3200" dirty="0">
                <a:solidFill>
                  <a:schemeClr val="accent6">
                    <a:lumMod val="75000"/>
                  </a:schemeClr>
                </a:solidFill>
                <a:latin typeface="Comic Sans MS" panose="030F0702030302020204" pitchFamily="66" charset="0"/>
                <a:ea typeface="Cambria Math" panose="02040503050406030204" pitchFamily="18" charset="0"/>
              </a:rPr>
            </a:br>
            <a:r>
              <a:rPr lang="en-US" sz="3200" dirty="0">
                <a:solidFill>
                  <a:schemeClr val="accent6">
                    <a:lumMod val="75000"/>
                  </a:schemeClr>
                </a:solidFill>
                <a:latin typeface="Comic Sans MS" panose="030F0702030302020204" pitchFamily="66" charset="0"/>
                <a:ea typeface="Cambria Math" panose="02040503050406030204" pitchFamily="18" charset="0"/>
              </a:rPr>
              <a:t>Lahore, Pakistan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01BB6BA-659C-4C58-A7BC-E779ADA851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0375" y="223319"/>
            <a:ext cx="2220849" cy="22282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57802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522F2B-2D78-EB56-E02E-F61CF209E0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68306" y="1919910"/>
            <a:ext cx="5559552" cy="2533075"/>
          </a:xfrm>
        </p:spPr>
        <p:txBody>
          <a:bodyPr>
            <a:normAutofit/>
          </a:bodyPr>
          <a:lstStyle/>
          <a:p>
            <a:r>
              <a:rPr lang="en-US" sz="4800" dirty="0">
                <a:latin typeface="Cambria Math" panose="02040503050406030204" pitchFamily="18" charset="0"/>
                <a:ea typeface="Cambria Math" panose="02040503050406030204" pitchFamily="18" charset="0"/>
              </a:rPr>
              <a:t>Chapter 10</a:t>
            </a:r>
            <a:br>
              <a:rPr lang="en-US" sz="4800" dirty="0">
                <a:latin typeface="Cambria Math" panose="02040503050406030204" pitchFamily="18" charset="0"/>
                <a:ea typeface="Cambria Math" panose="02040503050406030204" pitchFamily="18" charset="0"/>
              </a:rPr>
            </a:br>
            <a:r>
              <a:rPr lang="en-US" dirty="0"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br>
              <a:rPr lang="en-US" dirty="0">
                <a:latin typeface="Cambria Math" panose="02040503050406030204" pitchFamily="18" charset="0"/>
                <a:ea typeface="Cambria Math" panose="02040503050406030204" pitchFamily="18" charset="0"/>
              </a:rPr>
            </a:br>
            <a:r>
              <a:rPr lang="en-US" dirty="0">
                <a:latin typeface="Cambria Math" panose="02040503050406030204" pitchFamily="18" charset="0"/>
                <a:ea typeface="Cambria Math" panose="02040503050406030204" pitchFamily="18" charset="0"/>
              </a:rPr>
              <a:t>Graph Theory</a:t>
            </a:r>
            <a:endParaRPr lang="en-PK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874343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>
          <a:xfrm>
            <a:off x="620178" y="21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b="1" u="sng" dirty="0">
                <a:solidFill>
                  <a:srgbClr val="0070C0"/>
                </a:solidFill>
              </a:rPr>
              <a:t>INTRODUCTION</a:t>
            </a:r>
          </a:p>
        </p:txBody>
      </p:sp>
      <p:sp>
        <p:nvSpPr>
          <p:cNvPr id="7171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1179576" y="1325584"/>
            <a:ext cx="10174224" cy="4698698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Graph theory</a:t>
            </a:r>
            <a:r>
              <a:rPr lang="en-US" dirty="0"/>
              <a:t> plays an important role in several areas of </a:t>
            </a:r>
            <a:r>
              <a:rPr lang="en-US" dirty="0">
                <a:solidFill>
                  <a:srgbClr val="FF0000"/>
                </a:solidFill>
              </a:rPr>
              <a:t>computer science</a:t>
            </a:r>
            <a:r>
              <a:rPr lang="en-US" dirty="0"/>
              <a:t> such as:</a:t>
            </a:r>
          </a:p>
          <a:p>
            <a:endParaRPr lang="en-US" dirty="0"/>
          </a:p>
          <a:p>
            <a:pPr lvl="1"/>
            <a:r>
              <a:rPr lang="en-US" sz="2600" dirty="0">
                <a:solidFill>
                  <a:srgbClr val="C00000"/>
                </a:solidFill>
              </a:rPr>
              <a:t>Switching Theory and Logical Design</a:t>
            </a:r>
          </a:p>
          <a:p>
            <a:pPr lvl="1"/>
            <a:r>
              <a:rPr lang="en-US" sz="2600" dirty="0">
                <a:solidFill>
                  <a:srgbClr val="002060"/>
                </a:solidFill>
              </a:rPr>
              <a:t>Artificial Intelligence</a:t>
            </a:r>
          </a:p>
          <a:p>
            <a:pPr lvl="1"/>
            <a:r>
              <a:rPr lang="en-US" sz="2600" dirty="0">
                <a:solidFill>
                  <a:srgbClr val="C00000"/>
                </a:solidFill>
              </a:rPr>
              <a:t>Formal Languages</a:t>
            </a:r>
          </a:p>
          <a:p>
            <a:pPr lvl="1"/>
            <a:r>
              <a:rPr lang="en-US" sz="2600" dirty="0">
                <a:solidFill>
                  <a:srgbClr val="002060"/>
                </a:solidFill>
              </a:rPr>
              <a:t>Computer Graphics</a:t>
            </a:r>
          </a:p>
          <a:p>
            <a:pPr lvl="1"/>
            <a:r>
              <a:rPr lang="en-US" sz="2600" dirty="0">
                <a:solidFill>
                  <a:srgbClr val="C00000"/>
                </a:solidFill>
              </a:rPr>
              <a:t>Operating Systems</a:t>
            </a:r>
          </a:p>
          <a:p>
            <a:pPr lvl="1"/>
            <a:r>
              <a:rPr lang="en-US" sz="2600" dirty="0">
                <a:solidFill>
                  <a:srgbClr val="002060"/>
                </a:solidFill>
              </a:rPr>
              <a:t>Compiler Writing</a:t>
            </a:r>
          </a:p>
          <a:p>
            <a:pPr lvl="1"/>
            <a:r>
              <a:rPr lang="en-US" sz="2600" dirty="0">
                <a:solidFill>
                  <a:srgbClr val="C00000"/>
                </a:solidFill>
              </a:rPr>
              <a:t>Information Organization and Retrieval.</a:t>
            </a:r>
          </a:p>
          <a:p>
            <a:endParaRPr lang="en-US" dirty="0"/>
          </a:p>
          <a:p>
            <a:endParaRPr lang="en-US" dirty="0"/>
          </a:p>
        </p:txBody>
      </p:sp>
    </p:spTree>
    <p:custDataLst>
      <p:tags r:id="rId1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81140" y="2377294"/>
            <a:ext cx="7301013" cy="4303058"/>
          </a:xfrm>
          <a:prstGeom prst="rect">
            <a:avLst/>
          </a:prstGeom>
        </p:spPr>
      </p:pic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>
          <a:xfrm>
            <a:off x="912625" y="936729"/>
            <a:ext cx="10717677" cy="172012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0070C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Social Network Graph</a:t>
            </a:r>
          </a:p>
          <a:p>
            <a:pPr marL="0" indent="0" algn="just">
              <a:buNone/>
            </a:pPr>
            <a:r>
              <a:rPr lang="en-US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Individuals and their friends refer to social networks and their arrangement reflects a graph. Individuals in social networks and relationships among different individuals make up social network graph. 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735195" y="-80481"/>
            <a:ext cx="10895107" cy="882738"/>
          </a:xfrm>
        </p:spPr>
        <p:txBody>
          <a:bodyPr/>
          <a:lstStyle/>
          <a:p>
            <a:pPr algn="ctr"/>
            <a:r>
              <a:rPr lang="en-US" b="1" u="sng" dirty="0">
                <a:solidFill>
                  <a:srgbClr val="0070C0"/>
                </a:solidFill>
              </a:rPr>
              <a:t>Graph … Examples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84978" y="4067158"/>
            <a:ext cx="181652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C00000"/>
                </a:solidFill>
                <a:latin typeface="Agency FB" panose="020B0503020202020204" pitchFamily="34" charset="0"/>
              </a:rPr>
              <a:t>Social Network:</a:t>
            </a:r>
          </a:p>
        </p:txBody>
      </p:sp>
    </p:spTree>
    <p:extLst>
      <p:ext uri="{BB962C8B-B14F-4D97-AF65-F5344CB8AC3E}">
        <p14:creationId xmlns:p14="http://schemas.microsoft.com/office/powerpoint/2010/main" val="21906914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>
          <a:xfrm>
            <a:off x="358452" y="944899"/>
            <a:ext cx="11271850" cy="115284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0070C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Road Network Graph</a:t>
            </a:r>
          </a:p>
          <a:p>
            <a:pPr marL="0" indent="0" algn="just">
              <a:buNone/>
            </a:pPr>
            <a:r>
              <a:rPr lang="en-US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Cities may be referred as vertices and roads joining them are the edges of the graph. 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03518" y="3794783"/>
            <a:ext cx="256833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C00000"/>
                </a:solidFill>
                <a:latin typeface="Agency FB" panose="020B0503020202020204" pitchFamily="34" charset="0"/>
              </a:rPr>
              <a:t>Road Network Example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Photocopy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03613" y="2240382"/>
            <a:ext cx="6335256" cy="3749811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chemeClr val="accent1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</p:pic>
      <p:sp>
        <p:nvSpPr>
          <p:cNvPr id="8" name="Title 2">
            <a:extLst>
              <a:ext uri="{FF2B5EF4-FFF2-40B4-BE49-F238E27FC236}">
                <a16:creationId xmlns:a16="http://schemas.microsoft.com/office/drawing/2014/main" id="{5339BEB2-0D35-491A-A3B1-7959F3C9FAA1}"/>
              </a:ext>
            </a:extLst>
          </p:cNvPr>
          <p:cNvSpPr txBox="1">
            <a:spLocks/>
          </p:cNvSpPr>
          <p:nvPr/>
        </p:nvSpPr>
        <p:spPr>
          <a:xfrm>
            <a:off x="735195" y="-80481"/>
            <a:ext cx="10895107" cy="8827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b="1" u="sng" dirty="0">
                <a:solidFill>
                  <a:srgbClr val="0070C0"/>
                </a:solidFill>
              </a:rPr>
              <a:t>Graph … Examples</a:t>
            </a:r>
          </a:p>
        </p:txBody>
      </p:sp>
    </p:spTree>
    <p:extLst>
      <p:ext uri="{BB962C8B-B14F-4D97-AF65-F5344CB8AC3E}">
        <p14:creationId xmlns:p14="http://schemas.microsoft.com/office/powerpoint/2010/main" val="334802474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>
          <a:xfrm>
            <a:off x="997788" y="1257299"/>
            <a:ext cx="9719518" cy="5156947"/>
          </a:xfrm>
        </p:spPr>
        <p:txBody>
          <a:bodyPr>
            <a:normAutofit fontScale="92500" lnSpcReduction="20000"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Car Navigation System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Artificial Intelligence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Graph of Web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Professional Network Graph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Course Pre-</a:t>
            </a:r>
            <a:r>
              <a:rPr lang="en-US" sz="24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reqs</a:t>
            </a:r>
            <a:r>
              <a:rPr lang="en-US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 Graph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Job Execution Graph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Operating Systems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Airline Routes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2400" dirty="0">
                <a:solidFill>
                  <a:schemeClr val="accent1">
                    <a:lumMod val="5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Many more….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sz="2400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1981200" y="0"/>
            <a:ext cx="8229600" cy="884207"/>
          </a:xfrm>
        </p:spPr>
        <p:txBody>
          <a:bodyPr/>
          <a:lstStyle/>
          <a:p>
            <a:pPr algn="ctr"/>
            <a:r>
              <a:rPr lang="en-US" b="1" u="sng" dirty="0">
                <a:solidFill>
                  <a:srgbClr val="0070C0"/>
                </a:solidFill>
              </a:rPr>
              <a:t>Graph … More Examples</a:t>
            </a:r>
          </a:p>
        </p:txBody>
      </p:sp>
    </p:spTree>
    <p:extLst>
      <p:ext uri="{BB962C8B-B14F-4D97-AF65-F5344CB8AC3E}">
        <p14:creationId xmlns:p14="http://schemas.microsoft.com/office/powerpoint/2010/main" val="385703620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>
          <a:xfrm>
            <a:off x="472260" y="0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b="1" u="sng" dirty="0">
                <a:solidFill>
                  <a:srgbClr val="0070C0"/>
                </a:solidFill>
              </a:rPr>
              <a:t>GRAPH</a:t>
            </a:r>
          </a:p>
        </p:txBody>
      </p:sp>
      <p:sp>
        <p:nvSpPr>
          <p:cNvPr id="8195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1331259" y="1219200"/>
            <a:ext cx="9656601" cy="5105400"/>
          </a:xfrm>
        </p:spPr>
        <p:txBody>
          <a:bodyPr>
            <a:normAutofit/>
          </a:bodyPr>
          <a:lstStyle/>
          <a:p>
            <a:r>
              <a:rPr lang="en-US" dirty="0"/>
              <a:t>A </a:t>
            </a:r>
            <a:r>
              <a:rPr lang="en-US" dirty="0">
                <a:solidFill>
                  <a:srgbClr val="FF0000"/>
                </a:solidFill>
              </a:rPr>
              <a:t>graph</a:t>
            </a:r>
            <a:r>
              <a:rPr lang="en-US" dirty="0"/>
              <a:t> is a non-empty set of points called </a:t>
            </a:r>
            <a:r>
              <a:rPr lang="en-US" dirty="0">
                <a:solidFill>
                  <a:srgbClr val="FF0000"/>
                </a:solidFill>
              </a:rPr>
              <a:t>vertices</a:t>
            </a:r>
            <a:r>
              <a:rPr lang="en-US" dirty="0"/>
              <a:t> and</a:t>
            </a:r>
          </a:p>
          <a:p>
            <a:pPr marL="0" indent="0">
              <a:buNone/>
            </a:pPr>
            <a:r>
              <a:rPr lang="en-US" dirty="0"/>
              <a:t>A set of line segments joining pairs of </a:t>
            </a:r>
            <a:r>
              <a:rPr lang="en-US" dirty="0">
                <a:solidFill>
                  <a:srgbClr val="FF0000"/>
                </a:solidFill>
              </a:rPr>
              <a:t>vertices</a:t>
            </a:r>
            <a:r>
              <a:rPr lang="en-US" dirty="0"/>
              <a:t> called </a:t>
            </a:r>
            <a:r>
              <a:rPr lang="en-US" dirty="0">
                <a:solidFill>
                  <a:srgbClr val="FF0000"/>
                </a:solidFill>
              </a:rPr>
              <a:t>edges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/>
              <a:t>Formally, a </a:t>
            </a:r>
            <a:r>
              <a:rPr lang="en-US" dirty="0">
                <a:solidFill>
                  <a:srgbClr val="FF0000"/>
                </a:solidFill>
              </a:rPr>
              <a:t>graph G = (V, E) </a:t>
            </a:r>
            <a:r>
              <a:rPr lang="en-US" dirty="0"/>
              <a:t>consists of two finite sets:</a:t>
            </a:r>
          </a:p>
          <a:p>
            <a:endParaRPr lang="en-US" dirty="0"/>
          </a:p>
          <a:p>
            <a:pPr lvl="1"/>
            <a:r>
              <a:rPr lang="en-US" sz="2500" dirty="0">
                <a:solidFill>
                  <a:srgbClr val="002060"/>
                </a:solidFill>
              </a:rPr>
              <a:t> A set </a:t>
            </a:r>
            <a:r>
              <a:rPr lang="en-US" sz="2500" dirty="0">
                <a:solidFill>
                  <a:srgbClr val="FF0000"/>
                </a:solidFill>
              </a:rPr>
              <a:t>V = V(G)</a:t>
            </a:r>
            <a:r>
              <a:rPr lang="en-US" sz="2500" dirty="0">
                <a:solidFill>
                  <a:srgbClr val="002060"/>
                </a:solidFill>
              </a:rPr>
              <a:t> of </a:t>
            </a:r>
            <a:r>
              <a:rPr lang="en-US" sz="2500" dirty="0">
                <a:solidFill>
                  <a:srgbClr val="FF0000"/>
                </a:solidFill>
              </a:rPr>
              <a:t>vertices</a:t>
            </a:r>
            <a:r>
              <a:rPr lang="en-US" sz="2500" dirty="0">
                <a:solidFill>
                  <a:srgbClr val="002060"/>
                </a:solidFill>
              </a:rPr>
              <a:t> (or points or nodes)</a:t>
            </a:r>
          </a:p>
          <a:p>
            <a:pPr lvl="1"/>
            <a:r>
              <a:rPr lang="en-US" sz="2500" dirty="0">
                <a:solidFill>
                  <a:srgbClr val="002060"/>
                </a:solidFill>
              </a:rPr>
              <a:t>A set </a:t>
            </a:r>
            <a:r>
              <a:rPr lang="en-US" sz="2500" dirty="0">
                <a:solidFill>
                  <a:srgbClr val="FF0000"/>
                </a:solidFill>
              </a:rPr>
              <a:t>E = E(G)</a:t>
            </a:r>
            <a:r>
              <a:rPr lang="en-US" sz="2500" dirty="0">
                <a:solidFill>
                  <a:srgbClr val="002060"/>
                </a:solidFill>
              </a:rPr>
              <a:t> of </a:t>
            </a:r>
            <a:r>
              <a:rPr lang="en-US" sz="2500" dirty="0">
                <a:solidFill>
                  <a:srgbClr val="FF0000"/>
                </a:solidFill>
              </a:rPr>
              <a:t>edges</a:t>
            </a:r>
            <a:r>
              <a:rPr lang="en-US" sz="2500" dirty="0">
                <a:solidFill>
                  <a:srgbClr val="002060"/>
                </a:solidFill>
              </a:rPr>
              <a:t>; </a:t>
            </a:r>
          </a:p>
          <a:p>
            <a:pPr lvl="1"/>
            <a:endParaRPr lang="en-US" sz="2500" dirty="0">
              <a:solidFill>
                <a:srgbClr val="002060"/>
              </a:solidFill>
            </a:endParaRPr>
          </a:p>
          <a:p>
            <a:pPr lvl="1">
              <a:buNone/>
            </a:pPr>
            <a:r>
              <a:rPr lang="en-US" sz="2500" dirty="0">
                <a:solidFill>
                  <a:srgbClr val="002060"/>
                </a:solidFill>
              </a:rPr>
              <a:t>	where each </a:t>
            </a:r>
            <a:r>
              <a:rPr lang="en-US" sz="2500" dirty="0">
                <a:solidFill>
                  <a:srgbClr val="FF0000"/>
                </a:solidFill>
              </a:rPr>
              <a:t>edge</a:t>
            </a:r>
            <a:r>
              <a:rPr lang="en-US" sz="2500" dirty="0">
                <a:solidFill>
                  <a:srgbClr val="002060"/>
                </a:solidFill>
              </a:rPr>
              <a:t> corresponds to a pair of </a:t>
            </a:r>
            <a:r>
              <a:rPr lang="en-US" sz="2500" dirty="0">
                <a:solidFill>
                  <a:srgbClr val="FF0000"/>
                </a:solidFill>
              </a:rPr>
              <a:t>vertices</a:t>
            </a:r>
            <a:r>
              <a:rPr lang="en-US" sz="2500" dirty="0">
                <a:solidFill>
                  <a:srgbClr val="002060"/>
                </a:solidFill>
              </a:rPr>
              <a:t>.</a:t>
            </a:r>
          </a:p>
          <a:p>
            <a:endParaRPr lang="en-US" dirty="0"/>
          </a:p>
          <a:p>
            <a:endParaRPr lang="en-US" dirty="0"/>
          </a:p>
          <a:p>
            <a:pPr>
              <a:buNone/>
            </a:pPr>
            <a:endParaRPr lang="en-US" dirty="0"/>
          </a:p>
          <a:p>
            <a:endParaRPr lang="en-US" dirty="0"/>
          </a:p>
          <a:p>
            <a:pPr>
              <a:buNone/>
            </a:pPr>
            <a:endParaRPr lang="en-US" dirty="0"/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3776" y="1"/>
            <a:ext cx="10515600" cy="1087162"/>
          </a:xfrm>
        </p:spPr>
        <p:txBody>
          <a:bodyPr>
            <a:normAutofit/>
          </a:bodyPr>
          <a:lstStyle/>
          <a:p>
            <a:pPr algn="ctr"/>
            <a:r>
              <a:rPr lang="en-US" b="1" u="sng" dirty="0">
                <a:solidFill>
                  <a:srgbClr val="0070C0"/>
                </a:solidFill>
              </a:rPr>
              <a:t>EXAMPLE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>
          <a:xfrm>
            <a:off x="493776" y="1113032"/>
            <a:ext cx="9873906" cy="5353978"/>
          </a:xfrm>
        </p:spPr>
        <p:txBody>
          <a:bodyPr>
            <a:normAutofit/>
          </a:bodyPr>
          <a:lstStyle/>
          <a:p>
            <a:r>
              <a:rPr lang="en-US" dirty="0">
                <a:sym typeface="Symbol" charset="2"/>
              </a:rPr>
              <a:t>We have </a:t>
            </a:r>
            <a:r>
              <a:rPr lang="en-US" dirty="0">
                <a:solidFill>
                  <a:srgbClr val="FF0000"/>
                </a:solidFill>
                <a:sym typeface="Symbol" charset="2"/>
              </a:rPr>
              <a:t>five vertices</a:t>
            </a:r>
            <a:r>
              <a:rPr lang="en-US" dirty="0">
                <a:sym typeface="Symbol" charset="2"/>
              </a:rPr>
              <a:t> labeled by </a:t>
            </a:r>
            <a:r>
              <a:rPr lang="en-US" dirty="0">
                <a:solidFill>
                  <a:srgbClr val="FF0000"/>
                </a:solidFill>
              </a:rPr>
              <a:t>v</a:t>
            </a:r>
            <a:r>
              <a:rPr lang="en-US" baseline="-25000" dirty="0">
                <a:solidFill>
                  <a:srgbClr val="FF0000"/>
                </a:solidFill>
              </a:rPr>
              <a:t>1</a:t>
            </a:r>
            <a:r>
              <a:rPr lang="en-US" dirty="0">
                <a:solidFill>
                  <a:srgbClr val="FF0000"/>
                </a:solidFill>
              </a:rPr>
              <a:t>, v</a:t>
            </a:r>
            <a:r>
              <a:rPr lang="en-US" baseline="-25000" dirty="0">
                <a:solidFill>
                  <a:srgbClr val="FF0000"/>
                </a:solidFill>
              </a:rPr>
              <a:t>2</a:t>
            </a:r>
            <a:r>
              <a:rPr lang="en-US" dirty="0">
                <a:solidFill>
                  <a:srgbClr val="FF0000"/>
                </a:solidFill>
              </a:rPr>
              <a:t>, v</a:t>
            </a:r>
            <a:r>
              <a:rPr lang="en-US" baseline="-25000" dirty="0">
                <a:solidFill>
                  <a:srgbClr val="FF0000"/>
                </a:solidFill>
              </a:rPr>
              <a:t>3</a:t>
            </a:r>
            <a:r>
              <a:rPr lang="en-US" dirty="0">
                <a:solidFill>
                  <a:srgbClr val="FF0000"/>
                </a:solidFill>
              </a:rPr>
              <a:t>, v</a:t>
            </a:r>
            <a:r>
              <a:rPr lang="en-US" baseline="-25000" dirty="0">
                <a:solidFill>
                  <a:srgbClr val="FF0000"/>
                </a:solidFill>
              </a:rPr>
              <a:t>4</a:t>
            </a:r>
            <a:r>
              <a:rPr lang="en-US" dirty="0">
                <a:solidFill>
                  <a:srgbClr val="FF0000"/>
                </a:solidFill>
              </a:rPr>
              <a:t>, v</a:t>
            </a:r>
            <a:r>
              <a:rPr lang="en-US" baseline="-25000" dirty="0">
                <a:solidFill>
                  <a:srgbClr val="FF0000"/>
                </a:solidFill>
              </a:rPr>
              <a:t>5</a:t>
            </a:r>
            <a:r>
              <a:rPr lang="en-US" dirty="0"/>
              <a:t> .</a:t>
            </a:r>
          </a:p>
          <a:p>
            <a:r>
              <a:rPr lang="en-US" dirty="0">
                <a:sym typeface="Symbol" charset="2"/>
              </a:rPr>
              <a:t>We have </a:t>
            </a:r>
            <a:r>
              <a:rPr lang="en-US" dirty="0">
                <a:solidFill>
                  <a:srgbClr val="FF0000"/>
                </a:solidFill>
                <a:sym typeface="Symbol" charset="2"/>
              </a:rPr>
              <a:t>edges </a:t>
            </a:r>
            <a:r>
              <a:rPr lang="pt-BR" dirty="0">
                <a:solidFill>
                  <a:srgbClr val="FF0000"/>
                </a:solidFill>
              </a:rPr>
              <a:t>e</a:t>
            </a:r>
            <a:r>
              <a:rPr lang="pt-BR" baseline="-25000" dirty="0">
                <a:solidFill>
                  <a:srgbClr val="FF0000"/>
                </a:solidFill>
              </a:rPr>
              <a:t>1</a:t>
            </a:r>
            <a:r>
              <a:rPr lang="pt-BR" dirty="0">
                <a:solidFill>
                  <a:srgbClr val="FF0000"/>
                </a:solidFill>
              </a:rPr>
              <a:t>, e</a:t>
            </a:r>
            <a:r>
              <a:rPr lang="pt-BR" baseline="-25000" dirty="0">
                <a:solidFill>
                  <a:srgbClr val="FF0000"/>
                </a:solidFill>
              </a:rPr>
              <a:t>2</a:t>
            </a:r>
            <a:r>
              <a:rPr lang="pt-BR" dirty="0">
                <a:solidFill>
                  <a:srgbClr val="FF0000"/>
                </a:solidFill>
              </a:rPr>
              <a:t>, e</a:t>
            </a:r>
            <a:r>
              <a:rPr lang="pt-BR" baseline="-25000" dirty="0">
                <a:solidFill>
                  <a:srgbClr val="FF0000"/>
                </a:solidFill>
              </a:rPr>
              <a:t>3</a:t>
            </a:r>
            <a:r>
              <a:rPr lang="pt-BR" dirty="0">
                <a:solidFill>
                  <a:srgbClr val="FF0000"/>
                </a:solidFill>
              </a:rPr>
              <a:t>, e</a:t>
            </a:r>
            <a:r>
              <a:rPr lang="pt-BR" baseline="-25000" dirty="0">
                <a:solidFill>
                  <a:srgbClr val="FF0000"/>
                </a:solidFill>
              </a:rPr>
              <a:t>4</a:t>
            </a:r>
            <a:r>
              <a:rPr lang="pt-BR" dirty="0">
                <a:solidFill>
                  <a:srgbClr val="FF0000"/>
                </a:solidFill>
              </a:rPr>
              <a:t>, e</a:t>
            </a:r>
            <a:r>
              <a:rPr lang="pt-BR" baseline="-25000" dirty="0">
                <a:solidFill>
                  <a:srgbClr val="FF0000"/>
                </a:solidFill>
              </a:rPr>
              <a:t>5</a:t>
            </a:r>
            <a:r>
              <a:rPr lang="pt-BR" dirty="0">
                <a:solidFill>
                  <a:srgbClr val="FF0000"/>
                </a:solidFill>
              </a:rPr>
              <a:t>, e</a:t>
            </a:r>
            <a:r>
              <a:rPr lang="pt-BR" baseline="-25000" dirty="0">
                <a:solidFill>
                  <a:srgbClr val="FF0000"/>
                </a:solidFill>
              </a:rPr>
              <a:t>6</a:t>
            </a:r>
            <a:r>
              <a:rPr lang="pt-BR" dirty="0"/>
              <a:t> .</a:t>
            </a:r>
          </a:p>
          <a:p>
            <a:r>
              <a:rPr lang="pt-BR" dirty="0">
                <a:solidFill>
                  <a:srgbClr val="FF0000"/>
                </a:solidFill>
              </a:rPr>
              <a:t>e</a:t>
            </a:r>
            <a:r>
              <a:rPr lang="pt-BR" baseline="-25000" dirty="0">
                <a:solidFill>
                  <a:srgbClr val="FF0000"/>
                </a:solidFill>
              </a:rPr>
              <a:t>1</a:t>
            </a:r>
            <a:r>
              <a:rPr lang="pt-BR" dirty="0">
                <a:solidFill>
                  <a:srgbClr val="FF0000"/>
                </a:solidFill>
              </a:rPr>
              <a:t> edge </a:t>
            </a:r>
            <a:r>
              <a:rPr lang="pt-BR" dirty="0"/>
              <a:t>is for</a:t>
            </a:r>
            <a:r>
              <a:rPr lang="pt-BR" dirty="0">
                <a:solidFill>
                  <a:srgbClr val="FF0000"/>
                </a:solidFill>
              </a:rPr>
              <a:t> vertices </a:t>
            </a:r>
            <a:r>
              <a:rPr lang="en-US" dirty="0">
                <a:solidFill>
                  <a:srgbClr val="FF0000"/>
                </a:solidFill>
              </a:rPr>
              <a:t>v</a:t>
            </a:r>
            <a:r>
              <a:rPr lang="en-US" baseline="-25000" dirty="0">
                <a:solidFill>
                  <a:srgbClr val="FF0000"/>
                </a:solidFill>
              </a:rPr>
              <a:t>1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/>
              <a:t>and</a:t>
            </a:r>
            <a:r>
              <a:rPr lang="en-US" dirty="0">
                <a:solidFill>
                  <a:srgbClr val="FF0000"/>
                </a:solidFill>
              </a:rPr>
              <a:t> v</a:t>
            </a:r>
            <a:r>
              <a:rPr lang="en-US" baseline="-25000" dirty="0">
                <a:solidFill>
                  <a:srgbClr val="FF0000"/>
                </a:solidFill>
              </a:rPr>
              <a:t>2</a:t>
            </a:r>
            <a:r>
              <a:rPr lang="pt-BR" baseline="-25000" dirty="0">
                <a:solidFill>
                  <a:srgbClr val="FF0000"/>
                </a:solidFill>
              </a:rPr>
              <a:t> </a:t>
            </a:r>
            <a:r>
              <a:rPr lang="pt-BR" dirty="0"/>
              <a:t>.</a:t>
            </a:r>
          </a:p>
          <a:p>
            <a:r>
              <a:rPr lang="pt-BR" dirty="0">
                <a:solidFill>
                  <a:srgbClr val="FF0000"/>
                </a:solidFill>
              </a:rPr>
              <a:t>e</a:t>
            </a:r>
            <a:r>
              <a:rPr lang="pt-BR" baseline="-25000" dirty="0">
                <a:solidFill>
                  <a:srgbClr val="FF0000"/>
                </a:solidFill>
              </a:rPr>
              <a:t>2</a:t>
            </a:r>
            <a:r>
              <a:rPr lang="pt-BR" dirty="0">
                <a:solidFill>
                  <a:srgbClr val="FF0000"/>
                </a:solidFill>
              </a:rPr>
              <a:t> </a:t>
            </a:r>
            <a:r>
              <a:rPr lang="pt-BR" dirty="0"/>
              <a:t>and</a:t>
            </a:r>
            <a:r>
              <a:rPr lang="pt-BR" dirty="0">
                <a:solidFill>
                  <a:srgbClr val="FF0000"/>
                </a:solidFill>
              </a:rPr>
              <a:t> e</a:t>
            </a:r>
            <a:r>
              <a:rPr lang="pt-BR" baseline="-25000" dirty="0">
                <a:solidFill>
                  <a:srgbClr val="FF0000"/>
                </a:solidFill>
              </a:rPr>
              <a:t>3</a:t>
            </a:r>
            <a:r>
              <a:rPr lang="pt-BR" dirty="0">
                <a:solidFill>
                  <a:srgbClr val="FF0000"/>
                </a:solidFill>
              </a:rPr>
              <a:t> </a:t>
            </a:r>
            <a:r>
              <a:rPr lang="pt-BR" dirty="0"/>
              <a:t>end points are </a:t>
            </a:r>
            <a:r>
              <a:rPr lang="en-US" dirty="0">
                <a:solidFill>
                  <a:srgbClr val="FF0000"/>
                </a:solidFill>
              </a:rPr>
              <a:t>v</a:t>
            </a:r>
            <a:r>
              <a:rPr lang="en-US" baseline="-25000" dirty="0">
                <a:solidFill>
                  <a:srgbClr val="FF0000"/>
                </a:solidFill>
              </a:rPr>
              <a:t>1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/>
              <a:t>and</a:t>
            </a:r>
            <a:r>
              <a:rPr lang="en-US" dirty="0">
                <a:solidFill>
                  <a:srgbClr val="FF0000"/>
                </a:solidFill>
              </a:rPr>
              <a:t> v</a:t>
            </a:r>
            <a:r>
              <a:rPr lang="en-US" baseline="-25000" dirty="0">
                <a:solidFill>
                  <a:srgbClr val="FF0000"/>
                </a:solidFill>
              </a:rPr>
              <a:t>4</a:t>
            </a:r>
            <a:r>
              <a:rPr lang="pt-BR" dirty="0"/>
              <a:t>.</a:t>
            </a:r>
          </a:p>
          <a:p>
            <a:r>
              <a:rPr lang="pt-BR" dirty="0">
                <a:solidFill>
                  <a:srgbClr val="FF0000"/>
                </a:solidFill>
              </a:rPr>
              <a:t>e</a:t>
            </a:r>
            <a:r>
              <a:rPr lang="pt-BR" baseline="-25000" dirty="0">
                <a:solidFill>
                  <a:srgbClr val="FF0000"/>
                </a:solidFill>
              </a:rPr>
              <a:t>4</a:t>
            </a:r>
            <a:r>
              <a:rPr lang="pt-BR" dirty="0">
                <a:solidFill>
                  <a:srgbClr val="FF0000"/>
                </a:solidFill>
              </a:rPr>
              <a:t> </a:t>
            </a:r>
            <a:r>
              <a:rPr lang="pt-BR" dirty="0"/>
              <a:t>has end points </a:t>
            </a:r>
            <a:r>
              <a:rPr lang="en-US" dirty="0">
                <a:solidFill>
                  <a:srgbClr val="FF0000"/>
                </a:solidFill>
              </a:rPr>
              <a:t>v</a:t>
            </a:r>
            <a:r>
              <a:rPr lang="en-US" baseline="-25000" dirty="0">
                <a:solidFill>
                  <a:srgbClr val="FF0000"/>
                </a:solidFill>
              </a:rPr>
              <a:t>2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/>
              <a:t>and</a:t>
            </a:r>
            <a:r>
              <a:rPr lang="en-US" dirty="0">
                <a:solidFill>
                  <a:srgbClr val="FF0000"/>
                </a:solidFill>
              </a:rPr>
              <a:t> v</a:t>
            </a:r>
            <a:r>
              <a:rPr lang="en-US" baseline="-25000" dirty="0">
                <a:solidFill>
                  <a:srgbClr val="FF0000"/>
                </a:solidFill>
              </a:rPr>
              <a:t>4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/>
              <a:t>.</a:t>
            </a:r>
          </a:p>
          <a:p>
            <a:r>
              <a:rPr lang="pt-BR" dirty="0">
                <a:solidFill>
                  <a:srgbClr val="FF0000"/>
                </a:solidFill>
              </a:rPr>
              <a:t>e</a:t>
            </a:r>
            <a:r>
              <a:rPr lang="pt-BR" baseline="-25000" dirty="0">
                <a:solidFill>
                  <a:srgbClr val="FF0000"/>
                </a:solidFill>
              </a:rPr>
              <a:t>5</a:t>
            </a:r>
            <a:r>
              <a:rPr lang="pt-BR" dirty="0">
                <a:solidFill>
                  <a:srgbClr val="FF0000"/>
                </a:solidFill>
              </a:rPr>
              <a:t> </a:t>
            </a:r>
            <a:r>
              <a:rPr lang="pt-BR" dirty="0"/>
              <a:t>has end points </a:t>
            </a:r>
            <a:r>
              <a:rPr lang="en-US" dirty="0">
                <a:solidFill>
                  <a:srgbClr val="FF0000"/>
                </a:solidFill>
              </a:rPr>
              <a:t>v</a:t>
            </a:r>
            <a:r>
              <a:rPr lang="en-US" baseline="-25000" dirty="0">
                <a:solidFill>
                  <a:srgbClr val="FF0000"/>
                </a:solidFill>
              </a:rPr>
              <a:t>2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/>
              <a:t>and</a:t>
            </a:r>
            <a:r>
              <a:rPr lang="en-US" dirty="0">
                <a:solidFill>
                  <a:srgbClr val="FF0000"/>
                </a:solidFill>
              </a:rPr>
              <a:t> v</a:t>
            </a:r>
            <a:r>
              <a:rPr lang="en-US" baseline="-25000" dirty="0">
                <a:solidFill>
                  <a:srgbClr val="FF0000"/>
                </a:solidFill>
              </a:rPr>
              <a:t>3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/>
              <a:t>.</a:t>
            </a:r>
          </a:p>
          <a:p>
            <a:r>
              <a:rPr lang="pt-BR" dirty="0">
                <a:solidFill>
                  <a:srgbClr val="FF0000"/>
                </a:solidFill>
              </a:rPr>
              <a:t>e</a:t>
            </a:r>
            <a:r>
              <a:rPr lang="pt-BR" baseline="-25000" dirty="0">
                <a:solidFill>
                  <a:srgbClr val="FF0000"/>
                </a:solidFill>
              </a:rPr>
              <a:t>6</a:t>
            </a:r>
            <a:r>
              <a:rPr lang="pt-BR" dirty="0">
                <a:solidFill>
                  <a:srgbClr val="FF0000"/>
                </a:solidFill>
              </a:rPr>
              <a:t> </a:t>
            </a:r>
            <a:r>
              <a:rPr lang="pt-BR" dirty="0"/>
              <a:t>is a </a:t>
            </a:r>
            <a:r>
              <a:rPr lang="pt-BR" dirty="0">
                <a:solidFill>
                  <a:srgbClr val="FF0000"/>
                </a:solidFill>
              </a:rPr>
              <a:t>loop</a:t>
            </a:r>
            <a:r>
              <a:rPr lang="pt-BR" dirty="0"/>
              <a:t> .</a:t>
            </a:r>
            <a:endParaRPr lang="en-US" baseline="-25000" dirty="0">
              <a:solidFill>
                <a:srgbClr val="FF0000"/>
              </a:solidFill>
            </a:endParaRPr>
          </a:p>
          <a:p>
            <a:endParaRPr lang="en-US" dirty="0">
              <a:sym typeface="Symbol" charset="2"/>
            </a:endParaRPr>
          </a:p>
        </p:txBody>
      </p:sp>
      <p:pic>
        <p:nvPicPr>
          <p:cNvPr id="5" name="Picture 4"/>
          <p:cNvPicPr/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413351" y="2205317"/>
            <a:ext cx="5284873" cy="396688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0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20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b="1" u="sng" dirty="0">
                <a:solidFill>
                  <a:srgbClr val="0070C0"/>
                </a:solidFill>
              </a:rPr>
              <a:t>SOME TERMINOLOGY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92500" lnSpcReduction="10000"/>
          </a:bodyPr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An </a:t>
            </a:r>
            <a:r>
              <a:rPr lang="en-US" dirty="0">
                <a:solidFill>
                  <a:srgbClr val="FF0000"/>
                </a:solidFill>
              </a:rPr>
              <a:t>edge</a:t>
            </a:r>
            <a:r>
              <a:rPr lang="en-US" dirty="0"/>
              <a:t> connects either one or two </a:t>
            </a:r>
            <a:r>
              <a:rPr lang="en-US" dirty="0">
                <a:solidFill>
                  <a:srgbClr val="FF0000"/>
                </a:solidFill>
              </a:rPr>
              <a:t>vertices</a:t>
            </a:r>
            <a:r>
              <a:rPr lang="en-US" dirty="0"/>
              <a:t> called its </a:t>
            </a:r>
            <a:r>
              <a:rPr lang="en-US" b="1" dirty="0">
                <a:solidFill>
                  <a:srgbClr val="FF0000"/>
                </a:solidFill>
              </a:rPr>
              <a:t>endpoints</a:t>
            </a:r>
            <a:r>
              <a:rPr lang="en-US" dirty="0"/>
              <a:t> (</a:t>
            </a:r>
            <a:r>
              <a:rPr lang="en-US" dirty="0">
                <a:solidFill>
                  <a:srgbClr val="FF0000"/>
                </a:solidFill>
              </a:rPr>
              <a:t>edge e</a:t>
            </a:r>
            <a:r>
              <a:rPr lang="en-US" baseline="-25000" dirty="0">
                <a:solidFill>
                  <a:srgbClr val="FF0000"/>
                </a:solidFill>
              </a:rPr>
              <a:t>1</a:t>
            </a:r>
            <a:r>
              <a:rPr lang="en-US" baseline="-25000" dirty="0"/>
              <a:t> </a:t>
            </a:r>
            <a:r>
              <a:rPr lang="en-US" dirty="0"/>
              <a:t>connects </a:t>
            </a:r>
            <a:r>
              <a:rPr lang="en-US" dirty="0">
                <a:solidFill>
                  <a:srgbClr val="FF0000"/>
                </a:solidFill>
              </a:rPr>
              <a:t>vertices v</a:t>
            </a:r>
            <a:r>
              <a:rPr lang="en-US" baseline="-25000" dirty="0">
                <a:solidFill>
                  <a:srgbClr val="FF0000"/>
                </a:solidFill>
              </a:rPr>
              <a:t>1</a:t>
            </a:r>
            <a:r>
              <a:rPr lang="en-US" dirty="0"/>
              <a:t> and </a:t>
            </a:r>
            <a:r>
              <a:rPr lang="en-US" dirty="0">
                <a:solidFill>
                  <a:srgbClr val="FF0000"/>
                </a:solidFill>
              </a:rPr>
              <a:t>v</a:t>
            </a:r>
            <a:r>
              <a:rPr lang="en-US" baseline="-25000" dirty="0">
                <a:solidFill>
                  <a:srgbClr val="FF0000"/>
                </a:solidFill>
              </a:rPr>
              <a:t>2</a:t>
            </a:r>
            <a:r>
              <a:rPr lang="en-US" dirty="0"/>
              <a:t> described as {</a:t>
            </a:r>
            <a:r>
              <a:rPr lang="en-US" dirty="0">
                <a:solidFill>
                  <a:srgbClr val="FF0000"/>
                </a:solidFill>
              </a:rPr>
              <a:t>v</a:t>
            </a:r>
            <a:r>
              <a:rPr lang="en-US" baseline="-25000" dirty="0">
                <a:solidFill>
                  <a:srgbClr val="FF0000"/>
                </a:solidFill>
              </a:rPr>
              <a:t>1</a:t>
            </a:r>
            <a:r>
              <a:rPr lang="en-US" dirty="0">
                <a:solidFill>
                  <a:srgbClr val="FF0000"/>
                </a:solidFill>
              </a:rPr>
              <a:t>, v</a:t>
            </a:r>
            <a:r>
              <a:rPr lang="en-US" baseline="-25000" dirty="0">
                <a:solidFill>
                  <a:srgbClr val="FF0000"/>
                </a:solidFill>
              </a:rPr>
              <a:t>2</a:t>
            </a:r>
            <a:r>
              <a:rPr lang="en-US" dirty="0"/>
              <a:t>} </a:t>
            </a:r>
            <a:r>
              <a:rPr lang="en-US" dirty="0" err="1"/>
              <a:t>i.e</a:t>
            </a:r>
            <a:r>
              <a:rPr lang="en-US" dirty="0"/>
              <a:t> v</a:t>
            </a:r>
            <a:r>
              <a:rPr lang="en-US" baseline="-25000" dirty="0"/>
              <a:t>1</a:t>
            </a:r>
            <a:r>
              <a:rPr lang="en-US" dirty="0"/>
              <a:t> and v</a:t>
            </a:r>
            <a:r>
              <a:rPr lang="en-US" baseline="-25000" dirty="0"/>
              <a:t>2 </a:t>
            </a:r>
            <a:r>
              <a:rPr lang="en-US" dirty="0"/>
              <a:t>are the endpoints of an edge e</a:t>
            </a:r>
            <a:r>
              <a:rPr lang="en-US" baseline="-25000" dirty="0"/>
              <a:t>1</a:t>
            </a:r>
            <a:r>
              <a:rPr lang="en-US" dirty="0"/>
              <a:t>).</a:t>
            </a:r>
          </a:p>
          <a:p>
            <a:endParaRPr lang="en-US" dirty="0"/>
          </a:p>
          <a:p>
            <a:endParaRPr lang="en-US" dirty="0"/>
          </a:p>
        </p:txBody>
      </p:sp>
      <p:pic>
        <p:nvPicPr>
          <p:cNvPr id="5" name="Picture 4"/>
          <p:cNvPicPr/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656269" y="1411941"/>
            <a:ext cx="3931920" cy="28346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434" name="Rectangle 2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1"/>
          </p:nvPr>
        </p:nvSpPr>
        <p:spPr>
          <a:xfrm>
            <a:off x="984504" y="1117719"/>
            <a:ext cx="10664145" cy="5471339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An </a:t>
            </a:r>
            <a:r>
              <a:rPr lang="en-US" dirty="0">
                <a:solidFill>
                  <a:srgbClr val="FF0000"/>
                </a:solidFill>
              </a:rPr>
              <a:t>edge</a:t>
            </a:r>
            <a:r>
              <a:rPr lang="en-US" dirty="0"/>
              <a:t> with just </a:t>
            </a:r>
            <a:r>
              <a:rPr lang="en-US" dirty="0">
                <a:solidFill>
                  <a:srgbClr val="FF0000"/>
                </a:solidFill>
              </a:rPr>
              <a:t>one endpoint</a:t>
            </a:r>
            <a:r>
              <a:rPr lang="en-US" dirty="0"/>
              <a:t> is called a </a:t>
            </a:r>
            <a:r>
              <a:rPr lang="en-US" b="1" dirty="0">
                <a:solidFill>
                  <a:srgbClr val="FF0000"/>
                </a:solidFill>
              </a:rPr>
              <a:t>loop</a:t>
            </a:r>
            <a:r>
              <a:rPr lang="en-US" dirty="0"/>
              <a:t>. Thus a </a:t>
            </a:r>
            <a:r>
              <a:rPr lang="en-US" dirty="0">
                <a:solidFill>
                  <a:srgbClr val="FF0000"/>
                </a:solidFill>
              </a:rPr>
              <a:t>loop</a:t>
            </a:r>
            <a:r>
              <a:rPr lang="en-US" dirty="0"/>
              <a:t> is an </a:t>
            </a:r>
            <a:r>
              <a:rPr lang="en-US" dirty="0">
                <a:solidFill>
                  <a:srgbClr val="FF0000"/>
                </a:solidFill>
              </a:rPr>
              <a:t>edge</a:t>
            </a:r>
            <a:r>
              <a:rPr lang="en-US" dirty="0"/>
              <a:t> that connects a </a:t>
            </a:r>
            <a:r>
              <a:rPr lang="en-US" dirty="0">
                <a:solidFill>
                  <a:srgbClr val="FF0000"/>
                </a:solidFill>
              </a:rPr>
              <a:t>vertex</a:t>
            </a:r>
            <a:r>
              <a:rPr lang="en-US" dirty="0"/>
              <a:t> to itself (e.g., edge </a:t>
            </a:r>
            <a:r>
              <a:rPr lang="en-US" dirty="0">
                <a:solidFill>
                  <a:srgbClr val="FF0000"/>
                </a:solidFill>
              </a:rPr>
              <a:t>e</a:t>
            </a:r>
            <a:r>
              <a:rPr lang="en-US" baseline="-25000" dirty="0">
                <a:solidFill>
                  <a:srgbClr val="FF0000"/>
                </a:solidFill>
              </a:rPr>
              <a:t>6</a:t>
            </a:r>
            <a:r>
              <a:rPr lang="en-US" baseline="-25000" dirty="0"/>
              <a:t> </a:t>
            </a:r>
            <a:r>
              <a:rPr lang="en-US" dirty="0"/>
              <a:t>).</a:t>
            </a:r>
          </a:p>
          <a:p>
            <a:endParaRPr lang="en-US" dirty="0"/>
          </a:p>
          <a:p>
            <a:r>
              <a:rPr lang="en-US" dirty="0"/>
              <a:t>Two </a:t>
            </a:r>
            <a:r>
              <a:rPr lang="en-US" dirty="0">
                <a:solidFill>
                  <a:srgbClr val="FF0000"/>
                </a:solidFill>
              </a:rPr>
              <a:t>vertices</a:t>
            </a:r>
            <a:r>
              <a:rPr lang="en-US" dirty="0"/>
              <a:t> that are connected by an </a:t>
            </a:r>
            <a:r>
              <a:rPr lang="en-US" dirty="0">
                <a:solidFill>
                  <a:srgbClr val="FF0000"/>
                </a:solidFill>
              </a:rPr>
              <a:t>edge</a:t>
            </a:r>
            <a:r>
              <a:rPr lang="en-US" dirty="0"/>
              <a:t> are called </a:t>
            </a:r>
            <a:r>
              <a:rPr lang="en-US" b="1" dirty="0">
                <a:solidFill>
                  <a:srgbClr val="FF0000"/>
                </a:solidFill>
              </a:rPr>
              <a:t>adjacent</a:t>
            </a:r>
            <a:r>
              <a:rPr lang="en-US" dirty="0"/>
              <a:t>; and a </a:t>
            </a:r>
            <a:r>
              <a:rPr lang="en-US" dirty="0">
                <a:solidFill>
                  <a:srgbClr val="FF0000"/>
                </a:solidFill>
              </a:rPr>
              <a:t>vertex</a:t>
            </a:r>
            <a:r>
              <a:rPr lang="en-US" dirty="0"/>
              <a:t> that is an </a:t>
            </a:r>
            <a:r>
              <a:rPr lang="en-US" dirty="0">
                <a:solidFill>
                  <a:srgbClr val="FF0000"/>
                </a:solidFill>
              </a:rPr>
              <a:t>endpoint</a:t>
            </a:r>
            <a:r>
              <a:rPr lang="en-US" dirty="0"/>
              <a:t> of a </a:t>
            </a:r>
            <a:r>
              <a:rPr lang="en-US" dirty="0">
                <a:solidFill>
                  <a:srgbClr val="FF0000"/>
                </a:solidFill>
              </a:rPr>
              <a:t>loop</a:t>
            </a:r>
            <a:r>
              <a:rPr lang="en-US" dirty="0"/>
              <a:t> is said to be </a:t>
            </a:r>
            <a:r>
              <a:rPr lang="en-US" dirty="0">
                <a:solidFill>
                  <a:srgbClr val="FF0000"/>
                </a:solidFill>
              </a:rPr>
              <a:t>adjacent</a:t>
            </a:r>
            <a:r>
              <a:rPr lang="en-US" dirty="0"/>
              <a:t> to itself.</a:t>
            </a:r>
          </a:p>
          <a:p>
            <a:endParaRPr lang="en-US" dirty="0"/>
          </a:p>
          <a:p>
            <a:r>
              <a:rPr lang="en-US" dirty="0"/>
              <a:t>An </a:t>
            </a:r>
            <a:r>
              <a:rPr lang="en-US" dirty="0">
                <a:solidFill>
                  <a:srgbClr val="FF0000"/>
                </a:solidFill>
              </a:rPr>
              <a:t>edge</a:t>
            </a:r>
            <a:r>
              <a:rPr lang="en-US" dirty="0"/>
              <a:t> is said to be </a:t>
            </a:r>
            <a:r>
              <a:rPr lang="en-US" b="1" dirty="0">
                <a:solidFill>
                  <a:srgbClr val="FF0000"/>
                </a:solidFill>
              </a:rPr>
              <a:t>incident</a:t>
            </a:r>
            <a:r>
              <a:rPr lang="en-US" dirty="0"/>
              <a:t> on each of it </a:t>
            </a:r>
            <a:r>
              <a:rPr lang="en-US" dirty="0">
                <a:solidFill>
                  <a:srgbClr val="FF0000"/>
                </a:solidFill>
              </a:rPr>
              <a:t>endpoints</a:t>
            </a:r>
            <a:r>
              <a:rPr lang="en-US" dirty="0"/>
              <a:t>(i.e. </a:t>
            </a:r>
            <a:r>
              <a:rPr lang="en-US" dirty="0">
                <a:solidFill>
                  <a:srgbClr val="FF0000"/>
                </a:solidFill>
              </a:rPr>
              <a:t>e</a:t>
            </a:r>
            <a:r>
              <a:rPr lang="en-US" baseline="-25000" dirty="0">
                <a:solidFill>
                  <a:srgbClr val="FF0000"/>
                </a:solidFill>
              </a:rPr>
              <a:t>1</a:t>
            </a:r>
            <a:r>
              <a:rPr lang="en-US" baseline="-25000" dirty="0"/>
              <a:t> </a:t>
            </a:r>
            <a:r>
              <a:rPr lang="en-US" dirty="0"/>
              <a:t>is incident on </a:t>
            </a:r>
            <a:r>
              <a:rPr lang="en-US" dirty="0">
                <a:solidFill>
                  <a:srgbClr val="FF0000"/>
                </a:solidFill>
              </a:rPr>
              <a:t>v</a:t>
            </a:r>
            <a:r>
              <a:rPr lang="en-US" baseline="-25000" dirty="0">
                <a:solidFill>
                  <a:srgbClr val="FF0000"/>
                </a:solidFill>
              </a:rPr>
              <a:t>1</a:t>
            </a:r>
            <a:r>
              <a:rPr lang="en-US" dirty="0"/>
              <a:t> and </a:t>
            </a:r>
            <a:r>
              <a:rPr lang="en-US" dirty="0">
                <a:solidFill>
                  <a:srgbClr val="FF0000"/>
                </a:solidFill>
              </a:rPr>
              <a:t>v</a:t>
            </a:r>
            <a:r>
              <a:rPr lang="en-US" baseline="-25000" dirty="0">
                <a:solidFill>
                  <a:srgbClr val="FF0000"/>
                </a:solidFill>
              </a:rPr>
              <a:t>2</a:t>
            </a:r>
            <a:r>
              <a:rPr lang="en-US" baseline="-25000" dirty="0"/>
              <a:t> </a:t>
            </a:r>
            <a:r>
              <a:rPr lang="en-US" dirty="0"/>
              <a:t>).</a:t>
            </a:r>
          </a:p>
          <a:p>
            <a:endParaRPr lang="en-US" dirty="0"/>
          </a:p>
          <a:p>
            <a:r>
              <a:rPr lang="en-US" dirty="0"/>
              <a:t>A </a:t>
            </a:r>
            <a:r>
              <a:rPr lang="en-US" dirty="0">
                <a:solidFill>
                  <a:srgbClr val="FF0000"/>
                </a:solidFill>
              </a:rPr>
              <a:t>vertex</a:t>
            </a:r>
            <a:r>
              <a:rPr lang="en-US" dirty="0"/>
              <a:t> on which no </a:t>
            </a:r>
            <a:r>
              <a:rPr lang="en-US" dirty="0">
                <a:solidFill>
                  <a:srgbClr val="FF0000"/>
                </a:solidFill>
              </a:rPr>
              <a:t>edges</a:t>
            </a:r>
            <a:r>
              <a:rPr lang="en-US" dirty="0"/>
              <a:t> are incident is called </a:t>
            </a:r>
            <a:r>
              <a:rPr lang="en-US" b="1" dirty="0">
                <a:solidFill>
                  <a:srgbClr val="FF0000"/>
                </a:solidFill>
              </a:rPr>
              <a:t>isolated</a:t>
            </a:r>
            <a:r>
              <a:rPr lang="en-US" dirty="0"/>
              <a:t> (e.g., </a:t>
            </a:r>
            <a:r>
              <a:rPr lang="en-US" dirty="0">
                <a:solidFill>
                  <a:srgbClr val="FF0000"/>
                </a:solidFill>
              </a:rPr>
              <a:t>v</a:t>
            </a:r>
            <a:r>
              <a:rPr lang="en-US" baseline="-25000" dirty="0">
                <a:solidFill>
                  <a:srgbClr val="FF0000"/>
                </a:solidFill>
              </a:rPr>
              <a:t>5</a:t>
            </a:r>
            <a:r>
              <a:rPr lang="en-US" dirty="0"/>
              <a:t>)</a:t>
            </a:r>
          </a:p>
          <a:p>
            <a:endParaRPr lang="en-US" dirty="0">
              <a:solidFill>
                <a:srgbClr val="FF0000"/>
              </a:solidFill>
            </a:endParaRPr>
          </a:p>
          <a:p>
            <a:r>
              <a:rPr lang="en-US" dirty="0"/>
              <a:t>Two </a:t>
            </a:r>
            <a:r>
              <a:rPr lang="en-US" dirty="0">
                <a:solidFill>
                  <a:srgbClr val="FF0000"/>
                </a:solidFill>
              </a:rPr>
              <a:t>distinct edges</a:t>
            </a:r>
            <a:r>
              <a:rPr lang="en-US" dirty="0"/>
              <a:t> with the same set of </a:t>
            </a:r>
            <a:r>
              <a:rPr lang="en-US" dirty="0">
                <a:solidFill>
                  <a:srgbClr val="FF0000"/>
                </a:solidFill>
              </a:rPr>
              <a:t>end points</a:t>
            </a:r>
            <a:r>
              <a:rPr lang="en-US" dirty="0"/>
              <a:t> are said to be </a:t>
            </a:r>
            <a:r>
              <a:rPr lang="en-US" b="1" dirty="0">
                <a:solidFill>
                  <a:srgbClr val="FF0000"/>
                </a:solidFill>
              </a:rPr>
              <a:t>parallel</a:t>
            </a:r>
            <a:r>
              <a:rPr lang="en-US" dirty="0"/>
              <a:t> (i.e. </a:t>
            </a:r>
            <a:r>
              <a:rPr lang="en-US" dirty="0">
                <a:solidFill>
                  <a:srgbClr val="FF0000"/>
                </a:solidFill>
              </a:rPr>
              <a:t>e</a:t>
            </a:r>
            <a:r>
              <a:rPr lang="en-US" baseline="-25000" dirty="0">
                <a:solidFill>
                  <a:srgbClr val="FF0000"/>
                </a:solidFill>
              </a:rPr>
              <a:t>2</a:t>
            </a:r>
            <a:r>
              <a:rPr lang="en-US" dirty="0"/>
              <a:t> &amp; </a:t>
            </a:r>
            <a:r>
              <a:rPr lang="en-US" dirty="0">
                <a:solidFill>
                  <a:srgbClr val="FF0000"/>
                </a:solidFill>
              </a:rPr>
              <a:t>e</a:t>
            </a:r>
            <a:r>
              <a:rPr lang="en-US" baseline="-25000" dirty="0">
                <a:solidFill>
                  <a:srgbClr val="FF0000"/>
                </a:solidFill>
              </a:rPr>
              <a:t>3</a:t>
            </a:r>
            <a:r>
              <a:rPr lang="en-US" dirty="0"/>
              <a:t>).</a:t>
            </a:r>
            <a:endParaRPr lang="en-US" dirty="0">
              <a:solidFill>
                <a:srgbClr val="FF0000"/>
              </a:solidFill>
            </a:endParaRPr>
          </a:p>
          <a:p>
            <a:endParaRPr lang="en-US" dirty="0"/>
          </a:p>
          <a:p>
            <a:endParaRPr lang="en-US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124FFE17-6191-4DD5-8242-FDD598C2A1B2}"/>
              </a:ext>
            </a:extLst>
          </p:cNvPr>
          <p:cNvSpPr txBox="1">
            <a:spLocks/>
          </p:cNvSpPr>
          <p:nvPr/>
        </p:nvSpPr>
        <p:spPr>
          <a:xfrm>
            <a:off x="691896" y="68849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b="1" u="sng" dirty="0">
                <a:solidFill>
                  <a:srgbClr val="0070C0"/>
                </a:solidFill>
              </a:rPr>
              <a:t>SOME TERMINOLOGY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3776" y="14087"/>
            <a:ext cx="10515600" cy="901927"/>
          </a:xfrm>
        </p:spPr>
        <p:txBody>
          <a:bodyPr>
            <a:normAutofit/>
          </a:bodyPr>
          <a:lstStyle/>
          <a:p>
            <a:pPr algn="ctr"/>
            <a:r>
              <a:rPr lang="en-US" b="1" u="sng" dirty="0">
                <a:solidFill>
                  <a:srgbClr val="0070C0"/>
                </a:solidFill>
              </a:rPr>
              <a:t>EXAMPLE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>
          <a:xfrm>
            <a:off x="836676" y="916014"/>
            <a:ext cx="9829800" cy="3067424"/>
          </a:xfrm>
        </p:spPr>
        <p:txBody>
          <a:bodyPr>
            <a:noAutofit/>
          </a:bodyPr>
          <a:lstStyle/>
          <a:p>
            <a:pPr>
              <a:lnSpc>
                <a:spcPct val="120000"/>
              </a:lnSpc>
            </a:pPr>
            <a:r>
              <a:rPr lang="en-US" sz="2400" dirty="0"/>
              <a:t>Define the following </a:t>
            </a:r>
            <a:r>
              <a:rPr lang="en-US" sz="2400" dirty="0">
                <a:solidFill>
                  <a:srgbClr val="FF0000"/>
                </a:solidFill>
              </a:rPr>
              <a:t>graph</a:t>
            </a:r>
            <a:r>
              <a:rPr lang="en-US" sz="2400" dirty="0"/>
              <a:t> formally by specifying its </a:t>
            </a:r>
            <a:r>
              <a:rPr lang="en-US" sz="2400" dirty="0">
                <a:solidFill>
                  <a:srgbClr val="FF0000"/>
                </a:solidFill>
              </a:rPr>
              <a:t>vertex</a:t>
            </a:r>
            <a:r>
              <a:rPr lang="en-US" sz="2400" dirty="0"/>
              <a:t> set, its edge set, and a table giving the </a:t>
            </a:r>
            <a:r>
              <a:rPr lang="en-US" sz="2400" dirty="0">
                <a:solidFill>
                  <a:srgbClr val="FF0000"/>
                </a:solidFill>
              </a:rPr>
              <a:t>edge</a:t>
            </a:r>
            <a:r>
              <a:rPr lang="en-US" sz="2400" dirty="0"/>
              <a:t> </a:t>
            </a:r>
            <a:r>
              <a:rPr lang="en-US" sz="2400" dirty="0">
                <a:solidFill>
                  <a:srgbClr val="FF0000"/>
                </a:solidFill>
              </a:rPr>
              <a:t>endpoint function</a:t>
            </a:r>
            <a:r>
              <a:rPr lang="en-US" sz="2400" dirty="0"/>
              <a:t>.</a:t>
            </a:r>
          </a:p>
          <a:p>
            <a:pPr>
              <a:lnSpc>
                <a:spcPct val="120000"/>
              </a:lnSpc>
              <a:buNone/>
            </a:pPr>
            <a:endParaRPr lang="en-US" sz="2400" dirty="0"/>
          </a:p>
          <a:p>
            <a:pPr>
              <a:lnSpc>
                <a:spcPct val="120000"/>
              </a:lnSpc>
            </a:pPr>
            <a:endParaRPr lang="en-US" sz="2400" dirty="0"/>
          </a:p>
          <a:p>
            <a:pPr>
              <a:lnSpc>
                <a:spcPct val="120000"/>
              </a:lnSpc>
            </a:pPr>
            <a:endParaRPr lang="en-US" sz="24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2400" b="1" dirty="0">
                <a:solidFill>
                  <a:srgbClr val="0070C0"/>
                </a:solidFill>
              </a:rPr>
              <a:t>Solution:</a:t>
            </a:r>
          </a:p>
          <a:p>
            <a:pPr>
              <a:lnSpc>
                <a:spcPct val="120000"/>
              </a:lnSpc>
            </a:pPr>
            <a:endParaRPr lang="en-US" sz="2400" dirty="0"/>
          </a:p>
        </p:txBody>
      </p:sp>
      <p:pic>
        <p:nvPicPr>
          <p:cNvPr id="6" name="Picture 5"/>
          <p:cNvPicPr/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297706" y="1725467"/>
            <a:ext cx="3201297" cy="208160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DB38E6B3-4D1A-4117-A3D6-5FE81FEC02FB}"/>
              </a:ext>
            </a:extLst>
          </p:cNvPr>
          <p:cNvSpPr txBox="1">
            <a:spLocks/>
          </p:cNvSpPr>
          <p:nvPr/>
        </p:nvSpPr>
        <p:spPr>
          <a:xfrm>
            <a:off x="998041" y="4306167"/>
            <a:ext cx="9829800" cy="23281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Arial" panose="020B0604020202020204" pitchFamily="34" charset="0"/>
              <a:buNone/>
            </a:pPr>
            <a:r>
              <a:rPr lang="en-US" dirty="0"/>
              <a:t>	</a:t>
            </a:r>
            <a:r>
              <a:rPr lang="en-US" dirty="0">
                <a:solidFill>
                  <a:srgbClr val="FF0000"/>
                </a:solidFill>
              </a:rPr>
              <a:t>Vertex Set</a:t>
            </a:r>
            <a:r>
              <a:rPr lang="en-US" dirty="0"/>
              <a:t> = {v</a:t>
            </a:r>
            <a:r>
              <a:rPr lang="en-US" baseline="-25000" dirty="0"/>
              <a:t>1</a:t>
            </a:r>
            <a:r>
              <a:rPr lang="en-US" dirty="0"/>
              <a:t>, v</a:t>
            </a:r>
            <a:r>
              <a:rPr lang="en-US" baseline="-25000" dirty="0"/>
              <a:t>2</a:t>
            </a:r>
            <a:r>
              <a:rPr lang="en-US" dirty="0"/>
              <a:t>, v</a:t>
            </a:r>
            <a:r>
              <a:rPr lang="en-US" baseline="-25000" dirty="0"/>
              <a:t>3</a:t>
            </a:r>
            <a:r>
              <a:rPr lang="en-US" dirty="0"/>
              <a:t>, v</a:t>
            </a:r>
            <a:r>
              <a:rPr lang="en-US" baseline="-25000" dirty="0"/>
              <a:t>4</a:t>
            </a:r>
            <a:r>
              <a:rPr lang="en-US" dirty="0"/>
              <a:t>}</a:t>
            </a:r>
          </a:p>
          <a:p>
            <a:pPr>
              <a:buFont typeface="Arial" panose="020B0604020202020204" pitchFamily="34" charset="0"/>
              <a:buNone/>
            </a:pPr>
            <a:r>
              <a:rPr lang="en-US" dirty="0"/>
              <a:t>	</a:t>
            </a:r>
            <a:r>
              <a:rPr lang="pt-BR" dirty="0">
                <a:solidFill>
                  <a:srgbClr val="FF0000"/>
                </a:solidFill>
              </a:rPr>
              <a:t>Edge Set</a:t>
            </a:r>
            <a:r>
              <a:rPr lang="pt-BR" dirty="0"/>
              <a:t> = {e</a:t>
            </a:r>
            <a:r>
              <a:rPr lang="pt-BR" baseline="-25000" dirty="0"/>
              <a:t>1</a:t>
            </a:r>
            <a:r>
              <a:rPr lang="pt-BR" dirty="0"/>
              <a:t>, e</a:t>
            </a:r>
            <a:r>
              <a:rPr lang="pt-BR" baseline="-25000" dirty="0"/>
              <a:t>2</a:t>
            </a:r>
            <a:r>
              <a:rPr lang="pt-BR" dirty="0"/>
              <a:t>, e</a:t>
            </a:r>
            <a:r>
              <a:rPr lang="pt-BR" baseline="-25000" dirty="0"/>
              <a:t>3</a:t>
            </a:r>
            <a:r>
              <a:rPr lang="pt-BR" dirty="0"/>
              <a:t>}	</a:t>
            </a:r>
            <a:endParaRPr lang="en-US" dirty="0"/>
          </a:p>
          <a:p>
            <a:pPr>
              <a:buFont typeface="Arial" panose="020B0604020202020204" pitchFamily="34" charset="0"/>
              <a:buNone/>
            </a:pPr>
            <a:r>
              <a:rPr lang="en-US" dirty="0"/>
              <a:t>	</a:t>
            </a:r>
          </a:p>
          <a:p>
            <a:pPr>
              <a:buFont typeface="Arial" panose="020B0604020202020204" pitchFamily="34" charset="0"/>
              <a:buNone/>
            </a:pPr>
            <a:r>
              <a:rPr lang="en-US" dirty="0"/>
              <a:t>	</a:t>
            </a:r>
            <a:r>
              <a:rPr lang="en-US" dirty="0">
                <a:solidFill>
                  <a:srgbClr val="FF0000"/>
                </a:solidFill>
              </a:rPr>
              <a:t>Edge - endpoint function</a:t>
            </a:r>
            <a:r>
              <a:rPr lang="en-US" dirty="0"/>
              <a:t> is:</a:t>
            </a:r>
          </a:p>
          <a:p>
            <a:endParaRPr lang="en-US" dirty="0"/>
          </a:p>
          <a:p>
            <a:pPr>
              <a:buFont typeface="Arial" panose="020B0604020202020204" pitchFamily="34" charset="0"/>
              <a:buNone/>
            </a:pPr>
            <a:endParaRPr lang="en-US" dirty="0"/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31025DD4-9994-4589-AAAF-093198DCCF2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6648607"/>
              </p:ext>
            </p:extLst>
          </p:nvPr>
        </p:nvGraphicFramePr>
        <p:xfrm>
          <a:off x="7005918" y="4358826"/>
          <a:ext cx="2209800" cy="1583160"/>
        </p:xfrm>
        <a:graphic>
          <a:graphicData uri="http://schemas.openxmlformats.org/drawingml/2006/table">
            <a:tbl>
              <a:tblPr/>
              <a:tblGrid>
                <a:gridCol w="8416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681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kumimoji="0" lang="en-US" sz="24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Times New Roman" pitchFamily="18" charset="0"/>
                          <a:sym typeface="Symbol" pitchFamily="18" charset="2"/>
                        </a:rPr>
                        <a:t>Edge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kumimoji="0" lang="en-US" sz="24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Times New Roman" pitchFamily="18" charset="0"/>
                          <a:sym typeface="Symbol" pitchFamily="18" charset="2"/>
                        </a:rPr>
                        <a:t>Endpoint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5320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dirty="0">
                          <a:latin typeface="+mn-lt"/>
                          <a:ea typeface="MS Mincho"/>
                        </a:rPr>
                        <a:t>e</a:t>
                      </a:r>
                      <a:r>
                        <a:rPr lang="en-US" sz="2400" baseline="-25000" dirty="0">
                          <a:latin typeface="+mn-lt"/>
                          <a:ea typeface="MS Mincho"/>
                        </a:rPr>
                        <a:t>1</a:t>
                      </a:r>
                      <a:endParaRPr lang="en-US" sz="2400" dirty="0">
                        <a:latin typeface="+mn-lt"/>
                        <a:ea typeface="MS Mincho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dirty="0">
                          <a:latin typeface="+mn-lt"/>
                          <a:ea typeface="MS Mincho"/>
                        </a:rPr>
                        <a:t>{v</a:t>
                      </a:r>
                      <a:r>
                        <a:rPr lang="en-US" sz="2400" baseline="-25000" dirty="0">
                          <a:latin typeface="+mn-lt"/>
                          <a:ea typeface="MS Mincho"/>
                        </a:rPr>
                        <a:t>1</a:t>
                      </a:r>
                      <a:r>
                        <a:rPr lang="en-US" sz="2400" dirty="0">
                          <a:latin typeface="+mn-lt"/>
                          <a:ea typeface="MS Mincho"/>
                        </a:rPr>
                        <a:t>, v</a:t>
                      </a:r>
                      <a:r>
                        <a:rPr lang="en-US" sz="2400" baseline="-25000" dirty="0">
                          <a:latin typeface="+mn-lt"/>
                          <a:ea typeface="MS Mincho"/>
                        </a:rPr>
                        <a:t>2</a:t>
                      </a:r>
                      <a:r>
                        <a:rPr lang="en-US" sz="2400" dirty="0">
                          <a:latin typeface="+mn-lt"/>
                          <a:ea typeface="MS Mincho"/>
                        </a:rPr>
                        <a:t>}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5320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dirty="0">
                          <a:latin typeface="+mn-lt"/>
                          <a:ea typeface="MS Mincho"/>
                        </a:rPr>
                        <a:t>e</a:t>
                      </a:r>
                      <a:r>
                        <a:rPr lang="en-US" sz="2400" baseline="-25000" dirty="0">
                          <a:latin typeface="+mn-lt"/>
                          <a:ea typeface="MS Mincho"/>
                        </a:rPr>
                        <a:t>2</a:t>
                      </a:r>
                      <a:endParaRPr lang="en-US" sz="2400" dirty="0">
                        <a:latin typeface="+mn-lt"/>
                        <a:ea typeface="MS Mincho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dirty="0">
                          <a:latin typeface="+mn-lt"/>
                          <a:ea typeface="MS Mincho"/>
                        </a:rPr>
                        <a:t>{v</a:t>
                      </a:r>
                      <a:r>
                        <a:rPr lang="en-US" sz="2400" baseline="-25000" dirty="0">
                          <a:latin typeface="+mn-lt"/>
                          <a:ea typeface="MS Mincho"/>
                        </a:rPr>
                        <a:t>1</a:t>
                      </a:r>
                      <a:r>
                        <a:rPr lang="en-US" sz="2400" dirty="0">
                          <a:latin typeface="+mn-lt"/>
                          <a:ea typeface="MS Mincho"/>
                        </a:rPr>
                        <a:t>, v</a:t>
                      </a:r>
                      <a:r>
                        <a:rPr lang="en-US" sz="2400" baseline="-25000" dirty="0">
                          <a:latin typeface="+mn-lt"/>
                          <a:ea typeface="MS Mincho"/>
                        </a:rPr>
                        <a:t>3</a:t>
                      </a:r>
                      <a:r>
                        <a:rPr lang="en-US" sz="2400" dirty="0">
                          <a:latin typeface="+mn-lt"/>
                          <a:ea typeface="MS Mincho"/>
                        </a:rPr>
                        <a:t>}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5320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dirty="0">
                          <a:latin typeface="+mn-lt"/>
                          <a:ea typeface="MS Mincho"/>
                        </a:rPr>
                        <a:t>e</a:t>
                      </a:r>
                      <a:r>
                        <a:rPr lang="en-US" sz="2400" baseline="-25000" dirty="0">
                          <a:latin typeface="+mn-lt"/>
                          <a:ea typeface="MS Mincho"/>
                        </a:rPr>
                        <a:t>3</a:t>
                      </a:r>
                      <a:endParaRPr lang="en-US" sz="2400" dirty="0">
                        <a:latin typeface="+mn-lt"/>
                        <a:ea typeface="MS Mincho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dirty="0">
                          <a:latin typeface="+mn-lt"/>
                          <a:ea typeface="MS Mincho"/>
                        </a:rPr>
                        <a:t>{v</a:t>
                      </a:r>
                      <a:r>
                        <a:rPr lang="en-US" sz="2400" baseline="-25000" dirty="0">
                          <a:latin typeface="+mn-lt"/>
                          <a:ea typeface="MS Mincho"/>
                        </a:rPr>
                        <a:t>3</a:t>
                      </a:r>
                      <a:r>
                        <a:rPr lang="en-US" sz="2400" dirty="0">
                          <a:latin typeface="+mn-lt"/>
                          <a:ea typeface="MS Mincho"/>
                        </a:rPr>
                        <a:t>}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/>
      <p:bldP spid="7" grpId="0" uiExpand="1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b="1" u="sng" dirty="0">
                <a:solidFill>
                  <a:srgbClr val="0070C0"/>
                </a:solidFill>
              </a:rPr>
              <a:t>EXAMPLE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>
          <a:xfrm>
            <a:off x="1981200" y="1219200"/>
            <a:ext cx="8229600" cy="5105400"/>
          </a:xfrm>
        </p:spPr>
        <p:txBody>
          <a:bodyPr>
            <a:normAutofit/>
          </a:bodyPr>
          <a:lstStyle/>
          <a:p>
            <a:r>
              <a:rPr lang="en-US" dirty="0"/>
              <a:t>For the </a:t>
            </a:r>
            <a:r>
              <a:rPr lang="en-US" dirty="0">
                <a:solidFill>
                  <a:srgbClr val="FF0000"/>
                </a:solidFill>
              </a:rPr>
              <a:t>graph</a:t>
            </a:r>
            <a:r>
              <a:rPr lang="en-US" dirty="0"/>
              <a:t> shown below:</a:t>
            </a:r>
          </a:p>
          <a:p>
            <a:pPr>
              <a:buNone/>
            </a:pPr>
            <a:endParaRPr lang="en-US" dirty="0"/>
          </a:p>
          <a:p>
            <a:pPr lvl="1"/>
            <a:r>
              <a:rPr lang="en-US" dirty="0"/>
              <a:t>Find all </a:t>
            </a:r>
            <a:r>
              <a:rPr lang="en-US" dirty="0">
                <a:solidFill>
                  <a:srgbClr val="FF0000"/>
                </a:solidFill>
              </a:rPr>
              <a:t>edges</a:t>
            </a:r>
            <a:r>
              <a:rPr lang="en-US" dirty="0"/>
              <a:t> that are </a:t>
            </a:r>
            <a:r>
              <a:rPr lang="en-US" dirty="0">
                <a:solidFill>
                  <a:srgbClr val="FF0000"/>
                </a:solidFill>
              </a:rPr>
              <a:t>incident</a:t>
            </a:r>
            <a:r>
              <a:rPr lang="en-US" dirty="0"/>
              <a:t> on </a:t>
            </a:r>
            <a:r>
              <a:rPr lang="en-US" dirty="0">
                <a:solidFill>
                  <a:srgbClr val="FF0000"/>
                </a:solidFill>
              </a:rPr>
              <a:t>v</a:t>
            </a:r>
            <a:r>
              <a:rPr lang="en-US" baseline="-25000" dirty="0">
                <a:solidFill>
                  <a:srgbClr val="FF0000"/>
                </a:solidFill>
              </a:rPr>
              <a:t>1</a:t>
            </a:r>
            <a:r>
              <a:rPr lang="en-US" dirty="0"/>
              <a:t>;</a:t>
            </a:r>
          </a:p>
          <a:p>
            <a:pPr lvl="1"/>
            <a:r>
              <a:rPr lang="en-US" dirty="0"/>
              <a:t>Find all </a:t>
            </a:r>
            <a:r>
              <a:rPr lang="en-US" dirty="0">
                <a:solidFill>
                  <a:srgbClr val="FF0000"/>
                </a:solidFill>
              </a:rPr>
              <a:t>vertices</a:t>
            </a:r>
            <a:r>
              <a:rPr lang="en-US" dirty="0"/>
              <a:t> that are </a:t>
            </a:r>
            <a:r>
              <a:rPr lang="en-US" dirty="0">
                <a:solidFill>
                  <a:srgbClr val="FF0000"/>
                </a:solidFill>
              </a:rPr>
              <a:t>adjacent</a:t>
            </a:r>
            <a:r>
              <a:rPr lang="en-US" dirty="0"/>
              <a:t> to </a:t>
            </a:r>
            <a:r>
              <a:rPr lang="en-US" dirty="0">
                <a:solidFill>
                  <a:srgbClr val="FF0000"/>
                </a:solidFill>
              </a:rPr>
              <a:t>v</a:t>
            </a:r>
            <a:r>
              <a:rPr lang="en-US" baseline="-25000" dirty="0">
                <a:solidFill>
                  <a:srgbClr val="FF0000"/>
                </a:solidFill>
              </a:rPr>
              <a:t>3</a:t>
            </a:r>
            <a:r>
              <a:rPr lang="en-US" dirty="0"/>
              <a:t>;</a:t>
            </a:r>
          </a:p>
          <a:p>
            <a:pPr lvl="1"/>
            <a:r>
              <a:rPr lang="en-US" dirty="0"/>
              <a:t>Find all </a:t>
            </a:r>
            <a:r>
              <a:rPr lang="en-US" dirty="0">
                <a:solidFill>
                  <a:srgbClr val="FF0000"/>
                </a:solidFill>
              </a:rPr>
              <a:t>loops</a:t>
            </a:r>
            <a:r>
              <a:rPr lang="en-US" dirty="0"/>
              <a:t>;</a:t>
            </a:r>
          </a:p>
          <a:p>
            <a:pPr lvl="1"/>
            <a:r>
              <a:rPr lang="en-US" dirty="0"/>
              <a:t>Find all </a:t>
            </a:r>
            <a:r>
              <a:rPr lang="en-US" dirty="0">
                <a:solidFill>
                  <a:srgbClr val="FF0000"/>
                </a:solidFill>
              </a:rPr>
              <a:t>parallel</a:t>
            </a:r>
            <a:r>
              <a:rPr lang="en-US" dirty="0"/>
              <a:t> edges;</a:t>
            </a:r>
          </a:p>
          <a:p>
            <a:pPr lvl="1"/>
            <a:r>
              <a:rPr lang="en-US" dirty="0"/>
              <a:t>Find all </a:t>
            </a:r>
            <a:r>
              <a:rPr lang="en-US" dirty="0">
                <a:solidFill>
                  <a:srgbClr val="FF0000"/>
                </a:solidFill>
              </a:rPr>
              <a:t>isolated</a:t>
            </a:r>
            <a:r>
              <a:rPr lang="en-US" dirty="0"/>
              <a:t> vertices;</a:t>
            </a:r>
            <a:endParaRPr lang="en-US" dirty="0">
              <a:solidFill>
                <a:srgbClr val="FF0000"/>
              </a:solidFill>
            </a:endParaRPr>
          </a:p>
          <a:p>
            <a:endParaRPr lang="en-US" dirty="0"/>
          </a:p>
          <a:p>
            <a:pPr>
              <a:buNone/>
            </a:pPr>
            <a:endParaRPr lang="en-US" dirty="0"/>
          </a:p>
        </p:txBody>
      </p:sp>
      <p:pic>
        <p:nvPicPr>
          <p:cNvPr id="5" name="Picture 4"/>
          <p:cNvPicPr/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188958" y="3428999"/>
            <a:ext cx="3565478" cy="306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3776" y="1"/>
            <a:ext cx="10515600" cy="914400"/>
          </a:xfrm>
        </p:spPr>
        <p:txBody>
          <a:bodyPr>
            <a:normAutofit/>
          </a:bodyPr>
          <a:lstStyle/>
          <a:p>
            <a:pPr algn="ctr"/>
            <a:r>
              <a:rPr lang="en-US" b="1" u="sng" dirty="0">
                <a:solidFill>
                  <a:srgbClr val="0070C0"/>
                </a:solidFill>
              </a:rPr>
              <a:t>SOLUTION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>
          <a:xfrm>
            <a:off x="836676" y="1037639"/>
            <a:ext cx="9829800" cy="5649764"/>
          </a:xfrm>
        </p:spPr>
        <p:txBody>
          <a:bodyPr>
            <a:normAutofit lnSpcReduction="10000"/>
          </a:bodyPr>
          <a:lstStyle/>
          <a:p>
            <a:pPr marL="274320" lvl="1">
              <a:spcBef>
                <a:spcPts val="600"/>
              </a:spcBef>
              <a:buClr>
                <a:schemeClr val="accent1"/>
              </a:buClr>
            </a:pPr>
            <a:r>
              <a:rPr lang="en-US" sz="2600" dirty="0"/>
              <a:t>Find all </a:t>
            </a:r>
            <a:r>
              <a:rPr lang="en-US" sz="2600" dirty="0">
                <a:solidFill>
                  <a:srgbClr val="FF0000"/>
                </a:solidFill>
              </a:rPr>
              <a:t>edges</a:t>
            </a:r>
            <a:r>
              <a:rPr lang="en-US" sz="2600" dirty="0"/>
              <a:t> that are </a:t>
            </a:r>
            <a:r>
              <a:rPr lang="en-US" sz="2600" dirty="0">
                <a:solidFill>
                  <a:srgbClr val="FF0000"/>
                </a:solidFill>
              </a:rPr>
              <a:t>incident</a:t>
            </a:r>
            <a:r>
              <a:rPr lang="en-US" sz="2600" dirty="0"/>
              <a:t> on </a:t>
            </a:r>
            <a:r>
              <a:rPr lang="en-US" sz="2600" dirty="0">
                <a:solidFill>
                  <a:srgbClr val="FF0000"/>
                </a:solidFill>
              </a:rPr>
              <a:t>v</a:t>
            </a:r>
            <a:r>
              <a:rPr lang="en-US" sz="2600" baseline="-25000" dirty="0">
                <a:solidFill>
                  <a:srgbClr val="FF0000"/>
                </a:solidFill>
              </a:rPr>
              <a:t>1</a:t>
            </a:r>
            <a:r>
              <a:rPr lang="en-US" sz="2600" dirty="0"/>
              <a:t>?</a:t>
            </a:r>
          </a:p>
          <a:p>
            <a:pPr marL="548640" lvl="2">
              <a:spcBef>
                <a:spcPts val="600"/>
              </a:spcBef>
              <a:buClr>
                <a:schemeClr val="accent1"/>
              </a:buClr>
            </a:pPr>
            <a:r>
              <a:rPr lang="en-US" sz="2500" b="1" dirty="0">
                <a:solidFill>
                  <a:srgbClr val="249C2F"/>
                </a:solidFill>
              </a:rPr>
              <a:t>v</a:t>
            </a:r>
            <a:r>
              <a:rPr lang="en-US" sz="2500" b="1" baseline="-25000" dirty="0">
                <a:solidFill>
                  <a:srgbClr val="249C2F"/>
                </a:solidFill>
              </a:rPr>
              <a:t>1</a:t>
            </a:r>
            <a:r>
              <a:rPr lang="en-US" sz="2500" dirty="0"/>
              <a:t> is </a:t>
            </a:r>
            <a:r>
              <a:rPr lang="en-US" sz="2500" b="1" dirty="0">
                <a:solidFill>
                  <a:srgbClr val="249C2F"/>
                </a:solidFill>
              </a:rPr>
              <a:t>incident</a:t>
            </a:r>
            <a:r>
              <a:rPr lang="en-US" sz="2500" dirty="0"/>
              <a:t> with edges </a:t>
            </a:r>
            <a:r>
              <a:rPr lang="en-US" sz="2500" b="1" dirty="0">
                <a:solidFill>
                  <a:srgbClr val="249C2F"/>
                </a:solidFill>
              </a:rPr>
              <a:t>e</a:t>
            </a:r>
            <a:r>
              <a:rPr lang="en-US" sz="2500" b="1" baseline="-25000" dirty="0">
                <a:solidFill>
                  <a:srgbClr val="249C2F"/>
                </a:solidFill>
              </a:rPr>
              <a:t>1</a:t>
            </a:r>
            <a:r>
              <a:rPr lang="en-US" sz="2500" dirty="0"/>
              <a:t>, </a:t>
            </a:r>
            <a:r>
              <a:rPr lang="en-US" sz="2500" b="1" dirty="0">
                <a:solidFill>
                  <a:srgbClr val="249C2F"/>
                </a:solidFill>
              </a:rPr>
              <a:t>e</a:t>
            </a:r>
            <a:r>
              <a:rPr lang="en-US" sz="2500" b="1" baseline="-25000" dirty="0">
                <a:solidFill>
                  <a:srgbClr val="249C2F"/>
                </a:solidFill>
              </a:rPr>
              <a:t>2</a:t>
            </a:r>
            <a:r>
              <a:rPr lang="en-US" sz="2500" dirty="0"/>
              <a:t> and </a:t>
            </a:r>
            <a:r>
              <a:rPr lang="en-US" sz="2500" b="1" dirty="0">
                <a:solidFill>
                  <a:srgbClr val="249C2F"/>
                </a:solidFill>
              </a:rPr>
              <a:t>e</a:t>
            </a:r>
            <a:r>
              <a:rPr lang="en-US" sz="2500" b="1" baseline="-25000" dirty="0">
                <a:solidFill>
                  <a:srgbClr val="249C2F"/>
                </a:solidFill>
              </a:rPr>
              <a:t>7</a:t>
            </a:r>
          </a:p>
          <a:p>
            <a:pPr marL="274320" lvl="1">
              <a:spcBef>
                <a:spcPts val="600"/>
              </a:spcBef>
              <a:buClr>
                <a:schemeClr val="accent1"/>
              </a:buClr>
            </a:pPr>
            <a:endParaRPr lang="en-US" sz="2800" baseline="-25000" dirty="0"/>
          </a:p>
          <a:p>
            <a:pPr marL="274320" lvl="1">
              <a:spcBef>
                <a:spcPts val="600"/>
              </a:spcBef>
              <a:buClr>
                <a:schemeClr val="accent1"/>
              </a:buClr>
            </a:pPr>
            <a:r>
              <a:rPr lang="en-US" sz="2600" dirty="0"/>
              <a:t>Find all </a:t>
            </a:r>
            <a:r>
              <a:rPr lang="en-US" sz="2800" dirty="0">
                <a:solidFill>
                  <a:srgbClr val="FF0000"/>
                </a:solidFill>
              </a:rPr>
              <a:t>vertices</a:t>
            </a:r>
            <a:r>
              <a:rPr lang="en-US" sz="2800" dirty="0"/>
              <a:t> </a:t>
            </a:r>
            <a:r>
              <a:rPr lang="en-US" sz="2600" dirty="0"/>
              <a:t>that are </a:t>
            </a:r>
            <a:r>
              <a:rPr lang="en-US" sz="2800" dirty="0">
                <a:solidFill>
                  <a:srgbClr val="FF0000"/>
                </a:solidFill>
              </a:rPr>
              <a:t>adjacent</a:t>
            </a:r>
            <a:r>
              <a:rPr lang="en-US" sz="2800" dirty="0"/>
              <a:t> </a:t>
            </a:r>
            <a:r>
              <a:rPr lang="en-US" sz="2600" dirty="0"/>
              <a:t>to</a:t>
            </a:r>
            <a:r>
              <a:rPr lang="en-US" sz="2800" dirty="0"/>
              <a:t> </a:t>
            </a:r>
            <a:r>
              <a:rPr lang="en-US" sz="2800" dirty="0">
                <a:solidFill>
                  <a:srgbClr val="FF0000"/>
                </a:solidFill>
              </a:rPr>
              <a:t>v</a:t>
            </a:r>
            <a:r>
              <a:rPr lang="en-US" sz="2800" baseline="-25000" dirty="0">
                <a:solidFill>
                  <a:srgbClr val="FF0000"/>
                </a:solidFill>
              </a:rPr>
              <a:t>3</a:t>
            </a:r>
            <a:r>
              <a:rPr lang="en-US" sz="2600" dirty="0"/>
              <a:t>?</a:t>
            </a:r>
          </a:p>
          <a:p>
            <a:pPr marL="548640" lvl="2">
              <a:spcBef>
                <a:spcPts val="600"/>
              </a:spcBef>
              <a:buClr>
                <a:schemeClr val="accent1"/>
              </a:buClr>
            </a:pPr>
            <a:r>
              <a:rPr lang="en-US" sz="2500" dirty="0"/>
              <a:t>vertices </a:t>
            </a:r>
            <a:r>
              <a:rPr lang="en-US" sz="2500" b="1" dirty="0">
                <a:solidFill>
                  <a:srgbClr val="249C2F"/>
                </a:solidFill>
              </a:rPr>
              <a:t>adjacent</a:t>
            </a:r>
            <a:r>
              <a:rPr lang="en-US" sz="2500" dirty="0"/>
              <a:t> to </a:t>
            </a:r>
            <a:r>
              <a:rPr lang="en-US" sz="2500" b="1" dirty="0">
                <a:solidFill>
                  <a:srgbClr val="249C2F"/>
                </a:solidFill>
              </a:rPr>
              <a:t>v</a:t>
            </a:r>
            <a:r>
              <a:rPr lang="en-US" sz="2500" b="1" baseline="-25000" dirty="0">
                <a:solidFill>
                  <a:srgbClr val="249C2F"/>
                </a:solidFill>
              </a:rPr>
              <a:t>3</a:t>
            </a:r>
            <a:r>
              <a:rPr lang="en-US" sz="2500" dirty="0"/>
              <a:t> are </a:t>
            </a:r>
            <a:r>
              <a:rPr lang="en-US" sz="2500" b="1" dirty="0">
                <a:solidFill>
                  <a:srgbClr val="249C2F"/>
                </a:solidFill>
              </a:rPr>
              <a:t>v</a:t>
            </a:r>
            <a:r>
              <a:rPr lang="en-US" sz="2500" b="1" baseline="-25000" dirty="0">
                <a:solidFill>
                  <a:srgbClr val="249C2F"/>
                </a:solidFill>
              </a:rPr>
              <a:t>1</a:t>
            </a:r>
            <a:r>
              <a:rPr lang="en-US" sz="2500" dirty="0"/>
              <a:t> and </a:t>
            </a:r>
            <a:r>
              <a:rPr lang="en-US" sz="2500" b="1" dirty="0">
                <a:solidFill>
                  <a:srgbClr val="249C2F"/>
                </a:solidFill>
              </a:rPr>
              <a:t>v</a:t>
            </a:r>
            <a:r>
              <a:rPr lang="en-US" sz="2500" b="1" baseline="-25000" dirty="0">
                <a:solidFill>
                  <a:srgbClr val="249C2F"/>
                </a:solidFill>
              </a:rPr>
              <a:t>2</a:t>
            </a:r>
          </a:p>
          <a:p>
            <a:pPr marL="274320" lvl="1">
              <a:spcBef>
                <a:spcPts val="600"/>
              </a:spcBef>
              <a:buClr>
                <a:schemeClr val="accent1"/>
              </a:buClr>
            </a:pPr>
            <a:endParaRPr lang="en-US" sz="2800" baseline="-25000" dirty="0"/>
          </a:p>
          <a:p>
            <a:pPr marL="274320" lvl="1">
              <a:spcBef>
                <a:spcPts val="600"/>
              </a:spcBef>
              <a:buClr>
                <a:schemeClr val="accent1"/>
              </a:buClr>
            </a:pPr>
            <a:r>
              <a:rPr lang="en-US" sz="2600" dirty="0"/>
              <a:t>Find all </a:t>
            </a:r>
            <a:r>
              <a:rPr lang="en-US" sz="2800" dirty="0">
                <a:solidFill>
                  <a:srgbClr val="FF0000"/>
                </a:solidFill>
              </a:rPr>
              <a:t>loops</a:t>
            </a:r>
            <a:r>
              <a:rPr lang="en-US" sz="2600" dirty="0"/>
              <a:t>?</a:t>
            </a:r>
          </a:p>
          <a:p>
            <a:pPr marL="548640" lvl="2">
              <a:spcBef>
                <a:spcPts val="600"/>
              </a:spcBef>
              <a:buClr>
                <a:schemeClr val="accent1"/>
              </a:buClr>
            </a:pPr>
            <a:r>
              <a:rPr lang="en-US" sz="2500" b="1" dirty="0">
                <a:solidFill>
                  <a:srgbClr val="249C2F"/>
                </a:solidFill>
              </a:rPr>
              <a:t>Loops</a:t>
            </a:r>
            <a:r>
              <a:rPr lang="en-US" sz="2500" dirty="0"/>
              <a:t> are </a:t>
            </a:r>
            <a:r>
              <a:rPr lang="en-US" sz="2500" b="1" dirty="0">
                <a:solidFill>
                  <a:srgbClr val="249C2F"/>
                </a:solidFill>
              </a:rPr>
              <a:t>e</a:t>
            </a:r>
            <a:r>
              <a:rPr lang="en-US" sz="2500" b="1" baseline="-25000" dirty="0">
                <a:solidFill>
                  <a:srgbClr val="249C2F"/>
                </a:solidFill>
              </a:rPr>
              <a:t>1</a:t>
            </a:r>
            <a:r>
              <a:rPr lang="en-US" sz="2500" dirty="0"/>
              <a:t> and </a:t>
            </a:r>
            <a:r>
              <a:rPr lang="en-US" sz="2500" b="1" dirty="0">
                <a:solidFill>
                  <a:srgbClr val="249C2F"/>
                </a:solidFill>
              </a:rPr>
              <a:t>e</a:t>
            </a:r>
            <a:r>
              <a:rPr lang="en-US" sz="2500" b="1" baseline="-25000" dirty="0">
                <a:solidFill>
                  <a:srgbClr val="249C2F"/>
                </a:solidFill>
              </a:rPr>
              <a:t>3</a:t>
            </a:r>
            <a:r>
              <a:rPr lang="en-US" sz="2500" dirty="0"/>
              <a:t> </a:t>
            </a:r>
          </a:p>
          <a:p>
            <a:pPr marL="548640" lvl="2">
              <a:spcBef>
                <a:spcPts val="600"/>
              </a:spcBef>
              <a:buClr>
                <a:schemeClr val="accent1"/>
              </a:buClr>
            </a:pPr>
            <a:endParaRPr lang="en-US" sz="2500" dirty="0"/>
          </a:p>
          <a:p>
            <a:pPr marL="274320" lvl="1">
              <a:spcBef>
                <a:spcPts val="600"/>
              </a:spcBef>
              <a:buClr>
                <a:schemeClr val="accent1"/>
              </a:buClr>
            </a:pPr>
            <a:r>
              <a:rPr lang="en-US" sz="2600" dirty="0"/>
              <a:t>Find all </a:t>
            </a:r>
            <a:r>
              <a:rPr lang="en-US" sz="2600" dirty="0">
                <a:solidFill>
                  <a:srgbClr val="FF0000"/>
                </a:solidFill>
              </a:rPr>
              <a:t>parallel</a:t>
            </a:r>
            <a:r>
              <a:rPr lang="en-US" sz="2600" dirty="0"/>
              <a:t> edges?</a:t>
            </a:r>
          </a:p>
          <a:p>
            <a:pPr marL="548640" lvl="2">
              <a:spcBef>
                <a:spcPts val="600"/>
              </a:spcBef>
              <a:buClr>
                <a:schemeClr val="accent1"/>
              </a:buClr>
            </a:pPr>
            <a:r>
              <a:rPr lang="en-US" sz="2500" dirty="0"/>
              <a:t>Only edges </a:t>
            </a:r>
            <a:r>
              <a:rPr lang="en-US" sz="2500" b="1" dirty="0">
                <a:solidFill>
                  <a:srgbClr val="249C2F"/>
                </a:solidFill>
              </a:rPr>
              <a:t>e</a:t>
            </a:r>
            <a:r>
              <a:rPr lang="en-US" sz="2500" b="1" baseline="-25000" dirty="0">
                <a:solidFill>
                  <a:srgbClr val="249C2F"/>
                </a:solidFill>
              </a:rPr>
              <a:t>4</a:t>
            </a:r>
            <a:r>
              <a:rPr lang="en-US" sz="2500" dirty="0"/>
              <a:t> and </a:t>
            </a:r>
            <a:r>
              <a:rPr lang="en-US" sz="2500" b="1" dirty="0">
                <a:solidFill>
                  <a:srgbClr val="249C2F"/>
                </a:solidFill>
              </a:rPr>
              <a:t>e</a:t>
            </a:r>
            <a:r>
              <a:rPr lang="en-US" sz="2500" b="1" baseline="-25000" dirty="0">
                <a:solidFill>
                  <a:srgbClr val="249C2F"/>
                </a:solidFill>
              </a:rPr>
              <a:t>5</a:t>
            </a:r>
            <a:r>
              <a:rPr lang="en-US" sz="2500" dirty="0"/>
              <a:t> are </a:t>
            </a:r>
            <a:r>
              <a:rPr lang="en-US" sz="2500" b="1" dirty="0">
                <a:solidFill>
                  <a:srgbClr val="249C2F"/>
                </a:solidFill>
              </a:rPr>
              <a:t>parallel</a:t>
            </a:r>
          </a:p>
          <a:p>
            <a:pPr marL="274320" lvl="1">
              <a:spcBef>
                <a:spcPts val="600"/>
              </a:spcBef>
              <a:buClr>
                <a:schemeClr val="accent1"/>
              </a:buClr>
            </a:pPr>
            <a:endParaRPr lang="en-US" sz="2800" dirty="0"/>
          </a:p>
          <a:p>
            <a:pPr marL="274320" lvl="1">
              <a:spcBef>
                <a:spcPts val="600"/>
              </a:spcBef>
              <a:buClr>
                <a:schemeClr val="accent1"/>
              </a:buClr>
            </a:pPr>
            <a:r>
              <a:rPr lang="en-US" sz="2600" dirty="0"/>
              <a:t>Find all </a:t>
            </a:r>
            <a:r>
              <a:rPr lang="en-US" sz="2600" dirty="0">
                <a:solidFill>
                  <a:srgbClr val="FF0000"/>
                </a:solidFill>
              </a:rPr>
              <a:t>isolated</a:t>
            </a:r>
            <a:r>
              <a:rPr lang="en-US" sz="2600" dirty="0"/>
              <a:t> vertices?</a:t>
            </a:r>
          </a:p>
          <a:p>
            <a:pPr marL="548640" lvl="2">
              <a:spcBef>
                <a:spcPts val="600"/>
              </a:spcBef>
              <a:buClr>
                <a:schemeClr val="accent1"/>
              </a:buClr>
            </a:pPr>
            <a:r>
              <a:rPr lang="en-US" sz="2500" dirty="0"/>
              <a:t>The only </a:t>
            </a:r>
            <a:r>
              <a:rPr lang="en-US" sz="2500" b="1" dirty="0">
                <a:solidFill>
                  <a:srgbClr val="249C2F"/>
                </a:solidFill>
              </a:rPr>
              <a:t>isolated</a:t>
            </a:r>
            <a:r>
              <a:rPr lang="en-US" sz="2500" dirty="0"/>
              <a:t> vertex is </a:t>
            </a:r>
            <a:r>
              <a:rPr lang="en-US" sz="2500" b="1" dirty="0">
                <a:solidFill>
                  <a:srgbClr val="249C2F"/>
                </a:solidFill>
              </a:rPr>
              <a:t>v</a:t>
            </a:r>
            <a:r>
              <a:rPr lang="en-US" sz="2500" b="1" baseline="-25000" dirty="0">
                <a:solidFill>
                  <a:srgbClr val="249C2F"/>
                </a:solidFill>
              </a:rPr>
              <a:t>4</a:t>
            </a:r>
            <a:r>
              <a:rPr lang="en-US" sz="2500" dirty="0"/>
              <a:t> in this Graph.</a:t>
            </a:r>
            <a:endParaRPr lang="en-US" dirty="0"/>
          </a:p>
          <a:p>
            <a:pPr marL="548640" lvl="2">
              <a:spcBef>
                <a:spcPts val="600"/>
              </a:spcBef>
              <a:buClr>
                <a:schemeClr val="accent1"/>
              </a:buClr>
            </a:pPr>
            <a:endParaRPr lang="en-US" sz="2500" dirty="0"/>
          </a:p>
          <a:p>
            <a:pPr marL="274320" lvl="1">
              <a:spcBef>
                <a:spcPts val="600"/>
              </a:spcBef>
              <a:buClr>
                <a:schemeClr val="accent1"/>
              </a:buClr>
            </a:pPr>
            <a:endParaRPr lang="en-US" sz="2800" dirty="0"/>
          </a:p>
          <a:p>
            <a:pPr marL="274320" lvl="1">
              <a:spcBef>
                <a:spcPts val="600"/>
              </a:spcBef>
              <a:buClr>
                <a:schemeClr val="accent1"/>
              </a:buClr>
            </a:pPr>
            <a:endParaRPr lang="en-US" sz="2600" dirty="0"/>
          </a:p>
          <a:p>
            <a:pPr marL="274320" lvl="1">
              <a:spcBef>
                <a:spcPts val="600"/>
              </a:spcBef>
              <a:buClr>
                <a:schemeClr val="accent1"/>
              </a:buClr>
            </a:pPr>
            <a:endParaRPr lang="en-US" sz="2600" dirty="0"/>
          </a:p>
          <a:p>
            <a:pPr marL="274320" lvl="1">
              <a:spcBef>
                <a:spcPts val="600"/>
              </a:spcBef>
              <a:buClr>
                <a:schemeClr val="accent1"/>
              </a:buClr>
            </a:pPr>
            <a:endParaRPr lang="en-US" sz="2600" dirty="0"/>
          </a:p>
          <a:p>
            <a:endParaRPr lang="en-US" dirty="0">
              <a:solidFill>
                <a:srgbClr val="FF0000"/>
              </a:solidFill>
            </a:endParaRPr>
          </a:p>
          <a:p>
            <a:endParaRPr lang="en-US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0439" y="1"/>
            <a:ext cx="10515600" cy="887104"/>
          </a:xfrm>
        </p:spPr>
        <p:txBody>
          <a:bodyPr/>
          <a:lstStyle/>
          <a:p>
            <a:pPr algn="ctr"/>
            <a:r>
              <a:rPr lang="en-US" b="1" u="sng" dirty="0">
                <a:solidFill>
                  <a:srgbClr val="0070C0"/>
                </a:solidFill>
              </a:rPr>
              <a:t>EXERCISE</a:t>
            </a:r>
            <a:endParaRPr lang="en-US" dirty="0">
              <a:solidFill>
                <a:srgbClr val="0070C0"/>
              </a:solidFill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>
          <a:xfrm>
            <a:off x="1074761" y="887104"/>
            <a:ext cx="10042478" cy="5670367"/>
          </a:xfrm>
        </p:spPr>
        <p:txBody>
          <a:bodyPr>
            <a:normAutofit/>
          </a:bodyPr>
          <a:lstStyle/>
          <a:p>
            <a:r>
              <a:rPr lang="en-US" dirty="0"/>
              <a:t>Draw picture of </a:t>
            </a:r>
            <a:r>
              <a:rPr lang="en-US" dirty="0">
                <a:solidFill>
                  <a:srgbClr val="FF0000"/>
                </a:solidFill>
              </a:rPr>
              <a:t>Graph H</a:t>
            </a:r>
            <a:r>
              <a:rPr lang="en-US" dirty="0"/>
              <a:t> having </a:t>
            </a:r>
            <a:r>
              <a:rPr lang="en-US" dirty="0">
                <a:solidFill>
                  <a:srgbClr val="FF0000"/>
                </a:solidFill>
              </a:rPr>
              <a:t>vertex</a:t>
            </a:r>
            <a:r>
              <a:rPr lang="en-US" dirty="0"/>
              <a:t> set {</a:t>
            </a:r>
            <a:r>
              <a:rPr lang="en-US" dirty="0">
                <a:solidFill>
                  <a:srgbClr val="FF0000"/>
                </a:solidFill>
              </a:rPr>
              <a:t>v</a:t>
            </a:r>
            <a:r>
              <a:rPr lang="en-US" baseline="-25000" dirty="0">
                <a:solidFill>
                  <a:srgbClr val="FF0000"/>
                </a:solidFill>
              </a:rPr>
              <a:t>1</a:t>
            </a:r>
            <a:r>
              <a:rPr lang="en-US" dirty="0">
                <a:solidFill>
                  <a:srgbClr val="FF0000"/>
                </a:solidFill>
              </a:rPr>
              <a:t>, v</a:t>
            </a:r>
            <a:r>
              <a:rPr lang="en-US" baseline="-25000" dirty="0">
                <a:solidFill>
                  <a:srgbClr val="FF0000"/>
                </a:solidFill>
              </a:rPr>
              <a:t>2</a:t>
            </a:r>
            <a:r>
              <a:rPr lang="en-US" dirty="0">
                <a:solidFill>
                  <a:srgbClr val="FF0000"/>
                </a:solidFill>
              </a:rPr>
              <a:t>, v</a:t>
            </a:r>
            <a:r>
              <a:rPr lang="en-US" baseline="-25000" dirty="0">
                <a:solidFill>
                  <a:srgbClr val="FF0000"/>
                </a:solidFill>
              </a:rPr>
              <a:t>3</a:t>
            </a:r>
            <a:r>
              <a:rPr lang="en-US" dirty="0">
                <a:solidFill>
                  <a:srgbClr val="FF0000"/>
                </a:solidFill>
              </a:rPr>
              <a:t>, v</a:t>
            </a:r>
            <a:r>
              <a:rPr lang="en-US" baseline="-25000" dirty="0">
                <a:solidFill>
                  <a:srgbClr val="FF0000"/>
                </a:solidFill>
              </a:rPr>
              <a:t>4</a:t>
            </a:r>
            <a:r>
              <a:rPr lang="en-US" dirty="0">
                <a:solidFill>
                  <a:srgbClr val="FF0000"/>
                </a:solidFill>
              </a:rPr>
              <a:t>, v</a:t>
            </a:r>
            <a:r>
              <a:rPr lang="en-US" baseline="-25000" dirty="0">
                <a:solidFill>
                  <a:srgbClr val="FF0000"/>
                </a:solidFill>
              </a:rPr>
              <a:t>5</a:t>
            </a:r>
            <a:r>
              <a:rPr lang="en-US" dirty="0"/>
              <a:t>} and </a:t>
            </a:r>
            <a:r>
              <a:rPr lang="en-US" dirty="0">
                <a:solidFill>
                  <a:srgbClr val="FF0000"/>
                </a:solidFill>
              </a:rPr>
              <a:t>edge</a:t>
            </a:r>
            <a:r>
              <a:rPr lang="en-US" dirty="0"/>
              <a:t> set {</a:t>
            </a:r>
            <a:r>
              <a:rPr lang="en-US" dirty="0">
                <a:solidFill>
                  <a:srgbClr val="FF0000"/>
                </a:solidFill>
              </a:rPr>
              <a:t>e</a:t>
            </a:r>
            <a:r>
              <a:rPr lang="en-US" baseline="-25000" dirty="0">
                <a:solidFill>
                  <a:srgbClr val="FF0000"/>
                </a:solidFill>
              </a:rPr>
              <a:t>1</a:t>
            </a:r>
            <a:r>
              <a:rPr lang="en-US" dirty="0">
                <a:solidFill>
                  <a:srgbClr val="FF0000"/>
                </a:solidFill>
              </a:rPr>
              <a:t>, e</a:t>
            </a:r>
            <a:r>
              <a:rPr lang="en-US" baseline="-25000" dirty="0">
                <a:solidFill>
                  <a:srgbClr val="FF0000"/>
                </a:solidFill>
              </a:rPr>
              <a:t>2</a:t>
            </a:r>
            <a:r>
              <a:rPr lang="en-US" dirty="0">
                <a:solidFill>
                  <a:srgbClr val="FF0000"/>
                </a:solidFill>
              </a:rPr>
              <a:t>, e</a:t>
            </a:r>
            <a:r>
              <a:rPr lang="en-US" baseline="-25000" dirty="0">
                <a:solidFill>
                  <a:srgbClr val="FF0000"/>
                </a:solidFill>
              </a:rPr>
              <a:t>3</a:t>
            </a:r>
            <a:r>
              <a:rPr lang="en-US" dirty="0">
                <a:solidFill>
                  <a:srgbClr val="FF0000"/>
                </a:solidFill>
              </a:rPr>
              <a:t>, e</a:t>
            </a:r>
            <a:r>
              <a:rPr lang="en-US" baseline="-25000" dirty="0">
                <a:solidFill>
                  <a:srgbClr val="FF0000"/>
                </a:solidFill>
              </a:rPr>
              <a:t>4</a:t>
            </a:r>
            <a:r>
              <a:rPr lang="en-US" dirty="0"/>
              <a:t>} with </a:t>
            </a:r>
            <a:r>
              <a:rPr lang="en-US" dirty="0">
                <a:solidFill>
                  <a:srgbClr val="FF0000"/>
                </a:solidFill>
              </a:rPr>
              <a:t>edge endpoint function</a:t>
            </a:r>
            <a:r>
              <a:rPr lang="en-US" dirty="0"/>
              <a:t>:</a:t>
            </a:r>
          </a:p>
          <a:p>
            <a:endParaRPr lang="en-US" dirty="0"/>
          </a:p>
          <a:p>
            <a:pPr>
              <a:buNone/>
            </a:pPr>
            <a:r>
              <a:rPr lang="en-US" dirty="0"/>
              <a:t>	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marL="0" indent="0">
              <a:buNone/>
            </a:pPr>
            <a:r>
              <a:rPr lang="en-US" b="1" dirty="0">
                <a:solidFill>
                  <a:srgbClr val="0070C0"/>
                </a:solidFill>
              </a:rPr>
              <a:t>Solution:</a:t>
            </a:r>
          </a:p>
          <a:p>
            <a:pPr marL="0" indent="0">
              <a:buNone/>
            </a:pPr>
            <a:r>
              <a:rPr lang="en-US" dirty="0"/>
              <a:t>Given </a:t>
            </a:r>
            <a:r>
              <a:rPr lang="en-US" dirty="0">
                <a:solidFill>
                  <a:srgbClr val="FF0000"/>
                </a:solidFill>
              </a:rPr>
              <a:t>V(H)</a:t>
            </a:r>
            <a:r>
              <a:rPr lang="en-US" dirty="0"/>
              <a:t> = {v</a:t>
            </a:r>
            <a:r>
              <a:rPr lang="en-US" baseline="-25000" dirty="0"/>
              <a:t>1</a:t>
            </a:r>
            <a:r>
              <a:rPr lang="en-US" dirty="0"/>
              <a:t>, v</a:t>
            </a:r>
            <a:r>
              <a:rPr lang="en-US" baseline="-25000" dirty="0"/>
              <a:t>2</a:t>
            </a:r>
            <a:r>
              <a:rPr lang="en-US" dirty="0"/>
              <a:t>, v</a:t>
            </a:r>
            <a:r>
              <a:rPr lang="en-US" baseline="-25000" dirty="0"/>
              <a:t>3</a:t>
            </a:r>
            <a:r>
              <a:rPr lang="en-US" dirty="0"/>
              <a:t>, v</a:t>
            </a:r>
            <a:r>
              <a:rPr lang="en-US" baseline="-25000" dirty="0"/>
              <a:t>4</a:t>
            </a:r>
            <a:r>
              <a:rPr lang="en-US" dirty="0"/>
              <a:t>, v</a:t>
            </a:r>
            <a:r>
              <a:rPr lang="en-US" baseline="-25000" dirty="0"/>
              <a:t>5</a:t>
            </a:r>
            <a:r>
              <a:rPr lang="en-US" dirty="0"/>
              <a:t>} and</a:t>
            </a:r>
          </a:p>
          <a:p>
            <a:pPr>
              <a:buNone/>
            </a:pPr>
            <a:r>
              <a:rPr lang="en-US" dirty="0"/>
              <a:t>		</a:t>
            </a:r>
            <a:r>
              <a:rPr lang="en-US" dirty="0">
                <a:solidFill>
                  <a:srgbClr val="FF0000"/>
                </a:solidFill>
              </a:rPr>
              <a:t>E(H)</a:t>
            </a:r>
            <a:r>
              <a:rPr lang="en-US" dirty="0"/>
              <a:t> = {e</a:t>
            </a:r>
            <a:r>
              <a:rPr lang="en-US" baseline="-25000" dirty="0"/>
              <a:t>1</a:t>
            </a:r>
            <a:r>
              <a:rPr lang="en-US" dirty="0"/>
              <a:t>, e</a:t>
            </a:r>
            <a:r>
              <a:rPr lang="en-US" baseline="-25000" dirty="0"/>
              <a:t>2</a:t>
            </a:r>
            <a:r>
              <a:rPr lang="en-US" dirty="0"/>
              <a:t>, e</a:t>
            </a:r>
            <a:r>
              <a:rPr lang="en-US" baseline="-25000" dirty="0"/>
              <a:t>3</a:t>
            </a:r>
            <a:r>
              <a:rPr lang="en-US" dirty="0"/>
              <a:t>, e</a:t>
            </a:r>
            <a:r>
              <a:rPr lang="en-US" baseline="-25000" dirty="0"/>
              <a:t>4</a:t>
            </a:r>
            <a:r>
              <a:rPr lang="en-US" dirty="0"/>
              <a:t>}</a:t>
            </a:r>
          </a:p>
          <a:p>
            <a:pPr>
              <a:buNone/>
            </a:pPr>
            <a:r>
              <a:rPr lang="en-US" dirty="0"/>
              <a:t>		  with edge </a:t>
            </a:r>
            <a:r>
              <a:rPr lang="en-US" dirty="0">
                <a:solidFill>
                  <a:srgbClr val="FF0000"/>
                </a:solidFill>
              </a:rPr>
              <a:t>endpoint function</a:t>
            </a:r>
            <a:r>
              <a:rPr lang="en-US" dirty="0"/>
              <a:t> </a:t>
            </a:r>
          </a:p>
          <a:p>
            <a:endParaRPr lang="en-US" dirty="0"/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51478091"/>
              </p:ext>
            </p:extLst>
          </p:nvPr>
        </p:nvGraphicFramePr>
        <p:xfrm>
          <a:off x="3556380" y="1903081"/>
          <a:ext cx="2602230" cy="1963102"/>
        </p:xfrm>
        <a:graphic>
          <a:graphicData uri="http://schemas.openxmlformats.org/drawingml/2006/table">
            <a:tbl>
              <a:tblPr/>
              <a:tblGrid>
                <a:gridCol w="12991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030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00062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kumimoji="0" lang="en-US" sz="24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Times New Roman" pitchFamily="18" charset="0"/>
                          <a:sym typeface="Symbol" pitchFamily="18" charset="2"/>
                        </a:rPr>
                        <a:t>Edge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kumimoji="0" lang="en-US" sz="24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Times New Roman" pitchFamily="18" charset="0"/>
                          <a:sym typeface="Symbol" pitchFamily="18" charset="2"/>
                        </a:rPr>
                        <a:t>Endpoint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993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>
                          <a:latin typeface="+mn-lt"/>
                          <a:ea typeface="MS Mincho"/>
                        </a:rPr>
                        <a:t>e</a:t>
                      </a:r>
                      <a:r>
                        <a:rPr lang="en-US" sz="2400" baseline="-25000" dirty="0">
                          <a:latin typeface="+mn-lt"/>
                          <a:ea typeface="MS Mincho"/>
                        </a:rPr>
                        <a:t>1</a:t>
                      </a:r>
                      <a:endParaRPr lang="en-US" sz="2400" dirty="0">
                        <a:latin typeface="+mn-lt"/>
                        <a:ea typeface="MS Mincho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400" kern="1200" dirty="0">
                          <a:solidFill>
                            <a:schemeClr val="tx1"/>
                          </a:solidFill>
                          <a:latin typeface="+mn-lt"/>
                          <a:ea typeface="MS Mincho"/>
                          <a:cs typeface="+mn-cs"/>
                        </a:rPr>
                        <a:t>{</a:t>
                      </a:r>
                      <a:r>
                        <a:rPr lang="en-US" sz="2400" dirty="0">
                          <a:latin typeface="+mn-lt"/>
                          <a:ea typeface="MS Mincho"/>
                        </a:rPr>
                        <a:t>v</a:t>
                      </a:r>
                      <a:r>
                        <a:rPr lang="en-US" sz="2400" baseline="-25000" dirty="0">
                          <a:latin typeface="+mn-lt"/>
                          <a:ea typeface="MS Mincho"/>
                        </a:rPr>
                        <a:t>1</a:t>
                      </a:r>
                      <a:r>
                        <a:rPr kumimoji="0" lang="en-US" sz="2400" kern="1200" dirty="0">
                          <a:solidFill>
                            <a:schemeClr val="tx1"/>
                          </a:solidFill>
                          <a:latin typeface="+mn-lt"/>
                          <a:ea typeface="MS Mincho"/>
                          <a:cs typeface="+mn-cs"/>
                        </a:rPr>
                        <a:t>}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993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>
                          <a:latin typeface="+mn-lt"/>
                          <a:ea typeface="MS Mincho"/>
                        </a:rPr>
                        <a:t>e</a:t>
                      </a:r>
                      <a:r>
                        <a:rPr kumimoji="0" lang="en-US" sz="2400" kern="1200" baseline="-25000" dirty="0">
                          <a:solidFill>
                            <a:schemeClr val="tx1"/>
                          </a:solidFill>
                          <a:latin typeface="+mn-lt"/>
                          <a:ea typeface="MS Mincho"/>
                          <a:cs typeface="+mn-cs"/>
                        </a:rPr>
                        <a:t>2</a:t>
                      </a:r>
                      <a:endParaRPr lang="en-US" sz="2400" dirty="0">
                        <a:latin typeface="+mn-lt"/>
                        <a:ea typeface="MS Mincho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kumimoji="0" lang="en-US" sz="2400" kern="1200" dirty="0">
                          <a:solidFill>
                            <a:schemeClr val="tx1"/>
                          </a:solidFill>
                          <a:latin typeface="+mn-lt"/>
                          <a:ea typeface="MS Mincho"/>
                          <a:cs typeface="+mn-cs"/>
                        </a:rPr>
                        <a:t>{</a:t>
                      </a:r>
                      <a:r>
                        <a:rPr lang="en-US" sz="2400" dirty="0">
                          <a:latin typeface="+mn-lt"/>
                          <a:ea typeface="MS Mincho"/>
                        </a:rPr>
                        <a:t>v</a:t>
                      </a:r>
                      <a:r>
                        <a:rPr lang="en-US" sz="2400" baseline="-25000" dirty="0">
                          <a:latin typeface="+mn-lt"/>
                          <a:ea typeface="MS Mincho"/>
                        </a:rPr>
                        <a:t>2</a:t>
                      </a:r>
                      <a:r>
                        <a:rPr kumimoji="0" lang="en-US" sz="2400" kern="1200" dirty="0">
                          <a:solidFill>
                            <a:schemeClr val="tx1"/>
                          </a:solidFill>
                          <a:latin typeface="+mn-lt"/>
                          <a:ea typeface="MS Mincho"/>
                          <a:cs typeface="+mn-cs"/>
                        </a:rPr>
                        <a:t>,</a:t>
                      </a:r>
                      <a:r>
                        <a:rPr lang="en-US" sz="2400" dirty="0">
                          <a:latin typeface="+mn-lt"/>
                          <a:ea typeface="MS Mincho"/>
                        </a:rPr>
                        <a:t> v</a:t>
                      </a:r>
                      <a:r>
                        <a:rPr lang="en-US" sz="2400" baseline="-25000" dirty="0">
                          <a:latin typeface="+mn-lt"/>
                          <a:ea typeface="MS Mincho"/>
                        </a:rPr>
                        <a:t>3</a:t>
                      </a:r>
                      <a:r>
                        <a:rPr kumimoji="0" lang="en-US" sz="2400" kern="1200" dirty="0">
                          <a:solidFill>
                            <a:schemeClr val="tx1"/>
                          </a:solidFill>
                          <a:latin typeface="+mn-lt"/>
                          <a:ea typeface="MS Mincho"/>
                          <a:cs typeface="+mn-cs"/>
                        </a:rPr>
                        <a:t>}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993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>
                          <a:latin typeface="+mn-lt"/>
                          <a:ea typeface="MS Mincho"/>
                        </a:rPr>
                        <a:t>e</a:t>
                      </a:r>
                      <a:r>
                        <a:rPr kumimoji="0" lang="en-US" sz="2400" kern="1200" baseline="-25000" dirty="0">
                          <a:solidFill>
                            <a:schemeClr val="tx1"/>
                          </a:solidFill>
                          <a:latin typeface="+mn-lt"/>
                          <a:ea typeface="MS Mincho"/>
                          <a:cs typeface="+mn-cs"/>
                        </a:rPr>
                        <a:t>3</a:t>
                      </a:r>
                      <a:endParaRPr lang="en-US" sz="2400" dirty="0">
                        <a:latin typeface="+mn-lt"/>
                        <a:ea typeface="MS Mincho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kumimoji="0" lang="en-US" sz="2400" kern="1200" dirty="0">
                          <a:solidFill>
                            <a:schemeClr val="tx1"/>
                          </a:solidFill>
                          <a:latin typeface="+mn-lt"/>
                          <a:ea typeface="MS Mincho"/>
                          <a:cs typeface="+mn-cs"/>
                        </a:rPr>
                        <a:t>{</a:t>
                      </a:r>
                      <a:r>
                        <a:rPr lang="en-US" sz="2400" dirty="0">
                          <a:latin typeface="+mn-lt"/>
                          <a:ea typeface="MS Mincho"/>
                        </a:rPr>
                        <a:t>v</a:t>
                      </a:r>
                      <a:r>
                        <a:rPr lang="en-US" sz="2400" baseline="-25000" dirty="0">
                          <a:latin typeface="+mn-lt"/>
                          <a:ea typeface="MS Mincho"/>
                        </a:rPr>
                        <a:t>2</a:t>
                      </a:r>
                      <a:r>
                        <a:rPr kumimoji="0" lang="en-US" sz="2400" kern="1200" dirty="0">
                          <a:solidFill>
                            <a:schemeClr val="tx1"/>
                          </a:solidFill>
                          <a:latin typeface="+mn-lt"/>
                          <a:ea typeface="MS Mincho"/>
                          <a:cs typeface="+mn-cs"/>
                        </a:rPr>
                        <a:t>,</a:t>
                      </a:r>
                      <a:r>
                        <a:rPr lang="en-US" sz="2400" dirty="0">
                          <a:latin typeface="+mn-lt"/>
                          <a:ea typeface="MS Mincho"/>
                        </a:rPr>
                        <a:t> v</a:t>
                      </a:r>
                      <a:r>
                        <a:rPr lang="en-US" sz="2400" baseline="-25000" dirty="0">
                          <a:latin typeface="+mn-lt"/>
                          <a:ea typeface="MS Mincho"/>
                        </a:rPr>
                        <a:t>3</a:t>
                      </a:r>
                      <a:r>
                        <a:rPr kumimoji="0" lang="en-US" sz="2400" kern="1200" dirty="0">
                          <a:solidFill>
                            <a:schemeClr val="tx1"/>
                          </a:solidFill>
                          <a:latin typeface="+mn-lt"/>
                          <a:ea typeface="MS Mincho"/>
                          <a:cs typeface="+mn-cs"/>
                        </a:rPr>
                        <a:t>}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993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>
                          <a:latin typeface="+mn-lt"/>
                          <a:ea typeface="MS Mincho"/>
                        </a:rPr>
                        <a:t>e</a:t>
                      </a:r>
                      <a:r>
                        <a:rPr kumimoji="0" lang="en-US" sz="2400" kern="1200" baseline="-25000" dirty="0">
                          <a:solidFill>
                            <a:schemeClr val="tx1"/>
                          </a:solidFill>
                          <a:latin typeface="+mn-lt"/>
                          <a:ea typeface="MS Mincho"/>
                          <a:cs typeface="+mn-cs"/>
                        </a:rPr>
                        <a:t>4</a:t>
                      </a:r>
                      <a:endParaRPr lang="en-US" sz="2400" dirty="0">
                        <a:latin typeface="+mn-lt"/>
                        <a:ea typeface="MS Mincho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kumimoji="0" lang="en-US" sz="2400" kern="1200" dirty="0">
                          <a:solidFill>
                            <a:schemeClr val="tx1"/>
                          </a:solidFill>
                          <a:latin typeface="+mn-lt"/>
                          <a:ea typeface="MS Mincho"/>
                          <a:cs typeface="+mn-cs"/>
                        </a:rPr>
                        <a:t>{</a:t>
                      </a:r>
                      <a:r>
                        <a:rPr lang="en-US" sz="2400" dirty="0">
                          <a:latin typeface="+mn-lt"/>
                          <a:ea typeface="MS Mincho"/>
                        </a:rPr>
                        <a:t>v</a:t>
                      </a:r>
                      <a:r>
                        <a:rPr lang="en-US" sz="2400" baseline="-25000" dirty="0">
                          <a:latin typeface="+mn-lt"/>
                          <a:ea typeface="MS Mincho"/>
                        </a:rPr>
                        <a:t>1</a:t>
                      </a:r>
                      <a:r>
                        <a:rPr kumimoji="0" lang="en-US" sz="2400" kern="1200" dirty="0">
                          <a:solidFill>
                            <a:schemeClr val="tx1"/>
                          </a:solidFill>
                          <a:latin typeface="+mn-lt"/>
                          <a:ea typeface="MS Mincho"/>
                          <a:cs typeface="+mn-cs"/>
                        </a:rPr>
                        <a:t>,</a:t>
                      </a:r>
                      <a:r>
                        <a:rPr lang="en-US" sz="2400" dirty="0">
                          <a:latin typeface="+mn-lt"/>
                          <a:ea typeface="MS Mincho"/>
                        </a:rPr>
                        <a:t> v</a:t>
                      </a:r>
                      <a:r>
                        <a:rPr lang="en-US" sz="2400" baseline="-25000" dirty="0">
                          <a:latin typeface="+mn-lt"/>
                          <a:ea typeface="MS Mincho"/>
                        </a:rPr>
                        <a:t>5</a:t>
                      </a:r>
                      <a:r>
                        <a:rPr kumimoji="0" lang="en-US" sz="2400" kern="1200" dirty="0">
                          <a:solidFill>
                            <a:schemeClr val="tx1"/>
                          </a:solidFill>
                          <a:latin typeface="+mn-lt"/>
                          <a:ea typeface="MS Mincho"/>
                          <a:cs typeface="+mn-cs"/>
                        </a:rPr>
                        <a:t>}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pic>
        <p:nvPicPr>
          <p:cNvPr id="6" name="Picture 5">
            <a:extLst>
              <a:ext uri="{FF2B5EF4-FFF2-40B4-BE49-F238E27FC236}">
                <a16:creationId xmlns:a16="http://schemas.microsoft.com/office/drawing/2014/main" id="{DBBF2949-1C7D-44FA-9670-6F4A442FF27C}"/>
              </a:ext>
            </a:extLst>
          </p:cNvPr>
          <p:cNvPicPr/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556179" y="3722287"/>
            <a:ext cx="2860372" cy="2899872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b="1" u="sng" dirty="0">
                <a:solidFill>
                  <a:srgbClr val="0070C0"/>
                </a:solidFill>
              </a:rPr>
              <a:t>SIMPLE GRAPH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>
          <a:xfrm>
            <a:off x="493593" y="1249680"/>
            <a:ext cx="11325367" cy="51816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A </a:t>
            </a:r>
            <a:r>
              <a:rPr lang="en-US" dirty="0">
                <a:solidFill>
                  <a:srgbClr val="FF0000"/>
                </a:solidFill>
              </a:rPr>
              <a:t>simple graph</a:t>
            </a:r>
            <a:r>
              <a:rPr lang="en-US" dirty="0"/>
              <a:t> is a </a:t>
            </a:r>
            <a:r>
              <a:rPr lang="en-US" dirty="0">
                <a:solidFill>
                  <a:srgbClr val="FF0000"/>
                </a:solidFill>
              </a:rPr>
              <a:t>graph</a:t>
            </a:r>
            <a:r>
              <a:rPr lang="en-US" dirty="0"/>
              <a:t> that </a:t>
            </a:r>
            <a:r>
              <a:rPr lang="en-US" dirty="0">
                <a:solidFill>
                  <a:srgbClr val="FF0000"/>
                </a:solidFill>
              </a:rPr>
              <a:t>does not</a:t>
            </a:r>
            <a:r>
              <a:rPr lang="en-US" dirty="0"/>
              <a:t> have any </a:t>
            </a:r>
            <a:r>
              <a:rPr lang="en-US" dirty="0">
                <a:solidFill>
                  <a:srgbClr val="FF0000"/>
                </a:solidFill>
              </a:rPr>
              <a:t>loop</a:t>
            </a:r>
            <a:r>
              <a:rPr lang="en-US" dirty="0"/>
              <a:t> or </a:t>
            </a:r>
            <a:r>
              <a:rPr lang="en-US" dirty="0">
                <a:solidFill>
                  <a:srgbClr val="FF0000"/>
                </a:solidFill>
              </a:rPr>
              <a:t>parallel edges</a:t>
            </a:r>
            <a:r>
              <a:rPr lang="en-US" dirty="0"/>
              <a:t>.</a:t>
            </a:r>
          </a:p>
          <a:p>
            <a:pPr marL="0" indent="0">
              <a:buNone/>
            </a:pPr>
            <a:r>
              <a:rPr lang="en-US" b="1" u="sng" dirty="0">
                <a:solidFill>
                  <a:srgbClr val="0070C0"/>
                </a:solidFill>
              </a:rPr>
              <a:t>Example: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These are </a:t>
            </a:r>
            <a:r>
              <a:rPr lang="en-US" dirty="0">
                <a:solidFill>
                  <a:srgbClr val="FF0000"/>
                </a:solidFill>
              </a:rPr>
              <a:t>simple graphs, </a:t>
            </a:r>
            <a:r>
              <a:rPr lang="en-US" dirty="0"/>
              <a:t>each graph has 5 vertices and 4 edges.</a:t>
            </a:r>
          </a:p>
          <a:p>
            <a:pPr>
              <a:buNone/>
            </a:pPr>
            <a:r>
              <a:rPr lang="pt-BR" dirty="0"/>
              <a:t>			</a:t>
            </a:r>
            <a:r>
              <a:rPr lang="pt-BR" dirty="0">
                <a:solidFill>
                  <a:srgbClr val="FF0000"/>
                </a:solidFill>
              </a:rPr>
              <a:t>V(G)</a:t>
            </a:r>
            <a:r>
              <a:rPr lang="pt-BR" dirty="0"/>
              <a:t> = {v</a:t>
            </a:r>
            <a:r>
              <a:rPr lang="pt-BR" baseline="-25000" dirty="0"/>
              <a:t>1</a:t>
            </a:r>
            <a:r>
              <a:rPr lang="pt-BR" dirty="0"/>
              <a:t>, v</a:t>
            </a:r>
            <a:r>
              <a:rPr lang="pt-BR" baseline="-25000" dirty="0"/>
              <a:t>2</a:t>
            </a:r>
            <a:r>
              <a:rPr lang="pt-BR" dirty="0"/>
              <a:t>, v</a:t>
            </a:r>
            <a:r>
              <a:rPr lang="pt-BR" baseline="-25000" dirty="0"/>
              <a:t>3</a:t>
            </a:r>
            <a:r>
              <a:rPr lang="pt-BR" dirty="0"/>
              <a:t>, v</a:t>
            </a:r>
            <a:r>
              <a:rPr lang="pt-BR" baseline="-25000" dirty="0"/>
              <a:t>4</a:t>
            </a:r>
            <a:r>
              <a:rPr lang="pt-BR" dirty="0"/>
              <a:t>, v</a:t>
            </a:r>
            <a:r>
              <a:rPr lang="pt-BR" baseline="-25000" dirty="0"/>
              <a:t>5</a:t>
            </a:r>
            <a:r>
              <a:rPr lang="pt-BR" dirty="0"/>
              <a:t>}  &amp;  </a:t>
            </a:r>
            <a:r>
              <a:rPr lang="pt-BR" dirty="0">
                <a:solidFill>
                  <a:srgbClr val="FF0000"/>
                </a:solidFill>
              </a:rPr>
              <a:t>E(G)</a:t>
            </a:r>
            <a:r>
              <a:rPr lang="pt-BR" dirty="0"/>
              <a:t> = {e</a:t>
            </a:r>
            <a:r>
              <a:rPr lang="pt-BR" baseline="-25000" dirty="0"/>
              <a:t>1</a:t>
            </a:r>
            <a:r>
              <a:rPr lang="pt-BR" dirty="0"/>
              <a:t>, e</a:t>
            </a:r>
            <a:r>
              <a:rPr lang="pt-BR" baseline="-25000" dirty="0"/>
              <a:t>2</a:t>
            </a:r>
            <a:r>
              <a:rPr lang="pt-BR" dirty="0"/>
              <a:t>, e</a:t>
            </a:r>
            <a:r>
              <a:rPr lang="pt-BR" baseline="-25000" dirty="0"/>
              <a:t>3</a:t>
            </a:r>
            <a:r>
              <a:rPr lang="pt-BR" dirty="0"/>
              <a:t>, e</a:t>
            </a:r>
            <a:r>
              <a:rPr lang="pt-BR" baseline="-25000" dirty="0"/>
              <a:t>4</a:t>
            </a:r>
            <a:r>
              <a:rPr lang="pt-BR" dirty="0"/>
              <a:t>}</a:t>
            </a:r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pic>
        <p:nvPicPr>
          <p:cNvPr id="5" name="Picture 4"/>
          <p:cNvPicPr/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887040" y="2380130"/>
            <a:ext cx="3931920" cy="2651760"/>
          </a:xfrm>
          <a:prstGeom prst="rect">
            <a:avLst/>
          </a:prstGeom>
          <a:ln w="28575">
            <a:solidFill>
              <a:srgbClr val="E6369B"/>
            </a:solidFill>
          </a:ln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1C2FC88-7277-4800-8716-FB16792F33C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32865" y="2380130"/>
            <a:ext cx="5480303" cy="2651760"/>
          </a:xfrm>
          <a:prstGeom prst="rect">
            <a:avLst/>
          </a:prstGeom>
          <a:ln w="28575">
            <a:solidFill>
              <a:srgbClr val="E6369B"/>
            </a:solidFill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20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2000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7735" y="1"/>
            <a:ext cx="10515600" cy="777922"/>
          </a:xfrm>
        </p:spPr>
        <p:txBody>
          <a:bodyPr>
            <a:normAutofit/>
          </a:bodyPr>
          <a:lstStyle/>
          <a:p>
            <a:pPr algn="ctr"/>
            <a:r>
              <a:rPr lang="en-US" b="1" u="sng" dirty="0">
                <a:solidFill>
                  <a:srgbClr val="0070C0"/>
                </a:solidFill>
              </a:rPr>
              <a:t>EXERCISE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>
          <a:xfrm>
            <a:off x="607735" y="777923"/>
            <a:ext cx="11069472" cy="592312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/>
              <a:t>Draw all </a:t>
            </a:r>
            <a:r>
              <a:rPr lang="en-US" sz="2400" dirty="0">
                <a:solidFill>
                  <a:srgbClr val="FF0000"/>
                </a:solidFill>
              </a:rPr>
              <a:t>simple graphs</a:t>
            </a:r>
            <a:r>
              <a:rPr lang="en-US" sz="2400" dirty="0"/>
              <a:t> with the four vertices </a:t>
            </a:r>
            <a:r>
              <a:rPr lang="en-US" sz="2400" dirty="0">
                <a:solidFill>
                  <a:srgbClr val="FF0000"/>
                </a:solidFill>
              </a:rPr>
              <a:t>{u, v, w, x}</a:t>
            </a:r>
            <a:r>
              <a:rPr lang="en-US" sz="2400" dirty="0"/>
              <a:t> and two edges, one of which is </a:t>
            </a:r>
            <a:r>
              <a:rPr lang="en-US" sz="2400" dirty="0">
                <a:solidFill>
                  <a:srgbClr val="FF0000"/>
                </a:solidFill>
              </a:rPr>
              <a:t>{u, v}</a:t>
            </a:r>
            <a:r>
              <a:rPr lang="en-US" sz="2400" dirty="0"/>
              <a:t>.</a:t>
            </a:r>
          </a:p>
          <a:p>
            <a:pPr marL="0" indent="0">
              <a:buNone/>
            </a:pPr>
            <a:r>
              <a:rPr lang="en-US" sz="2400" b="1" u="sng" dirty="0">
                <a:solidFill>
                  <a:srgbClr val="0070C0"/>
                </a:solidFill>
                <a:latin typeface="+mj-lt"/>
                <a:ea typeface="+mj-ea"/>
                <a:cs typeface="+mj-cs"/>
              </a:rPr>
              <a:t>Solution:</a:t>
            </a:r>
          </a:p>
          <a:p>
            <a:pPr>
              <a:buNone/>
            </a:pPr>
            <a:r>
              <a:rPr lang="en-US" sz="2400" dirty="0"/>
              <a:t>	We are given four vertices </a:t>
            </a:r>
            <a:r>
              <a:rPr lang="en-US" sz="2400" dirty="0">
                <a:solidFill>
                  <a:srgbClr val="FF0000"/>
                </a:solidFill>
              </a:rPr>
              <a:t>{u, v, w, x}</a:t>
            </a:r>
            <a:r>
              <a:rPr lang="en-US" sz="2400" dirty="0"/>
              <a:t> and one edge is </a:t>
            </a:r>
            <a:r>
              <a:rPr lang="en-US" sz="2400" dirty="0">
                <a:solidFill>
                  <a:srgbClr val="FF0000"/>
                </a:solidFill>
              </a:rPr>
              <a:t>{u, v}</a:t>
            </a:r>
            <a:r>
              <a:rPr lang="en-US" sz="2400" dirty="0"/>
              <a:t>.</a:t>
            </a:r>
          </a:p>
          <a:p>
            <a:pPr>
              <a:buNone/>
            </a:pPr>
            <a:r>
              <a:rPr lang="en-US" sz="2400" dirty="0"/>
              <a:t>	Since we are interested in </a:t>
            </a:r>
            <a:r>
              <a:rPr lang="en-US" sz="2400" dirty="0">
                <a:solidFill>
                  <a:srgbClr val="FF0000"/>
                </a:solidFill>
              </a:rPr>
              <a:t>simple graph</a:t>
            </a:r>
            <a:r>
              <a:rPr lang="en-US" sz="2400" dirty="0"/>
              <a:t> so we cannot take </a:t>
            </a:r>
            <a:r>
              <a:rPr lang="en-US" sz="2400" dirty="0">
                <a:solidFill>
                  <a:srgbClr val="FF0000"/>
                </a:solidFill>
              </a:rPr>
              <a:t>{u, v}</a:t>
            </a:r>
            <a:r>
              <a:rPr lang="en-US" sz="2400" dirty="0"/>
              <a:t> again.</a:t>
            </a:r>
          </a:p>
          <a:p>
            <a:r>
              <a:rPr lang="en-US" sz="2400" dirty="0"/>
              <a:t>There are </a:t>
            </a:r>
            <a:r>
              <a:rPr lang="en-US" sz="2400" dirty="0">
                <a:solidFill>
                  <a:srgbClr val="FF0000"/>
                </a:solidFill>
              </a:rPr>
              <a:t>C(4,2) = 6</a:t>
            </a:r>
            <a:r>
              <a:rPr lang="en-US" sz="2400" dirty="0"/>
              <a:t> ways of choosing two vertices from 4 vertices. </a:t>
            </a:r>
          </a:p>
          <a:p>
            <a:r>
              <a:rPr lang="en-US" sz="2400" dirty="0"/>
              <a:t>These edges may be listed as:</a:t>
            </a:r>
          </a:p>
          <a:p>
            <a:pPr algn="ctr">
              <a:buNone/>
            </a:pPr>
            <a:r>
              <a:rPr lang="en-US" sz="2400" dirty="0"/>
              <a:t>	</a:t>
            </a:r>
            <a:r>
              <a:rPr lang="en-US" sz="2400" dirty="0">
                <a:solidFill>
                  <a:srgbClr val="FF0000"/>
                </a:solidFill>
              </a:rPr>
              <a:t>{u, v}, {u, w}, {u, x}, {v, w}, {v, x}, {w, x}</a:t>
            </a:r>
          </a:p>
          <a:p>
            <a:r>
              <a:rPr lang="en-US" sz="2400" dirty="0"/>
              <a:t>One edge of the graph is specified to be </a:t>
            </a:r>
            <a:r>
              <a:rPr lang="en-US" sz="2400" dirty="0">
                <a:solidFill>
                  <a:srgbClr val="FF0000"/>
                </a:solidFill>
              </a:rPr>
              <a:t>{u, v}</a:t>
            </a:r>
            <a:r>
              <a:rPr lang="en-US" sz="2400" dirty="0"/>
              <a:t>, so any of the remaining </a:t>
            </a:r>
            <a:r>
              <a:rPr lang="en-US" sz="2400" dirty="0">
                <a:solidFill>
                  <a:srgbClr val="FF0000"/>
                </a:solidFill>
              </a:rPr>
              <a:t>five</a:t>
            </a:r>
            <a:r>
              <a:rPr lang="en-US" sz="2400" dirty="0"/>
              <a:t> from this list may be chosen to be the second edge. </a:t>
            </a:r>
          </a:p>
          <a:p>
            <a:r>
              <a:rPr lang="en-US" sz="2400" dirty="0"/>
              <a:t>This required </a:t>
            </a:r>
            <a:r>
              <a:rPr lang="en-US" sz="2400" dirty="0">
                <a:solidFill>
                  <a:srgbClr val="FF0000"/>
                </a:solidFill>
              </a:rPr>
              <a:t>graphs</a:t>
            </a:r>
            <a:r>
              <a:rPr lang="en-US" sz="2400" dirty="0"/>
              <a:t> are: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en-US" dirty="0"/>
          </a:p>
          <a:p>
            <a:pPr>
              <a:buNone/>
            </a:pPr>
            <a:endParaRPr lang="en-US" dirty="0"/>
          </a:p>
          <a:p>
            <a:endParaRPr lang="en-US" dirty="0"/>
          </a:p>
        </p:txBody>
      </p:sp>
      <p:pic>
        <p:nvPicPr>
          <p:cNvPr id="7" name="Picture 6"/>
          <p:cNvPicPr/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438400" y="1371600"/>
            <a:ext cx="2286000" cy="1676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8" name="Picture 7"/>
          <p:cNvPicPr/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037160" y="1371600"/>
            <a:ext cx="1995488" cy="1905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9" name="Picture 8"/>
          <p:cNvPicPr/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7429500" y="1330656"/>
            <a:ext cx="2324100" cy="17935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" name="Picture 9"/>
          <p:cNvPicPr/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3657600" y="3638550"/>
            <a:ext cx="2362200" cy="1695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1" name="Picture 10"/>
          <p:cNvPicPr/>
          <p:nvPr/>
        </p:nvPicPr>
        <p:blipFill>
          <a:blip r:embed="rId6"/>
          <a:srcRect/>
          <a:stretch>
            <a:fillRect/>
          </a:stretch>
        </p:blipFill>
        <p:spPr bwMode="auto">
          <a:xfrm>
            <a:off x="6553200" y="3520441"/>
            <a:ext cx="1900519" cy="179180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3776" y="0"/>
            <a:ext cx="10515600" cy="1087162"/>
          </a:xfrm>
        </p:spPr>
        <p:txBody>
          <a:bodyPr>
            <a:normAutofit/>
          </a:bodyPr>
          <a:lstStyle/>
          <a:p>
            <a:pPr algn="ctr"/>
            <a:r>
              <a:rPr lang="en-US" b="1" u="sng" dirty="0">
                <a:solidFill>
                  <a:srgbClr val="0070C0"/>
                </a:solidFill>
              </a:rPr>
              <a:t>DEGREE OF A VERTEX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>
          <a:xfrm>
            <a:off x="1179576" y="1506071"/>
            <a:ext cx="9829800" cy="4264767"/>
          </a:xfrm>
        </p:spPr>
        <p:txBody>
          <a:bodyPr/>
          <a:lstStyle/>
          <a:p>
            <a:r>
              <a:rPr lang="en-US" dirty="0"/>
              <a:t>Let </a:t>
            </a:r>
            <a:r>
              <a:rPr lang="en-US" dirty="0">
                <a:solidFill>
                  <a:srgbClr val="FF0000"/>
                </a:solidFill>
              </a:rPr>
              <a:t>G</a:t>
            </a:r>
            <a:r>
              <a:rPr lang="en-US" dirty="0"/>
              <a:t> be a </a:t>
            </a:r>
            <a:r>
              <a:rPr lang="en-US" dirty="0">
                <a:solidFill>
                  <a:srgbClr val="FF0000"/>
                </a:solidFill>
              </a:rPr>
              <a:t>graph</a:t>
            </a:r>
            <a:r>
              <a:rPr lang="en-US" dirty="0"/>
              <a:t> and </a:t>
            </a:r>
            <a:r>
              <a:rPr lang="en-US" b="1" i="1" dirty="0">
                <a:solidFill>
                  <a:srgbClr val="FF0000"/>
                </a:solidFill>
              </a:rPr>
              <a:t>v</a:t>
            </a:r>
            <a:r>
              <a:rPr lang="en-US" dirty="0"/>
              <a:t> a </a:t>
            </a:r>
            <a:r>
              <a:rPr lang="en-US" dirty="0">
                <a:solidFill>
                  <a:srgbClr val="FF0000"/>
                </a:solidFill>
              </a:rPr>
              <a:t>vertex</a:t>
            </a:r>
            <a:r>
              <a:rPr lang="en-US" dirty="0"/>
              <a:t> of </a:t>
            </a:r>
            <a:r>
              <a:rPr lang="en-US" dirty="0">
                <a:solidFill>
                  <a:srgbClr val="FF0000"/>
                </a:solidFill>
              </a:rPr>
              <a:t>G</a:t>
            </a:r>
            <a:r>
              <a:rPr lang="en-US" dirty="0"/>
              <a:t>. The </a:t>
            </a:r>
            <a:r>
              <a:rPr lang="en-US" dirty="0">
                <a:solidFill>
                  <a:srgbClr val="FF0000"/>
                </a:solidFill>
              </a:rPr>
              <a:t>degree</a:t>
            </a:r>
            <a:r>
              <a:rPr lang="en-US" dirty="0"/>
              <a:t> of </a:t>
            </a:r>
            <a:r>
              <a:rPr lang="en-US" b="1" i="1" dirty="0">
                <a:solidFill>
                  <a:srgbClr val="FF0000"/>
                </a:solidFill>
              </a:rPr>
              <a:t>v</a:t>
            </a:r>
            <a:r>
              <a:rPr lang="en-US" dirty="0"/>
              <a:t>, denoted </a:t>
            </a:r>
            <a:r>
              <a:rPr lang="en-US" b="1" dirty="0">
                <a:solidFill>
                  <a:srgbClr val="FF0000"/>
                </a:solidFill>
              </a:rPr>
              <a:t>deg(</a:t>
            </a:r>
            <a:r>
              <a:rPr lang="en-US" b="1" i="1" dirty="0">
                <a:solidFill>
                  <a:srgbClr val="FF0000"/>
                </a:solidFill>
              </a:rPr>
              <a:t>v</a:t>
            </a:r>
            <a:r>
              <a:rPr lang="en-US" b="1" dirty="0">
                <a:solidFill>
                  <a:srgbClr val="FF0000"/>
                </a:solidFill>
              </a:rPr>
              <a:t>)</a:t>
            </a:r>
            <a:r>
              <a:rPr lang="en-US" b="1" dirty="0"/>
              <a:t>,</a:t>
            </a:r>
            <a:r>
              <a:rPr lang="en-US" dirty="0"/>
              <a:t> equals the number of </a:t>
            </a:r>
            <a:r>
              <a:rPr lang="en-US" dirty="0">
                <a:solidFill>
                  <a:srgbClr val="FF0000"/>
                </a:solidFill>
              </a:rPr>
              <a:t>edges</a:t>
            </a:r>
            <a:r>
              <a:rPr lang="en-US" dirty="0"/>
              <a:t> that are </a:t>
            </a:r>
            <a:r>
              <a:rPr lang="en-US" dirty="0">
                <a:solidFill>
                  <a:srgbClr val="FF0000"/>
                </a:solidFill>
              </a:rPr>
              <a:t>incident on </a:t>
            </a:r>
            <a:r>
              <a:rPr lang="en-US" b="1" i="1" dirty="0">
                <a:solidFill>
                  <a:srgbClr val="FF0000"/>
                </a:solidFill>
              </a:rPr>
              <a:t>v</a:t>
            </a:r>
            <a:r>
              <a:rPr lang="en-US" dirty="0"/>
              <a:t>, with an </a:t>
            </a:r>
            <a:r>
              <a:rPr lang="en-US" dirty="0">
                <a:solidFill>
                  <a:srgbClr val="FF0000"/>
                </a:solidFill>
              </a:rPr>
              <a:t>edge</a:t>
            </a:r>
            <a:r>
              <a:rPr lang="en-US" dirty="0"/>
              <a:t> that is a </a:t>
            </a:r>
            <a:r>
              <a:rPr lang="en-US" dirty="0">
                <a:solidFill>
                  <a:srgbClr val="FF0000"/>
                </a:solidFill>
              </a:rPr>
              <a:t>loop counted twice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/>
              <a:t>The</a:t>
            </a:r>
            <a:r>
              <a:rPr lang="en-US" b="1" dirty="0"/>
              <a:t> </a:t>
            </a:r>
            <a:r>
              <a:rPr lang="en-US" b="1" dirty="0">
                <a:solidFill>
                  <a:srgbClr val="FF0000"/>
                </a:solidFill>
              </a:rPr>
              <a:t>total degree</a:t>
            </a:r>
            <a:r>
              <a:rPr lang="en-US" dirty="0"/>
              <a:t> of </a:t>
            </a:r>
            <a:r>
              <a:rPr lang="en-US" dirty="0">
                <a:solidFill>
                  <a:srgbClr val="FF0000"/>
                </a:solidFill>
              </a:rPr>
              <a:t>G</a:t>
            </a:r>
            <a:r>
              <a:rPr lang="en-US" dirty="0"/>
              <a:t> is the sum of the </a:t>
            </a:r>
            <a:r>
              <a:rPr lang="en-US" dirty="0">
                <a:solidFill>
                  <a:srgbClr val="FF0000"/>
                </a:solidFill>
              </a:rPr>
              <a:t>degrees</a:t>
            </a:r>
            <a:r>
              <a:rPr lang="en-US" dirty="0"/>
              <a:t> of all the </a:t>
            </a:r>
            <a:r>
              <a:rPr lang="en-US" dirty="0">
                <a:solidFill>
                  <a:srgbClr val="FF0000"/>
                </a:solidFill>
              </a:rPr>
              <a:t>vertices</a:t>
            </a:r>
            <a:r>
              <a:rPr lang="en-US" dirty="0"/>
              <a:t> of </a:t>
            </a:r>
            <a:r>
              <a:rPr lang="en-US" dirty="0">
                <a:solidFill>
                  <a:srgbClr val="FF0000"/>
                </a:solidFill>
              </a:rPr>
              <a:t>G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/>
              <a:t>The </a:t>
            </a:r>
            <a:r>
              <a:rPr lang="en-US" b="1" dirty="0">
                <a:solidFill>
                  <a:srgbClr val="FF0000"/>
                </a:solidFill>
              </a:rPr>
              <a:t>degree</a:t>
            </a:r>
            <a:r>
              <a:rPr lang="en-US" dirty="0"/>
              <a:t> of a loop is counted twice.</a:t>
            </a:r>
          </a:p>
          <a:p>
            <a:endParaRPr lang="en-US" dirty="0"/>
          </a:p>
          <a:p>
            <a:endParaRPr lang="en-US" dirty="0">
              <a:solidFill>
                <a:srgbClr val="FF0000"/>
              </a:solidFill>
            </a:endParaRP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5708" y="-38101"/>
            <a:ext cx="10515600" cy="1143001"/>
          </a:xfrm>
        </p:spPr>
        <p:txBody>
          <a:bodyPr>
            <a:normAutofit/>
          </a:bodyPr>
          <a:lstStyle/>
          <a:p>
            <a:pPr algn="ctr"/>
            <a:r>
              <a:rPr lang="en-US" b="1" u="sng" dirty="0">
                <a:solidFill>
                  <a:srgbClr val="0070C0"/>
                </a:solidFill>
              </a:rPr>
              <a:t>EXAMPLE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>
          <a:xfrm>
            <a:off x="0" y="847165"/>
            <a:ext cx="12801600" cy="5504329"/>
          </a:xfrm>
        </p:spPr>
        <p:txBody>
          <a:bodyPr>
            <a:normAutofit/>
          </a:bodyPr>
          <a:lstStyle/>
          <a:p>
            <a:r>
              <a:rPr lang="en-US" dirty="0"/>
              <a:t>Find the degree of every </a:t>
            </a:r>
            <a:r>
              <a:rPr lang="en-US" dirty="0" err="1"/>
              <a:t>vetex</a:t>
            </a:r>
            <a:r>
              <a:rPr lang="en-US" dirty="0"/>
              <a:t> of the graph and the total degree of the graph shown</a:t>
            </a:r>
          </a:p>
          <a:p>
            <a:endParaRPr lang="en-US" dirty="0"/>
          </a:p>
          <a:p>
            <a:pPr lvl="1"/>
            <a:r>
              <a:rPr lang="en-US" dirty="0">
                <a:solidFill>
                  <a:srgbClr val="FF0000"/>
                </a:solidFill>
              </a:rPr>
              <a:t>deg (v</a:t>
            </a:r>
            <a:r>
              <a:rPr lang="en-US" baseline="-25000" dirty="0">
                <a:solidFill>
                  <a:srgbClr val="FF0000"/>
                </a:solidFill>
              </a:rPr>
              <a:t>1</a:t>
            </a:r>
            <a:r>
              <a:rPr lang="en-US" dirty="0">
                <a:solidFill>
                  <a:srgbClr val="FF0000"/>
                </a:solidFill>
              </a:rPr>
              <a:t>)</a:t>
            </a:r>
            <a:r>
              <a:rPr lang="en-US" dirty="0"/>
              <a:t> = </a:t>
            </a:r>
            <a:r>
              <a:rPr lang="en-US" dirty="0">
                <a:solidFill>
                  <a:srgbClr val="FF0000"/>
                </a:solidFill>
              </a:rPr>
              <a:t>0</a:t>
            </a:r>
            <a:r>
              <a:rPr lang="en-US" dirty="0"/>
              <a:t>, since </a:t>
            </a:r>
            <a:r>
              <a:rPr lang="en-US" dirty="0">
                <a:solidFill>
                  <a:srgbClr val="FF0000"/>
                </a:solidFill>
              </a:rPr>
              <a:t>v</a:t>
            </a:r>
            <a:r>
              <a:rPr lang="en-US" baseline="-25000" dirty="0">
                <a:solidFill>
                  <a:srgbClr val="FF0000"/>
                </a:solidFill>
              </a:rPr>
              <a:t>1</a:t>
            </a:r>
            <a:r>
              <a:rPr lang="en-US" dirty="0"/>
              <a:t> is </a:t>
            </a:r>
            <a:r>
              <a:rPr lang="en-US" dirty="0">
                <a:solidFill>
                  <a:srgbClr val="FF0000"/>
                </a:solidFill>
              </a:rPr>
              <a:t>isolated vertex</a:t>
            </a:r>
            <a:r>
              <a:rPr lang="en-US" dirty="0"/>
              <a:t>.</a:t>
            </a:r>
          </a:p>
          <a:p>
            <a:pPr lvl="1"/>
            <a:r>
              <a:rPr lang="en-US" dirty="0">
                <a:solidFill>
                  <a:srgbClr val="FF0000"/>
                </a:solidFill>
              </a:rPr>
              <a:t>deg (v</a:t>
            </a:r>
            <a:r>
              <a:rPr lang="en-US" baseline="-25000" dirty="0">
                <a:solidFill>
                  <a:srgbClr val="FF0000"/>
                </a:solidFill>
              </a:rPr>
              <a:t>2</a:t>
            </a:r>
            <a:r>
              <a:rPr lang="en-US" dirty="0">
                <a:solidFill>
                  <a:srgbClr val="FF0000"/>
                </a:solidFill>
              </a:rPr>
              <a:t>)</a:t>
            </a:r>
            <a:r>
              <a:rPr lang="en-US" dirty="0"/>
              <a:t> = </a:t>
            </a:r>
            <a:r>
              <a:rPr lang="en-US" dirty="0">
                <a:solidFill>
                  <a:srgbClr val="FF0000"/>
                </a:solidFill>
              </a:rPr>
              <a:t>2</a:t>
            </a:r>
            <a:r>
              <a:rPr lang="en-US" dirty="0"/>
              <a:t>, since </a:t>
            </a:r>
            <a:r>
              <a:rPr lang="en-US" dirty="0">
                <a:solidFill>
                  <a:srgbClr val="FF0000"/>
                </a:solidFill>
              </a:rPr>
              <a:t>v</a:t>
            </a:r>
            <a:r>
              <a:rPr lang="en-US" baseline="-25000" dirty="0">
                <a:solidFill>
                  <a:srgbClr val="FF0000"/>
                </a:solidFill>
              </a:rPr>
              <a:t>2</a:t>
            </a:r>
            <a:r>
              <a:rPr lang="en-US" dirty="0"/>
              <a:t> is </a:t>
            </a:r>
            <a:r>
              <a:rPr lang="en-US" dirty="0">
                <a:solidFill>
                  <a:srgbClr val="FF0000"/>
                </a:solidFill>
              </a:rPr>
              <a:t>incident</a:t>
            </a:r>
            <a:r>
              <a:rPr lang="en-US" dirty="0"/>
              <a:t> on </a:t>
            </a:r>
            <a:r>
              <a:rPr lang="en-US" dirty="0">
                <a:solidFill>
                  <a:srgbClr val="FF0000"/>
                </a:solidFill>
              </a:rPr>
              <a:t>e</a:t>
            </a:r>
            <a:r>
              <a:rPr lang="en-US" baseline="-25000" dirty="0">
                <a:solidFill>
                  <a:srgbClr val="FF0000"/>
                </a:solidFill>
              </a:rPr>
              <a:t>1</a:t>
            </a:r>
            <a:r>
              <a:rPr lang="en-US" dirty="0"/>
              <a:t> and </a:t>
            </a:r>
            <a:r>
              <a:rPr lang="en-US" dirty="0">
                <a:solidFill>
                  <a:srgbClr val="FF0000"/>
                </a:solidFill>
              </a:rPr>
              <a:t>e</a:t>
            </a:r>
            <a:r>
              <a:rPr lang="en-US" baseline="-25000" dirty="0">
                <a:solidFill>
                  <a:srgbClr val="FF0000"/>
                </a:solidFill>
              </a:rPr>
              <a:t>2</a:t>
            </a:r>
            <a:r>
              <a:rPr lang="en-US" dirty="0"/>
              <a:t>.</a:t>
            </a:r>
          </a:p>
          <a:p>
            <a:pPr lvl="1"/>
            <a:r>
              <a:rPr lang="en-US" dirty="0">
                <a:solidFill>
                  <a:srgbClr val="FF0000"/>
                </a:solidFill>
              </a:rPr>
              <a:t>deg (v</a:t>
            </a:r>
            <a:r>
              <a:rPr lang="en-US" baseline="-25000" dirty="0">
                <a:solidFill>
                  <a:srgbClr val="FF0000"/>
                </a:solidFill>
              </a:rPr>
              <a:t>3</a:t>
            </a:r>
            <a:r>
              <a:rPr lang="en-US" dirty="0">
                <a:solidFill>
                  <a:srgbClr val="FF0000"/>
                </a:solidFill>
              </a:rPr>
              <a:t>)</a:t>
            </a:r>
            <a:r>
              <a:rPr lang="en-US" dirty="0"/>
              <a:t> = </a:t>
            </a:r>
            <a:r>
              <a:rPr lang="en-US" dirty="0">
                <a:solidFill>
                  <a:srgbClr val="FF0000"/>
                </a:solidFill>
              </a:rPr>
              <a:t>4</a:t>
            </a:r>
            <a:r>
              <a:rPr lang="en-US" dirty="0"/>
              <a:t>, since </a:t>
            </a:r>
            <a:r>
              <a:rPr lang="en-US" dirty="0">
                <a:solidFill>
                  <a:srgbClr val="FF0000"/>
                </a:solidFill>
              </a:rPr>
              <a:t>v</a:t>
            </a:r>
            <a:r>
              <a:rPr lang="en-US" baseline="-25000" dirty="0">
                <a:solidFill>
                  <a:srgbClr val="FF0000"/>
                </a:solidFill>
              </a:rPr>
              <a:t>3</a:t>
            </a:r>
            <a:r>
              <a:rPr lang="en-US" dirty="0"/>
              <a:t> is </a:t>
            </a:r>
            <a:r>
              <a:rPr lang="en-US" dirty="0">
                <a:solidFill>
                  <a:srgbClr val="FF0000"/>
                </a:solidFill>
              </a:rPr>
              <a:t>incident</a:t>
            </a:r>
            <a:r>
              <a:rPr lang="en-US" dirty="0"/>
              <a:t> on </a:t>
            </a:r>
            <a:r>
              <a:rPr lang="en-US" dirty="0">
                <a:solidFill>
                  <a:srgbClr val="FF0000"/>
                </a:solidFill>
              </a:rPr>
              <a:t>e</a:t>
            </a:r>
            <a:r>
              <a:rPr lang="en-US" baseline="-25000" dirty="0">
                <a:solidFill>
                  <a:srgbClr val="FF0000"/>
                </a:solidFill>
              </a:rPr>
              <a:t>1</a:t>
            </a:r>
            <a:r>
              <a:rPr lang="en-US" dirty="0"/>
              <a:t>,</a:t>
            </a:r>
            <a:r>
              <a:rPr lang="en-US" dirty="0">
                <a:solidFill>
                  <a:srgbClr val="FF0000"/>
                </a:solidFill>
              </a:rPr>
              <a:t>e</a:t>
            </a:r>
            <a:r>
              <a:rPr lang="en-US" baseline="-25000" dirty="0">
                <a:solidFill>
                  <a:srgbClr val="FF0000"/>
                </a:solidFill>
              </a:rPr>
              <a:t>2</a:t>
            </a:r>
            <a:r>
              <a:rPr lang="en-US" dirty="0"/>
              <a:t> and the </a:t>
            </a:r>
            <a:r>
              <a:rPr lang="en-US" dirty="0">
                <a:solidFill>
                  <a:srgbClr val="FF0000"/>
                </a:solidFill>
              </a:rPr>
              <a:t>loop e</a:t>
            </a:r>
            <a:r>
              <a:rPr lang="en-US" baseline="-25000" dirty="0">
                <a:solidFill>
                  <a:srgbClr val="FF0000"/>
                </a:solidFill>
              </a:rPr>
              <a:t>3</a:t>
            </a:r>
            <a:r>
              <a:rPr lang="en-US" dirty="0"/>
              <a:t>.</a:t>
            </a:r>
          </a:p>
          <a:p>
            <a:pPr lvl="1"/>
            <a:r>
              <a:rPr lang="en-US" dirty="0">
                <a:solidFill>
                  <a:srgbClr val="FF0000"/>
                </a:solidFill>
              </a:rPr>
              <a:t>Total degree</a:t>
            </a:r>
            <a:r>
              <a:rPr lang="en-US" dirty="0"/>
              <a:t> of </a:t>
            </a:r>
            <a:r>
              <a:rPr lang="en-US" dirty="0">
                <a:solidFill>
                  <a:srgbClr val="FF0000"/>
                </a:solidFill>
              </a:rPr>
              <a:t>G</a:t>
            </a:r>
            <a:r>
              <a:rPr lang="en-US" dirty="0"/>
              <a:t> = </a:t>
            </a:r>
            <a:r>
              <a:rPr lang="en-US" dirty="0">
                <a:solidFill>
                  <a:srgbClr val="FF0000"/>
                </a:solidFill>
              </a:rPr>
              <a:t>deg(v</a:t>
            </a:r>
            <a:r>
              <a:rPr lang="en-US" baseline="-25000" dirty="0">
                <a:solidFill>
                  <a:srgbClr val="FF0000"/>
                </a:solidFill>
              </a:rPr>
              <a:t>1</a:t>
            </a:r>
            <a:r>
              <a:rPr lang="en-US" dirty="0">
                <a:solidFill>
                  <a:srgbClr val="FF0000"/>
                </a:solidFill>
              </a:rPr>
              <a:t>)</a:t>
            </a:r>
            <a:r>
              <a:rPr lang="en-US" dirty="0"/>
              <a:t> + </a:t>
            </a:r>
            <a:r>
              <a:rPr lang="en-US" dirty="0">
                <a:solidFill>
                  <a:srgbClr val="FF0000"/>
                </a:solidFill>
              </a:rPr>
              <a:t>deg(v</a:t>
            </a:r>
            <a:r>
              <a:rPr lang="en-US" baseline="-25000" dirty="0">
                <a:solidFill>
                  <a:srgbClr val="FF0000"/>
                </a:solidFill>
              </a:rPr>
              <a:t>2</a:t>
            </a:r>
            <a:r>
              <a:rPr lang="en-US" dirty="0">
                <a:solidFill>
                  <a:srgbClr val="FF0000"/>
                </a:solidFill>
              </a:rPr>
              <a:t>)</a:t>
            </a:r>
            <a:r>
              <a:rPr lang="en-US" dirty="0"/>
              <a:t> + </a:t>
            </a:r>
            <a:r>
              <a:rPr lang="en-US" dirty="0">
                <a:solidFill>
                  <a:srgbClr val="FF0000"/>
                </a:solidFill>
              </a:rPr>
              <a:t>deg(v</a:t>
            </a:r>
            <a:r>
              <a:rPr lang="en-US" baseline="-25000" dirty="0">
                <a:solidFill>
                  <a:srgbClr val="FF0000"/>
                </a:solidFill>
              </a:rPr>
              <a:t>3</a:t>
            </a:r>
            <a:r>
              <a:rPr lang="en-US" dirty="0">
                <a:solidFill>
                  <a:srgbClr val="FF0000"/>
                </a:solidFill>
              </a:rPr>
              <a:t>)</a:t>
            </a:r>
          </a:p>
          <a:p>
            <a:pPr>
              <a:buNone/>
            </a:pPr>
            <a:r>
              <a:rPr lang="en-US" dirty="0"/>
              <a:t>			        	   </a:t>
            </a:r>
            <a:r>
              <a:rPr lang="en-US" sz="2400" dirty="0"/>
              <a:t>= </a:t>
            </a:r>
            <a:r>
              <a:rPr lang="en-US" sz="2400" dirty="0">
                <a:solidFill>
                  <a:srgbClr val="FF0000"/>
                </a:solidFill>
              </a:rPr>
              <a:t>0</a:t>
            </a:r>
            <a:r>
              <a:rPr lang="en-US" sz="2400" dirty="0"/>
              <a:t> </a:t>
            </a:r>
            <a:r>
              <a:rPr lang="en-US" sz="2400" dirty="0">
                <a:solidFill>
                  <a:srgbClr val="FF0000"/>
                </a:solidFill>
              </a:rPr>
              <a:t>+ 2 + 4</a:t>
            </a:r>
            <a:r>
              <a:rPr lang="en-US" sz="2400" dirty="0"/>
              <a:t> = </a:t>
            </a:r>
            <a:r>
              <a:rPr lang="en-US" sz="2400" dirty="0">
                <a:solidFill>
                  <a:srgbClr val="FF0000"/>
                </a:solidFill>
              </a:rPr>
              <a:t>6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>
              <a:buNone/>
            </a:pPr>
            <a:endParaRPr lang="en-US" dirty="0"/>
          </a:p>
        </p:txBody>
      </p:sp>
      <p:pic>
        <p:nvPicPr>
          <p:cNvPr id="5" name="Picture 4"/>
          <p:cNvPicPr/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8928847" y="1319768"/>
            <a:ext cx="2260719" cy="366768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2628AC4-8494-40D6-BFB7-ED799DFB3C2B}"/>
              </a:ext>
            </a:extLst>
          </p:cNvPr>
          <p:cNvSpPr txBox="1"/>
          <p:nvPr/>
        </p:nvSpPr>
        <p:spPr>
          <a:xfrm>
            <a:off x="595032" y="4340269"/>
            <a:ext cx="139513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u="sng" dirty="0">
                <a:solidFill>
                  <a:srgbClr val="0070C0"/>
                </a:solidFill>
              </a:rPr>
              <a:t>NOTE</a:t>
            </a:r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9D4C049-151C-4ED9-BE8A-5E0F0FA023D0}"/>
              </a:ext>
            </a:extLst>
          </p:cNvPr>
          <p:cNvSpPr txBox="1"/>
          <p:nvPr/>
        </p:nvSpPr>
        <p:spPr>
          <a:xfrm>
            <a:off x="488934" y="4729718"/>
            <a:ext cx="10887278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/>
              <a:t>The </a:t>
            </a:r>
            <a:r>
              <a:rPr lang="en-US" sz="2000" dirty="0">
                <a:solidFill>
                  <a:srgbClr val="FF0000"/>
                </a:solidFill>
              </a:rPr>
              <a:t>total degree</a:t>
            </a:r>
            <a:r>
              <a:rPr lang="en-US" sz="2000" dirty="0"/>
              <a:t> of </a:t>
            </a:r>
            <a:r>
              <a:rPr lang="en-US" sz="2000" dirty="0">
                <a:solidFill>
                  <a:srgbClr val="FF0000"/>
                </a:solidFill>
              </a:rPr>
              <a:t>G</a:t>
            </a:r>
            <a:r>
              <a:rPr lang="en-US" sz="2000" dirty="0"/>
              <a:t>, which is </a:t>
            </a:r>
            <a:r>
              <a:rPr lang="en-US" sz="2000" dirty="0">
                <a:solidFill>
                  <a:srgbClr val="FF0000"/>
                </a:solidFill>
              </a:rPr>
              <a:t>6</a:t>
            </a:r>
            <a:r>
              <a:rPr lang="en-US" sz="2000" dirty="0"/>
              <a:t>, equals </a:t>
            </a:r>
            <a:r>
              <a:rPr lang="en-US" sz="2000" dirty="0">
                <a:solidFill>
                  <a:srgbClr val="FF0000"/>
                </a:solidFill>
              </a:rPr>
              <a:t>twice</a:t>
            </a:r>
            <a:r>
              <a:rPr lang="en-US" sz="2000" dirty="0"/>
              <a:t> the </a:t>
            </a:r>
            <a:r>
              <a:rPr lang="en-US" sz="2000" dirty="0">
                <a:solidFill>
                  <a:srgbClr val="FF0000"/>
                </a:solidFill>
              </a:rPr>
              <a:t>number</a:t>
            </a:r>
            <a:r>
              <a:rPr lang="en-US" sz="2000" dirty="0"/>
              <a:t> of </a:t>
            </a:r>
            <a:r>
              <a:rPr lang="en-US" sz="2000" dirty="0">
                <a:solidFill>
                  <a:srgbClr val="FF0000"/>
                </a:solidFill>
              </a:rPr>
              <a:t>edges</a:t>
            </a:r>
            <a:r>
              <a:rPr lang="en-US" sz="2000" dirty="0"/>
              <a:t> of </a:t>
            </a:r>
            <a:r>
              <a:rPr lang="en-US" sz="2000" dirty="0">
                <a:solidFill>
                  <a:srgbClr val="FF0000"/>
                </a:solidFill>
              </a:rPr>
              <a:t>G,</a:t>
            </a:r>
            <a:r>
              <a:rPr lang="en-US" sz="2000" dirty="0"/>
              <a:t> </a:t>
            </a:r>
          </a:p>
          <a:p>
            <a:r>
              <a:rPr lang="en-US" sz="2000" dirty="0"/>
              <a:t>which is </a:t>
            </a:r>
            <a:r>
              <a:rPr lang="en-US" sz="2000" dirty="0">
                <a:solidFill>
                  <a:srgbClr val="FF0000"/>
                </a:solidFill>
              </a:rPr>
              <a:t>3</a:t>
            </a:r>
            <a:r>
              <a:rPr lang="en-US" sz="2000" dirty="0"/>
              <a:t>. </a:t>
            </a:r>
            <a:r>
              <a:rPr lang="en-US" sz="2000" b="1" dirty="0"/>
              <a:t>	</a:t>
            </a:r>
            <a:endParaRPr lang="en-US" sz="2000" dirty="0"/>
          </a:p>
          <a:p>
            <a:pPr>
              <a:buNone/>
            </a:pPr>
            <a:endParaRPr lang="en-US" sz="2000" dirty="0"/>
          </a:p>
          <a:p>
            <a:r>
              <a:rPr lang="en-US" sz="2000" dirty="0"/>
              <a:t>This is always the case the </a:t>
            </a:r>
            <a:r>
              <a:rPr lang="en-US" sz="2000" dirty="0">
                <a:solidFill>
                  <a:srgbClr val="FF0000"/>
                </a:solidFill>
              </a:rPr>
              <a:t>total degree</a:t>
            </a:r>
            <a:r>
              <a:rPr lang="en-US" sz="2000" dirty="0"/>
              <a:t> of </a:t>
            </a:r>
            <a:r>
              <a:rPr lang="en-US" sz="2000" dirty="0">
                <a:solidFill>
                  <a:srgbClr val="FF0000"/>
                </a:solidFill>
              </a:rPr>
              <a:t>graph</a:t>
            </a:r>
            <a:r>
              <a:rPr lang="en-US" sz="2000" dirty="0"/>
              <a:t> is always </a:t>
            </a:r>
            <a:r>
              <a:rPr lang="en-US" sz="2000" dirty="0">
                <a:solidFill>
                  <a:srgbClr val="FF0000"/>
                </a:solidFill>
              </a:rPr>
              <a:t>twice</a:t>
            </a:r>
            <a:r>
              <a:rPr lang="en-US" sz="2000" dirty="0"/>
              <a:t> the </a:t>
            </a:r>
            <a:r>
              <a:rPr lang="en-US" sz="2000" dirty="0">
                <a:solidFill>
                  <a:srgbClr val="FF0000"/>
                </a:solidFill>
              </a:rPr>
              <a:t>number</a:t>
            </a:r>
            <a:r>
              <a:rPr lang="en-US" sz="2000" dirty="0"/>
              <a:t> of </a:t>
            </a:r>
            <a:r>
              <a:rPr lang="en-US" sz="2000" dirty="0">
                <a:solidFill>
                  <a:srgbClr val="FF0000"/>
                </a:solidFill>
              </a:rPr>
              <a:t>edges</a:t>
            </a:r>
            <a:r>
              <a:rPr lang="en-US" sz="2000" dirty="0"/>
              <a:t> in that </a:t>
            </a:r>
            <a:r>
              <a:rPr lang="en-US" sz="2000" dirty="0">
                <a:solidFill>
                  <a:srgbClr val="FF0000"/>
                </a:solidFill>
              </a:rPr>
              <a:t>graph</a:t>
            </a:r>
            <a:r>
              <a:rPr lang="en-US" sz="2000" dirty="0"/>
              <a:t>. This is actually the theorem called Handshaking Theorem.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20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20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20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20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/>
      <p:bldP spid="7" grpId="0"/>
      <p:bldP spid="9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6676" y="1"/>
            <a:ext cx="10515600" cy="1087162"/>
          </a:xfrm>
        </p:spPr>
        <p:txBody>
          <a:bodyPr>
            <a:normAutofit/>
          </a:bodyPr>
          <a:lstStyle/>
          <a:p>
            <a:pPr algn="ctr"/>
            <a:r>
              <a:rPr lang="en-US" b="1" u="sng" dirty="0">
                <a:solidFill>
                  <a:srgbClr val="0070C0"/>
                </a:solidFill>
              </a:rPr>
              <a:t>THE HANDSHAKING THEOREM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>
          <a:xfrm>
            <a:off x="1179576" y="1087163"/>
            <a:ext cx="9829800" cy="3859742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If </a:t>
            </a:r>
            <a:r>
              <a:rPr lang="en-US" dirty="0">
                <a:solidFill>
                  <a:srgbClr val="FF0000"/>
                </a:solidFill>
              </a:rPr>
              <a:t>G</a:t>
            </a:r>
            <a:r>
              <a:rPr lang="en-US" dirty="0"/>
              <a:t> is any </a:t>
            </a:r>
            <a:r>
              <a:rPr lang="en-US" dirty="0">
                <a:solidFill>
                  <a:srgbClr val="FF0000"/>
                </a:solidFill>
              </a:rPr>
              <a:t>graph</a:t>
            </a:r>
            <a:r>
              <a:rPr lang="en-US" dirty="0"/>
              <a:t>, then the sum of the </a:t>
            </a:r>
            <a:r>
              <a:rPr lang="en-US" dirty="0">
                <a:solidFill>
                  <a:srgbClr val="FF0000"/>
                </a:solidFill>
              </a:rPr>
              <a:t>degrees</a:t>
            </a:r>
            <a:r>
              <a:rPr lang="en-US" dirty="0"/>
              <a:t> of all the </a:t>
            </a:r>
            <a:r>
              <a:rPr lang="en-US" dirty="0">
                <a:solidFill>
                  <a:srgbClr val="FF0000"/>
                </a:solidFill>
              </a:rPr>
              <a:t>vertices</a:t>
            </a:r>
            <a:r>
              <a:rPr lang="en-US" dirty="0"/>
              <a:t> of </a:t>
            </a:r>
            <a:r>
              <a:rPr lang="en-US" dirty="0">
                <a:solidFill>
                  <a:srgbClr val="FF0000"/>
                </a:solidFill>
              </a:rPr>
              <a:t>G</a:t>
            </a:r>
            <a:r>
              <a:rPr lang="en-US" dirty="0"/>
              <a:t> equals twice the number of </a:t>
            </a:r>
            <a:r>
              <a:rPr lang="en-US" dirty="0">
                <a:solidFill>
                  <a:srgbClr val="FF0000"/>
                </a:solidFill>
              </a:rPr>
              <a:t>edges</a:t>
            </a:r>
            <a:r>
              <a:rPr lang="en-US" dirty="0"/>
              <a:t> of </a:t>
            </a:r>
            <a:r>
              <a:rPr lang="en-US" dirty="0">
                <a:solidFill>
                  <a:srgbClr val="FF0000"/>
                </a:solidFill>
              </a:rPr>
              <a:t>G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/>
              <a:t>Specifically, if the </a:t>
            </a:r>
            <a:r>
              <a:rPr lang="en-US" dirty="0">
                <a:solidFill>
                  <a:srgbClr val="FF0000"/>
                </a:solidFill>
              </a:rPr>
              <a:t>vertices</a:t>
            </a:r>
            <a:r>
              <a:rPr lang="en-US" dirty="0"/>
              <a:t> of </a:t>
            </a:r>
            <a:r>
              <a:rPr lang="en-US" dirty="0">
                <a:solidFill>
                  <a:srgbClr val="FF0000"/>
                </a:solidFill>
              </a:rPr>
              <a:t>G</a:t>
            </a:r>
            <a:r>
              <a:rPr lang="en-US" dirty="0"/>
              <a:t> are </a:t>
            </a:r>
            <a:r>
              <a:rPr lang="en-US" dirty="0">
                <a:solidFill>
                  <a:srgbClr val="FF0000"/>
                </a:solidFill>
              </a:rPr>
              <a:t>v</a:t>
            </a:r>
            <a:r>
              <a:rPr lang="en-US" b="1" baseline="-25000" dirty="0">
                <a:solidFill>
                  <a:srgbClr val="FF0000"/>
                </a:solidFill>
              </a:rPr>
              <a:t>1</a:t>
            </a:r>
            <a:r>
              <a:rPr lang="en-US" dirty="0">
                <a:solidFill>
                  <a:srgbClr val="FF0000"/>
                </a:solidFill>
              </a:rPr>
              <a:t>, v</a:t>
            </a:r>
            <a:r>
              <a:rPr lang="en-US" b="1" baseline="-25000" dirty="0">
                <a:solidFill>
                  <a:srgbClr val="FF0000"/>
                </a:solidFill>
              </a:rPr>
              <a:t>2</a:t>
            </a:r>
            <a:r>
              <a:rPr lang="en-US" dirty="0">
                <a:solidFill>
                  <a:srgbClr val="FF0000"/>
                </a:solidFill>
              </a:rPr>
              <a:t>, …, </a:t>
            </a:r>
            <a:r>
              <a:rPr lang="en-US" dirty="0" err="1">
                <a:solidFill>
                  <a:srgbClr val="FF0000"/>
                </a:solidFill>
              </a:rPr>
              <a:t>v</a:t>
            </a:r>
            <a:r>
              <a:rPr lang="en-US" b="1" baseline="-25000" dirty="0" err="1">
                <a:solidFill>
                  <a:srgbClr val="FF0000"/>
                </a:solidFill>
              </a:rPr>
              <a:t>n</a:t>
            </a:r>
            <a:r>
              <a:rPr lang="en-US" dirty="0"/>
              <a:t>, where </a:t>
            </a:r>
            <a:r>
              <a:rPr lang="en-US" dirty="0">
                <a:solidFill>
                  <a:srgbClr val="FF0000"/>
                </a:solidFill>
              </a:rPr>
              <a:t>n</a:t>
            </a:r>
            <a:r>
              <a:rPr lang="en-US" dirty="0"/>
              <a:t> is a </a:t>
            </a:r>
            <a:r>
              <a:rPr lang="en-US" dirty="0">
                <a:solidFill>
                  <a:srgbClr val="FF0000"/>
                </a:solidFill>
              </a:rPr>
              <a:t>positive integer</a:t>
            </a:r>
            <a:r>
              <a:rPr lang="en-US" dirty="0"/>
              <a:t>, then </a:t>
            </a:r>
          </a:p>
          <a:p>
            <a:endParaRPr lang="en-US" dirty="0"/>
          </a:p>
          <a:p>
            <a:r>
              <a:rPr lang="en-US" dirty="0"/>
              <a:t>The </a:t>
            </a:r>
            <a:r>
              <a:rPr lang="en-US" dirty="0">
                <a:solidFill>
                  <a:srgbClr val="FF0000"/>
                </a:solidFill>
              </a:rPr>
              <a:t>total degree</a:t>
            </a:r>
            <a:r>
              <a:rPr lang="en-US" dirty="0"/>
              <a:t> of</a:t>
            </a:r>
          </a:p>
          <a:p>
            <a:pPr>
              <a:buNone/>
            </a:pPr>
            <a:r>
              <a:rPr lang="en-US" dirty="0"/>
              <a:t>	 		</a:t>
            </a:r>
            <a:r>
              <a:rPr lang="en-US" dirty="0">
                <a:solidFill>
                  <a:srgbClr val="FF0000"/>
                </a:solidFill>
              </a:rPr>
              <a:t>G</a:t>
            </a:r>
            <a:r>
              <a:rPr lang="en-US" dirty="0"/>
              <a:t> = deg(v</a:t>
            </a:r>
            <a:r>
              <a:rPr lang="en-US" baseline="-25000" dirty="0"/>
              <a:t>1</a:t>
            </a:r>
            <a:r>
              <a:rPr lang="en-US" dirty="0"/>
              <a:t>) + deg(v</a:t>
            </a:r>
            <a:r>
              <a:rPr lang="en-US" baseline="-25000" dirty="0"/>
              <a:t>2</a:t>
            </a:r>
            <a:r>
              <a:rPr lang="en-US" dirty="0"/>
              <a:t>) + … + deg(</a:t>
            </a:r>
            <a:r>
              <a:rPr lang="en-US" dirty="0" err="1"/>
              <a:t>v</a:t>
            </a:r>
            <a:r>
              <a:rPr lang="en-US" baseline="-25000" dirty="0" err="1"/>
              <a:t>n</a:t>
            </a:r>
            <a:r>
              <a:rPr lang="en-US" dirty="0"/>
              <a:t>)</a:t>
            </a:r>
          </a:p>
          <a:p>
            <a:pPr>
              <a:buNone/>
            </a:pPr>
            <a:r>
              <a:rPr lang="en-US" dirty="0"/>
              <a:t>	   		    = </a:t>
            </a:r>
            <a:r>
              <a:rPr lang="en-US" dirty="0">
                <a:solidFill>
                  <a:srgbClr val="FF0000"/>
                </a:solidFill>
              </a:rPr>
              <a:t>2 </a:t>
            </a:r>
            <a:r>
              <a:rPr lang="en-US" b="1" dirty="0">
                <a:solidFill>
                  <a:srgbClr val="FF0000"/>
                </a:solidFill>
              </a:rPr>
              <a:t>.</a:t>
            </a:r>
            <a:r>
              <a:rPr lang="en-US" dirty="0">
                <a:solidFill>
                  <a:srgbClr val="FF0000"/>
                </a:solidFill>
              </a:rPr>
              <a:t> (the number of edges of G)</a:t>
            </a:r>
          </a:p>
          <a:p>
            <a:endParaRPr lang="en-US" sz="2600" dirty="0">
              <a:solidFill>
                <a:srgbClr val="002060"/>
              </a:solidFill>
            </a:endParaRPr>
          </a:p>
          <a:p>
            <a:endParaRPr lang="en-US" dirty="0"/>
          </a:p>
          <a:p>
            <a:pPr>
              <a:buNone/>
            </a:pPr>
            <a:endParaRPr lang="en-US" dirty="0"/>
          </a:p>
          <a:p>
            <a:pPr>
              <a:buNone/>
            </a:pPr>
            <a:endParaRPr lang="en-US" dirty="0"/>
          </a:p>
          <a:p>
            <a:pPr>
              <a:buNone/>
            </a:pPr>
            <a:endParaRPr lang="en-US" dirty="0"/>
          </a:p>
          <a:p>
            <a:pPr>
              <a:buNone/>
            </a:pPr>
            <a:endParaRPr lang="en-US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CCC5CEF3-396C-46DC-8A9F-4A1D1E004973}"/>
              </a:ext>
            </a:extLst>
          </p:cNvPr>
          <p:cNvSpPr txBox="1">
            <a:spLocks/>
          </p:cNvSpPr>
          <p:nvPr/>
        </p:nvSpPr>
        <p:spPr>
          <a:xfrm>
            <a:off x="836676" y="4748148"/>
            <a:ext cx="2779981" cy="77919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3200" b="1" u="sng" dirty="0">
                <a:solidFill>
                  <a:srgbClr val="0070C0"/>
                </a:solidFill>
              </a:rPr>
              <a:t>Corollary</a:t>
            </a:r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9AEED9C9-A02C-4433-87FF-1301536F9D93}"/>
              </a:ext>
            </a:extLst>
          </p:cNvPr>
          <p:cNvSpPr txBox="1">
            <a:spLocks/>
          </p:cNvSpPr>
          <p:nvPr/>
        </p:nvSpPr>
        <p:spPr>
          <a:xfrm>
            <a:off x="2877275" y="5633913"/>
            <a:ext cx="7305816" cy="8003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The</a:t>
            </a:r>
            <a:r>
              <a:rPr lang="en-US" dirty="0">
                <a:solidFill>
                  <a:srgbClr val="FF0000"/>
                </a:solidFill>
              </a:rPr>
              <a:t> total degree </a:t>
            </a:r>
            <a:r>
              <a:rPr lang="en-US" dirty="0"/>
              <a:t>of </a:t>
            </a:r>
            <a:r>
              <a:rPr lang="en-US" dirty="0">
                <a:solidFill>
                  <a:srgbClr val="FF0000"/>
                </a:solidFill>
              </a:rPr>
              <a:t>G</a:t>
            </a:r>
            <a:r>
              <a:rPr lang="en-US" dirty="0"/>
              <a:t> is an </a:t>
            </a:r>
            <a:r>
              <a:rPr lang="en-US" dirty="0">
                <a:solidFill>
                  <a:srgbClr val="FF0000"/>
                </a:solidFill>
              </a:rPr>
              <a:t>even number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20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/>
      <p:bldP spid="5" grpId="0"/>
      <p:bldP spid="6" grpId="0" build="p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b="1" u="sng" dirty="0">
                <a:solidFill>
                  <a:srgbClr val="0070C0"/>
                </a:solidFill>
              </a:rPr>
              <a:t>EXERCISE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Draw a </a:t>
            </a:r>
            <a:r>
              <a:rPr lang="en-US" dirty="0">
                <a:solidFill>
                  <a:srgbClr val="FF0000"/>
                </a:solidFill>
              </a:rPr>
              <a:t>graph</a:t>
            </a:r>
            <a:r>
              <a:rPr lang="en-US" dirty="0"/>
              <a:t> with the specified properties or explain why no such </a:t>
            </a:r>
            <a:r>
              <a:rPr lang="en-US" dirty="0">
                <a:solidFill>
                  <a:srgbClr val="FF0000"/>
                </a:solidFill>
              </a:rPr>
              <a:t>graph</a:t>
            </a:r>
            <a:r>
              <a:rPr lang="en-US" dirty="0"/>
              <a:t> exists.</a:t>
            </a:r>
          </a:p>
          <a:p>
            <a:endParaRPr lang="en-US" dirty="0"/>
          </a:p>
          <a:p>
            <a:pPr>
              <a:buNone/>
            </a:pPr>
            <a:r>
              <a:rPr lang="en-US" dirty="0"/>
              <a:t>	</a:t>
            </a:r>
            <a:r>
              <a:rPr lang="en-US" b="1" dirty="0">
                <a:solidFill>
                  <a:srgbClr val="249C2F"/>
                </a:solidFill>
              </a:rPr>
              <a:t>(</a:t>
            </a:r>
            <a:r>
              <a:rPr lang="en-US" b="1" dirty="0" err="1">
                <a:solidFill>
                  <a:srgbClr val="249C2F"/>
                </a:solidFill>
              </a:rPr>
              <a:t>i</a:t>
            </a:r>
            <a:r>
              <a:rPr lang="en-US" b="1" dirty="0">
                <a:solidFill>
                  <a:srgbClr val="249C2F"/>
                </a:solidFill>
              </a:rPr>
              <a:t>)</a:t>
            </a:r>
            <a:r>
              <a:rPr lang="en-US" dirty="0"/>
              <a:t>  Graph with </a:t>
            </a:r>
            <a:r>
              <a:rPr lang="en-US" dirty="0">
                <a:solidFill>
                  <a:srgbClr val="FF0000"/>
                </a:solidFill>
              </a:rPr>
              <a:t>four vertices</a:t>
            </a:r>
            <a:r>
              <a:rPr lang="en-US" dirty="0"/>
              <a:t> of </a:t>
            </a:r>
            <a:r>
              <a:rPr lang="en-US" dirty="0">
                <a:solidFill>
                  <a:srgbClr val="FF0000"/>
                </a:solidFill>
              </a:rPr>
              <a:t>degrees 1, 2, 3</a:t>
            </a:r>
            <a:r>
              <a:rPr lang="en-US" dirty="0"/>
              <a:t> and </a:t>
            </a:r>
            <a:r>
              <a:rPr lang="en-US" dirty="0">
                <a:solidFill>
                  <a:srgbClr val="FF0000"/>
                </a:solidFill>
              </a:rPr>
              <a:t>3</a:t>
            </a:r>
          </a:p>
          <a:p>
            <a:pPr>
              <a:buNone/>
            </a:pPr>
            <a:r>
              <a:rPr lang="en-US" dirty="0"/>
              <a:t>	</a:t>
            </a:r>
            <a:r>
              <a:rPr lang="en-US" b="1" dirty="0">
                <a:solidFill>
                  <a:srgbClr val="249C2F"/>
                </a:solidFill>
              </a:rPr>
              <a:t>(ii)</a:t>
            </a:r>
            <a:r>
              <a:rPr lang="en-US" dirty="0"/>
              <a:t> Graph with </a:t>
            </a:r>
            <a:r>
              <a:rPr lang="en-US" dirty="0">
                <a:solidFill>
                  <a:srgbClr val="FF0000"/>
                </a:solidFill>
              </a:rPr>
              <a:t>four vertices</a:t>
            </a:r>
            <a:r>
              <a:rPr lang="en-US" dirty="0"/>
              <a:t> of </a:t>
            </a:r>
            <a:r>
              <a:rPr lang="en-US" dirty="0">
                <a:solidFill>
                  <a:srgbClr val="FF0000"/>
                </a:solidFill>
              </a:rPr>
              <a:t>degrees 1, 2, 3</a:t>
            </a:r>
            <a:r>
              <a:rPr lang="en-US" dirty="0"/>
              <a:t> and </a:t>
            </a:r>
            <a:r>
              <a:rPr lang="en-US" dirty="0">
                <a:solidFill>
                  <a:srgbClr val="FF0000"/>
                </a:solidFill>
              </a:rPr>
              <a:t>4</a:t>
            </a:r>
          </a:p>
          <a:p>
            <a:pPr>
              <a:buNone/>
            </a:pPr>
            <a:r>
              <a:rPr lang="en-US" dirty="0"/>
              <a:t>	</a:t>
            </a:r>
            <a:r>
              <a:rPr lang="en-US" b="1" dirty="0">
                <a:solidFill>
                  <a:srgbClr val="249C2F"/>
                </a:solidFill>
              </a:rPr>
              <a:t>(iii)</a:t>
            </a:r>
            <a:r>
              <a:rPr lang="en-US" dirty="0"/>
              <a:t> </a:t>
            </a:r>
            <a:r>
              <a:rPr lang="en-US" dirty="0">
                <a:solidFill>
                  <a:srgbClr val="FF0000"/>
                </a:solidFill>
              </a:rPr>
              <a:t>Simple graph</a:t>
            </a:r>
            <a:r>
              <a:rPr lang="en-US" dirty="0"/>
              <a:t> with </a:t>
            </a:r>
            <a:r>
              <a:rPr lang="en-US" dirty="0">
                <a:solidFill>
                  <a:srgbClr val="FF0000"/>
                </a:solidFill>
              </a:rPr>
              <a:t>four vertices</a:t>
            </a:r>
            <a:r>
              <a:rPr lang="en-US" dirty="0"/>
              <a:t> of </a:t>
            </a:r>
            <a:r>
              <a:rPr lang="en-US" dirty="0">
                <a:solidFill>
                  <a:srgbClr val="FF0000"/>
                </a:solidFill>
              </a:rPr>
              <a:t>degrees 1, 2, 3</a:t>
            </a:r>
            <a:r>
              <a:rPr lang="en-US" dirty="0"/>
              <a:t> and    </a:t>
            </a:r>
          </a:p>
          <a:p>
            <a:pPr>
              <a:buNone/>
            </a:pPr>
            <a:r>
              <a:rPr lang="en-US" dirty="0"/>
              <a:t>          </a:t>
            </a:r>
            <a:r>
              <a:rPr lang="en-US" dirty="0">
                <a:solidFill>
                  <a:srgbClr val="FF0000"/>
                </a:solidFill>
              </a:rPr>
              <a:t>4.</a:t>
            </a: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20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4761" y="0"/>
            <a:ext cx="10515600" cy="722037"/>
          </a:xfrm>
        </p:spPr>
        <p:txBody>
          <a:bodyPr>
            <a:noAutofit/>
          </a:bodyPr>
          <a:lstStyle/>
          <a:p>
            <a:pPr algn="ctr"/>
            <a:r>
              <a:rPr lang="en-US" b="1" u="sng" dirty="0">
                <a:solidFill>
                  <a:srgbClr val="0070C0"/>
                </a:solidFill>
              </a:rPr>
              <a:t>Solution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>
          <a:xfrm>
            <a:off x="584761" y="722037"/>
            <a:ext cx="9829800" cy="2089402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2400" b="1" dirty="0">
                <a:solidFill>
                  <a:srgbClr val="249C2F"/>
                </a:solidFill>
              </a:rPr>
              <a:t>(</a:t>
            </a:r>
            <a:r>
              <a:rPr lang="en-US" sz="2400" b="1" dirty="0" err="1">
                <a:solidFill>
                  <a:srgbClr val="249C2F"/>
                </a:solidFill>
              </a:rPr>
              <a:t>i</a:t>
            </a:r>
            <a:r>
              <a:rPr lang="en-US" sz="2400" b="1" dirty="0">
                <a:solidFill>
                  <a:srgbClr val="249C2F"/>
                </a:solidFill>
              </a:rPr>
              <a:t>)</a:t>
            </a:r>
            <a:r>
              <a:rPr lang="en-US" sz="2400" dirty="0"/>
              <a:t>  Graph with </a:t>
            </a:r>
            <a:r>
              <a:rPr lang="en-US" sz="2400" dirty="0">
                <a:solidFill>
                  <a:srgbClr val="FF0000"/>
                </a:solidFill>
              </a:rPr>
              <a:t>four vertices</a:t>
            </a:r>
            <a:r>
              <a:rPr lang="en-US" sz="2400" dirty="0"/>
              <a:t> of </a:t>
            </a:r>
            <a:r>
              <a:rPr lang="en-US" sz="2400" dirty="0">
                <a:solidFill>
                  <a:srgbClr val="FF0000"/>
                </a:solidFill>
              </a:rPr>
              <a:t>degrees 1, 2, 3</a:t>
            </a:r>
            <a:r>
              <a:rPr lang="en-US" sz="2400" dirty="0"/>
              <a:t> and </a:t>
            </a:r>
            <a:r>
              <a:rPr lang="en-US" sz="2400" dirty="0">
                <a:solidFill>
                  <a:srgbClr val="FF0000"/>
                </a:solidFill>
              </a:rPr>
              <a:t>3 </a:t>
            </a:r>
          </a:p>
          <a:p>
            <a:pPr>
              <a:buNone/>
            </a:pPr>
            <a:r>
              <a:rPr lang="en-US" sz="2400" b="1" dirty="0"/>
              <a:t>			</a:t>
            </a:r>
            <a:r>
              <a:rPr lang="en-US" sz="2400" dirty="0"/>
              <a:t>Total degree of graph = 1 + 2 + 3 + 3</a:t>
            </a:r>
          </a:p>
          <a:p>
            <a:pPr>
              <a:buNone/>
            </a:pPr>
            <a:r>
              <a:rPr lang="en-US" sz="2400" dirty="0"/>
              <a:t>	  		           	  = </a:t>
            </a:r>
            <a:r>
              <a:rPr lang="en-US" sz="2400" dirty="0">
                <a:solidFill>
                  <a:srgbClr val="FF0000"/>
                </a:solidFill>
              </a:rPr>
              <a:t>9 an odd integer</a:t>
            </a:r>
          </a:p>
          <a:p>
            <a:pPr>
              <a:buNone/>
            </a:pPr>
            <a:r>
              <a:rPr lang="en-US" sz="2400" dirty="0"/>
              <a:t>	Hence by </a:t>
            </a:r>
            <a:r>
              <a:rPr lang="en-US" sz="2400" dirty="0">
                <a:solidFill>
                  <a:srgbClr val="FF0000"/>
                </a:solidFill>
              </a:rPr>
              <a:t>Hand-Shaking Theorem</a:t>
            </a:r>
            <a:r>
              <a:rPr lang="en-US" sz="2400" dirty="0"/>
              <a:t>, first graph is not possible.</a:t>
            </a:r>
          </a:p>
          <a:p>
            <a:endParaRPr lang="en-US" sz="2400" dirty="0"/>
          </a:p>
          <a:p>
            <a:endParaRPr lang="en-US" sz="2400" dirty="0"/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97D463B6-5D31-4285-A2E7-5AAA4065B64E}"/>
              </a:ext>
            </a:extLst>
          </p:cNvPr>
          <p:cNvSpPr txBox="1">
            <a:spLocks/>
          </p:cNvSpPr>
          <p:nvPr/>
        </p:nvSpPr>
        <p:spPr>
          <a:xfrm>
            <a:off x="584761" y="3189326"/>
            <a:ext cx="11288792" cy="330700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Arial" panose="020B0604020202020204" pitchFamily="34" charset="0"/>
              <a:buNone/>
            </a:pPr>
            <a:r>
              <a:rPr lang="en-US" sz="2400" b="1" dirty="0">
                <a:solidFill>
                  <a:srgbClr val="249C2F"/>
                </a:solidFill>
              </a:rPr>
              <a:t>(ii)</a:t>
            </a:r>
            <a:r>
              <a:rPr lang="en-US" sz="2400" dirty="0"/>
              <a:t> Graph with </a:t>
            </a:r>
            <a:r>
              <a:rPr lang="en-US" sz="2400" dirty="0">
                <a:solidFill>
                  <a:srgbClr val="FF0000"/>
                </a:solidFill>
              </a:rPr>
              <a:t>four vertices</a:t>
            </a:r>
            <a:r>
              <a:rPr lang="en-US" sz="2400" dirty="0"/>
              <a:t> of </a:t>
            </a:r>
            <a:r>
              <a:rPr lang="en-US" sz="2400" dirty="0">
                <a:solidFill>
                  <a:srgbClr val="FF0000"/>
                </a:solidFill>
              </a:rPr>
              <a:t>degrees 1, 2, 3</a:t>
            </a:r>
            <a:r>
              <a:rPr lang="en-US" sz="2400" dirty="0"/>
              <a:t> and </a:t>
            </a:r>
            <a:r>
              <a:rPr lang="en-US" sz="2400" dirty="0">
                <a:solidFill>
                  <a:srgbClr val="FF0000"/>
                </a:solidFill>
              </a:rPr>
              <a:t>4</a:t>
            </a:r>
          </a:p>
          <a:p>
            <a:pPr>
              <a:buFont typeface="Arial" panose="020B0604020202020204" pitchFamily="34" charset="0"/>
              <a:buNone/>
            </a:pPr>
            <a:r>
              <a:rPr lang="en-US" sz="2400" dirty="0"/>
              <a:t>		Total degree of graph = 1 + 2 + 3 + 4</a:t>
            </a:r>
          </a:p>
          <a:p>
            <a:pPr>
              <a:buFont typeface="Arial" panose="020B0604020202020204" pitchFamily="34" charset="0"/>
              <a:buNone/>
            </a:pPr>
            <a:r>
              <a:rPr lang="en-US" sz="2400" dirty="0"/>
              <a:t>	  		           	               = </a:t>
            </a:r>
            <a:r>
              <a:rPr lang="en-US" sz="2400" dirty="0">
                <a:solidFill>
                  <a:srgbClr val="FF0000"/>
                </a:solidFill>
              </a:rPr>
              <a:t>10 an even integer</a:t>
            </a:r>
          </a:p>
          <a:p>
            <a:r>
              <a:rPr lang="en-US" sz="2400" dirty="0"/>
              <a:t>The vertices </a:t>
            </a:r>
            <a:r>
              <a:rPr lang="en-US" sz="2400" dirty="0">
                <a:solidFill>
                  <a:srgbClr val="FF0000"/>
                </a:solidFill>
              </a:rPr>
              <a:t>a</a:t>
            </a:r>
            <a:r>
              <a:rPr lang="en-US" sz="2400" dirty="0"/>
              <a:t>, </a:t>
            </a:r>
            <a:r>
              <a:rPr lang="en-US" sz="2400" dirty="0">
                <a:solidFill>
                  <a:srgbClr val="FF0000"/>
                </a:solidFill>
              </a:rPr>
              <a:t>b</a:t>
            </a:r>
            <a:r>
              <a:rPr lang="en-US" sz="2400" dirty="0"/>
              <a:t>, </a:t>
            </a:r>
            <a:r>
              <a:rPr lang="en-US" sz="2400" dirty="0">
                <a:solidFill>
                  <a:srgbClr val="FF0000"/>
                </a:solidFill>
              </a:rPr>
              <a:t>c</a:t>
            </a:r>
            <a:r>
              <a:rPr lang="en-US" sz="2400" dirty="0"/>
              <a:t>, </a:t>
            </a:r>
            <a:r>
              <a:rPr lang="en-US" sz="2400" dirty="0">
                <a:solidFill>
                  <a:srgbClr val="FF0000"/>
                </a:solidFill>
              </a:rPr>
              <a:t>d</a:t>
            </a:r>
            <a:r>
              <a:rPr lang="en-US" sz="2400" dirty="0"/>
              <a:t> have degrees </a:t>
            </a:r>
            <a:r>
              <a:rPr lang="en-US" sz="2400" dirty="0">
                <a:solidFill>
                  <a:srgbClr val="FF0000"/>
                </a:solidFill>
              </a:rPr>
              <a:t>1</a:t>
            </a:r>
            <a:r>
              <a:rPr lang="en-US" sz="2400" dirty="0"/>
              <a:t>, </a:t>
            </a:r>
            <a:r>
              <a:rPr lang="en-US" sz="2400" dirty="0">
                <a:solidFill>
                  <a:srgbClr val="FF0000"/>
                </a:solidFill>
              </a:rPr>
              <a:t>2</a:t>
            </a:r>
            <a:r>
              <a:rPr lang="en-US" sz="2400" dirty="0"/>
              <a:t>, </a:t>
            </a:r>
            <a:r>
              <a:rPr lang="en-US" sz="2400" dirty="0">
                <a:solidFill>
                  <a:srgbClr val="FF0000"/>
                </a:solidFill>
              </a:rPr>
              <a:t>3</a:t>
            </a:r>
            <a:r>
              <a:rPr lang="en-US" sz="2400" dirty="0"/>
              <a:t>, and </a:t>
            </a:r>
            <a:r>
              <a:rPr lang="en-US" sz="2400" dirty="0">
                <a:solidFill>
                  <a:srgbClr val="FF0000"/>
                </a:solidFill>
              </a:rPr>
              <a:t>4</a:t>
            </a:r>
            <a:r>
              <a:rPr lang="en-US" sz="2400" dirty="0"/>
              <a:t> respectively </a:t>
            </a:r>
          </a:p>
          <a:p>
            <a:pPr marL="0" indent="0">
              <a:buNone/>
            </a:pPr>
            <a:r>
              <a:rPr lang="en-US" sz="2400" dirty="0"/>
              <a:t>(i.e. graph exists).</a:t>
            </a:r>
          </a:p>
          <a:p>
            <a:pPr>
              <a:buFont typeface="Arial" panose="020B0604020202020204" pitchFamily="34" charset="0"/>
              <a:buNone/>
            </a:pPr>
            <a:r>
              <a:rPr lang="en-US" sz="2400" dirty="0"/>
              <a:t>			</a:t>
            </a:r>
            <a:r>
              <a:rPr lang="en-US" sz="2400" dirty="0">
                <a:solidFill>
                  <a:srgbClr val="FF0000"/>
                </a:solidFill>
              </a:rPr>
              <a:t>deg(a) </a:t>
            </a:r>
            <a:r>
              <a:rPr lang="en-US" sz="2400" dirty="0"/>
              <a:t>=</a:t>
            </a:r>
            <a:r>
              <a:rPr lang="en-US" sz="2400" dirty="0">
                <a:solidFill>
                  <a:srgbClr val="FF0000"/>
                </a:solidFill>
              </a:rPr>
              <a:t> 1</a:t>
            </a:r>
            <a:r>
              <a:rPr lang="en-US" sz="2400" dirty="0"/>
              <a:t>		</a:t>
            </a:r>
            <a:r>
              <a:rPr lang="en-US" sz="2400" dirty="0">
                <a:solidFill>
                  <a:srgbClr val="FF0000"/>
                </a:solidFill>
              </a:rPr>
              <a:t>deg(b) </a:t>
            </a:r>
            <a:r>
              <a:rPr lang="en-US" sz="2400" dirty="0"/>
              <a:t>=</a:t>
            </a:r>
            <a:r>
              <a:rPr lang="en-US" sz="2400" dirty="0">
                <a:solidFill>
                  <a:srgbClr val="FF0000"/>
                </a:solidFill>
              </a:rPr>
              <a:t> 2</a:t>
            </a:r>
          </a:p>
          <a:p>
            <a:pPr>
              <a:buFont typeface="Arial" panose="020B0604020202020204" pitchFamily="34" charset="0"/>
              <a:buNone/>
            </a:pPr>
            <a:r>
              <a:rPr lang="en-US" sz="2400" dirty="0"/>
              <a:t>			</a:t>
            </a:r>
            <a:r>
              <a:rPr lang="en-US" sz="2400" dirty="0">
                <a:solidFill>
                  <a:srgbClr val="FF0000"/>
                </a:solidFill>
              </a:rPr>
              <a:t>deg(c) </a:t>
            </a:r>
            <a:r>
              <a:rPr lang="en-US" sz="2400" dirty="0"/>
              <a:t>=</a:t>
            </a:r>
            <a:r>
              <a:rPr lang="en-US" sz="2400" dirty="0">
                <a:solidFill>
                  <a:srgbClr val="FF0000"/>
                </a:solidFill>
              </a:rPr>
              <a:t> 3</a:t>
            </a:r>
            <a:r>
              <a:rPr lang="en-US" sz="2400" dirty="0"/>
              <a:t>		</a:t>
            </a:r>
            <a:r>
              <a:rPr lang="en-US" sz="2400" dirty="0">
                <a:solidFill>
                  <a:srgbClr val="FF0000"/>
                </a:solidFill>
              </a:rPr>
              <a:t>deg(d) </a:t>
            </a:r>
            <a:r>
              <a:rPr lang="en-US" sz="2400" dirty="0"/>
              <a:t>=</a:t>
            </a:r>
            <a:r>
              <a:rPr lang="en-US" sz="2400" dirty="0">
                <a:solidFill>
                  <a:srgbClr val="FF0000"/>
                </a:solidFill>
              </a:rPr>
              <a:t> 4</a:t>
            </a:r>
          </a:p>
          <a:p>
            <a:endParaRPr lang="en-US" sz="24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B0084F9-E951-4E9D-BBB9-C3FF83A03054}"/>
              </a:ext>
            </a:extLst>
          </p:cNvPr>
          <p:cNvPicPr/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8986322" y="2334363"/>
            <a:ext cx="2564596" cy="208940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2A155E9-BF2D-47F6-8584-E8FA92D84624}"/>
              </a:ext>
            </a:extLst>
          </p:cNvPr>
          <p:cNvPicPr/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8986322" y="4571882"/>
            <a:ext cx="2620917" cy="208940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20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20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20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20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20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20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20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20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/>
      <p:bldP spid="5" grpId="0" uiExpand="1" build="p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>
          <a:xfrm>
            <a:off x="688256" y="819275"/>
            <a:ext cx="10175362" cy="5049262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2400" b="1" dirty="0">
                <a:solidFill>
                  <a:srgbClr val="249C2F"/>
                </a:solidFill>
              </a:rPr>
              <a:t>(iii)</a:t>
            </a:r>
            <a:r>
              <a:rPr lang="en-US" sz="2400" dirty="0"/>
              <a:t> </a:t>
            </a:r>
            <a:r>
              <a:rPr lang="en-US" sz="2400" dirty="0">
                <a:solidFill>
                  <a:srgbClr val="FF0000"/>
                </a:solidFill>
              </a:rPr>
              <a:t>Simple graph</a:t>
            </a:r>
            <a:r>
              <a:rPr lang="en-US" sz="2400" dirty="0"/>
              <a:t> with </a:t>
            </a:r>
            <a:r>
              <a:rPr lang="en-US" sz="2400" dirty="0">
                <a:solidFill>
                  <a:srgbClr val="FF0000"/>
                </a:solidFill>
              </a:rPr>
              <a:t>four vertices</a:t>
            </a:r>
            <a:r>
              <a:rPr lang="en-US" sz="2400" dirty="0"/>
              <a:t> of </a:t>
            </a:r>
            <a:r>
              <a:rPr lang="en-US" sz="2400" dirty="0">
                <a:solidFill>
                  <a:srgbClr val="FF0000"/>
                </a:solidFill>
              </a:rPr>
              <a:t>degrees 1, 2, 3</a:t>
            </a:r>
            <a:r>
              <a:rPr lang="en-US" sz="2400" dirty="0"/>
              <a:t>  and </a:t>
            </a:r>
            <a:r>
              <a:rPr lang="en-US" sz="2400" dirty="0">
                <a:solidFill>
                  <a:srgbClr val="FF0000"/>
                </a:solidFill>
              </a:rPr>
              <a:t>4</a:t>
            </a:r>
            <a:r>
              <a:rPr lang="en-US" sz="2400" dirty="0"/>
              <a:t>.</a:t>
            </a:r>
          </a:p>
          <a:p>
            <a:pPr>
              <a:buNone/>
            </a:pPr>
            <a:endParaRPr lang="en-US" sz="2400" dirty="0"/>
          </a:p>
          <a:p>
            <a:r>
              <a:rPr lang="en-US" sz="2400" dirty="0"/>
              <a:t>Suppose there was a </a:t>
            </a:r>
            <a:r>
              <a:rPr lang="en-US" sz="2400" dirty="0">
                <a:solidFill>
                  <a:srgbClr val="FF0000"/>
                </a:solidFill>
              </a:rPr>
              <a:t>simple graph</a:t>
            </a:r>
            <a:r>
              <a:rPr lang="en-US" sz="2400" dirty="0"/>
              <a:t> with four vertices of degrees </a:t>
            </a:r>
            <a:r>
              <a:rPr lang="en-US" sz="2400" dirty="0">
                <a:solidFill>
                  <a:srgbClr val="FF0000"/>
                </a:solidFill>
              </a:rPr>
              <a:t>1</a:t>
            </a:r>
            <a:r>
              <a:rPr lang="en-US" sz="2400" dirty="0"/>
              <a:t>, </a:t>
            </a:r>
            <a:r>
              <a:rPr lang="en-US" sz="2400" dirty="0">
                <a:solidFill>
                  <a:srgbClr val="FF0000"/>
                </a:solidFill>
              </a:rPr>
              <a:t>2</a:t>
            </a:r>
            <a:r>
              <a:rPr lang="en-US" sz="2400" dirty="0"/>
              <a:t>, </a:t>
            </a:r>
            <a:r>
              <a:rPr lang="en-US" sz="2400" dirty="0">
                <a:solidFill>
                  <a:srgbClr val="FF0000"/>
                </a:solidFill>
              </a:rPr>
              <a:t>3</a:t>
            </a:r>
            <a:r>
              <a:rPr lang="en-US" sz="2400" dirty="0"/>
              <a:t>, and </a:t>
            </a:r>
            <a:r>
              <a:rPr lang="en-US" sz="2400" dirty="0">
                <a:solidFill>
                  <a:srgbClr val="FF0000"/>
                </a:solidFill>
              </a:rPr>
              <a:t>4</a:t>
            </a:r>
            <a:r>
              <a:rPr lang="en-US" sz="2400" dirty="0"/>
              <a:t>. Then the </a:t>
            </a:r>
            <a:r>
              <a:rPr lang="en-US" sz="2400" dirty="0">
                <a:solidFill>
                  <a:srgbClr val="FF0000"/>
                </a:solidFill>
              </a:rPr>
              <a:t>vertex</a:t>
            </a:r>
            <a:r>
              <a:rPr lang="en-US" sz="2400" dirty="0"/>
              <a:t> of </a:t>
            </a:r>
            <a:r>
              <a:rPr lang="en-US" sz="2400" dirty="0">
                <a:solidFill>
                  <a:srgbClr val="FF0000"/>
                </a:solidFill>
              </a:rPr>
              <a:t>degree 4</a:t>
            </a:r>
            <a:r>
              <a:rPr lang="en-US" sz="2400" dirty="0"/>
              <a:t> would have to be connected by </a:t>
            </a:r>
            <a:r>
              <a:rPr lang="en-US" sz="2400" dirty="0">
                <a:solidFill>
                  <a:srgbClr val="FF0000"/>
                </a:solidFill>
              </a:rPr>
              <a:t>edges</a:t>
            </a:r>
            <a:r>
              <a:rPr lang="en-US" sz="2400" dirty="0"/>
              <a:t> to </a:t>
            </a:r>
            <a:r>
              <a:rPr lang="en-US" sz="2400" dirty="0">
                <a:solidFill>
                  <a:srgbClr val="FF0000"/>
                </a:solidFill>
              </a:rPr>
              <a:t>four distinct vertices</a:t>
            </a:r>
            <a:r>
              <a:rPr lang="en-US" sz="2400" dirty="0"/>
              <a:t> other than itself because of the assumption that the graph is simple (and hence has </a:t>
            </a:r>
            <a:r>
              <a:rPr lang="en-US" sz="2400" dirty="0">
                <a:solidFill>
                  <a:srgbClr val="FF0000"/>
                </a:solidFill>
              </a:rPr>
              <a:t>no loop</a:t>
            </a:r>
            <a:r>
              <a:rPr lang="en-US" sz="2400" dirty="0"/>
              <a:t> or </a:t>
            </a:r>
            <a:r>
              <a:rPr lang="en-US" sz="2400" dirty="0">
                <a:solidFill>
                  <a:srgbClr val="FF0000"/>
                </a:solidFill>
              </a:rPr>
              <a:t>parallel edges</a:t>
            </a:r>
            <a:r>
              <a:rPr lang="en-US" sz="2400" dirty="0"/>
              <a:t>.) This contradicts the assumption that the graph has four vertices in total. </a:t>
            </a:r>
          </a:p>
          <a:p>
            <a:endParaRPr lang="en-US" sz="2400" dirty="0"/>
          </a:p>
          <a:p>
            <a:r>
              <a:rPr lang="en-US" sz="2400" dirty="0"/>
              <a:t>Hence there is </a:t>
            </a:r>
            <a:r>
              <a:rPr lang="en-US" sz="2400" dirty="0">
                <a:solidFill>
                  <a:srgbClr val="FF0000"/>
                </a:solidFill>
              </a:rPr>
              <a:t>no simple graph</a:t>
            </a:r>
            <a:r>
              <a:rPr lang="en-US" sz="2400" dirty="0"/>
              <a:t> with </a:t>
            </a:r>
            <a:r>
              <a:rPr lang="en-US" sz="2400" dirty="0">
                <a:solidFill>
                  <a:srgbClr val="FF0000"/>
                </a:solidFill>
              </a:rPr>
              <a:t>four vertices</a:t>
            </a:r>
            <a:r>
              <a:rPr lang="en-US" sz="2400" dirty="0"/>
              <a:t> of degrees 1, 2, 3, and 4, so simple </a:t>
            </a:r>
            <a:r>
              <a:rPr lang="en-US" sz="2400" dirty="0">
                <a:solidFill>
                  <a:srgbClr val="FF0000"/>
                </a:solidFill>
              </a:rPr>
              <a:t>graph is not possible</a:t>
            </a:r>
            <a:r>
              <a:rPr lang="en-US" sz="2400" dirty="0"/>
              <a:t> in this case.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20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6916" y="0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b="1" u="sng" dirty="0">
                <a:solidFill>
                  <a:srgbClr val="0070C0"/>
                </a:solidFill>
              </a:rPr>
              <a:t>EXERCISE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>
          <a:xfrm>
            <a:off x="1059816" y="1499129"/>
            <a:ext cx="9829800" cy="3859742"/>
          </a:xfrm>
        </p:spPr>
        <p:txBody>
          <a:bodyPr>
            <a:normAutofit lnSpcReduction="10000"/>
          </a:bodyPr>
          <a:lstStyle/>
          <a:p>
            <a:r>
              <a:rPr lang="en-US" dirty="0"/>
              <a:t>Suppose a </a:t>
            </a:r>
            <a:r>
              <a:rPr lang="en-US" dirty="0">
                <a:solidFill>
                  <a:srgbClr val="FF0000"/>
                </a:solidFill>
              </a:rPr>
              <a:t>graph</a:t>
            </a:r>
            <a:r>
              <a:rPr lang="en-US" dirty="0"/>
              <a:t> has </a:t>
            </a:r>
            <a:r>
              <a:rPr lang="en-US" dirty="0">
                <a:solidFill>
                  <a:srgbClr val="FF0000"/>
                </a:solidFill>
              </a:rPr>
              <a:t>vertices</a:t>
            </a:r>
            <a:r>
              <a:rPr lang="en-US" dirty="0"/>
              <a:t> of </a:t>
            </a:r>
            <a:r>
              <a:rPr lang="en-US" dirty="0">
                <a:solidFill>
                  <a:srgbClr val="FF0000"/>
                </a:solidFill>
              </a:rPr>
              <a:t>degrees</a:t>
            </a:r>
            <a:r>
              <a:rPr lang="en-US" dirty="0"/>
              <a:t> </a:t>
            </a:r>
            <a:r>
              <a:rPr lang="en-US" dirty="0">
                <a:solidFill>
                  <a:srgbClr val="FF0000"/>
                </a:solidFill>
              </a:rPr>
              <a:t>1</a:t>
            </a:r>
            <a:r>
              <a:rPr lang="en-US" dirty="0"/>
              <a:t>, </a:t>
            </a:r>
            <a:r>
              <a:rPr lang="en-US" dirty="0">
                <a:solidFill>
                  <a:srgbClr val="FF0000"/>
                </a:solidFill>
              </a:rPr>
              <a:t>1</a:t>
            </a:r>
            <a:r>
              <a:rPr lang="en-US" dirty="0"/>
              <a:t>, </a:t>
            </a:r>
            <a:r>
              <a:rPr lang="en-US" dirty="0">
                <a:solidFill>
                  <a:srgbClr val="FF0000"/>
                </a:solidFill>
              </a:rPr>
              <a:t>4</a:t>
            </a:r>
            <a:r>
              <a:rPr lang="en-US" dirty="0"/>
              <a:t>, </a:t>
            </a:r>
            <a:r>
              <a:rPr lang="en-US" dirty="0">
                <a:solidFill>
                  <a:srgbClr val="FF0000"/>
                </a:solidFill>
              </a:rPr>
              <a:t>4</a:t>
            </a:r>
            <a:r>
              <a:rPr lang="en-US" dirty="0"/>
              <a:t> and </a:t>
            </a:r>
            <a:r>
              <a:rPr lang="en-US" dirty="0">
                <a:solidFill>
                  <a:srgbClr val="FF0000"/>
                </a:solidFill>
              </a:rPr>
              <a:t>6</a:t>
            </a:r>
            <a:r>
              <a:rPr lang="en-US" dirty="0"/>
              <a:t>. How many </a:t>
            </a:r>
            <a:r>
              <a:rPr lang="en-US" dirty="0">
                <a:solidFill>
                  <a:srgbClr val="FF0000"/>
                </a:solidFill>
              </a:rPr>
              <a:t>edges</a:t>
            </a:r>
            <a:r>
              <a:rPr lang="en-US" dirty="0"/>
              <a:t> does the </a:t>
            </a:r>
            <a:r>
              <a:rPr lang="en-US" dirty="0">
                <a:solidFill>
                  <a:srgbClr val="FF0000"/>
                </a:solidFill>
              </a:rPr>
              <a:t>graph</a:t>
            </a:r>
            <a:r>
              <a:rPr lang="en-US" dirty="0"/>
              <a:t> have?</a:t>
            </a:r>
          </a:p>
          <a:p>
            <a:endParaRPr lang="en-US" dirty="0"/>
          </a:p>
          <a:p>
            <a:r>
              <a:rPr lang="en-US" b="1" u="sng" dirty="0">
                <a:solidFill>
                  <a:srgbClr val="0070C0"/>
                </a:solidFill>
              </a:rPr>
              <a:t>SOLUTION:</a:t>
            </a:r>
            <a:endParaRPr lang="en-US" dirty="0">
              <a:solidFill>
                <a:srgbClr val="0070C0"/>
              </a:solidFill>
            </a:endParaRPr>
          </a:p>
          <a:p>
            <a:pPr>
              <a:buNone/>
            </a:pPr>
            <a:r>
              <a:rPr lang="en-US" dirty="0"/>
              <a:t>		The </a:t>
            </a:r>
            <a:r>
              <a:rPr lang="en-US" dirty="0">
                <a:solidFill>
                  <a:srgbClr val="FF0000"/>
                </a:solidFill>
              </a:rPr>
              <a:t>total degree</a:t>
            </a:r>
            <a:r>
              <a:rPr lang="en-US" dirty="0"/>
              <a:t> of </a:t>
            </a:r>
            <a:r>
              <a:rPr lang="en-US" dirty="0">
                <a:solidFill>
                  <a:srgbClr val="FF0000"/>
                </a:solidFill>
              </a:rPr>
              <a:t>graph</a:t>
            </a:r>
            <a:r>
              <a:rPr lang="en-US" dirty="0"/>
              <a:t> = 1 + 1 + 4 + 4 + 6</a:t>
            </a:r>
          </a:p>
          <a:p>
            <a:pPr>
              <a:buNone/>
            </a:pPr>
            <a:r>
              <a:rPr lang="en-US" dirty="0"/>
              <a:t>					        	  = 16</a:t>
            </a:r>
          </a:p>
          <a:p>
            <a:pPr>
              <a:buNone/>
            </a:pPr>
            <a:endParaRPr lang="en-US" dirty="0"/>
          </a:p>
          <a:p>
            <a:pPr>
              <a:buNone/>
            </a:pPr>
            <a:r>
              <a:rPr lang="en-US" dirty="0"/>
              <a:t>	 </a:t>
            </a:r>
            <a:r>
              <a:rPr lang="en-US" dirty="0">
                <a:sym typeface="Symbol"/>
              </a:rPr>
              <a:t></a:t>
            </a:r>
            <a:r>
              <a:rPr lang="en-US" dirty="0"/>
              <a:t>  Number of </a:t>
            </a:r>
            <a:r>
              <a:rPr lang="en-US" dirty="0">
                <a:solidFill>
                  <a:srgbClr val="FF0000"/>
                </a:solidFill>
              </a:rPr>
              <a:t>edges</a:t>
            </a:r>
            <a:r>
              <a:rPr lang="en-US" dirty="0"/>
              <a:t> of </a:t>
            </a:r>
            <a:r>
              <a:rPr lang="en-US" dirty="0">
                <a:solidFill>
                  <a:srgbClr val="FF0000"/>
                </a:solidFill>
              </a:rPr>
              <a:t>graph</a:t>
            </a:r>
            <a:r>
              <a:rPr lang="en-US" dirty="0"/>
              <a:t> = </a:t>
            </a:r>
          </a:p>
          <a:p>
            <a:endParaRPr lang="en-US" dirty="0"/>
          </a:p>
          <a:p>
            <a:endParaRPr lang="en-US" dirty="0"/>
          </a:p>
        </p:txBody>
      </p:sp>
      <p:graphicFrame>
        <p:nvGraphicFramePr>
          <p:cNvPr id="274433" name="Object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1259388"/>
              </p:ext>
            </p:extLst>
          </p:nvPr>
        </p:nvGraphicFramePr>
        <p:xfrm>
          <a:off x="6475863" y="4470819"/>
          <a:ext cx="838200" cy="76424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962" r:id="rId3" imgW="431640" imgH="393480" progId="">
                  <p:embed/>
                </p:oleObj>
              </mc:Choice>
              <mc:Fallback>
                <p:oleObj r:id="rId3" imgW="431640" imgH="393480" progId="">
                  <p:embed/>
                  <p:pic>
                    <p:nvPicPr>
                      <p:cNvPr id="274433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75863" y="4470819"/>
                        <a:ext cx="838200" cy="76424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20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20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20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20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44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4" dur="500"/>
                                        <p:tgtEl>
                                          <p:spTgt spid="2744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8678" y="26459"/>
            <a:ext cx="10515600" cy="938784"/>
          </a:xfrm>
        </p:spPr>
        <p:txBody>
          <a:bodyPr>
            <a:normAutofit/>
          </a:bodyPr>
          <a:lstStyle/>
          <a:p>
            <a:pPr algn="ctr"/>
            <a:r>
              <a:rPr lang="en-US" b="1" u="sng" dirty="0">
                <a:solidFill>
                  <a:srgbClr val="0070C0"/>
                </a:solidFill>
              </a:rPr>
              <a:t>COMPLETE GRAPH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>
          <a:xfrm>
            <a:off x="1104900" y="1115487"/>
            <a:ext cx="10515600" cy="3859742"/>
          </a:xfrm>
        </p:spPr>
        <p:txBody>
          <a:bodyPr/>
          <a:lstStyle/>
          <a:p>
            <a:r>
              <a:rPr lang="en-US" dirty="0"/>
              <a:t>A </a:t>
            </a:r>
            <a:r>
              <a:rPr lang="en-US" dirty="0">
                <a:solidFill>
                  <a:srgbClr val="FF0000"/>
                </a:solidFill>
              </a:rPr>
              <a:t>complete graph</a:t>
            </a:r>
            <a:r>
              <a:rPr lang="en-US" dirty="0"/>
              <a:t> on </a:t>
            </a:r>
            <a:r>
              <a:rPr lang="en-US" dirty="0">
                <a:solidFill>
                  <a:srgbClr val="FF0000"/>
                </a:solidFill>
              </a:rPr>
              <a:t>“n”</a:t>
            </a:r>
            <a:r>
              <a:rPr lang="en-US" dirty="0"/>
              <a:t> </a:t>
            </a:r>
            <a:r>
              <a:rPr lang="en-US" dirty="0">
                <a:solidFill>
                  <a:srgbClr val="FF0000"/>
                </a:solidFill>
              </a:rPr>
              <a:t>vertices</a:t>
            </a:r>
            <a:r>
              <a:rPr lang="en-US" dirty="0"/>
              <a:t> is a </a:t>
            </a:r>
            <a:r>
              <a:rPr lang="en-US" dirty="0">
                <a:solidFill>
                  <a:srgbClr val="FF0000"/>
                </a:solidFill>
              </a:rPr>
              <a:t>simple graph</a:t>
            </a:r>
            <a:r>
              <a:rPr lang="en-US" dirty="0"/>
              <a:t> in which each </a:t>
            </a:r>
            <a:r>
              <a:rPr lang="en-US" dirty="0">
                <a:solidFill>
                  <a:srgbClr val="FF0000"/>
                </a:solidFill>
              </a:rPr>
              <a:t>vertex</a:t>
            </a:r>
            <a:r>
              <a:rPr lang="en-US" dirty="0"/>
              <a:t> is </a:t>
            </a:r>
            <a:r>
              <a:rPr lang="en-US" dirty="0">
                <a:solidFill>
                  <a:srgbClr val="FF0000"/>
                </a:solidFill>
              </a:rPr>
              <a:t>connected</a:t>
            </a:r>
            <a:r>
              <a:rPr lang="en-US" dirty="0"/>
              <a:t> to every other </a:t>
            </a:r>
            <a:r>
              <a:rPr lang="en-US" dirty="0">
                <a:solidFill>
                  <a:srgbClr val="FF0000"/>
                </a:solidFill>
              </a:rPr>
              <a:t>vertex</a:t>
            </a:r>
            <a:r>
              <a:rPr lang="en-US" dirty="0"/>
              <a:t> and is denoted by </a:t>
            </a:r>
            <a:r>
              <a:rPr lang="en-US" dirty="0" err="1">
                <a:solidFill>
                  <a:srgbClr val="FF0000"/>
                </a:solidFill>
              </a:rPr>
              <a:t>K</a:t>
            </a:r>
            <a:r>
              <a:rPr lang="en-US" baseline="-25000" dirty="0" err="1">
                <a:solidFill>
                  <a:srgbClr val="FF0000"/>
                </a:solidFill>
              </a:rPr>
              <a:t>n</a:t>
            </a:r>
            <a:r>
              <a:rPr lang="en-US" baseline="-25000" dirty="0"/>
              <a:t> </a:t>
            </a:r>
            <a:r>
              <a:rPr lang="en-US" dirty="0"/>
              <a:t>(</a:t>
            </a:r>
            <a:r>
              <a:rPr lang="en-US" dirty="0" err="1"/>
              <a:t>K</a:t>
            </a:r>
            <a:r>
              <a:rPr lang="en-US" baseline="-25000" dirty="0" err="1"/>
              <a:t>n</a:t>
            </a:r>
            <a:r>
              <a:rPr lang="en-US" dirty="0"/>
              <a:t> means that there are n vertices).</a:t>
            </a:r>
          </a:p>
          <a:p>
            <a:pPr>
              <a:buNone/>
            </a:pPr>
            <a:endParaRPr lang="pt-BR" dirty="0">
              <a:solidFill>
                <a:srgbClr val="FF0000"/>
              </a:solidFill>
            </a:endParaRPr>
          </a:p>
        </p:txBody>
      </p:sp>
      <p:pic>
        <p:nvPicPr>
          <p:cNvPr id="5" name="Picture 4"/>
          <p:cNvPicPr/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8442963" y="2743200"/>
            <a:ext cx="516709" cy="914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" name="Picture 5"/>
          <p:cNvPicPr/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501640" y="2788920"/>
            <a:ext cx="2194560" cy="10972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7" name="Picture 6"/>
          <p:cNvPicPr/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2423160" y="2316480"/>
            <a:ext cx="2377440" cy="21031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8" name="Picture 7"/>
          <p:cNvPicPr/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3276600" y="4191000"/>
            <a:ext cx="2743200" cy="23774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9" name="Picture 8"/>
          <p:cNvPicPr/>
          <p:nvPr/>
        </p:nvPicPr>
        <p:blipFill>
          <a:blip r:embed="rId6"/>
          <a:srcRect/>
          <a:stretch>
            <a:fillRect/>
          </a:stretch>
        </p:blipFill>
        <p:spPr bwMode="auto">
          <a:xfrm>
            <a:off x="6553200" y="3764280"/>
            <a:ext cx="2651760" cy="25603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33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3776" y="1"/>
            <a:ext cx="10515600" cy="914400"/>
          </a:xfrm>
        </p:spPr>
        <p:txBody>
          <a:bodyPr>
            <a:normAutofit/>
          </a:bodyPr>
          <a:lstStyle/>
          <a:p>
            <a:pPr algn="ctr"/>
            <a:r>
              <a:rPr lang="en-US" b="1" u="sng" dirty="0">
                <a:solidFill>
                  <a:srgbClr val="0070C0"/>
                </a:solidFill>
              </a:rPr>
              <a:t>REGULAR GRAPH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>
          <a:xfrm>
            <a:off x="701244" y="914401"/>
            <a:ext cx="10789511" cy="2347414"/>
          </a:xfrm>
        </p:spPr>
        <p:txBody>
          <a:bodyPr/>
          <a:lstStyle/>
          <a:p>
            <a:r>
              <a:rPr lang="en-US" dirty="0"/>
              <a:t>A </a:t>
            </a:r>
            <a:r>
              <a:rPr lang="en-US" dirty="0">
                <a:solidFill>
                  <a:srgbClr val="FF0000"/>
                </a:solidFill>
              </a:rPr>
              <a:t>graph G</a:t>
            </a:r>
            <a:r>
              <a:rPr lang="en-US" dirty="0"/>
              <a:t> is regular graph of </a:t>
            </a:r>
            <a:r>
              <a:rPr lang="en-US" dirty="0">
                <a:solidFill>
                  <a:srgbClr val="FF0000"/>
                </a:solidFill>
              </a:rPr>
              <a:t>degree k</a:t>
            </a:r>
            <a:r>
              <a:rPr lang="en-US" dirty="0"/>
              <a:t> or </a:t>
            </a:r>
            <a:r>
              <a:rPr lang="en-US" dirty="0">
                <a:solidFill>
                  <a:srgbClr val="FF0000"/>
                </a:solidFill>
              </a:rPr>
              <a:t>k-regular</a:t>
            </a:r>
            <a:r>
              <a:rPr lang="en-US" dirty="0"/>
              <a:t> if every </a:t>
            </a:r>
            <a:r>
              <a:rPr lang="en-US" dirty="0">
                <a:solidFill>
                  <a:srgbClr val="FF0000"/>
                </a:solidFill>
              </a:rPr>
              <a:t>vertex</a:t>
            </a:r>
            <a:r>
              <a:rPr lang="en-US" dirty="0"/>
              <a:t> of </a:t>
            </a:r>
            <a:r>
              <a:rPr lang="en-US" dirty="0">
                <a:solidFill>
                  <a:srgbClr val="FF0000"/>
                </a:solidFill>
              </a:rPr>
              <a:t>G</a:t>
            </a:r>
            <a:r>
              <a:rPr lang="en-US" dirty="0"/>
              <a:t> has </a:t>
            </a:r>
            <a:r>
              <a:rPr lang="en-US" dirty="0">
                <a:solidFill>
                  <a:srgbClr val="FF0000"/>
                </a:solidFill>
              </a:rPr>
              <a:t>degree k</a:t>
            </a:r>
            <a:r>
              <a:rPr lang="en-US" dirty="0"/>
              <a:t>.</a:t>
            </a:r>
          </a:p>
          <a:p>
            <a:r>
              <a:rPr lang="en-US" dirty="0"/>
              <a:t>In other words, a </a:t>
            </a:r>
            <a:r>
              <a:rPr lang="en-US" dirty="0">
                <a:solidFill>
                  <a:srgbClr val="FF0000"/>
                </a:solidFill>
              </a:rPr>
              <a:t>graph</a:t>
            </a:r>
            <a:r>
              <a:rPr lang="en-US" dirty="0"/>
              <a:t> is </a:t>
            </a:r>
            <a:r>
              <a:rPr lang="en-US" dirty="0">
                <a:solidFill>
                  <a:srgbClr val="FF0000"/>
                </a:solidFill>
              </a:rPr>
              <a:t>regular</a:t>
            </a:r>
            <a:r>
              <a:rPr lang="en-US" dirty="0"/>
              <a:t> if every </a:t>
            </a:r>
            <a:r>
              <a:rPr lang="en-US" dirty="0">
                <a:solidFill>
                  <a:srgbClr val="FF0000"/>
                </a:solidFill>
              </a:rPr>
              <a:t>vertex</a:t>
            </a:r>
            <a:r>
              <a:rPr lang="en-US" dirty="0"/>
              <a:t> has the </a:t>
            </a:r>
            <a:r>
              <a:rPr lang="en-US" dirty="0">
                <a:solidFill>
                  <a:srgbClr val="FF0000"/>
                </a:solidFill>
              </a:rPr>
              <a:t>same degree</a:t>
            </a:r>
            <a:r>
              <a:rPr lang="en-US" dirty="0"/>
              <a:t>.</a:t>
            </a:r>
          </a:p>
          <a:p>
            <a:r>
              <a:rPr lang="en-US" dirty="0"/>
              <a:t>Following are some </a:t>
            </a:r>
            <a:r>
              <a:rPr lang="en-US" dirty="0">
                <a:solidFill>
                  <a:srgbClr val="FF0000"/>
                </a:solidFill>
              </a:rPr>
              <a:t>regular graphs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037EA16-9761-4B24-B14C-B478978D4295}"/>
              </a:ext>
            </a:extLst>
          </p:cNvPr>
          <p:cNvPicPr/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590800" y="3448337"/>
            <a:ext cx="1737360" cy="914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DBBDB231-2AD7-456B-869B-9A019B8A3177}"/>
              </a:ext>
            </a:extLst>
          </p:cNvPr>
          <p:cNvPicPr/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6134100" y="3429000"/>
            <a:ext cx="1828800" cy="914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814BD6F-AFA3-4595-BBEF-7BBE1F547EC8}"/>
              </a:ext>
            </a:extLst>
          </p:cNvPr>
          <p:cNvPicPr/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2667000" y="4819936"/>
            <a:ext cx="6858000" cy="1828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2875" y="0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b="1" u="sng" dirty="0">
                <a:solidFill>
                  <a:srgbClr val="0070C0"/>
                </a:solidFill>
              </a:rPr>
              <a:t>EXERCISE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>
          <a:xfrm>
            <a:off x="1120140" y="1105878"/>
            <a:ext cx="9829800" cy="3859742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Draw two </a:t>
            </a:r>
            <a:r>
              <a:rPr lang="en-US" dirty="0">
                <a:solidFill>
                  <a:srgbClr val="FF0000"/>
                </a:solidFill>
              </a:rPr>
              <a:t>3-regular graphs</a:t>
            </a:r>
            <a:r>
              <a:rPr lang="en-US" dirty="0"/>
              <a:t> with </a:t>
            </a:r>
            <a:r>
              <a:rPr lang="en-US" dirty="0">
                <a:solidFill>
                  <a:srgbClr val="FF0000"/>
                </a:solidFill>
              </a:rPr>
              <a:t>six vertices</a:t>
            </a:r>
            <a:r>
              <a:rPr lang="en-US" dirty="0"/>
              <a:t>.</a:t>
            </a:r>
          </a:p>
          <a:p>
            <a:pPr>
              <a:buNone/>
            </a:pPr>
            <a:endParaRPr lang="en-US" dirty="0"/>
          </a:p>
          <a:p>
            <a:pPr marL="0" indent="0">
              <a:buNone/>
            </a:pPr>
            <a:r>
              <a:rPr lang="en-US" b="1" u="sng" dirty="0">
                <a:solidFill>
                  <a:srgbClr val="0070C0"/>
                </a:solidFill>
              </a:rPr>
              <a:t>SOLUTION:</a:t>
            </a:r>
            <a:endParaRPr lang="en-US" dirty="0">
              <a:solidFill>
                <a:srgbClr val="0070C0"/>
              </a:solidFill>
            </a:endParaRPr>
          </a:p>
          <a:p>
            <a:endParaRPr lang="en-US" dirty="0"/>
          </a:p>
        </p:txBody>
      </p:sp>
      <p:pic>
        <p:nvPicPr>
          <p:cNvPr id="5" name="Picture 4"/>
          <p:cNvPicPr/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743200" y="2718225"/>
            <a:ext cx="6583680" cy="26517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3776" y="1"/>
            <a:ext cx="10515600" cy="1087162"/>
          </a:xfrm>
        </p:spPr>
        <p:txBody>
          <a:bodyPr>
            <a:normAutofit/>
          </a:bodyPr>
          <a:lstStyle/>
          <a:p>
            <a:pPr algn="ctr"/>
            <a:r>
              <a:rPr lang="en-US" b="1" u="sng" dirty="0">
                <a:solidFill>
                  <a:srgbClr val="0070C0"/>
                </a:solidFill>
              </a:rPr>
              <a:t>BIPARTITE GRAPH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>
          <a:xfrm>
            <a:off x="1179576" y="1087163"/>
            <a:ext cx="9829800" cy="3859742"/>
          </a:xfrm>
        </p:spPr>
        <p:txBody>
          <a:bodyPr/>
          <a:lstStyle/>
          <a:p>
            <a:r>
              <a:rPr lang="en-US" dirty="0"/>
              <a:t>A </a:t>
            </a:r>
            <a:r>
              <a:rPr lang="en-US" dirty="0">
                <a:solidFill>
                  <a:srgbClr val="FF0000"/>
                </a:solidFill>
              </a:rPr>
              <a:t>bipartite graph G</a:t>
            </a:r>
            <a:r>
              <a:rPr lang="en-US" dirty="0"/>
              <a:t> is a </a:t>
            </a:r>
            <a:r>
              <a:rPr lang="en-US" dirty="0">
                <a:solidFill>
                  <a:srgbClr val="FF0000"/>
                </a:solidFill>
              </a:rPr>
              <a:t>simple graph</a:t>
            </a:r>
            <a:r>
              <a:rPr lang="en-US" dirty="0"/>
              <a:t> whose </a:t>
            </a:r>
            <a:r>
              <a:rPr lang="en-US" dirty="0">
                <a:solidFill>
                  <a:srgbClr val="FF0000"/>
                </a:solidFill>
              </a:rPr>
              <a:t>vertex set</a:t>
            </a:r>
            <a:r>
              <a:rPr lang="en-US" dirty="0"/>
              <a:t> can be partitioned into two </a:t>
            </a:r>
            <a:r>
              <a:rPr lang="en-US" dirty="0">
                <a:solidFill>
                  <a:srgbClr val="FF0000"/>
                </a:solidFill>
              </a:rPr>
              <a:t>mutually disjoint</a:t>
            </a:r>
            <a:r>
              <a:rPr lang="en-US" dirty="0"/>
              <a:t> non </a:t>
            </a:r>
            <a:r>
              <a:rPr lang="en-US" dirty="0">
                <a:solidFill>
                  <a:srgbClr val="FF0000"/>
                </a:solidFill>
              </a:rPr>
              <a:t>empty subsets A</a:t>
            </a:r>
            <a:r>
              <a:rPr lang="en-US" dirty="0"/>
              <a:t> and </a:t>
            </a:r>
            <a:r>
              <a:rPr lang="en-US" dirty="0">
                <a:solidFill>
                  <a:srgbClr val="FF0000"/>
                </a:solidFill>
              </a:rPr>
              <a:t>B</a:t>
            </a:r>
            <a:r>
              <a:rPr lang="en-US" dirty="0"/>
              <a:t> such that the </a:t>
            </a:r>
            <a:r>
              <a:rPr lang="en-US" dirty="0">
                <a:solidFill>
                  <a:srgbClr val="FF0000"/>
                </a:solidFill>
              </a:rPr>
              <a:t>vertices</a:t>
            </a:r>
            <a:r>
              <a:rPr lang="en-US" dirty="0"/>
              <a:t> in </a:t>
            </a:r>
            <a:r>
              <a:rPr lang="en-US" dirty="0">
                <a:solidFill>
                  <a:srgbClr val="FF0000"/>
                </a:solidFill>
              </a:rPr>
              <a:t>A</a:t>
            </a:r>
            <a:r>
              <a:rPr lang="en-US" dirty="0"/>
              <a:t> may be </a:t>
            </a:r>
            <a:r>
              <a:rPr lang="en-US" dirty="0">
                <a:solidFill>
                  <a:srgbClr val="FF0000"/>
                </a:solidFill>
              </a:rPr>
              <a:t>connected</a:t>
            </a:r>
            <a:r>
              <a:rPr lang="en-US" dirty="0"/>
              <a:t> to </a:t>
            </a:r>
            <a:r>
              <a:rPr lang="en-US" dirty="0">
                <a:solidFill>
                  <a:srgbClr val="FF0000"/>
                </a:solidFill>
              </a:rPr>
              <a:t>vertices</a:t>
            </a:r>
            <a:r>
              <a:rPr lang="en-US" dirty="0"/>
              <a:t> in </a:t>
            </a:r>
            <a:r>
              <a:rPr lang="en-US" dirty="0">
                <a:solidFill>
                  <a:srgbClr val="FF0000"/>
                </a:solidFill>
              </a:rPr>
              <a:t>B</a:t>
            </a:r>
            <a:r>
              <a:rPr lang="en-US" dirty="0"/>
              <a:t>, but no </a:t>
            </a:r>
            <a:r>
              <a:rPr lang="en-US" dirty="0">
                <a:solidFill>
                  <a:srgbClr val="FF0000"/>
                </a:solidFill>
              </a:rPr>
              <a:t>vertices</a:t>
            </a:r>
            <a:r>
              <a:rPr lang="en-US" dirty="0"/>
              <a:t> in </a:t>
            </a:r>
            <a:r>
              <a:rPr lang="en-US" dirty="0">
                <a:solidFill>
                  <a:srgbClr val="FF0000"/>
                </a:solidFill>
              </a:rPr>
              <a:t>A</a:t>
            </a:r>
            <a:r>
              <a:rPr lang="en-US" dirty="0"/>
              <a:t> are </a:t>
            </a:r>
            <a:r>
              <a:rPr lang="en-US" dirty="0">
                <a:solidFill>
                  <a:srgbClr val="FF0000"/>
                </a:solidFill>
              </a:rPr>
              <a:t>connected</a:t>
            </a:r>
            <a:r>
              <a:rPr lang="en-US" dirty="0"/>
              <a:t> to </a:t>
            </a:r>
            <a:r>
              <a:rPr lang="en-US" dirty="0">
                <a:solidFill>
                  <a:srgbClr val="FF0000"/>
                </a:solidFill>
              </a:rPr>
              <a:t>vertices</a:t>
            </a:r>
            <a:r>
              <a:rPr lang="en-US" dirty="0"/>
              <a:t> in </a:t>
            </a:r>
            <a:r>
              <a:rPr lang="en-US" dirty="0">
                <a:solidFill>
                  <a:srgbClr val="FF0000"/>
                </a:solidFill>
              </a:rPr>
              <a:t>A</a:t>
            </a:r>
            <a:r>
              <a:rPr lang="en-US" dirty="0"/>
              <a:t> and no </a:t>
            </a:r>
            <a:r>
              <a:rPr lang="en-US" dirty="0">
                <a:solidFill>
                  <a:srgbClr val="FF0000"/>
                </a:solidFill>
              </a:rPr>
              <a:t>vertices</a:t>
            </a:r>
            <a:r>
              <a:rPr lang="en-US" dirty="0"/>
              <a:t> in </a:t>
            </a:r>
            <a:r>
              <a:rPr lang="en-US" dirty="0">
                <a:solidFill>
                  <a:srgbClr val="FF0000"/>
                </a:solidFill>
              </a:rPr>
              <a:t>B</a:t>
            </a:r>
            <a:r>
              <a:rPr lang="en-US" dirty="0"/>
              <a:t> are </a:t>
            </a:r>
            <a:r>
              <a:rPr lang="en-US" dirty="0">
                <a:solidFill>
                  <a:srgbClr val="FF0000"/>
                </a:solidFill>
              </a:rPr>
              <a:t>connected</a:t>
            </a:r>
            <a:r>
              <a:rPr lang="en-US" dirty="0"/>
              <a:t> to </a:t>
            </a:r>
            <a:r>
              <a:rPr lang="en-US" dirty="0">
                <a:solidFill>
                  <a:srgbClr val="FF0000"/>
                </a:solidFill>
              </a:rPr>
              <a:t>vertices</a:t>
            </a:r>
            <a:r>
              <a:rPr lang="en-US" dirty="0"/>
              <a:t> in </a:t>
            </a:r>
            <a:r>
              <a:rPr lang="en-US" dirty="0">
                <a:solidFill>
                  <a:srgbClr val="FF0000"/>
                </a:solidFill>
              </a:rPr>
              <a:t>B</a:t>
            </a:r>
            <a:r>
              <a:rPr lang="en-US" dirty="0"/>
              <a:t>.</a:t>
            </a:r>
          </a:p>
          <a:p>
            <a:endParaRPr lang="en-US" dirty="0">
              <a:solidFill>
                <a:srgbClr val="FF0000"/>
              </a:solidFill>
            </a:endParaRPr>
          </a:p>
          <a:p>
            <a:endParaRPr lang="en-US" dirty="0"/>
          </a:p>
        </p:txBody>
      </p:sp>
      <p:pic>
        <p:nvPicPr>
          <p:cNvPr id="5" name="Picture 4"/>
          <p:cNvPicPr/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198427" y="3375028"/>
            <a:ext cx="8023746" cy="265903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2325" y="0"/>
            <a:ext cx="10515600" cy="1325563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MATRIX REPRESENTATIONS OF GRAPHS</a:t>
            </a:r>
            <a:endParaRPr lang="en-US" dirty="0">
              <a:solidFill>
                <a:srgbClr val="0070C0"/>
              </a:solidFill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>
          <a:xfrm>
            <a:off x="1181100" y="1499129"/>
            <a:ext cx="9829800" cy="3859742"/>
          </a:xfrm>
        </p:spPr>
        <p:txBody>
          <a:bodyPr/>
          <a:lstStyle/>
          <a:p>
            <a:r>
              <a:rPr lang="en-US" dirty="0"/>
              <a:t>To </a:t>
            </a:r>
            <a:r>
              <a:rPr lang="en-US" dirty="0">
                <a:solidFill>
                  <a:srgbClr val="FF0000"/>
                </a:solidFill>
              </a:rPr>
              <a:t>store graph</a:t>
            </a:r>
            <a:r>
              <a:rPr lang="en-US" dirty="0"/>
              <a:t> in </a:t>
            </a:r>
            <a:r>
              <a:rPr lang="en-US" dirty="0">
                <a:solidFill>
                  <a:srgbClr val="FF0000"/>
                </a:solidFill>
              </a:rPr>
              <a:t>computer</a:t>
            </a:r>
            <a:r>
              <a:rPr lang="en-US" dirty="0"/>
              <a:t> with </a:t>
            </a:r>
            <a:r>
              <a:rPr lang="en-US" dirty="0">
                <a:solidFill>
                  <a:srgbClr val="FF0000"/>
                </a:solidFill>
              </a:rPr>
              <a:t>pictorial</a:t>
            </a:r>
            <a:r>
              <a:rPr lang="en-US" dirty="0"/>
              <a:t> representation is </a:t>
            </a:r>
            <a:r>
              <a:rPr lang="en-US" dirty="0">
                <a:solidFill>
                  <a:srgbClr val="FF0000"/>
                </a:solidFill>
              </a:rPr>
              <a:t>not possible</a:t>
            </a:r>
            <a:r>
              <a:rPr lang="en-US" dirty="0"/>
              <a:t> rather you will </a:t>
            </a:r>
            <a:r>
              <a:rPr lang="en-US" dirty="0">
                <a:solidFill>
                  <a:srgbClr val="FF0000"/>
                </a:solidFill>
              </a:rPr>
              <a:t>store</a:t>
            </a:r>
            <a:r>
              <a:rPr lang="en-US" dirty="0"/>
              <a:t> the </a:t>
            </a:r>
            <a:r>
              <a:rPr lang="en-US" dirty="0">
                <a:solidFill>
                  <a:srgbClr val="FF0000"/>
                </a:solidFill>
              </a:rPr>
              <a:t>graph</a:t>
            </a:r>
            <a:r>
              <a:rPr lang="en-US" dirty="0"/>
              <a:t> with </a:t>
            </a:r>
            <a:r>
              <a:rPr lang="en-US" dirty="0">
                <a:solidFill>
                  <a:srgbClr val="FF0000"/>
                </a:solidFill>
              </a:rPr>
              <a:t>matrix</a:t>
            </a:r>
            <a:r>
              <a:rPr lang="en-US" dirty="0"/>
              <a:t> representation.</a:t>
            </a:r>
          </a:p>
          <a:p>
            <a:endParaRPr lang="en-US" dirty="0"/>
          </a:p>
          <a:p>
            <a:r>
              <a:rPr lang="en-US" dirty="0"/>
              <a:t>It is difficult to </a:t>
            </a:r>
            <a:r>
              <a:rPr lang="en-US" dirty="0">
                <a:solidFill>
                  <a:srgbClr val="FF0000"/>
                </a:solidFill>
              </a:rPr>
              <a:t>analyze</a:t>
            </a:r>
            <a:r>
              <a:rPr lang="en-US" dirty="0"/>
              <a:t> a big complex graph with hundreds of vertices and thousands of edges, but in matrix form you can analyze big graph better. 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4087" y="-9964"/>
            <a:ext cx="10515600" cy="1325563"/>
          </a:xfrm>
        </p:spPr>
        <p:txBody>
          <a:bodyPr>
            <a:noAutofit/>
          </a:bodyPr>
          <a:lstStyle/>
          <a:p>
            <a:pPr algn="ctr"/>
            <a:r>
              <a:rPr lang="en-US" b="1" u="sng" dirty="0">
                <a:solidFill>
                  <a:srgbClr val="0070C0"/>
                </a:solidFill>
              </a:rPr>
              <a:t>MATRIX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>
          <a:xfrm>
            <a:off x="1082313" y="1078172"/>
            <a:ext cx="10515599" cy="5779828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An </a:t>
            </a:r>
            <a:r>
              <a:rPr lang="en-US" dirty="0">
                <a:solidFill>
                  <a:srgbClr val="FF0000"/>
                </a:solidFill>
              </a:rPr>
              <a:t>m </a:t>
            </a:r>
            <a:r>
              <a:rPr lang="en-US" dirty="0">
                <a:solidFill>
                  <a:srgbClr val="FF0000"/>
                </a:solidFill>
                <a:sym typeface="Symbol"/>
              </a:rPr>
              <a:t></a:t>
            </a:r>
            <a:r>
              <a:rPr lang="en-US" dirty="0">
                <a:solidFill>
                  <a:srgbClr val="FF0000"/>
                </a:solidFill>
              </a:rPr>
              <a:t> n</a:t>
            </a:r>
            <a:r>
              <a:rPr lang="en-US" dirty="0"/>
              <a:t> matrix </a:t>
            </a:r>
            <a:r>
              <a:rPr lang="en-US" dirty="0">
                <a:solidFill>
                  <a:srgbClr val="FF0000"/>
                </a:solidFill>
              </a:rPr>
              <a:t>A</a:t>
            </a:r>
            <a:r>
              <a:rPr lang="en-US" dirty="0"/>
              <a:t> over a set </a:t>
            </a:r>
            <a:r>
              <a:rPr lang="en-US" dirty="0">
                <a:solidFill>
                  <a:srgbClr val="FF0000"/>
                </a:solidFill>
              </a:rPr>
              <a:t>S</a:t>
            </a:r>
            <a:r>
              <a:rPr lang="en-US" dirty="0"/>
              <a:t> is a </a:t>
            </a:r>
            <a:r>
              <a:rPr lang="en-US" dirty="0">
                <a:solidFill>
                  <a:srgbClr val="FF0000"/>
                </a:solidFill>
              </a:rPr>
              <a:t>rectangular array</a:t>
            </a:r>
            <a:r>
              <a:rPr lang="en-US" dirty="0"/>
              <a:t> of elements of </a:t>
            </a:r>
            <a:r>
              <a:rPr lang="en-US" dirty="0">
                <a:solidFill>
                  <a:srgbClr val="FF0000"/>
                </a:solidFill>
              </a:rPr>
              <a:t>S</a:t>
            </a:r>
            <a:r>
              <a:rPr lang="en-US" dirty="0"/>
              <a:t> arranged into </a:t>
            </a:r>
            <a:r>
              <a:rPr lang="en-US" dirty="0">
                <a:solidFill>
                  <a:srgbClr val="FF0000"/>
                </a:solidFill>
              </a:rPr>
              <a:t>m rows</a:t>
            </a:r>
            <a:r>
              <a:rPr lang="en-US" dirty="0"/>
              <a:t> and </a:t>
            </a:r>
            <a:r>
              <a:rPr lang="en-US" dirty="0">
                <a:solidFill>
                  <a:srgbClr val="FF0000"/>
                </a:solidFill>
              </a:rPr>
              <a:t>n columns</a:t>
            </a:r>
            <a:r>
              <a:rPr lang="en-US" dirty="0"/>
              <a:t>: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>
              <a:buNone/>
            </a:pPr>
            <a:r>
              <a:rPr lang="en-US" dirty="0"/>
              <a:t>						           </a:t>
            </a:r>
            <a:r>
              <a:rPr lang="en-US" dirty="0">
                <a:solidFill>
                  <a:srgbClr val="FF0000"/>
                </a:solidFill>
                <a:sym typeface="Symbol"/>
              </a:rPr>
              <a:t></a:t>
            </a:r>
          </a:p>
          <a:p>
            <a:pPr>
              <a:buNone/>
            </a:pPr>
            <a:r>
              <a:rPr lang="en-US" dirty="0"/>
              <a:t>						    </a:t>
            </a:r>
            <a:r>
              <a:rPr lang="en-US" dirty="0" err="1">
                <a:solidFill>
                  <a:srgbClr val="FF0000"/>
                </a:solidFill>
              </a:rPr>
              <a:t>j</a:t>
            </a:r>
            <a:r>
              <a:rPr lang="en-US" baseline="30000" dirty="0" err="1">
                <a:solidFill>
                  <a:srgbClr val="FF0000"/>
                </a:solidFill>
              </a:rPr>
              <a:t>th</a:t>
            </a:r>
            <a:r>
              <a:rPr lang="en-US" dirty="0">
                <a:solidFill>
                  <a:srgbClr val="FF0000"/>
                </a:solidFill>
              </a:rPr>
              <a:t> column</a:t>
            </a:r>
            <a:r>
              <a:rPr lang="en-US" dirty="0"/>
              <a:t> of </a:t>
            </a:r>
            <a:r>
              <a:rPr lang="en-US" dirty="0">
                <a:solidFill>
                  <a:srgbClr val="FF0000"/>
                </a:solidFill>
              </a:rPr>
              <a:t>A</a:t>
            </a:r>
          </a:p>
          <a:p>
            <a:pPr>
              <a:buNone/>
            </a:pPr>
            <a:r>
              <a:rPr lang="en-US" dirty="0"/>
              <a:t>		</a:t>
            </a:r>
          </a:p>
          <a:p>
            <a:pPr>
              <a:buNone/>
            </a:pPr>
            <a:r>
              <a:rPr lang="en-US" dirty="0"/>
              <a:t>		Briefly, it is written as: </a:t>
            </a:r>
            <a:r>
              <a:rPr lang="pt-BR" b="1" dirty="0">
                <a:solidFill>
                  <a:srgbClr val="FF0000"/>
                </a:solidFill>
              </a:rPr>
              <a:t>A = [a</a:t>
            </a:r>
            <a:r>
              <a:rPr lang="pt-BR" b="1" baseline="-25000" dirty="0">
                <a:solidFill>
                  <a:srgbClr val="FF0000"/>
                </a:solidFill>
              </a:rPr>
              <a:t>ij </a:t>
            </a:r>
            <a:r>
              <a:rPr lang="pt-BR" b="1" dirty="0">
                <a:solidFill>
                  <a:srgbClr val="FF0000"/>
                </a:solidFill>
              </a:rPr>
              <a:t>]</a:t>
            </a:r>
            <a:r>
              <a:rPr lang="pt-BR" b="1" baseline="-25000" dirty="0">
                <a:solidFill>
                  <a:srgbClr val="FF0000"/>
                </a:solidFill>
              </a:rPr>
              <a:t> m</a:t>
            </a:r>
            <a:r>
              <a:rPr lang="en-US" b="1" baseline="-25000" dirty="0">
                <a:solidFill>
                  <a:srgbClr val="FF0000"/>
                </a:solidFill>
                <a:sym typeface="Symbol"/>
              </a:rPr>
              <a:t></a:t>
            </a:r>
            <a:r>
              <a:rPr lang="pt-BR" b="1" baseline="-25000" dirty="0">
                <a:solidFill>
                  <a:srgbClr val="FF0000"/>
                </a:solidFill>
              </a:rPr>
              <a:t>n</a:t>
            </a:r>
            <a:endParaRPr lang="en-US" dirty="0">
              <a:solidFill>
                <a:srgbClr val="FF0000"/>
              </a:solidFill>
            </a:endParaRP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graphicFrame>
        <p:nvGraphicFramePr>
          <p:cNvPr id="268289" name="Object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89459182"/>
              </p:ext>
            </p:extLst>
          </p:nvPr>
        </p:nvGraphicFramePr>
        <p:xfrm>
          <a:off x="3699162" y="1721892"/>
          <a:ext cx="4793675" cy="304800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986" r:id="rId3" imgW="2197080" imgH="1396800" progId="">
                  <p:embed/>
                </p:oleObj>
              </mc:Choice>
              <mc:Fallback>
                <p:oleObj r:id="rId3" imgW="2197080" imgH="1396800" progId="">
                  <p:embed/>
                  <p:pic>
                    <p:nvPicPr>
                      <p:cNvPr id="268289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99162" y="1721892"/>
                        <a:ext cx="4793675" cy="304800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2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2682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53144" y="0"/>
            <a:ext cx="10515600" cy="968993"/>
          </a:xfrm>
        </p:spPr>
        <p:txBody>
          <a:bodyPr>
            <a:noAutofit/>
          </a:bodyPr>
          <a:lstStyle/>
          <a:p>
            <a:pPr algn="ctr"/>
            <a:r>
              <a:rPr lang="en-US" b="1" u="sng" dirty="0">
                <a:solidFill>
                  <a:srgbClr val="0070C0"/>
                </a:solidFill>
              </a:rPr>
              <a:t>ADJACENCY MATRIX OF A GRAPH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>
          <a:xfrm>
            <a:off x="712368" y="968992"/>
            <a:ext cx="10356376" cy="555463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Let </a:t>
            </a:r>
            <a:r>
              <a:rPr lang="en-US" dirty="0">
                <a:solidFill>
                  <a:srgbClr val="FF0000"/>
                </a:solidFill>
              </a:rPr>
              <a:t>G</a:t>
            </a:r>
            <a:r>
              <a:rPr lang="en-US" dirty="0"/>
              <a:t> be a graph with </a:t>
            </a:r>
            <a:r>
              <a:rPr lang="en-US" dirty="0">
                <a:solidFill>
                  <a:srgbClr val="FF0000"/>
                </a:solidFill>
              </a:rPr>
              <a:t>ordered vertices</a:t>
            </a:r>
            <a:r>
              <a:rPr lang="en-US" dirty="0"/>
              <a:t> </a:t>
            </a:r>
            <a:r>
              <a:rPr lang="en-US" dirty="0">
                <a:solidFill>
                  <a:srgbClr val="FF0000"/>
                </a:solidFill>
              </a:rPr>
              <a:t>v</a:t>
            </a:r>
            <a:r>
              <a:rPr lang="en-US" baseline="-25000" dirty="0">
                <a:solidFill>
                  <a:srgbClr val="FF0000"/>
                </a:solidFill>
              </a:rPr>
              <a:t>1</a:t>
            </a:r>
            <a:r>
              <a:rPr lang="en-US" dirty="0">
                <a:solidFill>
                  <a:srgbClr val="FF0000"/>
                </a:solidFill>
              </a:rPr>
              <a:t>, v</a:t>
            </a:r>
            <a:r>
              <a:rPr lang="en-US" baseline="-25000" dirty="0">
                <a:solidFill>
                  <a:srgbClr val="FF0000"/>
                </a:solidFill>
              </a:rPr>
              <a:t>2,</a:t>
            </a:r>
            <a:r>
              <a:rPr lang="en-US" dirty="0">
                <a:solidFill>
                  <a:srgbClr val="FF0000"/>
                </a:solidFill>
              </a:rPr>
              <a:t>..., </a:t>
            </a:r>
            <a:r>
              <a:rPr lang="en-US" dirty="0" err="1">
                <a:solidFill>
                  <a:srgbClr val="FF0000"/>
                </a:solidFill>
              </a:rPr>
              <a:t>v</a:t>
            </a:r>
            <a:r>
              <a:rPr lang="en-US" baseline="-25000" dirty="0" err="1">
                <a:solidFill>
                  <a:srgbClr val="FF0000"/>
                </a:solidFill>
              </a:rPr>
              <a:t>n</a:t>
            </a:r>
            <a:r>
              <a:rPr lang="en-US" dirty="0"/>
              <a:t>. The </a:t>
            </a:r>
            <a:r>
              <a:rPr lang="en-US" dirty="0">
                <a:solidFill>
                  <a:srgbClr val="FF0000"/>
                </a:solidFill>
              </a:rPr>
              <a:t>adjacency matrix</a:t>
            </a:r>
            <a:r>
              <a:rPr lang="en-US" dirty="0"/>
              <a:t> of </a:t>
            </a:r>
            <a:r>
              <a:rPr lang="en-US" dirty="0">
                <a:solidFill>
                  <a:srgbClr val="FF0000"/>
                </a:solidFill>
              </a:rPr>
              <a:t>G</a:t>
            </a:r>
            <a:r>
              <a:rPr lang="en-US" dirty="0"/>
              <a:t> is the </a:t>
            </a:r>
            <a:r>
              <a:rPr lang="en-US" dirty="0">
                <a:solidFill>
                  <a:srgbClr val="FF0000"/>
                </a:solidFill>
              </a:rPr>
              <a:t>matrix A = [</a:t>
            </a:r>
            <a:r>
              <a:rPr lang="en-US" dirty="0" err="1">
                <a:solidFill>
                  <a:srgbClr val="FF0000"/>
                </a:solidFill>
              </a:rPr>
              <a:t>a</a:t>
            </a:r>
            <a:r>
              <a:rPr lang="en-US" baseline="-25000" dirty="0" err="1">
                <a:solidFill>
                  <a:srgbClr val="FF0000"/>
                </a:solidFill>
              </a:rPr>
              <a:t>ij</a:t>
            </a:r>
            <a:r>
              <a:rPr lang="en-US" dirty="0">
                <a:solidFill>
                  <a:srgbClr val="FF0000"/>
                </a:solidFill>
              </a:rPr>
              <a:t>] </a:t>
            </a:r>
            <a:r>
              <a:rPr lang="en-US" dirty="0"/>
              <a:t>over the set of </a:t>
            </a:r>
            <a:r>
              <a:rPr lang="en-US" dirty="0">
                <a:solidFill>
                  <a:srgbClr val="FF0000"/>
                </a:solidFill>
              </a:rPr>
              <a:t>non-negative integers</a:t>
            </a:r>
            <a:r>
              <a:rPr lang="en-US" dirty="0"/>
              <a:t> such that</a:t>
            </a:r>
          </a:p>
          <a:p>
            <a:endParaRPr lang="en-US" dirty="0"/>
          </a:p>
          <a:p>
            <a:pPr>
              <a:buNone/>
            </a:pPr>
            <a:r>
              <a:rPr lang="en-US" dirty="0"/>
              <a:t>	 </a:t>
            </a:r>
            <a:r>
              <a:rPr lang="en-US" dirty="0" err="1">
                <a:solidFill>
                  <a:srgbClr val="FF0000"/>
                </a:solidFill>
              </a:rPr>
              <a:t>a</a:t>
            </a:r>
            <a:r>
              <a:rPr lang="en-US" baseline="-25000" dirty="0" err="1">
                <a:solidFill>
                  <a:srgbClr val="FF0000"/>
                </a:solidFill>
              </a:rPr>
              <a:t>ij</a:t>
            </a:r>
            <a:r>
              <a:rPr lang="en-US" dirty="0"/>
              <a:t> = the number of </a:t>
            </a:r>
            <a:r>
              <a:rPr lang="en-US" dirty="0">
                <a:solidFill>
                  <a:srgbClr val="FF0000"/>
                </a:solidFill>
              </a:rPr>
              <a:t>edges</a:t>
            </a:r>
            <a:r>
              <a:rPr lang="en-US" dirty="0"/>
              <a:t> connecting </a:t>
            </a:r>
            <a:r>
              <a:rPr lang="en-US" dirty="0">
                <a:solidFill>
                  <a:srgbClr val="FF0000"/>
                </a:solidFill>
              </a:rPr>
              <a:t>v</a:t>
            </a:r>
            <a:r>
              <a:rPr lang="en-US" baseline="-25000" dirty="0">
                <a:solidFill>
                  <a:srgbClr val="FF0000"/>
                </a:solidFill>
              </a:rPr>
              <a:t>i</a:t>
            </a:r>
            <a:r>
              <a:rPr lang="en-US" dirty="0"/>
              <a:t> and </a:t>
            </a:r>
            <a:r>
              <a:rPr lang="en-US" dirty="0" err="1">
                <a:solidFill>
                  <a:srgbClr val="FF0000"/>
                </a:solidFill>
              </a:rPr>
              <a:t>v</a:t>
            </a:r>
            <a:r>
              <a:rPr lang="en-US" baseline="-25000" dirty="0" err="1">
                <a:solidFill>
                  <a:srgbClr val="FF0000"/>
                </a:solidFill>
              </a:rPr>
              <a:t>j</a:t>
            </a:r>
            <a:r>
              <a:rPr lang="en-US" dirty="0"/>
              <a:t> </a:t>
            </a:r>
          </a:p>
          <a:p>
            <a:pPr>
              <a:buNone/>
            </a:pPr>
            <a:r>
              <a:rPr lang="en-US" dirty="0"/>
              <a:t>					 for all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i</a:t>
            </a:r>
            <a:r>
              <a:rPr lang="en-US" dirty="0">
                <a:solidFill>
                  <a:srgbClr val="FF0000"/>
                </a:solidFill>
              </a:rPr>
              <a:t>, j = 1, 2, …, n</a:t>
            </a:r>
            <a:r>
              <a:rPr lang="en-US" dirty="0"/>
              <a:t>.</a:t>
            </a:r>
          </a:p>
          <a:p>
            <a:pPr algn="ctr">
              <a:buNone/>
            </a:pPr>
            <a:r>
              <a:rPr lang="en-US" b="1" dirty="0"/>
              <a:t>	OR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The </a:t>
            </a:r>
            <a:r>
              <a:rPr lang="en-US" dirty="0" err="1"/>
              <a:t>adjancy</a:t>
            </a:r>
            <a:r>
              <a:rPr lang="en-US" dirty="0"/>
              <a:t> matrix say A= [</a:t>
            </a:r>
            <a:r>
              <a:rPr lang="en-US" dirty="0" err="1"/>
              <a:t>a</a:t>
            </a:r>
            <a:r>
              <a:rPr lang="en-US" baseline="-25000" dirty="0" err="1"/>
              <a:t>ij</a:t>
            </a:r>
            <a:r>
              <a:rPr lang="en-US" dirty="0"/>
              <a:t>] is also defined as </a:t>
            </a:r>
          </a:p>
          <a:p>
            <a:endParaRPr lang="en-US" dirty="0">
              <a:solidFill>
                <a:srgbClr val="FF0000"/>
              </a:solidFill>
            </a:endParaRPr>
          </a:p>
          <a:p>
            <a:pPr>
              <a:buNone/>
            </a:pPr>
            <a:endParaRPr lang="en-US" dirty="0"/>
          </a:p>
        </p:txBody>
      </p:sp>
      <p:sp>
        <p:nvSpPr>
          <p:cNvPr id="330754" name="Rectangle 2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graphicFrame>
        <p:nvGraphicFramePr>
          <p:cNvPr id="330753" name="Object 1"/>
          <p:cNvGraphicFramePr>
            <a:graphicFrameLocks noChangeAspect="1"/>
          </p:cNvGraphicFramePr>
          <p:nvPr/>
        </p:nvGraphicFramePr>
        <p:xfrm>
          <a:off x="4122761" y="4981992"/>
          <a:ext cx="4391025" cy="109240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0202" r:id="rId3" imgW="1955800" imgH="482600" progId="">
                  <p:embed/>
                </p:oleObj>
              </mc:Choice>
              <mc:Fallback>
                <p:oleObj r:id="rId3" imgW="1955800" imgH="482600" progId="">
                  <p:embed/>
                  <p:pic>
                    <p:nvPicPr>
                      <p:cNvPr id="330753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22761" y="4981992"/>
                        <a:ext cx="4391025" cy="1092401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07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2" dur="500"/>
                                        <p:tgtEl>
                                          <p:spTgt spid="3307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50642" y="174035"/>
            <a:ext cx="10515600" cy="722037"/>
          </a:xfrm>
        </p:spPr>
        <p:txBody>
          <a:bodyPr>
            <a:normAutofit/>
          </a:bodyPr>
          <a:lstStyle/>
          <a:p>
            <a:pPr algn="ctr"/>
            <a:r>
              <a:rPr lang="en-US" b="1" u="sng" dirty="0">
                <a:solidFill>
                  <a:srgbClr val="0070C0"/>
                </a:solidFill>
              </a:rPr>
              <a:t>EXAMPLE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>
          <a:xfrm>
            <a:off x="1179576" y="1146412"/>
            <a:ext cx="9829800" cy="4624426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 A </a:t>
            </a:r>
            <a:r>
              <a:rPr lang="en-US" dirty="0">
                <a:solidFill>
                  <a:srgbClr val="FF0000"/>
                </a:solidFill>
              </a:rPr>
              <a:t>graph</a:t>
            </a:r>
            <a:r>
              <a:rPr lang="en-US" dirty="0"/>
              <a:t> with it’s </a:t>
            </a:r>
            <a:r>
              <a:rPr lang="en-US" dirty="0">
                <a:solidFill>
                  <a:srgbClr val="FF0000"/>
                </a:solidFill>
              </a:rPr>
              <a:t>adjacency matrix</a:t>
            </a:r>
            <a:r>
              <a:rPr lang="en-US" dirty="0"/>
              <a:t> is shown.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Clearly graph has </a:t>
            </a:r>
            <a:r>
              <a:rPr lang="en-US" dirty="0">
                <a:solidFill>
                  <a:srgbClr val="FF0000"/>
                </a:solidFill>
              </a:rPr>
              <a:t>four vertices</a:t>
            </a:r>
            <a:r>
              <a:rPr lang="en-US" dirty="0"/>
              <a:t>. It means that the corresponding </a:t>
            </a:r>
            <a:r>
              <a:rPr lang="en-US" dirty="0">
                <a:solidFill>
                  <a:srgbClr val="FF0000"/>
                </a:solidFill>
              </a:rPr>
              <a:t>square matrix</a:t>
            </a:r>
            <a:r>
              <a:rPr lang="en-US" dirty="0"/>
              <a:t> will be order </a:t>
            </a:r>
            <a:r>
              <a:rPr lang="en-US" dirty="0">
                <a:solidFill>
                  <a:srgbClr val="FF0000"/>
                </a:solidFill>
              </a:rPr>
              <a:t>4 x 4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pic>
        <p:nvPicPr>
          <p:cNvPr id="9" name="Picture 8" descr="3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42700" y="1667302"/>
            <a:ext cx="2790825" cy="2400300"/>
          </a:xfrm>
          <a:prstGeom prst="rect">
            <a:avLst/>
          </a:prstGeom>
        </p:spPr>
      </p:pic>
      <p:pic>
        <p:nvPicPr>
          <p:cNvPr id="10" name="Picture 9" descr="4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7152" y="1555138"/>
            <a:ext cx="3200400" cy="2512464"/>
          </a:xfrm>
          <a:prstGeom prst="rect">
            <a:avLst/>
          </a:prstGeom>
        </p:spPr>
      </p:pic>
      <p:sp>
        <p:nvSpPr>
          <p:cNvPr id="7" name="Oval 6"/>
          <p:cNvSpPr/>
          <p:nvPr/>
        </p:nvSpPr>
        <p:spPr>
          <a:xfrm>
            <a:off x="7987352" y="3027536"/>
            <a:ext cx="394648" cy="381000"/>
          </a:xfrm>
          <a:prstGeom prst="ellipse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/>
          <p:cNvSpPr/>
          <p:nvPr/>
        </p:nvSpPr>
        <p:spPr>
          <a:xfrm>
            <a:off x="7467600" y="3499512"/>
            <a:ext cx="394648" cy="381000"/>
          </a:xfrm>
          <a:prstGeom prst="ellipse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20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/>
      <p:bldP spid="7" grpId="0" animBg="1"/>
      <p:bldP spid="8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0440" y="0"/>
            <a:ext cx="10515600" cy="722037"/>
          </a:xfrm>
        </p:spPr>
        <p:txBody>
          <a:bodyPr>
            <a:normAutofit/>
          </a:bodyPr>
          <a:lstStyle/>
          <a:p>
            <a:pPr algn="ctr"/>
            <a:r>
              <a:rPr lang="en-US" b="1" u="sng" dirty="0">
                <a:solidFill>
                  <a:srgbClr val="0070C0"/>
                </a:solidFill>
              </a:rPr>
              <a:t>EXERCISE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>
          <a:xfrm>
            <a:off x="826350" y="722037"/>
            <a:ext cx="10857749" cy="3413235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Find a </a:t>
            </a:r>
            <a:r>
              <a:rPr lang="en-US" dirty="0">
                <a:solidFill>
                  <a:srgbClr val="FF0000"/>
                </a:solidFill>
              </a:rPr>
              <a:t>graph</a:t>
            </a:r>
            <a:r>
              <a:rPr lang="en-US" dirty="0"/>
              <a:t> that have the following </a:t>
            </a:r>
            <a:r>
              <a:rPr lang="en-US" dirty="0">
                <a:solidFill>
                  <a:srgbClr val="FF0000"/>
                </a:solidFill>
              </a:rPr>
              <a:t>adjacency matrix</a:t>
            </a:r>
            <a:r>
              <a:rPr lang="en-US" dirty="0"/>
              <a:t>.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marL="0" indent="0">
              <a:buNone/>
            </a:pPr>
            <a:r>
              <a:rPr lang="en-US" b="1" dirty="0">
                <a:solidFill>
                  <a:srgbClr val="0070C0"/>
                </a:solidFill>
              </a:rPr>
              <a:t>Solution</a:t>
            </a:r>
          </a:p>
          <a:p>
            <a:pPr marL="0" indent="0">
              <a:buNone/>
            </a:pPr>
            <a:r>
              <a:rPr lang="en-US" dirty="0"/>
              <a:t>Its order is </a:t>
            </a:r>
            <a:r>
              <a:rPr lang="en-US" dirty="0">
                <a:solidFill>
                  <a:srgbClr val="FF0000"/>
                </a:solidFill>
              </a:rPr>
              <a:t>3 x 3</a:t>
            </a:r>
            <a:r>
              <a:rPr lang="en-US" dirty="0"/>
              <a:t>, it means its corresponding graph has </a:t>
            </a:r>
            <a:r>
              <a:rPr lang="en-US" dirty="0">
                <a:solidFill>
                  <a:srgbClr val="FF0000"/>
                </a:solidFill>
              </a:rPr>
              <a:t>three vertices</a:t>
            </a:r>
            <a:r>
              <a:rPr lang="en-US" dirty="0"/>
              <a:t>.</a:t>
            </a:r>
          </a:p>
          <a:p>
            <a:r>
              <a:rPr lang="en-US" dirty="0"/>
              <a:t>Let the </a:t>
            </a:r>
            <a:r>
              <a:rPr lang="en-US" dirty="0">
                <a:solidFill>
                  <a:srgbClr val="FF0000"/>
                </a:solidFill>
              </a:rPr>
              <a:t>three vertices</a:t>
            </a:r>
            <a:r>
              <a:rPr lang="en-US" dirty="0"/>
              <a:t> of the </a:t>
            </a:r>
            <a:r>
              <a:rPr lang="en-US" dirty="0">
                <a:solidFill>
                  <a:srgbClr val="FF0000"/>
                </a:solidFill>
              </a:rPr>
              <a:t>graph</a:t>
            </a:r>
            <a:r>
              <a:rPr lang="en-US" dirty="0"/>
              <a:t> be named </a:t>
            </a:r>
            <a:r>
              <a:rPr lang="en-US" dirty="0">
                <a:solidFill>
                  <a:srgbClr val="FF0000"/>
                </a:solidFill>
              </a:rPr>
              <a:t>v</a:t>
            </a:r>
            <a:r>
              <a:rPr lang="en-US" baseline="-25000" dirty="0">
                <a:solidFill>
                  <a:srgbClr val="FF0000"/>
                </a:solidFill>
              </a:rPr>
              <a:t>1</a:t>
            </a:r>
            <a:r>
              <a:rPr lang="en-US" dirty="0"/>
              <a:t>, </a:t>
            </a:r>
            <a:r>
              <a:rPr lang="en-US" dirty="0">
                <a:solidFill>
                  <a:srgbClr val="FF0000"/>
                </a:solidFill>
              </a:rPr>
              <a:t>v</a:t>
            </a:r>
            <a:r>
              <a:rPr lang="en-US" baseline="-25000" dirty="0">
                <a:solidFill>
                  <a:srgbClr val="FF0000"/>
                </a:solidFill>
              </a:rPr>
              <a:t>2</a:t>
            </a:r>
            <a:r>
              <a:rPr lang="en-US" dirty="0"/>
              <a:t> and </a:t>
            </a:r>
            <a:r>
              <a:rPr lang="en-US" dirty="0">
                <a:solidFill>
                  <a:srgbClr val="FF0000"/>
                </a:solidFill>
              </a:rPr>
              <a:t>v</a:t>
            </a:r>
            <a:r>
              <a:rPr lang="en-US" baseline="-25000" dirty="0">
                <a:solidFill>
                  <a:srgbClr val="FF0000"/>
                </a:solidFill>
              </a:rPr>
              <a:t>3</a:t>
            </a:r>
            <a:endParaRPr lang="en-US" dirty="0">
              <a:solidFill>
                <a:srgbClr val="FF0000"/>
              </a:solidFill>
            </a:endParaRPr>
          </a:p>
          <a:p>
            <a:endParaRPr lang="en-US" dirty="0"/>
          </a:p>
          <a:p>
            <a:endParaRPr lang="en-US" dirty="0"/>
          </a:p>
        </p:txBody>
      </p:sp>
      <p:graphicFrame>
        <p:nvGraphicFramePr>
          <p:cNvPr id="347137" name="Object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93615518"/>
              </p:ext>
            </p:extLst>
          </p:nvPr>
        </p:nvGraphicFramePr>
        <p:xfrm>
          <a:off x="4807423" y="1177786"/>
          <a:ext cx="1447801" cy="147412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26" r:id="rId3" imgW="698400" imgH="711000" progId="">
                  <p:embed/>
                </p:oleObj>
              </mc:Choice>
              <mc:Fallback>
                <p:oleObj r:id="rId3" imgW="698400" imgH="711000" progId="">
                  <p:embed/>
                  <p:pic>
                    <p:nvPicPr>
                      <p:cNvPr id="347137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07423" y="1177786"/>
                        <a:ext cx="1447801" cy="147412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6" name="Picture 5">
            <a:extLst>
              <a:ext uri="{FF2B5EF4-FFF2-40B4-BE49-F238E27FC236}">
                <a16:creationId xmlns:a16="http://schemas.microsoft.com/office/drawing/2014/main" id="{3311B0A3-F228-4DC0-8750-94EAFB643133}"/>
              </a:ext>
            </a:extLst>
          </p:cNvPr>
          <p:cNvPicPr/>
          <p:nvPr/>
        </p:nvPicPr>
        <p:blipFill rotWithShape="1">
          <a:blip r:embed="rId5"/>
          <a:srcRect l="61026"/>
          <a:stretch/>
        </p:blipFill>
        <p:spPr bwMode="auto">
          <a:xfrm>
            <a:off x="4076130" y="4011304"/>
            <a:ext cx="2910385" cy="2971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7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347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1382" y="1"/>
            <a:ext cx="10515600" cy="1023582"/>
          </a:xfrm>
        </p:spPr>
        <p:txBody>
          <a:bodyPr>
            <a:normAutofit/>
          </a:bodyPr>
          <a:lstStyle/>
          <a:p>
            <a:pPr algn="ctr"/>
            <a:r>
              <a:rPr lang="en-US" b="1" u="sng" dirty="0">
                <a:solidFill>
                  <a:srgbClr val="0070C0"/>
                </a:solidFill>
              </a:rPr>
              <a:t>DIRECTED GRAPH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>
          <a:xfrm>
            <a:off x="621381" y="1219200"/>
            <a:ext cx="11006511" cy="5105400"/>
          </a:xfrm>
        </p:spPr>
        <p:txBody>
          <a:bodyPr/>
          <a:lstStyle/>
          <a:p>
            <a:r>
              <a:rPr lang="en-US" dirty="0"/>
              <a:t>A </a:t>
            </a:r>
            <a:r>
              <a:rPr lang="en-US" dirty="0">
                <a:solidFill>
                  <a:srgbClr val="FF0000"/>
                </a:solidFill>
              </a:rPr>
              <a:t>directed graph</a:t>
            </a:r>
            <a:r>
              <a:rPr lang="en-US" dirty="0"/>
              <a:t> or </a:t>
            </a:r>
            <a:r>
              <a:rPr lang="en-US" dirty="0">
                <a:solidFill>
                  <a:srgbClr val="FF0000"/>
                </a:solidFill>
              </a:rPr>
              <a:t>digraph</a:t>
            </a:r>
            <a:r>
              <a:rPr lang="en-US" dirty="0"/>
              <a:t>, consists of two finite </a:t>
            </a:r>
            <a:r>
              <a:rPr lang="en-US" dirty="0">
                <a:solidFill>
                  <a:srgbClr val="FF0000"/>
                </a:solidFill>
              </a:rPr>
              <a:t>sets</a:t>
            </a:r>
            <a:r>
              <a:rPr lang="en-US" dirty="0"/>
              <a:t>: a set </a:t>
            </a:r>
            <a:r>
              <a:rPr lang="en-US" dirty="0">
                <a:solidFill>
                  <a:srgbClr val="FF0000"/>
                </a:solidFill>
              </a:rPr>
              <a:t>V(G)</a:t>
            </a:r>
            <a:r>
              <a:rPr lang="en-US" dirty="0"/>
              <a:t> of </a:t>
            </a:r>
            <a:r>
              <a:rPr lang="en-US" dirty="0">
                <a:solidFill>
                  <a:srgbClr val="FF0000"/>
                </a:solidFill>
              </a:rPr>
              <a:t>vertices</a:t>
            </a:r>
            <a:r>
              <a:rPr lang="en-US" dirty="0"/>
              <a:t> and a set </a:t>
            </a:r>
            <a:r>
              <a:rPr lang="en-US" dirty="0">
                <a:solidFill>
                  <a:srgbClr val="FF0000"/>
                </a:solidFill>
              </a:rPr>
              <a:t>D(G)</a:t>
            </a:r>
            <a:r>
              <a:rPr lang="en-US" dirty="0"/>
              <a:t> of </a:t>
            </a:r>
            <a:r>
              <a:rPr lang="en-US" dirty="0">
                <a:solidFill>
                  <a:srgbClr val="FF0000"/>
                </a:solidFill>
              </a:rPr>
              <a:t>directed edges</a:t>
            </a:r>
            <a:r>
              <a:rPr lang="en-US" dirty="0"/>
              <a:t>, </a:t>
            </a:r>
          </a:p>
          <a:p>
            <a:endParaRPr lang="en-US" dirty="0"/>
          </a:p>
          <a:p>
            <a:r>
              <a:rPr lang="en-US" dirty="0"/>
              <a:t>where each </a:t>
            </a:r>
            <a:r>
              <a:rPr lang="en-US" dirty="0">
                <a:solidFill>
                  <a:srgbClr val="FF0000"/>
                </a:solidFill>
              </a:rPr>
              <a:t>edge</a:t>
            </a:r>
            <a:r>
              <a:rPr lang="en-US" dirty="0"/>
              <a:t> is associated with an </a:t>
            </a:r>
            <a:r>
              <a:rPr lang="en-US" dirty="0">
                <a:solidFill>
                  <a:srgbClr val="FF0000"/>
                </a:solidFill>
              </a:rPr>
              <a:t>ordered pair</a:t>
            </a:r>
            <a:r>
              <a:rPr lang="en-US" dirty="0"/>
              <a:t> of </a:t>
            </a:r>
            <a:r>
              <a:rPr lang="en-US" dirty="0">
                <a:solidFill>
                  <a:srgbClr val="FF0000"/>
                </a:solidFill>
              </a:rPr>
              <a:t>vertices</a:t>
            </a:r>
            <a:r>
              <a:rPr lang="en-US" dirty="0"/>
              <a:t> called its </a:t>
            </a:r>
            <a:r>
              <a:rPr lang="en-US" dirty="0">
                <a:solidFill>
                  <a:srgbClr val="FF0000"/>
                </a:solidFill>
              </a:rPr>
              <a:t>end points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/>
              <a:t>If </a:t>
            </a:r>
            <a:r>
              <a:rPr lang="en-US" dirty="0">
                <a:solidFill>
                  <a:srgbClr val="FF0000"/>
                </a:solidFill>
              </a:rPr>
              <a:t>edge e</a:t>
            </a:r>
            <a:r>
              <a:rPr lang="en-US" dirty="0"/>
              <a:t> is associated with the </a:t>
            </a:r>
            <a:r>
              <a:rPr lang="en-US" dirty="0">
                <a:solidFill>
                  <a:srgbClr val="FF0000"/>
                </a:solidFill>
              </a:rPr>
              <a:t>pair (v, w)</a:t>
            </a:r>
            <a:r>
              <a:rPr lang="en-US" dirty="0"/>
              <a:t> of </a:t>
            </a:r>
            <a:r>
              <a:rPr lang="en-US" dirty="0">
                <a:solidFill>
                  <a:srgbClr val="FF0000"/>
                </a:solidFill>
              </a:rPr>
              <a:t>vertices</a:t>
            </a:r>
            <a:r>
              <a:rPr lang="en-US" dirty="0"/>
              <a:t>, then </a:t>
            </a:r>
            <a:r>
              <a:rPr lang="en-US" dirty="0">
                <a:solidFill>
                  <a:srgbClr val="FF0000"/>
                </a:solidFill>
              </a:rPr>
              <a:t>e</a:t>
            </a:r>
            <a:r>
              <a:rPr lang="en-US" dirty="0"/>
              <a:t> is said to be the </a:t>
            </a:r>
            <a:r>
              <a:rPr lang="en-US" dirty="0">
                <a:solidFill>
                  <a:srgbClr val="FF0000"/>
                </a:solidFill>
              </a:rPr>
              <a:t>directed edge</a:t>
            </a:r>
            <a:r>
              <a:rPr lang="en-US" dirty="0"/>
              <a:t> from </a:t>
            </a:r>
            <a:r>
              <a:rPr lang="en-US" dirty="0">
                <a:solidFill>
                  <a:srgbClr val="FF0000"/>
                </a:solidFill>
              </a:rPr>
              <a:t>v</a:t>
            </a:r>
            <a:r>
              <a:rPr lang="en-US" dirty="0"/>
              <a:t> to </a:t>
            </a:r>
            <a:r>
              <a:rPr lang="en-US" dirty="0">
                <a:solidFill>
                  <a:srgbClr val="FF0000"/>
                </a:solidFill>
              </a:rPr>
              <a:t>w</a:t>
            </a:r>
            <a:r>
              <a:rPr lang="en-US" dirty="0"/>
              <a:t> and is represented by drawing an </a:t>
            </a:r>
            <a:r>
              <a:rPr lang="en-US" dirty="0">
                <a:solidFill>
                  <a:srgbClr val="FF0000"/>
                </a:solidFill>
              </a:rPr>
              <a:t>arrow</a:t>
            </a:r>
            <a:r>
              <a:rPr lang="en-US" dirty="0"/>
              <a:t> from </a:t>
            </a:r>
            <a:r>
              <a:rPr lang="en-US" dirty="0">
                <a:solidFill>
                  <a:srgbClr val="FF0000"/>
                </a:solidFill>
              </a:rPr>
              <a:t>v</a:t>
            </a:r>
            <a:r>
              <a:rPr lang="en-US" dirty="0"/>
              <a:t> to </a:t>
            </a:r>
            <a:r>
              <a:rPr lang="en-US" dirty="0">
                <a:solidFill>
                  <a:srgbClr val="FF0000"/>
                </a:solidFill>
              </a:rPr>
              <a:t>w</a:t>
            </a:r>
            <a:r>
              <a:rPr lang="en-US" dirty="0"/>
              <a:t>.</a:t>
            </a: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ctr"/>
            <a:r>
              <a:rPr lang="en-US" b="1" u="sng" dirty="0">
                <a:solidFill>
                  <a:srgbClr val="0070C0"/>
                </a:solidFill>
              </a:rPr>
              <a:t>EXAMPLE OF DIGRAPGH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en-US" dirty="0"/>
          </a:p>
          <a:p>
            <a:endParaRPr lang="en-US" dirty="0"/>
          </a:p>
        </p:txBody>
      </p:sp>
      <p:pic>
        <p:nvPicPr>
          <p:cNvPr id="5" name="Picture 4"/>
          <p:cNvPicPr/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822051" y="1560394"/>
            <a:ext cx="4271071" cy="436273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ctr"/>
            <a:r>
              <a:rPr lang="en-US" b="1" u="sng" dirty="0">
                <a:solidFill>
                  <a:srgbClr val="0070C0"/>
                </a:solidFill>
              </a:rPr>
              <a:t>ADJACENCY MATRIX OF A DIRECTED GRAPH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Let </a:t>
            </a:r>
            <a:r>
              <a:rPr lang="en-US" dirty="0">
                <a:solidFill>
                  <a:srgbClr val="FF0000"/>
                </a:solidFill>
              </a:rPr>
              <a:t>G</a:t>
            </a:r>
            <a:r>
              <a:rPr lang="en-US" dirty="0"/>
              <a:t> be a </a:t>
            </a:r>
            <a:r>
              <a:rPr lang="en-US" dirty="0">
                <a:solidFill>
                  <a:srgbClr val="FF0000"/>
                </a:solidFill>
              </a:rPr>
              <a:t>graph</a:t>
            </a:r>
            <a:r>
              <a:rPr lang="en-US" dirty="0"/>
              <a:t> with </a:t>
            </a:r>
            <a:r>
              <a:rPr lang="en-US" dirty="0">
                <a:solidFill>
                  <a:srgbClr val="FF0000"/>
                </a:solidFill>
              </a:rPr>
              <a:t>ordered vertices</a:t>
            </a:r>
            <a:r>
              <a:rPr lang="en-US" dirty="0"/>
              <a:t> </a:t>
            </a:r>
          </a:p>
          <a:p>
            <a:pPr>
              <a:buNone/>
            </a:pPr>
            <a:r>
              <a:rPr lang="en-US" dirty="0"/>
              <a:t>					</a:t>
            </a:r>
            <a:r>
              <a:rPr lang="en-US" dirty="0">
                <a:solidFill>
                  <a:srgbClr val="FF0000"/>
                </a:solidFill>
              </a:rPr>
              <a:t>v</a:t>
            </a:r>
            <a:r>
              <a:rPr lang="en-US" baseline="-25000" dirty="0">
                <a:solidFill>
                  <a:srgbClr val="FF0000"/>
                </a:solidFill>
              </a:rPr>
              <a:t>1</a:t>
            </a:r>
            <a:r>
              <a:rPr lang="en-US" dirty="0">
                <a:solidFill>
                  <a:srgbClr val="FF0000"/>
                </a:solidFill>
              </a:rPr>
              <a:t>, v</a:t>
            </a:r>
            <a:r>
              <a:rPr lang="en-US" baseline="-25000" dirty="0">
                <a:solidFill>
                  <a:srgbClr val="FF0000"/>
                </a:solidFill>
              </a:rPr>
              <a:t>2</a:t>
            </a:r>
            <a:r>
              <a:rPr lang="en-US" dirty="0">
                <a:solidFill>
                  <a:srgbClr val="FF0000"/>
                </a:solidFill>
              </a:rPr>
              <a:t>, …, </a:t>
            </a:r>
            <a:r>
              <a:rPr lang="en-US" dirty="0" err="1">
                <a:solidFill>
                  <a:srgbClr val="FF0000"/>
                </a:solidFill>
              </a:rPr>
              <a:t>v</a:t>
            </a:r>
            <a:r>
              <a:rPr lang="en-US" baseline="-25000" dirty="0" err="1">
                <a:solidFill>
                  <a:srgbClr val="FF0000"/>
                </a:solidFill>
              </a:rPr>
              <a:t>n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/>
              <a:t>The </a:t>
            </a:r>
            <a:r>
              <a:rPr lang="en-US" dirty="0">
                <a:solidFill>
                  <a:srgbClr val="FF0000"/>
                </a:solidFill>
              </a:rPr>
              <a:t>adjacency matrix</a:t>
            </a:r>
            <a:r>
              <a:rPr lang="en-US" dirty="0"/>
              <a:t> of </a:t>
            </a:r>
            <a:r>
              <a:rPr lang="en-US" dirty="0">
                <a:solidFill>
                  <a:srgbClr val="FF0000"/>
                </a:solidFill>
              </a:rPr>
              <a:t>G</a:t>
            </a:r>
            <a:r>
              <a:rPr lang="en-US" dirty="0"/>
              <a:t> is the matrix </a:t>
            </a:r>
            <a:r>
              <a:rPr lang="en-US" dirty="0">
                <a:solidFill>
                  <a:srgbClr val="FF0000"/>
                </a:solidFill>
              </a:rPr>
              <a:t>A</a:t>
            </a:r>
            <a:r>
              <a:rPr lang="en-US" dirty="0"/>
              <a:t> = </a:t>
            </a:r>
            <a:r>
              <a:rPr lang="en-US" dirty="0">
                <a:solidFill>
                  <a:srgbClr val="FF0000"/>
                </a:solidFill>
              </a:rPr>
              <a:t>[</a:t>
            </a:r>
            <a:r>
              <a:rPr lang="en-US" dirty="0" err="1">
                <a:solidFill>
                  <a:srgbClr val="FF0000"/>
                </a:solidFill>
              </a:rPr>
              <a:t>a</a:t>
            </a:r>
            <a:r>
              <a:rPr lang="en-US" baseline="-25000" dirty="0" err="1">
                <a:solidFill>
                  <a:srgbClr val="FF0000"/>
                </a:solidFill>
              </a:rPr>
              <a:t>ij</a:t>
            </a:r>
            <a:r>
              <a:rPr lang="en-US" dirty="0">
                <a:solidFill>
                  <a:srgbClr val="FF0000"/>
                </a:solidFill>
              </a:rPr>
              <a:t>]</a:t>
            </a:r>
            <a:r>
              <a:rPr lang="en-US" dirty="0"/>
              <a:t> over the set of </a:t>
            </a:r>
            <a:r>
              <a:rPr lang="en-US" dirty="0">
                <a:solidFill>
                  <a:srgbClr val="FF0000"/>
                </a:solidFill>
              </a:rPr>
              <a:t>non-negative integers</a:t>
            </a:r>
            <a:r>
              <a:rPr lang="en-US" dirty="0"/>
              <a:t> such that</a:t>
            </a:r>
          </a:p>
          <a:p>
            <a:pPr>
              <a:buNone/>
            </a:pPr>
            <a:r>
              <a:rPr lang="en-US" dirty="0"/>
              <a:t>	</a:t>
            </a:r>
          </a:p>
          <a:p>
            <a:pPr>
              <a:buNone/>
            </a:pPr>
            <a:r>
              <a:rPr lang="en-US" dirty="0"/>
              <a:t>	</a:t>
            </a:r>
            <a:r>
              <a:rPr lang="en-US" dirty="0" err="1">
                <a:solidFill>
                  <a:srgbClr val="FF0000"/>
                </a:solidFill>
              </a:rPr>
              <a:t>a</a:t>
            </a:r>
            <a:r>
              <a:rPr lang="en-US" baseline="-25000" dirty="0" err="1">
                <a:solidFill>
                  <a:srgbClr val="FF0000"/>
                </a:solidFill>
              </a:rPr>
              <a:t>ij</a:t>
            </a:r>
            <a:r>
              <a:rPr lang="en-US" dirty="0"/>
              <a:t> = the </a:t>
            </a:r>
            <a:r>
              <a:rPr lang="en-US" dirty="0">
                <a:solidFill>
                  <a:srgbClr val="FF0000"/>
                </a:solidFill>
              </a:rPr>
              <a:t>number of arrows</a:t>
            </a:r>
            <a:r>
              <a:rPr lang="en-US" dirty="0"/>
              <a:t> from </a:t>
            </a:r>
            <a:r>
              <a:rPr lang="en-US" dirty="0">
                <a:solidFill>
                  <a:srgbClr val="FF0000"/>
                </a:solidFill>
              </a:rPr>
              <a:t>v</a:t>
            </a:r>
            <a:r>
              <a:rPr lang="en-US" baseline="-25000" dirty="0">
                <a:solidFill>
                  <a:srgbClr val="FF0000"/>
                </a:solidFill>
              </a:rPr>
              <a:t>i</a:t>
            </a:r>
            <a:r>
              <a:rPr lang="en-US" dirty="0"/>
              <a:t> to </a:t>
            </a:r>
            <a:r>
              <a:rPr lang="en-US" dirty="0" err="1">
                <a:solidFill>
                  <a:srgbClr val="FF0000"/>
                </a:solidFill>
              </a:rPr>
              <a:t>v</a:t>
            </a:r>
            <a:r>
              <a:rPr lang="en-US" baseline="-25000" dirty="0" err="1">
                <a:solidFill>
                  <a:srgbClr val="FF0000"/>
                </a:solidFill>
              </a:rPr>
              <a:t>j</a:t>
            </a:r>
            <a:r>
              <a:rPr lang="en-US" dirty="0"/>
              <a:t>  </a:t>
            </a:r>
          </a:p>
          <a:p>
            <a:pPr>
              <a:buNone/>
            </a:pPr>
            <a:r>
              <a:rPr lang="en-US" dirty="0"/>
              <a:t>		for all </a:t>
            </a:r>
            <a:r>
              <a:rPr lang="en-US" dirty="0" err="1">
                <a:solidFill>
                  <a:srgbClr val="FF0000"/>
                </a:solidFill>
              </a:rPr>
              <a:t>i</a:t>
            </a:r>
            <a:r>
              <a:rPr lang="en-US" dirty="0">
                <a:solidFill>
                  <a:srgbClr val="FF0000"/>
                </a:solidFill>
              </a:rPr>
              <a:t>, j = 1, 2, …, n</a:t>
            </a:r>
            <a:r>
              <a:rPr lang="en-US" dirty="0"/>
              <a:t>.</a:t>
            </a:r>
          </a:p>
          <a:p>
            <a:endParaRPr lang="en-US" dirty="0">
              <a:solidFill>
                <a:srgbClr val="FF0000"/>
              </a:solidFill>
            </a:endParaRP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b="1" u="sng" dirty="0">
                <a:solidFill>
                  <a:srgbClr val="0070C0"/>
                </a:solidFill>
              </a:rPr>
              <a:t>EXAMPLE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A directed graph with its adjacency matrix is shown</a:t>
            </a:r>
          </a:p>
        </p:txBody>
      </p:sp>
      <p:pic>
        <p:nvPicPr>
          <p:cNvPr id="6" name="Picture 5"/>
          <p:cNvPicPr/>
          <p:nvPr/>
        </p:nvPicPr>
        <p:blipFill rotWithShape="1">
          <a:blip r:embed="rId2"/>
          <a:srcRect r="59430"/>
          <a:stretch/>
        </p:blipFill>
        <p:spPr bwMode="auto">
          <a:xfrm>
            <a:off x="2084932" y="2446020"/>
            <a:ext cx="2819400" cy="26517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Rectangle 6"/>
          <p:cNvSpPr/>
          <p:nvPr/>
        </p:nvSpPr>
        <p:spPr>
          <a:xfrm>
            <a:off x="8579892" y="5368489"/>
            <a:ext cx="1905000" cy="381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Adjacency matrix</a:t>
            </a:r>
          </a:p>
        </p:txBody>
      </p:sp>
      <p:cxnSp>
        <p:nvCxnSpPr>
          <p:cNvPr id="9" name="Straight Arrow Connector 8"/>
          <p:cNvCxnSpPr/>
          <p:nvPr/>
        </p:nvCxnSpPr>
        <p:spPr>
          <a:xfrm rot="16200000" flipH="1">
            <a:off x="8732292" y="4454089"/>
            <a:ext cx="838200" cy="838200"/>
          </a:xfrm>
          <a:prstGeom prst="straightConnector1">
            <a:avLst/>
          </a:prstGeom>
          <a:ln w="254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4">
            <a:extLst>
              <a:ext uri="{FF2B5EF4-FFF2-40B4-BE49-F238E27FC236}">
                <a16:creationId xmlns:a16="http://schemas.microsoft.com/office/drawing/2014/main" id="{BF693B9F-B0ED-4C6A-768C-05359996B0F9}"/>
              </a:ext>
            </a:extLst>
          </p:cNvPr>
          <p:cNvPicPr/>
          <p:nvPr/>
        </p:nvPicPr>
        <p:blipFill rotWithShape="1">
          <a:blip r:embed="rId2"/>
          <a:srcRect l="45876"/>
          <a:stretch/>
        </p:blipFill>
        <p:spPr bwMode="auto">
          <a:xfrm>
            <a:off x="5077868" y="2446020"/>
            <a:ext cx="3761332" cy="26517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  <p:bldP spid="7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b="1" u="sng" dirty="0">
                <a:solidFill>
                  <a:srgbClr val="0070C0"/>
                </a:solidFill>
              </a:rPr>
              <a:t>EXERCISE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Find </a:t>
            </a:r>
            <a:r>
              <a:rPr lang="en-US" dirty="0">
                <a:solidFill>
                  <a:srgbClr val="FF0000"/>
                </a:solidFill>
              </a:rPr>
              <a:t>directed graph</a:t>
            </a:r>
            <a:r>
              <a:rPr lang="en-US" dirty="0"/>
              <a:t> that has the </a:t>
            </a:r>
            <a:r>
              <a:rPr lang="en-US" dirty="0">
                <a:solidFill>
                  <a:srgbClr val="FF0000"/>
                </a:solidFill>
              </a:rPr>
              <a:t>adjacency matrix</a:t>
            </a:r>
          </a:p>
          <a:p>
            <a:endParaRPr lang="en-US" dirty="0">
              <a:solidFill>
                <a:srgbClr val="FF0000"/>
              </a:solidFill>
            </a:endParaRPr>
          </a:p>
          <a:p>
            <a:endParaRPr lang="en-US" dirty="0">
              <a:solidFill>
                <a:srgbClr val="FF0000"/>
              </a:solidFill>
            </a:endParaRPr>
          </a:p>
          <a:p>
            <a:endParaRPr lang="en-US" dirty="0">
              <a:solidFill>
                <a:srgbClr val="FF0000"/>
              </a:solidFill>
            </a:endParaRPr>
          </a:p>
          <a:p>
            <a:endParaRPr lang="en-US" dirty="0">
              <a:solidFill>
                <a:srgbClr val="FF0000"/>
              </a:solidFill>
            </a:endParaRPr>
          </a:p>
          <a:p>
            <a:endParaRPr lang="en-US" dirty="0">
              <a:solidFill>
                <a:srgbClr val="FF0000"/>
              </a:solidFill>
            </a:endParaRPr>
          </a:p>
          <a:p>
            <a:r>
              <a:rPr lang="en-US" dirty="0"/>
              <a:t>The order of </a:t>
            </a:r>
            <a:r>
              <a:rPr lang="en-US" dirty="0">
                <a:solidFill>
                  <a:srgbClr val="FF0000"/>
                </a:solidFill>
              </a:rPr>
              <a:t>matrix </a:t>
            </a:r>
            <a:r>
              <a:rPr lang="en-US" dirty="0"/>
              <a:t>is</a:t>
            </a:r>
            <a:r>
              <a:rPr lang="en-US" dirty="0">
                <a:solidFill>
                  <a:srgbClr val="FF0000"/>
                </a:solidFill>
              </a:rPr>
              <a:t> 4 x 4</a:t>
            </a:r>
            <a:r>
              <a:rPr lang="en-US" dirty="0"/>
              <a:t>, it means it has </a:t>
            </a:r>
            <a:r>
              <a:rPr lang="en-US" dirty="0">
                <a:solidFill>
                  <a:srgbClr val="FF0000"/>
                </a:solidFill>
              </a:rPr>
              <a:t>4 vertices</a:t>
            </a:r>
            <a:r>
              <a:rPr lang="en-US" dirty="0"/>
              <a:t>.</a:t>
            </a:r>
          </a:p>
        </p:txBody>
      </p:sp>
      <p:graphicFrame>
        <p:nvGraphicFramePr>
          <p:cNvPr id="340993" name="Object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88073360"/>
              </p:ext>
            </p:extLst>
          </p:nvPr>
        </p:nvGraphicFramePr>
        <p:xfrm>
          <a:off x="4341125" y="2552127"/>
          <a:ext cx="2057400" cy="211241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250" r:id="rId3" imgW="888840" imgH="914400" progId="">
                  <p:embed/>
                </p:oleObj>
              </mc:Choice>
              <mc:Fallback>
                <p:oleObj r:id="rId3" imgW="888840" imgH="914400" progId="">
                  <p:embed/>
                  <p:pic>
                    <p:nvPicPr>
                      <p:cNvPr id="340993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41125" y="2552127"/>
                        <a:ext cx="2057400" cy="2112411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09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3409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1382" y="22637"/>
            <a:ext cx="10515600" cy="722037"/>
          </a:xfrm>
        </p:spPr>
        <p:txBody>
          <a:bodyPr>
            <a:normAutofit/>
          </a:bodyPr>
          <a:lstStyle/>
          <a:p>
            <a:pPr algn="ctr"/>
            <a:r>
              <a:rPr lang="en-US" b="1" u="sng" dirty="0">
                <a:solidFill>
                  <a:srgbClr val="0070C0"/>
                </a:solidFill>
              </a:rPr>
              <a:t>SOLUTION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>
          <a:xfrm>
            <a:off x="360711" y="744674"/>
            <a:ext cx="11458250" cy="961296"/>
          </a:xfrm>
        </p:spPr>
        <p:txBody>
          <a:bodyPr>
            <a:normAutofit/>
          </a:bodyPr>
          <a:lstStyle/>
          <a:p>
            <a:r>
              <a:rPr lang="en-US" dirty="0"/>
              <a:t>The </a:t>
            </a:r>
            <a:r>
              <a:rPr lang="en-US" dirty="0">
                <a:solidFill>
                  <a:srgbClr val="FF0000"/>
                </a:solidFill>
              </a:rPr>
              <a:t>4 </a:t>
            </a:r>
            <a:r>
              <a:rPr lang="en-US" dirty="0">
                <a:solidFill>
                  <a:srgbClr val="FF0000"/>
                </a:solidFill>
                <a:sym typeface="Symbol"/>
              </a:rPr>
              <a:t></a:t>
            </a:r>
            <a:r>
              <a:rPr lang="en-US" dirty="0">
                <a:solidFill>
                  <a:srgbClr val="FF0000"/>
                </a:solidFill>
              </a:rPr>
              <a:t> 4 adjacency matrix</a:t>
            </a:r>
            <a:r>
              <a:rPr lang="en-US" dirty="0"/>
              <a:t> shows that the </a:t>
            </a:r>
            <a:r>
              <a:rPr lang="en-US" dirty="0">
                <a:solidFill>
                  <a:srgbClr val="FF0000"/>
                </a:solidFill>
              </a:rPr>
              <a:t>graph</a:t>
            </a:r>
            <a:r>
              <a:rPr lang="en-US" dirty="0"/>
              <a:t> has </a:t>
            </a:r>
            <a:r>
              <a:rPr lang="en-US" dirty="0">
                <a:solidFill>
                  <a:srgbClr val="FF0000"/>
                </a:solidFill>
              </a:rPr>
              <a:t>4 vertices</a:t>
            </a:r>
            <a:r>
              <a:rPr lang="en-US" dirty="0"/>
              <a:t> say </a:t>
            </a:r>
            <a:r>
              <a:rPr lang="en-US" dirty="0">
                <a:solidFill>
                  <a:srgbClr val="FF0000"/>
                </a:solidFill>
              </a:rPr>
              <a:t>v</a:t>
            </a:r>
            <a:r>
              <a:rPr lang="en-US" baseline="-25000" dirty="0">
                <a:solidFill>
                  <a:srgbClr val="FF0000"/>
                </a:solidFill>
              </a:rPr>
              <a:t>1</a:t>
            </a:r>
            <a:r>
              <a:rPr lang="en-US" dirty="0">
                <a:solidFill>
                  <a:srgbClr val="FF0000"/>
                </a:solidFill>
              </a:rPr>
              <a:t>, v</a:t>
            </a:r>
            <a:r>
              <a:rPr lang="en-US" baseline="-25000" dirty="0">
                <a:solidFill>
                  <a:srgbClr val="FF0000"/>
                </a:solidFill>
              </a:rPr>
              <a:t>2</a:t>
            </a:r>
            <a:r>
              <a:rPr lang="en-US" dirty="0">
                <a:solidFill>
                  <a:srgbClr val="FF0000"/>
                </a:solidFill>
              </a:rPr>
              <a:t>, v</a:t>
            </a:r>
            <a:r>
              <a:rPr lang="en-US" baseline="-25000" dirty="0">
                <a:solidFill>
                  <a:srgbClr val="FF0000"/>
                </a:solidFill>
              </a:rPr>
              <a:t>3</a:t>
            </a:r>
            <a:r>
              <a:rPr lang="en-US" dirty="0"/>
              <a:t> and </a:t>
            </a:r>
            <a:r>
              <a:rPr lang="en-US" dirty="0">
                <a:solidFill>
                  <a:srgbClr val="FF0000"/>
                </a:solidFill>
              </a:rPr>
              <a:t>v</a:t>
            </a:r>
            <a:r>
              <a:rPr lang="en-US" baseline="-25000" dirty="0">
                <a:solidFill>
                  <a:srgbClr val="FF0000"/>
                </a:solidFill>
              </a:rPr>
              <a:t>4</a:t>
            </a:r>
            <a:r>
              <a:rPr lang="en-US" dirty="0"/>
              <a:t> labeled across the top and down the left side of the matrix. </a:t>
            </a:r>
          </a:p>
          <a:p>
            <a:pPr>
              <a:buNone/>
            </a:pPr>
            <a:endParaRPr lang="en-US" dirty="0">
              <a:solidFill>
                <a:srgbClr val="FF0000"/>
              </a:solidFill>
            </a:endParaRPr>
          </a:p>
        </p:txBody>
      </p:sp>
      <p:graphicFrame>
        <p:nvGraphicFramePr>
          <p:cNvPr id="339969" name="Object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40367087"/>
              </p:ext>
            </p:extLst>
          </p:nvPr>
        </p:nvGraphicFramePr>
        <p:xfrm>
          <a:off x="1354950" y="1816263"/>
          <a:ext cx="2743200" cy="238397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3274" r:id="rId3" imgW="1346040" imgH="1168200" progId="">
                  <p:embed/>
                </p:oleObj>
              </mc:Choice>
              <mc:Fallback>
                <p:oleObj r:id="rId3" imgW="1346040" imgH="1168200" progId="">
                  <p:embed/>
                  <p:pic>
                    <p:nvPicPr>
                      <p:cNvPr id="339969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54950" y="1816263"/>
                        <a:ext cx="2743200" cy="238397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B5EA1833-11D8-408C-BDA5-241AC79F5BDB}"/>
              </a:ext>
            </a:extLst>
          </p:cNvPr>
          <p:cNvSpPr txBox="1">
            <a:spLocks/>
          </p:cNvSpPr>
          <p:nvPr/>
        </p:nvSpPr>
        <p:spPr>
          <a:xfrm>
            <a:off x="360711" y="5125760"/>
            <a:ext cx="11226238" cy="148513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It means that a </a:t>
            </a:r>
            <a:r>
              <a:rPr lang="en-US" dirty="0">
                <a:solidFill>
                  <a:srgbClr val="FF0000"/>
                </a:solidFill>
              </a:rPr>
              <a:t>loop</a:t>
            </a:r>
            <a:r>
              <a:rPr lang="en-US" dirty="0"/>
              <a:t> exists from </a:t>
            </a:r>
            <a:r>
              <a:rPr lang="en-US" dirty="0">
                <a:solidFill>
                  <a:srgbClr val="FF0000"/>
                </a:solidFill>
              </a:rPr>
              <a:t>v</a:t>
            </a:r>
            <a:r>
              <a:rPr lang="en-US" baseline="-25000" dirty="0">
                <a:solidFill>
                  <a:srgbClr val="FF0000"/>
                </a:solidFill>
              </a:rPr>
              <a:t>1</a:t>
            </a:r>
            <a:r>
              <a:rPr lang="en-US" baseline="-25000" dirty="0"/>
              <a:t> </a:t>
            </a:r>
            <a:r>
              <a:rPr lang="en-US" dirty="0"/>
              <a:t>and </a:t>
            </a:r>
            <a:r>
              <a:rPr lang="en-US" dirty="0">
                <a:solidFill>
                  <a:srgbClr val="FF0000"/>
                </a:solidFill>
              </a:rPr>
              <a:t>v</a:t>
            </a:r>
            <a:r>
              <a:rPr lang="en-US" baseline="-25000" dirty="0">
                <a:solidFill>
                  <a:srgbClr val="FF0000"/>
                </a:solidFill>
              </a:rPr>
              <a:t>3</a:t>
            </a:r>
            <a:r>
              <a:rPr lang="en-US" baseline="-25000" dirty="0"/>
              <a:t> </a:t>
            </a:r>
            <a:r>
              <a:rPr lang="en-US" dirty="0"/>
              <a:t>, </a:t>
            </a:r>
            <a:r>
              <a:rPr lang="en-US" dirty="0">
                <a:solidFill>
                  <a:srgbClr val="FF0000"/>
                </a:solidFill>
              </a:rPr>
              <a:t>two</a:t>
            </a:r>
            <a:r>
              <a:rPr lang="en-US" dirty="0"/>
              <a:t> arrows go from </a:t>
            </a:r>
            <a:r>
              <a:rPr lang="en-US" dirty="0">
                <a:solidFill>
                  <a:srgbClr val="FF0000"/>
                </a:solidFill>
              </a:rPr>
              <a:t>v</a:t>
            </a:r>
            <a:r>
              <a:rPr lang="en-US" baseline="-25000" dirty="0">
                <a:solidFill>
                  <a:srgbClr val="FF0000"/>
                </a:solidFill>
              </a:rPr>
              <a:t>1</a:t>
            </a:r>
            <a:r>
              <a:rPr lang="en-US" baseline="-25000" dirty="0"/>
              <a:t> </a:t>
            </a:r>
            <a:r>
              <a:rPr lang="en-US" dirty="0"/>
              <a:t>to </a:t>
            </a:r>
            <a:r>
              <a:rPr lang="en-US" dirty="0">
                <a:solidFill>
                  <a:srgbClr val="FF0000"/>
                </a:solidFill>
              </a:rPr>
              <a:t>v</a:t>
            </a:r>
            <a:r>
              <a:rPr lang="en-US" baseline="-25000" dirty="0">
                <a:solidFill>
                  <a:srgbClr val="FF0000"/>
                </a:solidFill>
              </a:rPr>
              <a:t>4</a:t>
            </a:r>
            <a:r>
              <a:rPr lang="en-US" baseline="-25000" dirty="0"/>
              <a:t>  </a:t>
            </a:r>
            <a:r>
              <a:rPr lang="en-US" dirty="0"/>
              <a:t>and </a:t>
            </a:r>
            <a:r>
              <a:rPr lang="en-US" dirty="0">
                <a:solidFill>
                  <a:srgbClr val="FF0000"/>
                </a:solidFill>
              </a:rPr>
              <a:t>two</a:t>
            </a:r>
            <a:r>
              <a:rPr lang="en-US" dirty="0"/>
              <a:t> from </a:t>
            </a:r>
            <a:r>
              <a:rPr lang="en-US" dirty="0">
                <a:solidFill>
                  <a:srgbClr val="FF0000"/>
                </a:solidFill>
              </a:rPr>
              <a:t>v</a:t>
            </a:r>
            <a:r>
              <a:rPr lang="en-US" baseline="-25000" dirty="0">
                <a:solidFill>
                  <a:srgbClr val="FF0000"/>
                </a:solidFill>
              </a:rPr>
              <a:t>3</a:t>
            </a:r>
            <a:r>
              <a:rPr lang="en-US" baseline="-25000" dirty="0"/>
              <a:t> </a:t>
            </a:r>
            <a:r>
              <a:rPr lang="en-US" dirty="0"/>
              <a:t>and </a:t>
            </a:r>
            <a:r>
              <a:rPr lang="en-US" dirty="0">
                <a:solidFill>
                  <a:srgbClr val="FF0000"/>
                </a:solidFill>
              </a:rPr>
              <a:t>v</a:t>
            </a:r>
            <a:r>
              <a:rPr lang="en-US" baseline="-25000" dirty="0">
                <a:solidFill>
                  <a:srgbClr val="FF0000"/>
                </a:solidFill>
              </a:rPr>
              <a:t>2</a:t>
            </a:r>
            <a:r>
              <a:rPr lang="en-US" baseline="-25000" dirty="0"/>
              <a:t>  </a:t>
            </a:r>
            <a:r>
              <a:rPr lang="en-US" dirty="0"/>
              <a:t>and </a:t>
            </a:r>
            <a:r>
              <a:rPr lang="en-US" dirty="0">
                <a:solidFill>
                  <a:srgbClr val="FF0000"/>
                </a:solidFill>
              </a:rPr>
              <a:t>one arrow</a:t>
            </a:r>
            <a:r>
              <a:rPr lang="en-US" dirty="0"/>
              <a:t> go from </a:t>
            </a:r>
            <a:r>
              <a:rPr lang="en-US" baseline="-25000" dirty="0"/>
              <a:t> </a:t>
            </a:r>
            <a:r>
              <a:rPr lang="en-US" dirty="0">
                <a:solidFill>
                  <a:srgbClr val="FF0000"/>
                </a:solidFill>
              </a:rPr>
              <a:t>v</a:t>
            </a:r>
            <a:r>
              <a:rPr lang="en-US" baseline="-25000" dirty="0">
                <a:solidFill>
                  <a:srgbClr val="FF0000"/>
                </a:solidFill>
              </a:rPr>
              <a:t>1 </a:t>
            </a:r>
            <a:r>
              <a:rPr lang="en-US" dirty="0"/>
              <a:t>to</a:t>
            </a:r>
            <a:r>
              <a:rPr lang="en-US" baseline="-25000" dirty="0"/>
              <a:t> </a:t>
            </a:r>
            <a:r>
              <a:rPr lang="en-US" dirty="0">
                <a:solidFill>
                  <a:srgbClr val="FF0000"/>
                </a:solidFill>
              </a:rPr>
              <a:t>v</a:t>
            </a:r>
            <a:r>
              <a:rPr lang="en-US" baseline="-25000" dirty="0">
                <a:solidFill>
                  <a:srgbClr val="FF0000"/>
                </a:solidFill>
              </a:rPr>
              <a:t>3</a:t>
            </a:r>
            <a:r>
              <a:rPr lang="en-US" baseline="-25000" dirty="0"/>
              <a:t> ,</a:t>
            </a:r>
            <a:r>
              <a:rPr lang="en-US" dirty="0"/>
              <a:t> </a:t>
            </a:r>
            <a:r>
              <a:rPr lang="en-US" dirty="0">
                <a:solidFill>
                  <a:srgbClr val="FF0000"/>
                </a:solidFill>
              </a:rPr>
              <a:t>v</a:t>
            </a:r>
            <a:r>
              <a:rPr lang="en-US" baseline="-25000" dirty="0">
                <a:solidFill>
                  <a:srgbClr val="FF0000"/>
                </a:solidFill>
              </a:rPr>
              <a:t>2</a:t>
            </a:r>
            <a:r>
              <a:rPr lang="en-US" dirty="0"/>
              <a:t> to</a:t>
            </a:r>
            <a:r>
              <a:rPr lang="en-US" baseline="-25000" dirty="0"/>
              <a:t> </a:t>
            </a:r>
            <a:r>
              <a:rPr lang="en-US" dirty="0">
                <a:solidFill>
                  <a:srgbClr val="FF0000"/>
                </a:solidFill>
              </a:rPr>
              <a:t>v</a:t>
            </a:r>
            <a:r>
              <a:rPr lang="en-US" baseline="-25000" dirty="0">
                <a:solidFill>
                  <a:srgbClr val="FF0000"/>
                </a:solidFill>
              </a:rPr>
              <a:t>3</a:t>
            </a:r>
            <a:r>
              <a:rPr lang="en-US" baseline="-25000" dirty="0"/>
              <a:t> ,</a:t>
            </a:r>
            <a:r>
              <a:rPr lang="en-US" dirty="0"/>
              <a:t> </a:t>
            </a:r>
            <a:r>
              <a:rPr lang="en-US" dirty="0">
                <a:solidFill>
                  <a:srgbClr val="FF0000"/>
                </a:solidFill>
              </a:rPr>
              <a:t>v</a:t>
            </a:r>
            <a:r>
              <a:rPr lang="en-US" baseline="-25000" dirty="0">
                <a:solidFill>
                  <a:srgbClr val="FF0000"/>
                </a:solidFill>
              </a:rPr>
              <a:t>3</a:t>
            </a:r>
            <a:r>
              <a:rPr lang="en-US" baseline="-25000" dirty="0"/>
              <a:t> </a:t>
            </a:r>
            <a:r>
              <a:rPr lang="en-US" dirty="0"/>
              <a:t>to</a:t>
            </a:r>
            <a:r>
              <a:rPr lang="en-US" baseline="-25000" dirty="0"/>
              <a:t> </a:t>
            </a:r>
            <a:r>
              <a:rPr lang="en-US" dirty="0">
                <a:solidFill>
                  <a:srgbClr val="FF0000"/>
                </a:solidFill>
              </a:rPr>
              <a:t>v</a:t>
            </a:r>
            <a:r>
              <a:rPr lang="en-US" baseline="-25000" dirty="0">
                <a:solidFill>
                  <a:srgbClr val="FF0000"/>
                </a:solidFill>
              </a:rPr>
              <a:t>4</a:t>
            </a:r>
            <a:r>
              <a:rPr lang="en-US" baseline="-25000" dirty="0"/>
              <a:t>,</a:t>
            </a:r>
            <a:r>
              <a:rPr lang="en-US" dirty="0"/>
              <a:t> </a:t>
            </a:r>
            <a:r>
              <a:rPr lang="en-US" dirty="0">
                <a:solidFill>
                  <a:srgbClr val="FF0000"/>
                </a:solidFill>
              </a:rPr>
              <a:t>v</a:t>
            </a:r>
            <a:r>
              <a:rPr lang="en-US" baseline="-25000" dirty="0">
                <a:solidFill>
                  <a:srgbClr val="FF0000"/>
                </a:solidFill>
              </a:rPr>
              <a:t>4</a:t>
            </a:r>
            <a:r>
              <a:rPr lang="en-US" baseline="-25000" dirty="0"/>
              <a:t> </a:t>
            </a:r>
            <a:r>
              <a:rPr lang="en-US" dirty="0"/>
              <a:t>to</a:t>
            </a:r>
            <a:r>
              <a:rPr lang="en-US" baseline="-25000" dirty="0"/>
              <a:t> </a:t>
            </a:r>
            <a:r>
              <a:rPr lang="en-US" dirty="0">
                <a:solidFill>
                  <a:srgbClr val="FF0000"/>
                </a:solidFill>
              </a:rPr>
              <a:t>v</a:t>
            </a:r>
            <a:r>
              <a:rPr lang="en-US" baseline="-25000" dirty="0">
                <a:solidFill>
                  <a:srgbClr val="FF0000"/>
                </a:solidFill>
              </a:rPr>
              <a:t>2</a:t>
            </a:r>
            <a:r>
              <a:rPr lang="en-US" baseline="-25000" dirty="0"/>
              <a:t> </a:t>
            </a:r>
            <a:r>
              <a:rPr lang="en-US" dirty="0"/>
              <a:t>and</a:t>
            </a:r>
            <a:r>
              <a:rPr lang="en-US" baseline="-25000" dirty="0"/>
              <a:t> </a:t>
            </a:r>
            <a:r>
              <a:rPr lang="en-US" dirty="0">
                <a:solidFill>
                  <a:srgbClr val="FF0000"/>
                </a:solidFill>
              </a:rPr>
              <a:t>v</a:t>
            </a:r>
            <a:r>
              <a:rPr lang="en-US" baseline="-25000" dirty="0">
                <a:solidFill>
                  <a:srgbClr val="FF0000"/>
                </a:solidFill>
              </a:rPr>
              <a:t>3</a:t>
            </a:r>
            <a:r>
              <a:rPr lang="en-US" baseline="-25000" dirty="0"/>
              <a:t>.    </a:t>
            </a:r>
            <a:endParaRPr lang="en-US" dirty="0"/>
          </a:p>
          <a:p>
            <a:endParaRPr lang="en-US" dirty="0"/>
          </a:p>
          <a:p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DC441A9-2A78-44FF-B16B-8878F0F2EF96}"/>
              </a:ext>
            </a:extLst>
          </p:cNvPr>
          <p:cNvSpPr txBox="1"/>
          <p:nvPr/>
        </p:nvSpPr>
        <p:spPr>
          <a:xfrm>
            <a:off x="5563737" y="1782655"/>
            <a:ext cx="572296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/>
              <a:t> </a:t>
            </a:r>
            <a:r>
              <a:rPr lang="en-US" sz="2800" u="sng" dirty="0"/>
              <a:t>A corresponding </a:t>
            </a:r>
            <a:r>
              <a:rPr lang="en-US" sz="2800" u="sng" dirty="0">
                <a:solidFill>
                  <a:srgbClr val="FF0000"/>
                </a:solidFill>
              </a:rPr>
              <a:t>directed graph</a:t>
            </a:r>
            <a:r>
              <a:rPr lang="en-US" sz="2800" u="sng" dirty="0"/>
              <a:t> is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C4E5053-0CC1-4735-9714-8A3F621F479F}"/>
              </a:ext>
            </a:extLst>
          </p:cNvPr>
          <p:cNvPicPr/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7312698" y="2382560"/>
            <a:ext cx="3017520" cy="2743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99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3399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20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  <p:bldP spid="6" grpId="0" uiExpand="1" build="p"/>
      <p:bldP spid="8" grpId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0721" y="866"/>
            <a:ext cx="9786344" cy="646834"/>
          </a:xfrm>
        </p:spPr>
        <p:txBody>
          <a:bodyPr>
            <a:normAutofit fontScale="90000"/>
          </a:bodyPr>
          <a:lstStyle/>
          <a:p>
            <a:r>
              <a:rPr lang="en-US" dirty="0">
                <a:latin typeface="Cambria Math" panose="02040503050406030204" pitchFamily="18" charset="0"/>
                <a:ea typeface="Cambria Math" panose="02040503050406030204" pitchFamily="18" charset="0"/>
              </a:rPr>
              <a:t>Graph Adjacency Matrix Representation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74786" y="790574"/>
            <a:ext cx="10869282" cy="2028825"/>
          </a:xfrm>
        </p:spPr>
        <p:txBody>
          <a:bodyPr anchor="t">
            <a:normAutofit/>
          </a:bodyPr>
          <a:lstStyle/>
          <a:p>
            <a:pPr marL="0" indent="0">
              <a:buNone/>
            </a:pPr>
            <a:r>
              <a:rPr lang="en-US" dirty="0">
                <a:latin typeface="Cambria" panose="02040503050406030204" pitchFamily="18" charset="0"/>
              </a:rPr>
              <a:t>Draw adjacency matrix for given directed graph.</a:t>
            </a:r>
          </a:p>
          <a:p>
            <a:pPr marL="0" indent="0">
              <a:buNone/>
            </a:pPr>
            <a:r>
              <a:rPr lang="en-US" sz="2400" b="1" dirty="0">
                <a:latin typeface="Cambria" panose="02040503050406030204" pitchFamily="18" charset="0"/>
              </a:rPr>
              <a:t>Solution:</a:t>
            </a:r>
          </a:p>
          <a:p>
            <a:pPr marL="0" indent="0">
              <a:buNone/>
            </a:pPr>
            <a:r>
              <a:rPr lang="en-US" sz="2400" dirty="0">
                <a:latin typeface="Cambria" panose="02040503050406030204" pitchFamily="18" charset="0"/>
              </a:rPr>
              <a:t>The Given Graph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114322" y="4128780"/>
            <a:ext cx="166571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C00000"/>
                </a:solidFill>
              </a:rPr>
              <a:t>Graph G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409427" y="3545283"/>
          <a:ext cx="5263883" cy="2971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50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961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7731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7731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7731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7731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508266"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rgbClr val="C00000"/>
                          </a:solidFill>
                        </a:rPr>
                        <a:t>Graph G</a:t>
                      </a:r>
                    </a:p>
                  </a:txBody>
                  <a:tcPr marL="68580" marR="68580" marT="34290" marB="3429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rgbClr val="C00000"/>
                          </a:solidFill>
                        </a:rPr>
                        <a:t>A</a:t>
                      </a:r>
                    </a:p>
                  </a:txBody>
                  <a:tcPr marL="68580" marR="68580" marT="34290" marB="3429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rgbClr val="C00000"/>
                          </a:solidFill>
                        </a:rPr>
                        <a:t>B</a:t>
                      </a:r>
                    </a:p>
                  </a:txBody>
                  <a:tcPr marL="68580" marR="68580" marT="34290" marB="3429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rgbClr val="C00000"/>
                          </a:solidFill>
                        </a:rPr>
                        <a:t>C</a:t>
                      </a:r>
                    </a:p>
                  </a:txBody>
                  <a:tcPr marL="68580" marR="68580" marT="34290" marB="3429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rgbClr val="C00000"/>
                          </a:solidFill>
                        </a:rPr>
                        <a:t>D</a:t>
                      </a:r>
                    </a:p>
                  </a:txBody>
                  <a:tcPr marL="68580" marR="68580" marT="34290" marB="3429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rgbClr val="C00000"/>
                          </a:solidFill>
                        </a:rPr>
                        <a:t>E</a:t>
                      </a:r>
                    </a:p>
                  </a:txBody>
                  <a:tcPr marL="68580" marR="68580" marT="34290" marB="34290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0599"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rgbClr val="C00000"/>
                          </a:solidFill>
                        </a:rPr>
                        <a:t>A</a:t>
                      </a:r>
                    </a:p>
                  </a:txBody>
                  <a:tcPr marL="68580" marR="68580" marT="34290" marB="3429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</a:rPr>
                        <a:t>0</a:t>
                      </a:r>
                    </a:p>
                  </a:txBody>
                  <a:tcPr marL="68580" marR="68580" marT="34290" marB="3429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</a:rPr>
                        <a:t>1</a:t>
                      </a:r>
                    </a:p>
                  </a:txBody>
                  <a:tcPr marL="68580" marR="68580" marT="34290" marB="3429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</a:rPr>
                        <a:t>1</a:t>
                      </a:r>
                    </a:p>
                  </a:txBody>
                  <a:tcPr marL="68580" marR="68580" marT="34290" marB="3429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</a:rPr>
                        <a:t>0</a:t>
                      </a:r>
                    </a:p>
                  </a:txBody>
                  <a:tcPr marL="68580" marR="68580" marT="34290" marB="3429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</a:rPr>
                        <a:t>0</a:t>
                      </a:r>
                    </a:p>
                  </a:txBody>
                  <a:tcPr marL="68580" marR="68580" marT="34290" marB="34290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206"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rgbClr val="C00000"/>
                          </a:solidFill>
                        </a:rPr>
                        <a:t>B</a:t>
                      </a:r>
                    </a:p>
                  </a:txBody>
                  <a:tcPr marL="68580" marR="68580" marT="34290" marB="3429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</a:rPr>
                        <a:t>0</a:t>
                      </a:r>
                    </a:p>
                  </a:txBody>
                  <a:tcPr marL="68580" marR="68580" marT="34290" marB="3429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</a:rPr>
                        <a:t>0</a:t>
                      </a:r>
                    </a:p>
                  </a:txBody>
                  <a:tcPr marL="68580" marR="68580" marT="34290" marB="3429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</a:rPr>
                        <a:t>0</a:t>
                      </a:r>
                    </a:p>
                  </a:txBody>
                  <a:tcPr marL="68580" marR="68580" marT="34290" marB="3429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</a:rPr>
                        <a:t>1</a:t>
                      </a:r>
                    </a:p>
                  </a:txBody>
                  <a:tcPr marL="68580" marR="68580" marT="34290" marB="3429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</a:rPr>
                        <a:t>0</a:t>
                      </a:r>
                    </a:p>
                  </a:txBody>
                  <a:tcPr marL="68580" marR="68580" marT="34290" marB="34290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206"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rgbClr val="C00000"/>
                          </a:solidFill>
                        </a:rPr>
                        <a:t>C</a:t>
                      </a:r>
                    </a:p>
                  </a:txBody>
                  <a:tcPr marL="68580" marR="68580" marT="34290" marB="3429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</a:rPr>
                        <a:t>0</a:t>
                      </a:r>
                    </a:p>
                  </a:txBody>
                  <a:tcPr marL="68580" marR="68580" marT="34290" marB="3429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</a:rPr>
                        <a:t>0</a:t>
                      </a:r>
                    </a:p>
                  </a:txBody>
                  <a:tcPr marL="68580" marR="68580" marT="34290" marB="3429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</a:rPr>
                        <a:t>0</a:t>
                      </a:r>
                    </a:p>
                  </a:txBody>
                  <a:tcPr marL="68580" marR="68580" marT="34290" marB="3429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</a:rPr>
                        <a:t>0</a:t>
                      </a:r>
                    </a:p>
                  </a:txBody>
                  <a:tcPr marL="68580" marR="68580" marT="34290" marB="3429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</a:rPr>
                        <a:t>1</a:t>
                      </a:r>
                    </a:p>
                  </a:txBody>
                  <a:tcPr marL="68580" marR="68580" marT="34290" marB="34290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206"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rgbClr val="C00000"/>
                          </a:solidFill>
                        </a:rPr>
                        <a:t>D</a:t>
                      </a:r>
                    </a:p>
                  </a:txBody>
                  <a:tcPr marL="68580" marR="68580" marT="34290" marB="3429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</a:rPr>
                        <a:t>0</a:t>
                      </a:r>
                    </a:p>
                  </a:txBody>
                  <a:tcPr marL="68580" marR="68580" marT="34290" marB="3429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</a:rPr>
                        <a:t>0</a:t>
                      </a:r>
                    </a:p>
                  </a:txBody>
                  <a:tcPr marL="68580" marR="68580" marT="34290" marB="3429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</a:rPr>
                        <a:t>0</a:t>
                      </a:r>
                    </a:p>
                  </a:txBody>
                  <a:tcPr marL="68580" marR="68580" marT="34290" marB="3429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</a:rPr>
                        <a:t>0</a:t>
                      </a:r>
                    </a:p>
                  </a:txBody>
                  <a:tcPr marL="68580" marR="68580" marT="34290" marB="3429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</a:rPr>
                        <a:t>1</a:t>
                      </a:r>
                    </a:p>
                  </a:txBody>
                  <a:tcPr marL="68580" marR="68580" marT="34290" marB="34290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206"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rgbClr val="C00000"/>
                          </a:solidFill>
                        </a:rPr>
                        <a:t>E</a:t>
                      </a:r>
                    </a:p>
                  </a:txBody>
                  <a:tcPr marL="68580" marR="68580" marT="34290" marB="3429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</a:rPr>
                        <a:t>0</a:t>
                      </a:r>
                    </a:p>
                  </a:txBody>
                  <a:tcPr marL="68580" marR="68580" marT="34290" marB="3429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</a:rPr>
                        <a:t>0</a:t>
                      </a:r>
                    </a:p>
                  </a:txBody>
                  <a:tcPr marL="68580" marR="68580" marT="34290" marB="3429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</a:rPr>
                        <a:t>0</a:t>
                      </a:r>
                    </a:p>
                  </a:txBody>
                  <a:tcPr marL="68580" marR="68580" marT="34290" marB="3429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</a:rPr>
                        <a:t>0</a:t>
                      </a:r>
                    </a:p>
                  </a:txBody>
                  <a:tcPr marL="68580" marR="68580" marT="34290" marB="3429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</a:rPr>
                        <a:t>0</a:t>
                      </a:r>
                    </a:p>
                  </a:txBody>
                  <a:tcPr marL="68580" marR="68580" marT="34290" marB="34290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7359" y="2099955"/>
            <a:ext cx="2943225" cy="202882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654BB1D-C7FF-7A35-6B1A-B8FE17E3871A}"/>
              </a:ext>
            </a:extLst>
          </p:cNvPr>
          <p:cNvSpPr txBox="1"/>
          <p:nvPr/>
        </p:nvSpPr>
        <p:spPr>
          <a:xfrm>
            <a:off x="8502269" y="6457890"/>
            <a:ext cx="166571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accent1">
                    <a:lumMod val="5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The Solution</a:t>
            </a:r>
          </a:p>
        </p:txBody>
      </p:sp>
    </p:spTree>
    <p:extLst>
      <p:ext uri="{BB962C8B-B14F-4D97-AF65-F5344CB8AC3E}">
        <p14:creationId xmlns:p14="http://schemas.microsoft.com/office/powerpoint/2010/main" val="7181580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7815" y="0"/>
            <a:ext cx="10515600" cy="733245"/>
          </a:xfrm>
        </p:spPr>
        <p:txBody>
          <a:bodyPr/>
          <a:lstStyle/>
          <a:p>
            <a:r>
              <a:rPr lang="en-US" sz="4000" dirty="0">
                <a:latin typeface="Cambria Math" panose="02040503050406030204" pitchFamily="18" charset="0"/>
                <a:ea typeface="Cambria Math" panose="02040503050406030204" pitchFamily="18" charset="0"/>
              </a:rPr>
              <a:t>Graph Adjacency Matrix … </a:t>
            </a:r>
            <a:r>
              <a:rPr lang="en-US" sz="3600" dirty="0">
                <a:solidFill>
                  <a:srgbClr val="C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Exercise</a:t>
            </a:r>
            <a:endParaRPr lang="en-US" sz="4000" dirty="0">
              <a:solidFill>
                <a:srgbClr val="C00000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898585" y="733245"/>
            <a:ext cx="8229600" cy="609600"/>
          </a:xfrm>
        </p:spPr>
        <p:txBody>
          <a:bodyPr/>
          <a:lstStyle/>
          <a:p>
            <a:pPr marL="0" indent="0">
              <a:buNone/>
            </a:pPr>
            <a:r>
              <a:rPr lang="en-US" dirty="0">
                <a:latin typeface="Cambria Math" panose="02040503050406030204" pitchFamily="18" charset="0"/>
                <a:ea typeface="Cambria Math" panose="02040503050406030204" pitchFamily="18" charset="0"/>
              </a:rPr>
              <a:t>Draw adjacency matrix for given graph G: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3011" y="3743899"/>
            <a:ext cx="166571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C00000"/>
                </a:solidFill>
              </a:rPr>
              <a:t>Graph G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33314" y="1239137"/>
            <a:ext cx="4095238" cy="25047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3733896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06276" y="2924557"/>
            <a:ext cx="4334200" cy="3817051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751" y="0"/>
            <a:ext cx="9632091" cy="646834"/>
          </a:xfrm>
        </p:spPr>
        <p:txBody>
          <a:bodyPr>
            <a:normAutofit fontScale="90000"/>
          </a:bodyPr>
          <a:lstStyle/>
          <a:p>
            <a:pPr algn="l"/>
            <a:r>
              <a:rPr lang="en-US" dirty="0">
                <a:latin typeface="Cambria Math" panose="02040503050406030204" pitchFamily="18" charset="0"/>
                <a:ea typeface="Cambria Math" panose="02040503050406030204" pitchFamily="18" charset="0"/>
              </a:rPr>
              <a:t>Graph Adjacency Matrix Representation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09292" y="779318"/>
            <a:ext cx="8962224" cy="4421332"/>
          </a:xfrm>
        </p:spPr>
        <p:txBody>
          <a:bodyPr anchor="t">
            <a:normAutofit/>
          </a:bodyPr>
          <a:lstStyle/>
          <a:p>
            <a:pPr marL="0" indent="0">
              <a:buNone/>
            </a:pPr>
            <a:r>
              <a:rPr lang="en-US" dirty="0">
                <a:latin typeface="Cambria" panose="02040503050406030204" pitchFamily="18" charset="0"/>
              </a:rPr>
              <a:t>Draw the adjacency matrix of given graph 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833449" y="2948315"/>
            <a:ext cx="266093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C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Pseudo Graph G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2140026" y="3557853"/>
          <a:ext cx="4334200" cy="200178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0050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317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66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668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668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08266">
                <a:tc>
                  <a:txBody>
                    <a:bodyPr/>
                    <a:lstStyle/>
                    <a:p>
                      <a:r>
                        <a:rPr lang="en-US" sz="2000" dirty="0">
                          <a:solidFill>
                            <a:srgbClr val="C00000"/>
                          </a:solidFill>
                        </a:rPr>
                        <a:t>Graph G</a:t>
                      </a:r>
                    </a:p>
                  </a:txBody>
                  <a:tcPr marL="68580" marR="68580" marT="34290" marB="3429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rgbClr val="C00000"/>
                          </a:solidFill>
                        </a:rPr>
                        <a:t>A</a:t>
                      </a:r>
                    </a:p>
                  </a:txBody>
                  <a:tcPr marL="68580" marR="68580" marT="34290" marB="3429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rgbClr val="C00000"/>
                          </a:solidFill>
                        </a:rPr>
                        <a:t>B</a:t>
                      </a:r>
                    </a:p>
                  </a:txBody>
                  <a:tcPr marL="68580" marR="68580" marT="34290" marB="3429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rgbClr val="C00000"/>
                          </a:solidFill>
                        </a:rPr>
                        <a:t>C</a:t>
                      </a:r>
                    </a:p>
                  </a:txBody>
                  <a:tcPr marL="68580" marR="68580" marT="34290" marB="3429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rgbClr val="C00000"/>
                          </a:solidFill>
                        </a:rPr>
                        <a:t>D</a:t>
                      </a:r>
                    </a:p>
                  </a:txBody>
                  <a:tcPr marL="68580" marR="68580" marT="34290" marB="34290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0599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rgbClr val="C00000"/>
                          </a:solidFill>
                        </a:rPr>
                        <a:t>A</a:t>
                      </a:r>
                    </a:p>
                  </a:txBody>
                  <a:tcPr marL="68580" marR="68580" marT="34290" marB="3429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</a:rPr>
                        <a:t>1</a:t>
                      </a:r>
                    </a:p>
                  </a:txBody>
                  <a:tcPr marL="68580" marR="68580" marT="34290" marB="3429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</a:rPr>
                        <a:t>1</a:t>
                      </a:r>
                    </a:p>
                  </a:txBody>
                  <a:tcPr marL="68580" marR="68580" marT="34290" marB="3429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</a:rPr>
                        <a:t>1</a:t>
                      </a:r>
                    </a:p>
                  </a:txBody>
                  <a:tcPr marL="68580" marR="68580" marT="34290" marB="3429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</a:rPr>
                        <a:t>2</a:t>
                      </a:r>
                    </a:p>
                  </a:txBody>
                  <a:tcPr marL="68580" marR="68580" marT="34290" marB="34290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206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rgbClr val="C00000"/>
                          </a:solidFill>
                        </a:rPr>
                        <a:t>B</a:t>
                      </a:r>
                    </a:p>
                  </a:txBody>
                  <a:tcPr marL="68580" marR="68580" marT="34290" marB="3429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</a:rPr>
                        <a:t>2</a:t>
                      </a:r>
                    </a:p>
                  </a:txBody>
                  <a:tcPr marL="68580" marR="68580" marT="34290" marB="3429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</a:rPr>
                        <a:t>0</a:t>
                      </a:r>
                    </a:p>
                  </a:txBody>
                  <a:tcPr marL="68580" marR="68580" marT="34290" marB="3429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</a:rPr>
                        <a:t>0</a:t>
                      </a:r>
                    </a:p>
                  </a:txBody>
                  <a:tcPr marL="68580" marR="68580" marT="34290" marB="3429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</a:rPr>
                        <a:t>0</a:t>
                      </a:r>
                    </a:p>
                  </a:txBody>
                  <a:tcPr marL="68580" marR="68580" marT="34290" marB="34290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206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rgbClr val="C00000"/>
                          </a:solidFill>
                        </a:rPr>
                        <a:t>C</a:t>
                      </a:r>
                    </a:p>
                  </a:txBody>
                  <a:tcPr marL="68580" marR="68580" marT="34290" marB="3429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</a:rPr>
                        <a:t>0</a:t>
                      </a:r>
                    </a:p>
                  </a:txBody>
                  <a:tcPr marL="68580" marR="68580" marT="34290" marB="3429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</a:rPr>
                        <a:t>0</a:t>
                      </a:r>
                    </a:p>
                  </a:txBody>
                  <a:tcPr marL="68580" marR="68580" marT="34290" marB="3429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</a:rPr>
                        <a:t>1</a:t>
                      </a:r>
                    </a:p>
                  </a:txBody>
                  <a:tcPr marL="68580" marR="68580" marT="34290" marB="3429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</a:rPr>
                        <a:t>0</a:t>
                      </a:r>
                    </a:p>
                  </a:txBody>
                  <a:tcPr marL="68580" marR="68580" marT="34290" marB="34290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206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rgbClr val="C00000"/>
                          </a:solidFill>
                        </a:rPr>
                        <a:t>D</a:t>
                      </a:r>
                    </a:p>
                  </a:txBody>
                  <a:tcPr marL="68580" marR="68580" marT="34290" marB="3429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</a:rPr>
                        <a:t>0</a:t>
                      </a:r>
                    </a:p>
                  </a:txBody>
                  <a:tcPr marL="68580" marR="68580" marT="34290" marB="3429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</a:rPr>
                        <a:t>0</a:t>
                      </a:r>
                    </a:p>
                  </a:txBody>
                  <a:tcPr marL="68580" marR="68580" marT="34290" marB="3429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</a:rPr>
                        <a:t>0</a:t>
                      </a:r>
                    </a:p>
                  </a:txBody>
                  <a:tcPr marL="68580" marR="68580" marT="34290" marB="3429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</a:rPr>
                        <a:t>0</a:t>
                      </a:r>
                    </a:p>
                  </a:txBody>
                  <a:tcPr marL="68580" marR="68580" marT="34290" marB="34290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2131787" y="2840594"/>
            <a:ext cx="160492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>
                <a:solidFill>
                  <a:schemeClr val="accent5">
                    <a:lumMod val="5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Solution</a:t>
            </a:r>
          </a:p>
        </p:txBody>
      </p:sp>
    </p:spTree>
    <p:extLst>
      <p:ext uri="{BB962C8B-B14F-4D97-AF65-F5344CB8AC3E}">
        <p14:creationId xmlns:p14="http://schemas.microsoft.com/office/powerpoint/2010/main" val="23751259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9189" y="1"/>
            <a:ext cx="10515600" cy="785004"/>
          </a:xfrm>
        </p:spPr>
        <p:txBody>
          <a:bodyPr/>
          <a:lstStyle/>
          <a:p>
            <a:r>
              <a:rPr lang="en-US" sz="4000" dirty="0">
                <a:latin typeface="Cambria Math" panose="02040503050406030204" pitchFamily="18" charset="0"/>
                <a:ea typeface="Cambria Math" panose="02040503050406030204" pitchFamily="18" charset="0"/>
              </a:rPr>
              <a:t>Graph Adjacency Matrix Representation …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907211" y="785005"/>
            <a:ext cx="8229600" cy="6096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Draw the graph with given adjacency matrix: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43800" y="1676399"/>
            <a:ext cx="4282198" cy="3119887"/>
          </a:xfrm>
          <a:prstGeom prst="round2DiagRect">
            <a:avLst>
              <a:gd name="adj1" fmla="val 16667"/>
              <a:gd name="adj2" fmla="val 0"/>
            </a:avLst>
          </a:prstGeom>
          <a:ln w="38100" cap="sq">
            <a:solidFill>
              <a:schemeClr val="accent1">
                <a:lumMod val="50000"/>
              </a:schemeClr>
            </a:soli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248251274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724619"/>
          </a:xfrm>
        </p:spPr>
        <p:txBody>
          <a:bodyPr>
            <a:normAutofit/>
          </a:bodyPr>
          <a:lstStyle/>
          <a:p>
            <a:r>
              <a:rPr lang="en-US" sz="4000" dirty="0">
                <a:latin typeface="Cambria Math" panose="02040503050406030204" pitchFamily="18" charset="0"/>
                <a:ea typeface="Cambria Math" panose="02040503050406030204" pitchFamily="18" charset="0"/>
              </a:rPr>
              <a:t>Graph Adjacency Matrix Representation …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1006415" y="894972"/>
            <a:ext cx="8229600" cy="6096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Draw the adjacency matrix for the given graph.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86423" y="1674925"/>
            <a:ext cx="4017033" cy="4034576"/>
          </a:xfrm>
          <a:prstGeom prst="roundRect">
            <a:avLst>
              <a:gd name="adj" fmla="val 16667"/>
            </a:avLst>
          </a:prstGeom>
          <a:ln>
            <a:solidFill>
              <a:schemeClr val="accent1">
                <a:lumMod val="50000"/>
              </a:schemeClr>
            </a:solidFill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</p:spTree>
    <p:extLst>
      <p:ext uri="{BB962C8B-B14F-4D97-AF65-F5344CB8AC3E}">
        <p14:creationId xmlns:p14="http://schemas.microsoft.com/office/powerpoint/2010/main" val="3647327456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5848" y="71998"/>
            <a:ext cx="11375000" cy="945060"/>
          </a:xfrm>
        </p:spPr>
        <p:txBody>
          <a:bodyPr>
            <a:noAutofit/>
          </a:bodyPr>
          <a:lstStyle/>
          <a:p>
            <a:pPr algn="ctr"/>
            <a:r>
              <a:rPr lang="en-US" b="1" u="sng" dirty="0">
                <a:solidFill>
                  <a:srgbClr val="0070C0"/>
                </a:solidFill>
              </a:rPr>
              <a:t>INCIDENCE MATRIX OF A SIMPLE GRAPH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>
          <a:xfrm>
            <a:off x="1181100" y="1269651"/>
            <a:ext cx="9829800" cy="385974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Let </a:t>
            </a:r>
            <a:r>
              <a:rPr lang="en-US" dirty="0">
                <a:solidFill>
                  <a:srgbClr val="FF0000"/>
                </a:solidFill>
              </a:rPr>
              <a:t>G </a:t>
            </a:r>
            <a:r>
              <a:rPr lang="en-US" dirty="0"/>
              <a:t>be a </a:t>
            </a:r>
            <a:r>
              <a:rPr lang="en-US" dirty="0">
                <a:solidFill>
                  <a:srgbClr val="FF0000"/>
                </a:solidFill>
              </a:rPr>
              <a:t>graph</a:t>
            </a:r>
            <a:r>
              <a:rPr lang="en-US" dirty="0"/>
              <a:t> with </a:t>
            </a:r>
            <a:r>
              <a:rPr lang="en-US" dirty="0">
                <a:solidFill>
                  <a:srgbClr val="FF0000"/>
                </a:solidFill>
              </a:rPr>
              <a:t>vertices v</a:t>
            </a:r>
            <a:r>
              <a:rPr lang="en-US" baseline="-25000" dirty="0">
                <a:solidFill>
                  <a:srgbClr val="FF0000"/>
                </a:solidFill>
              </a:rPr>
              <a:t>1</a:t>
            </a:r>
            <a:r>
              <a:rPr lang="en-US" dirty="0">
                <a:solidFill>
                  <a:srgbClr val="FF0000"/>
                </a:solidFill>
              </a:rPr>
              <a:t>, v</a:t>
            </a:r>
            <a:r>
              <a:rPr lang="en-US" baseline="-25000" dirty="0">
                <a:solidFill>
                  <a:srgbClr val="FF0000"/>
                </a:solidFill>
              </a:rPr>
              <a:t>2</a:t>
            </a:r>
            <a:r>
              <a:rPr lang="en-US" dirty="0">
                <a:solidFill>
                  <a:srgbClr val="FF0000"/>
                </a:solidFill>
              </a:rPr>
              <a:t>, …, </a:t>
            </a:r>
            <a:r>
              <a:rPr lang="en-US" dirty="0" err="1">
                <a:solidFill>
                  <a:srgbClr val="FF0000"/>
                </a:solidFill>
              </a:rPr>
              <a:t>v</a:t>
            </a:r>
            <a:r>
              <a:rPr lang="en-US" baseline="-25000" dirty="0" err="1">
                <a:solidFill>
                  <a:srgbClr val="FF0000"/>
                </a:solidFill>
              </a:rPr>
              <a:t>n</a:t>
            </a:r>
            <a:r>
              <a:rPr lang="en-US" dirty="0"/>
              <a:t> and </a:t>
            </a:r>
            <a:r>
              <a:rPr lang="en-US" dirty="0">
                <a:solidFill>
                  <a:srgbClr val="FF0000"/>
                </a:solidFill>
              </a:rPr>
              <a:t>edges e</a:t>
            </a:r>
            <a:r>
              <a:rPr lang="en-US" baseline="-25000" dirty="0">
                <a:solidFill>
                  <a:srgbClr val="FF0000"/>
                </a:solidFill>
              </a:rPr>
              <a:t>1</a:t>
            </a:r>
            <a:r>
              <a:rPr lang="en-US" dirty="0">
                <a:solidFill>
                  <a:srgbClr val="FF0000"/>
                </a:solidFill>
              </a:rPr>
              <a:t>, e</a:t>
            </a:r>
            <a:r>
              <a:rPr lang="en-US" baseline="-25000" dirty="0">
                <a:solidFill>
                  <a:srgbClr val="FF0000"/>
                </a:solidFill>
              </a:rPr>
              <a:t>2</a:t>
            </a:r>
            <a:r>
              <a:rPr lang="en-US" dirty="0">
                <a:solidFill>
                  <a:srgbClr val="FF0000"/>
                </a:solidFill>
              </a:rPr>
              <a:t>, …, e</a:t>
            </a:r>
            <a:r>
              <a:rPr lang="en-US" baseline="-25000" dirty="0">
                <a:solidFill>
                  <a:srgbClr val="FF0000"/>
                </a:solidFill>
              </a:rPr>
              <a:t>n</a:t>
            </a:r>
            <a:r>
              <a:rPr lang="en-US" dirty="0"/>
              <a:t>. 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The </a:t>
            </a:r>
            <a:r>
              <a:rPr lang="en-US" dirty="0">
                <a:solidFill>
                  <a:srgbClr val="FF0000"/>
                </a:solidFill>
              </a:rPr>
              <a:t>incidence matrix</a:t>
            </a:r>
            <a:r>
              <a:rPr lang="en-US" dirty="0"/>
              <a:t> of </a:t>
            </a:r>
            <a:r>
              <a:rPr lang="en-US" dirty="0">
                <a:solidFill>
                  <a:srgbClr val="FF0000"/>
                </a:solidFill>
              </a:rPr>
              <a:t>G</a:t>
            </a:r>
            <a:r>
              <a:rPr lang="en-US" dirty="0"/>
              <a:t> is the matrix </a:t>
            </a:r>
            <a:r>
              <a:rPr lang="en-US" dirty="0">
                <a:solidFill>
                  <a:srgbClr val="FF0000"/>
                </a:solidFill>
              </a:rPr>
              <a:t>M</a:t>
            </a:r>
            <a:r>
              <a:rPr lang="en-US" dirty="0"/>
              <a:t> = </a:t>
            </a:r>
            <a:r>
              <a:rPr lang="en-US" dirty="0">
                <a:solidFill>
                  <a:srgbClr val="FF0000"/>
                </a:solidFill>
              </a:rPr>
              <a:t>[</a:t>
            </a:r>
            <a:r>
              <a:rPr lang="en-US" dirty="0" err="1">
                <a:solidFill>
                  <a:srgbClr val="FF0000"/>
                </a:solidFill>
              </a:rPr>
              <a:t>m</a:t>
            </a:r>
            <a:r>
              <a:rPr lang="en-US" baseline="-25000" dirty="0" err="1">
                <a:solidFill>
                  <a:srgbClr val="FF0000"/>
                </a:solidFill>
              </a:rPr>
              <a:t>ij</a:t>
            </a:r>
            <a:r>
              <a:rPr lang="en-US" dirty="0">
                <a:solidFill>
                  <a:srgbClr val="FF0000"/>
                </a:solidFill>
              </a:rPr>
              <a:t>]</a:t>
            </a:r>
            <a:r>
              <a:rPr lang="en-US" dirty="0"/>
              <a:t> of size </a:t>
            </a:r>
            <a:r>
              <a:rPr lang="en-US" dirty="0">
                <a:solidFill>
                  <a:srgbClr val="FF0000"/>
                </a:solidFill>
              </a:rPr>
              <a:t>n </a:t>
            </a:r>
            <a:r>
              <a:rPr lang="en-US" dirty="0">
                <a:solidFill>
                  <a:srgbClr val="FF0000"/>
                </a:solidFill>
                <a:sym typeface="Symbol"/>
              </a:rPr>
              <a:t></a:t>
            </a:r>
            <a:r>
              <a:rPr lang="en-US" dirty="0">
                <a:solidFill>
                  <a:srgbClr val="FF0000"/>
                </a:solidFill>
              </a:rPr>
              <a:t> m</a:t>
            </a:r>
            <a:r>
              <a:rPr lang="en-US" dirty="0"/>
              <a:t> defined by:</a:t>
            </a:r>
          </a:p>
          <a:p>
            <a:endParaRPr lang="en-US" sz="2600" dirty="0">
              <a:solidFill>
                <a:srgbClr val="002060"/>
              </a:solidFill>
            </a:endParaRPr>
          </a:p>
          <a:p>
            <a:endParaRPr lang="en-US" dirty="0"/>
          </a:p>
        </p:txBody>
      </p:sp>
      <p:graphicFrame>
        <p:nvGraphicFramePr>
          <p:cNvPr id="337921" name="Object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95824172"/>
              </p:ext>
            </p:extLst>
          </p:nvPr>
        </p:nvGraphicFramePr>
        <p:xfrm>
          <a:off x="2149071" y="3782704"/>
          <a:ext cx="8861829" cy="145803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298" r:id="rId3" imgW="3124080" imgH="457200" progId="">
                  <p:embed/>
                </p:oleObj>
              </mc:Choice>
              <mc:Fallback>
                <p:oleObj r:id="rId3" imgW="3124080" imgH="457200" progId="">
                  <p:embed/>
                  <p:pic>
                    <p:nvPicPr>
                      <p:cNvPr id="337921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49071" y="3782704"/>
                        <a:ext cx="8861829" cy="1458036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3379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9496" y="365126"/>
            <a:ext cx="10515600" cy="822230"/>
          </a:xfrm>
        </p:spPr>
        <p:txBody>
          <a:bodyPr>
            <a:normAutofit/>
          </a:bodyPr>
          <a:lstStyle/>
          <a:p>
            <a:pPr algn="ctr"/>
            <a:r>
              <a:rPr lang="en-US" b="1" u="sng" dirty="0">
                <a:solidFill>
                  <a:srgbClr val="0070C0"/>
                </a:solidFill>
              </a:rPr>
              <a:t>EXERCISE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A </a:t>
            </a:r>
            <a:r>
              <a:rPr lang="en-US" dirty="0">
                <a:solidFill>
                  <a:srgbClr val="FF0000"/>
                </a:solidFill>
              </a:rPr>
              <a:t>graph</a:t>
            </a:r>
            <a:r>
              <a:rPr lang="en-US" dirty="0"/>
              <a:t> with its </a:t>
            </a:r>
            <a:r>
              <a:rPr lang="en-US" dirty="0">
                <a:solidFill>
                  <a:srgbClr val="FF0000"/>
                </a:solidFill>
              </a:rPr>
              <a:t>incidence matrix</a:t>
            </a:r>
            <a:r>
              <a:rPr lang="en-US" dirty="0"/>
              <a:t> is shown.</a:t>
            </a:r>
            <a:endParaRPr lang="en-US" sz="2600" dirty="0">
              <a:solidFill>
                <a:srgbClr val="002060"/>
              </a:solidFill>
            </a:endParaRPr>
          </a:p>
          <a:p>
            <a:endParaRPr lang="en-US" dirty="0"/>
          </a:p>
        </p:txBody>
      </p:sp>
      <p:pic>
        <p:nvPicPr>
          <p:cNvPr id="6" name="Picture 5" descr="6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75429" y="2803479"/>
            <a:ext cx="3352800" cy="2632105"/>
          </a:xfrm>
          <a:prstGeom prst="rect">
            <a:avLst/>
          </a:prstGeom>
        </p:spPr>
      </p:pic>
      <p:pic>
        <p:nvPicPr>
          <p:cNvPr id="7" name="Picture 6" descr="5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4476" y="2717768"/>
            <a:ext cx="4027277" cy="2667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b="1" u="sng" dirty="0">
                <a:solidFill>
                  <a:srgbClr val="0070C0"/>
                </a:solidFill>
              </a:rPr>
              <a:t>REMARK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b="1" dirty="0"/>
              <a:t> </a:t>
            </a:r>
            <a:r>
              <a:rPr lang="en-US" dirty="0"/>
              <a:t>In the </a:t>
            </a:r>
            <a:r>
              <a:rPr lang="en-US" dirty="0">
                <a:solidFill>
                  <a:srgbClr val="FF0000"/>
                </a:solidFill>
              </a:rPr>
              <a:t>incidence matrix</a:t>
            </a:r>
            <a:r>
              <a:rPr lang="en-US" dirty="0"/>
              <a:t>:</a:t>
            </a:r>
          </a:p>
          <a:p>
            <a:pPr>
              <a:buNone/>
            </a:pPr>
            <a:endParaRPr lang="en-US" dirty="0"/>
          </a:p>
          <a:p>
            <a:pPr lvl="1"/>
            <a:r>
              <a:rPr lang="en-US" sz="2500" dirty="0">
                <a:solidFill>
                  <a:srgbClr val="FF0000"/>
                </a:solidFill>
              </a:rPr>
              <a:t>Parallel edges</a:t>
            </a:r>
            <a:r>
              <a:rPr lang="en-US" sz="2500" dirty="0">
                <a:solidFill>
                  <a:srgbClr val="002060"/>
                </a:solidFill>
              </a:rPr>
              <a:t> are represented by columns with </a:t>
            </a:r>
            <a:r>
              <a:rPr lang="en-US" sz="2500" dirty="0">
                <a:solidFill>
                  <a:srgbClr val="FF0000"/>
                </a:solidFill>
              </a:rPr>
              <a:t>identical entries</a:t>
            </a:r>
            <a:r>
              <a:rPr lang="en-US" sz="2500" dirty="0">
                <a:solidFill>
                  <a:srgbClr val="002060"/>
                </a:solidFill>
              </a:rPr>
              <a:t> (in this matrix </a:t>
            </a:r>
            <a:r>
              <a:rPr lang="en-US" sz="2500" dirty="0">
                <a:solidFill>
                  <a:srgbClr val="FF0000"/>
                </a:solidFill>
              </a:rPr>
              <a:t>e</a:t>
            </a:r>
            <a:r>
              <a:rPr lang="en-US" sz="2500" baseline="-25000" dirty="0">
                <a:solidFill>
                  <a:srgbClr val="FF0000"/>
                </a:solidFill>
              </a:rPr>
              <a:t>4</a:t>
            </a:r>
            <a:r>
              <a:rPr lang="en-US" sz="2500" dirty="0">
                <a:solidFill>
                  <a:srgbClr val="002060"/>
                </a:solidFill>
              </a:rPr>
              <a:t> &amp; </a:t>
            </a:r>
            <a:r>
              <a:rPr lang="en-US" sz="2500" dirty="0">
                <a:solidFill>
                  <a:srgbClr val="FF0000"/>
                </a:solidFill>
              </a:rPr>
              <a:t>e</a:t>
            </a:r>
            <a:r>
              <a:rPr lang="en-US" sz="2500" baseline="-25000" dirty="0">
                <a:solidFill>
                  <a:srgbClr val="FF0000"/>
                </a:solidFill>
              </a:rPr>
              <a:t>5</a:t>
            </a:r>
            <a:r>
              <a:rPr lang="en-US" sz="2500" baseline="-25000" dirty="0">
                <a:solidFill>
                  <a:srgbClr val="002060"/>
                </a:solidFill>
              </a:rPr>
              <a:t> </a:t>
            </a:r>
            <a:r>
              <a:rPr lang="en-US" sz="2500" dirty="0">
                <a:solidFill>
                  <a:srgbClr val="002060"/>
                </a:solidFill>
              </a:rPr>
              <a:t>are </a:t>
            </a:r>
            <a:r>
              <a:rPr lang="en-US" sz="2500" dirty="0">
                <a:solidFill>
                  <a:srgbClr val="FF0000"/>
                </a:solidFill>
              </a:rPr>
              <a:t>parallel edges</a:t>
            </a:r>
            <a:r>
              <a:rPr lang="en-US" sz="2500" dirty="0">
                <a:solidFill>
                  <a:srgbClr val="002060"/>
                </a:solidFill>
              </a:rPr>
              <a:t>).</a:t>
            </a:r>
          </a:p>
          <a:p>
            <a:pPr lvl="1">
              <a:buNone/>
            </a:pPr>
            <a:endParaRPr lang="en-US" sz="2500" dirty="0">
              <a:solidFill>
                <a:srgbClr val="002060"/>
              </a:solidFill>
            </a:endParaRPr>
          </a:p>
          <a:p>
            <a:pPr lvl="1"/>
            <a:r>
              <a:rPr lang="en-US" sz="2500" dirty="0">
                <a:solidFill>
                  <a:srgbClr val="FF0000"/>
                </a:solidFill>
              </a:rPr>
              <a:t>Loops</a:t>
            </a:r>
            <a:r>
              <a:rPr lang="en-US" sz="2500" dirty="0">
                <a:solidFill>
                  <a:srgbClr val="002060"/>
                </a:solidFill>
              </a:rPr>
              <a:t> are represented using a </a:t>
            </a:r>
            <a:r>
              <a:rPr lang="en-US" sz="2500" dirty="0">
                <a:solidFill>
                  <a:srgbClr val="FF0000"/>
                </a:solidFill>
              </a:rPr>
              <a:t>column</a:t>
            </a:r>
            <a:r>
              <a:rPr lang="en-US" sz="2500" dirty="0">
                <a:solidFill>
                  <a:srgbClr val="002060"/>
                </a:solidFill>
              </a:rPr>
              <a:t> with </a:t>
            </a:r>
            <a:r>
              <a:rPr lang="en-US" sz="2500" dirty="0">
                <a:solidFill>
                  <a:srgbClr val="FF0000"/>
                </a:solidFill>
              </a:rPr>
              <a:t>exactly one</a:t>
            </a:r>
            <a:r>
              <a:rPr lang="en-US" sz="2500" dirty="0">
                <a:solidFill>
                  <a:srgbClr val="002060"/>
                </a:solidFill>
              </a:rPr>
              <a:t> entry equal to </a:t>
            </a:r>
            <a:r>
              <a:rPr lang="en-US" sz="2500" dirty="0">
                <a:solidFill>
                  <a:srgbClr val="FF0000"/>
                </a:solidFill>
              </a:rPr>
              <a:t>1</a:t>
            </a:r>
            <a:r>
              <a:rPr lang="en-US" sz="2500" dirty="0">
                <a:solidFill>
                  <a:srgbClr val="002060"/>
                </a:solidFill>
              </a:rPr>
              <a:t>, corresponding to the vertex that is incident with this loop and </a:t>
            </a:r>
            <a:r>
              <a:rPr lang="en-US" sz="2500" dirty="0">
                <a:solidFill>
                  <a:srgbClr val="FF0000"/>
                </a:solidFill>
              </a:rPr>
              <a:t>other zeros</a:t>
            </a:r>
            <a:r>
              <a:rPr lang="en-US" sz="2500" dirty="0">
                <a:solidFill>
                  <a:srgbClr val="002060"/>
                </a:solidFill>
              </a:rPr>
              <a:t> (here </a:t>
            </a:r>
            <a:r>
              <a:rPr lang="en-US" sz="2500" dirty="0">
                <a:solidFill>
                  <a:srgbClr val="FF0000"/>
                </a:solidFill>
              </a:rPr>
              <a:t>e</a:t>
            </a:r>
            <a:r>
              <a:rPr lang="en-US" sz="2500" baseline="-25000" dirty="0">
                <a:solidFill>
                  <a:srgbClr val="FF0000"/>
                </a:solidFill>
              </a:rPr>
              <a:t>2</a:t>
            </a:r>
            <a:r>
              <a:rPr lang="en-US" sz="2500" baseline="-25000" dirty="0">
                <a:solidFill>
                  <a:srgbClr val="002060"/>
                </a:solidFill>
              </a:rPr>
              <a:t> </a:t>
            </a:r>
            <a:r>
              <a:rPr lang="en-US" sz="2500" dirty="0">
                <a:solidFill>
                  <a:srgbClr val="002060"/>
                </a:solidFill>
              </a:rPr>
              <a:t>is only a loop).</a:t>
            </a:r>
          </a:p>
          <a:p>
            <a:pPr>
              <a:buNone/>
            </a:pPr>
            <a:endParaRPr lang="en-US" dirty="0"/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5848" y="71998"/>
            <a:ext cx="11375000" cy="945060"/>
          </a:xfrm>
        </p:spPr>
        <p:txBody>
          <a:bodyPr>
            <a:noAutofit/>
          </a:bodyPr>
          <a:lstStyle/>
          <a:p>
            <a:pPr algn="ctr"/>
            <a:r>
              <a:rPr lang="en-US" b="1" u="sng" dirty="0">
                <a:solidFill>
                  <a:srgbClr val="0070C0"/>
                </a:solidFill>
              </a:rPr>
              <a:t>INCIDENCE MATRIX OF A DIRECTED GRAPH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Content Placeholder 3"/>
              <p:cNvSpPr>
                <a:spLocks noGrp="1"/>
              </p:cNvSpPr>
              <p:nvPr>
                <p:ph sz="quarter" idx="1"/>
              </p:nvPr>
            </p:nvSpPr>
            <p:spPr>
              <a:xfrm>
                <a:off x="1181100" y="1269650"/>
                <a:ext cx="9829800" cy="4750149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dirty="0"/>
                  <a:t>Let </a:t>
                </a:r>
                <a:r>
                  <a:rPr lang="en-US" dirty="0">
                    <a:solidFill>
                      <a:srgbClr val="FF0000"/>
                    </a:solidFill>
                  </a:rPr>
                  <a:t>G </a:t>
                </a:r>
                <a:r>
                  <a:rPr lang="en-US" dirty="0"/>
                  <a:t>be a </a:t>
                </a:r>
                <a:r>
                  <a:rPr lang="en-US" dirty="0">
                    <a:solidFill>
                      <a:srgbClr val="FF0000"/>
                    </a:solidFill>
                  </a:rPr>
                  <a:t>graph</a:t>
                </a:r>
                <a:r>
                  <a:rPr lang="en-US" dirty="0"/>
                  <a:t> with </a:t>
                </a:r>
                <a:r>
                  <a:rPr lang="en-US" dirty="0">
                    <a:solidFill>
                      <a:srgbClr val="FF0000"/>
                    </a:solidFill>
                  </a:rPr>
                  <a:t>vertices v</a:t>
                </a:r>
                <a:r>
                  <a:rPr lang="en-US" baseline="-25000" dirty="0">
                    <a:solidFill>
                      <a:srgbClr val="FF0000"/>
                    </a:solidFill>
                  </a:rPr>
                  <a:t>1</a:t>
                </a:r>
                <a:r>
                  <a:rPr lang="en-US" dirty="0">
                    <a:solidFill>
                      <a:srgbClr val="FF0000"/>
                    </a:solidFill>
                  </a:rPr>
                  <a:t>, v</a:t>
                </a:r>
                <a:r>
                  <a:rPr lang="en-US" baseline="-25000" dirty="0">
                    <a:solidFill>
                      <a:srgbClr val="FF0000"/>
                    </a:solidFill>
                  </a:rPr>
                  <a:t>2</a:t>
                </a:r>
                <a:r>
                  <a:rPr lang="en-US" dirty="0">
                    <a:solidFill>
                      <a:srgbClr val="FF0000"/>
                    </a:solidFill>
                  </a:rPr>
                  <a:t>, …, </a:t>
                </a:r>
                <a:r>
                  <a:rPr lang="en-US" dirty="0" err="1">
                    <a:solidFill>
                      <a:srgbClr val="FF0000"/>
                    </a:solidFill>
                  </a:rPr>
                  <a:t>v</a:t>
                </a:r>
                <a:r>
                  <a:rPr lang="en-US" baseline="-25000" dirty="0" err="1">
                    <a:solidFill>
                      <a:srgbClr val="FF0000"/>
                    </a:solidFill>
                  </a:rPr>
                  <a:t>n</a:t>
                </a:r>
                <a:r>
                  <a:rPr lang="en-US" dirty="0"/>
                  <a:t> and </a:t>
                </a:r>
                <a:r>
                  <a:rPr lang="en-US" dirty="0">
                    <a:solidFill>
                      <a:srgbClr val="FF0000"/>
                    </a:solidFill>
                  </a:rPr>
                  <a:t>edges e</a:t>
                </a:r>
                <a:r>
                  <a:rPr lang="en-US" baseline="-25000" dirty="0">
                    <a:solidFill>
                      <a:srgbClr val="FF0000"/>
                    </a:solidFill>
                  </a:rPr>
                  <a:t>1</a:t>
                </a:r>
                <a:r>
                  <a:rPr lang="en-US" dirty="0">
                    <a:solidFill>
                      <a:srgbClr val="FF0000"/>
                    </a:solidFill>
                  </a:rPr>
                  <a:t>, e</a:t>
                </a:r>
                <a:r>
                  <a:rPr lang="en-US" baseline="-25000" dirty="0">
                    <a:solidFill>
                      <a:srgbClr val="FF0000"/>
                    </a:solidFill>
                  </a:rPr>
                  <a:t>2</a:t>
                </a:r>
                <a:r>
                  <a:rPr lang="en-US" dirty="0">
                    <a:solidFill>
                      <a:srgbClr val="FF0000"/>
                    </a:solidFill>
                  </a:rPr>
                  <a:t>, …, e</a:t>
                </a:r>
                <a:r>
                  <a:rPr lang="en-US" baseline="-25000" dirty="0">
                    <a:solidFill>
                      <a:srgbClr val="FF0000"/>
                    </a:solidFill>
                  </a:rPr>
                  <a:t>n</a:t>
                </a:r>
                <a:r>
                  <a:rPr lang="en-US" dirty="0"/>
                  <a:t>. </a:t>
                </a:r>
              </a:p>
              <a:p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The </a:t>
                </a:r>
                <a:r>
                  <a:rPr lang="en-US" dirty="0">
                    <a:solidFill>
                      <a:srgbClr val="FF0000"/>
                    </a:solidFill>
                  </a:rPr>
                  <a:t>incidence matrix</a:t>
                </a:r>
                <a:r>
                  <a:rPr lang="en-US" dirty="0"/>
                  <a:t> of </a:t>
                </a:r>
                <a:r>
                  <a:rPr lang="en-US" dirty="0">
                    <a:solidFill>
                      <a:srgbClr val="FF0000"/>
                    </a:solidFill>
                  </a:rPr>
                  <a:t>G</a:t>
                </a:r>
                <a:r>
                  <a:rPr lang="en-US" dirty="0"/>
                  <a:t> is the matrix </a:t>
                </a:r>
                <a:r>
                  <a:rPr lang="en-US" dirty="0">
                    <a:solidFill>
                      <a:srgbClr val="FF0000"/>
                    </a:solidFill>
                  </a:rPr>
                  <a:t>M</a:t>
                </a:r>
                <a:r>
                  <a:rPr lang="en-US" dirty="0"/>
                  <a:t> = </a:t>
                </a:r>
                <a:r>
                  <a:rPr lang="en-US" dirty="0">
                    <a:solidFill>
                      <a:srgbClr val="FF0000"/>
                    </a:solidFill>
                  </a:rPr>
                  <a:t>[</a:t>
                </a:r>
                <a:r>
                  <a:rPr lang="en-US" dirty="0" err="1">
                    <a:solidFill>
                      <a:srgbClr val="FF0000"/>
                    </a:solidFill>
                  </a:rPr>
                  <a:t>m</a:t>
                </a:r>
                <a:r>
                  <a:rPr lang="en-US" baseline="-25000" dirty="0" err="1">
                    <a:solidFill>
                      <a:srgbClr val="FF0000"/>
                    </a:solidFill>
                  </a:rPr>
                  <a:t>ij</a:t>
                </a:r>
                <a:r>
                  <a:rPr lang="en-US" dirty="0">
                    <a:solidFill>
                      <a:srgbClr val="FF0000"/>
                    </a:solidFill>
                  </a:rPr>
                  <a:t>]</a:t>
                </a:r>
                <a:r>
                  <a:rPr lang="en-US" dirty="0"/>
                  <a:t> of size </a:t>
                </a:r>
                <a:r>
                  <a:rPr lang="en-US" dirty="0">
                    <a:solidFill>
                      <a:srgbClr val="FF0000"/>
                    </a:solidFill>
                  </a:rPr>
                  <a:t>n </a:t>
                </a:r>
                <a:r>
                  <a:rPr lang="en-US" dirty="0">
                    <a:solidFill>
                      <a:srgbClr val="FF0000"/>
                    </a:solidFill>
                    <a:sym typeface="Symbol"/>
                  </a:rPr>
                  <a:t></a:t>
                </a:r>
                <a:r>
                  <a:rPr lang="en-US" dirty="0">
                    <a:solidFill>
                      <a:srgbClr val="FF0000"/>
                    </a:solidFill>
                  </a:rPr>
                  <a:t> m</a:t>
                </a:r>
                <a:r>
                  <a:rPr lang="en-US" dirty="0"/>
                  <a:t> defined by: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𝑖𝑗</m:t>
                          </m:r>
                        </m:sub>
                      </m:sSub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 </m:t>
                      </m:r>
                      <m:d>
                        <m:dPr>
                          <m:begChr m:val="{"/>
                          <m:endChr m:val=""/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−1 </m:t>
                              </m:r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𝑖𝑓</m:t>
                              </m:r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𝑣𝑒𝑟𝑡𝑒𝑥</m:t>
                              </m:r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sSub>
                                <m:sSubPr>
                                  <m:ctrlP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  <m:sub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𝑖𝑠</m:t>
                              </m:r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𝑡h𝑒</m:t>
                              </m:r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𝑖𝑛𝑖𝑡𝑖𝑎𝑙</m:t>
                              </m:r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d>
                                <m:dPr>
                                  <m:ctrlP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𝑠𝑡𝑎𝑟𝑡𝑖𝑛𝑔</m:t>
                                  </m:r>
                                </m:e>
                              </m:d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𝑣𝑒𝑟𝑡𝑒𝑥</m:t>
                              </m:r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𝑜𝑓</m:t>
                              </m:r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𝑒𝑑𝑔𝑒</m:t>
                              </m:r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sSub>
                                <m:sSubPr>
                                  <m:ctrlP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b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</m:e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1 </m:t>
                              </m:r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𝑖𝑓</m:t>
                              </m:r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𝑣𝑒𝑟𝑡𝑒𝑥</m:t>
                              </m:r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sSub>
                                <m:sSubPr>
                                  <m:ctrlP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  <m:sub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𝑖𝑠</m:t>
                              </m:r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𝑡h𝑒</m:t>
                              </m:r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𝑡𝑒𝑟𝑚𝑖𝑛𝑎𝑙</m:t>
                              </m:r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d>
                                <m:dPr>
                                  <m:ctrlP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𝑒𝑛𝑑</m:t>
                                  </m:r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𝑖𝑛𝑔</m:t>
                                  </m:r>
                                </m:e>
                              </m:d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𝑣𝑒𝑟𝑡𝑒𝑥</m:t>
                              </m:r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𝑜𝑓</m:t>
                              </m:r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𝑒𝑑𝑔𝑒</m:t>
                              </m:r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sSub>
                                <m:sSubPr>
                                  <m:ctrlP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b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</m:e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0 </m:t>
                              </m:r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𝑜𝑡h𝑒𝑟𝑤𝑖𝑠𝑒</m:t>
                              </m:r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 (</m:t>
                              </m:r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.</m:t>
                              </m:r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. , </m:t>
                              </m:r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𝑖𝑓</m:t>
                              </m:r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𝑣𝑒𝑟𝑡𝑒𝑥</m:t>
                              </m:r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sSub>
                                <m:sSubPr>
                                  <m:ctrlP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  <m:sub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𝑖𝑠</m:t>
                              </m:r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𝑛𝑜𝑡</m:t>
                              </m:r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𝑖𝑛𝑐𝑖𝑑𝑒𝑛𝑡</m:t>
                              </m:r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𝑡𝑜</m:t>
                              </m:r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𝑒𝑑𝑔𝑒</m:t>
                              </m:r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sSub>
                                <m:sSubPr>
                                  <m:ctrlP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b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endParaRPr lang="en-US" sz="2600" dirty="0">
                  <a:solidFill>
                    <a:srgbClr val="002060"/>
                  </a:solidFill>
                </a:endParaRPr>
              </a:p>
              <a:p>
                <a:endParaRPr lang="en-US" sz="2600" dirty="0">
                  <a:solidFill>
                    <a:srgbClr val="002060"/>
                  </a:solidFill>
                </a:endParaRPr>
              </a:p>
              <a:p>
                <a:endParaRPr lang="en-US" dirty="0"/>
              </a:p>
            </p:txBody>
          </p:sp>
        </mc:Choice>
        <mc:Fallback>
          <p:sp>
            <p:nvSpPr>
              <p:cNvPr id="4" name="Content Placeholder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xfrm>
                <a:off x="1181100" y="1269650"/>
                <a:ext cx="9829800" cy="4750149"/>
              </a:xfrm>
              <a:blipFill>
                <a:blip r:embed="rId2"/>
                <a:stretch>
                  <a:fillRect l="-1303" t="-2182" r="-148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635175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9382" y="0"/>
            <a:ext cx="7514035" cy="857248"/>
          </a:xfr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US" b="1" u="sng" dirty="0">
                <a:solidFill>
                  <a:srgbClr val="0070C0"/>
                </a:solidFill>
                <a:sym typeface="Wingdings" panose="05000000000000000000" pitchFamily="2" charset="2"/>
              </a:rPr>
              <a:t>In Degree, Out Degree</a:t>
            </a:r>
            <a:endParaRPr lang="en-US" b="1" u="sng" dirty="0">
              <a:solidFill>
                <a:srgbClr val="0070C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46031" y="857248"/>
            <a:ext cx="9931877" cy="4735902"/>
          </a:xfrm>
        </p:spPr>
        <p:txBody>
          <a:bodyPr anchor="t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C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 Degree:</a:t>
            </a:r>
          </a:p>
          <a:p>
            <a:pPr marL="0" indent="0">
              <a:buNone/>
            </a:pPr>
            <a:r>
              <a:rPr lang="en-US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Number of edges pointing into a vertex is called its in degree.</a:t>
            </a:r>
            <a:br>
              <a:rPr lang="en-US" sz="2400" dirty="0">
                <a:latin typeface="Cambria Math" panose="02040503050406030204" pitchFamily="18" charset="0"/>
                <a:ea typeface="Cambria Math" panose="02040503050406030204" pitchFamily="18" charset="0"/>
              </a:rPr>
            </a:br>
            <a:r>
              <a:rPr lang="en-US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In Degree of vertex A is </a:t>
            </a:r>
            <a:r>
              <a:rPr lang="en-US" sz="2400" dirty="0">
                <a:solidFill>
                  <a:srgbClr val="C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2</a:t>
            </a:r>
          </a:p>
          <a:p>
            <a:pPr marL="0" indent="0">
              <a:buNone/>
            </a:pPr>
            <a:r>
              <a:rPr lang="en-US" sz="2400" b="1" dirty="0">
                <a:solidFill>
                  <a:srgbClr val="C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Out Degree:</a:t>
            </a:r>
          </a:p>
          <a:p>
            <a:pPr marL="0" indent="0">
              <a:buNone/>
            </a:pPr>
            <a:r>
              <a:rPr lang="en-US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Number of edges going out of a vertex is called its out degree.</a:t>
            </a:r>
          </a:p>
          <a:p>
            <a:pPr marL="0" indent="0">
              <a:buNone/>
            </a:pPr>
            <a:r>
              <a:rPr lang="en-US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Out Degree of vertex A is </a:t>
            </a:r>
            <a:r>
              <a:rPr lang="en-US" sz="2400" dirty="0">
                <a:solidFill>
                  <a:srgbClr val="C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4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16958" y="3231103"/>
            <a:ext cx="3151043" cy="27696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0987439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2514" y="0"/>
            <a:ext cx="8922588" cy="813816"/>
          </a:xfrm>
        </p:spPr>
        <p:txBody>
          <a:bodyPr/>
          <a:lstStyle/>
          <a:p>
            <a:r>
              <a:rPr lang="en-US" b="1" u="sng" dirty="0">
                <a:solidFill>
                  <a:srgbClr val="0070C0"/>
                </a:solidFill>
                <a:sym typeface="Wingdings" panose="05000000000000000000" pitchFamily="2" charset="2"/>
              </a:rPr>
              <a:t>In Degree, Out Degree</a:t>
            </a:r>
            <a:endParaRPr lang="en-US" b="1" u="sng" dirty="0">
              <a:solidFill>
                <a:srgbClr val="0070C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05775" y="857248"/>
            <a:ext cx="10049772" cy="4629152"/>
          </a:xfrm>
        </p:spPr>
        <p:txBody>
          <a:bodyPr anchor="t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C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 Degree:</a:t>
            </a:r>
          </a:p>
          <a:p>
            <a:pPr marL="0" indent="0">
              <a:buNone/>
            </a:pPr>
            <a:r>
              <a:rPr lang="en-US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Number of edges pointing into a vertex is called its in degree</a:t>
            </a:r>
            <a:br>
              <a:rPr lang="en-US" sz="2400" dirty="0">
                <a:latin typeface="Cambria Math" panose="02040503050406030204" pitchFamily="18" charset="0"/>
                <a:ea typeface="Cambria Math" panose="02040503050406030204" pitchFamily="18" charset="0"/>
              </a:rPr>
            </a:br>
            <a:r>
              <a:rPr lang="en-US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In Degree of vertex A is </a:t>
            </a:r>
            <a:r>
              <a:rPr lang="en-US" sz="2400" dirty="0">
                <a:solidFill>
                  <a:srgbClr val="C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2</a:t>
            </a:r>
          </a:p>
          <a:p>
            <a:pPr marL="0" indent="0">
              <a:buNone/>
            </a:pPr>
            <a:r>
              <a:rPr lang="en-US" sz="2400" b="1" dirty="0">
                <a:solidFill>
                  <a:srgbClr val="C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Out Degree:</a:t>
            </a:r>
          </a:p>
          <a:p>
            <a:pPr marL="0" indent="0">
              <a:buNone/>
            </a:pPr>
            <a:r>
              <a:rPr lang="en-US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Number of edges going out of a vertex is called its out degree</a:t>
            </a:r>
          </a:p>
          <a:p>
            <a:pPr marL="0" indent="0">
              <a:buNone/>
            </a:pPr>
            <a:r>
              <a:rPr lang="en-US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Out Degree of vertex A is </a:t>
            </a:r>
            <a:r>
              <a:rPr lang="en-US" sz="2400" dirty="0">
                <a:solidFill>
                  <a:srgbClr val="C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4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16958" y="3231103"/>
            <a:ext cx="3151043" cy="276964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676401" y="5867400"/>
            <a:ext cx="8991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C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Note: </a:t>
            </a:r>
            <a:r>
              <a:rPr lang="en-US" sz="2400" b="1" dirty="0">
                <a:latin typeface="Cambria Math" panose="02040503050406030204" pitchFamily="18" charset="0"/>
                <a:ea typeface="Cambria Math" panose="02040503050406030204" pitchFamily="18" charset="0"/>
              </a:rPr>
              <a:t>Sum of degrees for all nodes of a graph is always even</a:t>
            </a:r>
          </a:p>
        </p:txBody>
      </p:sp>
    </p:spTree>
    <p:extLst>
      <p:ext uri="{BB962C8B-B14F-4D97-AF65-F5344CB8AC3E}">
        <p14:creationId xmlns:p14="http://schemas.microsoft.com/office/powerpoint/2010/main" val="667784441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4683" y="7345"/>
            <a:ext cx="10515600" cy="820791"/>
          </a:xfrm>
        </p:spPr>
        <p:txBody>
          <a:bodyPr>
            <a:normAutofit fontScale="90000"/>
          </a:bodyPr>
          <a:lstStyle/>
          <a:p>
            <a:r>
              <a:rPr lang="en-US" b="1" u="sng" dirty="0">
                <a:solidFill>
                  <a:srgbClr val="0070C0"/>
                </a:solidFill>
                <a:sym typeface="Wingdings" panose="05000000000000000000" pitchFamily="2" charset="2"/>
              </a:rPr>
              <a:t>Degree, In Degree, Out Degree … Example</a:t>
            </a:r>
            <a:endParaRPr lang="en-US" b="1" u="sng" dirty="0">
              <a:solidFill>
                <a:srgbClr val="0070C0"/>
              </a:solidFill>
            </a:endParaRP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sz="quarter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54593" y="3157268"/>
            <a:ext cx="5748051" cy="3221435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5" name="TextBox 4"/>
          <p:cNvSpPr txBox="1"/>
          <p:nvPr/>
        </p:nvSpPr>
        <p:spPr>
          <a:xfrm>
            <a:off x="2928652" y="4323273"/>
            <a:ext cx="157709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i="1" dirty="0">
                <a:solidFill>
                  <a:srgbClr val="C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Graph K</a:t>
            </a:r>
          </a:p>
        </p:txBody>
      </p:sp>
      <p:sp>
        <p:nvSpPr>
          <p:cNvPr id="6" name="Content Placeholder 2"/>
          <p:cNvSpPr txBox="1">
            <a:spLocks/>
          </p:cNvSpPr>
          <p:nvPr/>
        </p:nvSpPr>
        <p:spPr>
          <a:xfrm>
            <a:off x="941717" y="828136"/>
            <a:ext cx="9918940" cy="4658264"/>
          </a:xfrm>
          <a:prstGeom prst="rect">
            <a:avLst/>
          </a:prstGeom>
        </p:spPr>
        <p:txBody>
          <a:bodyPr vert="horz" anchor="t">
            <a:normAutofit/>
          </a:bodyPr>
          <a:lstStyle>
            <a:lvl1pPr marL="274320" indent="-274320" algn="l" rtl="0" eaLnBrk="1" latinLnBrk="0" hangingPunct="1">
              <a:spcBef>
                <a:spcPts val="600"/>
              </a:spcBef>
              <a:buClr>
                <a:schemeClr val="accent1"/>
              </a:buClr>
              <a:buSzPct val="76000"/>
              <a:buFont typeface="Wingdings 3"/>
              <a:buChar char=""/>
              <a:defRPr kumimoji="0"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8640" indent="-274320" algn="l" rtl="0" eaLnBrk="1" latinLnBrk="0" hangingPunct="1">
              <a:spcBef>
                <a:spcPts val="500"/>
              </a:spcBef>
              <a:buClr>
                <a:schemeClr val="accent2"/>
              </a:buClr>
              <a:buSzPct val="76000"/>
              <a:buFont typeface="Wingdings 3"/>
              <a:buChar char=""/>
              <a:defRPr kumimoji="0" sz="23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822960" indent="-228600" algn="l" rtl="0" eaLnBrk="1" latinLnBrk="0" hangingPunct="1">
              <a:spcBef>
                <a:spcPts val="500"/>
              </a:spcBef>
              <a:buClr>
                <a:schemeClr val="bg1">
                  <a:shade val="50000"/>
                </a:schemeClr>
              </a:buClr>
              <a:buSzPct val="76000"/>
              <a:buFont typeface="Wingdings 3"/>
              <a:buChar char="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7280" indent="-228600" algn="l" rtl="0" eaLnBrk="1" latinLnBrk="0" hangingPunct="1">
              <a:spcBef>
                <a:spcPts val="400"/>
              </a:spcBef>
              <a:buClr>
                <a:schemeClr val="accent2">
                  <a:shade val="75000"/>
                </a:schemeClr>
              </a:buClr>
              <a:buSzPct val="70000"/>
              <a:buFont typeface="Wingdings"/>
              <a:buChar char="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1" latinLnBrk="0" hangingPunct="1">
              <a:spcBef>
                <a:spcPts val="300"/>
              </a:spcBef>
              <a:buClr>
                <a:schemeClr val="accent2"/>
              </a:buClr>
              <a:buSzPct val="70000"/>
              <a:buFont typeface="Wingdings"/>
              <a:buChar char="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45920" indent="-182880" algn="l" rtl="0" eaLnBrk="1" latinLnBrk="0" hangingPunct="1">
              <a:spcBef>
                <a:spcPts val="300"/>
              </a:spcBef>
              <a:buClr>
                <a:srgbClr val="9FB8CD">
                  <a:shade val="75000"/>
                </a:srgbClr>
              </a:buClr>
              <a:buSzPct val="75000"/>
              <a:buFont typeface="Wingdings 3"/>
              <a:buChar char=""/>
              <a:defRPr kumimoji="0"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182880" algn="l" rtl="0" eaLnBrk="1" latinLnBrk="0" hangingPunct="1">
              <a:spcBef>
                <a:spcPts val="300"/>
              </a:spcBef>
              <a:buClr>
                <a:srgbClr val="727CA3">
                  <a:shade val="75000"/>
                </a:srgb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11680" indent="-182880" algn="l" rtl="0" eaLnBrk="1" latinLnBrk="0" hangingPunct="1">
              <a:spcBef>
                <a:spcPts val="300"/>
              </a:spcBef>
              <a:buClr>
                <a:prstClr val="white">
                  <a:shade val="50000"/>
                </a:prst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94560" indent="-182880" algn="l" rtl="0" eaLnBrk="1" latinLnBrk="0" hangingPunct="1">
              <a:spcBef>
                <a:spcPts val="300"/>
              </a:spcBef>
              <a:buClr>
                <a:srgbClr val="9FB8CD"/>
              </a:buClr>
              <a:buSzPct val="75000"/>
              <a:buFont typeface="Wingdings 3"/>
              <a:buChar char=""/>
              <a:defRPr kumimoji="0"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400" b="1" dirty="0">
                <a:solidFill>
                  <a:schemeClr val="accent1">
                    <a:lumMod val="5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Calculate</a:t>
            </a:r>
            <a:r>
              <a:rPr lang="en-US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:</a:t>
            </a:r>
          </a:p>
          <a:p>
            <a:pPr marL="571500" indent="-571500">
              <a:buFont typeface="+mj-lt"/>
              <a:buAutoNum type="romanLcPeriod"/>
            </a:pPr>
            <a:r>
              <a:rPr lang="en-US" sz="2200" dirty="0">
                <a:latin typeface="Cambria Math" panose="02040503050406030204" pitchFamily="18" charset="0"/>
                <a:ea typeface="Cambria Math" panose="02040503050406030204" pitchFamily="18" charset="0"/>
              </a:rPr>
              <a:t>Degree of K</a:t>
            </a:r>
          </a:p>
          <a:p>
            <a:pPr marL="571500" indent="-571500">
              <a:buFont typeface="+mj-lt"/>
              <a:buAutoNum type="romanLcPeriod"/>
            </a:pPr>
            <a:r>
              <a:rPr lang="en-US" sz="2200" dirty="0">
                <a:latin typeface="Cambria Math" panose="02040503050406030204" pitchFamily="18" charset="0"/>
                <a:ea typeface="Cambria Math" panose="02040503050406030204" pitchFamily="18" charset="0"/>
              </a:rPr>
              <a:t>In degree of all vertices of K</a:t>
            </a:r>
          </a:p>
          <a:p>
            <a:pPr marL="571500" indent="-571500">
              <a:buFont typeface="+mj-lt"/>
              <a:buAutoNum type="romanLcPeriod"/>
            </a:pPr>
            <a:r>
              <a:rPr lang="en-US" sz="2200" dirty="0">
                <a:latin typeface="Cambria Math" panose="02040503050406030204" pitchFamily="18" charset="0"/>
                <a:ea typeface="Cambria Math" panose="02040503050406030204" pitchFamily="18" charset="0"/>
              </a:rPr>
              <a:t>Out degree of all vertices of K</a:t>
            </a:r>
          </a:p>
          <a:p>
            <a:pPr marL="571500" indent="-571500">
              <a:buFont typeface="+mj-lt"/>
              <a:buAutoNum type="romanLcPeriod"/>
            </a:pPr>
            <a:r>
              <a:rPr lang="en-US" sz="2200" dirty="0">
                <a:latin typeface="Cambria Math" panose="02040503050406030204" pitchFamily="18" charset="0"/>
                <a:ea typeface="Cambria Math" panose="02040503050406030204" pitchFamily="18" charset="0"/>
              </a:rPr>
              <a:t>Degree of sub-graph involving vertices G&amp;H Only</a:t>
            </a:r>
          </a:p>
        </p:txBody>
      </p:sp>
    </p:spTree>
    <p:extLst>
      <p:ext uri="{BB962C8B-B14F-4D97-AF65-F5344CB8AC3E}">
        <p14:creationId xmlns:p14="http://schemas.microsoft.com/office/powerpoint/2010/main" val="2440774745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0562" y="0"/>
            <a:ext cx="10515600" cy="810883"/>
          </a:xfrm>
        </p:spPr>
        <p:txBody>
          <a:bodyPr/>
          <a:lstStyle/>
          <a:p>
            <a:r>
              <a:rPr lang="en-US" sz="4000" b="1" u="sng" dirty="0">
                <a:solidFill>
                  <a:srgbClr val="0070C0"/>
                </a:solidFill>
                <a:sym typeface="Wingdings" panose="05000000000000000000" pitchFamily="2" charset="2"/>
              </a:rPr>
              <a:t>Degree, In Degree, Out Degree … Example</a:t>
            </a:r>
            <a:endParaRPr lang="en-US" sz="4000" b="1" u="sng" dirty="0">
              <a:solidFill>
                <a:srgbClr val="0070C0"/>
              </a:solidFill>
            </a:endParaRPr>
          </a:p>
        </p:txBody>
      </p:sp>
      <p:sp>
        <p:nvSpPr>
          <p:cNvPr id="6" name="Content Placeholder 2"/>
          <p:cNvSpPr txBox="1">
            <a:spLocks/>
          </p:cNvSpPr>
          <p:nvPr/>
        </p:nvSpPr>
        <p:spPr>
          <a:xfrm>
            <a:off x="897147" y="914400"/>
            <a:ext cx="10228053" cy="4013200"/>
          </a:xfrm>
          <a:prstGeom prst="rect">
            <a:avLst/>
          </a:prstGeom>
        </p:spPr>
        <p:txBody>
          <a:bodyPr vert="horz" anchor="t">
            <a:normAutofit/>
          </a:bodyPr>
          <a:lstStyle>
            <a:lvl1pPr marL="274320" indent="-274320" algn="l" rtl="0" eaLnBrk="1" latinLnBrk="0" hangingPunct="1">
              <a:spcBef>
                <a:spcPts val="600"/>
              </a:spcBef>
              <a:buClr>
                <a:schemeClr val="accent1"/>
              </a:buClr>
              <a:buSzPct val="76000"/>
              <a:buFont typeface="Wingdings 3"/>
              <a:buChar char=""/>
              <a:defRPr kumimoji="0"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8640" indent="-274320" algn="l" rtl="0" eaLnBrk="1" latinLnBrk="0" hangingPunct="1">
              <a:spcBef>
                <a:spcPts val="500"/>
              </a:spcBef>
              <a:buClr>
                <a:schemeClr val="accent2"/>
              </a:buClr>
              <a:buSzPct val="76000"/>
              <a:buFont typeface="Wingdings 3"/>
              <a:buChar char=""/>
              <a:defRPr kumimoji="0" sz="23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822960" indent="-228600" algn="l" rtl="0" eaLnBrk="1" latinLnBrk="0" hangingPunct="1">
              <a:spcBef>
                <a:spcPts val="500"/>
              </a:spcBef>
              <a:buClr>
                <a:schemeClr val="bg1">
                  <a:shade val="50000"/>
                </a:schemeClr>
              </a:buClr>
              <a:buSzPct val="76000"/>
              <a:buFont typeface="Wingdings 3"/>
              <a:buChar char="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7280" indent="-228600" algn="l" rtl="0" eaLnBrk="1" latinLnBrk="0" hangingPunct="1">
              <a:spcBef>
                <a:spcPts val="400"/>
              </a:spcBef>
              <a:buClr>
                <a:schemeClr val="accent2">
                  <a:shade val="75000"/>
                </a:schemeClr>
              </a:buClr>
              <a:buSzPct val="70000"/>
              <a:buFont typeface="Wingdings"/>
              <a:buChar char="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1" latinLnBrk="0" hangingPunct="1">
              <a:spcBef>
                <a:spcPts val="300"/>
              </a:spcBef>
              <a:buClr>
                <a:schemeClr val="accent2"/>
              </a:buClr>
              <a:buSzPct val="70000"/>
              <a:buFont typeface="Wingdings"/>
              <a:buChar char="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45920" indent="-182880" algn="l" rtl="0" eaLnBrk="1" latinLnBrk="0" hangingPunct="1">
              <a:spcBef>
                <a:spcPts val="300"/>
              </a:spcBef>
              <a:buClr>
                <a:srgbClr val="9FB8CD">
                  <a:shade val="75000"/>
                </a:srgbClr>
              </a:buClr>
              <a:buSzPct val="75000"/>
              <a:buFont typeface="Wingdings 3"/>
              <a:buChar char=""/>
              <a:defRPr kumimoji="0"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182880" algn="l" rtl="0" eaLnBrk="1" latinLnBrk="0" hangingPunct="1">
              <a:spcBef>
                <a:spcPts val="300"/>
              </a:spcBef>
              <a:buClr>
                <a:srgbClr val="727CA3">
                  <a:shade val="75000"/>
                </a:srgb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11680" indent="-182880" algn="l" rtl="0" eaLnBrk="1" latinLnBrk="0" hangingPunct="1">
              <a:spcBef>
                <a:spcPts val="300"/>
              </a:spcBef>
              <a:buClr>
                <a:prstClr val="white">
                  <a:shade val="50000"/>
                </a:prst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94560" indent="-182880" algn="l" rtl="0" eaLnBrk="1" latinLnBrk="0" hangingPunct="1">
              <a:spcBef>
                <a:spcPts val="300"/>
              </a:spcBef>
              <a:buClr>
                <a:srgbClr val="9FB8CD"/>
              </a:buClr>
              <a:buSzPct val="75000"/>
              <a:buFont typeface="Wingdings 3"/>
              <a:buChar char=""/>
              <a:defRPr kumimoji="0"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If each vertex of an undirected graph has degree k then the graph is called a regular graph of degree k. </a:t>
            </a:r>
          </a:p>
          <a:p>
            <a:pPr marL="0" indent="0">
              <a:buNone/>
            </a:pPr>
            <a:endParaRPr lang="en-US" sz="2400" dirty="0"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How many edges are there in a directed graph of degree 6? 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How many edges are there in a undirected graph of degree 10? 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How many edges are there in a undirected graph of degree N? </a:t>
            </a:r>
          </a:p>
        </p:txBody>
      </p:sp>
    </p:spTree>
    <p:extLst>
      <p:ext uri="{BB962C8B-B14F-4D97-AF65-F5344CB8AC3E}">
        <p14:creationId xmlns:p14="http://schemas.microsoft.com/office/powerpoint/2010/main" val="3860596624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1CD81A2A-6ED4-4EF4-A14C-912D31E148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1661932C-CA15-4E17-B115-FAE7CBEE47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198657" y="1"/>
            <a:ext cx="1155142" cy="625027"/>
          </a:xfrm>
          <a:custGeom>
            <a:avLst/>
            <a:gdLst>
              <a:gd name="connsiteX0" fmla="*/ 4784 w 1155142"/>
              <a:gd name="connsiteY0" fmla="*/ 0 h 625027"/>
              <a:gd name="connsiteX1" fmla="*/ 1150358 w 1155142"/>
              <a:gd name="connsiteY1" fmla="*/ 0 h 625027"/>
              <a:gd name="connsiteX2" fmla="*/ 1155142 w 1155142"/>
              <a:gd name="connsiteY2" fmla="*/ 47456 h 625027"/>
              <a:gd name="connsiteX3" fmla="*/ 577571 w 1155142"/>
              <a:gd name="connsiteY3" fmla="*/ 625027 h 625027"/>
              <a:gd name="connsiteX4" fmla="*/ 0 w 1155142"/>
              <a:gd name="connsiteY4" fmla="*/ 47456 h 6250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55142" h="625027">
                <a:moveTo>
                  <a:pt x="4784" y="0"/>
                </a:moveTo>
                <a:lnTo>
                  <a:pt x="1150358" y="0"/>
                </a:lnTo>
                <a:lnTo>
                  <a:pt x="1155142" y="47456"/>
                </a:lnTo>
                <a:cubicBezTo>
                  <a:pt x="1155142" y="366440"/>
                  <a:pt x="896555" y="625027"/>
                  <a:pt x="577571" y="625027"/>
                </a:cubicBezTo>
                <a:cubicBezTo>
                  <a:pt x="258587" y="625027"/>
                  <a:pt x="0" y="366440"/>
                  <a:pt x="0" y="47456"/>
                </a:cubicBezTo>
                <a:close/>
              </a:path>
            </a:pathLst>
          </a:custGeom>
          <a:solidFill>
            <a:schemeClr val="accent5">
              <a:alpha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8BA007-143D-5203-7BB6-1AC9D7EF06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1086" y="1256212"/>
            <a:ext cx="6393662" cy="3925388"/>
          </a:xfrm>
        </p:spPr>
        <p:txBody>
          <a:bodyPr>
            <a:normAutofit/>
          </a:bodyPr>
          <a:lstStyle/>
          <a:p>
            <a:r>
              <a:rPr lang="en-US" dirty="0"/>
              <a:t>The topics we covered: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Graphs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Terminologies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Types of Graphs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Matrix Representation of Graphs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Directed Graph</a:t>
            </a:r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8590ADD5-9383-4D3D-9047-3DA2593CCB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08185" y="3423959"/>
            <a:ext cx="540822" cy="540822"/>
          </a:xfrm>
          <a:prstGeom prst="ellipse">
            <a:avLst/>
          </a:prstGeom>
          <a:noFill/>
          <a:ln w="127000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9" name="Graphic 8" descr="Books">
            <a:extLst>
              <a:ext uri="{FF2B5EF4-FFF2-40B4-BE49-F238E27FC236}">
                <a16:creationId xmlns:a16="http://schemas.microsoft.com/office/drawing/2014/main" id="{15422CC9-DE1C-CDFA-10C5-EC1FEBB1DAA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887184" y="1216485"/>
            <a:ext cx="3781051" cy="3781051"/>
          </a:xfrm>
          <a:custGeom>
            <a:avLst/>
            <a:gdLst/>
            <a:ahLst/>
            <a:cxnLst/>
            <a:rect l="l" t="t" r="r" b="b"/>
            <a:pathLst>
              <a:path w="4114800" h="5712488">
                <a:moveTo>
                  <a:pt x="133155" y="0"/>
                </a:moveTo>
                <a:lnTo>
                  <a:pt x="3981645" y="0"/>
                </a:lnTo>
                <a:cubicBezTo>
                  <a:pt x="4055184" y="0"/>
                  <a:pt x="4114800" y="59616"/>
                  <a:pt x="4114800" y="133155"/>
                </a:cubicBezTo>
                <a:lnTo>
                  <a:pt x="4114800" y="5579333"/>
                </a:lnTo>
                <a:cubicBezTo>
                  <a:pt x="4114800" y="5652872"/>
                  <a:pt x="4055184" y="5712488"/>
                  <a:pt x="3981645" y="5712488"/>
                </a:cubicBezTo>
                <a:lnTo>
                  <a:pt x="133155" y="5712488"/>
                </a:lnTo>
                <a:cubicBezTo>
                  <a:pt x="59616" y="5712488"/>
                  <a:pt x="0" y="5652872"/>
                  <a:pt x="0" y="5579333"/>
                </a:cubicBezTo>
                <a:lnTo>
                  <a:pt x="0" y="133155"/>
                </a:lnTo>
                <a:cubicBezTo>
                  <a:pt x="0" y="59616"/>
                  <a:pt x="59616" y="0"/>
                  <a:pt x="133155" y="0"/>
                </a:cubicBezTo>
                <a:close/>
              </a:path>
            </a:pathLst>
          </a:custGeom>
        </p:spPr>
      </p:pic>
      <p:sp>
        <p:nvSpPr>
          <p:cNvPr id="27" name="Freeform: Shape 26">
            <a:extLst>
              <a:ext uri="{FF2B5EF4-FFF2-40B4-BE49-F238E27FC236}">
                <a16:creationId xmlns:a16="http://schemas.microsoft.com/office/drawing/2014/main" id="{DABE3E45-88CF-45D8-8D40-C773324D93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749602" y="1"/>
            <a:ext cx="2066948" cy="1621879"/>
          </a:xfrm>
          <a:custGeom>
            <a:avLst/>
            <a:gdLst>
              <a:gd name="connsiteX0" fmla="*/ 0 w 2066948"/>
              <a:gd name="connsiteY0" fmla="*/ 0 h 1621879"/>
              <a:gd name="connsiteX1" fmla="*/ 123825 w 2066948"/>
              <a:gd name="connsiteY1" fmla="*/ 0 h 1621879"/>
              <a:gd name="connsiteX2" fmla="*/ 123825 w 2066948"/>
              <a:gd name="connsiteY2" fmla="*/ 1452620 h 1621879"/>
              <a:gd name="connsiteX3" fmla="*/ 1881378 w 2066948"/>
              <a:gd name="connsiteY3" fmla="*/ 436017 h 1621879"/>
              <a:gd name="connsiteX4" fmla="*/ 1127572 w 2066948"/>
              <a:gd name="connsiteY4" fmla="*/ 0 h 1621879"/>
              <a:gd name="connsiteX5" fmla="*/ 1374887 w 2066948"/>
              <a:gd name="connsiteY5" fmla="*/ 0 h 1621879"/>
              <a:gd name="connsiteX6" fmla="*/ 2035969 w 2066948"/>
              <a:gd name="connsiteY6" fmla="*/ 382391 h 1621879"/>
              <a:gd name="connsiteX7" fmla="*/ 2058648 w 2066948"/>
              <a:gd name="connsiteY7" fmla="*/ 466963 h 1621879"/>
              <a:gd name="connsiteX8" fmla="*/ 2035969 w 2066948"/>
              <a:gd name="connsiteY8" fmla="*/ 489642 h 1621879"/>
              <a:gd name="connsiteX9" fmla="*/ 92869 w 2066948"/>
              <a:gd name="connsiteY9" fmla="*/ 1613592 h 1621879"/>
              <a:gd name="connsiteX10" fmla="*/ 61913 w 2066948"/>
              <a:gd name="connsiteY10" fmla="*/ 1621879 h 1621879"/>
              <a:gd name="connsiteX11" fmla="*/ 0 w 2066948"/>
              <a:gd name="connsiteY11" fmla="*/ 1559967 h 16218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066948" h="1621879">
                <a:moveTo>
                  <a:pt x="0" y="0"/>
                </a:moveTo>
                <a:lnTo>
                  <a:pt x="123825" y="0"/>
                </a:lnTo>
                <a:lnTo>
                  <a:pt x="123825" y="1452620"/>
                </a:lnTo>
                <a:lnTo>
                  <a:pt x="1881378" y="436017"/>
                </a:lnTo>
                <a:lnTo>
                  <a:pt x="1127572" y="0"/>
                </a:lnTo>
                <a:lnTo>
                  <a:pt x="1374887" y="0"/>
                </a:lnTo>
                <a:lnTo>
                  <a:pt x="2035969" y="382391"/>
                </a:lnTo>
                <a:cubicBezTo>
                  <a:pt x="2065582" y="399479"/>
                  <a:pt x="2075745" y="437340"/>
                  <a:pt x="2058648" y="466963"/>
                </a:cubicBezTo>
                <a:cubicBezTo>
                  <a:pt x="2053219" y="476384"/>
                  <a:pt x="2045389" y="484204"/>
                  <a:pt x="2035969" y="489642"/>
                </a:cubicBezTo>
                <a:lnTo>
                  <a:pt x="92869" y="1613592"/>
                </a:lnTo>
                <a:cubicBezTo>
                  <a:pt x="83458" y="1619031"/>
                  <a:pt x="72780" y="1621889"/>
                  <a:pt x="61913" y="1621879"/>
                </a:cubicBezTo>
                <a:cubicBezTo>
                  <a:pt x="27719" y="1621879"/>
                  <a:pt x="0" y="1594161"/>
                  <a:pt x="0" y="1559967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49CD1692-827B-4C8D-B4A1-134FD04CF4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2138745" y="1027906"/>
            <a:ext cx="0" cy="1597708"/>
          </a:xfrm>
          <a:prstGeom prst="line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Freeform: Shape 30">
            <a:extLst>
              <a:ext uri="{FF2B5EF4-FFF2-40B4-BE49-F238E27FC236}">
                <a16:creationId xmlns:a16="http://schemas.microsoft.com/office/drawing/2014/main" id="{B91ECDA9-56DC-4270-8F33-01C5637B8C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463438">
            <a:off x="7456580" y="5166682"/>
            <a:ext cx="1835725" cy="2024785"/>
          </a:xfrm>
          <a:custGeom>
            <a:avLst/>
            <a:gdLst>
              <a:gd name="connsiteX0" fmla="*/ 1801138 w 1835725"/>
              <a:gd name="connsiteY0" fmla="*/ 1622662 h 2024785"/>
              <a:gd name="connsiteX1" fmla="*/ 1835717 w 1835725"/>
              <a:gd name="connsiteY1" fmla="*/ 1680254 h 2024785"/>
              <a:gd name="connsiteX2" fmla="*/ 1812568 w 1835725"/>
              <a:gd name="connsiteY2" fmla="*/ 1877193 h 2024785"/>
              <a:gd name="connsiteX3" fmla="*/ 1776210 w 1835725"/>
              <a:gd name="connsiteY3" fmla="*/ 2024785 h 2024785"/>
              <a:gd name="connsiteX4" fmla="*/ 1655772 w 1835725"/>
              <a:gd name="connsiteY4" fmla="*/ 1983449 h 2024785"/>
              <a:gd name="connsiteX5" fmla="*/ 1687591 w 1835725"/>
              <a:gd name="connsiteY5" fmla="*/ 1854495 h 2024785"/>
              <a:gd name="connsiteX6" fmla="*/ 1708939 w 1835725"/>
              <a:gd name="connsiteY6" fmla="*/ 1673301 h 2024785"/>
              <a:gd name="connsiteX7" fmla="*/ 1778129 w 1835725"/>
              <a:gd name="connsiteY7" fmla="*/ 1615979 h 2024785"/>
              <a:gd name="connsiteX8" fmla="*/ 1801138 w 1835725"/>
              <a:gd name="connsiteY8" fmla="*/ 1622662 h 2024785"/>
              <a:gd name="connsiteX9" fmla="*/ 1585229 w 1835725"/>
              <a:gd name="connsiteY9" fmla="*/ 764759 h 2024785"/>
              <a:gd name="connsiteX10" fmla="*/ 1623024 w 1835725"/>
              <a:gd name="connsiteY10" fmla="*/ 792810 h 2024785"/>
              <a:gd name="connsiteX11" fmla="*/ 1777614 w 1835725"/>
              <a:gd name="connsiteY11" fmla="*/ 1157141 h 2024785"/>
              <a:gd name="connsiteX12" fmla="*/ 1733799 w 1835725"/>
              <a:gd name="connsiteY12" fmla="*/ 1235532 h 2024785"/>
              <a:gd name="connsiteX13" fmla="*/ 1716464 w 1835725"/>
              <a:gd name="connsiteY13" fmla="*/ 1237722 h 2024785"/>
              <a:gd name="connsiteX14" fmla="*/ 1716464 w 1835725"/>
              <a:gd name="connsiteY14" fmla="*/ 1237913 h 2024785"/>
              <a:gd name="connsiteX15" fmla="*/ 1655409 w 1835725"/>
              <a:gd name="connsiteY15" fmla="*/ 1191717 h 2024785"/>
              <a:gd name="connsiteX16" fmla="*/ 1513200 w 1835725"/>
              <a:gd name="connsiteY16" fmla="*/ 856627 h 2024785"/>
              <a:gd name="connsiteX17" fmla="*/ 1538499 w 1835725"/>
              <a:gd name="connsiteY17" fmla="*/ 770415 h 2024785"/>
              <a:gd name="connsiteX18" fmla="*/ 1585229 w 1835725"/>
              <a:gd name="connsiteY18" fmla="*/ 764759 h 2024785"/>
              <a:gd name="connsiteX19" fmla="*/ 477919 w 1835725"/>
              <a:gd name="connsiteY19" fmla="*/ 21437 h 2024785"/>
              <a:gd name="connsiteX20" fmla="*/ 509236 w 1835725"/>
              <a:gd name="connsiteY20" fmla="*/ 84182 h 2024785"/>
              <a:gd name="connsiteX21" fmla="*/ 445829 w 1835725"/>
              <a:gd name="connsiteY21" fmla="*/ 139871 h 2024785"/>
              <a:gd name="connsiteX22" fmla="*/ 437447 w 1835725"/>
              <a:gd name="connsiteY22" fmla="*/ 139395 h 2024785"/>
              <a:gd name="connsiteX23" fmla="*/ 73211 w 1835725"/>
              <a:gd name="connsiteY23" fmla="*/ 137204 h 2024785"/>
              <a:gd name="connsiteX24" fmla="*/ 749 w 1835725"/>
              <a:gd name="connsiteY24" fmla="*/ 84082 h 2024785"/>
              <a:gd name="connsiteX25" fmla="*/ 53871 w 1835725"/>
              <a:gd name="connsiteY25" fmla="*/ 11621 h 2024785"/>
              <a:gd name="connsiteX26" fmla="*/ 58352 w 1835725"/>
              <a:gd name="connsiteY26" fmla="*/ 11093 h 2024785"/>
              <a:gd name="connsiteX27" fmla="*/ 454020 w 1835725"/>
              <a:gd name="connsiteY27" fmla="*/ 13474 h 2024785"/>
              <a:gd name="connsiteX28" fmla="*/ 477919 w 1835725"/>
              <a:gd name="connsiteY28" fmla="*/ 21437 h 2024785"/>
              <a:gd name="connsiteX29" fmla="*/ 957797 w 1835725"/>
              <a:gd name="connsiteY29" fmla="*/ 167970 h 2024785"/>
              <a:gd name="connsiteX30" fmla="*/ 1286982 w 1835725"/>
              <a:gd name="connsiteY30" fmla="*/ 387616 h 2024785"/>
              <a:gd name="connsiteX31" fmla="*/ 1293725 w 1835725"/>
              <a:gd name="connsiteY31" fmla="*/ 477075 h 2024785"/>
              <a:gd name="connsiteX32" fmla="*/ 1245453 w 1835725"/>
              <a:gd name="connsiteY32" fmla="*/ 499154 h 2024785"/>
              <a:gd name="connsiteX33" fmla="*/ 1245167 w 1835725"/>
              <a:gd name="connsiteY33" fmla="*/ 499154 h 2024785"/>
              <a:gd name="connsiteX34" fmla="*/ 1203638 w 1835725"/>
              <a:gd name="connsiteY34" fmla="*/ 484104 h 2024785"/>
              <a:gd name="connsiteX35" fmla="*/ 900647 w 1835725"/>
              <a:gd name="connsiteY35" fmla="*/ 281508 h 2024785"/>
              <a:gd name="connsiteX36" fmla="*/ 872454 w 1835725"/>
              <a:gd name="connsiteY36" fmla="*/ 196164 h 2024785"/>
              <a:gd name="connsiteX37" fmla="*/ 957797 w 1835725"/>
              <a:gd name="connsiteY37" fmla="*/ 167970 h 20247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</a:cxnLst>
            <a:rect l="l" t="t" r="r" b="b"/>
            <a:pathLst>
              <a:path w="1835725" h="2024785">
                <a:moveTo>
                  <a:pt x="1801138" y="1622662"/>
                </a:moveTo>
                <a:cubicBezTo>
                  <a:pt x="1822105" y="1633400"/>
                  <a:pt x="1836117" y="1655372"/>
                  <a:pt x="1835717" y="1680254"/>
                </a:cubicBezTo>
                <a:cubicBezTo>
                  <a:pt x="1832093" y="1746382"/>
                  <a:pt x="1824354" y="1812154"/>
                  <a:pt x="1812568" y="1877193"/>
                </a:cubicBezTo>
                <a:lnTo>
                  <a:pt x="1776210" y="2024785"/>
                </a:lnTo>
                <a:lnTo>
                  <a:pt x="1655772" y="1983449"/>
                </a:lnTo>
                <a:lnTo>
                  <a:pt x="1687591" y="1854495"/>
                </a:lnTo>
                <a:cubicBezTo>
                  <a:pt x="1698455" y="1794657"/>
                  <a:pt x="1705590" y="1734142"/>
                  <a:pt x="1708939" y="1673301"/>
                </a:cubicBezTo>
                <a:cubicBezTo>
                  <a:pt x="1712216" y="1638363"/>
                  <a:pt x="1743190" y="1612703"/>
                  <a:pt x="1778129" y="1615979"/>
                </a:cubicBezTo>
                <a:cubicBezTo>
                  <a:pt x="1786387" y="1616753"/>
                  <a:pt x="1794149" y="1619084"/>
                  <a:pt x="1801138" y="1622662"/>
                </a:cubicBezTo>
                <a:close/>
                <a:moveTo>
                  <a:pt x="1585229" y="764759"/>
                </a:moveTo>
                <a:cubicBezTo>
                  <a:pt x="1600438" y="768789"/>
                  <a:pt x="1614156" y="778436"/>
                  <a:pt x="1623024" y="792810"/>
                </a:cubicBezTo>
                <a:cubicBezTo>
                  <a:pt x="1689575" y="907319"/>
                  <a:pt x="1741505" y="1029715"/>
                  <a:pt x="1777614" y="1157141"/>
                </a:cubicBezTo>
                <a:cubicBezTo>
                  <a:pt x="1787149" y="1190888"/>
                  <a:pt x="1767537" y="1225969"/>
                  <a:pt x="1733799" y="1235532"/>
                </a:cubicBezTo>
                <a:cubicBezTo>
                  <a:pt x="1728151" y="1237046"/>
                  <a:pt x="1722312" y="1237780"/>
                  <a:pt x="1716464" y="1237722"/>
                </a:cubicBezTo>
                <a:lnTo>
                  <a:pt x="1716464" y="1237913"/>
                </a:lnTo>
                <a:cubicBezTo>
                  <a:pt x="1688070" y="1237913"/>
                  <a:pt x="1663124" y="1219044"/>
                  <a:pt x="1655409" y="1191717"/>
                </a:cubicBezTo>
                <a:cubicBezTo>
                  <a:pt x="1622214" y="1074512"/>
                  <a:pt x="1574437" y="961936"/>
                  <a:pt x="1513200" y="856627"/>
                </a:cubicBezTo>
                <a:cubicBezTo>
                  <a:pt x="1496379" y="825834"/>
                  <a:pt x="1507704" y="787236"/>
                  <a:pt x="1538499" y="770415"/>
                </a:cubicBezTo>
                <a:cubicBezTo>
                  <a:pt x="1553325" y="762319"/>
                  <a:pt x="1570022" y="760730"/>
                  <a:pt x="1585229" y="764759"/>
                </a:cubicBezTo>
                <a:close/>
                <a:moveTo>
                  <a:pt x="477919" y="21437"/>
                </a:moveTo>
                <a:cubicBezTo>
                  <a:pt x="499341" y="33775"/>
                  <a:pt x="512445" y="58102"/>
                  <a:pt x="509236" y="84182"/>
                </a:cubicBezTo>
                <a:cubicBezTo>
                  <a:pt x="505303" y="116151"/>
                  <a:pt x="478038" y="140098"/>
                  <a:pt x="445829" y="139871"/>
                </a:cubicBezTo>
                <a:cubicBezTo>
                  <a:pt x="443027" y="139899"/>
                  <a:pt x="440227" y="139740"/>
                  <a:pt x="437447" y="139395"/>
                </a:cubicBezTo>
                <a:cubicBezTo>
                  <a:pt x="316592" y="123615"/>
                  <a:pt x="194247" y="122878"/>
                  <a:pt x="73211" y="137204"/>
                </a:cubicBezTo>
                <a:cubicBezTo>
                  <a:pt x="38532" y="142545"/>
                  <a:pt x="6090" y="118762"/>
                  <a:pt x="749" y="84082"/>
                </a:cubicBezTo>
                <a:cubicBezTo>
                  <a:pt x="-4591" y="49403"/>
                  <a:pt x="19192" y="16961"/>
                  <a:pt x="53871" y="11621"/>
                </a:cubicBezTo>
                <a:cubicBezTo>
                  <a:pt x="55358" y="11392"/>
                  <a:pt x="56852" y="11216"/>
                  <a:pt x="58352" y="11093"/>
                </a:cubicBezTo>
                <a:cubicBezTo>
                  <a:pt x="189834" y="-4456"/>
                  <a:pt x="322735" y="-3656"/>
                  <a:pt x="454020" y="13474"/>
                </a:cubicBezTo>
                <a:cubicBezTo>
                  <a:pt x="462713" y="14543"/>
                  <a:pt x="470778" y="17324"/>
                  <a:pt x="477919" y="21437"/>
                </a:cubicBezTo>
                <a:close/>
                <a:moveTo>
                  <a:pt x="957797" y="167970"/>
                </a:moveTo>
                <a:cubicBezTo>
                  <a:pt x="1076184" y="227289"/>
                  <a:pt x="1186759" y="301068"/>
                  <a:pt x="1286982" y="387616"/>
                </a:cubicBezTo>
                <a:cubicBezTo>
                  <a:pt x="1313547" y="410457"/>
                  <a:pt x="1316566" y="450510"/>
                  <a:pt x="1293725" y="477075"/>
                </a:cubicBezTo>
                <a:cubicBezTo>
                  <a:pt x="1281638" y="491137"/>
                  <a:pt x="1263998" y="499204"/>
                  <a:pt x="1245453" y="499154"/>
                </a:cubicBezTo>
                <a:lnTo>
                  <a:pt x="1245167" y="499154"/>
                </a:lnTo>
                <a:cubicBezTo>
                  <a:pt x="1229965" y="499301"/>
                  <a:pt x="1215220" y="493956"/>
                  <a:pt x="1203638" y="484104"/>
                </a:cubicBezTo>
                <a:cubicBezTo>
                  <a:pt x="1111407" y="404300"/>
                  <a:pt x="1009633" y="336248"/>
                  <a:pt x="900647" y="281508"/>
                </a:cubicBezTo>
                <a:cubicBezTo>
                  <a:pt x="869295" y="265726"/>
                  <a:pt x="856672" y="227516"/>
                  <a:pt x="872454" y="196164"/>
                </a:cubicBezTo>
                <a:cubicBezTo>
                  <a:pt x="888235" y="164811"/>
                  <a:pt x="926445" y="152188"/>
                  <a:pt x="957797" y="167970"/>
                </a:cubicBezTo>
                <a:close/>
              </a:path>
            </a:pathLst>
          </a:custGeom>
          <a:solidFill>
            <a:schemeClr val="accent4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3" name="Freeform: Shape 32">
            <a:extLst>
              <a:ext uri="{FF2B5EF4-FFF2-40B4-BE49-F238E27FC236}">
                <a16:creationId xmlns:a16="http://schemas.microsoft.com/office/drawing/2014/main" id="{75F47824-961D-465D-84F9-EAE11BC617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09527" y="6033795"/>
            <a:ext cx="1991064" cy="824205"/>
          </a:xfrm>
          <a:custGeom>
            <a:avLst/>
            <a:gdLst>
              <a:gd name="connsiteX0" fmla="*/ 995532 w 1991064"/>
              <a:gd name="connsiteY0" fmla="*/ 0 h 824205"/>
              <a:gd name="connsiteX1" fmla="*/ 1984823 w 1991064"/>
              <a:gd name="connsiteY1" fmla="*/ 784423 h 824205"/>
              <a:gd name="connsiteX2" fmla="*/ 1991064 w 1991064"/>
              <a:gd name="connsiteY2" fmla="*/ 824205 h 824205"/>
              <a:gd name="connsiteX3" fmla="*/ 0 w 1991064"/>
              <a:gd name="connsiteY3" fmla="*/ 824205 h 824205"/>
              <a:gd name="connsiteX4" fmla="*/ 6241 w 1991064"/>
              <a:gd name="connsiteY4" fmla="*/ 784423 h 824205"/>
              <a:gd name="connsiteX5" fmla="*/ 995532 w 1991064"/>
              <a:gd name="connsiteY5" fmla="*/ 0 h 8242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991064" h="824205">
                <a:moveTo>
                  <a:pt x="995532" y="0"/>
                </a:moveTo>
                <a:cubicBezTo>
                  <a:pt x="1483521" y="0"/>
                  <a:pt x="1890663" y="336754"/>
                  <a:pt x="1984823" y="784423"/>
                </a:cubicBezTo>
                <a:lnTo>
                  <a:pt x="1991064" y="824205"/>
                </a:lnTo>
                <a:lnTo>
                  <a:pt x="0" y="824205"/>
                </a:lnTo>
                <a:lnTo>
                  <a:pt x="6241" y="784423"/>
                </a:lnTo>
                <a:cubicBezTo>
                  <a:pt x="100402" y="336754"/>
                  <a:pt x="507544" y="0"/>
                  <a:pt x="995532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FEC9DA3E-C1D7-472D-B7C0-F71AE41FBA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851696" y="5519196"/>
            <a:ext cx="1340305" cy="1338805"/>
          </a:xfrm>
          <a:custGeom>
            <a:avLst/>
            <a:gdLst>
              <a:gd name="connsiteX0" fmla="*/ 61913 w 1340305"/>
              <a:gd name="connsiteY0" fmla="*/ 0 h 1338805"/>
              <a:gd name="connsiteX1" fmla="*/ 1340305 w 1340305"/>
              <a:gd name="connsiteY1" fmla="*/ 0 h 1338805"/>
              <a:gd name="connsiteX2" fmla="*/ 1340305 w 1340305"/>
              <a:gd name="connsiteY2" fmla="*/ 123825 h 1338805"/>
              <a:gd name="connsiteX3" fmla="*/ 123825 w 1340305"/>
              <a:gd name="connsiteY3" fmla="*/ 123825 h 1338805"/>
              <a:gd name="connsiteX4" fmla="*/ 123825 w 1340305"/>
              <a:gd name="connsiteY4" fmla="*/ 1338805 h 1338805"/>
              <a:gd name="connsiteX5" fmla="*/ 0 w 1340305"/>
              <a:gd name="connsiteY5" fmla="*/ 1338805 h 1338805"/>
              <a:gd name="connsiteX6" fmla="*/ 0 w 1340305"/>
              <a:gd name="connsiteY6" fmla="*/ 61913 h 1338805"/>
              <a:gd name="connsiteX7" fmla="*/ 61913 w 1340305"/>
              <a:gd name="connsiteY7" fmla="*/ 0 h 13388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340305" h="1338805">
                <a:moveTo>
                  <a:pt x="61913" y="0"/>
                </a:moveTo>
                <a:lnTo>
                  <a:pt x="1340305" y="0"/>
                </a:lnTo>
                <a:lnTo>
                  <a:pt x="1340305" y="123825"/>
                </a:lnTo>
                <a:lnTo>
                  <a:pt x="123825" y="123825"/>
                </a:lnTo>
                <a:lnTo>
                  <a:pt x="123825" y="1338805"/>
                </a:lnTo>
                <a:lnTo>
                  <a:pt x="0" y="1338805"/>
                </a:lnTo>
                <a:lnTo>
                  <a:pt x="0" y="61913"/>
                </a:lnTo>
                <a:cubicBezTo>
                  <a:pt x="0" y="27719"/>
                  <a:pt x="27719" y="0"/>
                  <a:pt x="61913" y="0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itle 3">
            <a:extLst>
              <a:ext uri="{FF2B5EF4-FFF2-40B4-BE49-F238E27FC236}">
                <a16:creationId xmlns:a16="http://schemas.microsoft.com/office/drawing/2014/main" id="{32344EE1-CFFD-57AA-4D75-9BBE96554682}"/>
              </a:ext>
            </a:extLst>
          </p:cNvPr>
          <p:cNvSpPr txBox="1">
            <a:spLocks/>
          </p:cNvSpPr>
          <p:nvPr/>
        </p:nvSpPr>
        <p:spPr>
          <a:xfrm>
            <a:off x="841248" y="365760"/>
            <a:ext cx="5120640" cy="132588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u="sng" dirty="0">
                <a:solidFill>
                  <a:schemeClr val="tx1"/>
                </a:solidFill>
              </a:rPr>
              <a:t>Summary</a:t>
            </a:r>
          </a:p>
        </p:txBody>
      </p:sp>
    </p:spTree>
    <p:extLst>
      <p:ext uri="{BB962C8B-B14F-4D97-AF65-F5344CB8AC3E}">
        <p14:creationId xmlns:p14="http://schemas.microsoft.com/office/powerpoint/2010/main" val="2062828042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OPREFERENCE" val="False"/>
  <p:tag name="DELIMITERS" val="3.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OPREFERENCE" val="False"/>
  <p:tag name="DELIMITERS" val="3.1"/>
</p:tagLst>
</file>

<file path=ppt/theme/theme1.xml><?xml version="1.0" encoding="utf-8"?>
<a:theme xmlns:a="http://schemas.openxmlformats.org/drawingml/2006/main" name="ShapesVTI">
  <a:themeElements>
    <a:clrScheme name="Shapes">
      <a:dk1>
        <a:sysClr val="windowText" lastClr="000000"/>
      </a:dk1>
      <a:lt1>
        <a:sysClr val="window" lastClr="FFFFFF"/>
      </a:lt1>
      <a:dk2>
        <a:srgbClr val="281B10"/>
      </a:dk2>
      <a:lt2>
        <a:srgbClr val="FFF9F5"/>
      </a:lt2>
      <a:accent1>
        <a:srgbClr val="EE7661"/>
      </a:accent1>
      <a:accent2>
        <a:srgbClr val="4E91F0"/>
      </a:accent2>
      <a:accent3>
        <a:srgbClr val="5B5260"/>
      </a:accent3>
      <a:accent4>
        <a:srgbClr val="2CC3B4"/>
      </a:accent4>
      <a:accent5>
        <a:srgbClr val="C097F8"/>
      </a:accent5>
      <a:accent6>
        <a:srgbClr val="FF9514"/>
      </a:accent6>
      <a:hlink>
        <a:srgbClr val="E50CBC"/>
      </a:hlink>
      <a:folHlink>
        <a:srgbClr val="6257FF"/>
      </a:folHlink>
    </a:clrScheme>
    <a:fontScheme name="Cambria">
      <a:majorFont>
        <a:latin typeface="Cambria" panose="02040503050406030204"/>
        <a:ea typeface=""/>
        <a:cs typeface=""/>
        <a:font script="Jpan" typeface="HG明朝B"/>
        <a:font script="Hang" typeface="맑은 고딕"/>
        <a:font script="Hans" typeface="黑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mbria" panose="02040503050406030204"/>
        <a:ea typeface=""/>
        <a:cs typeface=""/>
        <a:font script="Jpan" typeface="HG明朝B"/>
        <a:font script="Hang" typeface="맑은 고딕"/>
        <a:font script="Hans" typeface="黑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hapesVTI" id="{C78D20FD-A872-4243-8597-B534C62538FF}" vid="{7CAFCCF9-7834-41D6-B6AB-7D225A18A4E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426e97fa315356fffbdcd9876fe988c2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14b8f0def80e6d70ce3def20c90759ae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1A449C04-64B3-4403-94B7-8D2284C38D1B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FBDEF148-1770-458F-8F5B-C3D0A278AA97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customXml/itemProps3.xml><?xml version="1.0" encoding="utf-8"?>
<ds:datastoreItem xmlns:ds="http://schemas.openxmlformats.org/officeDocument/2006/customXml" ds:itemID="{8413533D-8C39-401E-8B75-B1AEEEC56B93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36952</TotalTime>
  <Words>3054</Words>
  <Application>Microsoft Office PowerPoint</Application>
  <PresentationFormat>Widescreen</PresentationFormat>
  <Paragraphs>444</Paragraphs>
  <Slides>53</Slides>
  <Notes>1</Notes>
  <HiddenSlides>0</HiddenSlides>
  <MMClips>0</MMClips>
  <ScaleCrop>false</ScaleCrop>
  <HeadingPairs>
    <vt:vector size="8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0</vt:i4>
      </vt:variant>
      <vt:variant>
        <vt:lpstr>Slide Titles</vt:lpstr>
      </vt:variant>
      <vt:variant>
        <vt:i4>53</vt:i4>
      </vt:variant>
    </vt:vector>
  </HeadingPairs>
  <TitlesOfParts>
    <vt:vector size="63" baseType="lpstr">
      <vt:lpstr>Agency FB</vt:lpstr>
      <vt:lpstr>Arial</vt:lpstr>
      <vt:lpstr>Calibri</vt:lpstr>
      <vt:lpstr>Cambria</vt:lpstr>
      <vt:lpstr>Cambria Math</vt:lpstr>
      <vt:lpstr>Century Gothic</vt:lpstr>
      <vt:lpstr>Comic Sans MS</vt:lpstr>
      <vt:lpstr>Wingdings</vt:lpstr>
      <vt:lpstr>Wingdings 3</vt:lpstr>
      <vt:lpstr>ShapesVTI</vt:lpstr>
      <vt:lpstr>PowerPoint Presentation</vt:lpstr>
      <vt:lpstr>Chapter 10   Graph Theory</vt:lpstr>
      <vt:lpstr>INTRODUCTION</vt:lpstr>
      <vt:lpstr>Graph … Examples</vt:lpstr>
      <vt:lpstr>PowerPoint Presentation</vt:lpstr>
      <vt:lpstr>Graph … More Examples</vt:lpstr>
      <vt:lpstr>GRAPH</vt:lpstr>
      <vt:lpstr>EXAMPLE</vt:lpstr>
      <vt:lpstr>SOME TERMINOLOGY</vt:lpstr>
      <vt:lpstr>PowerPoint Presentation</vt:lpstr>
      <vt:lpstr>EXAMPLE</vt:lpstr>
      <vt:lpstr>EXAMPLE</vt:lpstr>
      <vt:lpstr>SOLUTION</vt:lpstr>
      <vt:lpstr>EXERCISE</vt:lpstr>
      <vt:lpstr>SIMPLE GRAPH</vt:lpstr>
      <vt:lpstr>EXERCISE</vt:lpstr>
      <vt:lpstr>PowerPoint Presentation</vt:lpstr>
      <vt:lpstr>DEGREE OF A VERTEX</vt:lpstr>
      <vt:lpstr>EXAMPLE</vt:lpstr>
      <vt:lpstr>THE HANDSHAKING THEOREM</vt:lpstr>
      <vt:lpstr>EXERCISE</vt:lpstr>
      <vt:lpstr>Solution</vt:lpstr>
      <vt:lpstr>PowerPoint Presentation</vt:lpstr>
      <vt:lpstr>EXERCISE</vt:lpstr>
      <vt:lpstr>COMPLETE GRAPH</vt:lpstr>
      <vt:lpstr>REGULAR GRAPH</vt:lpstr>
      <vt:lpstr>EXERCISE</vt:lpstr>
      <vt:lpstr>BIPARTITE GRAPH</vt:lpstr>
      <vt:lpstr>MATRIX REPRESENTATIONS OF GRAPHS</vt:lpstr>
      <vt:lpstr>MATRIX</vt:lpstr>
      <vt:lpstr>ADJACENCY MATRIX OF A GRAPH</vt:lpstr>
      <vt:lpstr>EXAMPLE</vt:lpstr>
      <vt:lpstr>EXERCISE</vt:lpstr>
      <vt:lpstr>DIRECTED GRAPH</vt:lpstr>
      <vt:lpstr>EXAMPLE OF DIGRAPGH</vt:lpstr>
      <vt:lpstr>ADJACENCY MATRIX OF A DIRECTED GRAPH</vt:lpstr>
      <vt:lpstr>EXAMPLE</vt:lpstr>
      <vt:lpstr>EXERCISE</vt:lpstr>
      <vt:lpstr>SOLUTION</vt:lpstr>
      <vt:lpstr>Graph Adjacency Matrix Representation</vt:lpstr>
      <vt:lpstr>Graph Adjacency Matrix … Exercise</vt:lpstr>
      <vt:lpstr>Graph Adjacency Matrix Representation</vt:lpstr>
      <vt:lpstr>Graph Adjacency Matrix Representation … </vt:lpstr>
      <vt:lpstr>Graph Adjacency Matrix Representation … </vt:lpstr>
      <vt:lpstr>INCIDENCE MATRIX OF A SIMPLE GRAPH</vt:lpstr>
      <vt:lpstr>EXERCISE</vt:lpstr>
      <vt:lpstr>REMARK</vt:lpstr>
      <vt:lpstr>INCIDENCE MATRIX OF A DIRECTED GRAPH</vt:lpstr>
      <vt:lpstr>In Degree, Out Degree</vt:lpstr>
      <vt:lpstr>In Degree, Out Degree</vt:lpstr>
      <vt:lpstr>Degree, In Degree, Out Degree … Example</vt:lpstr>
      <vt:lpstr>Degree, In Degree, Out Degree … Example</vt:lpstr>
      <vt:lpstr>PowerPoint Presentation</vt:lpstr>
    </vt:vector>
  </TitlesOfParts>
  <Company>HP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CC2031  Digital Logic Design Section – V11</dc:title>
  <dc:creator>IQRA JAVED</dc:creator>
  <cp:lastModifiedBy>IQRA JAVED</cp:lastModifiedBy>
  <cp:revision>119</cp:revision>
  <cp:lastPrinted>2024-03-28T06:21:38Z</cp:lastPrinted>
  <dcterms:created xsi:type="dcterms:W3CDTF">2023-10-03T05:27:31Z</dcterms:created>
  <dcterms:modified xsi:type="dcterms:W3CDTF">2025-06-18T08:40:30Z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