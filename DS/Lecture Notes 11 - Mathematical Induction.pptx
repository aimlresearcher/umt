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30"/>
  </p:notesMasterIdLst>
  <p:sldIdLst>
    <p:sldId id="3894" r:id="rId5"/>
    <p:sldId id="3885" r:id="rId6"/>
    <p:sldId id="257" r:id="rId7"/>
    <p:sldId id="258" r:id="rId8"/>
    <p:sldId id="259" r:id="rId9"/>
    <p:sldId id="260" r:id="rId10"/>
    <p:sldId id="261" r:id="rId11"/>
    <p:sldId id="405" r:id="rId12"/>
    <p:sldId id="262" r:id="rId13"/>
    <p:sldId id="263" r:id="rId14"/>
    <p:sldId id="265" r:id="rId15"/>
    <p:sldId id="267" r:id="rId16"/>
    <p:sldId id="268" r:id="rId17"/>
    <p:sldId id="270" r:id="rId18"/>
    <p:sldId id="271" r:id="rId19"/>
    <p:sldId id="400" r:id="rId20"/>
    <p:sldId id="401" r:id="rId21"/>
    <p:sldId id="279" r:id="rId22"/>
    <p:sldId id="280" r:id="rId23"/>
    <p:sldId id="402" r:id="rId24"/>
    <p:sldId id="3895" r:id="rId25"/>
    <p:sldId id="421" r:id="rId26"/>
    <p:sldId id="422" r:id="rId27"/>
    <p:sldId id="423" r:id="rId28"/>
    <p:sldId id="385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84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5/21/2025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55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59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83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077768-21C8-4125-A345-258E48D2EED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83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09600" y="359465"/>
            <a:ext cx="10972800" cy="1143000"/>
          </a:xfrm>
          <a:prstGeom prst="rect">
            <a:avLst/>
          </a:prstGeom>
        </p:spPr>
        <p:txBody>
          <a:bodyPr anchor="b" anchorCtr="0">
            <a:normAutofit/>
          </a:bodyPr>
          <a:lstStyle/>
          <a:p>
            <a:pPr algn="l"/>
            <a:r>
              <a:rPr lang="en-US"/>
              <a:t>Click to edit Master title style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D4C49B74-5DB2-4B03-B1D2-7F6A3C51C318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Discrete Structures : Lecture 1-2 by IQRA JAVED</a:t>
            </a:r>
          </a:p>
        </p:txBody>
      </p:sp>
    </p:spTree>
    <p:extLst>
      <p:ext uri="{BB962C8B-B14F-4D97-AF65-F5344CB8AC3E}">
        <p14:creationId xmlns:p14="http://schemas.microsoft.com/office/powerpoint/2010/main" val="343962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  <p:sldLayoutId id="21474837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5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5.1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idx="1"/>
          </p:nvPr>
        </p:nvSpPr>
        <p:spPr>
          <a:xfrm>
            <a:off x="1181100" y="1532964"/>
            <a:ext cx="9829800" cy="36327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dirty="0"/>
              <a:t>Suppose we have an </a:t>
            </a:r>
            <a:r>
              <a:rPr lang="en-US" dirty="0">
                <a:solidFill>
                  <a:srgbClr val="C00000"/>
                </a:solidFill>
              </a:rPr>
              <a:t>infinite ladder</a:t>
            </a:r>
            <a:r>
              <a:rPr lang="en-US" dirty="0"/>
              <a:t>, and we want to know whether we can reach every step on this </a:t>
            </a:r>
            <a:r>
              <a:rPr lang="en-US" dirty="0">
                <a:solidFill>
                  <a:srgbClr val="C00000"/>
                </a:solidFill>
              </a:rPr>
              <a:t>ladder.</a:t>
            </a:r>
            <a:r>
              <a:rPr lang="en-US" dirty="0"/>
              <a:t> We know two things:</a:t>
            </a:r>
            <a:endParaRPr dirty="0"/>
          </a:p>
          <a:p>
            <a:pPr marL="274320" indent="-148844">
              <a:spcBef>
                <a:spcPts val="600"/>
              </a:spcBef>
              <a:buSzPts val="1976"/>
            </a:pPr>
            <a:endParaRPr dirty="0"/>
          </a:p>
          <a:p>
            <a:pPr marL="617220" lvl="1" indent="-342900">
              <a:buSzPts val="1900"/>
            </a:pPr>
            <a:r>
              <a:rPr lang="en-US" sz="2500" dirty="0"/>
              <a:t>We can reach</a:t>
            </a:r>
            <a:r>
              <a:rPr lang="en-US" sz="2500" dirty="0">
                <a:solidFill>
                  <a:srgbClr val="C00000"/>
                </a:solidFill>
              </a:rPr>
              <a:t> first rung</a:t>
            </a:r>
            <a:r>
              <a:rPr lang="en-US" sz="2500" dirty="0"/>
              <a:t> of the </a:t>
            </a:r>
            <a:r>
              <a:rPr lang="en-US" sz="2500" dirty="0">
                <a:solidFill>
                  <a:srgbClr val="C00000"/>
                </a:solidFill>
              </a:rPr>
              <a:t>ladder</a:t>
            </a:r>
            <a:r>
              <a:rPr lang="en-US" sz="2500" dirty="0"/>
              <a:t>.</a:t>
            </a:r>
            <a:endParaRPr dirty="0"/>
          </a:p>
          <a:p>
            <a:pPr marL="617220" lvl="1" indent="-342900">
              <a:buSzPts val="1900"/>
            </a:pPr>
            <a:r>
              <a:rPr lang="en-US" sz="2500" dirty="0"/>
              <a:t>If we can reach a </a:t>
            </a:r>
            <a:r>
              <a:rPr lang="en-US" sz="2500" dirty="0">
                <a:solidFill>
                  <a:srgbClr val="C00000"/>
                </a:solidFill>
              </a:rPr>
              <a:t>particular rung</a:t>
            </a:r>
            <a:r>
              <a:rPr lang="en-US" sz="2500" dirty="0"/>
              <a:t> of the </a:t>
            </a:r>
            <a:r>
              <a:rPr lang="en-US" sz="2500" dirty="0">
                <a:solidFill>
                  <a:srgbClr val="C00000"/>
                </a:solidFill>
              </a:rPr>
              <a:t>ladder</a:t>
            </a:r>
            <a:r>
              <a:rPr lang="en-US" sz="2500" dirty="0"/>
              <a:t>, then we can reach the </a:t>
            </a:r>
            <a:r>
              <a:rPr lang="en-US" sz="2500" dirty="0">
                <a:solidFill>
                  <a:srgbClr val="C00000"/>
                </a:solidFill>
              </a:rPr>
              <a:t>next rung</a:t>
            </a:r>
            <a:r>
              <a:rPr lang="en-US" sz="2500" dirty="0"/>
              <a:t>.</a:t>
            </a:r>
            <a:endParaRPr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EB43494D-CEBB-48B7-B434-3C8B0994D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754" y="0"/>
            <a:ext cx="10383752" cy="1398494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Introduction</a:t>
            </a:r>
            <a:endParaRPr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2400" y="76200"/>
            <a:ext cx="4806604" cy="667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idx="1"/>
          </p:nvPr>
        </p:nvSpPr>
        <p:spPr>
          <a:xfrm>
            <a:off x="1179576" y="995082"/>
            <a:ext cx="9829800" cy="477575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dirty="0"/>
              <a:t>Many theorems state that </a:t>
            </a:r>
            <a:r>
              <a:rPr lang="en-US" dirty="0">
                <a:solidFill>
                  <a:srgbClr val="C00000"/>
                </a:solidFill>
              </a:rPr>
              <a:t>P(n)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for all positive integers ‘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’. Where </a:t>
            </a:r>
            <a:r>
              <a:rPr lang="en-US" dirty="0">
                <a:solidFill>
                  <a:srgbClr val="C00000"/>
                </a:solidFill>
              </a:rPr>
              <a:t>P(n)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  <a:r>
              <a:rPr lang="en-US" dirty="0"/>
              <a:t>.</a:t>
            </a:r>
            <a:endParaRPr dirty="0"/>
          </a:p>
          <a:p>
            <a:pPr marL="274320" indent="-148844">
              <a:spcBef>
                <a:spcPts val="600"/>
              </a:spcBef>
              <a:buSzPts val="1976"/>
            </a:pP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b="1" dirty="0">
                <a:solidFill>
                  <a:srgbClr val="0070C0"/>
                </a:solidFill>
              </a:rPr>
              <a:t>Example:</a:t>
            </a:r>
            <a:endParaRPr dirty="0"/>
          </a:p>
          <a:p>
            <a:pPr marL="274320" indent="-274320">
              <a:spcBef>
                <a:spcPts val="600"/>
              </a:spcBef>
              <a:buSzPts val="1976"/>
            </a:pP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1 + 2 + 3 + ….. + n = n(n + 1)/2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				  or 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 				n ≤ 2</a:t>
            </a:r>
            <a:r>
              <a:rPr lang="en-US" baseline="30000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   </a:t>
            </a:r>
            <a:endParaRPr dirty="0"/>
          </a:p>
          <a:p>
            <a:pPr marL="274320" indent="-148844">
              <a:spcBef>
                <a:spcPts val="600"/>
              </a:spcBef>
              <a:buSzPts val="1976"/>
            </a:pPr>
            <a:endParaRPr dirty="0"/>
          </a:p>
          <a:p>
            <a:pPr marL="274320" indent="-274320">
              <a:spcBef>
                <a:spcPts val="600"/>
              </a:spcBef>
              <a:buSzPts val="1976"/>
            </a:pPr>
            <a:endParaRPr dirty="0"/>
          </a:p>
          <a:p>
            <a:pPr marL="274320" indent="-148844">
              <a:spcBef>
                <a:spcPts val="600"/>
              </a:spcBef>
              <a:buSzPts val="1976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>
            <a:spLocks noGrp="1"/>
          </p:cNvSpPr>
          <p:nvPr>
            <p:ph idx="1"/>
          </p:nvPr>
        </p:nvSpPr>
        <p:spPr>
          <a:xfrm>
            <a:off x="1031658" y="1104273"/>
            <a:ext cx="9829800" cy="38597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SzPts val="1976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C00000"/>
                </a:solidFill>
              </a:rPr>
              <a:t>Mathematical induction </a:t>
            </a:r>
            <a:r>
              <a:rPr lang="en-US" dirty="0"/>
              <a:t>is a</a:t>
            </a:r>
            <a:r>
              <a:rPr lang="en-US" dirty="0">
                <a:solidFill>
                  <a:srgbClr val="C00000"/>
                </a:solidFill>
              </a:rPr>
              <a:t> technique </a:t>
            </a:r>
            <a:r>
              <a:rPr lang="en-US" dirty="0"/>
              <a:t>for proving</a:t>
            </a:r>
            <a:r>
              <a:rPr lang="en-US" dirty="0">
                <a:solidFill>
                  <a:srgbClr val="C00000"/>
                </a:solidFill>
              </a:rPr>
              <a:t> theorems </a:t>
            </a:r>
            <a:r>
              <a:rPr lang="en-US" dirty="0"/>
              <a:t>of this kind.</a:t>
            </a:r>
            <a:r>
              <a:rPr lang="en-US" dirty="0">
                <a:solidFill>
                  <a:srgbClr val="C00000"/>
                </a:solidFill>
              </a:rPr>
              <a:t> </a:t>
            </a:r>
            <a:endParaRPr dirty="0"/>
          </a:p>
          <a:p>
            <a:pPr marL="582676" indent="-457200">
              <a:spcBef>
                <a:spcPts val="600"/>
              </a:spcBef>
              <a:buSzPts val="1976"/>
              <a:buFont typeface="Wingdings" panose="05000000000000000000" pitchFamily="2" charset="2"/>
              <a:buChar char="q"/>
            </a:pPr>
            <a:endParaRPr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buSzPts val="1976"/>
              <a:buFont typeface="Wingdings" panose="05000000000000000000" pitchFamily="2" charset="2"/>
              <a:buChar char="q"/>
            </a:pPr>
            <a:r>
              <a:rPr lang="en-US" dirty="0"/>
              <a:t>In other words, </a:t>
            </a:r>
            <a:r>
              <a:rPr lang="en-US" dirty="0">
                <a:solidFill>
                  <a:srgbClr val="C00000"/>
                </a:solidFill>
              </a:rPr>
              <a:t>Mathematical Induction </a:t>
            </a:r>
            <a:r>
              <a:rPr lang="en-US" dirty="0"/>
              <a:t>is used to prove propositions of the form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∀</a:t>
            </a:r>
            <a:r>
              <a:rPr lang="en-US" sz="2400" dirty="0" err="1">
                <a:solidFill>
                  <a:srgbClr val="C00000"/>
                </a:solidFill>
              </a:rPr>
              <a:t>nP</a:t>
            </a:r>
            <a:r>
              <a:rPr lang="en-US" sz="2400" dirty="0">
                <a:solidFill>
                  <a:srgbClr val="C00000"/>
                </a:solidFill>
              </a:rPr>
              <a:t>(n)</a:t>
            </a:r>
            <a:r>
              <a:rPr lang="en-US" sz="2400" dirty="0"/>
              <a:t>.</a:t>
            </a:r>
            <a:endParaRPr dirty="0"/>
          </a:p>
          <a:p>
            <a:pPr marL="548640" lvl="1" indent="-274320">
              <a:buSzPts val="1596"/>
              <a:buNone/>
            </a:pPr>
            <a:endParaRPr sz="2100" dirty="0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buSzPts val="1824"/>
              <a:buNone/>
            </a:pPr>
            <a:r>
              <a:rPr lang="en-US" sz="2400" dirty="0">
                <a:solidFill>
                  <a:srgbClr val="C00000"/>
                </a:solidFill>
              </a:rPr>
              <a:t>	</a:t>
            </a:r>
            <a:r>
              <a:rPr lang="en-US" sz="2400" dirty="0"/>
              <a:t>When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dirty="0"/>
          </a:p>
          <a:p>
            <a:pPr marL="0" indent="0">
              <a:spcBef>
                <a:spcPts val="600"/>
              </a:spcBef>
              <a:buSzPts val="1824"/>
              <a:buNone/>
            </a:pPr>
            <a:r>
              <a:rPr lang="en-US" sz="2400" dirty="0">
                <a:solidFill>
                  <a:srgbClr val="C00000"/>
                </a:solidFill>
              </a:rPr>
              <a:t>		Universe of discourse </a:t>
            </a:r>
            <a:r>
              <a:rPr lang="en-US" sz="2400" dirty="0"/>
              <a:t>is the set of</a:t>
            </a:r>
            <a:r>
              <a:rPr lang="en-US" sz="2400" dirty="0">
                <a:solidFill>
                  <a:srgbClr val="C00000"/>
                </a:solidFill>
              </a:rPr>
              <a:t> positive integers.</a:t>
            </a:r>
            <a:endParaRPr dirty="0"/>
          </a:p>
          <a:p>
            <a:pPr marL="274320" indent="-274320">
              <a:spcBef>
                <a:spcPts val="600"/>
              </a:spcBef>
              <a:buSzPts val="1976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>
            <a:spLocks noGrp="1"/>
          </p:cNvSpPr>
          <p:nvPr>
            <p:ph idx="1"/>
          </p:nvPr>
        </p:nvSpPr>
        <p:spPr>
          <a:xfrm>
            <a:off x="927847" y="1694329"/>
            <a:ext cx="10081529" cy="40765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>
              <a:spcBef>
                <a:spcPts val="0"/>
              </a:spcBef>
              <a:buSzPts val="1976"/>
              <a:buFont typeface="Wingdings" panose="05000000000000000000" pitchFamily="2" charset="2"/>
              <a:buChar char="q"/>
            </a:pPr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P(n)</a:t>
            </a:r>
            <a:r>
              <a:rPr lang="en-US" dirty="0"/>
              <a:t> be a </a:t>
            </a:r>
            <a:r>
              <a:rPr lang="en-US" dirty="0">
                <a:solidFill>
                  <a:srgbClr val="C00000"/>
                </a:solidFill>
              </a:rPr>
              <a:t>propositional function</a:t>
            </a:r>
            <a:r>
              <a:rPr lang="en-US" dirty="0"/>
              <a:t> defined for all positive integers n. </a:t>
            </a:r>
            <a:r>
              <a:rPr lang="en-US" dirty="0">
                <a:solidFill>
                  <a:srgbClr val="C00000"/>
                </a:solidFill>
              </a:rPr>
              <a:t>P(n)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for every positive integer n if:</a:t>
            </a:r>
            <a:endParaRPr dirty="0"/>
          </a:p>
          <a:p>
            <a:pPr>
              <a:spcBef>
                <a:spcPts val="600"/>
              </a:spcBef>
              <a:buSzPts val="1976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Basis Step:</a:t>
            </a:r>
            <a:r>
              <a:rPr lang="en-US" dirty="0"/>
              <a:t> 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         The proposition </a:t>
            </a:r>
            <a:r>
              <a:rPr lang="en-US" dirty="0">
                <a:solidFill>
                  <a:srgbClr val="C00000"/>
                </a:solidFill>
              </a:rPr>
              <a:t>P(1)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dirty="0"/>
          </a:p>
          <a:p>
            <a:pPr>
              <a:spcBef>
                <a:spcPts val="600"/>
              </a:spcBef>
              <a:buSzPts val="1976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C00000"/>
                </a:solidFill>
              </a:rPr>
              <a:t>Inductive Step:</a:t>
            </a:r>
            <a:r>
              <a:rPr lang="en-US" b="1" dirty="0"/>
              <a:t> 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 If </a:t>
            </a:r>
            <a:r>
              <a:rPr lang="en-US" dirty="0">
                <a:solidFill>
                  <a:srgbClr val="C00000"/>
                </a:solidFill>
              </a:rPr>
              <a:t>P(k)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then </a:t>
            </a:r>
            <a:r>
              <a:rPr lang="en-US" dirty="0">
                <a:solidFill>
                  <a:srgbClr val="C00000"/>
                </a:solidFill>
              </a:rPr>
              <a:t>P(k + 1)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for all integers k ≥ 1.</a:t>
            </a:r>
            <a:endParaRPr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dirty="0"/>
              <a:t>				i.e. </a:t>
            </a:r>
            <a:r>
              <a:rPr lang="en-US" dirty="0">
                <a:solidFill>
                  <a:srgbClr val="C00000"/>
                </a:solidFill>
              </a:rPr>
              <a:t>∀k P(k) → P(k + 1)</a:t>
            </a:r>
            <a:endParaRPr dirty="0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8866301B-94D9-495B-84F7-5AFACC9B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754" y="0"/>
            <a:ext cx="10383752" cy="1398494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Principle of Mathematical Induction</a:t>
            </a:r>
            <a:endParaRPr 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90754" y="0"/>
            <a:ext cx="10383752" cy="783535"/>
          </a:xfrm>
        </p:spPr>
        <p:txBody>
          <a:bodyPr>
            <a:normAutofit/>
          </a:bodyPr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</a:rPr>
              <a:t>Principle of Mathematical Induction</a:t>
            </a:r>
            <a:endParaRPr lang="en-US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C8421D-A653-41FE-9B90-AF34A3825B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lum bright="-20000" contrast="40000"/>
          </a:blip>
          <a:stretch>
            <a:fillRect/>
          </a:stretch>
        </p:blipFill>
        <p:spPr>
          <a:xfrm>
            <a:off x="911523" y="936434"/>
            <a:ext cx="10262983" cy="5450919"/>
          </a:xfrm>
          <a:prstGeom prst="rect">
            <a:avLst/>
          </a:prstGeom>
          <a:ln w="88900" cap="sq" cmpd="thickThin">
            <a:solidFill>
              <a:srgbClr val="B88608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662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 txBox="1">
            <a:spLocks noGrp="1"/>
          </p:cNvSpPr>
          <p:nvPr>
            <p:ph idx="1"/>
          </p:nvPr>
        </p:nvSpPr>
        <p:spPr>
          <a:xfrm>
            <a:off x="1179576" y="1219200"/>
            <a:ext cx="9829800" cy="50067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9411" indent="0">
              <a:spcBef>
                <a:spcPts val="0"/>
              </a:spcBef>
              <a:buSzPct val="76000"/>
              <a:buNone/>
            </a:pPr>
            <a:r>
              <a:rPr lang="en-US" sz="2400" dirty="0"/>
              <a:t>Use Mathematical Induction to prove that</a:t>
            </a:r>
          </a:p>
          <a:p>
            <a:pPr marL="9411" indent="0">
              <a:spcBef>
                <a:spcPts val="0"/>
              </a:spcBef>
              <a:buSzPct val="76000"/>
              <a:buNone/>
            </a:pPr>
            <a:endParaRPr sz="24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dirty="0"/>
              <a:t>						           for all integers n ≥1</a:t>
            </a:r>
            <a:endParaRPr sz="24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b="1" u="sng" dirty="0">
                <a:solidFill>
                  <a:srgbClr val="0070C0"/>
                </a:solidFill>
              </a:rPr>
              <a:t>SOLUTION</a:t>
            </a:r>
            <a:endParaRPr sz="24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b="1" dirty="0"/>
              <a:t>	</a:t>
            </a:r>
            <a:r>
              <a:rPr lang="en-US" sz="2400" dirty="0"/>
              <a:t> Let</a:t>
            </a:r>
            <a:endParaRPr sz="24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dirty="0"/>
              <a:t>	</a:t>
            </a:r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b="1" dirty="0">
                <a:solidFill>
                  <a:srgbClr val="C00000"/>
                </a:solidFill>
              </a:rPr>
              <a:t>Basis Step</a:t>
            </a:r>
            <a:r>
              <a:rPr lang="en-US" sz="2400" dirty="0">
                <a:solidFill>
                  <a:srgbClr val="C00000"/>
                </a:solidFill>
              </a:rPr>
              <a:t>:	</a:t>
            </a:r>
            <a:r>
              <a:rPr lang="en-US" sz="2400" dirty="0">
                <a:latin typeface="Cambria Math" pitchFamily="18" charset="0"/>
                <a:ea typeface="Cambria Math" pitchFamily="18" charset="0"/>
              </a:rPr>
              <a:t>(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prove that theorem is true for n = 1)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Putting n = 1 on both sides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	1 = 1(1+1)/2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	1=1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sz="2400" dirty="0">
                <a:latin typeface="Cambria Math" pitchFamily="18" charset="0"/>
                <a:ea typeface="Cambria Math" pitchFamily="18" charset="0"/>
              </a:rPr>
              <a:t>	Hence theorem is true</a:t>
            </a:r>
            <a:r>
              <a:rPr lang="en-US" sz="2400" dirty="0"/>
              <a:t> for n=1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0826E47F-84D5-4C48-B8F3-0126A2BD86DB}"/>
                  </a:ext>
                </a:extLst>
              </p:cNvPr>
              <p:cNvSpPr txBox="1"/>
              <p:nvPr/>
            </p:nvSpPr>
            <p:spPr bwMode="auto">
              <a:xfrm>
                <a:off x="3014239" y="1676958"/>
                <a:ext cx="4343400" cy="1060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1+2+3+⋯+</m:t>
                      </m:r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Object 1">
                <a:extLst>
                  <a:ext uri="{FF2B5EF4-FFF2-40B4-BE49-F238E27FC236}">
                    <a16:creationId xmlns:a16="http://schemas.microsoft.com/office/drawing/2014/main" id="{0826E47F-84D5-4C48-B8F3-0126A2BD8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4239" y="1676958"/>
                <a:ext cx="4343400" cy="1060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1491EC87-7DD2-41A8-A5D6-1B8805FE9219}"/>
                  </a:ext>
                </a:extLst>
              </p:cNvPr>
              <p:cNvSpPr txBox="1"/>
              <p:nvPr/>
            </p:nvSpPr>
            <p:spPr bwMode="auto">
              <a:xfrm>
                <a:off x="3140432" y="2580415"/>
                <a:ext cx="5908088" cy="1060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1+2+3+⋯+</m:t>
                      </m:r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1491EC87-7DD2-41A8-A5D6-1B8805FE9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0432" y="2580415"/>
                <a:ext cx="5908088" cy="1060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2">
            <a:extLst>
              <a:ext uri="{FF2B5EF4-FFF2-40B4-BE49-F238E27FC236}">
                <a16:creationId xmlns:a16="http://schemas.microsoft.com/office/drawing/2014/main" id="{8444CCD8-CA7B-4FC0-B538-16AA63A7A06E}"/>
              </a:ext>
            </a:extLst>
          </p:cNvPr>
          <p:cNvSpPr txBox="1">
            <a:spLocks/>
          </p:cNvSpPr>
          <p:nvPr/>
        </p:nvSpPr>
        <p:spPr>
          <a:xfrm>
            <a:off x="820948" y="0"/>
            <a:ext cx="11371052" cy="78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>
            <a:spLocks noGrp="1"/>
          </p:cNvSpPr>
          <p:nvPr>
            <p:ph idx="1"/>
          </p:nvPr>
        </p:nvSpPr>
        <p:spPr>
          <a:xfrm>
            <a:off x="170466" y="136525"/>
            <a:ext cx="12021534" cy="690973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400" b="1" dirty="0">
                <a:solidFill>
                  <a:srgbClr val="C00000"/>
                </a:solidFill>
              </a:rPr>
              <a:t>Inductive Step</a:t>
            </a:r>
            <a:r>
              <a:rPr lang="en-US" sz="2400" dirty="0">
                <a:solidFill>
                  <a:srgbClr val="C00000"/>
                </a:solidFill>
              </a:rPr>
              <a:t>: </a:t>
            </a:r>
            <a:r>
              <a:rPr lang="en-US" sz="2400" dirty="0"/>
              <a:t> Suppose P(k) is true for, some integers k ≥ 1.</a:t>
            </a:r>
            <a:endParaRPr sz="2400"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400" dirty="0"/>
              <a:t>	   									(1)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400" dirty="0"/>
              <a:t>To prove P(k + 1) is true. That is,								(2)</a:t>
            </a:r>
            <a:endParaRPr sz="2400" dirty="0"/>
          </a:p>
          <a:p>
            <a:pPr marL="0" indent="0">
              <a:spcBef>
                <a:spcPts val="0"/>
              </a:spcBef>
              <a:buSzPct val="76000"/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ct val="76000"/>
              <a:buNone/>
            </a:pPr>
            <a:r>
              <a:rPr lang="en-US" sz="2400" dirty="0"/>
              <a:t>Consider L.H.S. of (2)</a:t>
            </a:r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endParaRPr lang="en-US" sz="2400" dirty="0"/>
          </a:p>
          <a:p>
            <a:pPr marL="116066" indent="0">
              <a:spcBef>
                <a:spcPts val="600"/>
              </a:spcBef>
              <a:buSzPct val="76000"/>
              <a:buNone/>
            </a:pPr>
            <a:r>
              <a:rPr lang="en-US" sz="2400" dirty="0"/>
              <a:t>	</a:t>
            </a:r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400" dirty="0"/>
              <a:t>	Hence by </a:t>
            </a:r>
            <a:r>
              <a:rPr lang="en-US" sz="2400" dirty="0">
                <a:solidFill>
                  <a:srgbClr val="C00000"/>
                </a:solidFill>
              </a:rPr>
              <a:t>principle of Mathematical Induction</a:t>
            </a:r>
            <a:r>
              <a:rPr lang="en-US" sz="2400" dirty="0"/>
              <a:t> the given result true for all integers greater or equal to 1.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C93F899A-9047-4B0D-B993-9294DCA5F79C}"/>
                  </a:ext>
                </a:extLst>
              </p:cNvPr>
              <p:cNvSpPr txBox="1"/>
              <p:nvPr/>
            </p:nvSpPr>
            <p:spPr bwMode="auto">
              <a:xfrm>
                <a:off x="3924300" y="747685"/>
                <a:ext cx="4343400" cy="82197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1+2+3+⋯+</m:t>
                      </m:r>
                      <m:r>
                        <a:rPr lang="en-US" sz="22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Object 1">
                <a:extLst>
                  <a:ext uri="{FF2B5EF4-FFF2-40B4-BE49-F238E27FC236}">
                    <a16:creationId xmlns:a16="http://schemas.microsoft.com/office/drawing/2014/main" id="{C93F899A-9047-4B0D-B993-9294DCA5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4300" y="747685"/>
                <a:ext cx="4343400" cy="8219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">
                <a:extLst>
                  <a:ext uri="{FF2B5EF4-FFF2-40B4-BE49-F238E27FC236}">
                    <a16:creationId xmlns:a16="http://schemas.microsoft.com/office/drawing/2014/main" id="{2FFBD288-D6F3-4185-A5C3-242448BBC5BE}"/>
                  </a:ext>
                </a:extLst>
              </p:cNvPr>
              <p:cNvSpPr txBox="1"/>
              <p:nvPr/>
            </p:nvSpPr>
            <p:spPr bwMode="auto">
              <a:xfrm>
                <a:off x="4935043" y="1619623"/>
                <a:ext cx="5993526" cy="1060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1+2+3+⋯+</m:t>
                      </m:r>
                      <m:r>
                        <a:rPr lang="en-US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+1)=</m:t>
                      </m:r>
                      <m:f>
                        <m:fPr>
                          <m:ctrlPr>
                            <a:rPr lang="en-US" sz="2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2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2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2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Object 1">
                <a:extLst>
                  <a:ext uri="{FF2B5EF4-FFF2-40B4-BE49-F238E27FC236}">
                    <a16:creationId xmlns:a16="http://schemas.microsoft.com/office/drawing/2014/main" id="{2FFBD288-D6F3-4185-A5C3-242448BBC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5043" y="1619623"/>
                <a:ext cx="5993526" cy="1060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23EFF9-17C4-40AB-A598-FF21B61E498C}"/>
                  </a:ext>
                </a:extLst>
              </p:cNvPr>
              <p:cNvSpPr txBox="1"/>
              <p:nvPr/>
            </p:nvSpPr>
            <p:spPr>
              <a:xfrm>
                <a:off x="4298120" y="2541528"/>
                <a:ext cx="7893880" cy="3477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1+2+3+⋯+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+1)=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1+2+3+⋯+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			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+ (k+1)		using (1)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			        = (k+1)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200" b="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			        = (k+1)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200" dirty="0">
                    <a:solidFill>
                      <a:schemeClr val="tx1"/>
                    </a:solidFill>
                  </a:rPr>
                  <a:t>			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+2)</m:t>
                        </m:r>
                      </m:num>
                      <m:den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	=  RHS of (2)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23EFF9-17C4-40AB-A598-FF21B61E4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120" y="2541528"/>
                <a:ext cx="7893880" cy="3477619"/>
              </a:xfrm>
              <a:prstGeom prst="rect">
                <a:avLst/>
              </a:prstGeom>
              <a:blipFill>
                <a:blip r:embed="rId5"/>
                <a:stretch>
                  <a:fillRect l="-77" b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>
            <a:spLocks noGrp="1"/>
          </p:cNvSpPr>
          <p:nvPr>
            <p:ph idx="1"/>
          </p:nvPr>
        </p:nvSpPr>
        <p:spPr>
          <a:xfrm>
            <a:off x="1179576" y="829617"/>
            <a:ext cx="9829800" cy="602838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000" dirty="0"/>
              <a:t>Use mathematical induction to prove that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		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   	</a:t>
            </a:r>
            <a:r>
              <a:rPr lang="en-US" sz="2000" dirty="0">
                <a:solidFill>
                  <a:srgbClr val="FF0000"/>
                </a:solidFill>
              </a:rPr>
              <a:t>1+3+5+…+(2n -1) = n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		for all integers n ≥1.</a:t>
            </a:r>
            <a:endParaRPr sz="2000" dirty="0">
              <a:solidFill>
                <a:srgbClr val="FF0000"/>
              </a:solidFill>
            </a:endParaRPr>
          </a:p>
          <a:p>
            <a:pPr marL="0" indent="0">
              <a:spcBef>
                <a:spcPts val="600"/>
              </a:spcBef>
              <a:buSzPts val="1976"/>
              <a:buNone/>
            </a:pPr>
            <a:endParaRPr sz="20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b="1" u="sng" dirty="0">
                <a:solidFill>
                  <a:srgbClr val="0070C0"/>
                </a:solidFill>
              </a:rPr>
              <a:t>SOLUTION:</a:t>
            </a:r>
            <a:endParaRPr sz="2000" dirty="0">
              <a:solidFill>
                <a:srgbClr val="0070C0"/>
              </a:solidFill>
            </a:endParaRP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	Let </a:t>
            </a:r>
            <a:r>
              <a:rPr lang="en-US" sz="2000" dirty="0">
                <a:solidFill>
                  <a:srgbClr val="C00000"/>
                </a:solidFill>
              </a:rPr>
              <a:t>P(n)</a:t>
            </a:r>
            <a:r>
              <a:rPr lang="en-US" sz="2000" dirty="0"/>
              <a:t> be the equation 1+3+5+…+(2n -1) = n</a:t>
            </a:r>
            <a:r>
              <a:rPr lang="en-US" sz="2000" baseline="30000" dirty="0"/>
              <a:t>2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b="1" dirty="0">
                <a:solidFill>
                  <a:srgbClr val="C00000"/>
                </a:solidFill>
              </a:rPr>
              <a:t>Basis Step</a:t>
            </a:r>
            <a:r>
              <a:rPr lang="en-US" sz="2000" dirty="0">
                <a:solidFill>
                  <a:srgbClr val="C00000"/>
                </a:solidFill>
              </a:rPr>
              <a:t>:</a:t>
            </a:r>
            <a:r>
              <a:rPr lang="en-US" sz="2000" dirty="0"/>
              <a:t>	  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              P(1) is true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              For n = 1, L.H.S of P(1) = 1and 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               R.H.S =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1</a:t>
            </a:r>
            <a:r>
              <a:rPr lang="en-US" sz="2000" baseline="30000" dirty="0"/>
              <a:t>2</a:t>
            </a:r>
            <a:r>
              <a:rPr lang="en-US" sz="2000" dirty="0"/>
              <a:t> = 1</a:t>
            </a:r>
            <a:endParaRPr sz="20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                          Hence the equation is true for n = 1</a:t>
            </a:r>
          </a:p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000" b="1" dirty="0">
                <a:solidFill>
                  <a:srgbClr val="C00000"/>
                </a:solidFill>
              </a:rPr>
              <a:t>Inductive Step</a:t>
            </a:r>
            <a:r>
              <a:rPr lang="en-US" sz="2000" dirty="0">
                <a:solidFill>
                  <a:srgbClr val="C00000"/>
                </a:solidFill>
              </a:rPr>
              <a:t>: </a:t>
            </a:r>
            <a:r>
              <a:rPr lang="en-US" sz="2000" dirty="0"/>
              <a:t> 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     Suppose </a:t>
            </a:r>
            <a:r>
              <a:rPr lang="en-US" sz="2000" dirty="0">
                <a:solidFill>
                  <a:srgbClr val="C00000"/>
                </a:solidFill>
              </a:rPr>
              <a:t>P(k)</a:t>
            </a:r>
            <a:r>
              <a:rPr lang="en-US" sz="2000" dirty="0"/>
              <a:t> is true for some integer k ≥ 1. That is,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C00000"/>
                </a:solidFill>
              </a:rPr>
              <a:t>1 + 3 + 5 + … + (2k - 1) = k</a:t>
            </a:r>
            <a:r>
              <a:rPr lang="en-US" sz="2000" baseline="30000" dirty="0">
                <a:solidFill>
                  <a:srgbClr val="C00000"/>
                </a:solidFill>
              </a:rPr>
              <a:t>2</a:t>
            </a:r>
            <a:r>
              <a:rPr lang="en-US" sz="2000" dirty="0"/>
              <a:t> …………………(1)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	  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	  To prove </a:t>
            </a:r>
            <a:r>
              <a:rPr lang="en-US" sz="2000" dirty="0">
                <a:solidFill>
                  <a:srgbClr val="C00000"/>
                </a:solidFill>
              </a:rPr>
              <a:t>P(k+1)</a:t>
            </a:r>
            <a:r>
              <a:rPr lang="en-US" sz="2000" dirty="0"/>
              <a:t> is true; i.e.,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000" dirty="0"/>
              <a:t>		</a:t>
            </a:r>
            <a:r>
              <a:rPr lang="en-US" sz="2000" dirty="0">
                <a:solidFill>
                  <a:srgbClr val="C00000"/>
                </a:solidFill>
              </a:rPr>
              <a:t>1 + 3 + 5 + … +[2(k+1)-1] = (k+1)</a:t>
            </a:r>
            <a:r>
              <a:rPr lang="en-US" sz="2000" baseline="30000" dirty="0">
                <a:solidFill>
                  <a:srgbClr val="C00000"/>
                </a:solidFill>
              </a:rPr>
              <a:t> 2</a:t>
            </a:r>
            <a:r>
              <a:rPr lang="en-US" sz="2000" dirty="0"/>
              <a:t>    …….…(2)</a:t>
            </a:r>
            <a:endParaRPr sz="20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000" dirty="0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995D34D4-7DC2-4DE0-8683-0B99334E2322}"/>
              </a:ext>
            </a:extLst>
          </p:cNvPr>
          <p:cNvSpPr txBox="1">
            <a:spLocks/>
          </p:cNvSpPr>
          <p:nvPr/>
        </p:nvSpPr>
        <p:spPr>
          <a:xfrm>
            <a:off x="820948" y="0"/>
            <a:ext cx="11371052" cy="78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>
            <a:spLocks noGrp="1"/>
          </p:cNvSpPr>
          <p:nvPr>
            <p:ph idx="1"/>
          </p:nvPr>
        </p:nvSpPr>
        <p:spPr>
          <a:xfrm>
            <a:off x="1179576" y="672353"/>
            <a:ext cx="98298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endParaRPr lang="en-US" sz="2400" dirty="0"/>
          </a:p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400" dirty="0"/>
              <a:t>Consider </a:t>
            </a:r>
            <a:r>
              <a:rPr lang="en-US" sz="2400" dirty="0">
                <a:solidFill>
                  <a:srgbClr val="C00000"/>
                </a:solidFill>
              </a:rPr>
              <a:t>L.H.S. of (2)</a:t>
            </a: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400" dirty="0"/>
              <a:t>Thus </a:t>
            </a:r>
            <a:r>
              <a:rPr lang="en-US" sz="2400" dirty="0">
                <a:solidFill>
                  <a:srgbClr val="C00000"/>
                </a:solidFill>
              </a:rPr>
              <a:t>P(k+1)</a:t>
            </a:r>
            <a:r>
              <a:rPr lang="en-US" sz="2400" dirty="0"/>
              <a:t> is also </a:t>
            </a:r>
            <a:r>
              <a:rPr lang="en-US" sz="2400" dirty="0">
                <a:solidFill>
                  <a:srgbClr val="C00000"/>
                </a:solidFill>
              </a:rPr>
              <a:t>true</a:t>
            </a:r>
            <a:r>
              <a:rPr lang="en-US" sz="2400" dirty="0"/>
              <a:t>. Hence by </a:t>
            </a:r>
            <a:r>
              <a:rPr lang="en-US" sz="2400" dirty="0">
                <a:solidFill>
                  <a:srgbClr val="C00000"/>
                </a:solidFill>
              </a:rPr>
              <a:t>mathematical induction</a:t>
            </a:r>
            <a:r>
              <a:rPr lang="en-US" sz="2400" dirty="0"/>
              <a:t>, the given equation is </a:t>
            </a:r>
            <a:r>
              <a:rPr lang="en-US" sz="2400" dirty="0">
                <a:solidFill>
                  <a:srgbClr val="C00000"/>
                </a:solidFill>
              </a:rPr>
              <a:t>true</a:t>
            </a:r>
            <a:r>
              <a:rPr lang="en-US" sz="2400" dirty="0"/>
              <a:t> for all integers n≥1.</a:t>
            </a: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195C8A-AA5C-E817-B5A4-497C4A9198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1" t="47201" r="35913" b="20896"/>
          <a:stretch/>
        </p:blipFill>
        <p:spPr>
          <a:xfrm>
            <a:off x="1746913" y="1902355"/>
            <a:ext cx="8524144" cy="25889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>
            <a:spLocks noGrp="1"/>
          </p:cNvSpPr>
          <p:nvPr>
            <p:ph idx="1"/>
          </p:nvPr>
        </p:nvSpPr>
        <p:spPr>
          <a:xfrm>
            <a:off x="1137800" y="733434"/>
            <a:ext cx="9829800" cy="574189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SzPct val="76000"/>
              <a:buNone/>
            </a:pPr>
            <a:r>
              <a:rPr lang="en-US" sz="2200" dirty="0"/>
              <a:t>Use </a:t>
            </a:r>
            <a:r>
              <a:rPr lang="en-US" sz="2200" dirty="0">
                <a:solidFill>
                  <a:srgbClr val="C00000"/>
                </a:solidFill>
              </a:rPr>
              <a:t>mathematical induction</a:t>
            </a:r>
            <a:r>
              <a:rPr lang="en-US" sz="2200" dirty="0"/>
              <a:t> to prove that 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             </a:t>
            </a:r>
            <a:r>
              <a:rPr lang="en-US" sz="2200" dirty="0">
                <a:solidFill>
                  <a:srgbClr val="C00000"/>
                </a:solidFill>
              </a:rPr>
              <a:t>1+2+2</a:t>
            </a:r>
            <a:r>
              <a:rPr lang="en-US" sz="2200" baseline="30000" dirty="0">
                <a:solidFill>
                  <a:srgbClr val="C00000"/>
                </a:solidFill>
              </a:rPr>
              <a:t>2</a:t>
            </a:r>
            <a:r>
              <a:rPr lang="en-US" sz="2200" dirty="0">
                <a:solidFill>
                  <a:srgbClr val="C00000"/>
                </a:solidFill>
              </a:rPr>
              <a:t> + … + 2</a:t>
            </a:r>
            <a:r>
              <a:rPr lang="en-US" sz="2200" baseline="30000" dirty="0">
                <a:solidFill>
                  <a:srgbClr val="C00000"/>
                </a:solidFill>
              </a:rPr>
              <a:t>n</a:t>
            </a:r>
            <a:r>
              <a:rPr lang="en-US" sz="2200" dirty="0">
                <a:solidFill>
                  <a:srgbClr val="C00000"/>
                </a:solidFill>
              </a:rPr>
              <a:t> = 2</a:t>
            </a:r>
            <a:r>
              <a:rPr lang="en-US" sz="2200" baseline="30000" dirty="0">
                <a:solidFill>
                  <a:srgbClr val="C00000"/>
                </a:solidFill>
              </a:rPr>
              <a:t>n+1</a:t>
            </a:r>
            <a:r>
              <a:rPr lang="en-US" sz="2200" dirty="0">
                <a:solidFill>
                  <a:srgbClr val="C00000"/>
                </a:solidFill>
              </a:rPr>
              <a:t> - 1</a:t>
            </a:r>
            <a:r>
              <a:rPr lang="en-US" sz="2200" dirty="0"/>
              <a:t>	for all integers n ≥0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b="1" u="sng" dirty="0">
                <a:solidFill>
                  <a:srgbClr val="0070C0"/>
                </a:solidFill>
              </a:rPr>
              <a:t>SOLUTION: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	Let 	</a:t>
            </a:r>
            <a:r>
              <a:rPr lang="en-US" sz="2200" dirty="0">
                <a:solidFill>
                  <a:srgbClr val="C00000"/>
                </a:solidFill>
              </a:rPr>
              <a:t>P(n): 1 + 2 + 2</a:t>
            </a:r>
            <a:r>
              <a:rPr lang="en-US" sz="2200" baseline="30000" dirty="0">
                <a:solidFill>
                  <a:srgbClr val="C00000"/>
                </a:solidFill>
              </a:rPr>
              <a:t>2</a:t>
            </a:r>
            <a:r>
              <a:rPr lang="en-US" sz="2200" dirty="0">
                <a:solidFill>
                  <a:srgbClr val="C00000"/>
                </a:solidFill>
              </a:rPr>
              <a:t> + … + 2</a:t>
            </a:r>
            <a:r>
              <a:rPr lang="en-US" sz="2200" baseline="30000" dirty="0">
                <a:solidFill>
                  <a:srgbClr val="C00000"/>
                </a:solidFill>
              </a:rPr>
              <a:t>n</a:t>
            </a:r>
            <a:r>
              <a:rPr lang="en-US" sz="2200" dirty="0">
                <a:solidFill>
                  <a:srgbClr val="C00000"/>
                </a:solidFill>
              </a:rPr>
              <a:t> = 2</a:t>
            </a:r>
            <a:r>
              <a:rPr lang="en-US" sz="2200" baseline="30000" dirty="0">
                <a:solidFill>
                  <a:srgbClr val="C00000"/>
                </a:solidFill>
              </a:rPr>
              <a:t>n+1</a:t>
            </a:r>
            <a:r>
              <a:rPr lang="en-US" sz="2200" dirty="0">
                <a:solidFill>
                  <a:srgbClr val="C00000"/>
                </a:solidFill>
              </a:rPr>
              <a:t> – 1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b="1" dirty="0">
                <a:solidFill>
                  <a:srgbClr val="C00000"/>
                </a:solidFill>
              </a:rPr>
              <a:t>Basis Step:</a:t>
            </a:r>
            <a:r>
              <a:rPr lang="en-US" sz="2200" b="1" dirty="0"/>
              <a:t>  </a:t>
            </a:r>
            <a:r>
              <a:rPr lang="en-US" sz="2200" dirty="0"/>
              <a:t>	P(0) is true.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           For n = 0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			L.H.S of P(0) = 1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			R.H.S of P(0) = 2</a:t>
            </a:r>
            <a:r>
              <a:rPr lang="en-US" sz="2200" baseline="30000" dirty="0"/>
              <a:t>0+1</a:t>
            </a:r>
            <a:r>
              <a:rPr lang="en-US" sz="2200" dirty="0"/>
              <a:t> - 1 = 2 - 1 = 1</a:t>
            </a:r>
            <a:endParaRPr sz="2200" dirty="0"/>
          </a:p>
          <a:p>
            <a:pPr marL="0" indent="0">
              <a:spcBef>
                <a:spcPts val="600"/>
              </a:spcBef>
              <a:buSzPct val="76000"/>
              <a:buNone/>
            </a:pPr>
            <a:r>
              <a:rPr lang="en-US" sz="2200" dirty="0"/>
              <a:t>		           Hence P(0) is true. </a:t>
            </a:r>
          </a:p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200" b="1" dirty="0">
                <a:solidFill>
                  <a:srgbClr val="C00000"/>
                </a:solidFill>
              </a:rPr>
              <a:t>Inductive Step: </a:t>
            </a:r>
            <a:endParaRPr lang="en-US"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b="1" dirty="0"/>
              <a:t>         </a:t>
            </a:r>
            <a:r>
              <a:rPr lang="en-US" sz="2200" dirty="0"/>
              <a:t>Suppose </a:t>
            </a:r>
            <a:r>
              <a:rPr lang="en-US" sz="2200" dirty="0">
                <a:solidFill>
                  <a:srgbClr val="C00000"/>
                </a:solidFill>
              </a:rPr>
              <a:t>P(k)</a:t>
            </a:r>
            <a:r>
              <a:rPr lang="en-US" sz="2200" dirty="0"/>
              <a:t> is true for some integer k ≥ 0; i.e.,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	</a:t>
            </a:r>
            <a:r>
              <a:rPr lang="en-US" sz="2200" dirty="0">
                <a:solidFill>
                  <a:srgbClr val="C00000"/>
                </a:solidFill>
              </a:rPr>
              <a:t>1+2+2</a:t>
            </a:r>
            <a:r>
              <a:rPr lang="en-US" sz="2200" baseline="30000" dirty="0">
                <a:solidFill>
                  <a:srgbClr val="C00000"/>
                </a:solidFill>
              </a:rPr>
              <a:t>2</a:t>
            </a:r>
            <a:r>
              <a:rPr lang="en-US" sz="2200" dirty="0">
                <a:solidFill>
                  <a:srgbClr val="C00000"/>
                </a:solidFill>
              </a:rPr>
              <a:t>+…+2</a:t>
            </a:r>
            <a:r>
              <a:rPr lang="en-US" sz="2200" baseline="30000" dirty="0">
                <a:solidFill>
                  <a:srgbClr val="C00000"/>
                </a:solidFill>
              </a:rPr>
              <a:t>k</a:t>
            </a:r>
            <a:r>
              <a:rPr lang="en-US" sz="2200" dirty="0">
                <a:solidFill>
                  <a:srgbClr val="C00000"/>
                </a:solidFill>
              </a:rPr>
              <a:t> = 2</a:t>
            </a:r>
            <a:r>
              <a:rPr lang="en-US" sz="2200" baseline="30000" dirty="0">
                <a:solidFill>
                  <a:srgbClr val="C00000"/>
                </a:solidFill>
              </a:rPr>
              <a:t>k+1</a:t>
            </a:r>
            <a:r>
              <a:rPr lang="en-US" sz="2200" dirty="0">
                <a:solidFill>
                  <a:srgbClr val="C00000"/>
                </a:solidFill>
              </a:rPr>
              <a:t> – 1</a:t>
            </a:r>
            <a:r>
              <a:rPr lang="en-US" sz="2200" dirty="0"/>
              <a:t>……………………(1)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      To prove </a:t>
            </a:r>
            <a:r>
              <a:rPr lang="en-US" sz="2200" dirty="0">
                <a:solidFill>
                  <a:srgbClr val="C00000"/>
                </a:solidFill>
              </a:rPr>
              <a:t>P(k+1)</a:t>
            </a:r>
            <a:r>
              <a:rPr lang="en-US" sz="2200" dirty="0"/>
              <a:t> is true, i.e.,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       </a:t>
            </a:r>
            <a:r>
              <a:rPr lang="en-US" sz="2200" dirty="0">
                <a:solidFill>
                  <a:srgbClr val="C00000"/>
                </a:solidFill>
              </a:rPr>
              <a:t>1+2+2</a:t>
            </a:r>
            <a:r>
              <a:rPr lang="en-US" sz="2200" baseline="30000" dirty="0">
                <a:solidFill>
                  <a:srgbClr val="C00000"/>
                </a:solidFill>
              </a:rPr>
              <a:t>2</a:t>
            </a:r>
            <a:r>
              <a:rPr lang="en-US" sz="2200" dirty="0">
                <a:solidFill>
                  <a:srgbClr val="C00000"/>
                </a:solidFill>
              </a:rPr>
              <a:t>+…+2</a:t>
            </a:r>
            <a:r>
              <a:rPr lang="en-US" sz="2200" baseline="30000" dirty="0">
                <a:solidFill>
                  <a:srgbClr val="C00000"/>
                </a:solidFill>
              </a:rPr>
              <a:t>k+1</a:t>
            </a:r>
            <a:r>
              <a:rPr lang="en-US" sz="2200" dirty="0">
                <a:solidFill>
                  <a:srgbClr val="C00000"/>
                </a:solidFill>
              </a:rPr>
              <a:t> = 2</a:t>
            </a:r>
            <a:r>
              <a:rPr lang="en-US" sz="2200" baseline="30000" dirty="0">
                <a:solidFill>
                  <a:srgbClr val="C00000"/>
                </a:solidFill>
              </a:rPr>
              <a:t>k+1+1</a:t>
            </a:r>
            <a:r>
              <a:rPr lang="en-US" sz="2200" dirty="0">
                <a:solidFill>
                  <a:srgbClr val="C00000"/>
                </a:solidFill>
              </a:rPr>
              <a:t> – 1</a:t>
            </a:r>
            <a:r>
              <a:rPr lang="en-US" sz="2200" dirty="0"/>
              <a:t>……………..…(2)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39949980-81B7-405E-B4E8-34A7464633DA}"/>
              </a:ext>
            </a:extLst>
          </p:cNvPr>
          <p:cNvSpPr txBox="1">
            <a:spLocks/>
          </p:cNvSpPr>
          <p:nvPr/>
        </p:nvSpPr>
        <p:spPr>
          <a:xfrm>
            <a:off x="820948" y="0"/>
            <a:ext cx="11371052" cy="78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"/>
          <p:cNvSpPr txBox="1">
            <a:spLocks noGrp="1"/>
          </p:cNvSpPr>
          <p:nvPr>
            <p:ph idx="1"/>
          </p:nvPr>
        </p:nvSpPr>
        <p:spPr>
          <a:xfrm>
            <a:off x="1179576" y="779929"/>
            <a:ext cx="9829800" cy="52712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SzPts val="1976"/>
              <a:buNone/>
            </a:pPr>
            <a:r>
              <a:rPr lang="en-US" sz="2400" dirty="0"/>
              <a:t>Consider </a:t>
            </a:r>
            <a:r>
              <a:rPr lang="en-US" sz="2400" dirty="0">
                <a:solidFill>
                  <a:srgbClr val="C00000"/>
                </a:solidFill>
              </a:rPr>
              <a:t>LHS of equation (2)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			  1+2+2</a:t>
            </a:r>
            <a:r>
              <a:rPr lang="en-US" sz="2400" baseline="30000" dirty="0"/>
              <a:t>2</a:t>
            </a:r>
            <a:r>
              <a:rPr lang="en-US" sz="2400" dirty="0"/>
              <a:t>+…+2</a:t>
            </a:r>
            <a:r>
              <a:rPr lang="en-US" sz="2400" baseline="30000" dirty="0"/>
              <a:t>k+1</a:t>
            </a:r>
            <a:r>
              <a:rPr lang="en-US" sz="2400" dirty="0">
                <a:solidFill>
                  <a:srgbClr val="C00000"/>
                </a:solidFill>
              </a:rPr>
              <a:t>= (1+2+2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+…+2</a:t>
            </a:r>
            <a:r>
              <a:rPr lang="en-US" sz="2400" baseline="30000" dirty="0">
                <a:solidFill>
                  <a:srgbClr val="C00000"/>
                </a:solidFill>
              </a:rPr>
              <a:t>k</a:t>
            </a:r>
            <a:r>
              <a:rPr lang="en-US" sz="2400" dirty="0">
                <a:solidFill>
                  <a:srgbClr val="C00000"/>
                </a:solidFill>
              </a:rPr>
              <a:t>) + 2</a:t>
            </a:r>
            <a:r>
              <a:rPr lang="en-US" sz="2400" baseline="30000" dirty="0">
                <a:solidFill>
                  <a:srgbClr val="C00000"/>
                </a:solidFill>
              </a:rPr>
              <a:t>k+1</a:t>
            </a:r>
            <a:endParaRPr sz="24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	        			    	     = </a:t>
            </a:r>
            <a:r>
              <a:rPr lang="en-US" sz="2400" dirty="0">
                <a:solidFill>
                  <a:srgbClr val="C00000"/>
                </a:solidFill>
              </a:rPr>
              <a:t>(2</a:t>
            </a:r>
            <a:r>
              <a:rPr lang="en-US" sz="2400" baseline="30000" dirty="0">
                <a:solidFill>
                  <a:srgbClr val="C00000"/>
                </a:solidFill>
              </a:rPr>
              <a:t>k+1</a:t>
            </a:r>
            <a:r>
              <a:rPr lang="en-US" sz="2400" dirty="0">
                <a:solidFill>
                  <a:srgbClr val="C00000"/>
                </a:solidFill>
              </a:rPr>
              <a:t> – 1) +2</a:t>
            </a:r>
            <a:r>
              <a:rPr lang="en-US" sz="2400" baseline="30000" dirty="0">
                <a:solidFill>
                  <a:srgbClr val="C00000"/>
                </a:solidFill>
              </a:rPr>
              <a:t>k+1</a:t>
            </a:r>
            <a:endParaRPr sz="24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					     = </a:t>
            </a:r>
            <a:r>
              <a:rPr lang="en-US" sz="2400" dirty="0">
                <a:solidFill>
                  <a:srgbClr val="C00000"/>
                </a:solidFill>
              </a:rPr>
              <a:t>2·2</a:t>
            </a:r>
            <a:r>
              <a:rPr lang="en-US" sz="2400" baseline="30000" dirty="0">
                <a:solidFill>
                  <a:srgbClr val="C00000"/>
                </a:solidFill>
              </a:rPr>
              <a:t>k+1</a:t>
            </a:r>
            <a:r>
              <a:rPr lang="en-US" sz="2400" dirty="0">
                <a:solidFill>
                  <a:srgbClr val="C00000"/>
                </a:solidFill>
              </a:rPr>
              <a:t> – 1</a:t>
            </a:r>
            <a:endParaRPr sz="2400" dirty="0">
              <a:solidFill>
                <a:srgbClr val="C00000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					     = </a:t>
            </a:r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sz="2400" baseline="30000" dirty="0">
                <a:solidFill>
                  <a:srgbClr val="C00000"/>
                </a:solidFill>
              </a:rPr>
              <a:t>k+1+1</a:t>
            </a:r>
            <a:r>
              <a:rPr lang="en-US" sz="2400" dirty="0">
                <a:solidFill>
                  <a:srgbClr val="C00000"/>
                </a:solidFill>
              </a:rPr>
              <a:t> – 1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					     = </a:t>
            </a:r>
            <a:r>
              <a:rPr lang="en-US" sz="2400" dirty="0">
                <a:solidFill>
                  <a:srgbClr val="C00000"/>
                </a:solidFill>
              </a:rPr>
              <a:t>R.H.S of (2)</a:t>
            </a:r>
            <a:endParaRPr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endParaRPr sz="24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r>
              <a:rPr lang="en-US" sz="2400" dirty="0"/>
              <a:t>Hence </a:t>
            </a:r>
            <a:r>
              <a:rPr lang="en-US" sz="2400" dirty="0">
                <a:solidFill>
                  <a:srgbClr val="C00000"/>
                </a:solidFill>
              </a:rPr>
              <a:t>P(k+1)</a:t>
            </a:r>
            <a:r>
              <a:rPr lang="en-US" sz="2400" dirty="0"/>
              <a:t> is true and consequently by </a:t>
            </a:r>
            <a:r>
              <a:rPr lang="en-US" sz="2400" dirty="0">
                <a:solidFill>
                  <a:srgbClr val="C00000"/>
                </a:solidFill>
              </a:rPr>
              <a:t>mathematical induction</a:t>
            </a:r>
            <a:r>
              <a:rPr lang="en-US" sz="2400" dirty="0"/>
              <a:t> the given propositional function is true for all integers n≥0.</a:t>
            </a:r>
            <a:endParaRPr sz="2400" dirty="0"/>
          </a:p>
          <a:p>
            <a:pPr marL="125476" indent="0">
              <a:lnSpc>
                <a:spcPct val="150000"/>
              </a:lnSpc>
              <a:spcBef>
                <a:spcPts val="600"/>
              </a:spcBef>
              <a:buSzPts val="1976"/>
              <a:buNone/>
            </a:pP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idx="1"/>
          </p:nvPr>
        </p:nvSpPr>
        <p:spPr>
          <a:xfrm>
            <a:off x="1045106" y="1111623"/>
            <a:ext cx="9829800" cy="13786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SzPct val="76000"/>
              <a:buNone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Prove by mathematical induction</a:t>
            </a:r>
          </a:p>
          <a:p>
            <a:pPr marL="0" indent="0">
              <a:spcBef>
                <a:spcPts val="0"/>
              </a:spcBef>
              <a:buSzPct val="76000"/>
              <a:buNone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                            </a:t>
            </a:r>
            <a:endParaRPr sz="2400" dirty="0">
              <a:solidFill>
                <a:schemeClr val="accent5">
                  <a:lumMod val="50000"/>
                </a:schemeClr>
              </a:solidFill>
              <a:latin typeface="Cambria Math" pitchFamily="18" charset="0"/>
              <a:ea typeface="Cambria Math" pitchFamily="18" charset="0"/>
            </a:endParaRPr>
          </a:p>
          <a:p>
            <a:pPr marL="0" indent="0">
              <a:buSzPct val="76000"/>
              <a:buNone/>
            </a:pPr>
            <a:r>
              <a:rPr lang="en-US" sz="2000" dirty="0"/>
              <a:t>               		                        		</a:t>
            </a:r>
            <a:endParaRPr sz="2000" dirty="0"/>
          </a:p>
          <a:p>
            <a:pPr marL="0" indent="0">
              <a:spcBef>
                <a:spcPts val="600"/>
              </a:spcBef>
              <a:buSzPct val="76000"/>
              <a:buNone/>
            </a:pP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1">
                <a:extLst>
                  <a:ext uri="{FF2B5EF4-FFF2-40B4-BE49-F238E27FC236}">
                    <a16:creationId xmlns:a16="http://schemas.microsoft.com/office/drawing/2014/main" id="{507D290C-1272-4280-9B10-08FEC714C9C3}"/>
                  </a:ext>
                </a:extLst>
              </p:cNvPr>
              <p:cNvSpPr txBox="1"/>
              <p:nvPr/>
            </p:nvSpPr>
            <p:spPr bwMode="auto">
              <a:xfrm>
                <a:off x="1680882" y="1537445"/>
                <a:ext cx="9829800" cy="10604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𝑖𝑛𝑡𝑒𝑔𝑒𝑟𝑠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≥1  </m:t>
                      </m:r>
                    </m:oMath>
                  </m:oMathPara>
                </a14:m>
                <a:endParaRPr lang="en-US" sz="2400" i="1" dirty="0">
                  <a:solidFill>
                    <a:srgbClr val="B3159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Object 1">
                <a:extLst>
                  <a:ext uri="{FF2B5EF4-FFF2-40B4-BE49-F238E27FC236}">
                    <a16:creationId xmlns:a16="http://schemas.microsoft.com/office/drawing/2014/main" id="{507D290C-1272-4280-9B10-08FEC714C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0882" y="1537445"/>
                <a:ext cx="9829800" cy="1060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2">
            <a:extLst>
              <a:ext uri="{FF2B5EF4-FFF2-40B4-BE49-F238E27FC236}">
                <a16:creationId xmlns:a16="http://schemas.microsoft.com/office/drawing/2014/main" id="{FF17F95E-B554-48E9-9CB0-3A5A55532255}"/>
              </a:ext>
            </a:extLst>
          </p:cNvPr>
          <p:cNvSpPr txBox="1">
            <a:spLocks/>
          </p:cNvSpPr>
          <p:nvPr/>
        </p:nvSpPr>
        <p:spPr>
          <a:xfrm>
            <a:off x="769188" y="0"/>
            <a:ext cx="11422811" cy="78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9188" y="0"/>
            <a:ext cx="11422811" cy="783535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389" y="923729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Use Mathematical Induction to prove that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326037" y="1766826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for all integers n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1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011" name="Object 3"/>
              <p:cNvSpPr txBox="1"/>
              <p:nvPr/>
            </p:nvSpPr>
            <p:spPr bwMode="auto">
              <a:xfrm>
                <a:off x="1066799" y="1525588"/>
                <a:ext cx="4894053" cy="1139974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1⋅2</m:t>
                          </m:r>
                        </m:den>
                      </m:f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2⋅3</m:t>
                          </m:r>
                        </m:den>
                      </m:f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n-US" sz="24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B31591"/>
                  </a:solidFill>
                </a:endParaRPr>
              </a:p>
            </p:txBody>
          </p:sp>
        </mc:Choice>
        <mc:Fallback xmlns="">
          <p:sp>
            <p:nvSpPr>
              <p:cNvPr id="1710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799" y="1525588"/>
                <a:ext cx="4894053" cy="113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008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20948" y="0"/>
            <a:ext cx="11371052" cy="783535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148" y="882602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Use Mathematical Induction to prove that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48" y="1637582"/>
            <a:ext cx="7600950" cy="14954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3292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>
            <a:spLocks noGrp="1"/>
          </p:cNvSpPr>
          <p:nvPr>
            <p:ph idx="1"/>
          </p:nvPr>
        </p:nvSpPr>
        <p:spPr>
          <a:xfrm>
            <a:off x="1179576" y="885135"/>
            <a:ext cx="9829800" cy="59728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200" dirty="0"/>
              <a:t> Use </a:t>
            </a:r>
            <a:r>
              <a:rPr lang="en-US" sz="2200" dirty="0">
                <a:solidFill>
                  <a:srgbClr val="C00000"/>
                </a:solidFill>
              </a:rPr>
              <a:t>mathematical induction</a:t>
            </a:r>
            <a:r>
              <a:rPr lang="en-US" sz="2200" dirty="0"/>
              <a:t> to prove that</a:t>
            </a:r>
            <a:endParaRPr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b="1" u="sng" dirty="0">
              <a:solidFill>
                <a:srgbClr val="0070C0"/>
              </a:solidFill>
            </a:endParaRPr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sz="2200" b="1" u="sng" dirty="0">
              <a:solidFill>
                <a:srgbClr val="0070C0"/>
              </a:solidFill>
            </a:endParaRP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b="1" u="sng" dirty="0">
                <a:solidFill>
                  <a:srgbClr val="0070C0"/>
                </a:solidFill>
              </a:rPr>
              <a:t>PROOF: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b="1" dirty="0"/>
              <a:t>	</a:t>
            </a:r>
            <a:r>
              <a:rPr lang="en-US" sz="2200" b="1" dirty="0">
                <a:solidFill>
                  <a:srgbClr val="C00000"/>
                </a:solidFill>
              </a:rPr>
              <a:t>Basis Step:</a:t>
            </a:r>
            <a:r>
              <a:rPr lang="en-US" sz="2200" b="1" dirty="0"/>
              <a:t>  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b="1" dirty="0"/>
              <a:t>	</a:t>
            </a:r>
            <a:r>
              <a:rPr lang="en-US" sz="2200" dirty="0"/>
              <a:t>To prove the formula for n = 0, 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we need to show that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sz="2200" dirty="0">
              <a:solidFill>
                <a:srgbClr val="C00000"/>
              </a:solidFill>
            </a:endParaRP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 	Now, 	       L.H.S =</a:t>
            </a:r>
          </a:p>
          <a:p>
            <a:pPr marL="0" indent="0">
              <a:spcBef>
                <a:spcPts val="0"/>
              </a:spcBef>
              <a:buSzPts val="1976"/>
              <a:buNone/>
            </a:pPr>
            <a:endParaRPr lang="en-US" sz="2200" dirty="0"/>
          </a:p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200" dirty="0"/>
              <a:t>			      R.H.S = 0·2</a:t>
            </a:r>
            <a:r>
              <a:rPr lang="en-US" sz="2200" baseline="30000" dirty="0"/>
              <a:t>2</a:t>
            </a:r>
            <a:r>
              <a:rPr lang="en-US" sz="2200" dirty="0"/>
              <a:t> + 2 = 0 + 2 = 2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	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	Hence the formula is true for n = 0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sz="2200" dirty="0"/>
          </a:p>
        </p:txBody>
      </p:sp>
      <p:graphicFrame>
        <p:nvGraphicFramePr>
          <p:cNvPr id="298" name="Google Shape;298;p24"/>
          <p:cNvGraphicFramePr/>
          <p:nvPr>
            <p:extLst>
              <p:ext uri="{D42A27DB-BD31-4B8C-83A1-F6EECF244321}">
                <p14:modId xmlns:p14="http://schemas.microsoft.com/office/powerpoint/2010/main" val="50077982"/>
              </p:ext>
            </p:extLst>
          </p:nvPr>
        </p:nvGraphicFramePr>
        <p:xfrm>
          <a:off x="3227294" y="1413297"/>
          <a:ext cx="6777317" cy="754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8" r:id="rId4" imgW="5334000" imgH="538079" progId="">
                  <p:embed/>
                </p:oleObj>
              </mc:Choice>
              <mc:Fallback>
                <p:oleObj r:id="rId4" imgW="5334000" imgH="538079" progId="">
                  <p:embed/>
                  <p:pic>
                    <p:nvPicPr>
                      <p:cNvPr id="298" name="Google Shape;298;p24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3227294" y="1413297"/>
                        <a:ext cx="6777317" cy="754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" name="Google Shape;299;p24"/>
          <p:cNvGraphicFramePr/>
          <p:nvPr>
            <p:extLst>
              <p:ext uri="{D42A27DB-BD31-4B8C-83A1-F6EECF244321}">
                <p14:modId xmlns:p14="http://schemas.microsoft.com/office/powerpoint/2010/main" val="1766374703"/>
              </p:ext>
            </p:extLst>
          </p:nvPr>
        </p:nvGraphicFramePr>
        <p:xfrm>
          <a:off x="5244352" y="3416452"/>
          <a:ext cx="2743200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9" r:id="rId6" imgW="2743200" imgH="606670" progId="">
                  <p:embed/>
                </p:oleObj>
              </mc:Choice>
              <mc:Fallback>
                <p:oleObj r:id="rId6" imgW="2743200" imgH="606670" progId="">
                  <p:embed/>
                  <p:pic>
                    <p:nvPicPr>
                      <p:cNvPr id="299" name="Google Shape;299;p2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5244352" y="3416452"/>
                        <a:ext cx="2743200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" name="Google Shape;300;p24"/>
          <p:cNvGraphicFramePr/>
          <p:nvPr>
            <p:extLst>
              <p:ext uri="{D42A27DB-BD31-4B8C-83A1-F6EECF244321}">
                <p14:modId xmlns:p14="http://schemas.microsoft.com/office/powerpoint/2010/main" val="3371819793"/>
              </p:ext>
            </p:extLst>
          </p:nvPr>
        </p:nvGraphicFramePr>
        <p:xfrm>
          <a:off x="5249174" y="4164048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0" r:id="rId8" imgW="2514601" imgH="584201" progId="">
                  <p:embed/>
                </p:oleObj>
              </mc:Choice>
              <mc:Fallback>
                <p:oleObj r:id="rId8" imgW="2514601" imgH="584201" progId="">
                  <p:embed/>
                  <p:pic>
                    <p:nvPicPr>
                      <p:cNvPr id="300" name="Google Shape;300;p2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5249174" y="4164048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2">
            <a:extLst>
              <a:ext uri="{FF2B5EF4-FFF2-40B4-BE49-F238E27FC236}">
                <a16:creationId xmlns:a16="http://schemas.microsoft.com/office/drawing/2014/main" id="{448BDC83-9F08-4382-B2F8-8B363C6D80D9}"/>
              </a:ext>
            </a:extLst>
          </p:cNvPr>
          <p:cNvSpPr txBox="1">
            <a:spLocks/>
          </p:cNvSpPr>
          <p:nvPr/>
        </p:nvSpPr>
        <p:spPr>
          <a:xfrm>
            <a:off x="820948" y="0"/>
            <a:ext cx="11371052" cy="783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>
            <a:spLocks noGrp="1"/>
          </p:cNvSpPr>
          <p:nvPr>
            <p:ph idx="1"/>
          </p:nvPr>
        </p:nvSpPr>
        <p:spPr>
          <a:xfrm>
            <a:off x="547564" y="228600"/>
            <a:ext cx="11420318" cy="652182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/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200" b="1" dirty="0">
                <a:solidFill>
                  <a:srgbClr val="C00000"/>
                </a:solidFill>
              </a:rPr>
              <a:t>Inductive Step: </a:t>
            </a:r>
            <a:r>
              <a:rPr lang="en-US" sz="2200" dirty="0">
                <a:solidFill>
                  <a:srgbClr val="C00000"/>
                </a:solidFill>
              </a:rPr>
              <a:t>	</a:t>
            </a:r>
            <a:r>
              <a:rPr lang="en-US" sz="2200" dirty="0"/>
              <a:t>Suppose for some integer n=k ≥0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	                     						………(1)</a:t>
            </a: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	We must show that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0" indent="0">
              <a:spcBef>
                <a:spcPts val="0"/>
              </a:spcBef>
              <a:buSzPts val="1976"/>
              <a:buNone/>
            </a:pPr>
            <a:r>
              <a:rPr lang="en-US" sz="2200" dirty="0"/>
              <a:t>Consider </a:t>
            </a:r>
            <a:r>
              <a:rPr lang="en-US" sz="2200" dirty="0">
                <a:solidFill>
                  <a:srgbClr val="C00000"/>
                </a:solidFill>
              </a:rPr>
              <a:t>LHS of (2)</a:t>
            </a: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125476" indent="0">
              <a:spcBef>
                <a:spcPts val="600"/>
              </a:spcBef>
              <a:buSzPts val="1976"/>
              <a:buNone/>
            </a:pPr>
            <a:endParaRPr lang="en-US" sz="2200" dirty="0"/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	Hence the </a:t>
            </a:r>
            <a:r>
              <a:rPr lang="en-US" sz="2200" dirty="0">
                <a:solidFill>
                  <a:srgbClr val="C00000"/>
                </a:solidFill>
              </a:rPr>
              <a:t>inductive step</a:t>
            </a:r>
            <a:r>
              <a:rPr lang="en-US" sz="2200" dirty="0"/>
              <a:t> is proved as well. </a:t>
            </a:r>
          </a:p>
          <a:p>
            <a:pPr marL="0" indent="0">
              <a:spcBef>
                <a:spcPts val="600"/>
              </a:spcBef>
              <a:buSzPts val="1976"/>
              <a:buNone/>
            </a:pPr>
            <a:r>
              <a:rPr lang="en-US" sz="2200" dirty="0"/>
              <a:t>Accordingly by </a:t>
            </a:r>
            <a:r>
              <a:rPr lang="en-US" sz="2200" dirty="0">
                <a:solidFill>
                  <a:srgbClr val="C00000"/>
                </a:solidFill>
              </a:rPr>
              <a:t>mathematical induction</a:t>
            </a:r>
            <a:r>
              <a:rPr lang="en-US" sz="2200" dirty="0"/>
              <a:t> the given formula is true for all integers n≥0.		</a:t>
            </a:r>
            <a:endParaRPr sz="2200" dirty="0"/>
          </a:p>
        </p:txBody>
      </p:sp>
      <p:graphicFrame>
        <p:nvGraphicFramePr>
          <p:cNvPr id="308" name="Google Shape;308;p25"/>
          <p:cNvGraphicFramePr/>
          <p:nvPr>
            <p:extLst>
              <p:ext uri="{D42A27DB-BD31-4B8C-83A1-F6EECF244321}">
                <p14:modId xmlns:p14="http://schemas.microsoft.com/office/powerpoint/2010/main" val="117074977"/>
              </p:ext>
            </p:extLst>
          </p:nvPr>
        </p:nvGraphicFramePr>
        <p:xfrm>
          <a:off x="4605991" y="620534"/>
          <a:ext cx="2603501" cy="5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r:id="rId4" imgW="2603501" imgH="549362" progId="">
                  <p:embed/>
                </p:oleObj>
              </mc:Choice>
              <mc:Fallback>
                <p:oleObj r:id="rId4" imgW="2603501" imgH="549362" progId="">
                  <p:embed/>
                  <p:pic>
                    <p:nvPicPr>
                      <p:cNvPr id="308" name="Google Shape;308;p25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/>
                      <a:stretch/>
                    </p:blipFill>
                    <p:spPr>
                      <a:xfrm>
                        <a:off x="4605991" y="620534"/>
                        <a:ext cx="2603501" cy="54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9" name="Google Shape;309;p25"/>
          <p:cNvGraphicFramePr/>
          <p:nvPr>
            <p:extLst>
              <p:ext uri="{D42A27DB-BD31-4B8C-83A1-F6EECF244321}">
                <p14:modId xmlns:p14="http://schemas.microsoft.com/office/powerpoint/2010/main" val="1526863679"/>
              </p:ext>
            </p:extLst>
          </p:nvPr>
        </p:nvGraphicFramePr>
        <p:xfrm>
          <a:off x="3530690" y="1710175"/>
          <a:ext cx="6642101" cy="666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r:id="rId6" imgW="6642101" imgH="666774" progId="">
                  <p:embed/>
                </p:oleObj>
              </mc:Choice>
              <mc:Fallback>
                <p:oleObj r:id="rId6" imgW="6642101" imgH="666774" progId="">
                  <p:embed/>
                  <p:pic>
                    <p:nvPicPr>
                      <p:cNvPr id="309" name="Google Shape;309;p25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3530690" y="1710175"/>
                        <a:ext cx="6642101" cy="666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Google Shape;317;p26">
            <a:extLst>
              <a:ext uri="{FF2B5EF4-FFF2-40B4-BE49-F238E27FC236}">
                <a16:creationId xmlns:a16="http://schemas.microsoft.com/office/drawing/2014/main" id="{BCFAEC67-A8DF-471D-A71F-2FFFCDAE8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5661798"/>
              </p:ext>
            </p:extLst>
          </p:nvPr>
        </p:nvGraphicFramePr>
        <p:xfrm>
          <a:off x="3720352" y="2583232"/>
          <a:ext cx="4536141" cy="3172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r:id="rId8" imgW="5133975" imgH="3429000" progId="">
                  <p:embed/>
                </p:oleObj>
              </mc:Choice>
              <mc:Fallback>
                <p:oleObj r:id="rId8" imgW="5133975" imgH="3429000" progId="">
                  <p:embed/>
                  <p:pic>
                    <p:nvPicPr>
                      <p:cNvPr id="317" name="Google Shape;317;p2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3720352" y="2583232"/>
                        <a:ext cx="4536141" cy="3172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48364"/>
            <a:ext cx="11353800" cy="783535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4785" y="1249685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Use Mathematical Induction to prove that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162136" y="2063898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for all integers n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2</a:t>
            </a:r>
            <a:endParaRPr lang="en-US" sz="2400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59" name="Object 3"/>
              <p:cNvSpPr txBox="1"/>
              <p:nvPr/>
            </p:nvSpPr>
            <p:spPr bwMode="auto">
              <a:xfrm>
                <a:off x="974725" y="1830388"/>
                <a:ext cx="5348437" cy="9286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B31591"/>
                  </a:solidFill>
                </a:endParaRPr>
              </a:p>
            </p:txBody>
          </p:sp>
        </mc:Choice>
        <mc:Fallback xmlns="">
          <p:sp>
            <p:nvSpPr>
              <p:cNvPr id="17305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4725" y="1830388"/>
                <a:ext cx="5348437" cy="928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8666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48364"/>
            <a:ext cx="11353800" cy="783535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4785" y="1249685"/>
            <a:ext cx="883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Cambria Math" pitchFamily="18" charset="0"/>
                <a:ea typeface="Cambria Math" pitchFamily="18" charset="0"/>
              </a:rPr>
              <a:t>Use Mathematical Induction to prove that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6162136" y="2063898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</a:rPr>
              <a:t>for all integers n </a:t>
            </a:r>
            <a:r>
              <a:rPr lang="en-US" sz="2400" dirty="0">
                <a:solidFill>
                  <a:srgbClr val="C00000"/>
                </a:solidFill>
                <a:latin typeface="Cambria Math" pitchFamily="18" charset="0"/>
                <a:ea typeface="Cambria Math" pitchFamily="18" charset="0"/>
                <a:sym typeface="Symbol" pitchFamily="18" charset="2"/>
              </a:rPr>
              <a:t>2</a:t>
            </a:r>
            <a:endParaRPr lang="en-US" sz="2400" dirty="0">
              <a:solidFill>
                <a:srgbClr val="C00000"/>
              </a:solidFill>
              <a:latin typeface="Cambria Math" pitchFamily="18" charset="0"/>
              <a:ea typeface="Cambria Math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59" name="Object 3"/>
              <p:cNvSpPr txBox="1"/>
              <p:nvPr/>
            </p:nvSpPr>
            <p:spPr bwMode="auto">
              <a:xfrm>
                <a:off x="974725" y="1830388"/>
                <a:ext cx="5348437" cy="9286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B3159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B3159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2000" i="1">
                          <a:solidFill>
                            <a:srgbClr val="B3159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B31591"/>
                  </a:solidFill>
                </a:endParaRPr>
              </a:p>
            </p:txBody>
          </p:sp>
        </mc:Choice>
        <mc:Fallback xmlns="">
          <p:sp>
            <p:nvSpPr>
              <p:cNvPr id="17305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4725" y="1830388"/>
                <a:ext cx="5348437" cy="9286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3879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9068FC-34E6-81F2-506A-92F5E3458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215" y="862642"/>
            <a:ext cx="11398369" cy="5314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i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Use mathematical induction to prove that 2</a:t>
            </a:r>
            <a:r>
              <a:rPr lang="en-US" sz="2400" b="0" i="1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n &lt; n</a:t>
            </a:r>
            <a:r>
              <a:rPr lang="en-US" sz="2400" b="0" i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! for every integer </a:t>
            </a:r>
            <a:r>
              <a:rPr lang="en-US" sz="2400" b="0" i="1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b="0" i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with </a:t>
            </a:r>
            <a:r>
              <a:rPr lang="en-US" sz="2400" b="0" i="1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b="0" i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≥ 4.</a:t>
            </a:r>
            <a:endParaRPr lang="en-US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62F1F3-A876-51C6-8F6C-3A289C18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15" y="0"/>
            <a:ext cx="10972800" cy="785004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 … </a:t>
            </a:r>
            <a:r>
              <a:rPr lang="en-US" sz="3200" u="sng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Do it yourself</a:t>
            </a:r>
            <a:endParaRPr lang="en-US" sz="4000" u="sng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98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9068FC-34E6-81F2-506A-92F5E3458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215" y="862642"/>
            <a:ext cx="11398369" cy="53143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Use mathematical induction to prove the following: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n &lt; 2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b="0" u="none" strike="noStrike" dirty="0">
                <a:latin typeface="Cambria Math" panose="02040503050406030204" pitchFamily="18" charset="0"/>
                <a:ea typeface="Cambria Math" panose="02040503050406030204" pitchFamily="18" charset="0"/>
              </a:rPr>
              <a:t>for all positive integers n.</a:t>
            </a:r>
            <a:endParaRPr lang="en-US" sz="2400" b="0" u="none" strike="noStrike" baseline="30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&lt; n! for all n ≥4.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b="0" u="none" strike="noStrike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b="0" u="none" strike="noStrike" dirty="0">
                <a:latin typeface="Cambria Math" panose="02040503050406030204" pitchFamily="18" charset="0"/>
                <a:ea typeface="Cambria Math" panose="02040503050406030204" pitchFamily="18" charset="0"/>
              </a:rPr>
              <a:t>-n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is divisible by 3 for all positive integers n.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7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n+2 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+ 8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2n+1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is divisible by 57 for every non-negative integer n.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dirty="0">
                <a:latin typeface="Cambria Math" panose="02040503050406030204" pitchFamily="18" charset="0"/>
                <a:ea typeface="Cambria Math" panose="02040503050406030204" pitchFamily="18" charset="0"/>
              </a:rPr>
              <a:t>5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="0" u="none" strike="noStrike" dirty="0">
                <a:latin typeface="Cambria Math" panose="02040503050406030204" pitchFamily="18" charset="0"/>
                <a:ea typeface="Cambria Math" panose="02040503050406030204" pitchFamily="18" charset="0"/>
              </a:rPr>
              <a:t> - 1 is divisible by 4 for all non-negative integers n.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b="0" u="none" strike="noStrike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n+1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 n+2 for all n ≥1.</a:t>
            </a:r>
          </a:p>
          <a:p>
            <a:pPr marL="742950" indent="-742950">
              <a:buFont typeface="+mj-lt"/>
              <a:buAutoNum type="arabicPeriod"/>
            </a:pPr>
            <a:endParaRPr lang="en-US" sz="2400" b="0" u="none" strike="noStrike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742950" indent="-742950">
              <a:buFont typeface="+mj-lt"/>
              <a:buAutoNum type="arabicPeriod"/>
            </a:pPr>
            <a:endParaRPr lang="en-US" sz="2400" b="0" u="none" strike="noStrike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62F1F3-A876-51C6-8F6C-3A289C18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15" y="0"/>
            <a:ext cx="10972800" cy="785004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More Exercises</a:t>
            </a:r>
            <a:endParaRPr lang="en-US" sz="4000" u="sng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943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9068FC-34E6-81F2-506A-92F5E3458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215" y="862642"/>
            <a:ext cx="11398369" cy="4140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0" u="none" strike="noStrike" baseline="0" dirty="0">
                <a:latin typeface="Cambria Math" panose="02040503050406030204" pitchFamily="18" charset="0"/>
                <a:ea typeface="Cambria Math" panose="02040503050406030204" pitchFamily="18" charset="0"/>
              </a:rPr>
              <a:t>Use mathematical induction to prove the following for all positive integer values of 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62F1F3-A876-51C6-8F6C-3A289C183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15" y="0"/>
            <a:ext cx="10972800" cy="785004"/>
          </a:xfrm>
        </p:spPr>
        <p:txBody>
          <a:bodyPr>
            <a:normAutofit/>
          </a:bodyPr>
          <a:lstStyle/>
          <a:p>
            <a:r>
              <a:rPr lang="en-US" sz="4000" u="sng" dirty="0">
                <a:latin typeface="Cambria Math" panose="02040503050406030204" pitchFamily="18" charset="0"/>
                <a:ea typeface="Cambria Math" panose="02040503050406030204" pitchFamily="18" charset="0"/>
              </a:rPr>
              <a:t>Mathematical Induction … </a:t>
            </a:r>
            <a:r>
              <a:rPr lang="en-US" sz="3600" u="sng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More Exercises</a:t>
            </a:r>
            <a:endParaRPr lang="en-US" sz="4000" u="sng" dirty="0">
              <a:solidFill>
                <a:schemeClr val="accent6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BB5332F-94DC-452D-3C05-678F5F04E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3197055"/>
                  </p:ext>
                </p:extLst>
              </p:nvPr>
            </p:nvGraphicFramePr>
            <p:xfrm>
              <a:off x="1475509" y="1354347"/>
              <a:ext cx="8416636" cy="4059746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5008418">
                      <a:extLst>
                        <a:ext uri="{9D8B030D-6E8A-4147-A177-3AD203B41FA5}">
                          <a16:colId xmlns:a16="http://schemas.microsoft.com/office/drawing/2014/main" val="1320131892"/>
                        </a:ext>
                      </a:extLst>
                    </a:gridCol>
                    <a:gridCol w="665018">
                      <a:extLst>
                        <a:ext uri="{9D8B030D-6E8A-4147-A177-3AD203B41FA5}">
                          <a16:colId xmlns:a16="http://schemas.microsoft.com/office/drawing/2014/main" val="373154963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577240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LHS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RHS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1374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r>
                            <a:rPr lang="en-US" sz="24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+ 2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+ 3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… + n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kern="1200" baseline="300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+1)2</m:t>
                                    </m:r>
                                  </m:num>
                                  <m:den>
                                    <m:r>
                                      <a:rPr lang="en-US" sz="2400" b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749134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 + 5 + 8 + … + (3n-1)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2400" kern="1200" baseline="300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+1)</m:t>
                                    </m:r>
                                  </m:num>
                                  <m:den>
                                    <m:r>
                                      <a:rPr lang="en-US" sz="2400" b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7254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· 2 + 2 · 3 + 3 · 4 + · · · + n.(n + 1)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2400" kern="1200" baseline="300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+1)(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+2)</m:t>
                                    </m:r>
                                  </m:num>
                                  <m:den>
                                    <m:r>
                                      <a:rPr lang="en-US" sz="2400" b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605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4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</a:t>
                          </a:r>
                          <a:r>
                            <a:rPr lang="en-US" sz="2400" baseline="30000" dirty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2034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+ 4 + 7 + … + (3n-2)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a:rPr lang="en-US" sz="2400" kern="1200" baseline="300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dirty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1)</m:t>
                                    </m:r>
                                  </m:num>
                                  <m:den>
                                    <m:r>
                                      <a:rPr lang="en-US" sz="2400" b="0" smtClean="0">
                                        <a:solidFill>
                                          <a:srgbClr val="B3159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03496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BB5332F-94DC-452D-3C05-678F5F04E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03197055"/>
                  </p:ext>
                </p:extLst>
              </p:nvPr>
            </p:nvGraphicFramePr>
            <p:xfrm>
              <a:off x="1475509" y="1354347"/>
              <a:ext cx="8416636" cy="4059746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5008418">
                      <a:extLst>
                        <a:ext uri="{9D8B030D-6E8A-4147-A177-3AD203B41FA5}">
                          <a16:colId xmlns:a16="http://schemas.microsoft.com/office/drawing/2014/main" val="1320131892"/>
                        </a:ext>
                      </a:extLst>
                    </a:gridCol>
                    <a:gridCol w="665018">
                      <a:extLst>
                        <a:ext uri="{9D8B030D-6E8A-4147-A177-3AD203B41FA5}">
                          <a16:colId xmlns:a16="http://schemas.microsoft.com/office/drawing/2014/main" val="373154963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185772407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LHS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RHS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137412"/>
                      </a:ext>
                    </a:extLst>
                  </a:tr>
                  <a:tr h="785749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</a:t>
                          </a:r>
                          <a:r>
                            <a:rPr lang="en-US" sz="24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+ 2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+ 3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 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+ … + n</a:t>
                          </a:r>
                          <a:r>
                            <a:rPr lang="en-US" sz="2400" kern="1200" baseline="30000" dirty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7111" t="-64341" r="-222" b="-359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4913431"/>
                      </a:ext>
                    </a:extLst>
                  </a:tr>
                  <a:tr h="785749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 + 5 + 8 + … + (3n-1)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7111" t="-164341" r="-222" b="-2596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7254338"/>
                      </a:ext>
                    </a:extLst>
                  </a:tr>
                  <a:tr h="788099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· 2 + 2 · 3 + 3 · 4 + · · · + n.(n + 1)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7111" t="-262308" r="-222" b="-15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6059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3</a:t>
                          </a:r>
                          <a:r>
                            <a:rPr lang="en-US" sz="2400" baseline="30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&gt;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N</a:t>
                          </a:r>
                          <a:r>
                            <a:rPr lang="en-US" sz="2400" baseline="30000" dirty="0">
                              <a:solidFill>
                                <a:srgbClr val="B3159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2034087"/>
                      </a:ext>
                    </a:extLst>
                  </a:tr>
                  <a:tr h="785749"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1 + 4 + 7 + … + (3n-2)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=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7111" t="-423256" r="-222" b="-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03496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3942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86" y="1256212"/>
            <a:ext cx="6393662" cy="2708569"/>
          </a:xfrm>
        </p:spPr>
        <p:txBody>
          <a:bodyPr>
            <a:normAutofit/>
          </a:bodyPr>
          <a:lstStyle/>
          <a:p>
            <a:r>
              <a:rPr lang="en-US" sz="2400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Mathematical Induction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Principal of Mathematical Induction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Practice Questions</a:t>
            </a:r>
            <a:endParaRPr lang="en-PK" sz="24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u="sng" dirty="0">
                <a:solidFill>
                  <a:schemeClr val="tx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20601</TotalTime>
  <Words>1600</Words>
  <Application>Microsoft Office PowerPoint</Application>
  <PresentationFormat>Widescreen</PresentationFormat>
  <Paragraphs>209</Paragraphs>
  <Slides>25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</vt:lpstr>
      <vt:lpstr>Cambria Math</vt:lpstr>
      <vt:lpstr>Century Gothic</vt:lpstr>
      <vt:lpstr>Comic Sans MS</vt:lpstr>
      <vt:lpstr>Wingdings</vt:lpstr>
      <vt:lpstr>ShapesVTI</vt:lpstr>
      <vt:lpstr>PowerPoint Presentation</vt:lpstr>
      <vt:lpstr>Section 5.1   Mathematical Induction</vt:lpstr>
      <vt:lpstr>Introduction</vt:lpstr>
      <vt:lpstr>PowerPoint Presentation</vt:lpstr>
      <vt:lpstr>PowerPoint Presentation</vt:lpstr>
      <vt:lpstr>PowerPoint Presentation</vt:lpstr>
      <vt:lpstr>Principle of Mathematical Induction</vt:lpstr>
      <vt:lpstr>Principle of Mathematical Induction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Mathematical Induction … Exercise … Do it yourself</vt:lpstr>
      <vt:lpstr>Mathematical Induction … Exercise … Do it yourself</vt:lpstr>
      <vt:lpstr>PowerPoint Presentation</vt:lpstr>
      <vt:lpstr>PowerPoint Presentation</vt:lpstr>
      <vt:lpstr>Mathematical Induction … Exercise … Do it yourself</vt:lpstr>
      <vt:lpstr>Mathematical Induction … Exercise … Do it yourself</vt:lpstr>
      <vt:lpstr>Mathematical Induction … Exercise … Do it yourself</vt:lpstr>
      <vt:lpstr>Mathematical Induction … More Exercises</vt:lpstr>
      <vt:lpstr>Mathematical Induction … More Exercises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77</cp:revision>
  <cp:lastPrinted>2024-03-28T06:21:38Z</cp:lastPrinted>
  <dcterms:created xsi:type="dcterms:W3CDTF">2023-10-03T05:27:31Z</dcterms:created>
  <dcterms:modified xsi:type="dcterms:W3CDTF">2025-05-22T05:45:25Z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