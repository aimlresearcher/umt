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8" r:id="rId4"/>
  </p:sldMasterIdLst>
  <p:notesMasterIdLst>
    <p:notesMasterId r:id="rId90"/>
  </p:notesMasterIdLst>
  <p:sldIdLst>
    <p:sldId id="3894" r:id="rId5"/>
    <p:sldId id="3885" r:id="rId6"/>
    <p:sldId id="257" r:id="rId7"/>
    <p:sldId id="258" r:id="rId8"/>
    <p:sldId id="290" r:id="rId9"/>
    <p:sldId id="320" r:id="rId10"/>
    <p:sldId id="322" r:id="rId11"/>
    <p:sldId id="296" r:id="rId12"/>
    <p:sldId id="3895" r:id="rId13"/>
    <p:sldId id="323" r:id="rId14"/>
    <p:sldId id="324" r:id="rId15"/>
    <p:sldId id="325" r:id="rId16"/>
    <p:sldId id="326" r:id="rId17"/>
    <p:sldId id="327" r:id="rId18"/>
    <p:sldId id="328" r:id="rId19"/>
    <p:sldId id="329" r:id="rId20"/>
    <p:sldId id="330" r:id="rId21"/>
    <p:sldId id="365" r:id="rId22"/>
    <p:sldId id="331" r:id="rId23"/>
    <p:sldId id="366" r:id="rId24"/>
    <p:sldId id="332" r:id="rId25"/>
    <p:sldId id="408" r:id="rId26"/>
    <p:sldId id="409" r:id="rId27"/>
    <p:sldId id="333" r:id="rId28"/>
    <p:sldId id="367" r:id="rId29"/>
    <p:sldId id="335" r:id="rId30"/>
    <p:sldId id="368" r:id="rId31"/>
    <p:sldId id="369" r:id="rId32"/>
    <p:sldId id="370" r:id="rId33"/>
    <p:sldId id="371" r:id="rId34"/>
    <p:sldId id="372" r:id="rId35"/>
    <p:sldId id="373" r:id="rId36"/>
    <p:sldId id="374" r:id="rId37"/>
    <p:sldId id="375" r:id="rId38"/>
    <p:sldId id="318" r:id="rId39"/>
    <p:sldId id="319" r:id="rId40"/>
    <p:sldId id="376" r:id="rId41"/>
    <p:sldId id="377" r:id="rId42"/>
    <p:sldId id="378" r:id="rId43"/>
    <p:sldId id="379" r:id="rId44"/>
    <p:sldId id="380" r:id="rId45"/>
    <p:sldId id="381" r:id="rId46"/>
    <p:sldId id="382" r:id="rId47"/>
    <p:sldId id="383" r:id="rId48"/>
    <p:sldId id="384" r:id="rId49"/>
    <p:sldId id="385" r:id="rId50"/>
    <p:sldId id="386" r:id="rId51"/>
    <p:sldId id="387" r:id="rId52"/>
    <p:sldId id="388" r:id="rId53"/>
    <p:sldId id="389" r:id="rId54"/>
    <p:sldId id="390" r:id="rId55"/>
    <p:sldId id="391" r:id="rId56"/>
    <p:sldId id="392" r:id="rId57"/>
    <p:sldId id="393" r:id="rId58"/>
    <p:sldId id="394" r:id="rId59"/>
    <p:sldId id="395" r:id="rId60"/>
    <p:sldId id="396" r:id="rId61"/>
    <p:sldId id="397" r:id="rId62"/>
    <p:sldId id="398" r:id="rId63"/>
    <p:sldId id="399" r:id="rId64"/>
    <p:sldId id="400" r:id="rId65"/>
    <p:sldId id="401" r:id="rId66"/>
    <p:sldId id="402" r:id="rId67"/>
    <p:sldId id="403" r:id="rId68"/>
    <p:sldId id="404" r:id="rId69"/>
    <p:sldId id="405" r:id="rId70"/>
    <p:sldId id="337" r:id="rId71"/>
    <p:sldId id="338" r:id="rId72"/>
    <p:sldId id="339" r:id="rId73"/>
    <p:sldId id="406" r:id="rId74"/>
    <p:sldId id="407" r:id="rId75"/>
    <p:sldId id="342" r:id="rId76"/>
    <p:sldId id="343" r:id="rId77"/>
    <p:sldId id="345" r:id="rId78"/>
    <p:sldId id="346" r:id="rId79"/>
    <p:sldId id="347" r:id="rId80"/>
    <p:sldId id="348" r:id="rId81"/>
    <p:sldId id="351" r:id="rId82"/>
    <p:sldId id="352" r:id="rId83"/>
    <p:sldId id="353" r:id="rId84"/>
    <p:sldId id="354" r:id="rId85"/>
    <p:sldId id="355" r:id="rId86"/>
    <p:sldId id="356" r:id="rId87"/>
    <p:sldId id="357" r:id="rId88"/>
    <p:sldId id="3855"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orient="horz" pos="3408" userDrawn="1">
          <p15:clr>
            <a:srgbClr val="A4A3A4"/>
          </p15:clr>
        </p15:guide>
        <p15:guide id="3" pos="6936" userDrawn="1">
          <p15:clr>
            <a:srgbClr val="A4A3A4"/>
          </p15:clr>
        </p15:guide>
        <p15:guide id="4" pos="7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65" autoAdjust="0"/>
    <p:restoredTop sz="94660"/>
  </p:normalViewPr>
  <p:slideViewPr>
    <p:cSldViewPr snapToGrid="0">
      <p:cViewPr varScale="1">
        <p:scale>
          <a:sx n="71" d="100"/>
          <a:sy n="71" d="100"/>
        </p:scale>
        <p:origin x="624" y="66"/>
      </p:cViewPr>
      <p:guideLst>
        <p:guide orient="horz" pos="1200"/>
        <p:guide orient="horz" pos="3408"/>
        <p:guide pos="6936"/>
        <p:guide pos="74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notesMaster" Target="notesMasters/notesMaster1.xml"/><Relationship Id="rId95" Type="http://schemas.microsoft.com/office/2018/10/relationships/authors" Target="author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viewProps" Target="view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7BA811-8917-4F1D-B22F-E96045BFA4E0}" type="datetimeFigureOut">
              <a:rPr lang="en-US" smtClean="0"/>
              <a:t>5/5/2025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0C6A29-4676-420C-BBE3-ACC2B80F64D4}" type="slidenum">
              <a:rPr lang="en-US" smtClean="0"/>
              <a:t>‹#›</a:t>
            </a:fld>
            <a:endParaRPr lang="en-US" dirty="0"/>
          </a:p>
        </p:txBody>
      </p:sp>
    </p:spTree>
    <p:extLst>
      <p:ext uri="{BB962C8B-B14F-4D97-AF65-F5344CB8AC3E}">
        <p14:creationId xmlns:p14="http://schemas.microsoft.com/office/powerpoint/2010/main" val="3804597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FCE00AC6-1AA1-42D9-83DD-4C308C3F9322}"/>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5319A315-F756-49EC-8181-0EC3F0A37B09}"/>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60F3E26-F530-48F5-983F-9DCFF41D4F39}"/>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5C97701E-DAF9-4174-AA91-DA203CD27D6A}"/>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F765374-1A4B-41DC-9E75-A95A6C655328}"/>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7618DB8E-B14E-42E2-B454-6F4F36A8A9D9}"/>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5093208" y="2743200"/>
            <a:ext cx="6592824" cy="2386584"/>
          </a:xfrm>
        </p:spPr>
        <p:txBody>
          <a:bodyPr anchor="b"/>
          <a:lstStyle>
            <a:lvl1pPr algn="r">
              <a:defRPr sz="6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5093208" y="5221224"/>
            <a:ext cx="6592824" cy="99669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010415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FA665D7-34D0-4262-B345-9B1A1BA8DA17}"/>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5797934-7E2B-4F94-89C4-0279413FF821}"/>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813944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small pictures">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A614E3F-4FB2-4152-A59C-941C908D7B05}"/>
              </a:ext>
            </a:extLst>
          </p:cNvPr>
          <p:cNvSpPr>
            <a:spLocks noGrp="1"/>
          </p:cNvSpPr>
          <p:nvPr>
            <p:ph type="pic" sz="quarter" idx="13"/>
          </p:nvPr>
        </p:nvSpPr>
        <p:spPr>
          <a:xfrm>
            <a:off x="7200479" y="1150210"/>
            <a:ext cx="2207046" cy="2204178"/>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8444632" y="2579683"/>
            <a:ext cx="3096807" cy="3096807"/>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Oval 9">
            <a:extLst>
              <a:ext uri="{FF2B5EF4-FFF2-40B4-BE49-F238E27FC236}">
                <a16:creationId xmlns:a16="http://schemas.microsoft.com/office/drawing/2014/main" id="{E8E71C73-7BAD-4838-88C1-42E045A9D179}"/>
              </a:ext>
            </a:extLst>
          </p:cNvPr>
          <p:cNvSpPr/>
          <p:nvPr userDrawn="1"/>
        </p:nvSpPr>
        <p:spPr>
          <a:xfrm>
            <a:off x="10249620" y="1555068"/>
            <a:ext cx="819303" cy="7970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userDrawn="1"/>
        </p:nvSpPr>
        <p:spPr>
          <a:xfrm>
            <a:off x="7590089" y="4034393"/>
            <a:ext cx="876704" cy="876704"/>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839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0EACD1-D216-4037-8AFF-80CF273586DF}"/>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565C7B4-4152-4548-A771-EB148A028FDB}"/>
              </a:ext>
            </a:extLst>
          </p:cNvPr>
          <p:cNvSpPr/>
          <p:nvPr userDrawn="1"/>
        </p:nvSpPr>
        <p:spPr>
          <a:xfrm>
            <a:off x="8165417" y="5241988"/>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3319272" y="1380744"/>
            <a:ext cx="5559552" cy="2514600"/>
          </a:xfrm>
        </p:spPr>
        <p:txBody>
          <a:bodyPr anchor="b"/>
          <a:lstStyle>
            <a:lvl1pPr algn="ct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319272" y="4078224"/>
            <a:ext cx="5559552" cy="1536192"/>
          </a:xfrm>
        </p:spPr>
        <p:txBody>
          <a:bodyPr/>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785573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5"/>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1179576" y="1911096"/>
            <a:ext cx="9829800" cy="38597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5081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38200" y="1911096"/>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8923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12192000" cy="6858000"/>
          </a:xfrm>
        </p:spPr>
        <p:txBody>
          <a:bodyPr/>
          <a:lstStyle>
            <a:lvl1pPr>
              <a:buNone/>
              <a:defRPr>
                <a:solidFill>
                  <a:schemeClr val="bg1"/>
                </a:solidFill>
              </a:defRPr>
            </a:lvl1pPr>
          </a:lstStyle>
          <a:p>
            <a:r>
              <a:rPr lang="en-US"/>
              <a:t>Click icon to add picture</a:t>
            </a:r>
            <a:endParaRPr lang="en-US" dirty="0"/>
          </a:p>
        </p:txBody>
      </p:sp>
      <p:sp>
        <p:nvSpPr>
          <p:cNvPr id="10" name="Title 9">
            <a:extLst>
              <a:ext uri="{FF2B5EF4-FFF2-40B4-BE49-F238E27FC236}">
                <a16:creationId xmlns:a16="http://schemas.microsoft.com/office/drawing/2014/main" id="{10EC23F5-CD2E-4207-A4E6-73BDFF74D868}"/>
              </a:ext>
            </a:extLst>
          </p:cNvPr>
          <p:cNvSpPr>
            <a:spLocks noGrp="1"/>
          </p:cNvSpPr>
          <p:nvPr>
            <p:ph type="title"/>
          </p:nvPr>
        </p:nvSpPr>
        <p:spPr>
          <a:xfrm>
            <a:off x="3111500" y="370600"/>
            <a:ext cx="5923842" cy="5923842"/>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anchor="b" anchorCtr="0">
            <a:noAutofit/>
          </a:bodyPr>
          <a:lstStyle>
            <a:lvl1pPr algn="ctr">
              <a:defRPr sz="4000">
                <a:solidFill>
                  <a:schemeClr val="tx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575304" y="4379976"/>
            <a:ext cx="5038344" cy="713232"/>
          </a:xfrm>
        </p:spPr>
        <p:txBody>
          <a:bodyPr/>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6B76FE53-FB67-4871-8485-71BAAFD7D1BF}"/>
              </a:ext>
            </a:extLst>
          </p:cNvPr>
          <p:cNvSpPr>
            <a:spLocks noGrp="1"/>
          </p:cNvSpPr>
          <p:nvPr>
            <p:ph type="dt" sz="half" idx="11"/>
          </p:nvPr>
        </p:nvSpPr>
        <p:spPr/>
        <p:txBody>
          <a:bodyPr/>
          <a:lstStyle>
            <a:lvl1pPr>
              <a:defRPr>
                <a:solidFill>
                  <a:schemeClr val="bg1"/>
                </a:solidFill>
                <a:latin typeface="+mn-lt"/>
              </a:defRPr>
            </a:lvl1pPr>
          </a:lstStyle>
          <a:p>
            <a:pPr>
              <a:defRPr/>
            </a:pPr>
            <a:r>
              <a:rPr lang="en-US"/>
              <a:t>9/3/20XX</a:t>
            </a:r>
            <a:endParaRPr lang="en-US" dirty="0"/>
          </a:p>
        </p:txBody>
      </p:sp>
      <p:sp>
        <p:nvSpPr>
          <p:cNvPr id="12" name="Footer Placeholder 11">
            <a:extLst>
              <a:ext uri="{FF2B5EF4-FFF2-40B4-BE49-F238E27FC236}">
                <a16:creationId xmlns:a16="http://schemas.microsoft.com/office/drawing/2014/main" id="{AD26FED4-1CE2-444B-A77E-EB3CB505AF19}"/>
              </a:ext>
            </a:extLst>
          </p:cNvPr>
          <p:cNvSpPr>
            <a:spLocks noGrp="1"/>
          </p:cNvSpPr>
          <p:nvPr>
            <p:ph type="ftr" sz="quarter" idx="12"/>
          </p:nvPr>
        </p:nvSpPr>
        <p:spPr/>
        <p:txBody>
          <a:bodyPr/>
          <a:lstStyle>
            <a:lvl1pPr>
              <a:defRPr>
                <a:solidFill>
                  <a:schemeClr val="bg1"/>
                </a:solidFill>
                <a:latin typeface="+mn-lt"/>
              </a:defRPr>
            </a:lvl1pPr>
          </a:lstStyle>
          <a:p>
            <a:pPr>
              <a:defRPr/>
            </a:pPr>
            <a:r>
              <a:rPr lang="fr-FR"/>
              <a:t>Discrete Structures : Lecture 1-2 by IQRA JAVED</a:t>
            </a:r>
            <a:endParaRPr lang="en-US" dirty="0"/>
          </a:p>
        </p:txBody>
      </p:sp>
      <p:sp>
        <p:nvSpPr>
          <p:cNvPr id="13" name="Slide Number Placeholder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a:lstStyle>
            <a:lvl1pPr>
              <a:defRPr>
                <a:solidFill>
                  <a:schemeClr val="bg1"/>
                </a:solidFill>
                <a:latin typeface="+mn-lt"/>
              </a:defRPr>
            </a:lvl1pPr>
          </a:lstStyle>
          <a:p>
            <a:pPr>
              <a:defRPr/>
            </a:pPr>
            <a:fld id="{D76B855D-E9CC-4FF8-AD85-6CDC7B89A0DE}" type="slidenum">
              <a:rPr lang="en-US" smtClean="0"/>
              <a:pPr>
                <a:defRPr/>
              </a:pPr>
              <a:t>‹#›</a:t>
            </a:fld>
            <a:endParaRPr lang="en-US" dirty="0"/>
          </a:p>
        </p:txBody>
      </p:sp>
    </p:spTree>
    <p:extLst>
      <p:ext uri="{BB962C8B-B14F-4D97-AF65-F5344CB8AC3E}">
        <p14:creationId xmlns:p14="http://schemas.microsoft.com/office/powerpoint/2010/main" val="220328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6906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594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445312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445312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806500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806500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67273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medium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FAA9DFF3-1B49-48A9-BF8A-57DD7D07CFAF}"/>
              </a:ext>
            </a:extLst>
          </p:cNvPr>
          <p:cNvSpPr>
            <a:spLocks noGrp="1"/>
          </p:cNvSpPr>
          <p:nvPr>
            <p:ph type="pic" sz="quarter" idx="14"/>
          </p:nvPr>
        </p:nvSpPr>
        <p:spPr>
          <a:xfrm>
            <a:off x="7901259" y="2727729"/>
            <a:ext cx="4290740" cy="4130271"/>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5CFEFC13-B998-4A6F-A7ED-411E266D288C}"/>
              </a:ext>
            </a:extLst>
          </p:cNvPr>
          <p:cNvSpPr>
            <a:spLocks noGrp="1"/>
          </p:cNvSpPr>
          <p:nvPr>
            <p:ph type="pic" sz="quarter" idx="13"/>
          </p:nvPr>
        </p:nvSpPr>
        <p:spPr>
          <a:xfrm>
            <a:off x="6261609" y="0"/>
            <a:ext cx="3519311" cy="3007909"/>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10" name="Oval 9">
            <a:extLst>
              <a:ext uri="{FF2B5EF4-FFF2-40B4-BE49-F238E27FC236}">
                <a16:creationId xmlns:a16="http://schemas.microsoft.com/office/drawing/2014/main" id="{B7BFFB5A-A05C-4B0C-905C-5884361304B2}"/>
              </a:ext>
            </a:extLst>
          </p:cNvPr>
          <p:cNvSpPr/>
          <p:nvPr userDrawn="1"/>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userDrawn="1"/>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841248" y="365760"/>
            <a:ext cx="5120640" cy="132588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41248" y="1828800"/>
            <a:ext cx="5093208" cy="4352544"/>
          </a:xfrm>
        </p:spPr>
        <p:txBody>
          <a:bodyPr/>
          <a:lstStyle>
            <a:lvl1pPr marL="0" indent="0">
              <a:buNone/>
              <a:defRPr sz="24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413178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642EAF0-DE94-4F90-82E3-6F316AA8353A}"/>
              </a:ext>
            </a:extLst>
          </p:cNvPr>
          <p:cNvSpPr/>
          <p:nvPr userDrawn="1"/>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E9CE183-B21E-41EB-A082-DF9C3AD659D5}"/>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C76330B-4C5E-463F-921A-D91F1F1F6049}"/>
              </a:ext>
            </a:extLst>
          </p:cNvPr>
          <p:cNvSpPr/>
          <p:nvPr userDrawn="1"/>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389888" y="1234440"/>
            <a:ext cx="3236976" cy="4069080"/>
          </a:xfrm>
        </p:spPr>
        <p:txBody>
          <a:bodyPr/>
          <a:lstStyle>
            <a:lvl1pPr algn="ct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a:lstStyle>
            <a:lvl1pPr algn="l">
              <a:defRPr>
                <a:latin typeface="+mn-lt"/>
              </a:defRPr>
            </a:lvl1pPr>
          </a:lstStyle>
          <a:p>
            <a:pPr algn="l">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665976" y="2551176"/>
            <a:ext cx="4709160" cy="1755648"/>
          </a:xfrm>
        </p:spPr>
        <p:txBody>
          <a:bodyPr/>
          <a:lstStyle>
            <a:lvl1pPr marL="0" indent="0">
              <a:buNone/>
              <a:defRPr sz="2400"/>
            </a:lvl1pPr>
            <a:lvl2pPr marL="228600">
              <a:defRPr sz="1800"/>
            </a:lvl2pPr>
            <a:lvl3pPr marL="457200">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267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4648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C9A1C714-6A0E-456D-A2E2-6288C0EA077B}"/>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3635405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8628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40125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itle and Text">
    <p:spTree>
      <p:nvGrpSpPr>
        <p:cNvPr id="1" name=""/>
        <p:cNvGrpSpPr/>
        <p:nvPr/>
      </p:nvGrpSpPr>
      <p:grpSpPr>
        <a:xfrm>
          <a:off x="0" y="0"/>
          <a:ext cx="0" cy="0"/>
          <a:chOff x="0" y="0"/>
          <a:chExt cx="0" cy="0"/>
        </a:xfrm>
      </p:grpSpPr>
      <p:sp>
        <p:nvSpPr>
          <p:cNvPr id="7" name="Rectangle 7"/>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p:cNvSpPr>
            <a:spLocks noGrp="1"/>
          </p:cNvSpPr>
          <p:nvPr>
            <p:ph type="title"/>
          </p:nvPr>
        </p:nvSpPr>
        <p:spPr>
          <a:xfrm>
            <a:off x="609600" y="359465"/>
            <a:ext cx="10972800" cy="1143000"/>
          </a:xfrm>
          <a:prstGeom prst="rect">
            <a:avLst/>
          </a:prstGeom>
        </p:spPr>
        <p:txBody>
          <a:bodyPr anchor="b" anchorCtr="0">
            <a:normAutofit/>
          </a:bodyPr>
          <a:lstStyle/>
          <a:p>
            <a:pPr algn="l"/>
            <a:r>
              <a:rPr lang="en-US"/>
              <a:t>Click to edit Master title style</a:t>
            </a:r>
          </a:p>
        </p:txBody>
      </p:sp>
      <p:sp>
        <p:nvSpPr>
          <p:cNvPr id="8" name="Date Placeholder 7"/>
          <p:cNvSpPr>
            <a:spLocks noGrp="1"/>
          </p:cNvSpPr>
          <p:nvPr>
            <p:ph type="dt" sz="half" idx="10"/>
          </p:nvPr>
        </p:nvSpPr>
        <p:spPr/>
        <p:txBody>
          <a:bodyPr/>
          <a:lstStyle/>
          <a:p>
            <a:fld id="{5C14FD69-4A85-4715-A222-ABB225B63BC6}" type="datetimeFigureOut">
              <a:rPr lang="en-US" smtClean="0"/>
              <a:pPr/>
              <a:t>5/5/2025</a:t>
            </a:fld>
            <a:endParaRPr lang="en-US"/>
          </a:p>
        </p:txBody>
      </p:sp>
      <p:sp>
        <p:nvSpPr>
          <p:cNvPr id="10" name="Slide Number Placeholder 9"/>
          <p:cNvSpPr>
            <a:spLocks noGrp="1"/>
          </p:cNvSpPr>
          <p:nvPr>
            <p:ph type="sldNum" sz="quarter" idx="11"/>
          </p:nvPr>
        </p:nvSpPr>
        <p:spPr/>
        <p:txBody>
          <a:bodyPr/>
          <a:lstStyle/>
          <a:p>
            <a:pPr algn="r"/>
            <a:fld id="{D4C49B74-5DB2-4B03-B1D2-7F6A3C51C318}" type="slidenum">
              <a:rPr lang="en-US" smtClean="0"/>
              <a:pPr algn="r"/>
              <a:t>‹#›</a:t>
            </a:fld>
            <a:endParaRPr lang="en-US"/>
          </a:p>
        </p:txBody>
      </p:sp>
      <p:sp>
        <p:nvSpPr>
          <p:cNvPr id="11" name="Footer Placeholder 10"/>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054470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06766865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71" r:id="rId4"/>
    <p:sldLayoutId id="2147483770" r:id="rId5"/>
    <p:sldLayoutId id="2147483774" r:id="rId6"/>
    <p:sldLayoutId id="2147483783" r:id="rId7"/>
    <p:sldLayoutId id="2147483772" r:id="rId8"/>
    <p:sldLayoutId id="2147483773" r:id="rId9"/>
    <p:sldLayoutId id="2147483785" r:id="rId10"/>
    <p:sldLayoutId id="2147483786" r:id="rId11"/>
    <p:sldLayoutId id="2147483787" r:id="rId12"/>
    <p:sldLayoutId id="2147483775" r:id="rId13"/>
    <p:sldLayoutId id="2147483788" r:id="rId14"/>
    <p:sldLayoutId id="2147483776" r:id="rId15"/>
    <p:sldLayoutId id="2147483777" r:id="rId16"/>
    <p:sldLayoutId id="2147483789"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4" Type="http://schemas.openxmlformats.org/officeDocument/2006/relationships/image" Target="../media/image6.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4" Type="http://schemas.openxmlformats.org/officeDocument/2006/relationships/image" Target="../media/image7.wmf"/></Relationships>
</file>

<file path=ppt/slides/_rels/slide3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3.vml"/><Relationship Id="rId4" Type="http://schemas.openxmlformats.org/officeDocument/2006/relationships/image" Target="../media/image10.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5.xml"/><Relationship Id="rId1" Type="http://schemas.openxmlformats.org/officeDocument/2006/relationships/vmlDrawing" Target="../drawings/vmlDrawing4.vml"/><Relationship Id="rId4" Type="http://schemas.openxmlformats.org/officeDocument/2006/relationships/image" Target="../media/image13.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7.xml"/><Relationship Id="rId1" Type="http://schemas.openxmlformats.org/officeDocument/2006/relationships/vmlDrawing" Target="../drawings/vmlDrawing5.vml"/><Relationship Id="rId4" Type="http://schemas.openxmlformats.org/officeDocument/2006/relationships/image" Target="../media/image15.w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7.xml"/><Relationship Id="rId1" Type="http://schemas.openxmlformats.org/officeDocument/2006/relationships/vmlDrawing" Target="../drawings/vmlDrawing6.vml"/><Relationship Id="rId4" Type="http://schemas.openxmlformats.org/officeDocument/2006/relationships/image" Target="../media/image16.w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BB25E70-F951-4043-8895-D1EFDDA97DDE}"/>
              </a:ext>
            </a:extLst>
          </p:cNvPr>
          <p:cNvSpPr txBox="1">
            <a:spLocks/>
          </p:cNvSpPr>
          <p:nvPr/>
        </p:nvSpPr>
        <p:spPr>
          <a:xfrm>
            <a:off x="460375" y="1948069"/>
            <a:ext cx="11594776" cy="4073773"/>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dirty="0">
                <a:solidFill>
                  <a:srgbClr val="C00000"/>
                </a:solidFill>
                <a:latin typeface="Cambria Math" panose="02040503050406030204" pitchFamily="18" charset="0"/>
                <a:ea typeface="Cambria Math" panose="02040503050406030204" pitchFamily="18" charset="0"/>
              </a:rPr>
              <a:t>CC 141 </a:t>
            </a:r>
            <a:br>
              <a:rPr lang="en-US" sz="4800" dirty="0">
                <a:solidFill>
                  <a:srgbClr val="C00000"/>
                </a:solidFill>
                <a:latin typeface="Cambria Math" panose="02040503050406030204" pitchFamily="18" charset="0"/>
                <a:ea typeface="Cambria Math" panose="02040503050406030204" pitchFamily="18" charset="0"/>
              </a:rPr>
            </a:br>
            <a:r>
              <a:rPr lang="en-US" sz="4800" dirty="0">
                <a:solidFill>
                  <a:srgbClr val="C00000"/>
                </a:solidFill>
                <a:latin typeface="Cambria Math" panose="02040503050406030204" pitchFamily="18" charset="0"/>
                <a:ea typeface="Cambria Math" panose="02040503050406030204" pitchFamily="18" charset="0"/>
              </a:rPr>
              <a:t>Discrete Structures</a:t>
            </a:r>
            <a:br>
              <a:rPr lang="en-US" sz="4800" dirty="0">
                <a:solidFill>
                  <a:srgbClr val="C00000"/>
                </a:solidFill>
                <a:latin typeface="Cambria Math" panose="02040503050406030204" pitchFamily="18" charset="0"/>
                <a:ea typeface="Cambria Math" panose="02040503050406030204" pitchFamily="18" charset="0"/>
              </a:rPr>
            </a:br>
            <a:br>
              <a:rPr lang="en-US" dirty="0">
                <a:solidFill>
                  <a:srgbClr val="C00000"/>
                </a:solidFill>
                <a:latin typeface="Cambria Math" panose="02040503050406030204" pitchFamily="18" charset="0"/>
                <a:ea typeface="Cambria Math" panose="02040503050406030204" pitchFamily="18" charset="0"/>
              </a:rPr>
            </a:br>
            <a:r>
              <a:rPr lang="en-US" sz="3200" dirty="0">
                <a:solidFill>
                  <a:schemeClr val="accent5">
                    <a:lumMod val="50000"/>
                  </a:schemeClr>
                </a:solidFill>
                <a:latin typeface="Century Gothic" panose="020B0502020202020204" pitchFamily="34" charset="0"/>
                <a:ea typeface="Cambria Math" panose="02040503050406030204" pitchFamily="18" charset="0"/>
              </a:rPr>
              <a:t>Department of Computer Science</a:t>
            </a:r>
            <a:br>
              <a:rPr lang="en-US" sz="3200" dirty="0">
                <a:solidFill>
                  <a:schemeClr val="accent5">
                    <a:lumMod val="50000"/>
                  </a:schemeClr>
                </a:solidFill>
                <a:latin typeface="Century Gothic" panose="020B0502020202020204" pitchFamily="34" charset="0"/>
                <a:ea typeface="Cambria Math" panose="02040503050406030204" pitchFamily="18" charset="0"/>
              </a:rPr>
            </a:br>
            <a:r>
              <a:rPr lang="en-US" sz="3200" dirty="0">
                <a:solidFill>
                  <a:schemeClr val="accent5">
                    <a:lumMod val="50000"/>
                  </a:schemeClr>
                </a:solidFill>
                <a:latin typeface="Century Gothic" panose="020B0502020202020204" pitchFamily="34" charset="0"/>
                <a:ea typeface="Cambria Math" panose="02040503050406030204" pitchFamily="18" charset="0"/>
              </a:rPr>
              <a:t>School of Systems and Technology</a:t>
            </a:r>
            <a:br>
              <a:rPr lang="en-US" sz="3200" dirty="0">
                <a:solidFill>
                  <a:schemeClr val="accent6">
                    <a:lumMod val="75000"/>
                  </a:schemeClr>
                </a:solidFill>
                <a:latin typeface="Comic Sans MS" panose="030F0702030302020204" pitchFamily="66" charset="0"/>
                <a:ea typeface="Cambria Math" panose="02040503050406030204" pitchFamily="18" charset="0"/>
              </a:rPr>
            </a:br>
            <a:br>
              <a:rPr lang="en-US" sz="3200" dirty="0">
                <a:solidFill>
                  <a:schemeClr val="accent6">
                    <a:lumMod val="75000"/>
                  </a:schemeClr>
                </a:solidFill>
                <a:latin typeface="Comic Sans MS" panose="030F0702030302020204" pitchFamily="66" charset="0"/>
                <a:ea typeface="Cambria Math" panose="02040503050406030204" pitchFamily="18" charset="0"/>
              </a:rPr>
            </a:br>
            <a:r>
              <a:rPr lang="en-US" sz="3200" dirty="0">
                <a:solidFill>
                  <a:schemeClr val="accent6">
                    <a:lumMod val="75000"/>
                  </a:schemeClr>
                </a:solidFill>
                <a:latin typeface="Comic Sans MS" panose="030F0702030302020204" pitchFamily="66" charset="0"/>
                <a:ea typeface="Cambria Math" panose="02040503050406030204" pitchFamily="18" charset="0"/>
              </a:rPr>
              <a:t>University of Management and Technology</a:t>
            </a:r>
            <a:br>
              <a:rPr lang="en-US" sz="3200" dirty="0">
                <a:solidFill>
                  <a:schemeClr val="accent6">
                    <a:lumMod val="75000"/>
                  </a:schemeClr>
                </a:solidFill>
                <a:latin typeface="Comic Sans MS" panose="030F0702030302020204" pitchFamily="66" charset="0"/>
                <a:ea typeface="Cambria Math" panose="02040503050406030204" pitchFamily="18" charset="0"/>
              </a:rPr>
            </a:br>
            <a:r>
              <a:rPr lang="en-US" sz="3200" dirty="0">
                <a:solidFill>
                  <a:schemeClr val="accent6">
                    <a:lumMod val="75000"/>
                  </a:schemeClr>
                </a:solidFill>
                <a:latin typeface="Comic Sans MS" panose="030F0702030302020204" pitchFamily="66" charset="0"/>
                <a:ea typeface="Cambria Math" panose="02040503050406030204" pitchFamily="18" charset="0"/>
              </a:rPr>
              <a:t>Lahore, Pakistan</a:t>
            </a:r>
          </a:p>
        </p:txBody>
      </p:sp>
      <p:pic>
        <p:nvPicPr>
          <p:cNvPr id="6" name="Picture 5">
            <a:extLst>
              <a:ext uri="{FF2B5EF4-FFF2-40B4-BE49-F238E27FC236}">
                <a16:creationId xmlns:a16="http://schemas.microsoft.com/office/drawing/2014/main" id="{C01BB6BA-659C-4C58-A7BC-E779ADA85127}"/>
              </a:ext>
            </a:extLst>
          </p:cNvPr>
          <p:cNvPicPr>
            <a:picLocks noChangeAspect="1"/>
          </p:cNvPicPr>
          <p:nvPr/>
        </p:nvPicPr>
        <p:blipFill>
          <a:blip r:embed="rId2"/>
          <a:stretch>
            <a:fillRect/>
          </a:stretch>
        </p:blipFill>
        <p:spPr>
          <a:xfrm>
            <a:off x="460375" y="223319"/>
            <a:ext cx="2220849" cy="2228277"/>
          </a:xfrm>
          <a:prstGeom prst="rect">
            <a:avLst/>
          </a:prstGeom>
        </p:spPr>
      </p:pic>
    </p:spTree>
    <p:extLst>
      <p:ext uri="{BB962C8B-B14F-4D97-AF65-F5344CB8AC3E}">
        <p14:creationId xmlns:p14="http://schemas.microsoft.com/office/powerpoint/2010/main" val="3815780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22F2B-2D78-EB56-E02E-F61CF209E0F3}"/>
              </a:ext>
            </a:extLst>
          </p:cNvPr>
          <p:cNvSpPr>
            <a:spLocks noGrp="1"/>
          </p:cNvSpPr>
          <p:nvPr>
            <p:ph type="title"/>
          </p:nvPr>
        </p:nvSpPr>
        <p:spPr>
          <a:xfrm>
            <a:off x="3316224" y="2336768"/>
            <a:ext cx="5559552" cy="2533075"/>
          </a:xfrm>
        </p:spPr>
        <p:txBody>
          <a:bodyPr>
            <a:normAutofit/>
          </a:bodyPr>
          <a:lstStyle/>
          <a:p>
            <a:r>
              <a:rPr lang="en-US" sz="4800" dirty="0">
                <a:latin typeface="Cambria Math" panose="02040503050406030204" pitchFamily="18" charset="0"/>
                <a:ea typeface="Cambria Math" panose="02040503050406030204" pitchFamily="18" charset="0"/>
              </a:rPr>
              <a:t>Chapter No. 9</a:t>
            </a:r>
            <a:br>
              <a:rPr lang="en-US" sz="4800" dirty="0">
                <a:latin typeface="Cambria Math" panose="02040503050406030204" pitchFamily="18" charset="0"/>
                <a:ea typeface="Cambria Math" panose="02040503050406030204" pitchFamily="18" charset="0"/>
              </a:rPr>
            </a:br>
            <a:r>
              <a:rPr lang="en-US" dirty="0">
                <a:latin typeface="Cambria Math" panose="02040503050406030204" pitchFamily="18" charset="0"/>
                <a:ea typeface="Cambria Math" panose="02040503050406030204" pitchFamily="18" charset="0"/>
              </a:rPr>
              <a:t> </a:t>
            </a:r>
            <a:br>
              <a:rPr lang="en-US" dirty="0">
                <a:latin typeface="Cambria Math" panose="02040503050406030204" pitchFamily="18" charset="0"/>
                <a:ea typeface="Cambria Math" panose="02040503050406030204" pitchFamily="18" charset="0"/>
              </a:rPr>
            </a:br>
            <a:r>
              <a:rPr lang="en-US" dirty="0">
                <a:latin typeface="Cambria Math" panose="02040503050406030204" pitchFamily="18" charset="0"/>
                <a:ea typeface="Cambria Math" panose="02040503050406030204" pitchFamily="18" charset="0"/>
              </a:rPr>
              <a:t>Relations</a:t>
            </a:r>
            <a:endParaRPr lang="en-PK"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787434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a:bodyPr>
          <a:lstStyle/>
          <a:p>
            <a:pPr algn="ctr"/>
            <a:r>
              <a:rPr lang="en-US" b="1" u="sng" dirty="0">
                <a:solidFill>
                  <a:srgbClr val="0070C0"/>
                </a:solidFill>
              </a:rPr>
              <a:t>ORDERED PAIR</a:t>
            </a:r>
          </a:p>
        </p:txBody>
      </p:sp>
      <p:sp>
        <p:nvSpPr>
          <p:cNvPr id="5" name="Slide Number Placeholder 5"/>
          <p:cNvSpPr>
            <a:spLocks noGrp="1"/>
          </p:cNvSpPr>
          <p:nvPr>
            <p:ph type="sldNum" sz="quarter" idx="12"/>
          </p:nvPr>
        </p:nvSpPr>
        <p:spPr/>
        <p:txBody>
          <a:bodyPr/>
          <a:lstStyle/>
          <a:p>
            <a:fld id="{51C95044-D182-4BAE-9152-421F005E817B}" type="slidenum">
              <a:rPr lang="en-US"/>
              <a:pPr/>
              <a:t>3</a:t>
            </a:fld>
            <a:endParaRPr lang="en-US"/>
          </a:p>
        </p:txBody>
      </p:sp>
      <p:sp>
        <p:nvSpPr>
          <p:cNvPr id="7171" name="Rectangle 3"/>
          <p:cNvSpPr>
            <a:spLocks noGrp="1" noChangeArrowheads="1"/>
          </p:cNvSpPr>
          <p:nvPr>
            <p:ph sz="quarter" idx="1"/>
          </p:nvPr>
        </p:nvSpPr>
        <p:spPr>
          <a:xfrm>
            <a:off x="1179576" y="1911096"/>
            <a:ext cx="9672200" cy="3859742"/>
          </a:xfrm>
        </p:spPr>
        <p:txBody>
          <a:bodyPr>
            <a:normAutofit/>
          </a:bodyPr>
          <a:lstStyle/>
          <a:p>
            <a:r>
              <a:rPr lang="en-US" dirty="0"/>
              <a:t>An ordered pair </a:t>
            </a:r>
            <a:r>
              <a:rPr lang="en-US" dirty="0">
                <a:solidFill>
                  <a:srgbClr val="FF0000"/>
                </a:solidFill>
              </a:rPr>
              <a:t>(a, b)</a:t>
            </a:r>
            <a:r>
              <a:rPr lang="en-US" dirty="0"/>
              <a:t> consists of two elements “</a:t>
            </a:r>
            <a:r>
              <a:rPr lang="en-US" dirty="0">
                <a:solidFill>
                  <a:srgbClr val="FF0000"/>
                </a:solidFill>
              </a:rPr>
              <a:t>a</a:t>
            </a:r>
            <a:r>
              <a:rPr lang="en-US" dirty="0"/>
              <a:t>” and “</a:t>
            </a:r>
            <a:r>
              <a:rPr lang="en-US" dirty="0">
                <a:solidFill>
                  <a:srgbClr val="FF0000"/>
                </a:solidFill>
              </a:rPr>
              <a:t>b</a:t>
            </a:r>
            <a:r>
              <a:rPr lang="en-US" dirty="0"/>
              <a:t>” in which “</a:t>
            </a:r>
            <a:r>
              <a:rPr lang="en-US" dirty="0">
                <a:solidFill>
                  <a:srgbClr val="FF0000"/>
                </a:solidFill>
              </a:rPr>
              <a:t>a</a:t>
            </a:r>
            <a:r>
              <a:rPr lang="en-US" dirty="0"/>
              <a:t>” is the </a:t>
            </a:r>
            <a:r>
              <a:rPr lang="en-US" dirty="0">
                <a:solidFill>
                  <a:srgbClr val="FF0000"/>
                </a:solidFill>
              </a:rPr>
              <a:t>first element</a:t>
            </a:r>
            <a:r>
              <a:rPr lang="en-US" dirty="0"/>
              <a:t> and “</a:t>
            </a:r>
            <a:r>
              <a:rPr lang="en-US" dirty="0">
                <a:solidFill>
                  <a:srgbClr val="FF0000"/>
                </a:solidFill>
              </a:rPr>
              <a:t>b</a:t>
            </a:r>
            <a:r>
              <a:rPr lang="en-US" dirty="0"/>
              <a:t>” is the </a:t>
            </a:r>
            <a:r>
              <a:rPr lang="en-US" dirty="0">
                <a:solidFill>
                  <a:srgbClr val="FF0000"/>
                </a:solidFill>
              </a:rPr>
              <a:t>second element</a:t>
            </a:r>
            <a:r>
              <a:rPr lang="en-US" dirty="0"/>
              <a:t>.</a:t>
            </a:r>
          </a:p>
          <a:p>
            <a:endParaRPr lang="en-US" dirty="0"/>
          </a:p>
          <a:p>
            <a:r>
              <a:rPr lang="en-US" dirty="0"/>
              <a:t>The ordered pairs </a:t>
            </a:r>
            <a:r>
              <a:rPr lang="en-US" dirty="0">
                <a:solidFill>
                  <a:srgbClr val="FF0000"/>
                </a:solidFill>
              </a:rPr>
              <a:t>(a, b)</a:t>
            </a:r>
            <a:r>
              <a:rPr lang="en-US" dirty="0"/>
              <a:t> and </a:t>
            </a:r>
            <a:r>
              <a:rPr lang="en-US" dirty="0">
                <a:solidFill>
                  <a:srgbClr val="FF0000"/>
                </a:solidFill>
              </a:rPr>
              <a:t>(c, d)</a:t>
            </a:r>
            <a:r>
              <a:rPr lang="en-US" dirty="0"/>
              <a:t> are </a:t>
            </a:r>
            <a:r>
              <a:rPr lang="en-US" dirty="0">
                <a:solidFill>
                  <a:srgbClr val="FF0000"/>
                </a:solidFill>
              </a:rPr>
              <a:t>equal</a:t>
            </a:r>
            <a:r>
              <a:rPr lang="en-US" dirty="0"/>
              <a:t> if, and only if, </a:t>
            </a:r>
          </a:p>
          <a:p>
            <a:pPr marL="0" indent="0">
              <a:buNone/>
            </a:pPr>
            <a:r>
              <a:rPr lang="en-US" dirty="0">
                <a:solidFill>
                  <a:srgbClr val="FF0000"/>
                </a:solidFill>
              </a:rPr>
              <a:t>a = c</a:t>
            </a:r>
            <a:r>
              <a:rPr lang="en-US" dirty="0"/>
              <a:t> and </a:t>
            </a:r>
            <a:r>
              <a:rPr lang="en-US" dirty="0">
                <a:solidFill>
                  <a:srgbClr val="FF0000"/>
                </a:solidFill>
              </a:rPr>
              <a:t>b = d</a:t>
            </a:r>
            <a:r>
              <a:rPr lang="en-US" dirty="0"/>
              <a:t>.</a:t>
            </a:r>
          </a:p>
          <a:p>
            <a:endParaRPr lang="en-US" dirty="0"/>
          </a:p>
          <a:p>
            <a:r>
              <a:rPr lang="en-US" dirty="0"/>
              <a:t>Note that </a:t>
            </a:r>
            <a:r>
              <a:rPr lang="en-US" dirty="0">
                <a:solidFill>
                  <a:srgbClr val="FF0000"/>
                </a:solidFill>
              </a:rPr>
              <a:t>(a, b)</a:t>
            </a:r>
            <a:r>
              <a:rPr lang="en-US" dirty="0"/>
              <a:t> and </a:t>
            </a:r>
            <a:r>
              <a:rPr lang="en-US" dirty="0">
                <a:solidFill>
                  <a:srgbClr val="FF0000"/>
                </a:solidFill>
              </a:rPr>
              <a:t>(b, a)</a:t>
            </a:r>
            <a:r>
              <a:rPr lang="en-US" dirty="0"/>
              <a:t> are </a:t>
            </a:r>
            <a:r>
              <a:rPr lang="en-US" dirty="0">
                <a:solidFill>
                  <a:srgbClr val="FF0000"/>
                </a:solidFill>
              </a:rPr>
              <a:t>not equal</a:t>
            </a:r>
            <a:r>
              <a:rPr lang="en-US" dirty="0"/>
              <a:t> unless </a:t>
            </a:r>
            <a:r>
              <a:rPr lang="en-US" dirty="0">
                <a:solidFill>
                  <a:srgbClr val="FF0000"/>
                </a:solidFill>
              </a:rPr>
              <a:t>a = b</a:t>
            </a:r>
            <a:r>
              <a:rPr lang="en-US" dirty="0"/>
              <a:t>.</a:t>
            </a:r>
          </a:p>
          <a:p>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fade">
                                      <p:cBhvr>
                                        <p:cTn id="7" dur="20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71">
                                            <p:txEl>
                                              <p:pRg st="2" end="2"/>
                                            </p:txEl>
                                          </p:spTgt>
                                        </p:tgtEl>
                                        <p:attrNameLst>
                                          <p:attrName>style.visibility</p:attrName>
                                        </p:attrNameLst>
                                      </p:cBhvr>
                                      <p:to>
                                        <p:strVal val="visible"/>
                                      </p:to>
                                    </p:set>
                                    <p:animEffect transition="in" filter="fade">
                                      <p:cBhvr>
                                        <p:cTn id="12" dur="2000"/>
                                        <p:tgtEl>
                                          <p:spTgt spid="71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171">
                                            <p:txEl>
                                              <p:pRg st="3" end="3"/>
                                            </p:txEl>
                                          </p:spTgt>
                                        </p:tgtEl>
                                        <p:attrNameLst>
                                          <p:attrName>style.visibility</p:attrName>
                                        </p:attrNameLst>
                                      </p:cBhvr>
                                      <p:to>
                                        <p:strVal val="visible"/>
                                      </p:to>
                                    </p:set>
                                    <p:animEffect transition="in" filter="fade">
                                      <p:cBhvr>
                                        <p:cTn id="17" dur="2000"/>
                                        <p:tgtEl>
                                          <p:spTgt spid="717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171">
                                            <p:txEl>
                                              <p:pRg st="5" end="5"/>
                                            </p:txEl>
                                          </p:spTgt>
                                        </p:tgtEl>
                                        <p:attrNameLst>
                                          <p:attrName>style.visibility</p:attrName>
                                        </p:attrNameLst>
                                      </p:cBhvr>
                                      <p:to>
                                        <p:strVal val="visible"/>
                                      </p:to>
                                    </p:set>
                                    <p:animEffect transition="in" filter="fade">
                                      <p:cBhvr>
                                        <p:cTn id="22" dur="2000"/>
                                        <p:tgtEl>
                                          <p:spTgt spid="71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72261" y="136525"/>
            <a:ext cx="10515600" cy="979581"/>
          </a:xfrm>
        </p:spPr>
        <p:txBody>
          <a:bodyPr>
            <a:normAutofit/>
          </a:bodyPr>
          <a:lstStyle/>
          <a:p>
            <a:pPr algn="ctr"/>
            <a:r>
              <a:rPr lang="en-US" b="1" u="sng" dirty="0">
                <a:solidFill>
                  <a:srgbClr val="0070C0"/>
                </a:solidFill>
              </a:rPr>
              <a:t>EXERCISE</a:t>
            </a:r>
          </a:p>
        </p:txBody>
      </p:sp>
      <p:sp>
        <p:nvSpPr>
          <p:cNvPr id="5" name="Slide Number Placeholder 5"/>
          <p:cNvSpPr>
            <a:spLocks noGrp="1"/>
          </p:cNvSpPr>
          <p:nvPr>
            <p:ph type="sldNum" sz="quarter" idx="12"/>
          </p:nvPr>
        </p:nvSpPr>
        <p:spPr/>
        <p:txBody>
          <a:bodyPr/>
          <a:lstStyle/>
          <a:p>
            <a:fld id="{CF4F35CA-D4F4-41A4-954A-F0C2B8818BFD}" type="slidenum">
              <a:rPr lang="en-US"/>
              <a:pPr/>
              <a:t>4</a:t>
            </a:fld>
            <a:endParaRPr lang="en-US"/>
          </a:p>
        </p:txBody>
      </p:sp>
      <p:sp>
        <p:nvSpPr>
          <p:cNvPr id="8195" name="Rectangle 3"/>
          <p:cNvSpPr>
            <a:spLocks noGrp="1" noChangeArrowheads="1"/>
          </p:cNvSpPr>
          <p:nvPr>
            <p:ph sz="quarter" idx="1"/>
          </p:nvPr>
        </p:nvSpPr>
        <p:spPr>
          <a:xfrm>
            <a:off x="1136276" y="1116293"/>
            <a:ext cx="9056595" cy="5105400"/>
          </a:xfrm>
        </p:spPr>
        <p:txBody>
          <a:bodyPr>
            <a:normAutofit/>
          </a:bodyPr>
          <a:lstStyle/>
          <a:p>
            <a:r>
              <a:rPr lang="en-US" sz="2400" dirty="0"/>
              <a:t>Find </a:t>
            </a:r>
            <a:r>
              <a:rPr lang="en-US" sz="2400" dirty="0">
                <a:solidFill>
                  <a:srgbClr val="FF0000"/>
                </a:solidFill>
              </a:rPr>
              <a:t>x</a:t>
            </a:r>
            <a:r>
              <a:rPr lang="en-US" sz="2400" dirty="0"/>
              <a:t> and </a:t>
            </a:r>
            <a:r>
              <a:rPr lang="en-US" sz="2400" dirty="0">
                <a:solidFill>
                  <a:srgbClr val="FF0000"/>
                </a:solidFill>
              </a:rPr>
              <a:t>y</a:t>
            </a:r>
            <a:r>
              <a:rPr lang="en-US" sz="2400" dirty="0"/>
              <a:t> given </a:t>
            </a:r>
            <a:r>
              <a:rPr lang="en-US" sz="2400" dirty="0">
                <a:solidFill>
                  <a:srgbClr val="FF0000"/>
                </a:solidFill>
              </a:rPr>
              <a:t>(2x, x + y) = (6, 2)</a:t>
            </a:r>
          </a:p>
          <a:p>
            <a:endParaRPr lang="en-US" sz="2400" dirty="0"/>
          </a:p>
          <a:p>
            <a:r>
              <a:rPr lang="en-US" sz="2400" b="1" u="sng" dirty="0">
                <a:solidFill>
                  <a:srgbClr val="0070C0"/>
                </a:solidFill>
                <a:latin typeface="+mj-lt"/>
                <a:ea typeface="+mj-ea"/>
                <a:cs typeface="+mj-cs"/>
              </a:rPr>
              <a:t>SOLUTION:</a:t>
            </a:r>
          </a:p>
          <a:p>
            <a:pPr>
              <a:buNone/>
            </a:pPr>
            <a:r>
              <a:rPr lang="en-US" sz="2400" dirty="0"/>
              <a:t>	</a:t>
            </a:r>
            <a:r>
              <a:rPr lang="en-US" sz="2400" dirty="0">
                <a:solidFill>
                  <a:srgbClr val="FF0000"/>
                </a:solidFill>
              </a:rPr>
              <a:t>Two ordered pairs</a:t>
            </a:r>
            <a:r>
              <a:rPr lang="en-US" sz="2400" dirty="0"/>
              <a:t> are </a:t>
            </a:r>
            <a:r>
              <a:rPr lang="en-US" sz="2400" dirty="0">
                <a:solidFill>
                  <a:srgbClr val="FF0000"/>
                </a:solidFill>
              </a:rPr>
              <a:t>equal</a:t>
            </a:r>
            <a:r>
              <a:rPr lang="en-US" sz="2400" dirty="0"/>
              <a:t> if and only if the corresponding </a:t>
            </a:r>
            <a:r>
              <a:rPr lang="en-US" sz="2400" dirty="0">
                <a:solidFill>
                  <a:srgbClr val="FF0000"/>
                </a:solidFill>
              </a:rPr>
              <a:t>components</a:t>
            </a:r>
            <a:r>
              <a:rPr lang="en-US" sz="2400" dirty="0"/>
              <a:t> are </a:t>
            </a:r>
            <a:r>
              <a:rPr lang="en-US" sz="2400" dirty="0">
                <a:solidFill>
                  <a:srgbClr val="FF0000"/>
                </a:solidFill>
              </a:rPr>
              <a:t>equal</a:t>
            </a:r>
            <a:r>
              <a:rPr lang="en-US" sz="2400" dirty="0"/>
              <a:t>. Hence, we obtain the equations:</a:t>
            </a:r>
          </a:p>
          <a:p>
            <a:pPr>
              <a:buNone/>
            </a:pPr>
            <a:r>
              <a:rPr lang="en-US" sz="2400" dirty="0"/>
              <a:t>			    	</a:t>
            </a:r>
            <a:r>
              <a:rPr lang="en-US" sz="2400" dirty="0">
                <a:solidFill>
                  <a:srgbClr val="FF0000"/>
                </a:solidFill>
              </a:rPr>
              <a:t>2x = 6</a:t>
            </a:r>
            <a:r>
              <a:rPr lang="en-US" sz="2400" dirty="0"/>
              <a:t> 	……………(1)</a:t>
            </a:r>
          </a:p>
          <a:p>
            <a:pPr>
              <a:buNone/>
            </a:pPr>
            <a:r>
              <a:rPr lang="en-US" sz="2400" dirty="0"/>
              <a:t>		and		</a:t>
            </a:r>
            <a:r>
              <a:rPr lang="en-US" sz="2400" dirty="0">
                <a:solidFill>
                  <a:srgbClr val="FF0000"/>
                </a:solidFill>
              </a:rPr>
              <a:t>x + y = 2</a:t>
            </a:r>
            <a:r>
              <a:rPr lang="en-US" sz="2400" dirty="0"/>
              <a:t>     ……………..(2)</a:t>
            </a:r>
          </a:p>
          <a:p>
            <a:pPr>
              <a:buNone/>
            </a:pPr>
            <a:r>
              <a:rPr lang="en-US" sz="2400" dirty="0"/>
              <a:t>	</a:t>
            </a:r>
          </a:p>
          <a:p>
            <a:pPr>
              <a:buNone/>
            </a:pPr>
            <a:r>
              <a:rPr lang="en-US" sz="2400" dirty="0"/>
              <a:t>	Solving equation (1) we get </a:t>
            </a:r>
            <a:r>
              <a:rPr lang="en-US" sz="2400" dirty="0">
                <a:solidFill>
                  <a:srgbClr val="FF0000"/>
                </a:solidFill>
              </a:rPr>
              <a:t>x = 3</a:t>
            </a:r>
            <a:r>
              <a:rPr lang="en-US" sz="2400" dirty="0"/>
              <a:t> and when substituted in (2) we get </a:t>
            </a:r>
            <a:r>
              <a:rPr lang="en-US" sz="2400" dirty="0">
                <a:solidFill>
                  <a:srgbClr val="FF0000"/>
                </a:solidFill>
              </a:rPr>
              <a:t>y = -1</a:t>
            </a:r>
            <a:r>
              <a:rPr lang="en-US" sz="2400" dirty="0"/>
              <a:t>.</a:t>
            </a:r>
          </a:p>
          <a:p>
            <a:endParaRPr lang="en-US" sz="2400" dirty="0"/>
          </a:p>
          <a:p>
            <a:pPr>
              <a:buNone/>
            </a:pPr>
            <a:endParaRPr lang="en-US" sz="2400" dirty="0"/>
          </a:p>
          <a:p>
            <a:endParaRPr lang="en-US" sz="2400" dirty="0"/>
          </a:p>
          <a:p>
            <a:pPr>
              <a:buNone/>
            </a:pPr>
            <a:endParaRPr lang="en-US" sz="24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19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002785" y="1652318"/>
            <a:ext cx="9454551" cy="2405332"/>
          </a:xfrm>
        </p:spPr>
        <p:txBody>
          <a:bodyPr>
            <a:normAutofit/>
          </a:bodyPr>
          <a:lstStyle/>
          <a:p>
            <a:pPr marL="514350" indent="-514350" algn="just">
              <a:spcBef>
                <a:spcPct val="50000"/>
              </a:spcBef>
              <a:buFont typeface="+mj-lt"/>
              <a:buAutoNum type="arabicPeriod"/>
            </a:pPr>
            <a:r>
              <a:rPr lang="en-US" altLang="en-US" dirty="0">
                <a:latin typeface="Cambria Math" panose="02040503050406030204" pitchFamily="18" charset="0"/>
                <a:ea typeface="Cambria Math" panose="02040503050406030204" pitchFamily="18" charset="0"/>
              </a:rPr>
              <a:t>Find x and y given (</a:t>
            </a:r>
            <a:r>
              <a:rPr lang="en-US" dirty="0">
                <a:latin typeface="Cambria Math" panose="02040503050406030204" pitchFamily="18" charset="0"/>
                <a:ea typeface="Cambria Math" panose="02040503050406030204" pitchFamily="18" charset="0"/>
              </a:rPr>
              <a:t>x</a:t>
            </a:r>
            <a:r>
              <a:rPr lang="en-US" baseline="30000" dirty="0">
                <a:latin typeface="Cambria Math" panose="02040503050406030204" pitchFamily="18" charset="0"/>
                <a:ea typeface="Cambria Math" panose="02040503050406030204" pitchFamily="18" charset="0"/>
              </a:rPr>
              <a:t>2</a:t>
            </a:r>
            <a:r>
              <a:rPr lang="en-US" altLang="en-US" dirty="0">
                <a:latin typeface="Cambria Math" panose="02040503050406030204" pitchFamily="18" charset="0"/>
                <a:ea typeface="Cambria Math" panose="02040503050406030204" pitchFamily="18" charset="0"/>
              </a:rPr>
              <a:t> – 5x, 7) = (6, y</a:t>
            </a:r>
            <a:r>
              <a:rPr lang="en-US" baseline="30000" dirty="0">
                <a:latin typeface="Cambria Math" panose="02040503050406030204" pitchFamily="18" charset="0"/>
                <a:ea typeface="Cambria Math" panose="02040503050406030204" pitchFamily="18" charset="0"/>
              </a:rPr>
              <a:t>2 </a:t>
            </a:r>
            <a:r>
              <a:rPr lang="en-US" altLang="en-US" dirty="0">
                <a:latin typeface="Cambria Math" panose="02040503050406030204" pitchFamily="18" charset="0"/>
                <a:ea typeface="Cambria Math" panose="02040503050406030204" pitchFamily="18" charset="0"/>
              </a:rPr>
              <a:t>- 6y)</a:t>
            </a:r>
          </a:p>
          <a:p>
            <a:pPr marL="514350" indent="-514350" algn="just">
              <a:spcBef>
                <a:spcPct val="50000"/>
              </a:spcBef>
              <a:buFont typeface="+mj-lt"/>
              <a:buAutoNum type="arabicPeriod"/>
            </a:pPr>
            <a:r>
              <a:rPr lang="en-US" dirty="0">
                <a:latin typeface="Cambria Math" panose="02040503050406030204" pitchFamily="18" charset="0"/>
                <a:ea typeface="Cambria Math" panose="02040503050406030204" pitchFamily="18" charset="0"/>
              </a:rPr>
              <a:t>Find x and y, if (2x - 3, y + 1) = (x + 5, 7) </a:t>
            </a:r>
          </a:p>
          <a:p>
            <a:pPr marL="514350" indent="-514350" algn="just">
              <a:spcBef>
                <a:spcPct val="50000"/>
              </a:spcBef>
              <a:buFont typeface="+mj-lt"/>
              <a:buAutoNum type="arabicPeriod"/>
            </a:pPr>
            <a:r>
              <a:rPr lang="en-US" dirty="0">
                <a:latin typeface="Cambria Math" panose="02040503050406030204" pitchFamily="18" charset="0"/>
                <a:ea typeface="Cambria Math" panose="02040503050406030204" pitchFamily="18" charset="0"/>
              </a:rPr>
              <a:t>Given (x - 3, y + 2) = (4, 5), find x and y.</a:t>
            </a:r>
          </a:p>
          <a:p>
            <a:pPr marL="514350" indent="-514350" algn="just">
              <a:spcBef>
                <a:spcPct val="50000"/>
              </a:spcBef>
              <a:buFont typeface="+mj-lt"/>
              <a:buAutoNum type="arabicPeriod"/>
            </a:pPr>
            <a:endParaRPr lang="en-US" altLang="en-US" dirty="0">
              <a:latin typeface="Cambria Math" panose="02040503050406030204" pitchFamily="18" charset="0"/>
              <a:ea typeface="Cambria Math" panose="02040503050406030204" pitchFamily="18" charset="0"/>
            </a:endParaRPr>
          </a:p>
          <a:p>
            <a:pPr algn="just">
              <a:spcBef>
                <a:spcPct val="50000"/>
              </a:spcBef>
              <a:buFont typeface="Wingdings" panose="05000000000000000000" pitchFamily="2" charset="2"/>
              <a:buChar char="Ø"/>
            </a:pPr>
            <a:endParaRPr lang="en-US" altLang="en-US" dirty="0">
              <a:latin typeface="Cambria Math" panose="02040503050406030204" pitchFamily="18" charset="0"/>
              <a:ea typeface="Cambria Math" panose="02040503050406030204" pitchFamily="18" charset="0"/>
            </a:endParaRPr>
          </a:p>
        </p:txBody>
      </p:sp>
      <p:sp>
        <p:nvSpPr>
          <p:cNvPr id="4" name="Rectangle 2">
            <a:extLst>
              <a:ext uri="{FF2B5EF4-FFF2-40B4-BE49-F238E27FC236}">
                <a16:creationId xmlns:a16="http://schemas.microsoft.com/office/drawing/2014/main" id="{D9BF11D7-2D23-47EF-A5EA-4DCAA0ACACC7}"/>
              </a:ext>
            </a:extLst>
          </p:cNvPr>
          <p:cNvSpPr txBox="1">
            <a:spLocks noChangeArrowheads="1"/>
          </p:cNvSpPr>
          <p:nvPr/>
        </p:nvSpPr>
        <p:spPr>
          <a:xfrm>
            <a:off x="472261" y="136525"/>
            <a:ext cx="10515600" cy="979581"/>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dirty="0">
                <a:solidFill>
                  <a:srgbClr val="0070C0"/>
                </a:solidFill>
              </a:rPr>
              <a:t>Ordered Pairs ………. Practice Questions</a:t>
            </a:r>
          </a:p>
        </p:txBody>
      </p:sp>
    </p:spTree>
    <p:extLst>
      <p:ext uri="{BB962C8B-B14F-4D97-AF65-F5344CB8AC3E}">
        <p14:creationId xmlns:p14="http://schemas.microsoft.com/office/powerpoint/2010/main" val="1153892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ORDERED n-TUPLE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a:t>
            </a:fld>
            <a:endParaRPr lang="en-US"/>
          </a:p>
        </p:txBody>
      </p:sp>
      <p:sp>
        <p:nvSpPr>
          <p:cNvPr id="4" name="Content Placeholder 3"/>
          <p:cNvSpPr>
            <a:spLocks noGrp="1"/>
          </p:cNvSpPr>
          <p:nvPr>
            <p:ph sz="quarter" idx="1"/>
          </p:nvPr>
        </p:nvSpPr>
        <p:spPr>
          <a:xfrm>
            <a:off x="742188" y="1545971"/>
            <a:ext cx="10707624" cy="4946904"/>
          </a:xfrm>
        </p:spPr>
        <p:txBody>
          <a:bodyPr>
            <a:noAutofit/>
          </a:bodyPr>
          <a:lstStyle/>
          <a:p>
            <a:r>
              <a:rPr lang="en-US" sz="2400" dirty="0"/>
              <a:t>The ordered n-</a:t>
            </a:r>
            <a:r>
              <a:rPr lang="en-US" sz="2400" dirty="0" err="1"/>
              <a:t>tuple</a:t>
            </a:r>
            <a:r>
              <a:rPr lang="en-US" sz="2400" dirty="0"/>
              <a:t>, (</a:t>
            </a:r>
            <a:r>
              <a:rPr lang="en-US" sz="2400" dirty="0">
                <a:solidFill>
                  <a:srgbClr val="FF0000"/>
                </a:solidFill>
              </a:rPr>
              <a:t>a</a:t>
            </a:r>
            <a:r>
              <a:rPr lang="en-US" sz="2400" baseline="-25000" dirty="0">
                <a:solidFill>
                  <a:srgbClr val="FF0000"/>
                </a:solidFill>
              </a:rPr>
              <a:t>1</a:t>
            </a:r>
            <a:r>
              <a:rPr lang="en-US" sz="2400" dirty="0">
                <a:solidFill>
                  <a:srgbClr val="FF0000"/>
                </a:solidFill>
              </a:rPr>
              <a:t>, a</a:t>
            </a:r>
            <a:r>
              <a:rPr lang="en-US" sz="2400" baseline="-25000" dirty="0">
                <a:solidFill>
                  <a:srgbClr val="FF0000"/>
                </a:solidFill>
              </a:rPr>
              <a:t>2</a:t>
            </a:r>
            <a:r>
              <a:rPr lang="en-US" sz="2400" dirty="0">
                <a:solidFill>
                  <a:srgbClr val="FF0000"/>
                </a:solidFill>
              </a:rPr>
              <a:t>, …, a</a:t>
            </a:r>
            <a:r>
              <a:rPr lang="en-US" sz="2400" baseline="-25000" dirty="0">
                <a:solidFill>
                  <a:srgbClr val="FF0000"/>
                </a:solidFill>
              </a:rPr>
              <a:t>n</a:t>
            </a:r>
            <a:r>
              <a:rPr lang="en-US" sz="2400" dirty="0"/>
              <a:t>) consists of elements </a:t>
            </a:r>
            <a:r>
              <a:rPr lang="en-US" sz="2400" dirty="0">
                <a:solidFill>
                  <a:srgbClr val="FF0000"/>
                </a:solidFill>
              </a:rPr>
              <a:t>a</a:t>
            </a:r>
            <a:r>
              <a:rPr lang="en-US" sz="2400" baseline="-25000" dirty="0">
                <a:solidFill>
                  <a:srgbClr val="FF0000"/>
                </a:solidFill>
              </a:rPr>
              <a:t>1</a:t>
            </a:r>
            <a:r>
              <a:rPr lang="en-US" sz="2400" dirty="0"/>
              <a:t>, </a:t>
            </a:r>
            <a:r>
              <a:rPr lang="en-US" sz="2400" dirty="0">
                <a:solidFill>
                  <a:srgbClr val="FF0000"/>
                </a:solidFill>
              </a:rPr>
              <a:t>a</a:t>
            </a:r>
            <a:r>
              <a:rPr lang="en-US" sz="2400" baseline="-25000" dirty="0">
                <a:solidFill>
                  <a:srgbClr val="FF0000"/>
                </a:solidFill>
              </a:rPr>
              <a:t>2</a:t>
            </a:r>
            <a:r>
              <a:rPr lang="en-US" sz="2400" dirty="0">
                <a:solidFill>
                  <a:srgbClr val="FF0000"/>
                </a:solidFill>
              </a:rPr>
              <a:t>, ..a</a:t>
            </a:r>
            <a:r>
              <a:rPr lang="en-US" sz="2400" baseline="-25000" dirty="0">
                <a:solidFill>
                  <a:srgbClr val="FF0000"/>
                </a:solidFill>
              </a:rPr>
              <a:t>n</a:t>
            </a:r>
            <a:r>
              <a:rPr lang="en-US" sz="2400" dirty="0"/>
              <a:t> together with the ordering: first </a:t>
            </a:r>
            <a:r>
              <a:rPr lang="en-US" sz="2400" dirty="0">
                <a:solidFill>
                  <a:srgbClr val="FF0000"/>
                </a:solidFill>
              </a:rPr>
              <a:t>a</a:t>
            </a:r>
            <a:r>
              <a:rPr lang="en-US" sz="2400" baseline="-25000" dirty="0">
                <a:solidFill>
                  <a:srgbClr val="FF0000"/>
                </a:solidFill>
              </a:rPr>
              <a:t>1</a:t>
            </a:r>
            <a:r>
              <a:rPr lang="en-US" sz="2400" dirty="0"/>
              <a:t>, second </a:t>
            </a:r>
            <a:r>
              <a:rPr lang="en-US" sz="2400" dirty="0">
                <a:solidFill>
                  <a:srgbClr val="FF0000"/>
                </a:solidFill>
              </a:rPr>
              <a:t>a</a:t>
            </a:r>
            <a:r>
              <a:rPr lang="en-US" sz="2400" baseline="-25000" dirty="0">
                <a:solidFill>
                  <a:srgbClr val="FF0000"/>
                </a:solidFill>
              </a:rPr>
              <a:t>2</a:t>
            </a:r>
            <a:r>
              <a:rPr lang="en-US" sz="2400" dirty="0"/>
              <a:t>, and so forth up to </a:t>
            </a:r>
            <a:r>
              <a:rPr lang="en-US" sz="2400" dirty="0">
                <a:solidFill>
                  <a:srgbClr val="FF0000"/>
                </a:solidFill>
              </a:rPr>
              <a:t>a</a:t>
            </a:r>
            <a:r>
              <a:rPr lang="en-US" sz="2400" baseline="-25000" dirty="0">
                <a:solidFill>
                  <a:srgbClr val="FF0000"/>
                </a:solidFill>
              </a:rPr>
              <a:t>n</a:t>
            </a:r>
            <a:r>
              <a:rPr lang="en-US" sz="2400" dirty="0"/>
              <a:t>. </a:t>
            </a:r>
          </a:p>
          <a:p>
            <a:endParaRPr lang="en-US" sz="2400" dirty="0"/>
          </a:p>
          <a:p>
            <a:r>
              <a:rPr lang="en-US" sz="2400" dirty="0"/>
              <a:t>In particular, an </a:t>
            </a:r>
            <a:r>
              <a:rPr lang="en-US" sz="2400" dirty="0">
                <a:solidFill>
                  <a:srgbClr val="FF0000"/>
                </a:solidFill>
              </a:rPr>
              <a:t>ordered 2-tuple</a:t>
            </a:r>
            <a:r>
              <a:rPr lang="en-US" sz="2400" dirty="0"/>
              <a:t> is called an </a:t>
            </a:r>
            <a:r>
              <a:rPr lang="en-US" sz="2400" dirty="0">
                <a:solidFill>
                  <a:srgbClr val="FF0000"/>
                </a:solidFill>
              </a:rPr>
              <a:t>ordered pair</a:t>
            </a:r>
            <a:r>
              <a:rPr lang="en-US" sz="2400" dirty="0"/>
              <a:t>, and an </a:t>
            </a:r>
            <a:r>
              <a:rPr lang="en-US" sz="2400" dirty="0">
                <a:solidFill>
                  <a:srgbClr val="FF0000"/>
                </a:solidFill>
              </a:rPr>
              <a:t>ordered 3-tuple</a:t>
            </a:r>
            <a:r>
              <a:rPr lang="en-US" sz="2400" dirty="0"/>
              <a:t> is called an </a:t>
            </a:r>
            <a:r>
              <a:rPr lang="en-US" sz="2400" dirty="0">
                <a:solidFill>
                  <a:srgbClr val="FF0000"/>
                </a:solidFill>
              </a:rPr>
              <a:t>ordered triple</a:t>
            </a:r>
            <a:r>
              <a:rPr lang="en-US" sz="2400" dirty="0"/>
              <a:t>.</a:t>
            </a:r>
          </a:p>
          <a:p>
            <a:endParaRPr lang="en-US" sz="2400" dirty="0"/>
          </a:p>
          <a:p>
            <a:r>
              <a:rPr lang="en-US" sz="2400" dirty="0"/>
              <a:t>Two </a:t>
            </a:r>
            <a:r>
              <a:rPr lang="en-US" sz="2400" dirty="0">
                <a:solidFill>
                  <a:srgbClr val="FF0000"/>
                </a:solidFill>
              </a:rPr>
              <a:t>ordered n-</a:t>
            </a:r>
            <a:r>
              <a:rPr lang="en-US" sz="2400" dirty="0" err="1">
                <a:solidFill>
                  <a:srgbClr val="FF0000"/>
                </a:solidFill>
              </a:rPr>
              <a:t>tuples</a:t>
            </a:r>
            <a:r>
              <a:rPr lang="en-US" sz="2400" dirty="0"/>
              <a:t> (a</a:t>
            </a:r>
            <a:r>
              <a:rPr lang="en-US" sz="2400" baseline="-25000" dirty="0"/>
              <a:t>1</a:t>
            </a:r>
            <a:r>
              <a:rPr lang="en-US" sz="2400" dirty="0"/>
              <a:t>, a</a:t>
            </a:r>
            <a:r>
              <a:rPr lang="en-US" sz="2400" baseline="-25000" dirty="0"/>
              <a:t>2</a:t>
            </a:r>
            <a:r>
              <a:rPr lang="en-US" sz="2400" dirty="0"/>
              <a:t>, …, a</a:t>
            </a:r>
            <a:r>
              <a:rPr lang="en-US" sz="2400" baseline="-25000" dirty="0"/>
              <a:t>n</a:t>
            </a:r>
            <a:r>
              <a:rPr lang="en-US" sz="2400" dirty="0"/>
              <a:t>) and (b</a:t>
            </a:r>
            <a:r>
              <a:rPr lang="en-US" sz="2400" baseline="-25000" dirty="0"/>
              <a:t>1</a:t>
            </a:r>
            <a:r>
              <a:rPr lang="en-US" sz="2400" dirty="0"/>
              <a:t>, b</a:t>
            </a:r>
            <a:r>
              <a:rPr lang="en-US" sz="2400" baseline="-25000" dirty="0"/>
              <a:t>2</a:t>
            </a:r>
            <a:r>
              <a:rPr lang="en-US" sz="2400" dirty="0"/>
              <a:t>, …, </a:t>
            </a:r>
            <a:r>
              <a:rPr lang="en-US" sz="2400" dirty="0" err="1"/>
              <a:t>b</a:t>
            </a:r>
            <a:r>
              <a:rPr lang="en-US" sz="2400" baseline="-25000" dirty="0" err="1"/>
              <a:t>n</a:t>
            </a:r>
            <a:r>
              <a:rPr lang="en-US" sz="2400" dirty="0"/>
              <a:t>) are </a:t>
            </a:r>
            <a:r>
              <a:rPr lang="en-US" sz="2400" dirty="0">
                <a:solidFill>
                  <a:srgbClr val="FF0000"/>
                </a:solidFill>
              </a:rPr>
              <a:t>equal</a:t>
            </a:r>
            <a:r>
              <a:rPr lang="en-US" sz="2400" dirty="0"/>
              <a:t> if and only if each corresponding pair of their elements is equal, i.e., </a:t>
            </a:r>
            <a:r>
              <a:rPr lang="en-US" sz="2400" dirty="0" err="1">
                <a:solidFill>
                  <a:srgbClr val="FF0000"/>
                </a:solidFill>
              </a:rPr>
              <a:t>a</a:t>
            </a:r>
            <a:r>
              <a:rPr lang="en-US" sz="2400" baseline="-25000" dirty="0" err="1">
                <a:solidFill>
                  <a:srgbClr val="FF0000"/>
                </a:solidFill>
              </a:rPr>
              <a:t>i</a:t>
            </a:r>
            <a:r>
              <a:rPr lang="en-US" sz="2400" dirty="0">
                <a:solidFill>
                  <a:srgbClr val="FF0000"/>
                </a:solidFill>
              </a:rPr>
              <a:t> = </a:t>
            </a:r>
            <a:r>
              <a:rPr lang="en-US" sz="2400" dirty="0" err="1">
                <a:solidFill>
                  <a:srgbClr val="FF0000"/>
                </a:solidFill>
              </a:rPr>
              <a:t>b</a:t>
            </a:r>
            <a:r>
              <a:rPr lang="en-US" sz="2400" baseline="-25000" dirty="0" err="1">
                <a:solidFill>
                  <a:srgbClr val="FF0000"/>
                </a:solidFill>
              </a:rPr>
              <a:t>j</a:t>
            </a:r>
            <a:r>
              <a:rPr lang="en-US" sz="2400" dirty="0"/>
              <a:t>, for all </a:t>
            </a:r>
            <a:r>
              <a:rPr lang="en-US" sz="2400" dirty="0" err="1"/>
              <a:t>i</a:t>
            </a:r>
            <a:r>
              <a:rPr lang="en-US" sz="2400" dirty="0"/>
              <a:t> = 1, 2, …, n.</a:t>
            </a:r>
          </a:p>
          <a:p>
            <a:endParaRPr lang="en-US" sz="2400" dirty="0">
              <a:sym typeface="Symbol"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CARTESIAN PRODUCT OF TWO SETS</a:t>
            </a:r>
          </a:p>
        </p:txBody>
      </p:sp>
      <p:sp>
        <p:nvSpPr>
          <p:cNvPr id="3" name="Slide Number Placeholder 2"/>
          <p:cNvSpPr>
            <a:spLocks noGrp="1"/>
          </p:cNvSpPr>
          <p:nvPr>
            <p:ph type="sldNum" sz="quarter" idx="12"/>
          </p:nvPr>
        </p:nvSpPr>
        <p:spPr/>
        <p:txBody>
          <a:bodyPr/>
          <a:lstStyle/>
          <a:p>
            <a:fld id="{25E19944-04AC-4CD8-BA69-63C2A678C21A}" type="slidenum">
              <a:rPr lang="en-US" smtClean="0"/>
              <a:pPr/>
              <a:t>7</a:t>
            </a:fld>
            <a:endParaRPr lang="en-US"/>
          </a:p>
        </p:txBody>
      </p:sp>
      <p:sp>
        <p:nvSpPr>
          <p:cNvPr id="4" name="Content Placeholder 3"/>
          <p:cNvSpPr>
            <a:spLocks noGrp="1"/>
          </p:cNvSpPr>
          <p:nvPr>
            <p:ph sz="quarter" idx="1"/>
          </p:nvPr>
        </p:nvSpPr>
        <p:spPr>
          <a:xfrm>
            <a:off x="1277471" y="1545971"/>
            <a:ext cx="9265023" cy="4810379"/>
          </a:xfrm>
        </p:spPr>
        <p:txBody>
          <a:bodyPr>
            <a:normAutofit/>
          </a:bodyPr>
          <a:lstStyle/>
          <a:p>
            <a:r>
              <a:rPr lang="en-US" sz="2400" dirty="0"/>
              <a:t>Let </a:t>
            </a:r>
            <a:r>
              <a:rPr lang="en-US" sz="2400" dirty="0">
                <a:solidFill>
                  <a:srgbClr val="FF0000"/>
                </a:solidFill>
              </a:rPr>
              <a:t>A</a:t>
            </a:r>
            <a:r>
              <a:rPr lang="en-US" sz="2400" dirty="0"/>
              <a:t> and </a:t>
            </a:r>
            <a:r>
              <a:rPr lang="en-US" sz="2400" dirty="0">
                <a:solidFill>
                  <a:srgbClr val="FF0000"/>
                </a:solidFill>
              </a:rPr>
              <a:t>B</a:t>
            </a:r>
            <a:r>
              <a:rPr lang="en-US" sz="2400" dirty="0"/>
              <a:t> be sets. The </a:t>
            </a:r>
            <a:r>
              <a:rPr lang="en-US" sz="2400" dirty="0">
                <a:solidFill>
                  <a:srgbClr val="FF0000"/>
                </a:solidFill>
              </a:rPr>
              <a:t>Cartesian product</a:t>
            </a:r>
            <a:r>
              <a:rPr lang="en-US" sz="2400" dirty="0"/>
              <a:t> of A and B, denoted </a:t>
            </a:r>
            <a:r>
              <a:rPr lang="en-US" sz="2400" dirty="0">
                <a:solidFill>
                  <a:srgbClr val="FF0000"/>
                </a:solidFill>
              </a:rPr>
              <a:t>A </a:t>
            </a:r>
            <a:r>
              <a:rPr lang="en-US" sz="2400" dirty="0">
                <a:solidFill>
                  <a:srgbClr val="FF0000"/>
                </a:solidFill>
                <a:sym typeface="Symbol"/>
              </a:rPr>
              <a:t></a:t>
            </a:r>
            <a:r>
              <a:rPr lang="en-US" sz="2400" dirty="0">
                <a:solidFill>
                  <a:srgbClr val="FF0000"/>
                </a:solidFill>
              </a:rPr>
              <a:t> B</a:t>
            </a:r>
            <a:r>
              <a:rPr lang="en-US" sz="2400" dirty="0"/>
              <a:t> (read  “</a:t>
            </a:r>
            <a:r>
              <a:rPr lang="en-US" sz="2400" dirty="0">
                <a:solidFill>
                  <a:srgbClr val="FF0000"/>
                </a:solidFill>
              </a:rPr>
              <a:t>A cross B</a:t>
            </a:r>
            <a:r>
              <a:rPr lang="en-US" sz="2400" dirty="0"/>
              <a:t>”) is the set of all ordered pairs </a:t>
            </a:r>
            <a:r>
              <a:rPr lang="en-US" sz="2400" dirty="0">
                <a:solidFill>
                  <a:srgbClr val="FF0000"/>
                </a:solidFill>
              </a:rPr>
              <a:t>(a, b)</a:t>
            </a:r>
            <a:r>
              <a:rPr lang="en-US" sz="2400" dirty="0"/>
              <a:t>, where a is in A and b is in B.</a:t>
            </a:r>
          </a:p>
          <a:p>
            <a:endParaRPr lang="en-US" sz="2400" dirty="0"/>
          </a:p>
          <a:p>
            <a:r>
              <a:rPr lang="en-US" sz="2400" dirty="0"/>
              <a:t>Symbolically:</a:t>
            </a:r>
          </a:p>
          <a:p>
            <a:pPr>
              <a:buNone/>
            </a:pPr>
            <a:r>
              <a:rPr lang="en-US" sz="2400" dirty="0"/>
              <a:t>			</a:t>
            </a:r>
            <a:r>
              <a:rPr lang="en-US" sz="2400" dirty="0">
                <a:solidFill>
                  <a:srgbClr val="FF0000"/>
                </a:solidFill>
              </a:rPr>
              <a:t>A </a:t>
            </a:r>
            <a:r>
              <a:rPr lang="en-US" sz="2400" dirty="0">
                <a:solidFill>
                  <a:srgbClr val="FF0000"/>
                </a:solidFill>
                <a:sym typeface="Symbol"/>
              </a:rPr>
              <a:t></a:t>
            </a:r>
            <a:r>
              <a:rPr lang="en-US" sz="2400" dirty="0">
                <a:solidFill>
                  <a:srgbClr val="FF0000"/>
                </a:solidFill>
              </a:rPr>
              <a:t>B = {(a, b)| a </a:t>
            </a:r>
            <a:r>
              <a:rPr lang="en-US" sz="2400" dirty="0">
                <a:solidFill>
                  <a:srgbClr val="FF0000"/>
                </a:solidFill>
                <a:sym typeface="Symbol"/>
              </a:rPr>
              <a:t></a:t>
            </a:r>
            <a:r>
              <a:rPr lang="en-US" sz="2400" dirty="0">
                <a:solidFill>
                  <a:srgbClr val="FF0000"/>
                </a:solidFill>
              </a:rPr>
              <a:t> A and b </a:t>
            </a:r>
            <a:r>
              <a:rPr lang="en-US" sz="2400" dirty="0">
                <a:solidFill>
                  <a:srgbClr val="FF0000"/>
                </a:solidFill>
                <a:sym typeface="Symbol"/>
              </a:rPr>
              <a:t></a:t>
            </a:r>
            <a:r>
              <a:rPr lang="en-US" sz="2400" dirty="0">
                <a:solidFill>
                  <a:srgbClr val="FF0000"/>
                </a:solidFill>
              </a:rPr>
              <a:t> B}</a:t>
            </a:r>
          </a:p>
          <a:p>
            <a:pPr>
              <a:buNone/>
            </a:pPr>
            <a:endParaRPr lang="en-US" sz="2400" dirty="0"/>
          </a:p>
          <a:p>
            <a:r>
              <a:rPr lang="en-US" sz="2400" b="1" u="sng" dirty="0">
                <a:solidFill>
                  <a:srgbClr val="0070C0"/>
                </a:solidFill>
                <a:latin typeface="+mj-lt"/>
                <a:ea typeface="+mj-ea"/>
                <a:cs typeface="+mj-cs"/>
              </a:rPr>
              <a:t>NOTE</a:t>
            </a:r>
          </a:p>
          <a:p>
            <a:pPr>
              <a:buNone/>
            </a:pPr>
            <a:r>
              <a:rPr lang="en-US" sz="2400" dirty="0"/>
              <a:t>	If set </a:t>
            </a:r>
            <a:r>
              <a:rPr lang="en-US" sz="2400" dirty="0">
                <a:solidFill>
                  <a:srgbClr val="FF0000"/>
                </a:solidFill>
              </a:rPr>
              <a:t>A</a:t>
            </a:r>
            <a:r>
              <a:rPr lang="en-US" sz="2400" dirty="0"/>
              <a:t> has </a:t>
            </a:r>
            <a:r>
              <a:rPr lang="en-US" sz="2400" b="1" i="1" dirty="0">
                <a:solidFill>
                  <a:srgbClr val="FF0000"/>
                </a:solidFill>
              </a:rPr>
              <a:t>m</a:t>
            </a:r>
            <a:r>
              <a:rPr lang="en-US" sz="2400" dirty="0"/>
              <a:t> elements and set </a:t>
            </a:r>
            <a:r>
              <a:rPr lang="en-US" sz="2400" dirty="0">
                <a:solidFill>
                  <a:srgbClr val="FF0000"/>
                </a:solidFill>
              </a:rPr>
              <a:t>B</a:t>
            </a:r>
            <a:r>
              <a:rPr lang="en-US" sz="2400" dirty="0"/>
              <a:t> has </a:t>
            </a:r>
            <a:r>
              <a:rPr lang="en-US" sz="2400" b="1" i="1" dirty="0">
                <a:solidFill>
                  <a:srgbClr val="FF0000"/>
                </a:solidFill>
              </a:rPr>
              <a:t>n</a:t>
            </a:r>
            <a:r>
              <a:rPr lang="en-US" sz="2400" dirty="0"/>
              <a:t> elements then 			</a:t>
            </a:r>
            <a:r>
              <a:rPr lang="en-US" sz="2400" dirty="0">
                <a:solidFill>
                  <a:srgbClr val="FF0000"/>
                </a:solidFill>
              </a:rPr>
              <a:t>A </a:t>
            </a:r>
            <a:r>
              <a:rPr lang="en-US" sz="2400" dirty="0">
                <a:solidFill>
                  <a:srgbClr val="FF0000"/>
                </a:solidFill>
                <a:sym typeface="Symbol"/>
              </a:rPr>
              <a:t> </a:t>
            </a:r>
            <a:r>
              <a:rPr lang="en-US" sz="2400" dirty="0">
                <a:solidFill>
                  <a:srgbClr val="FF0000"/>
                </a:solidFill>
              </a:rPr>
              <a:t>B</a:t>
            </a:r>
            <a:r>
              <a:rPr lang="en-US" sz="2400" dirty="0"/>
              <a:t> has </a:t>
            </a:r>
            <a:r>
              <a:rPr lang="en-US" sz="2400" b="1" i="1" dirty="0">
                <a:solidFill>
                  <a:srgbClr val="FF0000"/>
                </a:solidFill>
              </a:rPr>
              <a:t>m</a:t>
            </a:r>
            <a:r>
              <a:rPr lang="en-US" sz="2400" dirty="0">
                <a:solidFill>
                  <a:srgbClr val="FF0000"/>
                </a:solidFill>
              </a:rPr>
              <a:t> </a:t>
            </a:r>
            <a:r>
              <a:rPr lang="en-US" sz="2400" dirty="0">
                <a:solidFill>
                  <a:srgbClr val="FF0000"/>
                </a:solidFill>
                <a:sym typeface="Symbol"/>
              </a:rPr>
              <a:t></a:t>
            </a:r>
            <a:r>
              <a:rPr lang="en-US" sz="2400" b="1" i="1" dirty="0">
                <a:solidFill>
                  <a:srgbClr val="FF0000"/>
                </a:solidFill>
              </a:rPr>
              <a:t> n</a:t>
            </a:r>
            <a:r>
              <a:rPr lang="en-US" sz="2400" dirty="0"/>
              <a:t> elements.</a:t>
            </a:r>
          </a:p>
          <a:p>
            <a:endParaRPr lang="en-US" sz="2400" dirty="0"/>
          </a:p>
          <a:p>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496" y="1495963"/>
            <a:ext cx="10698851" cy="4539711"/>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p:spPr>
      </p:pic>
      <p:sp>
        <p:nvSpPr>
          <p:cNvPr id="4" name="Title 1">
            <a:extLst>
              <a:ext uri="{FF2B5EF4-FFF2-40B4-BE49-F238E27FC236}">
                <a16:creationId xmlns:a16="http://schemas.microsoft.com/office/drawing/2014/main" id="{3A76777D-6E77-4F30-BFF2-F03668BD6B01}"/>
              </a:ext>
            </a:extLst>
          </p:cNvPr>
          <p:cNvSpPr txBox="1">
            <a:spLocks/>
          </p:cNvSpPr>
          <p:nvPr/>
        </p:nvSpPr>
        <p:spPr>
          <a:xfrm>
            <a:off x="539496" y="365125"/>
            <a:ext cx="10515600" cy="930275"/>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dirty="0">
                <a:solidFill>
                  <a:srgbClr val="0070C0"/>
                </a:solidFill>
              </a:rPr>
              <a:t>CARTESIAN PRODUCT OF TWO SETS</a:t>
            </a:r>
          </a:p>
        </p:txBody>
      </p:sp>
    </p:spTree>
    <p:extLst>
      <p:ext uri="{BB962C8B-B14F-4D97-AF65-F5344CB8AC3E}">
        <p14:creationId xmlns:p14="http://schemas.microsoft.com/office/powerpoint/2010/main" val="123885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9</a:t>
            </a:fld>
            <a:endParaRPr lang="en-US"/>
          </a:p>
        </p:txBody>
      </p:sp>
      <p:sp>
        <p:nvSpPr>
          <p:cNvPr id="4" name="Content Placeholder 3"/>
          <p:cNvSpPr>
            <a:spLocks noGrp="1"/>
          </p:cNvSpPr>
          <p:nvPr>
            <p:ph sz="quarter" idx="1"/>
          </p:nvPr>
        </p:nvSpPr>
        <p:spPr/>
        <p:txBody>
          <a:bodyPr>
            <a:normAutofit/>
          </a:bodyPr>
          <a:lstStyle/>
          <a:p>
            <a:r>
              <a:rPr lang="en-US" dirty="0"/>
              <a:t>Let A = </a:t>
            </a:r>
            <a:r>
              <a:rPr lang="en-US" dirty="0">
                <a:solidFill>
                  <a:srgbClr val="FF0000"/>
                </a:solidFill>
              </a:rPr>
              <a:t>{1, 2},</a:t>
            </a:r>
            <a:r>
              <a:rPr lang="en-US" dirty="0"/>
              <a:t> B = </a:t>
            </a:r>
            <a:r>
              <a:rPr lang="en-US" dirty="0">
                <a:solidFill>
                  <a:srgbClr val="FF0000"/>
                </a:solidFill>
              </a:rPr>
              <a:t>{a, b, c}</a:t>
            </a:r>
            <a:r>
              <a:rPr lang="en-US" dirty="0"/>
              <a:t> then Evaluate:</a:t>
            </a:r>
          </a:p>
          <a:p>
            <a:endParaRPr lang="en-US" dirty="0"/>
          </a:p>
          <a:p>
            <a:pPr marL="1028700" lvl="1" indent="-571500">
              <a:buFont typeface="+mj-lt"/>
              <a:buAutoNum type="romanLcPeriod"/>
            </a:pPr>
            <a:r>
              <a:rPr lang="en-US" sz="2800" dirty="0"/>
              <a:t>A </a:t>
            </a:r>
            <a:r>
              <a:rPr lang="en-US" sz="2800" dirty="0">
                <a:sym typeface="Symbol"/>
              </a:rPr>
              <a:t> </a:t>
            </a:r>
            <a:r>
              <a:rPr lang="en-US" sz="2800" dirty="0"/>
              <a:t>B  </a:t>
            </a:r>
          </a:p>
          <a:p>
            <a:pPr marL="1028700" lvl="1" indent="-571500">
              <a:buFont typeface="+mj-lt"/>
              <a:buAutoNum type="romanLcPeriod"/>
            </a:pPr>
            <a:r>
              <a:rPr lang="en-US" sz="2800" dirty="0"/>
              <a:t>B </a:t>
            </a:r>
            <a:r>
              <a:rPr lang="en-US" sz="2800" dirty="0">
                <a:sym typeface="Symbol"/>
              </a:rPr>
              <a:t> </a:t>
            </a:r>
            <a:r>
              <a:rPr lang="en-US" sz="2800" dirty="0"/>
              <a:t>A  </a:t>
            </a:r>
          </a:p>
          <a:p>
            <a:pPr marL="1028700" lvl="1" indent="-571500">
              <a:buFont typeface="+mj-lt"/>
              <a:buAutoNum type="romanLcPeriod"/>
            </a:pPr>
            <a:r>
              <a:rPr lang="en-US" sz="2800" dirty="0"/>
              <a:t>A </a:t>
            </a:r>
            <a:r>
              <a:rPr lang="en-US" sz="2800" dirty="0">
                <a:sym typeface="Symbol"/>
              </a:rPr>
              <a:t> </a:t>
            </a:r>
            <a:r>
              <a:rPr lang="en-US" sz="2800" dirty="0"/>
              <a:t>A </a:t>
            </a:r>
          </a:p>
          <a:p>
            <a:pPr marL="1028700" lvl="1" indent="-571500">
              <a:buFont typeface="+mj-lt"/>
              <a:buAutoNum type="romanLcPeriod"/>
            </a:pPr>
            <a:r>
              <a:rPr lang="en-US" sz="2800" dirty="0"/>
              <a:t>B </a:t>
            </a:r>
            <a:r>
              <a:rPr lang="en-US" sz="2800" dirty="0">
                <a:sym typeface="Symbol"/>
              </a:rPr>
              <a:t> </a:t>
            </a:r>
            <a:r>
              <a:rPr lang="en-US" sz="2800" dirty="0"/>
              <a:t>B </a:t>
            </a:r>
          </a:p>
        </p:txBody>
      </p:sp>
    </p:spTree>
    <p:extLst>
      <p:ext uri="{BB962C8B-B14F-4D97-AF65-F5344CB8AC3E}">
        <p14:creationId xmlns:p14="http://schemas.microsoft.com/office/powerpoint/2010/main" val="4104876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2000"/>
                                        <p:tgtEl>
                                          <p:spTgt spid="4">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fade">
                                      <p:cBhvr>
                                        <p:cTn id="16" dur="2000"/>
                                        <p:tgtEl>
                                          <p:spTgt spid="4">
                                            <p:txEl>
                                              <p:pRg st="4" end="4"/>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fade">
                                      <p:cBhvr>
                                        <p:cTn id="19"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10</a:t>
            </a:fld>
            <a:endParaRPr lang="en-US"/>
          </a:p>
        </p:txBody>
      </p:sp>
      <p:sp>
        <p:nvSpPr>
          <p:cNvPr id="4" name="Content Placeholder 3"/>
          <p:cNvSpPr>
            <a:spLocks noGrp="1"/>
          </p:cNvSpPr>
          <p:nvPr>
            <p:ph sz="quarter" idx="1"/>
          </p:nvPr>
        </p:nvSpPr>
        <p:spPr>
          <a:xfrm>
            <a:off x="1179576" y="1911096"/>
            <a:ext cx="8554974" cy="3859742"/>
          </a:xfrm>
        </p:spPr>
        <p:txBody>
          <a:bodyPr>
            <a:normAutofit/>
          </a:bodyPr>
          <a:lstStyle/>
          <a:p>
            <a:r>
              <a:rPr lang="en-US" dirty="0"/>
              <a:t>Let A = </a:t>
            </a:r>
            <a:r>
              <a:rPr lang="en-US" dirty="0">
                <a:solidFill>
                  <a:srgbClr val="FF0000"/>
                </a:solidFill>
              </a:rPr>
              <a:t>{1, 2},</a:t>
            </a:r>
            <a:r>
              <a:rPr lang="en-US" dirty="0"/>
              <a:t> B = </a:t>
            </a:r>
            <a:r>
              <a:rPr lang="en-US" dirty="0">
                <a:solidFill>
                  <a:srgbClr val="FF0000"/>
                </a:solidFill>
              </a:rPr>
              <a:t>{a, b, c}</a:t>
            </a:r>
            <a:r>
              <a:rPr lang="en-US" dirty="0"/>
              <a:t> then</a:t>
            </a:r>
          </a:p>
          <a:p>
            <a:pPr>
              <a:buNone/>
            </a:pPr>
            <a:br>
              <a:rPr lang="en-US" dirty="0"/>
            </a:br>
            <a:r>
              <a:rPr lang="en-US" dirty="0"/>
              <a:t>	A </a:t>
            </a:r>
            <a:r>
              <a:rPr lang="en-US" dirty="0">
                <a:sym typeface="Symbol"/>
              </a:rPr>
              <a:t> </a:t>
            </a:r>
            <a:r>
              <a:rPr lang="en-US" dirty="0"/>
              <a:t>B = {</a:t>
            </a:r>
            <a:r>
              <a:rPr lang="en-US" dirty="0">
                <a:solidFill>
                  <a:srgbClr val="FF0000"/>
                </a:solidFill>
              </a:rPr>
              <a:t>(1,a), (1,b), (1,c), (2,a), (2, b), (2, c)</a:t>
            </a:r>
            <a:r>
              <a:rPr lang="en-US" dirty="0"/>
              <a:t>}</a:t>
            </a:r>
            <a:br>
              <a:rPr lang="en-US" dirty="0"/>
            </a:br>
            <a:r>
              <a:rPr lang="en-US" dirty="0"/>
              <a:t>	B </a:t>
            </a:r>
            <a:r>
              <a:rPr lang="en-US" dirty="0">
                <a:sym typeface="Symbol"/>
              </a:rPr>
              <a:t> </a:t>
            </a:r>
            <a:r>
              <a:rPr lang="en-US" dirty="0"/>
              <a:t>A = {</a:t>
            </a:r>
            <a:r>
              <a:rPr lang="en-US" dirty="0">
                <a:solidFill>
                  <a:srgbClr val="FF0000"/>
                </a:solidFill>
              </a:rPr>
              <a:t>(a,1), (a,2), (b, 1), (b, 2), (c, 1), (c, 2)</a:t>
            </a:r>
            <a:r>
              <a:rPr lang="en-US" dirty="0"/>
              <a:t>}</a:t>
            </a:r>
            <a:br>
              <a:rPr lang="en-US" dirty="0"/>
            </a:br>
            <a:r>
              <a:rPr lang="en-US" dirty="0"/>
              <a:t>	A </a:t>
            </a:r>
            <a:r>
              <a:rPr lang="en-US" dirty="0">
                <a:sym typeface="Symbol"/>
              </a:rPr>
              <a:t> </a:t>
            </a:r>
            <a:r>
              <a:rPr lang="en-US" dirty="0"/>
              <a:t>A = {</a:t>
            </a:r>
            <a:r>
              <a:rPr lang="en-US" dirty="0">
                <a:solidFill>
                  <a:srgbClr val="FF0000"/>
                </a:solidFill>
              </a:rPr>
              <a:t>(1, 1), (1,2), (2, 1), (2, 2</a:t>
            </a:r>
            <a:r>
              <a:rPr lang="en-US" dirty="0"/>
              <a:t>)}</a:t>
            </a:r>
            <a:br>
              <a:rPr lang="en-US" dirty="0"/>
            </a:br>
            <a:r>
              <a:rPr lang="en-US" dirty="0"/>
              <a:t>	B </a:t>
            </a:r>
            <a:r>
              <a:rPr lang="en-US" dirty="0">
                <a:sym typeface="Symbol"/>
              </a:rPr>
              <a:t> </a:t>
            </a:r>
            <a:r>
              <a:rPr lang="en-US" dirty="0"/>
              <a:t>B = {</a:t>
            </a:r>
            <a:r>
              <a:rPr lang="en-US" dirty="0">
                <a:solidFill>
                  <a:srgbClr val="FF0000"/>
                </a:solidFill>
              </a:rPr>
              <a:t>(</a:t>
            </a:r>
            <a:r>
              <a:rPr lang="en-US" dirty="0" err="1">
                <a:solidFill>
                  <a:srgbClr val="FF0000"/>
                </a:solidFill>
              </a:rPr>
              <a:t>a,a</a:t>
            </a:r>
            <a:r>
              <a:rPr lang="en-US" dirty="0">
                <a:solidFill>
                  <a:srgbClr val="FF0000"/>
                </a:solidFill>
              </a:rPr>
              <a:t>), (</a:t>
            </a:r>
            <a:r>
              <a:rPr lang="en-US" dirty="0" err="1">
                <a:solidFill>
                  <a:srgbClr val="FF0000"/>
                </a:solidFill>
              </a:rPr>
              <a:t>a,b</a:t>
            </a:r>
            <a:r>
              <a:rPr lang="en-US" dirty="0">
                <a:solidFill>
                  <a:srgbClr val="FF0000"/>
                </a:solidFill>
              </a:rPr>
              <a:t>), (</a:t>
            </a:r>
            <a:r>
              <a:rPr lang="en-US" dirty="0" err="1">
                <a:solidFill>
                  <a:srgbClr val="FF0000"/>
                </a:solidFill>
              </a:rPr>
              <a:t>a,c</a:t>
            </a:r>
            <a:r>
              <a:rPr lang="en-US" dirty="0">
                <a:solidFill>
                  <a:srgbClr val="FF0000"/>
                </a:solidFill>
              </a:rPr>
              <a:t>), (</a:t>
            </a:r>
            <a:r>
              <a:rPr lang="en-US" dirty="0" err="1">
                <a:solidFill>
                  <a:srgbClr val="FF0000"/>
                </a:solidFill>
              </a:rPr>
              <a:t>b,a</a:t>
            </a:r>
            <a:r>
              <a:rPr lang="en-US" dirty="0">
                <a:solidFill>
                  <a:srgbClr val="FF0000"/>
                </a:solidFill>
              </a:rPr>
              <a:t>), (b, b), (b, c), (</a:t>
            </a:r>
            <a:r>
              <a:rPr lang="en-US" dirty="0" err="1">
                <a:solidFill>
                  <a:srgbClr val="FF0000"/>
                </a:solidFill>
              </a:rPr>
              <a:t>c,a</a:t>
            </a:r>
            <a:r>
              <a:rPr lang="en-US" dirty="0">
                <a:solidFill>
                  <a:srgbClr val="FF0000"/>
                </a:solidFill>
              </a:rPr>
              <a:t>),  </a:t>
            </a:r>
          </a:p>
          <a:p>
            <a:pPr>
              <a:buNone/>
            </a:pPr>
            <a:r>
              <a:rPr lang="en-US" dirty="0">
                <a:solidFill>
                  <a:srgbClr val="FF0000"/>
                </a:solidFill>
              </a:rPr>
              <a:t>			    (</a:t>
            </a:r>
            <a:r>
              <a:rPr lang="en-US" dirty="0" err="1">
                <a:solidFill>
                  <a:srgbClr val="FF0000"/>
                </a:solidFill>
              </a:rPr>
              <a:t>c,b</a:t>
            </a:r>
            <a:r>
              <a:rPr lang="en-US" dirty="0">
                <a:solidFill>
                  <a:srgbClr val="FF0000"/>
                </a:solidFill>
              </a:rPr>
              <a:t>),(</a:t>
            </a:r>
            <a:r>
              <a:rPr lang="en-US" dirty="0" err="1">
                <a:solidFill>
                  <a:srgbClr val="FF0000"/>
                </a:solidFill>
              </a:rPr>
              <a:t>c,c</a:t>
            </a:r>
            <a:r>
              <a:rPr lang="en-US" dirty="0">
                <a:solidFill>
                  <a:srgbClr val="FF0000"/>
                </a:solidFill>
              </a:rPr>
              <a:t>)</a:t>
            </a:r>
            <a:r>
              <a:rPr lang="en-US" dirty="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REMARK</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11</a:t>
            </a:fld>
            <a:endParaRPr lang="en-US"/>
          </a:p>
        </p:txBody>
      </p:sp>
      <p:sp>
        <p:nvSpPr>
          <p:cNvPr id="4" name="Content Placeholder 3"/>
          <p:cNvSpPr>
            <a:spLocks noGrp="1"/>
          </p:cNvSpPr>
          <p:nvPr>
            <p:ph sz="quarter" idx="1"/>
          </p:nvPr>
        </p:nvSpPr>
        <p:spPr/>
        <p:txBody>
          <a:bodyPr/>
          <a:lstStyle/>
          <a:p>
            <a:pPr lvl="1">
              <a:buFont typeface="Courier New" pitchFamily="49" charset="0"/>
              <a:buChar char="o"/>
            </a:pPr>
            <a:r>
              <a:rPr lang="en-US" sz="2600" dirty="0">
                <a:solidFill>
                  <a:srgbClr val="FF0000"/>
                </a:solidFill>
              </a:rPr>
              <a:t>A </a:t>
            </a:r>
            <a:r>
              <a:rPr lang="en-US" sz="2600" dirty="0">
                <a:solidFill>
                  <a:srgbClr val="FF0000"/>
                </a:solidFill>
                <a:sym typeface="Symbol"/>
              </a:rPr>
              <a:t></a:t>
            </a:r>
            <a:r>
              <a:rPr lang="en-US" sz="2600" dirty="0">
                <a:solidFill>
                  <a:srgbClr val="FF0000"/>
                </a:solidFill>
              </a:rPr>
              <a:t> B</a:t>
            </a:r>
            <a:r>
              <a:rPr lang="en-US" sz="2600" dirty="0"/>
              <a:t> </a:t>
            </a:r>
            <a:r>
              <a:rPr lang="en-US" sz="2600" dirty="0">
                <a:sym typeface="Symbol"/>
              </a:rPr>
              <a:t> </a:t>
            </a:r>
            <a:r>
              <a:rPr lang="en-US" sz="2600" dirty="0">
                <a:solidFill>
                  <a:srgbClr val="FF0000"/>
                </a:solidFill>
              </a:rPr>
              <a:t>B </a:t>
            </a:r>
            <a:r>
              <a:rPr lang="en-US" sz="2600" dirty="0">
                <a:solidFill>
                  <a:srgbClr val="FF0000"/>
                </a:solidFill>
                <a:sym typeface="Symbol"/>
              </a:rPr>
              <a:t></a:t>
            </a:r>
            <a:r>
              <a:rPr lang="en-US" sz="2600" dirty="0">
                <a:solidFill>
                  <a:srgbClr val="FF0000"/>
                </a:solidFill>
              </a:rPr>
              <a:t> A</a:t>
            </a:r>
            <a:r>
              <a:rPr lang="en-US" sz="2600" dirty="0"/>
              <a:t> for non-empty and unequal sets A and B.</a:t>
            </a:r>
          </a:p>
          <a:p>
            <a:pPr lvl="1">
              <a:buFont typeface="Courier New" pitchFamily="49" charset="0"/>
              <a:buChar char="o"/>
            </a:pPr>
            <a:r>
              <a:rPr lang="en-US" sz="2600" dirty="0">
                <a:solidFill>
                  <a:srgbClr val="FF0000"/>
                </a:solidFill>
              </a:rPr>
              <a:t>A </a:t>
            </a:r>
            <a:r>
              <a:rPr lang="en-US" sz="2600" dirty="0">
                <a:solidFill>
                  <a:srgbClr val="FF0000"/>
                </a:solidFill>
                <a:sym typeface="Symbol"/>
              </a:rPr>
              <a:t></a:t>
            </a:r>
            <a:r>
              <a:rPr lang="en-US" sz="2600" dirty="0">
                <a:solidFill>
                  <a:srgbClr val="FF0000"/>
                </a:solidFill>
              </a:rPr>
              <a:t> </a:t>
            </a:r>
            <a:r>
              <a:rPr lang="en-US" sz="2600" dirty="0">
                <a:solidFill>
                  <a:srgbClr val="FF0000"/>
                </a:solidFill>
                <a:sym typeface="Symbol"/>
              </a:rPr>
              <a:t></a:t>
            </a:r>
            <a:r>
              <a:rPr lang="en-US" sz="2600" dirty="0"/>
              <a:t> = </a:t>
            </a:r>
            <a:r>
              <a:rPr lang="en-US" sz="2600" dirty="0">
                <a:solidFill>
                  <a:srgbClr val="FF0000"/>
                </a:solidFill>
                <a:sym typeface="Symbol"/>
              </a:rPr>
              <a:t></a:t>
            </a:r>
            <a:r>
              <a:rPr lang="en-US" sz="2600" dirty="0">
                <a:solidFill>
                  <a:srgbClr val="FF0000"/>
                </a:solidFill>
              </a:rPr>
              <a:t> </a:t>
            </a:r>
            <a:r>
              <a:rPr lang="en-US" sz="2600" dirty="0">
                <a:solidFill>
                  <a:srgbClr val="FF0000"/>
                </a:solidFill>
                <a:sym typeface="Symbol"/>
              </a:rPr>
              <a:t></a:t>
            </a:r>
            <a:r>
              <a:rPr lang="en-US" sz="2600" dirty="0">
                <a:solidFill>
                  <a:srgbClr val="FF0000"/>
                </a:solidFill>
              </a:rPr>
              <a:t> A</a:t>
            </a:r>
            <a:r>
              <a:rPr lang="en-US" sz="2600" dirty="0"/>
              <a:t> = </a:t>
            </a:r>
            <a:r>
              <a:rPr lang="en-US" sz="2600" dirty="0">
                <a:solidFill>
                  <a:srgbClr val="FF0000"/>
                </a:solidFill>
                <a:sym typeface="Symbol"/>
              </a:rPr>
              <a:t></a:t>
            </a:r>
          </a:p>
          <a:p>
            <a:pPr lvl="1">
              <a:buFont typeface="Courier New" pitchFamily="49" charset="0"/>
              <a:buChar char="o"/>
            </a:pPr>
            <a:r>
              <a:rPr lang="en-US" sz="2600" dirty="0">
                <a:solidFill>
                  <a:srgbClr val="FF0000"/>
                </a:solidFill>
              </a:rPr>
              <a:t>| A </a:t>
            </a:r>
            <a:r>
              <a:rPr lang="en-US" sz="2600" dirty="0">
                <a:solidFill>
                  <a:srgbClr val="FF0000"/>
                </a:solidFill>
                <a:sym typeface="Symbol"/>
              </a:rPr>
              <a:t></a:t>
            </a:r>
            <a:r>
              <a:rPr lang="en-US" sz="2600" dirty="0">
                <a:solidFill>
                  <a:srgbClr val="FF0000"/>
                </a:solidFill>
              </a:rPr>
              <a:t> B|</a:t>
            </a:r>
            <a:r>
              <a:rPr lang="en-US" sz="2600" dirty="0"/>
              <a:t> = </a:t>
            </a:r>
            <a:r>
              <a:rPr lang="en-US" sz="2600" dirty="0">
                <a:solidFill>
                  <a:srgbClr val="FF0000"/>
                </a:solidFill>
              </a:rPr>
              <a:t>|A| </a:t>
            </a:r>
            <a:r>
              <a:rPr lang="en-US" sz="2600" dirty="0">
                <a:solidFill>
                  <a:srgbClr val="FF0000"/>
                </a:solidFill>
                <a:sym typeface="Symbol"/>
              </a:rPr>
              <a:t></a:t>
            </a:r>
            <a:r>
              <a:rPr lang="en-US" sz="2600" dirty="0">
                <a:solidFill>
                  <a:srgbClr val="FF0000"/>
                </a:solidFill>
              </a:rPr>
              <a:t> |B|</a:t>
            </a:r>
          </a:p>
          <a:p>
            <a:endParaRPr lang="en-US" dirty="0"/>
          </a:p>
        </p:txBody>
      </p:sp>
      <p:sp>
        <p:nvSpPr>
          <p:cNvPr id="146434"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2430" y="424380"/>
            <a:ext cx="9344092" cy="1325563"/>
          </a:xfrm>
        </p:spPr>
        <p:txBody>
          <a:bodyPr>
            <a:normAutofit/>
          </a:bodyPr>
          <a:lstStyle/>
          <a:p>
            <a:pPr algn="ctr"/>
            <a:r>
              <a:rPr lang="en-US" sz="4000" b="1" u="sng" dirty="0">
                <a:solidFill>
                  <a:srgbClr val="0070C0"/>
                </a:solidFill>
              </a:rPr>
              <a:t>CARTESIAN PRODUCT OF MORE THAN TWO SETS</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12</a:t>
            </a:fld>
            <a:endParaRPr lang="en-US"/>
          </a:p>
        </p:txBody>
      </p:sp>
      <p:sp>
        <p:nvSpPr>
          <p:cNvPr id="4" name="Content Placeholder 3"/>
          <p:cNvSpPr>
            <a:spLocks noGrp="1"/>
          </p:cNvSpPr>
          <p:nvPr>
            <p:ph sz="quarter" idx="1"/>
          </p:nvPr>
        </p:nvSpPr>
        <p:spPr>
          <a:xfrm>
            <a:off x="1179576" y="1911096"/>
            <a:ext cx="10425236" cy="3859742"/>
          </a:xfrm>
        </p:spPr>
        <p:txBody>
          <a:bodyPr>
            <a:normAutofit fontScale="92500" lnSpcReduction="20000"/>
          </a:bodyPr>
          <a:lstStyle/>
          <a:p>
            <a:r>
              <a:rPr lang="en-US" dirty="0"/>
              <a:t>The </a:t>
            </a:r>
            <a:r>
              <a:rPr lang="en-US" dirty="0">
                <a:solidFill>
                  <a:srgbClr val="FF0000"/>
                </a:solidFill>
              </a:rPr>
              <a:t>Cartesian product</a:t>
            </a:r>
            <a:r>
              <a:rPr lang="en-US" dirty="0"/>
              <a:t> of sets </a:t>
            </a:r>
            <a:r>
              <a:rPr lang="en-US" dirty="0">
                <a:solidFill>
                  <a:srgbClr val="FF0000"/>
                </a:solidFill>
              </a:rPr>
              <a:t>A</a:t>
            </a:r>
            <a:r>
              <a:rPr lang="en-US" baseline="-25000" dirty="0">
                <a:solidFill>
                  <a:srgbClr val="FF0000"/>
                </a:solidFill>
              </a:rPr>
              <a:t>1</a:t>
            </a:r>
            <a:r>
              <a:rPr lang="en-US" dirty="0">
                <a:solidFill>
                  <a:srgbClr val="FF0000"/>
                </a:solidFill>
              </a:rPr>
              <a:t>, A</a:t>
            </a:r>
            <a:r>
              <a:rPr lang="en-US" baseline="-25000" dirty="0">
                <a:solidFill>
                  <a:srgbClr val="FF0000"/>
                </a:solidFill>
              </a:rPr>
              <a:t>2</a:t>
            </a:r>
            <a:r>
              <a:rPr lang="en-US" dirty="0">
                <a:solidFill>
                  <a:srgbClr val="FF0000"/>
                </a:solidFill>
              </a:rPr>
              <a:t>, …, A</a:t>
            </a:r>
            <a:r>
              <a:rPr lang="en-US" baseline="-25000" dirty="0">
                <a:solidFill>
                  <a:srgbClr val="FF0000"/>
                </a:solidFill>
              </a:rPr>
              <a:t>n</a:t>
            </a:r>
            <a:r>
              <a:rPr lang="en-US" dirty="0"/>
              <a:t>, </a:t>
            </a:r>
          </a:p>
          <a:p>
            <a:pPr>
              <a:buNone/>
            </a:pPr>
            <a:r>
              <a:rPr lang="en-US" dirty="0"/>
              <a:t>   denoted</a:t>
            </a:r>
            <a:r>
              <a:rPr lang="en-US" dirty="0">
                <a:solidFill>
                  <a:srgbClr val="FF0000"/>
                </a:solidFill>
              </a:rPr>
              <a:t> A</a:t>
            </a:r>
            <a:r>
              <a:rPr lang="en-US" baseline="-25000" dirty="0">
                <a:solidFill>
                  <a:srgbClr val="FF0000"/>
                </a:solidFill>
              </a:rPr>
              <a:t>1</a:t>
            </a:r>
            <a:r>
              <a:rPr lang="en-US" dirty="0">
                <a:solidFill>
                  <a:srgbClr val="FF0000"/>
                </a:solidFill>
                <a:sym typeface="Symbol"/>
              </a:rPr>
              <a:t></a:t>
            </a:r>
            <a:r>
              <a:rPr lang="en-US" dirty="0">
                <a:solidFill>
                  <a:srgbClr val="FF0000"/>
                </a:solidFill>
              </a:rPr>
              <a:t> A</a:t>
            </a:r>
            <a:r>
              <a:rPr lang="en-US" baseline="-25000" dirty="0">
                <a:solidFill>
                  <a:srgbClr val="FF0000"/>
                </a:solidFill>
              </a:rPr>
              <a:t>2</a:t>
            </a:r>
            <a:r>
              <a:rPr lang="en-US" dirty="0">
                <a:solidFill>
                  <a:srgbClr val="FF0000"/>
                </a:solidFill>
              </a:rPr>
              <a:t> </a:t>
            </a:r>
            <a:r>
              <a:rPr lang="en-US" dirty="0">
                <a:solidFill>
                  <a:srgbClr val="FF0000"/>
                </a:solidFill>
                <a:sym typeface="Symbol"/>
              </a:rPr>
              <a:t></a:t>
            </a:r>
            <a:r>
              <a:rPr lang="en-US" dirty="0">
                <a:solidFill>
                  <a:srgbClr val="FF0000"/>
                </a:solidFill>
              </a:rPr>
              <a:t> … </a:t>
            </a:r>
            <a:r>
              <a:rPr lang="en-US" dirty="0">
                <a:solidFill>
                  <a:srgbClr val="FF0000"/>
                </a:solidFill>
                <a:sym typeface="Symbol"/>
              </a:rPr>
              <a:t></a:t>
            </a:r>
            <a:r>
              <a:rPr lang="en-US" dirty="0">
                <a:solidFill>
                  <a:srgbClr val="FF0000"/>
                </a:solidFill>
              </a:rPr>
              <a:t>A</a:t>
            </a:r>
            <a:r>
              <a:rPr lang="en-US" baseline="-25000" dirty="0">
                <a:solidFill>
                  <a:srgbClr val="FF0000"/>
                </a:solidFill>
              </a:rPr>
              <a:t>n</a:t>
            </a:r>
            <a:r>
              <a:rPr lang="en-US" dirty="0"/>
              <a:t>, is the set of all ordered</a:t>
            </a:r>
          </a:p>
          <a:p>
            <a:pPr>
              <a:buNone/>
            </a:pPr>
            <a:r>
              <a:rPr lang="en-US" dirty="0"/>
              <a:t>	n-</a:t>
            </a:r>
            <a:r>
              <a:rPr lang="en-US" dirty="0" err="1"/>
              <a:t>tuples</a:t>
            </a:r>
            <a:r>
              <a:rPr lang="en-US" dirty="0"/>
              <a:t> (a</a:t>
            </a:r>
            <a:r>
              <a:rPr lang="en-US" baseline="-25000" dirty="0"/>
              <a:t>1</a:t>
            </a:r>
            <a:r>
              <a:rPr lang="en-US" dirty="0"/>
              <a:t>, a</a:t>
            </a:r>
            <a:r>
              <a:rPr lang="en-US" baseline="-25000" dirty="0"/>
              <a:t>2</a:t>
            </a:r>
            <a:r>
              <a:rPr lang="en-US" dirty="0"/>
              <a:t>, …, a</a:t>
            </a:r>
            <a:r>
              <a:rPr lang="en-US" baseline="-25000" dirty="0"/>
              <a:t>n</a:t>
            </a:r>
            <a:r>
              <a:rPr lang="en-US" dirty="0"/>
              <a:t>)</a:t>
            </a:r>
          </a:p>
          <a:p>
            <a:pPr>
              <a:buNone/>
            </a:pPr>
            <a:r>
              <a:rPr lang="en-US" dirty="0"/>
              <a:t> </a:t>
            </a:r>
          </a:p>
          <a:p>
            <a:pPr>
              <a:buNone/>
            </a:pPr>
            <a:r>
              <a:rPr lang="en-US" dirty="0"/>
              <a:t>	where</a:t>
            </a:r>
          </a:p>
          <a:p>
            <a:pPr>
              <a:buNone/>
            </a:pPr>
            <a:r>
              <a:rPr lang="en-US" dirty="0"/>
              <a:t>		 a</a:t>
            </a:r>
            <a:r>
              <a:rPr lang="en-US" baseline="-25000" dirty="0"/>
              <a:t>1</a:t>
            </a:r>
            <a:r>
              <a:rPr lang="en-US" dirty="0">
                <a:sym typeface="Symbol"/>
              </a:rPr>
              <a:t> </a:t>
            </a:r>
            <a:r>
              <a:rPr lang="en-US" dirty="0"/>
              <a:t>A</a:t>
            </a:r>
            <a:r>
              <a:rPr lang="en-US" baseline="-25000" dirty="0"/>
              <a:t>1</a:t>
            </a:r>
            <a:r>
              <a:rPr lang="en-US" dirty="0"/>
              <a:t>, a</a:t>
            </a:r>
            <a:r>
              <a:rPr lang="en-US" baseline="-25000" dirty="0"/>
              <a:t>2</a:t>
            </a:r>
            <a:r>
              <a:rPr lang="en-US" dirty="0"/>
              <a:t> </a:t>
            </a:r>
            <a:r>
              <a:rPr lang="en-US" dirty="0">
                <a:sym typeface="Symbol"/>
              </a:rPr>
              <a:t> </a:t>
            </a:r>
            <a:r>
              <a:rPr lang="en-US" dirty="0"/>
              <a:t>A</a:t>
            </a:r>
            <a:r>
              <a:rPr lang="en-US" baseline="-25000" dirty="0"/>
              <a:t>2</a:t>
            </a:r>
            <a:r>
              <a:rPr lang="en-US" dirty="0"/>
              <a:t>,…, a</a:t>
            </a:r>
            <a:r>
              <a:rPr lang="en-US" baseline="-25000" dirty="0"/>
              <a:t>n</a:t>
            </a:r>
            <a:r>
              <a:rPr lang="en-US" dirty="0"/>
              <a:t> </a:t>
            </a:r>
            <a:r>
              <a:rPr lang="en-US" dirty="0">
                <a:sym typeface="Symbol"/>
              </a:rPr>
              <a:t> </a:t>
            </a:r>
            <a:r>
              <a:rPr lang="en-US" dirty="0"/>
              <a:t>A</a:t>
            </a:r>
            <a:r>
              <a:rPr lang="en-US" baseline="-25000" dirty="0"/>
              <a:t>n</a:t>
            </a:r>
            <a:r>
              <a:rPr lang="en-US" dirty="0"/>
              <a:t>.</a:t>
            </a:r>
          </a:p>
          <a:p>
            <a:endParaRPr lang="en-US" dirty="0"/>
          </a:p>
          <a:p>
            <a:r>
              <a:rPr lang="en-US" dirty="0"/>
              <a:t>Symbolically:</a:t>
            </a:r>
          </a:p>
          <a:p>
            <a:pPr>
              <a:buNone/>
            </a:pPr>
            <a:r>
              <a:rPr lang="en-US" dirty="0"/>
              <a:t>	</a:t>
            </a:r>
            <a:r>
              <a:rPr lang="en-US" dirty="0">
                <a:solidFill>
                  <a:srgbClr val="FF0000"/>
                </a:solidFill>
              </a:rPr>
              <a:t>A</a:t>
            </a:r>
            <a:r>
              <a:rPr lang="en-US" baseline="-25000" dirty="0">
                <a:solidFill>
                  <a:srgbClr val="FF0000"/>
                </a:solidFill>
              </a:rPr>
              <a:t>1</a:t>
            </a:r>
            <a:r>
              <a:rPr lang="en-US" dirty="0">
                <a:solidFill>
                  <a:srgbClr val="FF0000"/>
                </a:solidFill>
                <a:sym typeface="Symbol"/>
              </a:rPr>
              <a:t></a:t>
            </a:r>
            <a:r>
              <a:rPr lang="en-US" dirty="0">
                <a:solidFill>
                  <a:srgbClr val="FF0000"/>
                </a:solidFill>
              </a:rPr>
              <a:t> A</a:t>
            </a:r>
            <a:r>
              <a:rPr lang="en-US" baseline="-25000" dirty="0">
                <a:solidFill>
                  <a:srgbClr val="FF0000"/>
                </a:solidFill>
              </a:rPr>
              <a:t>2</a:t>
            </a:r>
            <a:r>
              <a:rPr lang="en-US" dirty="0">
                <a:solidFill>
                  <a:srgbClr val="FF0000"/>
                </a:solidFill>
              </a:rPr>
              <a:t> </a:t>
            </a:r>
            <a:r>
              <a:rPr lang="en-US" dirty="0">
                <a:solidFill>
                  <a:srgbClr val="FF0000"/>
                </a:solidFill>
                <a:sym typeface="Symbol"/>
              </a:rPr>
              <a:t></a:t>
            </a:r>
            <a:r>
              <a:rPr lang="en-US" dirty="0">
                <a:solidFill>
                  <a:srgbClr val="FF0000"/>
                </a:solidFill>
              </a:rPr>
              <a:t> … </a:t>
            </a:r>
            <a:r>
              <a:rPr lang="en-US" dirty="0">
                <a:solidFill>
                  <a:srgbClr val="FF0000"/>
                </a:solidFill>
                <a:sym typeface="Symbol"/>
              </a:rPr>
              <a:t></a:t>
            </a:r>
            <a:r>
              <a:rPr lang="en-US" dirty="0">
                <a:solidFill>
                  <a:srgbClr val="FF0000"/>
                </a:solidFill>
              </a:rPr>
              <a:t>A</a:t>
            </a:r>
            <a:r>
              <a:rPr lang="en-US" baseline="-25000" dirty="0">
                <a:solidFill>
                  <a:srgbClr val="FF0000"/>
                </a:solidFill>
              </a:rPr>
              <a:t>n</a:t>
            </a:r>
            <a:r>
              <a:rPr lang="en-US" dirty="0">
                <a:solidFill>
                  <a:srgbClr val="FF0000"/>
                </a:solidFill>
              </a:rPr>
              <a:t> ={(a</a:t>
            </a:r>
            <a:r>
              <a:rPr lang="en-US" baseline="-25000" dirty="0">
                <a:solidFill>
                  <a:srgbClr val="FF0000"/>
                </a:solidFill>
              </a:rPr>
              <a:t>1</a:t>
            </a:r>
            <a:r>
              <a:rPr lang="en-US" dirty="0">
                <a:solidFill>
                  <a:srgbClr val="FF0000"/>
                </a:solidFill>
              </a:rPr>
              <a:t>, a</a:t>
            </a:r>
            <a:r>
              <a:rPr lang="en-US" baseline="-25000" dirty="0">
                <a:solidFill>
                  <a:srgbClr val="FF0000"/>
                </a:solidFill>
              </a:rPr>
              <a:t>2</a:t>
            </a:r>
            <a:r>
              <a:rPr lang="en-US" dirty="0">
                <a:solidFill>
                  <a:srgbClr val="FF0000"/>
                </a:solidFill>
              </a:rPr>
              <a:t>, …, a</a:t>
            </a:r>
            <a:r>
              <a:rPr lang="en-US" baseline="-25000" dirty="0">
                <a:solidFill>
                  <a:srgbClr val="FF0000"/>
                </a:solidFill>
              </a:rPr>
              <a:t>n</a:t>
            </a:r>
            <a:r>
              <a:rPr lang="en-US" dirty="0">
                <a:solidFill>
                  <a:srgbClr val="FF0000"/>
                </a:solidFill>
              </a:rPr>
              <a:t>) | </a:t>
            </a:r>
            <a:r>
              <a:rPr lang="en-US" dirty="0" err="1">
                <a:solidFill>
                  <a:srgbClr val="FF0000"/>
                </a:solidFill>
              </a:rPr>
              <a:t>a</a:t>
            </a:r>
            <a:r>
              <a:rPr lang="en-US" baseline="-25000" dirty="0" err="1">
                <a:solidFill>
                  <a:srgbClr val="FF0000"/>
                </a:solidFill>
              </a:rPr>
              <a:t>i</a:t>
            </a:r>
            <a:r>
              <a:rPr lang="en-US" dirty="0">
                <a:solidFill>
                  <a:srgbClr val="FF0000"/>
                </a:solidFill>
              </a:rPr>
              <a:t> </a:t>
            </a:r>
            <a:r>
              <a:rPr lang="en-US" dirty="0">
                <a:solidFill>
                  <a:srgbClr val="FF0000"/>
                </a:solidFill>
                <a:sym typeface="Symbol"/>
              </a:rPr>
              <a:t></a:t>
            </a:r>
            <a:r>
              <a:rPr lang="en-US" dirty="0">
                <a:solidFill>
                  <a:srgbClr val="FF0000"/>
                </a:solidFill>
              </a:rPr>
              <a:t>A</a:t>
            </a:r>
            <a:r>
              <a:rPr lang="en-US" baseline="-25000" dirty="0">
                <a:solidFill>
                  <a:srgbClr val="FF0000"/>
                </a:solidFill>
              </a:rPr>
              <a:t>i</a:t>
            </a:r>
            <a:r>
              <a:rPr lang="en-US" dirty="0">
                <a:solidFill>
                  <a:srgbClr val="FF0000"/>
                </a:solidFill>
              </a:rPr>
              <a:t>, for </a:t>
            </a:r>
            <a:r>
              <a:rPr lang="en-US" dirty="0" err="1">
                <a:solidFill>
                  <a:srgbClr val="FF0000"/>
                </a:solidFill>
              </a:rPr>
              <a:t>i</a:t>
            </a:r>
            <a:r>
              <a:rPr lang="en-US" dirty="0">
                <a:solidFill>
                  <a:srgbClr val="FF0000"/>
                </a:solidFill>
              </a:rPr>
              <a:t>=1, 2, …, n}</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20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solidFill>
                  <a:srgbClr val="0070C0"/>
                </a:solidFill>
              </a:rPr>
              <a:t>BINARY RELATION</a:t>
            </a:r>
            <a:endParaRPr lang="en-US"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13</a:t>
            </a:fld>
            <a:endParaRPr lang="en-US"/>
          </a:p>
        </p:txBody>
      </p:sp>
      <p:sp>
        <p:nvSpPr>
          <p:cNvPr id="4" name="Content Placeholder 3"/>
          <p:cNvSpPr>
            <a:spLocks noGrp="1"/>
          </p:cNvSpPr>
          <p:nvPr>
            <p:ph sz="quarter" idx="1"/>
          </p:nvPr>
        </p:nvSpPr>
        <p:spPr>
          <a:xfrm>
            <a:off x="1179576" y="1911096"/>
            <a:ext cx="9278874" cy="3859742"/>
          </a:xfrm>
        </p:spPr>
        <p:txBody>
          <a:bodyPr/>
          <a:lstStyle/>
          <a:p>
            <a:r>
              <a:rPr lang="en-US" dirty="0"/>
              <a:t>Let </a:t>
            </a:r>
            <a:r>
              <a:rPr lang="en-US" dirty="0">
                <a:solidFill>
                  <a:srgbClr val="FF0000"/>
                </a:solidFill>
              </a:rPr>
              <a:t>A</a:t>
            </a:r>
            <a:r>
              <a:rPr lang="en-US" dirty="0"/>
              <a:t> and </a:t>
            </a:r>
            <a:r>
              <a:rPr lang="en-US" dirty="0">
                <a:solidFill>
                  <a:srgbClr val="FF0000"/>
                </a:solidFill>
              </a:rPr>
              <a:t>B</a:t>
            </a:r>
            <a:r>
              <a:rPr lang="en-US" dirty="0"/>
              <a:t> be sets. A (</a:t>
            </a:r>
            <a:r>
              <a:rPr lang="en-US" dirty="0">
                <a:solidFill>
                  <a:srgbClr val="FF0000"/>
                </a:solidFill>
              </a:rPr>
              <a:t>binary</a:t>
            </a:r>
            <a:r>
              <a:rPr lang="en-US" dirty="0"/>
              <a:t>) relation </a:t>
            </a:r>
            <a:r>
              <a:rPr lang="en-US" dirty="0">
                <a:solidFill>
                  <a:srgbClr val="FF0000"/>
                </a:solidFill>
              </a:rPr>
              <a:t>R</a:t>
            </a:r>
            <a:r>
              <a:rPr lang="en-US" dirty="0"/>
              <a:t> from A to B is a subset of </a:t>
            </a:r>
            <a:r>
              <a:rPr lang="en-US" dirty="0">
                <a:solidFill>
                  <a:srgbClr val="FF0000"/>
                </a:solidFill>
              </a:rPr>
              <a:t>A </a:t>
            </a:r>
            <a:r>
              <a:rPr lang="en-US" dirty="0">
                <a:solidFill>
                  <a:srgbClr val="FF0000"/>
                </a:solidFill>
                <a:sym typeface="Symbol"/>
              </a:rPr>
              <a:t></a:t>
            </a:r>
            <a:r>
              <a:rPr lang="en-US" dirty="0">
                <a:solidFill>
                  <a:srgbClr val="FF0000"/>
                </a:solidFill>
              </a:rPr>
              <a:t> B</a:t>
            </a:r>
            <a:r>
              <a:rPr lang="en-US" dirty="0"/>
              <a:t>.</a:t>
            </a:r>
          </a:p>
          <a:p>
            <a:endParaRPr lang="en-US" dirty="0"/>
          </a:p>
          <a:p>
            <a:r>
              <a:rPr lang="en-US" dirty="0"/>
              <a:t>When </a:t>
            </a:r>
            <a:r>
              <a:rPr lang="en-US" dirty="0">
                <a:solidFill>
                  <a:srgbClr val="FF0000"/>
                </a:solidFill>
              </a:rPr>
              <a:t>(a, b) </a:t>
            </a:r>
            <a:r>
              <a:rPr lang="en-US" dirty="0">
                <a:solidFill>
                  <a:srgbClr val="FF0000"/>
                </a:solidFill>
                <a:sym typeface="Symbol"/>
              </a:rPr>
              <a:t> </a:t>
            </a:r>
            <a:r>
              <a:rPr lang="en-US" dirty="0">
                <a:solidFill>
                  <a:srgbClr val="FF0000"/>
                </a:solidFill>
              </a:rPr>
              <a:t>R</a:t>
            </a:r>
            <a:r>
              <a:rPr lang="en-US" dirty="0"/>
              <a:t>, we say </a:t>
            </a:r>
            <a:r>
              <a:rPr lang="en-US" dirty="0">
                <a:solidFill>
                  <a:srgbClr val="FF0000"/>
                </a:solidFill>
              </a:rPr>
              <a:t>a</a:t>
            </a:r>
            <a:r>
              <a:rPr lang="en-US" dirty="0"/>
              <a:t> is </a:t>
            </a:r>
            <a:r>
              <a:rPr lang="en-US" dirty="0">
                <a:solidFill>
                  <a:srgbClr val="FF0000"/>
                </a:solidFill>
              </a:rPr>
              <a:t>related</a:t>
            </a:r>
            <a:r>
              <a:rPr lang="en-US" dirty="0"/>
              <a:t> to </a:t>
            </a:r>
            <a:r>
              <a:rPr lang="en-US" dirty="0">
                <a:solidFill>
                  <a:srgbClr val="FF0000"/>
                </a:solidFill>
              </a:rPr>
              <a:t>b</a:t>
            </a:r>
            <a:r>
              <a:rPr lang="en-US" dirty="0"/>
              <a:t> by </a:t>
            </a:r>
            <a:r>
              <a:rPr lang="en-US" dirty="0">
                <a:solidFill>
                  <a:srgbClr val="FF0000"/>
                </a:solidFill>
              </a:rPr>
              <a:t>R</a:t>
            </a:r>
            <a:r>
              <a:rPr lang="en-US" dirty="0"/>
              <a:t>, </a:t>
            </a:r>
          </a:p>
          <a:p>
            <a:pPr>
              <a:buNone/>
            </a:pPr>
            <a:r>
              <a:rPr lang="en-US" dirty="0"/>
              <a:t>		written </a:t>
            </a:r>
            <a:r>
              <a:rPr lang="en-US" b="1" dirty="0">
                <a:solidFill>
                  <a:srgbClr val="FF0000"/>
                </a:solidFill>
              </a:rPr>
              <a:t>a R b</a:t>
            </a:r>
            <a:r>
              <a:rPr lang="en-US" dirty="0"/>
              <a:t>. </a:t>
            </a:r>
          </a:p>
          <a:p>
            <a:pPr>
              <a:buNone/>
            </a:pPr>
            <a:r>
              <a:rPr lang="en-US" dirty="0"/>
              <a:t>	</a:t>
            </a:r>
          </a:p>
          <a:p>
            <a:pPr>
              <a:buNone/>
            </a:pPr>
            <a:r>
              <a:rPr lang="en-US" dirty="0"/>
              <a:t>	Otherwise if </a:t>
            </a:r>
            <a:r>
              <a:rPr lang="en-US" dirty="0">
                <a:solidFill>
                  <a:srgbClr val="FF0000"/>
                </a:solidFill>
              </a:rPr>
              <a:t>(a, b) </a:t>
            </a:r>
            <a:r>
              <a:rPr lang="en-US" dirty="0">
                <a:solidFill>
                  <a:srgbClr val="FF0000"/>
                </a:solidFill>
                <a:sym typeface="Symbol"/>
              </a:rPr>
              <a:t> </a:t>
            </a:r>
            <a:r>
              <a:rPr lang="en-US" dirty="0">
                <a:solidFill>
                  <a:srgbClr val="FF0000"/>
                </a:solidFill>
              </a:rPr>
              <a:t>R</a:t>
            </a:r>
            <a:r>
              <a:rPr lang="en-US" dirty="0"/>
              <a:t>, we write </a:t>
            </a:r>
            <a:r>
              <a:rPr lang="en-US" b="1" dirty="0">
                <a:solidFill>
                  <a:srgbClr val="FF0000"/>
                </a:solidFill>
              </a:rPr>
              <a:t>a R b</a:t>
            </a:r>
            <a:r>
              <a:rPr lang="en-US" dirty="0"/>
              <a:t>.</a:t>
            </a:r>
          </a:p>
          <a:p>
            <a:pPr>
              <a:buNone/>
            </a:pPr>
            <a:endParaRPr lang="en-US" dirty="0"/>
          </a:p>
          <a:p>
            <a:endParaRPr lang="en-US" dirty="0"/>
          </a:p>
          <a:p>
            <a:endParaRPr lang="en-US" dirty="0"/>
          </a:p>
        </p:txBody>
      </p:sp>
      <p:cxnSp>
        <p:nvCxnSpPr>
          <p:cNvPr id="9" name="Straight Connector 8"/>
          <p:cNvCxnSpPr/>
          <p:nvPr/>
        </p:nvCxnSpPr>
        <p:spPr>
          <a:xfrm rot="5400000">
            <a:off x="6646536" y="5069210"/>
            <a:ext cx="30480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14</a:t>
            </a:fld>
            <a:endParaRPr lang="en-US"/>
          </a:p>
        </p:txBody>
      </p:sp>
      <p:sp>
        <p:nvSpPr>
          <p:cNvPr id="4" name="Content Placeholder 3"/>
          <p:cNvSpPr>
            <a:spLocks noGrp="1"/>
          </p:cNvSpPr>
          <p:nvPr>
            <p:ph sz="quarter" idx="1"/>
          </p:nvPr>
        </p:nvSpPr>
        <p:spPr/>
        <p:txBody>
          <a:bodyPr>
            <a:normAutofit fontScale="85000" lnSpcReduction="20000"/>
          </a:bodyPr>
          <a:lstStyle/>
          <a:p>
            <a:r>
              <a:rPr lang="en-US" dirty="0"/>
              <a:t>Let A = </a:t>
            </a:r>
            <a:r>
              <a:rPr lang="en-US" dirty="0">
                <a:solidFill>
                  <a:srgbClr val="FF0000"/>
                </a:solidFill>
              </a:rPr>
              <a:t>{1, 2}</a:t>
            </a:r>
            <a:r>
              <a:rPr lang="en-US" dirty="0"/>
              <a:t>,	B = </a:t>
            </a:r>
            <a:r>
              <a:rPr lang="en-US" dirty="0">
                <a:solidFill>
                  <a:srgbClr val="FF0000"/>
                </a:solidFill>
              </a:rPr>
              <a:t>{1, 2, 3}</a:t>
            </a:r>
          </a:p>
          <a:p>
            <a:pPr>
              <a:buNone/>
            </a:pPr>
            <a:r>
              <a:rPr lang="en-US" dirty="0"/>
              <a:t>	Then </a:t>
            </a:r>
            <a:r>
              <a:rPr lang="en-US" dirty="0">
                <a:solidFill>
                  <a:srgbClr val="FF0000"/>
                </a:solidFill>
              </a:rPr>
              <a:t>A </a:t>
            </a:r>
            <a:r>
              <a:rPr lang="en-US" dirty="0">
                <a:solidFill>
                  <a:srgbClr val="FF0000"/>
                </a:solidFill>
                <a:sym typeface="Symbol"/>
              </a:rPr>
              <a:t></a:t>
            </a:r>
            <a:r>
              <a:rPr lang="en-US" dirty="0">
                <a:solidFill>
                  <a:srgbClr val="FF0000"/>
                </a:solidFill>
              </a:rPr>
              <a:t> B</a:t>
            </a:r>
            <a:r>
              <a:rPr lang="en-US" dirty="0"/>
              <a:t> = {</a:t>
            </a:r>
            <a:r>
              <a:rPr lang="en-US" dirty="0">
                <a:solidFill>
                  <a:srgbClr val="FF0000"/>
                </a:solidFill>
              </a:rPr>
              <a:t>(1, 1), (1, 2), (1, 3), (2, 1), (2, 2), (2, 3)</a:t>
            </a:r>
            <a:r>
              <a:rPr lang="en-US" dirty="0"/>
              <a:t>}</a:t>
            </a:r>
          </a:p>
          <a:p>
            <a:pPr>
              <a:buNone/>
            </a:pPr>
            <a:r>
              <a:rPr lang="en-US" dirty="0"/>
              <a:t>	</a:t>
            </a:r>
            <a:r>
              <a:rPr lang="pt-BR" dirty="0"/>
              <a:t>Let	</a:t>
            </a:r>
            <a:endParaRPr lang="en-US" dirty="0"/>
          </a:p>
          <a:p>
            <a:pPr>
              <a:buNone/>
            </a:pPr>
            <a:r>
              <a:rPr lang="pt-BR" dirty="0"/>
              <a:t>		R1 = </a:t>
            </a:r>
            <a:r>
              <a:rPr lang="pt-BR" dirty="0">
                <a:solidFill>
                  <a:srgbClr val="FF0000"/>
                </a:solidFill>
              </a:rPr>
              <a:t>{(1,1), (1, 3), (2, 2)}</a:t>
            </a:r>
            <a:endParaRPr lang="en-US" dirty="0">
              <a:solidFill>
                <a:srgbClr val="FF0000"/>
              </a:solidFill>
            </a:endParaRPr>
          </a:p>
          <a:p>
            <a:pPr>
              <a:buNone/>
            </a:pPr>
            <a:r>
              <a:rPr lang="pt-BR" dirty="0"/>
              <a:t>		R2 = </a:t>
            </a:r>
            <a:r>
              <a:rPr lang="pt-BR" dirty="0">
                <a:solidFill>
                  <a:srgbClr val="FF0000"/>
                </a:solidFill>
              </a:rPr>
              <a:t>{(1, 2), (2, 1), (2, 2), (2, 3)}</a:t>
            </a:r>
            <a:endParaRPr lang="en-US" dirty="0">
              <a:solidFill>
                <a:srgbClr val="FF0000"/>
              </a:solidFill>
            </a:endParaRPr>
          </a:p>
          <a:p>
            <a:pPr>
              <a:buNone/>
            </a:pPr>
            <a:r>
              <a:rPr lang="pt-BR" dirty="0"/>
              <a:t>		R3 = </a:t>
            </a:r>
            <a:r>
              <a:rPr lang="pt-BR" dirty="0">
                <a:solidFill>
                  <a:srgbClr val="FF0000"/>
                </a:solidFill>
              </a:rPr>
              <a:t>{(1, 1)}</a:t>
            </a:r>
            <a:endParaRPr lang="en-US" dirty="0">
              <a:solidFill>
                <a:srgbClr val="FF0000"/>
              </a:solidFill>
            </a:endParaRPr>
          </a:p>
          <a:p>
            <a:pPr>
              <a:buNone/>
            </a:pPr>
            <a:r>
              <a:rPr lang="pt-BR" dirty="0"/>
              <a:t>		R4 = </a:t>
            </a:r>
            <a:r>
              <a:rPr lang="pt-BR" dirty="0">
                <a:solidFill>
                  <a:srgbClr val="FF0000"/>
                </a:solidFill>
              </a:rPr>
              <a:t>A </a:t>
            </a:r>
            <a:r>
              <a:rPr lang="en-US" dirty="0">
                <a:solidFill>
                  <a:srgbClr val="FF0000"/>
                </a:solidFill>
                <a:sym typeface="Symbol"/>
              </a:rPr>
              <a:t></a:t>
            </a:r>
            <a:r>
              <a:rPr lang="pt-BR" dirty="0">
                <a:solidFill>
                  <a:srgbClr val="FF0000"/>
                </a:solidFill>
              </a:rPr>
              <a:t> B 	</a:t>
            </a:r>
            <a:endParaRPr lang="en-US" dirty="0">
              <a:solidFill>
                <a:srgbClr val="FF0000"/>
              </a:solidFill>
            </a:endParaRPr>
          </a:p>
          <a:p>
            <a:pPr>
              <a:buNone/>
            </a:pPr>
            <a:r>
              <a:rPr lang="pt-BR" dirty="0"/>
              <a:t>		R5 = </a:t>
            </a:r>
            <a:r>
              <a:rPr lang="en-US" dirty="0">
                <a:solidFill>
                  <a:srgbClr val="FF0000"/>
                </a:solidFill>
                <a:sym typeface="Symbol"/>
              </a:rPr>
              <a:t></a:t>
            </a:r>
            <a:r>
              <a:rPr lang="pt-BR" dirty="0"/>
              <a:t> 	</a:t>
            </a:r>
          </a:p>
          <a:p>
            <a:pPr>
              <a:buNone/>
            </a:pPr>
            <a:r>
              <a:rPr lang="pt-BR" dirty="0"/>
              <a:t>	</a:t>
            </a:r>
            <a:endParaRPr lang="en-US" dirty="0"/>
          </a:p>
          <a:p>
            <a:pPr>
              <a:buNone/>
            </a:pPr>
            <a:r>
              <a:rPr lang="pt-BR" dirty="0"/>
              <a:t>	</a:t>
            </a:r>
            <a:r>
              <a:rPr lang="en-US" dirty="0"/>
              <a:t>All being subsets of </a:t>
            </a:r>
            <a:r>
              <a:rPr lang="en-US" dirty="0">
                <a:solidFill>
                  <a:srgbClr val="FF0000"/>
                </a:solidFill>
              </a:rPr>
              <a:t>A </a:t>
            </a:r>
            <a:r>
              <a:rPr lang="en-US" dirty="0">
                <a:solidFill>
                  <a:srgbClr val="FF0000"/>
                </a:solidFill>
                <a:sym typeface="Symbol"/>
              </a:rPr>
              <a:t></a:t>
            </a:r>
            <a:r>
              <a:rPr lang="en-US" dirty="0">
                <a:solidFill>
                  <a:srgbClr val="FF0000"/>
                </a:solidFill>
              </a:rPr>
              <a:t> B</a:t>
            </a:r>
            <a:r>
              <a:rPr lang="en-US" dirty="0"/>
              <a:t> are </a:t>
            </a:r>
            <a:r>
              <a:rPr lang="en-US" dirty="0">
                <a:solidFill>
                  <a:srgbClr val="FF0000"/>
                </a:solidFill>
              </a:rPr>
              <a:t>relations</a:t>
            </a:r>
            <a:r>
              <a:rPr lang="en-US" dirty="0"/>
              <a:t> from </a:t>
            </a:r>
            <a:r>
              <a:rPr lang="en-US" dirty="0">
                <a:solidFill>
                  <a:srgbClr val="FF0000"/>
                </a:solidFill>
              </a:rPr>
              <a:t>A to B</a:t>
            </a:r>
            <a:r>
              <a:rPr lang="en-US" dirty="0"/>
              <a:t>.</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20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20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20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20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20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DOMAIN OF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15</a:t>
            </a:fld>
            <a:endParaRPr lang="en-US"/>
          </a:p>
        </p:txBody>
      </p:sp>
      <p:sp>
        <p:nvSpPr>
          <p:cNvPr id="4" name="Content Placeholder 3"/>
          <p:cNvSpPr>
            <a:spLocks noGrp="1"/>
          </p:cNvSpPr>
          <p:nvPr>
            <p:ph sz="quarter" idx="1"/>
          </p:nvPr>
        </p:nvSpPr>
        <p:spPr>
          <a:xfrm>
            <a:off x="1981200" y="1772770"/>
            <a:ext cx="8229600" cy="3312459"/>
          </a:xfrm>
        </p:spPr>
        <p:txBody>
          <a:bodyPr>
            <a:normAutofit/>
          </a:bodyPr>
          <a:lstStyle/>
          <a:p>
            <a:r>
              <a:rPr lang="en-US" dirty="0"/>
              <a:t>The </a:t>
            </a:r>
            <a:r>
              <a:rPr lang="en-US" dirty="0">
                <a:solidFill>
                  <a:srgbClr val="FF0000"/>
                </a:solidFill>
              </a:rPr>
              <a:t>domain</a:t>
            </a:r>
            <a:r>
              <a:rPr lang="en-US" dirty="0"/>
              <a:t> of a</a:t>
            </a:r>
            <a:r>
              <a:rPr lang="en-US" dirty="0">
                <a:solidFill>
                  <a:srgbClr val="FF0000"/>
                </a:solidFill>
              </a:rPr>
              <a:t> relation R</a:t>
            </a:r>
            <a:r>
              <a:rPr lang="en-US" dirty="0"/>
              <a:t> from </a:t>
            </a:r>
            <a:r>
              <a:rPr lang="en-US" dirty="0">
                <a:solidFill>
                  <a:srgbClr val="FF0000"/>
                </a:solidFill>
              </a:rPr>
              <a:t>A</a:t>
            </a:r>
            <a:r>
              <a:rPr lang="en-US" dirty="0"/>
              <a:t> to </a:t>
            </a:r>
            <a:r>
              <a:rPr lang="en-US" dirty="0">
                <a:solidFill>
                  <a:srgbClr val="FF0000"/>
                </a:solidFill>
              </a:rPr>
              <a:t>B</a:t>
            </a:r>
            <a:r>
              <a:rPr lang="en-US" dirty="0"/>
              <a:t> is the set of all </a:t>
            </a:r>
            <a:r>
              <a:rPr lang="en-US" dirty="0">
                <a:solidFill>
                  <a:srgbClr val="FF0000"/>
                </a:solidFill>
              </a:rPr>
              <a:t>first elements</a:t>
            </a:r>
            <a:r>
              <a:rPr lang="en-US" dirty="0"/>
              <a:t> of the </a:t>
            </a:r>
            <a:r>
              <a:rPr lang="en-US" dirty="0">
                <a:solidFill>
                  <a:srgbClr val="FF0000"/>
                </a:solidFill>
              </a:rPr>
              <a:t>ordered pairs</a:t>
            </a:r>
            <a:r>
              <a:rPr lang="en-US" dirty="0"/>
              <a:t> which belong to </a:t>
            </a:r>
            <a:r>
              <a:rPr lang="en-US" dirty="0">
                <a:solidFill>
                  <a:srgbClr val="FF0000"/>
                </a:solidFill>
              </a:rPr>
              <a:t>R</a:t>
            </a:r>
            <a:r>
              <a:rPr lang="en-US" dirty="0"/>
              <a:t> denoted </a:t>
            </a:r>
            <a:r>
              <a:rPr lang="en-US" dirty="0">
                <a:solidFill>
                  <a:srgbClr val="FF0000"/>
                </a:solidFill>
              </a:rPr>
              <a:t>Dom(R)</a:t>
            </a:r>
            <a:r>
              <a:rPr lang="en-US" dirty="0"/>
              <a:t>.</a:t>
            </a:r>
          </a:p>
          <a:p>
            <a:endParaRPr lang="en-US" dirty="0"/>
          </a:p>
          <a:p>
            <a:r>
              <a:rPr lang="en-US" dirty="0"/>
              <a:t>Symbolically:	</a:t>
            </a:r>
          </a:p>
          <a:p>
            <a:pPr>
              <a:buNone/>
            </a:pPr>
            <a:r>
              <a:rPr lang="en-US" dirty="0"/>
              <a:t>			</a:t>
            </a:r>
            <a:r>
              <a:rPr lang="en-US" dirty="0">
                <a:solidFill>
                  <a:srgbClr val="FF0000"/>
                </a:solidFill>
              </a:rPr>
              <a:t>Dom (R) = {a </a:t>
            </a:r>
            <a:r>
              <a:rPr lang="en-US" dirty="0">
                <a:solidFill>
                  <a:srgbClr val="FF0000"/>
                </a:solidFill>
                <a:sym typeface="Symbol"/>
              </a:rPr>
              <a:t> </a:t>
            </a:r>
            <a:r>
              <a:rPr lang="en-US" dirty="0">
                <a:solidFill>
                  <a:srgbClr val="FF0000"/>
                </a:solidFill>
              </a:rPr>
              <a:t>A | (a, b) </a:t>
            </a:r>
            <a:r>
              <a:rPr lang="en-US" dirty="0">
                <a:solidFill>
                  <a:srgbClr val="FF0000"/>
                </a:solidFill>
                <a:sym typeface="Symbol"/>
              </a:rPr>
              <a:t> </a:t>
            </a:r>
            <a:r>
              <a:rPr lang="en-US" dirty="0">
                <a:solidFill>
                  <a:srgbClr val="FF0000"/>
                </a:solidFill>
              </a:rPr>
              <a:t>R}</a:t>
            </a:r>
          </a:p>
          <a:p>
            <a:endParaRPr lang="en-US" dirty="0"/>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RANGE OF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16</a:t>
            </a:fld>
            <a:endParaRPr lang="en-US"/>
          </a:p>
        </p:txBody>
      </p:sp>
      <p:sp>
        <p:nvSpPr>
          <p:cNvPr id="4" name="Content Placeholder 3"/>
          <p:cNvSpPr>
            <a:spLocks noGrp="1"/>
          </p:cNvSpPr>
          <p:nvPr>
            <p:ph sz="quarter" idx="1"/>
          </p:nvPr>
        </p:nvSpPr>
        <p:spPr/>
        <p:txBody>
          <a:bodyPr>
            <a:normAutofit/>
          </a:bodyPr>
          <a:lstStyle/>
          <a:p>
            <a:r>
              <a:rPr lang="en-US" dirty="0"/>
              <a:t>The </a:t>
            </a:r>
            <a:r>
              <a:rPr lang="en-US" dirty="0">
                <a:solidFill>
                  <a:srgbClr val="FF0000"/>
                </a:solidFill>
              </a:rPr>
              <a:t>range</a:t>
            </a:r>
            <a:r>
              <a:rPr lang="en-US" dirty="0"/>
              <a:t> of a </a:t>
            </a:r>
            <a:r>
              <a:rPr lang="en-US" dirty="0">
                <a:solidFill>
                  <a:srgbClr val="FF0000"/>
                </a:solidFill>
              </a:rPr>
              <a:t>relation R</a:t>
            </a:r>
            <a:r>
              <a:rPr lang="en-US" dirty="0"/>
              <a:t> from </a:t>
            </a:r>
            <a:r>
              <a:rPr lang="en-US" dirty="0">
                <a:solidFill>
                  <a:srgbClr val="FF0000"/>
                </a:solidFill>
              </a:rPr>
              <a:t>A</a:t>
            </a:r>
            <a:r>
              <a:rPr lang="en-US" dirty="0"/>
              <a:t> to </a:t>
            </a:r>
            <a:r>
              <a:rPr lang="en-US" dirty="0">
                <a:solidFill>
                  <a:srgbClr val="FF0000"/>
                </a:solidFill>
              </a:rPr>
              <a:t>B</a:t>
            </a:r>
            <a:r>
              <a:rPr lang="en-US" dirty="0"/>
              <a:t> is the set of all </a:t>
            </a:r>
            <a:r>
              <a:rPr lang="en-US" dirty="0">
                <a:solidFill>
                  <a:srgbClr val="FF0000"/>
                </a:solidFill>
              </a:rPr>
              <a:t>second elements</a:t>
            </a:r>
            <a:r>
              <a:rPr lang="en-US" dirty="0"/>
              <a:t> of the </a:t>
            </a:r>
            <a:r>
              <a:rPr lang="en-US" dirty="0">
                <a:solidFill>
                  <a:srgbClr val="FF0000"/>
                </a:solidFill>
              </a:rPr>
              <a:t>ordered pairs</a:t>
            </a:r>
            <a:r>
              <a:rPr lang="en-US" dirty="0"/>
              <a:t> which belong to </a:t>
            </a:r>
            <a:r>
              <a:rPr lang="en-US" dirty="0">
                <a:solidFill>
                  <a:srgbClr val="FF0000"/>
                </a:solidFill>
              </a:rPr>
              <a:t>R</a:t>
            </a:r>
            <a:r>
              <a:rPr lang="en-US" dirty="0"/>
              <a:t> denoted </a:t>
            </a:r>
            <a:r>
              <a:rPr lang="en-US" dirty="0">
                <a:solidFill>
                  <a:srgbClr val="FF0000"/>
                </a:solidFill>
              </a:rPr>
              <a:t>Ran(R)</a:t>
            </a:r>
            <a:r>
              <a:rPr lang="en-US" dirty="0"/>
              <a:t>.</a:t>
            </a:r>
          </a:p>
          <a:p>
            <a:endParaRPr lang="en-US" dirty="0"/>
          </a:p>
          <a:p>
            <a:r>
              <a:rPr lang="en-US" dirty="0"/>
              <a:t>Symbolically:	 </a:t>
            </a:r>
          </a:p>
          <a:p>
            <a:pPr>
              <a:buNone/>
            </a:pPr>
            <a:r>
              <a:rPr lang="en-US" dirty="0"/>
              <a:t>			</a:t>
            </a:r>
            <a:r>
              <a:rPr lang="en-US" dirty="0">
                <a:solidFill>
                  <a:srgbClr val="FF0000"/>
                </a:solidFill>
              </a:rPr>
              <a:t>Ran(R) = {b </a:t>
            </a:r>
            <a:r>
              <a:rPr lang="en-US" dirty="0">
                <a:solidFill>
                  <a:srgbClr val="FF0000"/>
                </a:solidFill>
                <a:sym typeface="Symbol"/>
              </a:rPr>
              <a:t></a:t>
            </a:r>
            <a:r>
              <a:rPr lang="en-US" dirty="0">
                <a:solidFill>
                  <a:srgbClr val="FF0000"/>
                </a:solidFill>
              </a:rPr>
              <a:t>B|(</a:t>
            </a:r>
            <a:r>
              <a:rPr lang="en-US" dirty="0" err="1">
                <a:solidFill>
                  <a:srgbClr val="FF0000"/>
                </a:solidFill>
              </a:rPr>
              <a:t>a,b</a:t>
            </a:r>
            <a:r>
              <a:rPr lang="en-US" dirty="0">
                <a:solidFill>
                  <a:srgbClr val="FF0000"/>
                </a:solidFill>
              </a:rPr>
              <a:t>) </a:t>
            </a:r>
            <a:r>
              <a:rPr lang="en-US" dirty="0">
                <a:solidFill>
                  <a:srgbClr val="FF0000"/>
                </a:solidFill>
                <a:sym typeface="Symbol"/>
              </a:rPr>
              <a:t></a:t>
            </a:r>
            <a:r>
              <a:rPr lang="en-US" dirty="0">
                <a:solidFill>
                  <a:srgbClr val="FF0000"/>
                </a:solidFill>
              </a:rPr>
              <a:t> R}</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17</a:t>
            </a:fld>
            <a:endParaRPr lang="en-US"/>
          </a:p>
        </p:txBody>
      </p:sp>
      <p:sp>
        <p:nvSpPr>
          <p:cNvPr id="4" name="Content Placeholder 3"/>
          <p:cNvSpPr>
            <a:spLocks noGrp="1"/>
          </p:cNvSpPr>
          <p:nvPr>
            <p:ph sz="quarter" idx="1"/>
          </p:nvPr>
        </p:nvSpPr>
        <p:spPr/>
        <p:txBody>
          <a:bodyPr>
            <a:normAutofit fontScale="92500" lnSpcReduction="10000"/>
          </a:bodyPr>
          <a:lstStyle/>
          <a:p>
            <a:r>
              <a:rPr lang="en-US" dirty="0"/>
              <a:t>Let	A =</a:t>
            </a:r>
            <a:r>
              <a:rPr lang="en-US" dirty="0">
                <a:solidFill>
                  <a:srgbClr val="FF0000"/>
                </a:solidFill>
              </a:rPr>
              <a:t> {1, 2}</a:t>
            </a:r>
            <a:r>
              <a:rPr lang="en-US" dirty="0"/>
              <a:t>,	 B = </a:t>
            </a:r>
            <a:r>
              <a:rPr lang="en-US" dirty="0">
                <a:solidFill>
                  <a:srgbClr val="FF0000"/>
                </a:solidFill>
              </a:rPr>
              <a:t>{1, 2, 3}</a:t>
            </a:r>
            <a:r>
              <a:rPr lang="en-US" dirty="0"/>
              <a:t>,</a:t>
            </a:r>
          </a:p>
          <a:p>
            <a:pPr>
              <a:buNone/>
            </a:pPr>
            <a:r>
              <a:rPr lang="en-US" dirty="0"/>
              <a:t>	Define a binary relation R from A to B as follows:</a:t>
            </a:r>
          </a:p>
          <a:p>
            <a:pPr>
              <a:buNone/>
            </a:pPr>
            <a:r>
              <a:rPr lang="en-US" dirty="0"/>
              <a:t>			</a:t>
            </a:r>
            <a:r>
              <a:rPr lang="pt-BR" dirty="0"/>
              <a:t>R =</a:t>
            </a:r>
            <a:r>
              <a:rPr lang="pt-BR" dirty="0">
                <a:solidFill>
                  <a:srgbClr val="FF0000"/>
                </a:solidFill>
              </a:rPr>
              <a:t> {(a, b) </a:t>
            </a:r>
            <a:r>
              <a:rPr lang="en-US" dirty="0">
                <a:solidFill>
                  <a:srgbClr val="FF0000"/>
                </a:solidFill>
                <a:sym typeface="Symbol"/>
              </a:rPr>
              <a:t> </a:t>
            </a:r>
            <a:r>
              <a:rPr lang="pt-BR" dirty="0">
                <a:solidFill>
                  <a:srgbClr val="FF0000"/>
                </a:solidFill>
              </a:rPr>
              <a:t>A </a:t>
            </a:r>
            <a:r>
              <a:rPr lang="en-US" dirty="0">
                <a:solidFill>
                  <a:srgbClr val="FF0000"/>
                </a:solidFill>
                <a:sym typeface="Symbol"/>
              </a:rPr>
              <a:t></a:t>
            </a:r>
            <a:r>
              <a:rPr lang="pt-BR" dirty="0">
                <a:solidFill>
                  <a:srgbClr val="FF0000"/>
                </a:solidFill>
              </a:rPr>
              <a:t> B | a &lt; b}</a:t>
            </a:r>
            <a:endParaRPr lang="en-US" dirty="0">
              <a:solidFill>
                <a:srgbClr val="FF0000"/>
              </a:solidFill>
            </a:endParaRPr>
          </a:p>
          <a:p>
            <a:pPr>
              <a:buNone/>
            </a:pPr>
            <a:r>
              <a:rPr lang="pt-BR" dirty="0"/>
              <a:t>	Then</a:t>
            </a:r>
            <a:endParaRPr lang="en-US" dirty="0"/>
          </a:p>
          <a:p>
            <a:pPr lvl="1"/>
            <a:r>
              <a:rPr lang="en-US" sz="2600" dirty="0">
                <a:solidFill>
                  <a:srgbClr val="002060"/>
                </a:solidFill>
              </a:rPr>
              <a:t>Find the ordered pairs in R.</a:t>
            </a:r>
          </a:p>
          <a:p>
            <a:pPr lvl="1"/>
            <a:r>
              <a:rPr lang="en-US" sz="2600" dirty="0">
                <a:solidFill>
                  <a:srgbClr val="002060"/>
                </a:solidFill>
              </a:rPr>
              <a:t>Find the Domain and Range of R.</a:t>
            </a:r>
          </a:p>
          <a:p>
            <a:pPr lvl="1"/>
            <a:r>
              <a:rPr lang="en-US" sz="2600" dirty="0">
                <a:solidFill>
                  <a:srgbClr val="002060"/>
                </a:solidFill>
              </a:rPr>
              <a:t>Is 1R3, 2R2?</a:t>
            </a:r>
          </a:p>
          <a:p>
            <a:endParaRPr lang="en-US" dirty="0">
              <a:solidFill>
                <a:srgbClr val="C00000"/>
              </a:solidFill>
            </a:endParaRPr>
          </a:p>
          <a:p>
            <a:pPr>
              <a:buNone/>
            </a:pPr>
            <a:r>
              <a:rPr lang="pt-BR" dirty="0"/>
              <a:t>			</a:t>
            </a:r>
            <a:endParaRPr lang="en-US" dirty="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fade">
                                      <p:cBhvr>
                                        <p:cTn id="25" dur="2000"/>
                                        <p:tgtEl>
                                          <p:spTgt spid="4">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fade">
                                      <p:cBhvr>
                                        <p:cTn id="28" dur="2000"/>
                                        <p:tgtEl>
                                          <p:spTgt spid="4">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2000"/>
                                        <p:tgtEl>
                                          <p:spTgt spid="4">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
                                            <p:txEl>
                                              <p:pRg st="8" end="8"/>
                                            </p:txEl>
                                          </p:spTgt>
                                        </p:tgtEl>
                                        <p:attrNameLst>
                                          <p:attrName>style.visibility</p:attrName>
                                        </p:attrNameLst>
                                      </p:cBhvr>
                                      <p:to>
                                        <p:strVal val="visible"/>
                                      </p:to>
                                    </p:set>
                                    <p:animEffect transition="in" filter="fade">
                                      <p:cBhvr>
                                        <p:cTn id="36"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solidFill>
                  <a:srgbClr val="0070C0"/>
                </a:solidFill>
              </a:rPr>
              <a:t>SOLUTION</a:t>
            </a:r>
            <a:endParaRPr lang="en-US"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18</a:t>
            </a:fld>
            <a:endParaRPr lang="en-US"/>
          </a:p>
        </p:txBody>
      </p:sp>
      <p:sp>
        <p:nvSpPr>
          <p:cNvPr id="4" name="Content Placeholder 3"/>
          <p:cNvSpPr>
            <a:spLocks noGrp="1"/>
          </p:cNvSpPr>
          <p:nvPr>
            <p:ph sz="quarter" idx="1"/>
          </p:nvPr>
        </p:nvSpPr>
        <p:spPr>
          <a:xfrm>
            <a:off x="1981200" y="1219200"/>
            <a:ext cx="8229600" cy="5029200"/>
          </a:xfrm>
        </p:spPr>
        <p:txBody>
          <a:bodyPr>
            <a:normAutofit fontScale="85000" lnSpcReduction="20000"/>
          </a:bodyPr>
          <a:lstStyle/>
          <a:p>
            <a:r>
              <a:rPr lang="en-US" dirty="0"/>
              <a:t>Given </a:t>
            </a:r>
          </a:p>
          <a:p>
            <a:pPr>
              <a:buNone/>
            </a:pPr>
            <a:r>
              <a:rPr lang="en-US" dirty="0"/>
              <a:t>		</a:t>
            </a:r>
            <a:r>
              <a:rPr lang="en-US" dirty="0">
                <a:solidFill>
                  <a:srgbClr val="FF0000"/>
                </a:solidFill>
              </a:rPr>
              <a:t> </a:t>
            </a:r>
            <a:r>
              <a:rPr lang="en-US" dirty="0"/>
              <a:t>A =</a:t>
            </a:r>
            <a:r>
              <a:rPr lang="en-US" dirty="0">
                <a:solidFill>
                  <a:srgbClr val="FF0000"/>
                </a:solidFill>
              </a:rPr>
              <a:t> {1, 2}</a:t>
            </a:r>
            <a:r>
              <a:rPr lang="en-US" dirty="0"/>
              <a:t>  and  B =</a:t>
            </a:r>
            <a:r>
              <a:rPr lang="en-US" dirty="0">
                <a:solidFill>
                  <a:srgbClr val="FF0000"/>
                </a:solidFill>
              </a:rPr>
              <a:t> {1, 2, 3}</a:t>
            </a:r>
            <a:r>
              <a:rPr lang="en-US" dirty="0"/>
              <a:t>,</a:t>
            </a:r>
          </a:p>
          <a:p>
            <a:pPr>
              <a:buNone/>
            </a:pPr>
            <a:r>
              <a:rPr lang="en-US" dirty="0"/>
              <a:t>	  	 A </a:t>
            </a:r>
            <a:r>
              <a:rPr lang="en-US" dirty="0">
                <a:sym typeface="Symbol"/>
              </a:rPr>
              <a:t></a:t>
            </a:r>
            <a:r>
              <a:rPr lang="en-US" dirty="0"/>
              <a:t> B = </a:t>
            </a:r>
            <a:r>
              <a:rPr lang="en-US" dirty="0">
                <a:solidFill>
                  <a:srgbClr val="FF0000"/>
                </a:solidFill>
              </a:rPr>
              <a:t>{(1,1), (1,2), (1,3), (2,1), (2,2), (2,3)}</a:t>
            </a:r>
          </a:p>
          <a:p>
            <a:pPr>
              <a:buNone/>
            </a:pPr>
            <a:endParaRPr lang="en-US" dirty="0">
              <a:solidFill>
                <a:srgbClr val="FF0000"/>
              </a:solidFill>
            </a:endParaRPr>
          </a:p>
          <a:p>
            <a:pPr marL="514350" indent="-514350">
              <a:buNone/>
            </a:pPr>
            <a:r>
              <a:rPr lang="en-US" dirty="0"/>
              <a:t>	</a:t>
            </a:r>
            <a:r>
              <a:rPr lang="en-US" b="1" dirty="0">
                <a:solidFill>
                  <a:srgbClr val="249C2F"/>
                </a:solidFill>
              </a:rPr>
              <a:t>a.)</a:t>
            </a:r>
            <a:r>
              <a:rPr lang="en-US" dirty="0">
                <a:solidFill>
                  <a:srgbClr val="002060"/>
                </a:solidFill>
              </a:rPr>
              <a:t> Find the ordered pairs in R?</a:t>
            </a:r>
          </a:p>
          <a:p>
            <a:pPr marL="514350" indent="-514350">
              <a:buNone/>
            </a:pPr>
            <a:r>
              <a:rPr lang="en-US" dirty="0"/>
              <a:t>		 R = {(a, b) </a:t>
            </a:r>
            <a:r>
              <a:rPr lang="en-US" dirty="0">
                <a:sym typeface="Symbol"/>
              </a:rPr>
              <a:t></a:t>
            </a:r>
            <a:r>
              <a:rPr lang="en-US" dirty="0"/>
              <a:t>A </a:t>
            </a:r>
            <a:r>
              <a:rPr lang="en-US" dirty="0">
                <a:sym typeface="Symbol"/>
              </a:rPr>
              <a:t></a:t>
            </a:r>
            <a:r>
              <a:rPr lang="en-US" dirty="0"/>
              <a:t> B | a &lt; b}</a:t>
            </a:r>
          </a:p>
          <a:p>
            <a:pPr>
              <a:buNone/>
            </a:pPr>
            <a:r>
              <a:rPr lang="en-US" dirty="0"/>
              <a:t>	  	 </a:t>
            </a:r>
            <a:r>
              <a:rPr lang="en-US" dirty="0">
                <a:solidFill>
                  <a:srgbClr val="FF0000"/>
                </a:solidFill>
              </a:rPr>
              <a:t>R = {(1,2), (1,3), (2,3)}</a:t>
            </a:r>
          </a:p>
          <a:p>
            <a:pPr>
              <a:buNone/>
            </a:pPr>
            <a:r>
              <a:rPr lang="en-US" dirty="0"/>
              <a:t>	   </a:t>
            </a:r>
            <a:r>
              <a:rPr lang="en-US" b="1" dirty="0">
                <a:solidFill>
                  <a:srgbClr val="249C2F"/>
                </a:solidFill>
              </a:rPr>
              <a:t>b.)</a:t>
            </a:r>
            <a:r>
              <a:rPr lang="en-US" dirty="0">
                <a:solidFill>
                  <a:srgbClr val="002060"/>
                </a:solidFill>
              </a:rPr>
              <a:t> Find the domain and range of R?</a:t>
            </a:r>
          </a:p>
          <a:p>
            <a:pPr>
              <a:buNone/>
            </a:pPr>
            <a:r>
              <a:rPr lang="en-US" dirty="0"/>
              <a:t>	   	 </a:t>
            </a:r>
            <a:r>
              <a:rPr lang="en-US" dirty="0">
                <a:solidFill>
                  <a:srgbClr val="FF0000"/>
                </a:solidFill>
              </a:rPr>
              <a:t>Dom(R) = {1,2} and Ran(R) = {2, 3}</a:t>
            </a:r>
          </a:p>
          <a:p>
            <a:pPr marL="274320" lvl="1">
              <a:spcBef>
                <a:spcPts val="600"/>
              </a:spcBef>
              <a:buClr>
                <a:schemeClr val="accent1"/>
              </a:buClr>
              <a:buNone/>
            </a:pPr>
            <a:r>
              <a:rPr lang="en-US" sz="2600" dirty="0">
                <a:solidFill>
                  <a:srgbClr val="002060"/>
                </a:solidFill>
              </a:rPr>
              <a:t>	   </a:t>
            </a:r>
            <a:r>
              <a:rPr lang="en-US" sz="2600" b="1" dirty="0">
                <a:solidFill>
                  <a:srgbClr val="249C2F"/>
                </a:solidFill>
              </a:rPr>
              <a:t>c.)</a:t>
            </a:r>
            <a:r>
              <a:rPr lang="en-US" sz="2600" dirty="0">
                <a:solidFill>
                  <a:srgbClr val="002060"/>
                </a:solidFill>
              </a:rPr>
              <a:t> Is 1R3, 2R2?</a:t>
            </a:r>
            <a:endParaRPr lang="en-US" dirty="0"/>
          </a:p>
          <a:p>
            <a:pPr>
              <a:buNone/>
            </a:pPr>
            <a:r>
              <a:rPr lang="en-US" dirty="0"/>
              <a:t>	  	 Since </a:t>
            </a:r>
            <a:r>
              <a:rPr lang="en-US" dirty="0">
                <a:solidFill>
                  <a:srgbClr val="FF0000"/>
                </a:solidFill>
              </a:rPr>
              <a:t>(1,3) </a:t>
            </a:r>
            <a:r>
              <a:rPr lang="en-US" dirty="0">
                <a:solidFill>
                  <a:srgbClr val="FF0000"/>
                </a:solidFill>
                <a:sym typeface="Symbol"/>
              </a:rPr>
              <a:t> </a:t>
            </a:r>
            <a:r>
              <a:rPr lang="en-US" dirty="0">
                <a:solidFill>
                  <a:srgbClr val="FF0000"/>
                </a:solidFill>
              </a:rPr>
              <a:t>R</a:t>
            </a:r>
            <a:r>
              <a:rPr lang="en-US" dirty="0"/>
              <a:t> so </a:t>
            </a:r>
            <a:r>
              <a:rPr lang="en-US" dirty="0">
                <a:solidFill>
                  <a:srgbClr val="FF0000"/>
                </a:solidFill>
              </a:rPr>
              <a:t>1R3</a:t>
            </a:r>
          </a:p>
          <a:p>
            <a:pPr>
              <a:buNone/>
            </a:pPr>
            <a:r>
              <a:rPr lang="en-US" dirty="0"/>
              <a:t>	  	 But </a:t>
            </a:r>
            <a:r>
              <a:rPr lang="en-US" dirty="0">
                <a:solidFill>
                  <a:srgbClr val="FF0000"/>
                </a:solidFill>
              </a:rPr>
              <a:t>(2, 2) </a:t>
            </a:r>
            <a:r>
              <a:rPr lang="en-US" dirty="0">
                <a:solidFill>
                  <a:srgbClr val="FF0000"/>
                </a:solidFill>
                <a:sym typeface="Symbol"/>
              </a:rPr>
              <a:t> </a:t>
            </a:r>
            <a:r>
              <a:rPr lang="en-US" dirty="0">
                <a:solidFill>
                  <a:srgbClr val="FF0000"/>
                </a:solidFill>
              </a:rPr>
              <a:t>R</a:t>
            </a:r>
            <a:r>
              <a:rPr lang="en-US" dirty="0"/>
              <a:t> so </a:t>
            </a:r>
            <a:r>
              <a:rPr lang="en-US" dirty="0">
                <a:solidFill>
                  <a:srgbClr val="FF0000"/>
                </a:solidFill>
              </a:rPr>
              <a:t>2 is not related with 3</a:t>
            </a:r>
            <a:r>
              <a:rPr lang="en-US" dirty="0"/>
              <a:t>.</a:t>
            </a:r>
          </a:p>
          <a:p>
            <a:pPr>
              <a:buNone/>
            </a:pPr>
            <a:r>
              <a:rPr lang="en-US" dirty="0"/>
              <a:t>	</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2000"/>
                                        <p:tgtEl>
                                          <p:spTgt spid="4">
                                            <p:txEl>
                                              <p:pRg st="8" end="8"/>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
                                            <p:txEl>
                                              <p:pRg st="9" end="9"/>
                                            </p:txEl>
                                          </p:spTgt>
                                        </p:tgtEl>
                                        <p:attrNameLst>
                                          <p:attrName>style.visibility</p:attrName>
                                        </p:attrNameLst>
                                      </p:cBhvr>
                                      <p:to>
                                        <p:strVal val="visible"/>
                                      </p:to>
                                    </p:set>
                                    <p:animEffect transition="in" filter="fade">
                                      <p:cBhvr>
                                        <p:cTn id="45" dur="2000"/>
                                        <p:tgtEl>
                                          <p:spTgt spid="4">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
                                            <p:txEl>
                                              <p:pRg st="10" end="10"/>
                                            </p:txEl>
                                          </p:spTgt>
                                        </p:tgtEl>
                                        <p:attrNameLst>
                                          <p:attrName>style.visibility</p:attrName>
                                        </p:attrNameLst>
                                      </p:cBhvr>
                                      <p:to>
                                        <p:strVal val="visible"/>
                                      </p:to>
                                    </p:set>
                                    <p:animEffect transition="in" filter="fade">
                                      <p:cBhvr>
                                        <p:cTn id="50" dur="2000"/>
                                        <p:tgtEl>
                                          <p:spTgt spid="4">
                                            <p:txEl>
                                              <p:pRg st="10" end="1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animEffect transition="in" filter="fade">
                                      <p:cBhvr>
                                        <p:cTn id="55" dur="2000"/>
                                        <p:tgtEl>
                                          <p:spTgt spid="4">
                                            <p:txEl>
                                              <p:pRg st="11" end="1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
                                            <p:txEl>
                                              <p:pRg st="12" end="12"/>
                                            </p:txEl>
                                          </p:spTgt>
                                        </p:tgtEl>
                                        <p:attrNameLst>
                                          <p:attrName>style.visibility</p:attrName>
                                        </p:attrNameLst>
                                      </p:cBhvr>
                                      <p:to>
                                        <p:strVal val="visible"/>
                                      </p:to>
                                    </p:set>
                                    <p:animEffect transition="in" filter="fade">
                                      <p:cBhvr>
                                        <p:cTn id="60" dur="20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19</a:t>
            </a:fld>
            <a:endParaRPr lang="en-US"/>
          </a:p>
        </p:txBody>
      </p:sp>
      <p:sp>
        <p:nvSpPr>
          <p:cNvPr id="4" name="Content Placeholder 3"/>
          <p:cNvSpPr>
            <a:spLocks noGrp="1"/>
          </p:cNvSpPr>
          <p:nvPr>
            <p:ph sz="quarter" idx="1"/>
          </p:nvPr>
        </p:nvSpPr>
        <p:spPr/>
        <p:txBody>
          <a:bodyPr>
            <a:normAutofit fontScale="92500" lnSpcReduction="20000"/>
          </a:bodyPr>
          <a:lstStyle/>
          <a:p>
            <a:r>
              <a:rPr lang="en-US" dirty="0"/>
              <a:t>Let  A =</a:t>
            </a:r>
            <a:r>
              <a:rPr lang="en-US" dirty="0">
                <a:solidFill>
                  <a:srgbClr val="FF0000"/>
                </a:solidFill>
              </a:rPr>
              <a:t> {eggs, milk, corn}</a:t>
            </a:r>
            <a:r>
              <a:rPr lang="en-US" dirty="0"/>
              <a:t> and</a:t>
            </a:r>
          </a:p>
          <a:p>
            <a:pPr>
              <a:buNone/>
            </a:pPr>
            <a:r>
              <a:rPr lang="en-US" dirty="0"/>
              <a:t>	     	B =</a:t>
            </a:r>
            <a:r>
              <a:rPr lang="en-US" dirty="0">
                <a:solidFill>
                  <a:srgbClr val="FF0000"/>
                </a:solidFill>
              </a:rPr>
              <a:t> {cows, goats, hens}</a:t>
            </a:r>
          </a:p>
          <a:p>
            <a:endParaRPr lang="en-US" dirty="0"/>
          </a:p>
          <a:p>
            <a:r>
              <a:rPr lang="en-US" dirty="0"/>
              <a:t>Define a </a:t>
            </a:r>
            <a:r>
              <a:rPr lang="en-US" dirty="0">
                <a:solidFill>
                  <a:srgbClr val="FF0000"/>
                </a:solidFill>
              </a:rPr>
              <a:t>relation R</a:t>
            </a:r>
            <a:r>
              <a:rPr lang="en-US" dirty="0"/>
              <a:t> from </a:t>
            </a:r>
            <a:r>
              <a:rPr lang="en-US" dirty="0">
                <a:solidFill>
                  <a:srgbClr val="FF0000"/>
                </a:solidFill>
              </a:rPr>
              <a:t>A</a:t>
            </a:r>
            <a:r>
              <a:rPr lang="en-US" dirty="0"/>
              <a:t> to </a:t>
            </a:r>
            <a:r>
              <a:rPr lang="en-US" dirty="0">
                <a:solidFill>
                  <a:srgbClr val="FF0000"/>
                </a:solidFill>
              </a:rPr>
              <a:t>B</a:t>
            </a:r>
            <a:r>
              <a:rPr lang="en-US" dirty="0"/>
              <a:t> by </a:t>
            </a:r>
            <a:r>
              <a:rPr lang="en-US" dirty="0">
                <a:solidFill>
                  <a:srgbClr val="FF0000"/>
                </a:solidFill>
              </a:rPr>
              <a:t>(a, b) </a:t>
            </a:r>
            <a:r>
              <a:rPr lang="en-US" dirty="0">
                <a:solidFill>
                  <a:srgbClr val="FF0000"/>
                </a:solidFill>
                <a:sym typeface="Symbol"/>
              </a:rPr>
              <a:t> </a:t>
            </a:r>
            <a:r>
              <a:rPr lang="en-US" dirty="0">
                <a:solidFill>
                  <a:srgbClr val="FF0000"/>
                </a:solidFill>
              </a:rPr>
              <a:t>R</a:t>
            </a:r>
            <a:r>
              <a:rPr lang="en-US" dirty="0"/>
              <a:t> </a:t>
            </a:r>
            <a:r>
              <a:rPr lang="en-US" i="1" dirty="0" err="1"/>
              <a:t>iff</a:t>
            </a:r>
            <a:r>
              <a:rPr lang="en-US" dirty="0"/>
              <a:t> </a:t>
            </a:r>
            <a:r>
              <a:rPr lang="en-US" dirty="0">
                <a:solidFill>
                  <a:srgbClr val="FF0000"/>
                </a:solidFill>
              </a:rPr>
              <a:t>a</a:t>
            </a:r>
            <a:r>
              <a:rPr lang="en-US" dirty="0"/>
              <a:t> is </a:t>
            </a:r>
            <a:r>
              <a:rPr lang="en-US" dirty="0">
                <a:solidFill>
                  <a:srgbClr val="FF0000"/>
                </a:solidFill>
              </a:rPr>
              <a:t>produced</a:t>
            </a:r>
            <a:r>
              <a:rPr lang="en-US" dirty="0"/>
              <a:t> by </a:t>
            </a:r>
            <a:r>
              <a:rPr lang="en-US" dirty="0">
                <a:solidFill>
                  <a:srgbClr val="FF0000"/>
                </a:solidFill>
              </a:rPr>
              <a:t>b</a:t>
            </a:r>
            <a:r>
              <a:rPr lang="en-US" dirty="0"/>
              <a:t>.</a:t>
            </a:r>
          </a:p>
          <a:p>
            <a:endParaRPr lang="en-US" dirty="0"/>
          </a:p>
          <a:p>
            <a:r>
              <a:rPr lang="en-US" dirty="0"/>
              <a:t>Then </a:t>
            </a:r>
            <a:r>
              <a:rPr lang="en-US" dirty="0">
                <a:solidFill>
                  <a:srgbClr val="FF0000"/>
                </a:solidFill>
              </a:rPr>
              <a:t>R = {(eggs, hens), (milk, cows), (milk, goats)}</a:t>
            </a:r>
          </a:p>
          <a:p>
            <a:endParaRPr lang="en-US" dirty="0"/>
          </a:p>
          <a:p>
            <a:r>
              <a:rPr lang="en-US" dirty="0"/>
              <a:t>Thus, with respect to this relation </a:t>
            </a:r>
            <a:r>
              <a:rPr lang="en-US" dirty="0">
                <a:solidFill>
                  <a:srgbClr val="FF0000"/>
                </a:solidFill>
              </a:rPr>
              <a:t>eggs </a:t>
            </a:r>
            <a:r>
              <a:rPr lang="en-US" dirty="0">
                <a:solidFill>
                  <a:srgbClr val="249C2F"/>
                </a:solidFill>
              </a:rPr>
              <a:t>R</a:t>
            </a:r>
            <a:r>
              <a:rPr lang="en-US" dirty="0">
                <a:solidFill>
                  <a:srgbClr val="FF0000"/>
                </a:solidFill>
              </a:rPr>
              <a:t> hens</a:t>
            </a:r>
            <a:r>
              <a:rPr lang="en-US" dirty="0"/>
              <a:t>, </a:t>
            </a:r>
          </a:p>
          <a:p>
            <a:pPr>
              <a:buNone/>
            </a:pPr>
            <a:r>
              <a:rPr lang="en-US" dirty="0"/>
              <a:t>	</a:t>
            </a:r>
            <a:r>
              <a:rPr lang="en-US" dirty="0">
                <a:solidFill>
                  <a:srgbClr val="FF0000"/>
                </a:solidFill>
              </a:rPr>
              <a:t>milk </a:t>
            </a:r>
            <a:r>
              <a:rPr lang="en-US" dirty="0">
                <a:solidFill>
                  <a:srgbClr val="249C2F"/>
                </a:solidFill>
              </a:rPr>
              <a:t>R</a:t>
            </a:r>
            <a:r>
              <a:rPr lang="en-US" dirty="0">
                <a:solidFill>
                  <a:srgbClr val="FF0000"/>
                </a:solidFill>
              </a:rPr>
              <a:t> cows</a:t>
            </a:r>
            <a:r>
              <a:rPr lang="en-US" dirty="0"/>
              <a:t>, and </a:t>
            </a:r>
            <a:r>
              <a:rPr lang="en-US" dirty="0">
                <a:solidFill>
                  <a:srgbClr val="FF0000"/>
                </a:solidFill>
              </a:rPr>
              <a:t>milk </a:t>
            </a:r>
            <a:r>
              <a:rPr lang="en-US" dirty="0">
                <a:solidFill>
                  <a:srgbClr val="249C2F"/>
                </a:solidFill>
              </a:rPr>
              <a:t>R</a:t>
            </a:r>
            <a:r>
              <a:rPr lang="en-US" dirty="0">
                <a:solidFill>
                  <a:srgbClr val="FF0000"/>
                </a:solidFill>
              </a:rPr>
              <a:t> goats</a:t>
            </a:r>
            <a:r>
              <a:rPr lang="en-US" dirty="0"/>
              <a:t>.</a:t>
            </a:r>
            <a:endParaRPr lang="pt-BR"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2000"/>
                                        <p:tgtEl>
                                          <p:spTgt spid="4">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8" end="8"/>
                                            </p:txEl>
                                          </p:spTgt>
                                        </p:tgtEl>
                                        <p:attrNameLst>
                                          <p:attrName>style.visibility</p:attrName>
                                        </p:attrNameLst>
                                      </p:cBhvr>
                                      <p:to>
                                        <p:strVal val="visible"/>
                                      </p:to>
                                    </p:set>
                                    <p:animEffect transition="in" filter="fade">
                                      <p:cBhvr>
                                        <p:cTn id="32"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049" y="136525"/>
            <a:ext cx="10515600" cy="1325563"/>
          </a:xfrm>
        </p:spPr>
        <p:txBody>
          <a:bodyPr/>
          <a:lstStyle/>
          <a:p>
            <a:pPr algn="ctr"/>
            <a:r>
              <a:rPr lang="en-US" b="1" u="sng" dirty="0">
                <a:solidFill>
                  <a:srgbClr val="0070C0"/>
                </a:solidFill>
              </a:rPr>
              <a:t>EXERCISE</a:t>
            </a:r>
            <a:endParaRPr lang="en-US" dirty="0"/>
          </a:p>
        </p:txBody>
      </p:sp>
      <p:sp>
        <p:nvSpPr>
          <p:cNvPr id="3" name="Slide Number Placeholder 2"/>
          <p:cNvSpPr>
            <a:spLocks noGrp="1"/>
          </p:cNvSpPr>
          <p:nvPr>
            <p:ph type="sldNum" sz="quarter" idx="12"/>
          </p:nvPr>
        </p:nvSpPr>
        <p:spPr/>
        <p:txBody>
          <a:bodyPr/>
          <a:lstStyle/>
          <a:p>
            <a:fld id="{25E19944-04AC-4CD8-BA69-63C2A678C21A}" type="slidenum">
              <a:rPr lang="en-US" smtClean="0"/>
              <a:pPr/>
              <a:t>20</a:t>
            </a:fld>
            <a:endParaRPr lang="en-US"/>
          </a:p>
        </p:txBody>
      </p:sp>
      <p:sp>
        <p:nvSpPr>
          <p:cNvPr id="4" name="Content Placeholder 3"/>
          <p:cNvSpPr>
            <a:spLocks noGrp="1"/>
          </p:cNvSpPr>
          <p:nvPr>
            <p:ph sz="quarter" idx="1"/>
          </p:nvPr>
        </p:nvSpPr>
        <p:spPr>
          <a:xfrm>
            <a:off x="1981200" y="1219200"/>
            <a:ext cx="8229600" cy="5181600"/>
          </a:xfrm>
        </p:spPr>
        <p:txBody>
          <a:bodyPr>
            <a:normAutofit fontScale="92500" lnSpcReduction="20000"/>
          </a:bodyPr>
          <a:lstStyle/>
          <a:p>
            <a:r>
              <a:rPr lang="en-US" dirty="0"/>
              <a:t>Find all </a:t>
            </a:r>
            <a:r>
              <a:rPr lang="en-US" dirty="0">
                <a:solidFill>
                  <a:srgbClr val="FF0000"/>
                </a:solidFill>
              </a:rPr>
              <a:t>binary relations</a:t>
            </a:r>
            <a:r>
              <a:rPr lang="en-US" dirty="0"/>
              <a:t> from </a:t>
            </a:r>
            <a:r>
              <a:rPr lang="en-US" dirty="0">
                <a:solidFill>
                  <a:srgbClr val="FF0000"/>
                </a:solidFill>
              </a:rPr>
              <a:t>{0,1}</a:t>
            </a:r>
            <a:r>
              <a:rPr lang="en-US" dirty="0"/>
              <a:t> to </a:t>
            </a:r>
            <a:r>
              <a:rPr lang="en-US" dirty="0">
                <a:solidFill>
                  <a:srgbClr val="FF0000"/>
                </a:solidFill>
              </a:rPr>
              <a:t>{1}</a:t>
            </a:r>
          </a:p>
          <a:p>
            <a:endParaRPr lang="en-US" dirty="0"/>
          </a:p>
          <a:p>
            <a:r>
              <a:rPr lang="en-US" b="1" u="sng" dirty="0"/>
              <a:t>SOLUTION:</a:t>
            </a:r>
            <a:r>
              <a:rPr lang="en-US" u="sng" dirty="0"/>
              <a:t> </a:t>
            </a:r>
            <a:endParaRPr lang="en-US" dirty="0"/>
          </a:p>
          <a:p>
            <a:pPr>
              <a:buNone/>
            </a:pPr>
            <a:r>
              <a:rPr lang="en-US" dirty="0"/>
              <a:t>		Let  	</a:t>
            </a:r>
            <a:r>
              <a:rPr lang="en-US" dirty="0">
                <a:solidFill>
                  <a:srgbClr val="FF0000"/>
                </a:solidFill>
              </a:rPr>
              <a:t> A = {0,1}</a:t>
            </a:r>
            <a:r>
              <a:rPr lang="en-US" dirty="0"/>
              <a:t> &amp; </a:t>
            </a:r>
            <a:r>
              <a:rPr lang="en-US" dirty="0">
                <a:solidFill>
                  <a:srgbClr val="FF0000"/>
                </a:solidFill>
              </a:rPr>
              <a:t>B = {1}</a:t>
            </a:r>
          </a:p>
          <a:p>
            <a:pPr>
              <a:buNone/>
            </a:pPr>
            <a:r>
              <a:rPr lang="en-US" dirty="0"/>
              <a:t>		Then,</a:t>
            </a:r>
          </a:p>
          <a:p>
            <a:pPr>
              <a:buNone/>
            </a:pPr>
            <a:r>
              <a:rPr lang="en-US" dirty="0"/>
              <a:t>			</a:t>
            </a:r>
            <a:r>
              <a:rPr lang="en-US" dirty="0">
                <a:solidFill>
                  <a:srgbClr val="FF0000"/>
                </a:solidFill>
              </a:rPr>
              <a:t> A </a:t>
            </a:r>
            <a:r>
              <a:rPr lang="en-US" dirty="0">
                <a:solidFill>
                  <a:srgbClr val="FF0000"/>
                </a:solidFill>
                <a:sym typeface="Symbol"/>
              </a:rPr>
              <a:t></a:t>
            </a:r>
            <a:r>
              <a:rPr lang="en-US" dirty="0">
                <a:solidFill>
                  <a:srgbClr val="FF0000"/>
                </a:solidFill>
              </a:rPr>
              <a:t> B = {(0,1), (1,1)}</a:t>
            </a:r>
          </a:p>
          <a:p>
            <a:pPr>
              <a:buNone/>
            </a:pPr>
            <a:r>
              <a:rPr lang="en-US" dirty="0"/>
              <a:t>	All binary relations from A to B are in fact all subsets of </a:t>
            </a:r>
          </a:p>
          <a:p>
            <a:pPr>
              <a:buNone/>
            </a:pPr>
            <a:r>
              <a:rPr lang="en-US" dirty="0"/>
              <a:t>	A </a:t>
            </a:r>
            <a:r>
              <a:rPr lang="en-US" dirty="0">
                <a:sym typeface="Symbol"/>
              </a:rPr>
              <a:t></a:t>
            </a:r>
            <a:r>
              <a:rPr lang="en-US" dirty="0"/>
              <a:t>B, which are:</a:t>
            </a:r>
          </a:p>
          <a:p>
            <a:pPr>
              <a:buNone/>
            </a:pPr>
            <a:r>
              <a:rPr lang="en-US" dirty="0"/>
              <a:t>				</a:t>
            </a:r>
            <a:r>
              <a:rPr lang="en-US" dirty="0">
                <a:solidFill>
                  <a:srgbClr val="FF0000"/>
                </a:solidFill>
              </a:rPr>
              <a:t>R1 </a:t>
            </a:r>
            <a:r>
              <a:rPr lang="en-US" dirty="0"/>
              <a:t>=</a:t>
            </a:r>
            <a:r>
              <a:rPr lang="en-US" dirty="0">
                <a:solidFill>
                  <a:srgbClr val="FF0000"/>
                </a:solidFill>
              </a:rPr>
              <a:t> </a:t>
            </a:r>
            <a:r>
              <a:rPr lang="en-US" dirty="0">
                <a:solidFill>
                  <a:srgbClr val="FF0000"/>
                </a:solidFill>
                <a:sym typeface="Symbol"/>
              </a:rPr>
              <a:t></a:t>
            </a:r>
            <a:endParaRPr lang="en-US" dirty="0">
              <a:solidFill>
                <a:srgbClr val="FF0000"/>
              </a:solidFill>
            </a:endParaRPr>
          </a:p>
          <a:p>
            <a:pPr>
              <a:buNone/>
            </a:pPr>
            <a:r>
              <a:rPr lang="en-US" dirty="0"/>
              <a:t>				</a:t>
            </a:r>
            <a:r>
              <a:rPr lang="pt-BR" dirty="0">
                <a:solidFill>
                  <a:srgbClr val="FF0000"/>
                </a:solidFill>
              </a:rPr>
              <a:t>R2 </a:t>
            </a:r>
            <a:r>
              <a:rPr lang="pt-BR" dirty="0"/>
              <a:t>= </a:t>
            </a:r>
            <a:r>
              <a:rPr lang="pt-BR" dirty="0">
                <a:solidFill>
                  <a:srgbClr val="FF0000"/>
                </a:solidFill>
              </a:rPr>
              <a:t>{(0,1)}</a:t>
            </a:r>
            <a:endParaRPr lang="en-US" dirty="0">
              <a:solidFill>
                <a:srgbClr val="FF0000"/>
              </a:solidFill>
            </a:endParaRPr>
          </a:p>
          <a:p>
            <a:pPr>
              <a:buNone/>
            </a:pPr>
            <a:r>
              <a:rPr lang="pt-BR" dirty="0"/>
              <a:t>				</a:t>
            </a:r>
            <a:r>
              <a:rPr lang="pt-BR" dirty="0">
                <a:solidFill>
                  <a:srgbClr val="FF0000"/>
                </a:solidFill>
              </a:rPr>
              <a:t>R3 </a:t>
            </a:r>
            <a:r>
              <a:rPr lang="pt-BR" dirty="0"/>
              <a:t>= </a:t>
            </a:r>
            <a:r>
              <a:rPr lang="pt-BR" dirty="0">
                <a:solidFill>
                  <a:srgbClr val="FF0000"/>
                </a:solidFill>
              </a:rPr>
              <a:t>{(1,1)}</a:t>
            </a:r>
            <a:endParaRPr lang="en-US" dirty="0">
              <a:solidFill>
                <a:srgbClr val="FF0000"/>
              </a:solidFill>
            </a:endParaRPr>
          </a:p>
          <a:p>
            <a:pPr>
              <a:buNone/>
            </a:pPr>
            <a:r>
              <a:rPr lang="pt-BR" dirty="0"/>
              <a:t>				</a:t>
            </a:r>
            <a:r>
              <a:rPr lang="pt-BR" dirty="0">
                <a:solidFill>
                  <a:srgbClr val="FF0000"/>
                </a:solidFill>
              </a:rPr>
              <a:t>R4 </a:t>
            </a:r>
            <a:r>
              <a:rPr lang="pt-BR" dirty="0"/>
              <a:t>= </a:t>
            </a:r>
            <a:r>
              <a:rPr lang="pt-BR" dirty="0">
                <a:solidFill>
                  <a:srgbClr val="FF0000"/>
                </a:solidFill>
              </a:rPr>
              <a:t>{(0,1), (1,1)}</a:t>
            </a:r>
            <a:r>
              <a:rPr lang="pt-BR" dirty="0"/>
              <a:t> = A </a:t>
            </a:r>
            <a:r>
              <a:rPr lang="en-US" dirty="0">
                <a:sym typeface="Symbol"/>
              </a:rPr>
              <a:t></a:t>
            </a:r>
            <a:r>
              <a:rPr lang="pt-BR" dirty="0"/>
              <a:t> B</a:t>
            </a:r>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2000"/>
                                        <p:tgtEl>
                                          <p:spTgt spid="4">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animEffect transition="in" filter="fade">
                                      <p:cBhvr>
                                        <p:cTn id="47" dur="2000"/>
                                        <p:tgtEl>
                                          <p:spTgt spid="4">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10" end="10"/>
                                            </p:txEl>
                                          </p:spTgt>
                                        </p:tgtEl>
                                        <p:attrNameLst>
                                          <p:attrName>style.visibility</p:attrName>
                                        </p:attrNameLst>
                                      </p:cBhvr>
                                      <p:to>
                                        <p:strVal val="visible"/>
                                      </p:to>
                                    </p:set>
                                    <p:animEffect transition="in" filter="fade">
                                      <p:cBhvr>
                                        <p:cTn id="52" dur="2000"/>
                                        <p:tgtEl>
                                          <p:spTgt spid="4">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11" end="11"/>
                                            </p:txEl>
                                          </p:spTgt>
                                        </p:tgtEl>
                                        <p:attrNameLst>
                                          <p:attrName>style.visibility</p:attrName>
                                        </p:attrNameLst>
                                      </p:cBhvr>
                                      <p:to>
                                        <p:strVal val="visible"/>
                                      </p:to>
                                    </p:set>
                                    <p:animEffect transition="in" filter="fade">
                                      <p:cBhvr>
                                        <p:cTn id="57" dur="20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pt-BR" b="1" u="sng" dirty="0">
                <a:solidFill>
                  <a:srgbClr val="0070C0"/>
                </a:solidFill>
              </a:rPr>
              <a:t>REMARK</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21</a:t>
            </a:fld>
            <a:endParaRPr lang="en-US"/>
          </a:p>
        </p:txBody>
      </p:sp>
      <p:sp>
        <p:nvSpPr>
          <p:cNvPr id="4" name="Content Placeholder 3"/>
          <p:cNvSpPr>
            <a:spLocks noGrp="1"/>
          </p:cNvSpPr>
          <p:nvPr>
            <p:ph sz="quarter" idx="1"/>
          </p:nvPr>
        </p:nvSpPr>
        <p:spPr>
          <a:xfrm>
            <a:off x="1981200" y="1690688"/>
            <a:ext cx="8229600" cy="4253753"/>
          </a:xfrm>
        </p:spPr>
        <p:txBody>
          <a:bodyPr>
            <a:normAutofit/>
          </a:bodyPr>
          <a:lstStyle/>
          <a:p>
            <a:r>
              <a:rPr lang="en-US" dirty="0"/>
              <a:t>If </a:t>
            </a:r>
            <a:r>
              <a:rPr lang="en-US" dirty="0">
                <a:solidFill>
                  <a:srgbClr val="FF0000"/>
                </a:solidFill>
              </a:rPr>
              <a:t>|A|</a:t>
            </a:r>
            <a:r>
              <a:rPr lang="en-US" dirty="0"/>
              <a:t> = </a:t>
            </a:r>
            <a:r>
              <a:rPr lang="en-US" dirty="0">
                <a:solidFill>
                  <a:srgbClr val="FF0000"/>
                </a:solidFill>
              </a:rPr>
              <a:t>m</a:t>
            </a:r>
            <a:r>
              <a:rPr lang="en-US" dirty="0"/>
              <a:t> and </a:t>
            </a:r>
            <a:r>
              <a:rPr lang="en-US" dirty="0">
                <a:solidFill>
                  <a:srgbClr val="FF0000"/>
                </a:solidFill>
              </a:rPr>
              <a:t>|B|</a:t>
            </a:r>
            <a:r>
              <a:rPr lang="en-US" dirty="0"/>
              <a:t> = </a:t>
            </a:r>
            <a:r>
              <a:rPr lang="en-US" dirty="0">
                <a:solidFill>
                  <a:srgbClr val="FF0000"/>
                </a:solidFill>
              </a:rPr>
              <a:t>n</a:t>
            </a:r>
          </a:p>
          <a:p>
            <a:endParaRPr lang="en-US" dirty="0"/>
          </a:p>
          <a:p>
            <a:r>
              <a:rPr lang="en-US" dirty="0"/>
              <a:t>Then as we know that the number of elements in </a:t>
            </a:r>
            <a:r>
              <a:rPr lang="en-US" dirty="0">
                <a:solidFill>
                  <a:srgbClr val="FF0000"/>
                </a:solidFill>
              </a:rPr>
              <a:t>A </a:t>
            </a:r>
            <a:r>
              <a:rPr lang="en-US" dirty="0">
                <a:solidFill>
                  <a:srgbClr val="FF0000"/>
                </a:solidFill>
                <a:sym typeface="Symbol"/>
              </a:rPr>
              <a:t></a:t>
            </a:r>
            <a:r>
              <a:rPr lang="en-US" dirty="0">
                <a:solidFill>
                  <a:srgbClr val="FF0000"/>
                </a:solidFill>
              </a:rPr>
              <a:t> B</a:t>
            </a:r>
            <a:r>
              <a:rPr lang="en-US" dirty="0"/>
              <a:t> are </a:t>
            </a:r>
            <a:r>
              <a:rPr lang="en-US" dirty="0">
                <a:solidFill>
                  <a:srgbClr val="FF0000"/>
                </a:solidFill>
              </a:rPr>
              <a:t>m </a:t>
            </a:r>
            <a:r>
              <a:rPr lang="en-US" dirty="0">
                <a:solidFill>
                  <a:srgbClr val="FF0000"/>
                </a:solidFill>
                <a:sym typeface="Symbol"/>
              </a:rPr>
              <a:t></a:t>
            </a:r>
            <a:r>
              <a:rPr lang="en-US" dirty="0">
                <a:solidFill>
                  <a:srgbClr val="FF0000"/>
                </a:solidFill>
              </a:rPr>
              <a:t> n</a:t>
            </a:r>
            <a:r>
              <a:rPr lang="en-US" dirty="0"/>
              <a:t>. </a:t>
            </a:r>
          </a:p>
          <a:p>
            <a:endParaRPr lang="en-US" dirty="0"/>
          </a:p>
          <a:p>
            <a:r>
              <a:rPr lang="en-US" dirty="0"/>
              <a:t>Now as we know that the </a:t>
            </a:r>
            <a:r>
              <a:rPr lang="en-US" dirty="0">
                <a:solidFill>
                  <a:srgbClr val="FF0000"/>
                </a:solidFill>
              </a:rPr>
              <a:t>total number</a:t>
            </a:r>
            <a:r>
              <a:rPr lang="en-US" dirty="0"/>
              <a:t> of and the total number of relations from A to B are </a:t>
            </a:r>
            <a:r>
              <a:rPr lang="en-US" dirty="0">
                <a:solidFill>
                  <a:srgbClr val="FF0000"/>
                </a:solidFill>
              </a:rPr>
              <a:t>2</a:t>
            </a:r>
            <a:r>
              <a:rPr lang="en-US" baseline="30000" dirty="0">
                <a:solidFill>
                  <a:srgbClr val="FF0000"/>
                </a:solidFill>
              </a:rPr>
              <a:t>m </a:t>
            </a:r>
            <a:r>
              <a:rPr lang="en-US" baseline="30000" dirty="0">
                <a:solidFill>
                  <a:srgbClr val="FF0000"/>
                </a:solidFill>
                <a:sym typeface="Symbol"/>
              </a:rPr>
              <a:t></a:t>
            </a:r>
            <a:r>
              <a:rPr lang="en-US" baseline="30000" dirty="0">
                <a:solidFill>
                  <a:srgbClr val="FF0000"/>
                </a:solidFill>
              </a:rPr>
              <a:t> n</a:t>
            </a:r>
            <a:r>
              <a:rPr lang="en-US" dirty="0"/>
              <a:t>.</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22</a:t>
            </a:fld>
            <a:endParaRPr lang="en-US"/>
          </a:p>
        </p:txBody>
      </p:sp>
      <p:sp>
        <p:nvSpPr>
          <p:cNvPr id="4" name="Content Placeholder 3"/>
          <p:cNvSpPr>
            <a:spLocks noGrp="1"/>
          </p:cNvSpPr>
          <p:nvPr>
            <p:ph sz="quarter" idx="1"/>
          </p:nvPr>
        </p:nvSpPr>
        <p:spPr/>
        <p:txBody>
          <a:bodyPr>
            <a:normAutofit lnSpcReduction="10000"/>
          </a:bodyPr>
          <a:lstStyle/>
          <a:p>
            <a:r>
              <a:rPr lang="en-US" dirty="0"/>
              <a:t>Define a </a:t>
            </a:r>
            <a:r>
              <a:rPr lang="en-US" dirty="0">
                <a:solidFill>
                  <a:srgbClr val="FF0000"/>
                </a:solidFill>
              </a:rPr>
              <a:t>binary relation E</a:t>
            </a:r>
            <a:r>
              <a:rPr lang="en-US" dirty="0"/>
              <a:t> on the set of the </a:t>
            </a:r>
            <a:r>
              <a:rPr lang="en-US" dirty="0">
                <a:solidFill>
                  <a:srgbClr val="FF0000"/>
                </a:solidFill>
              </a:rPr>
              <a:t>integers Z</a:t>
            </a:r>
            <a:r>
              <a:rPr lang="en-US" dirty="0"/>
              <a:t>, as follows:</a:t>
            </a:r>
          </a:p>
          <a:p>
            <a:endParaRPr lang="en-US" dirty="0"/>
          </a:p>
          <a:p>
            <a:r>
              <a:rPr lang="en-US" dirty="0"/>
              <a:t>for all </a:t>
            </a:r>
            <a:r>
              <a:rPr lang="en-US" dirty="0">
                <a:solidFill>
                  <a:srgbClr val="FF0000"/>
                </a:solidFill>
              </a:rPr>
              <a:t>m, n </a:t>
            </a:r>
            <a:r>
              <a:rPr lang="en-US" dirty="0">
                <a:solidFill>
                  <a:srgbClr val="FF0000"/>
                </a:solidFill>
                <a:sym typeface="Symbol"/>
              </a:rPr>
              <a:t> </a:t>
            </a:r>
            <a:r>
              <a:rPr lang="en-US" dirty="0">
                <a:solidFill>
                  <a:srgbClr val="FF0000"/>
                </a:solidFill>
              </a:rPr>
              <a:t>Z</a:t>
            </a:r>
            <a:r>
              <a:rPr lang="en-US" dirty="0"/>
              <a:t>, </a:t>
            </a:r>
            <a:r>
              <a:rPr lang="en-US" dirty="0">
                <a:solidFill>
                  <a:srgbClr val="FF0000"/>
                </a:solidFill>
              </a:rPr>
              <a:t>m E n </a:t>
            </a:r>
            <a:r>
              <a:rPr lang="en-US" dirty="0">
                <a:solidFill>
                  <a:srgbClr val="FF0000"/>
                </a:solidFill>
                <a:sym typeface="Symbol"/>
              </a:rPr>
              <a:t></a:t>
            </a:r>
            <a:r>
              <a:rPr lang="en-US" dirty="0">
                <a:solidFill>
                  <a:srgbClr val="FF0000"/>
                </a:solidFill>
              </a:rPr>
              <a:t> m – n</a:t>
            </a:r>
            <a:r>
              <a:rPr lang="en-US" dirty="0"/>
              <a:t> is </a:t>
            </a:r>
            <a:r>
              <a:rPr lang="en-US" dirty="0">
                <a:solidFill>
                  <a:srgbClr val="FF0000"/>
                </a:solidFill>
              </a:rPr>
              <a:t>even</a:t>
            </a:r>
            <a:r>
              <a:rPr lang="en-US" dirty="0"/>
              <a:t>.</a:t>
            </a:r>
          </a:p>
          <a:p>
            <a:pPr marL="788670" lvl="1" indent="-514350">
              <a:buFont typeface="+mj-lt"/>
              <a:buAutoNum type="alphaLcParenR"/>
            </a:pPr>
            <a:r>
              <a:rPr lang="en-US" sz="2600" dirty="0">
                <a:solidFill>
                  <a:srgbClr val="002060"/>
                </a:solidFill>
              </a:rPr>
              <a:t>Is 0E0?</a:t>
            </a:r>
          </a:p>
          <a:p>
            <a:pPr marL="788670" lvl="1" indent="-514350">
              <a:buFont typeface="+mj-lt"/>
              <a:buAutoNum type="alphaLcParenR"/>
            </a:pPr>
            <a:r>
              <a:rPr lang="en-US" sz="2600" dirty="0">
                <a:solidFill>
                  <a:srgbClr val="002060"/>
                </a:solidFill>
              </a:rPr>
              <a:t>Is 5E2?	</a:t>
            </a:r>
          </a:p>
          <a:p>
            <a:pPr marL="788670" lvl="1" indent="-514350">
              <a:buFont typeface="+mj-lt"/>
              <a:buAutoNum type="alphaLcParenR"/>
            </a:pPr>
            <a:r>
              <a:rPr lang="en-US" sz="2600" dirty="0">
                <a:solidFill>
                  <a:srgbClr val="002060"/>
                </a:solidFill>
              </a:rPr>
              <a:t>Is (6,6) </a:t>
            </a:r>
            <a:r>
              <a:rPr lang="en-US" sz="2600" dirty="0">
                <a:solidFill>
                  <a:srgbClr val="002060"/>
                </a:solidFill>
                <a:sym typeface="Symbol"/>
              </a:rPr>
              <a:t> </a:t>
            </a:r>
            <a:r>
              <a:rPr lang="en-US" sz="2600" dirty="0">
                <a:solidFill>
                  <a:srgbClr val="002060"/>
                </a:solidFill>
              </a:rPr>
              <a:t>E?	</a:t>
            </a:r>
          </a:p>
          <a:p>
            <a:pPr marL="788670" lvl="1" indent="-514350">
              <a:buFont typeface="+mj-lt"/>
              <a:buAutoNum type="alphaLcParenR"/>
            </a:pPr>
            <a:r>
              <a:rPr lang="en-US" sz="2600" dirty="0">
                <a:solidFill>
                  <a:srgbClr val="002060"/>
                </a:solidFill>
              </a:rPr>
              <a:t>Is (-1,7) </a:t>
            </a:r>
            <a:r>
              <a:rPr lang="en-US" sz="2600" dirty="0">
                <a:solidFill>
                  <a:srgbClr val="002060"/>
                </a:solidFill>
                <a:sym typeface="Symbol"/>
              </a:rPr>
              <a:t> </a:t>
            </a:r>
            <a:r>
              <a:rPr lang="en-US" sz="2600" dirty="0">
                <a:solidFill>
                  <a:srgbClr val="002060"/>
                </a:solidFill>
              </a:rPr>
              <a:t>E?</a:t>
            </a:r>
          </a:p>
          <a:p>
            <a:pPr marL="788670" lvl="1" indent="-514350">
              <a:buFont typeface="+mj-lt"/>
              <a:buAutoNum type="alphaLcParenR"/>
            </a:pPr>
            <a:r>
              <a:rPr lang="en-US" sz="2600" dirty="0">
                <a:solidFill>
                  <a:srgbClr val="002060"/>
                </a:solidFill>
              </a:rPr>
              <a:t>Prove that for any even integer n, nE0.</a:t>
            </a:r>
          </a:p>
          <a:p>
            <a:endParaRPr lang="en-US" dirty="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496" y="365125"/>
            <a:ext cx="10515600" cy="949325"/>
          </a:xfrm>
        </p:spPr>
        <p:txBody>
          <a:bodyPr>
            <a:normAutofit/>
          </a:bodyPr>
          <a:lstStyle/>
          <a:p>
            <a:pPr algn="ctr"/>
            <a:r>
              <a:rPr lang="pt-BR" b="1" u="sng" dirty="0">
                <a:solidFill>
                  <a:srgbClr val="0070C0"/>
                </a:solidFill>
              </a:rPr>
              <a:t>SOLUTION</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23</a:t>
            </a:fld>
            <a:endParaRPr lang="en-US"/>
          </a:p>
        </p:txBody>
      </p:sp>
      <p:sp>
        <p:nvSpPr>
          <p:cNvPr id="4" name="Content Placeholder 3"/>
          <p:cNvSpPr>
            <a:spLocks noGrp="1"/>
          </p:cNvSpPr>
          <p:nvPr>
            <p:ph sz="quarter" idx="1"/>
          </p:nvPr>
        </p:nvSpPr>
        <p:spPr>
          <a:xfrm>
            <a:off x="1179576" y="1485900"/>
            <a:ext cx="9829800" cy="5372100"/>
          </a:xfrm>
        </p:spPr>
        <p:txBody>
          <a:bodyPr>
            <a:normAutofit fontScale="85000" lnSpcReduction="20000"/>
          </a:bodyPr>
          <a:lstStyle/>
          <a:p>
            <a:r>
              <a:rPr lang="pt-BR" dirty="0"/>
              <a:t>E = {(m, n) </a:t>
            </a:r>
            <a:r>
              <a:rPr lang="en-US" dirty="0">
                <a:sym typeface="Symbol"/>
              </a:rPr>
              <a:t> </a:t>
            </a:r>
            <a:r>
              <a:rPr lang="pt-BR" dirty="0"/>
              <a:t>Z </a:t>
            </a:r>
            <a:r>
              <a:rPr lang="en-US" dirty="0">
                <a:sym typeface="Symbol"/>
              </a:rPr>
              <a:t></a:t>
            </a:r>
            <a:r>
              <a:rPr lang="pt-BR" dirty="0"/>
              <a:t>Z | m – n is even}</a:t>
            </a:r>
            <a:endParaRPr lang="en-US" dirty="0"/>
          </a:p>
          <a:p>
            <a:pPr>
              <a:buNone/>
            </a:pPr>
            <a:r>
              <a:rPr lang="en-US" dirty="0"/>
              <a:t>	(a)  </a:t>
            </a:r>
            <a:r>
              <a:rPr lang="en-US" dirty="0">
                <a:solidFill>
                  <a:srgbClr val="FF0000"/>
                </a:solidFill>
              </a:rPr>
              <a:t>(0, 0) </a:t>
            </a:r>
            <a:r>
              <a:rPr lang="en-US" dirty="0">
                <a:solidFill>
                  <a:srgbClr val="FF0000"/>
                </a:solidFill>
                <a:sym typeface="Symbol"/>
              </a:rPr>
              <a:t></a:t>
            </a:r>
            <a:r>
              <a:rPr lang="en-US" dirty="0">
                <a:solidFill>
                  <a:srgbClr val="FF0000"/>
                </a:solidFill>
              </a:rPr>
              <a:t> Z </a:t>
            </a:r>
            <a:r>
              <a:rPr lang="en-US" dirty="0">
                <a:solidFill>
                  <a:srgbClr val="FF0000"/>
                </a:solidFill>
                <a:sym typeface="Symbol"/>
              </a:rPr>
              <a:t> </a:t>
            </a:r>
            <a:r>
              <a:rPr lang="en-US" dirty="0">
                <a:solidFill>
                  <a:srgbClr val="FF0000"/>
                </a:solidFill>
              </a:rPr>
              <a:t>Z</a:t>
            </a:r>
            <a:r>
              <a:rPr lang="en-US" dirty="0"/>
              <a:t>   and	</a:t>
            </a:r>
            <a:r>
              <a:rPr lang="en-US" dirty="0">
                <a:solidFill>
                  <a:srgbClr val="FF0000"/>
                </a:solidFill>
              </a:rPr>
              <a:t>0 - 0 = 0</a:t>
            </a:r>
            <a:r>
              <a:rPr lang="en-US" dirty="0"/>
              <a:t>  is </a:t>
            </a:r>
            <a:r>
              <a:rPr lang="en-US" dirty="0">
                <a:solidFill>
                  <a:srgbClr val="FF0000"/>
                </a:solidFill>
              </a:rPr>
              <a:t>even, </a:t>
            </a:r>
            <a:r>
              <a:rPr lang="en-US" dirty="0"/>
              <a:t>Therefore </a:t>
            </a:r>
            <a:r>
              <a:rPr lang="en-US" dirty="0">
                <a:solidFill>
                  <a:srgbClr val="FF0000"/>
                </a:solidFill>
              </a:rPr>
              <a:t>0E0</a:t>
            </a:r>
            <a:r>
              <a:rPr lang="en-US" dirty="0"/>
              <a:t>.</a:t>
            </a:r>
          </a:p>
          <a:p>
            <a:pPr>
              <a:buNone/>
            </a:pPr>
            <a:endParaRPr lang="en-US" dirty="0"/>
          </a:p>
          <a:p>
            <a:pPr>
              <a:buNone/>
            </a:pPr>
            <a:r>
              <a:rPr lang="en-US" dirty="0"/>
              <a:t>	(b)  </a:t>
            </a:r>
            <a:r>
              <a:rPr lang="en-US" dirty="0">
                <a:solidFill>
                  <a:srgbClr val="FF0000"/>
                </a:solidFill>
              </a:rPr>
              <a:t>(5, 2) </a:t>
            </a:r>
            <a:r>
              <a:rPr lang="en-US" dirty="0">
                <a:solidFill>
                  <a:srgbClr val="FF0000"/>
                </a:solidFill>
                <a:sym typeface="Symbol"/>
              </a:rPr>
              <a:t></a:t>
            </a:r>
            <a:r>
              <a:rPr lang="en-US" dirty="0">
                <a:solidFill>
                  <a:srgbClr val="FF0000"/>
                </a:solidFill>
              </a:rPr>
              <a:t> Z </a:t>
            </a:r>
            <a:r>
              <a:rPr lang="en-US" dirty="0">
                <a:solidFill>
                  <a:srgbClr val="FF0000"/>
                </a:solidFill>
                <a:sym typeface="Symbol"/>
              </a:rPr>
              <a:t> </a:t>
            </a:r>
            <a:r>
              <a:rPr lang="en-US" dirty="0">
                <a:solidFill>
                  <a:srgbClr val="FF0000"/>
                </a:solidFill>
              </a:rPr>
              <a:t>Z</a:t>
            </a:r>
            <a:r>
              <a:rPr lang="en-US" dirty="0"/>
              <a:t> but </a:t>
            </a:r>
            <a:r>
              <a:rPr lang="en-US" dirty="0">
                <a:solidFill>
                  <a:srgbClr val="FF0000"/>
                </a:solidFill>
              </a:rPr>
              <a:t>5 - 2 = 3</a:t>
            </a:r>
            <a:r>
              <a:rPr lang="en-US" dirty="0"/>
              <a:t> is </a:t>
            </a:r>
            <a:r>
              <a:rPr lang="en-US" dirty="0">
                <a:solidFill>
                  <a:srgbClr val="FF0000"/>
                </a:solidFill>
              </a:rPr>
              <a:t>not even</a:t>
            </a:r>
            <a:r>
              <a:rPr lang="en-US" dirty="0"/>
              <a:t> so </a:t>
            </a:r>
            <a:r>
              <a:rPr lang="en-US" dirty="0">
                <a:solidFill>
                  <a:srgbClr val="FF0000"/>
                </a:solidFill>
              </a:rPr>
              <a:t>5E2</a:t>
            </a:r>
          </a:p>
          <a:p>
            <a:pPr>
              <a:buNone/>
            </a:pPr>
            <a:endParaRPr lang="en-US" dirty="0"/>
          </a:p>
          <a:p>
            <a:pPr>
              <a:buNone/>
            </a:pPr>
            <a:r>
              <a:rPr lang="en-US" dirty="0"/>
              <a:t>	(c)  </a:t>
            </a:r>
            <a:r>
              <a:rPr lang="en-US" dirty="0">
                <a:solidFill>
                  <a:srgbClr val="FF0000"/>
                </a:solidFill>
              </a:rPr>
              <a:t>(6, 6) </a:t>
            </a:r>
            <a:r>
              <a:rPr lang="en-US" dirty="0">
                <a:solidFill>
                  <a:srgbClr val="FF0000"/>
                </a:solidFill>
                <a:sym typeface="Symbol"/>
              </a:rPr>
              <a:t></a:t>
            </a:r>
            <a:r>
              <a:rPr lang="en-US" dirty="0">
                <a:solidFill>
                  <a:srgbClr val="FF0000"/>
                </a:solidFill>
              </a:rPr>
              <a:t> E</a:t>
            </a:r>
            <a:r>
              <a:rPr lang="en-US" dirty="0"/>
              <a:t> since </a:t>
            </a:r>
            <a:r>
              <a:rPr lang="en-US" dirty="0">
                <a:solidFill>
                  <a:srgbClr val="FF0000"/>
                </a:solidFill>
              </a:rPr>
              <a:t>6 - 6 = 0</a:t>
            </a:r>
            <a:r>
              <a:rPr lang="en-US" dirty="0"/>
              <a:t> is an </a:t>
            </a:r>
            <a:r>
              <a:rPr lang="en-US" dirty="0">
                <a:solidFill>
                  <a:srgbClr val="FF0000"/>
                </a:solidFill>
              </a:rPr>
              <a:t>even integer</a:t>
            </a:r>
            <a:r>
              <a:rPr lang="en-US" dirty="0"/>
              <a:t>.</a:t>
            </a:r>
          </a:p>
          <a:p>
            <a:pPr>
              <a:buNone/>
            </a:pPr>
            <a:endParaRPr lang="en-US" dirty="0"/>
          </a:p>
          <a:p>
            <a:pPr>
              <a:buNone/>
            </a:pPr>
            <a:r>
              <a:rPr lang="en-US" sz="2400" dirty="0"/>
              <a:t>	</a:t>
            </a:r>
            <a:r>
              <a:rPr lang="en-US" dirty="0"/>
              <a:t>(d)  </a:t>
            </a:r>
            <a:r>
              <a:rPr lang="en-US" dirty="0">
                <a:solidFill>
                  <a:srgbClr val="FF0000"/>
                </a:solidFill>
              </a:rPr>
              <a:t>(-1, 7) </a:t>
            </a:r>
            <a:r>
              <a:rPr lang="en-US" dirty="0">
                <a:solidFill>
                  <a:srgbClr val="FF0000"/>
                </a:solidFill>
                <a:sym typeface="Symbol"/>
              </a:rPr>
              <a:t> </a:t>
            </a:r>
            <a:r>
              <a:rPr lang="en-US" dirty="0">
                <a:solidFill>
                  <a:srgbClr val="FF0000"/>
                </a:solidFill>
              </a:rPr>
              <a:t>E</a:t>
            </a:r>
            <a:r>
              <a:rPr lang="en-US" dirty="0"/>
              <a:t> since </a:t>
            </a:r>
            <a:r>
              <a:rPr lang="en-US" dirty="0">
                <a:solidFill>
                  <a:srgbClr val="FF0000"/>
                </a:solidFill>
              </a:rPr>
              <a:t>(– 1) – 7 = – 8</a:t>
            </a:r>
            <a:r>
              <a:rPr lang="en-US" dirty="0"/>
              <a:t> is an </a:t>
            </a:r>
            <a:r>
              <a:rPr lang="en-US" dirty="0">
                <a:solidFill>
                  <a:srgbClr val="FF0000"/>
                </a:solidFill>
              </a:rPr>
              <a:t>even integer</a:t>
            </a:r>
            <a:r>
              <a:rPr lang="en-US" dirty="0"/>
              <a:t>.</a:t>
            </a:r>
          </a:p>
          <a:p>
            <a:pPr>
              <a:buNone/>
            </a:pPr>
            <a:endParaRPr lang="en-US" dirty="0"/>
          </a:p>
          <a:p>
            <a:pPr>
              <a:buNone/>
            </a:pPr>
            <a:r>
              <a:rPr lang="en-US" dirty="0"/>
              <a:t>   (e) 	For any even integer n, we have</a:t>
            </a:r>
          </a:p>
          <a:p>
            <a:pPr>
              <a:buNone/>
            </a:pPr>
            <a:r>
              <a:rPr lang="en-US" dirty="0"/>
              <a:t>			</a:t>
            </a:r>
            <a:r>
              <a:rPr lang="en-US" dirty="0">
                <a:solidFill>
                  <a:srgbClr val="FF0000"/>
                </a:solidFill>
              </a:rPr>
              <a:t>n – 0 = n</a:t>
            </a:r>
            <a:r>
              <a:rPr lang="en-US" dirty="0"/>
              <a:t>,	an even integer</a:t>
            </a:r>
          </a:p>
          <a:p>
            <a:pPr>
              <a:buNone/>
            </a:pPr>
            <a:r>
              <a:rPr lang="en-US" dirty="0"/>
              <a:t>				so </a:t>
            </a:r>
            <a:r>
              <a:rPr lang="en-US" dirty="0">
                <a:solidFill>
                  <a:srgbClr val="FF0000"/>
                </a:solidFill>
              </a:rPr>
              <a:t>(n, 0) </a:t>
            </a:r>
            <a:r>
              <a:rPr lang="en-US" dirty="0">
                <a:solidFill>
                  <a:srgbClr val="FF0000"/>
                </a:solidFill>
                <a:sym typeface="Symbol"/>
              </a:rPr>
              <a:t> </a:t>
            </a:r>
            <a:r>
              <a:rPr lang="en-US" dirty="0">
                <a:solidFill>
                  <a:srgbClr val="FF0000"/>
                </a:solidFill>
              </a:rPr>
              <a:t>E</a:t>
            </a:r>
            <a:r>
              <a:rPr lang="en-US" dirty="0"/>
              <a:t> 		</a:t>
            </a:r>
          </a:p>
          <a:p>
            <a:pPr>
              <a:buNone/>
            </a:pPr>
            <a:r>
              <a:rPr lang="en-US" dirty="0"/>
              <a:t>					or	</a:t>
            </a:r>
          </a:p>
          <a:p>
            <a:pPr>
              <a:buNone/>
            </a:pPr>
            <a:r>
              <a:rPr lang="en-US" dirty="0"/>
              <a:t>				equivalently </a:t>
            </a:r>
            <a:r>
              <a:rPr lang="en-US" dirty="0">
                <a:solidFill>
                  <a:srgbClr val="FF0000"/>
                </a:solidFill>
              </a:rPr>
              <a:t>nE0</a:t>
            </a:r>
          </a:p>
          <a:p>
            <a:pPr>
              <a:buNone/>
            </a:pPr>
            <a:endParaRPr lang="en-US" dirty="0"/>
          </a:p>
          <a:p>
            <a:pPr>
              <a:buNone/>
            </a:pPr>
            <a:endParaRPr lang="en-US" dirty="0"/>
          </a:p>
          <a:p>
            <a:endParaRPr lang="en-US" dirty="0"/>
          </a:p>
        </p:txBody>
      </p:sp>
      <p:cxnSp>
        <p:nvCxnSpPr>
          <p:cNvPr id="6" name="Straight Connector 5"/>
          <p:cNvCxnSpPr/>
          <p:nvPr/>
        </p:nvCxnSpPr>
        <p:spPr>
          <a:xfrm rot="5400000">
            <a:off x="7291484" y="2764375"/>
            <a:ext cx="38100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par>
                                <p:cTn id="18" presetID="1" presetClass="entr" presetSubtype="0" fill="hold" nodeType="with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2000"/>
                                        <p:tgtEl>
                                          <p:spTgt spid="4">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animEffect transition="in" filter="fade">
                                      <p:cBhvr>
                                        <p:cTn id="29" dur="2000"/>
                                        <p:tgtEl>
                                          <p:spTgt spid="4">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4">
                                            <p:txEl>
                                              <p:pRg st="9" end="9"/>
                                            </p:txEl>
                                          </p:spTgt>
                                        </p:tgtEl>
                                        <p:attrNameLst>
                                          <p:attrName>style.visibility</p:attrName>
                                        </p:attrNameLst>
                                      </p:cBhvr>
                                      <p:to>
                                        <p:strVal val="visible"/>
                                      </p:to>
                                    </p:set>
                                    <p:animEffect transition="in" filter="fade">
                                      <p:cBhvr>
                                        <p:cTn id="34" dur="2000"/>
                                        <p:tgtEl>
                                          <p:spTgt spid="4">
                                            <p:txEl>
                                              <p:pRg st="9" end="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animEffect transition="in" filter="fade">
                                      <p:cBhvr>
                                        <p:cTn id="39" dur="2000"/>
                                        <p:tgtEl>
                                          <p:spTgt spid="4">
                                            <p:txEl>
                                              <p:pRg st="10" end="1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
                                            <p:txEl>
                                              <p:pRg st="11" end="11"/>
                                            </p:txEl>
                                          </p:spTgt>
                                        </p:tgtEl>
                                        <p:attrNameLst>
                                          <p:attrName>style.visibility</p:attrName>
                                        </p:attrNameLst>
                                      </p:cBhvr>
                                      <p:to>
                                        <p:strVal val="visible"/>
                                      </p:to>
                                    </p:set>
                                    <p:animEffect transition="in" filter="fade">
                                      <p:cBhvr>
                                        <p:cTn id="44" dur="2000"/>
                                        <p:tgtEl>
                                          <p:spTgt spid="4">
                                            <p:txEl>
                                              <p:pRg st="11" end="1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4">
                                            <p:txEl>
                                              <p:pRg st="12" end="12"/>
                                            </p:txEl>
                                          </p:spTgt>
                                        </p:tgtEl>
                                        <p:attrNameLst>
                                          <p:attrName>style.visibility</p:attrName>
                                        </p:attrNameLst>
                                      </p:cBhvr>
                                      <p:to>
                                        <p:strVal val="visible"/>
                                      </p:to>
                                    </p:set>
                                    <p:animEffect transition="in" filter="fade">
                                      <p:cBhvr>
                                        <p:cTn id="49" dur="2000"/>
                                        <p:tgtEl>
                                          <p:spTgt spid="4">
                                            <p:txEl>
                                              <p:pRg st="12" end="1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4">
                                            <p:txEl>
                                              <p:pRg st="13" end="13"/>
                                            </p:txEl>
                                          </p:spTgt>
                                        </p:tgtEl>
                                        <p:attrNameLst>
                                          <p:attrName>style.visibility</p:attrName>
                                        </p:attrNameLst>
                                      </p:cBhvr>
                                      <p:to>
                                        <p:strVal val="visible"/>
                                      </p:to>
                                    </p:set>
                                    <p:animEffect transition="in" filter="fade">
                                      <p:cBhvr>
                                        <p:cTn id="54" dur="2000"/>
                                        <p:tgtEl>
                                          <p:spTgt spid="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solidFill>
                  <a:srgbClr val="0070C0"/>
                </a:solidFill>
              </a:rPr>
              <a:t>RELATION ON A SET</a:t>
            </a:r>
            <a:endParaRPr lang="en-US"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24</a:t>
            </a:fld>
            <a:endParaRPr lang="en-US"/>
          </a:p>
        </p:txBody>
      </p:sp>
      <p:sp>
        <p:nvSpPr>
          <p:cNvPr id="4" name="Content Placeholder 3"/>
          <p:cNvSpPr>
            <a:spLocks noGrp="1"/>
          </p:cNvSpPr>
          <p:nvPr>
            <p:ph sz="quarter" idx="1"/>
          </p:nvPr>
        </p:nvSpPr>
        <p:spPr/>
        <p:txBody>
          <a:bodyPr/>
          <a:lstStyle/>
          <a:p>
            <a:r>
              <a:rPr lang="en-US" dirty="0"/>
              <a:t>A </a:t>
            </a:r>
            <a:r>
              <a:rPr lang="en-US" dirty="0">
                <a:solidFill>
                  <a:srgbClr val="FF0000"/>
                </a:solidFill>
              </a:rPr>
              <a:t>relation</a:t>
            </a:r>
            <a:r>
              <a:rPr lang="en-US" dirty="0"/>
              <a:t> on the set </a:t>
            </a:r>
            <a:r>
              <a:rPr lang="en-US" dirty="0">
                <a:solidFill>
                  <a:srgbClr val="FF0000"/>
                </a:solidFill>
              </a:rPr>
              <a:t>A</a:t>
            </a:r>
            <a:r>
              <a:rPr lang="en-US" dirty="0"/>
              <a:t> is a relation from </a:t>
            </a:r>
            <a:r>
              <a:rPr lang="en-US" dirty="0">
                <a:solidFill>
                  <a:srgbClr val="FF0000"/>
                </a:solidFill>
              </a:rPr>
              <a:t>A to A</a:t>
            </a:r>
            <a:r>
              <a:rPr lang="en-US" dirty="0"/>
              <a:t>.</a:t>
            </a:r>
          </a:p>
          <a:p>
            <a:endParaRPr lang="en-US" dirty="0"/>
          </a:p>
          <a:p>
            <a:r>
              <a:rPr lang="en-US" dirty="0"/>
              <a:t>In other words, a relation on a set A is a </a:t>
            </a:r>
            <a:r>
              <a:rPr lang="en-US" dirty="0">
                <a:solidFill>
                  <a:srgbClr val="FF0000"/>
                </a:solidFill>
              </a:rPr>
              <a:t>subset </a:t>
            </a:r>
            <a:r>
              <a:rPr lang="en-US" dirty="0"/>
              <a:t>of</a:t>
            </a:r>
            <a:r>
              <a:rPr lang="en-US" dirty="0">
                <a:solidFill>
                  <a:srgbClr val="FF0000"/>
                </a:solidFill>
              </a:rPr>
              <a:t> A </a:t>
            </a:r>
            <a:r>
              <a:rPr lang="en-US" dirty="0">
                <a:solidFill>
                  <a:srgbClr val="FF0000"/>
                </a:solidFill>
                <a:sym typeface="Symbol"/>
              </a:rPr>
              <a:t></a:t>
            </a:r>
            <a:r>
              <a:rPr lang="en-US" dirty="0">
                <a:solidFill>
                  <a:srgbClr val="FF0000"/>
                </a:solidFill>
              </a:rPr>
              <a:t> A</a:t>
            </a:r>
            <a:r>
              <a:rPr lang="en-US" dirty="0"/>
              <a:t>.</a:t>
            </a:r>
          </a:p>
          <a:p>
            <a:endParaRPr lang="en-US" dirty="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25</a:t>
            </a:fld>
            <a:endParaRPr lang="en-US"/>
          </a:p>
        </p:txBody>
      </p:sp>
      <p:sp>
        <p:nvSpPr>
          <p:cNvPr id="4" name="Content Placeholder 3"/>
          <p:cNvSpPr>
            <a:spLocks noGrp="1"/>
          </p:cNvSpPr>
          <p:nvPr>
            <p:ph sz="quarter" idx="1"/>
          </p:nvPr>
        </p:nvSpPr>
        <p:spPr>
          <a:xfrm>
            <a:off x="1420906" y="1250950"/>
            <a:ext cx="9932894" cy="5105400"/>
          </a:xfrm>
        </p:spPr>
        <p:txBody>
          <a:bodyPr/>
          <a:lstStyle/>
          <a:p>
            <a:r>
              <a:rPr lang="en-US" dirty="0"/>
              <a:t>Let </a:t>
            </a:r>
          </a:p>
          <a:p>
            <a:pPr>
              <a:buNone/>
            </a:pPr>
            <a:r>
              <a:rPr lang="en-US" dirty="0"/>
              <a:t>		</a:t>
            </a:r>
            <a:r>
              <a:rPr lang="en-US" dirty="0">
                <a:solidFill>
                  <a:srgbClr val="FF0000"/>
                </a:solidFill>
              </a:rPr>
              <a:t>A = {1, 2, 3, 4}</a:t>
            </a:r>
          </a:p>
          <a:p>
            <a:pPr>
              <a:buNone/>
            </a:pPr>
            <a:endParaRPr lang="en-US" dirty="0">
              <a:solidFill>
                <a:srgbClr val="FF0000"/>
              </a:solidFill>
            </a:endParaRPr>
          </a:p>
          <a:p>
            <a:pPr>
              <a:buNone/>
            </a:pPr>
            <a:r>
              <a:rPr lang="en-US" dirty="0"/>
              <a:t>	Define a relation </a:t>
            </a:r>
            <a:r>
              <a:rPr lang="en-US" dirty="0">
                <a:solidFill>
                  <a:srgbClr val="FF0000"/>
                </a:solidFill>
              </a:rPr>
              <a:t>R on A</a:t>
            </a:r>
            <a:r>
              <a:rPr lang="en-US" dirty="0"/>
              <a:t> as</a:t>
            </a:r>
          </a:p>
          <a:p>
            <a:pPr>
              <a:buNone/>
            </a:pPr>
            <a:r>
              <a:rPr lang="en-US" dirty="0"/>
              <a:t>	</a:t>
            </a:r>
            <a:r>
              <a:rPr lang="en-US" dirty="0">
                <a:solidFill>
                  <a:srgbClr val="FF0000"/>
                </a:solidFill>
              </a:rPr>
              <a:t>(a, b) </a:t>
            </a:r>
            <a:r>
              <a:rPr lang="en-US" dirty="0">
                <a:solidFill>
                  <a:srgbClr val="FF0000"/>
                </a:solidFill>
                <a:sym typeface="Symbol"/>
              </a:rPr>
              <a:t></a:t>
            </a:r>
            <a:r>
              <a:rPr lang="en-US" dirty="0">
                <a:solidFill>
                  <a:srgbClr val="FF0000"/>
                </a:solidFill>
              </a:rPr>
              <a:t> R</a:t>
            </a:r>
            <a:r>
              <a:rPr lang="en-US" dirty="0"/>
              <a:t> </a:t>
            </a:r>
            <a:r>
              <a:rPr lang="en-US" i="1" dirty="0" err="1"/>
              <a:t>iff</a:t>
            </a:r>
            <a:r>
              <a:rPr lang="en-US" dirty="0"/>
              <a:t> </a:t>
            </a:r>
            <a:r>
              <a:rPr lang="en-US" dirty="0">
                <a:solidFill>
                  <a:srgbClr val="FF0000"/>
                </a:solidFill>
              </a:rPr>
              <a:t>a</a:t>
            </a:r>
            <a:r>
              <a:rPr lang="en-US" dirty="0"/>
              <a:t> divides </a:t>
            </a:r>
            <a:r>
              <a:rPr lang="en-US" dirty="0">
                <a:solidFill>
                  <a:srgbClr val="FF0000"/>
                </a:solidFill>
              </a:rPr>
              <a:t>b</a:t>
            </a:r>
            <a:r>
              <a:rPr lang="en-US" dirty="0"/>
              <a:t> {symbolically written as </a:t>
            </a:r>
            <a:r>
              <a:rPr lang="en-US" dirty="0">
                <a:solidFill>
                  <a:srgbClr val="FF0000"/>
                </a:solidFill>
              </a:rPr>
              <a:t>a </a:t>
            </a:r>
            <a:r>
              <a:rPr lang="en-US" dirty="0">
                <a:solidFill>
                  <a:srgbClr val="FF0000"/>
                </a:solidFill>
                <a:sym typeface="Symbol"/>
              </a:rPr>
              <a:t></a:t>
            </a:r>
            <a:r>
              <a:rPr lang="en-US" dirty="0">
                <a:solidFill>
                  <a:srgbClr val="FF0000"/>
                </a:solidFill>
              </a:rPr>
              <a:t> b</a:t>
            </a:r>
            <a:r>
              <a:rPr lang="en-US" dirty="0"/>
              <a:t>}	</a:t>
            </a:r>
          </a:p>
          <a:p>
            <a:pPr>
              <a:buNone/>
            </a:pPr>
            <a:r>
              <a:rPr lang="en-US" dirty="0"/>
              <a:t>	</a:t>
            </a:r>
          </a:p>
          <a:p>
            <a:pPr>
              <a:buNone/>
            </a:pPr>
            <a:r>
              <a:rPr lang="en-US" dirty="0"/>
              <a:t>	Then, </a:t>
            </a:r>
          </a:p>
          <a:p>
            <a:pPr>
              <a:buNone/>
            </a:pPr>
            <a:r>
              <a:rPr lang="en-US" dirty="0"/>
              <a:t>		R = </a:t>
            </a:r>
            <a:r>
              <a:rPr lang="en-US" dirty="0">
                <a:solidFill>
                  <a:srgbClr val="FF0000"/>
                </a:solidFill>
              </a:rPr>
              <a:t>{(1,1), (1,2), (1,3), (1,4), (2,2), (2,4), (3,3), (4,4)}</a:t>
            </a:r>
            <a:r>
              <a:rPr lang="en-US" b="1" dirty="0"/>
              <a:t>	</a:t>
            </a:r>
            <a:endParaRPr lang="en-US" dirty="0"/>
          </a:p>
          <a:p>
            <a:pPr>
              <a:buNone/>
            </a:pPr>
            <a:endParaRPr lang="en-US" dirty="0"/>
          </a:p>
          <a:p>
            <a:pPr>
              <a:buNone/>
            </a:pPr>
            <a:endParaRPr lang="en-US" dirty="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solidFill>
                  <a:srgbClr val="0070C0"/>
                </a:solidFill>
              </a:rPr>
              <a:t>REMARK</a:t>
            </a:r>
            <a:endParaRPr lang="en-US"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26</a:t>
            </a:fld>
            <a:endParaRPr lang="en-US"/>
          </a:p>
        </p:txBody>
      </p:sp>
      <p:sp>
        <p:nvSpPr>
          <p:cNvPr id="4" name="Content Placeholder 3"/>
          <p:cNvSpPr>
            <a:spLocks noGrp="1"/>
          </p:cNvSpPr>
          <p:nvPr>
            <p:ph sz="quarter" idx="1"/>
          </p:nvPr>
        </p:nvSpPr>
        <p:spPr/>
        <p:txBody>
          <a:bodyPr>
            <a:normAutofit/>
          </a:bodyPr>
          <a:lstStyle/>
          <a:p>
            <a:r>
              <a:rPr lang="en-US" dirty="0"/>
              <a:t>For any set A</a:t>
            </a:r>
          </a:p>
          <a:p>
            <a:pPr lvl="1"/>
            <a:r>
              <a:rPr lang="en-US" sz="2600" dirty="0">
                <a:solidFill>
                  <a:srgbClr val="FF0000"/>
                </a:solidFill>
              </a:rPr>
              <a:t>A </a:t>
            </a:r>
            <a:r>
              <a:rPr lang="en-US" sz="2600" dirty="0">
                <a:solidFill>
                  <a:srgbClr val="FF0000"/>
                </a:solidFill>
                <a:sym typeface="Symbol"/>
              </a:rPr>
              <a:t></a:t>
            </a:r>
            <a:r>
              <a:rPr lang="en-US" sz="2600" dirty="0">
                <a:solidFill>
                  <a:srgbClr val="FF0000"/>
                </a:solidFill>
              </a:rPr>
              <a:t> A</a:t>
            </a:r>
            <a:r>
              <a:rPr lang="en-US" sz="2600" dirty="0">
                <a:solidFill>
                  <a:srgbClr val="002060"/>
                </a:solidFill>
              </a:rPr>
              <a:t> is known as the </a:t>
            </a:r>
            <a:r>
              <a:rPr lang="en-US" sz="2600" dirty="0">
                <a:solidFill>
                  <a:srgbClr val="FF0000"/>
                </a:solidFill>
              </a:rPr>
              <a:t>universal relation</a:t>
            </a:r>
            <a:r>
              <a:rPr lang="en-US" sz="2600" dirty="0">
                <a:solidFill>
                  <a:srgbClr val="002060"/>
                </a:solidFill>
              </a:rPr>
              <a:t>.</a:t>
            </a:r>
          </a:p>
          <a:p>
            <a:pPr lvl="1"/>
            <a:r>
              <a:rPr lang="en-US" sz="2600" dirty="0">
                <a:solidFill>
                  <a:srgbClr val="FF0000"/>
                </a:solidFill>
                <a:sym typeface="Symbol"/>
              </a:rPr>
              <a:t></a:t>
            </a:r>
            <a:r>
              <a:rPr lang="en-US" sz="2600" dirty="0">
                <a:solidFill>
                  <a:srgbClr val="002060"/>
                </a:solidFill>
              </a:rPr>
              <a:t> is known as the </a:t>
            </a:r>
            <a:r>
              <a:rPr lang="en-US" sz="2600" dirty="0">
                <a:solidFill>
                  <a:srgbClr val="FF0000"/>
                </a:solidFill>
              </a:rPr>
              <a:t>empty relation</a:t>
            </a:r>
            <a:r>
              <a:rPr lang="en-US" sz="2600" dirty="0">
                <a:solidFill>
                  <a:srgbClr val="002060"/>
                </a:solidFill>
              </a:rPr>
              <a:t>.	</a:t>
            </a:r>
          </a:p>
          <a:p>
            <a:endParaRPr lang="en-US" dirty="0"/>
          </a:p>
          <a:p>
            <a:pPr>
              <a:buNone/>
            </a:pPr>
            <a:endParaRPr lang="en-US" dirty="0"/>
          </a:p>
          <a:p>
            <a:pPr>
              <a:buNone/>
            </a:pPr>
            <a:endParaRPr lang="en-US" dirty="0"/>
          </a:p>
          <a:p>
            <a:pPr>
              <a:buNone/>
            </a:pPr>
            <a:endParaRPr lang="en-US" dirty="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ARROW DIAGRAM OF A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27</a:t>
            </a:fld>
            <a:endParaRPr lang="en-US"/>
          </a:p>
        </p:txBody>
      </p:sp>
      <p:sp>
        <p:nvSpPr>
          <p:cNvPr id="4" name="Content Placeholder 3"/>
          <p:cNvSpPr>
            <a:spLocks noGrp="1"/>
          </p:cNvSpPr>
          <p:nvPr>
            <p:ph sz="quarter" idx="1"/>
          </p:nvPr>
        </p:nvSpPr>
        <p:spPr>
          <a:xfrm>
            <a:off x="882396" y="1409594"/>
            <a:ext cx="9829800" cy="3859742"/>
          </a:xfrm>
        </p:spPr>
        <p:txBody>
          <a:bodyPr/>
          <a:lstStyle/>
          <a:p>
            <a:r>
              <a:rPr lang="en-US" dirty="0"/>
              <a:t>Let </a:t>
            </a:r>
          </a:p>
          <a:p>
            <a:pPr>
              <a:buNone/>
            </a:pPr>
            <a:r>
              <a:rPr lang="en-US" dirty="0"/>
              <a:t>		</a:t>
            </a:r>
            <a:r>
              <a:rPr lang="es-ES" dirty="0"/>
              <a:t>A =</a:t>
            </a:r>
            <a:r>
              <a:rPr lang="es-ES" dirty="0">
                <a:solidFill>
                  <a:srgbClr val="FF0000"/>
                </a:solidFill>
              </a:rPr>
              <a:t> {1, 2, 3}</a:t>
            </a:r>
            <a:r>
              <a:rPr lang="es-ES" dirty="0"/>
              <a:t>,	 B =</a:t>
            </a:r>
            <a:r>
              <a:rPr lang="es-ES" dirty="0">
                <a:solidFill>
                  <a:srgbClr val="FF0000"/>
                </a:solidFill>
              </a:rPr>
              <a:t> {x, y}</a:t>
            </a:r>
            <a:r>
              <a:rPr lang="es-ES" dirty="0"/>
              <a:t> </a:t>
            </a:r>
            <a:r>
              <a:rPr lang="en-US" dirty="0"/>
              <a:t>	</a:t>
            </a:r>
            <a:r>
              <a:rPr lang="es-ES" dirty="0"/>
              <a:t>and</a:t>
            </a:r>
          </a:p>
          <a:p>
            <a:pPr>
              <a:buNone/>
            </a:pPr>
            <a:r>
              <a:rPr lang="es-ES" dirty="0"/>
              <a:t>		R = </a:t>
            </a:r>
            <a:r>
              <a:rPr lang="es-ES" dirty="0">
                <a:solidFill>
                  <a:srgbClr val="FF0000"/>
                </a:solidFill>
              </a:rPr>
              <a:t>{(1, y), (2, x), (2, y), (3, x)}</a:t>
            </a:r>
            <a:r>
              <a:rPr lang="es-ES" dirty="0"/>
              <a:t> </a:t>
            </a:r>
            <a:endParaRPr lang="en-US" dirty="0"/>
          </a:p>
          <a:p>
            <a:pPr>
              <a:buNone/>
            </a:pPr>
            <a:r>
              <a:rPr lang="es-ES" dirty="0"/>
              <a:t>		</a:t>
            </a:r>
            <a:r>
              <a:rPr lang="en-US" dirty="0"/>
              <a:t>be a </a:t>
            </a:r>
            <a:r>
              <a:rPr lang="en-US" dirty="0">
                <a:solidFill>
                  <a:srgbClr val="FF0000"/>
                </a:solidFill>
              </a:rPr>
              <a:t>relation</a:t>
            </a:r>
            <a:r>
              <a:rPr lang="en-US" dirty="0"/>
              <a:t> from </a:t>
            </a:r>
            <a:r>
              <a:rPr lang="en-US" dirty="0">
                <a:solidFill>
                  <a:srgbClr val="FF0000"/>
                </a:solidFill>
              </a:rPr>
              <a:t>A to B</a:t>
            </a:r>
            <a:r>
              <a:rPr lang="en-US" dirty="0"/>
              <a:t>. </a:t>
            </a:r>
          </a:p>
          <a:p>
            <a:pPr>
              <a:buNone/>
            </a:pPr>
            <a:r>
              <a:rPr lang="en-US" dirty="0"/>
              <a:t>		The </a:t>
            </a:r>
            <a:r>
              <a:rPr lang="en-US" dirty="0">
                <a:solidFill>
                  <a:srgbClr val="FF0000"/>
                </a:solidFill>
              </a:rPr>
              <a:t>arrow diagram</a:t>
            </a:r>
            <a:r>
              <a:rPr lang="en-US" dirty="0"/>
              <a:t> of </a:t>
            </a:r>
            <a:r>
              <a:rPr lang="en-US" dirty="0">
                <a:solidFill>
                  <a:srgbClr val="FF0000"/>
                </a:solidFill>
              </a:rPr>
              <a:t>R</a:t>
            </a:r>
            <a:r>
              <a:rPr lang="en-US" dirty="0"/>
              <a:t> is:</a:t>
            </a:r>
          </a:p>
          <a:p>
            <a:endParaRPr lang="en-US" dirty="0"/>
          </a:p>
        </p:txBody>
      </p:sp>
      <p:pic>
        <p:nvPicPr>
          <p:cNvPr id="5" name="Picture 4"/>
          <p:cNvPicPr/>
          <p:nvPr/>
        </p:nvPicPr>
        <p:blipFill>
          <a:blip r:embed="rId2"/>
          <a:srcRect/>
          <a:stretch>
            <a:fillRect/>
          </a:stretch>
        </p:blipFill>
        <p:spPr bwMode="auto">
          <a:xfrm>
            <a:off x="6911788" y="3704590"/>
            <a:ext cx="3070412" cy="265176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checkerboard(across)">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DIRECTED GRAPH OF A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28</a:t>
            </a:fld>
            <a:endParaRPr lang="en-US"/>
          </a:p>
        </p:txBody>
      </p:sp>
      <p:sp>
        <p:nvSpPr>
          <p:cNvPr id="4" name="Content Placeholder 3"/>
          <p:cNvSpPr>
            <a:spLocks noGrp="1"/>
          </p:cNvSpPr>
          <p:nvPr>
            <p:ph sz="quarter" idx="1"/>
          </p:nvPr>
        </p:nvSpPr>
        <p:spPr>
          <a:xfrm>
            <a:off x="1021976" y="1407054"/>
            <a:ext cx="9829800" cy="3859742"/>
          </a:xfrm>
        </p:spPr>
        <p:txBody>
          <a:bodyPr/>
          <a:lstStyle/>
          <a:p>
            <a:r>
              <a:rPr lang="en-US" dirty="0"/>
              <a:t>Let</a:t>
            </a:r>
          </a:p>
          <a:p>
            <a:pPr>
              <a:buNone/>
            </a:pPr>
            <a:r>
              <a:rPr lang="en-US" dirty="0"/>
              <a:t>  	 A = </a:t>
            </a:r>
            <a:r>
              <a:rPr lang="en-US" dirty="0">
                <a:solidFill>
                  <a:srgbClr val="FF0000"/>
                </a:solidFill>
              </a:rPr>
              <a:t>{0, 1, 2, 3}</a:t>
            </a:r>
            <a:r>
              <a:rPr lang="en-US" dirty="0"/>
              <a:t> and</a:t>
            </a:r>
          </a:p>
          <a:p>
            <a:pPr>
              <a:buNone/>
            </a:pPr>
            <a:r>
              <a:rPr lang="en-US" dirty="0"/>
              <a:t>	 R = </a:t>
            </a:r>
            <a:r>
              <a:rPr lang="en-US" dirty="0">
                <a:solidFill>
                  <a:srgbClr val="FF0000"/>
                </a:solidFill>
              </a:rPr>
              <a:t>{(0, 0), (1, 3), (2, 1), (2, 2), (3, 0), (3, 1)}</a:t>
            </a:r>
            <a:r>
              <a:rPr lang="en-US" dirty="0"/>
              <a:t> </a:t>
            </a:r>
          </a:p>
          <a:p>
            <a:pPr>
              <a:buNone/>
            </a:pPr>
            <a:r>
              <a:rPr lang="en-US" dirty="0"/>
              <a:t>		be a </a:t>
            </a:r>
            <a:r>
              <a:rPr lang="en-US" dirty="0">
                <a:solidFill>
                  <a:srgbClr val="FF0000"/>
                </a:solidFill>
              </a:rPr>
              <a:t>binary relation</a:t>
            </a:r>
            <a:r>
              <a:rPr lang="en-US" dirty="0"/>
              <a:t> on </a:t>
            </a:r>
            <a:r>
              <a:rPr lang="en-US" dirty="0">
                <a:solidFill>
                  <a:srgbClr val="FF0000"/>
                </a:solidFill>
              </a:rPr>
              <a:t>A</a:t>
            </a:r>
            <a:r>
              <a:rPr lang="en-US" dirty="0"/>
              <a:t>.</a:t>
            </a:r>
          </a:p>
          <a:p>
            <a:endParaRPr lang="en-US" dirty="0"/>
          </a:p>
        </p:txBody>
      </p:sp>
      <p:pic>
        <p:nvPicPr>
          <p:cNvPr id="5" name="Picture 4"/>
          <p:cNvPicPr/>
          <p:nvPr/>
        </p:nvPicPr>
        <p:blipFill>
          <a:blip r:embed="rId2"/>
          <a:srcRect/>
          <a:stretch>
            <a:fillRect/>
          </a:stretch>
        </p:blipFill>
        <p:spPr bwMode="auto">
          <a:xfrm>
            <a:off x="7194176" y="3521075"/>
            <a:ext cx="3657600" cy="3200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checkerboard(across)">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a:solidFill>
                  <a:srgbClr val="0070C0"/>
                </a:solidFill>
              </a:rPr>
              <a:t>MATRIX REPRESENTATION OF A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29</a:t>
            </a:fld>
            <a:endParaRPr lang="en-US"/>
          </a:p>
        </p:txBody>
      </p:sp>
      <p:sp>
        <p:nvSpPr>
          <p:cNvPr id="4" name="Content Placeholder 3"/>
          <p:cNvSpPr>
            <a:spLocks noGrp="1"/>
          </p:cNvSpPr>
          <p:nvPr>
            <p:ph sz="quarter" idx="1"/>
          </p:nvPr>
        </p:nvSpPr>
        <p:spPr/>
        <p:txBody>
          <a:bodyPr/>
          <a:lstStyle/>
          <a:p>
            <a:r>
              <a:rPr lang="en-US" dirty="0"/>
              <a:t>Let 	</a:t>
            </a:r>
          </a:p>
          <a:p>
            <a:pPr>
              <a:buNone/>
            </a:pPr>
            <a:r>
              <a:rPr lang="en-US" dirty="0"/>
              <a:t>	A = </a:t>
            </a:r>
            <a:r>
              <a:rPr lang="en-US" dirty="0">
                <a:solidFill>
                  <a:srgbClr val="FF0000"/>
                </a:solidFill>
              </a:rPr>
              <a:t>{a</a:t>
            </a:r>
            <a:r>
              <a:rPr lang="en-US" baseline="-25000" dirty="0">
                <a:solidFill>
                  <a:srgbClr val="FF0000"/>
                </a:solidFill>
              </a:rPr>
              <a:t>1</a:t>
            </a:r>
            <a:r>
              <a:rPr lang="en-US" dirty="0">
                <a:solidFill>
                  <a:srgbClr val="FF0000"/>
                </a:solidFill>
              </a:rPr>
              <a:t>, a</a:t>
            </a:r>
            <a:r>
              <a:rPr lang="en-US" baseline="-25000" dirty="0">
                <a:solidFill>
                  <a:srgbClr val="FF0000"/>
                </a:solidFill>
              </a:rPr>
              <a:t>2</a:t>
            </a:r>
            <a:r>
              <a:rPr lang="en-US" dirty="0">
                <a:solidFill>
                  <a:srgbClr val="FF0000"/>
                </a:solidFill>
              </a:rPr>
              <a:t>, …, a</a:t>
            </a:r>
            <a:r>
              <a:rPr lang="en-US" baseline="-25000" dirty="0">
                <a:solidFill>
                  <a:srgbClr val="FF0000"/>
                </a:solidFill>
              </a:rPr>
              <a:t>n</a:t>
            </a:r>
            <a:r>
              <a:rPr lang="en-US" dirty="0">
                <a:solidFill>
                  <a:srgbClr val="FF0000"/>
                </a:solidFill>
              </a:rPr>
              <a:t>}</a:t>
            </a:r>
            <a:r>
              <a:rPr lang="en-US" dirty="0"/>
              <a:t> and B = </a:t>
            </a:r>
            <a:r>
              <a:rPr lang="en-US" dirty="0">
                <a:solidFill>
                  <a:srgbClr val="FF0000"/>
                </a:solidFill>
              </a:rPr>
              <a:t>{b</a:t>
            </a:r>
            <a:r>
              <a:rPr lang="en-US" baseline="-25000" dirty="0">
                <a:solidFill>
                  <a:srgbClr val="FF0000"/>
                </a:solidFill>
              </a:rPr>
              <a:t>1</a:t>
            </a:r>
            <a:r>
              <a:rPr lang="en-US" dirty="0">
                <a:solidFill>
                  <a:srgbClr val="FF0000"/>
                </a:solidFill>
              </a:rPr>
              <a:t>, b</a:t>
            </a:r>
            <a:r>
              <a:rPr lang="en-US" baseline="-25000" dirty="0">
                <a:solidFill>
                  <a:srgbClr val="FF0000"/>
                </a:solidFill>
              </a:rPr>
              <a:t>2</a:t>
            </a:r>
            <a:r>
              <a:rPr lang="en-US" dirty="0">
                <a:solidFill>
                  <a:srgbClr val="FF0000"/>
                </a:solidFill>
              </a:rPr>
              <a:t>, …, </a:t>
            </a:r>
            <a:r>
              <a:rPr lang="en-US" dirty="0" err="1">
                <a:solidFill>
                  <a:srgbClr val="FF0000"/>
                </a:solidFill>
              </a:rPr>
              <a:t>b</a:t>
            </a:r>
            <a:r>
              <a:rPr lang="en-US" baseline="-25000" dirty="0" err="1">
                <a:solidFill>
                  <a:srgbClr val="FF0000"/>
                </a:solidFill>
              </a:rPr>
              <a:t>m</a:t>
            </a:r>
            <a:r>
              <a:rPr lang="en-US" dirty="0">
                <a:solidFill>
                  <a:srgbClr val="FF0000"/>
                </a:solidFill>
              </a:rPr>
              <a:t>}</a:t>
            </a:r>
            <a:r>
              <a:rPr lang="en-US" dirty="0"/>
              <a:t>. </a:t>
            </a:r>
          </a:p>
          <a:p>
            <a:pPr>
              <a:buNone/>
            </a:pPr>
            <a:r>
              <a:rPr lang="en-US" dirty="0"/>
              <a:t>	Let </a:t>
            </a:r>
            <a:r>
              <a:rPr lang="en-US" dirty="0">
                <a:solidFill>
                  <a:srgbClr val="FF0000"/>
                </a:solidFill>
              </a:rPr>
              <a:t>R</a:t>
            </a:r>
            <a:r>
              <a:rPr lang="en-US" dirty="0"/>
              <a:t> be a </a:t>
            </a:r>
            <a:r>
              <a:rPr lang="en-US" dirty="0">
                <a:solidFill>
                  <a:srgbClr val="FF0000"/>
                </a:solidFill>
              </a:rPr>
              <a:t>relation</a:t>
            </a:r>
            <a:r>
              <a:rPr lang="en-US" dirty="0"/>
              <a:t> from </a:t>
            </a:r>
            <a:r>
              <a:rPr lang="en-US" dirty="0">
                <a:solidFill>
                  <a:srgbClr val="FF0000"/>
                </a:solidFill>
              </a:rPr>
              <a:t>A to B</a:t>
            </a:r>
            <a:r>
              <a:rPr lang="en-US" dirty="0"/>
              <a:t>. </a:t>
            </a:r>
          </a:p>
          <a:p>
            <a:pPr>
              <a:buNone/>
            </a:pPr>
            <a:r>
              <a:rPr lang="en-US" dirty="0"/>
              <a:t>	Define the </a:t>
            </a:r>
            <a:r>
              <a:rPr lang="en-US" dirty="0">
                <a:solidFill>
                  <a:srgbClr val="FF0000"/>
                </a:solidFill>
              </a:rPr>
              <a:t>n </a:t>
            </a:r>
            <a:r>
              <a:rPr lang="en-US" dirty="0">
                <a:solidFill>
                  <a:srgbClr val="FF0000"/>
                </a:solidFill>
                <a:sym typeface="Symbol"/>
              </a:rPr>
              <a:t></a:t>
            </a:r>
            <a:r>
              <a:rPr lang="en-US" dirty="0">
                <a:solidFill>
                  <a:srgbClr val="FF0000"/>
                </a:solidFill>
              </a:rPr>
              <a:t> m</a:t>
            </a:r>
            <a:r>
              <a:rPr lang="en-US" dirty="0"/>
              <a:t> order </a:t>
            </a:r>
            <a:r>
              <a:rPr lang="en-US" dirty="0">
                <a:solidFill>
                  <a:srgbClr val="FF0000"/>
                </a:solidFill>
              </a:rPr>
              <a:t>matrix M</a:t>
            </a:r>
            <a:r>
              <a:rPr lang="en-US" dirty="0"/>
              <a:t> by</a:t>
            </a:r>
          </a:p>
          <a:p>
            <a:endParaRPr lang="en-US" dirty="0"/>
          </a:p>
        </p:txBody>
      </p:sp>
      <p:pic>
        <p:nvPicPr>
          <p:cNvPr id="5" name="Picture 4"/>
          <p:cNvPicPr/>
          <p:nvPr/>
        </p:nvPicPr>
        <p:blipFill>
          <a:blip r:embed="rId2"/>
          <a:srcRect/>
          <a:stretch>
            <a:fillRect/>
          </a:stretch>
        </p:blipFill>
        <p:spPr bwMode="auto">
          <a:xfrm>
            <a:off x="1135849" y="4093192"/>
            <a:ext cx="9322894" cy="21336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checkerboard(across)">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30</a:t>
            </a:fld>
            <a:endParaRPr lang="en-US"/>
          </a:p>
        </p:txBody>
      </p:sp>
      <p:sp>
        <p:nvSpPr>
          <p:cNvPr id="4" name="Content Placeholder 3"/>
          <p:cNvSpPr>
            <a:spLocks noGrp="1"/>
          </p:cNvSpPr>
          <p:nvPr>
            <p:ph sz="quarter" idx="1"/>
          </p:nvPr>
        </p:nvSpPr>
        <p:spPr/>
        <p:txBody>
          <a:bodyPr/>
          <a:lstStyle/>
          <a:p>
            <a:r>
              <a:rPr lang="en-US" dirty="0"/>
              <a:t>Let A = </a:t>
            </a:r>
            <a:r>
              <a:rPr lang="en-US" dirty="0">
                <a:solidFill>
                  <a:srgbClr val="FF0000"/>
                </a:solidFill>
              </a:rPr>
              <a:t>{1, 2, 3}</a:t>
            </a:r>
            <a:r>
              <a:rPr lang="en-US" dirty="0"/>
              <a:t> and B = </a:t>
            </a:r>
            <a:r>
              <a:rPr lang="en-US" dirty="0">
                <a:solidFill>
                  <a:srgbClr val="FF0000"/>
                </a:solidFill>
              </a:rPr>
              <a:t>{x, y}</a:t>
            </a:r>
          </a:p>
          <a:p>
            <a:pPr>
              <a:buNone/>
            </a:pPr>
            <a:r>
              <a:rPr lang="en-US" dirty="0"/>
              <a:t>	Let </a:t>
            </a:r>
            <a:r>
              <a:rPr lang="en-US" dirty="0">
                <a:solidFill>
                  <a:srgbClr val="FF0000"/>
                </a:solidFill>
              </a:rPr>
              <a:t>R</a:t>
            </a:r>
            <a:r>
              <a:rPr lang="en-US" dirty="0"/>
              <a:t> be a </a:t>
            </a:r>
            <a:r>
              <a:rPr lang="en-US" dirty="0">
                <a:solidFill>
                  <a:srgbClr val="FF0000"/>
                </a:solidFill>
              </a:rPr>
              <a:t>relation</a:t>
            </a:r>
            <a:r>
              <a:rPr lang="en-US" dirty="0"/>
              <a:t> from </a:t>
            </a:r>
            <a:r>
              <a:rPr lang="en-US" dirty="0">
                <a:solidFill>
                  <a:srgbClr val="FF0000"/>
                </a:solidFill>
              </a:rPr>
              <a:t>A to B</a:t>
            </a:r>
            <a:r>
              <a:rPr lang="en-US" dirty="0"/>
              <a:t> defined as </a:t>
            </a:r>
          </a:p>
          <a:p>
            <a:pPr>
              <a:buNone/>
            </a:pPr>
            <a:r>
              <a:rPr lang="en-US" dirty="0"/>
              <a:t>			</a:t>
            </a:r>
            <a:r>
              <a:rPr lang="es-ES" dirty="0"/>
              <a:t>R = </a:t>
            </a:r>
            <a:r>
              <a:rPr lang="es-ES" dirty="0">
                <a:solidFill>
                  <a:srgbClr val="FF0000"/>
                </a:solidFill>
              </a:rPr>
              <a:t>{(1, y), (2, x), (2, y), (3, x)}</a:t>
            </a:r>
            <a:endParaRPr lang="en-US" dirty="0">
              <a:solidFill>
                <a:srgbClr val="FF0000"/>
              </a:solidFill>
            </a:endParaRPr>
          </a:p>
          <a:p>
            <a:endParaRPr lang="en-US" dirty="0"/>
          </a:p>
        </p:txBody>
      </p:sp>
      <p:graphicFrame>
        <p:nvGraphicFramePr>
          <p:cNvPr id="223234" name="Object 2"/>
          <p:cNvGraphicFramePr>
            <a:graphicFrameLocks noChangeAspect="1"/>
          </p:cNvGraphicFramePr>
          <p:nvPr>
            <p:extLst>
              <p:ext uri="{D42A27DB-BD31-4B8C-83A1-F6EECF244321}">
                <p14:modId xmlns:p14="http://schemas.microsoft.com/office/powerpoint/2010/main" val="2243805016"/>
              </p:ext>
            </p:extLst>
          </p:nvPr>
        </p:nvGraphicFramePr>
        <p:xfrm>
          <a:off x="4447389" y="3840967"/>
          <a:ext cx="2899720" cy="2235200"/>
        </p:xfrm>
        <a:graphic>
          <a:graphicData uri="http://schemas.openxmlformats.org/presentationml/2006/ole">
            <mc:AlternateContent xmlns:mc="http://schemas.openxmlformats.org/markup-compatibility/2006">
              <mc:Choice xmlns:v="urn:schemas-microsoft-com:vml" Requires="v">
                <p:oleObj spid="_x0000_s20487" r:id="rId3" imgW="1218960" imgH="939600" progId="">
                  <p:embed/>
                </p:oleObj>
              </mc:Choice>
              <mc:Fallback>
                <p:oleObj r:id="rId3" imgW="1218960" imgH="939600" progId="">
                  <p:embed/>
                  <p:pic>
                    <p:nvPicPr>
                      <p:cNvPr id="22323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7389" y="3840967"/>
                        <a:ext cx="2899720" cy="223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23234"/>
                                        </p:tgtEl>
                                        <p:attrNameLst>
                                          <p:attrName>style.visibility</p:attrName>
                                        </p:attrNameLst>
                                      </p:cBhvr>
                                      <p:to>
                                        <p:strVal val="visible"/>
                                      </p:to>
                                    </p:set>
                                    <p:animEffect transition="in" filter="checkerboard(across)">
                                      <p:cBhvr>
                                        <p:cTn id="22" dur="500"/>
                                        <p:tgtEl>
                                          <p:spTgt spid="223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s-ES" b="1" u="sng" dirty="0">
                <a:solidFill>
                  <a:srgbClr val="0070C0"/>
                </a:solidFill>
              </a:rPr>
              <a:t>EXAMPLE</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31</a:t>
            </a:fld>
            <a:endParaRPr lang="en-US"/>
          </a:p>
        </p:txBody>
      </p:sp>
      <p:sp>
        <p:nvSpPr>
          <p:cNvPr id="4" name="Content Placeholder 3"/>
          <p:cNvSpPr>
            <a:spLocks noGrp="1"/>
          </p:cNvSpPr>
          <p:nvPr>
            <p:ph sz="quarter" idx="1"/>
          </p:nvPr>
        </p:nvSpPr>
        <p:spPr/>
        <p:txBody>
          <a:bodyPr>
            <a:normAutofit lnSpcReduction="10000"/>
          </a:bodyPr>
          <a:lstStyle/>
          <a:p>
            <a:r>
              <a:rPr lang="en-US" dirty="0"/>
              <a:t>For the </a:t>
            </a:r>
            <a:r>
              <a:rPr lang="en-US" dirty="0">
                <a:solidFill>
                  <a:srgbClr val="FF0000"/>
                </a:solidFill>
              </a:rPr>
              <a:t>relation matrix</a:t>
            </a:r>
            <a:r>
              <a:rPr lang="en-US" dirty="0"/>
              <a:t>.</a:t>
            </a:r>
          </a:p>
          <a:p>
            <a:endParaRPr lang="en-US" dirty="0"/>
          </a:p>
          <a:p>
            <a:endParaRPr lang="en-US" dirty="0"/>
          </a:p>
          <a:p>
            <a:endParaRPr lang="en-US" dirty="0"/>
          </a:p>
          <a:p>
            <a:endParaRPr lang="en-US" dirty="0"/>
          </a:p>
          <a:p>
            <a:endParaRPr lang="en-US" dirty="0"/>
          </a:p>
          <a:p>
            <a:pPr lvl="1"/>
            <a:r>
              <a:rPr lang="en-US" sz="2600" dirty="0">
                <a:solidFill>
                  <a:srgbClr val="002060"/>
                </a:solidFill>
              </a:rPr>
              <a:t>List the set of ordered pairs represented by M.</a:t>
            </a:r>
          </a:p>
          <a:p>
            <a:pPr lvl="1"/>
            <a:r>
              <a:rPr lang="en-US" sz="2600" dirty="0">
                <a:solidFill>
                  <a:srgbClr val="002060"/>
                </a:solidFill>
              </a:rPr>
              <a:t>Draw the directed graph of the relation.</a:t>
            </a:r>
          </a:p>
          <a:p>
            <a:endParaRPr lang="en-US" dirty="0"/>
          </a:p>
        </p:txBody>
      </p:sp>
      <p:graphicFrame>
        <p:nvGraphicFramePr>
          <p:cNvPr id="224258" name="Object 2"/>
          <p:cNvGraphicFramePr>
            <a:graphicFrameLocks noChangeAspect="1"/>
          </p:cNvGraphicFramePr>
          <p:nvPr>
            <p:extLst>
              <p:ext uri="{D42A27DB-BD31-4B8C-83A1-F6EECF244321}">
                <p14:modId xmlns:p14="http://schemas.microsoft.com/office/powerpoint/2010/main" val="1752992588"/>
              </p:ext>
            </p:extLst>
          </p:nvPr>
        </p:nvGraphicFramePr>
        <p:xfrm>
          <a:off x="4646058" y="2438400"/>
          <a:ext cx="2302476" cy="1981200"/>
        </p:xfrm>
        <a:graphic>
          <a:graphicData uri="http://schemas.openxmlformats.org/presentationml/2006/ole">
            <mc:AlternateContent xmlns:mc="http://schemas.openxmlformats.org/markup-compatibility/2006">
              <mc:Choice xmlns:v="urn:schemas-microsoft-com:vml" Requires="v">
                <p:oleObj spid="_x0000_s21511" r:id="rId3" imgW="1091880" imgH="939600" progId="">
                  <p:embed/>
                </p:oleObj>
              </mc:Choice>
              <mc:Fallback>
                <p:oleObj r:id="rId3" imgW="1091880" imgH="939600" progId="">
                  <p:embed/>
                  <p:pic>
                    <p:nvPicPr>
                      <p:cNvPr id="22425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6058" y="2438400"/>
                        <a:ext cx="2302476" cy="198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24258"/>
                                        </p:tgtEl>
                                        <p:attrNameLst>
                                          <p:attrName>style.visibility</p:attrName>
                                        </p:attrNameLst>
                                      </p:cBhvr>
                                      <p:to>
                                        <p:strVal val="visible"/>
                                      </p:to>
                                    </p:set>
                                    <p:animEffect transition="in" filter="checkerboard(across)">
                                      <p:cBhvr>
                                        <p:cTn id="12" dur="500"/>
                                        <p:tgtEl>
                                          <p:spTgt spid="22425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fade">
                                      <p:cBhvr>
                                        <p:cTn id="17" dur="2000"/>
                                        <p:tgtEl>
                                          <p:spTgt spid="4">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7" end="7"/>
                                            </p:txEl>
                                          </p:spTgt>
                                        </p:tgtEl>
                                        <p:attrNameLst>
                                          <p:attrName>style.visibility</p:attrName>
                                        </p:attrNameLst>
                                      </p:cBhvr>
                                      <p:to>
                                        <p:strVal val="visible"/>
                                      </p:to>
                                    </p:set>
                                    <p:animEffect transition="in" filter="fade">
                                      <p:cBhvr>
                                        <p:cTn id="22"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SOLUTION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32</a:t>
            </a:fld>
            <a:endParaRPr lang="en-US"/>
          </a:p>
        </p:txBody>
      </p:sp>
      <p:sp>
        <p:nvSpPr>
          <p:cNvPr id="4" name="Content Placeholder 3"/>
          <p:cNvSpPr>
            <a:spLocks noGrp="1"/>
          </p:cNvSpPr>
          <p:nvPr>
            <p:ph sz="quarter" idx="1"/>
          </p:nvPr>
        </p:nvSpPr>
        <p:spPr>
          <a:xfrm>
            <a:off x="1181100" y="1690688"/>
            <a:ext cx="9829800" cy="3859742"/>
          </a:xfrm>
        </p:spPr>
        <p:txBody>
          <a:bodyPr/>
          <a:lstStyle/>
          <a:p>
            <a:r>
              <a:rPr lang="en-US" dirty="0"/>
              <a:t>The </a:t>
            </a:r>
            <a:r>
              <a:rPr lang="en-US" dirty="0">
                <a:solidFill>
                  <a:srgbClr val="FF0000"/>
                </a:solidFill>
              </a:rPr>
              <a:t>relation</a:t>
            </a:r>
            <a:r>
              <a:rPr lang="en-US" dirty="0"/>
              <a:t> corresponding to the given </a:t>
            </a:r>
            <a:r>
              <a:rPr lang="en-US" dirty="0">
                <a:solidFill>
                  <a:srgbClr val="FF0000"/>
                </a:solidFill>
              </a:rPr>
              <a:t>Matrix</a:t>
            </a:r>
            <a:r>
              <a:rPr lang="en-US" dirty="0"/>
              <a:t> is</a:t>
            </a:r>
          </a:p>
          <a:p>
            <a:pPr lvl="1"/>
            <a:r>
              <a:rPr lang="en-US" sz="2600" dirty="0">
                <a:solidFill>
                  <a:srgbClr val="002060"/>
                </a:solidFill>
              </a:rPr>
              <a:t>R = {(1,1), (1,3), (2,1), (3,1), (3,2), (3,3)}</a:t>
            </a:r>
          </a:p>
          <a:p>
            <a:endParaRPr lang="en-US" dirty="0"/>
          </a:p>
          <a:p>
            <a:r>
              <a:rPr lang="en-US" dirty="0"/>
              <a:t>And its </a:t>
            </a:r>
            <a:r>
              <a:rPr lang="en-US" dirty="0">
                <a:solidFill>
                  <a:srgbClr val="FF0000"/>
                </a:solidFill>
              </a:rPr>
              <a:t>Directed graph</a:t>
            </a:r>
            <a:r>
              <a:rPr lang="en-US" dirty="0"/>
              <a:t> is given below</a:t>
            </a:r>
          </a:p>
          <a:p>
            <a:endParaRPr lang="en-US" dirty="0"/>
          </a:p>
        </p:txBody>
      </p:sp>
      <p:pic>
        <p:nvPicPr>
          <p:cNvPr id="5" name="Picture 4"/>
          <p:cNvPicPr/>
          <p:nvPr/>
        </p:nvPicPr>
        <p:blipFill>
          <a:blip r:embed="rId2"/>
          <a:srcRect/>
          <a:stretch>
            <a:fillRect/>
          </a:stretch>
        </p:blipFill>
        <p:spPr bwMode="auto">
          <a:xfrm>
            <a:off x="4720327" y="3873500"/>
            <a:ext cx="3600450" cy="28479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2000"/>
                                        <p:tgtEl>
                                          <p:spTgt spid="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checkerboard(across)">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33</a:t>
            </a:fld>
            <a:endParaRPr lang="en-US"/>
          </a:p>
        </p:txBody>
      </p:sp>
      <p:sp>
        <p:nvSpPr>
          <p:cNvPr id="4" name="Content Placeholder 3"/>
          <p:cNvSpPr>
            <a:spLocks noGrp="1"/>
          </p:cNvSpPr>
          <p:nvPr>
            <p:ph sz="quarter" idx="1"/>
          </p:nvPr>
        </p:nvSpPr>
        <p:spPr/>
        <p:txBody>
          <a:bodyPr>
            <a:normAutofit fontScale="92500" lnSpcReduction="20000"/>
          </a:bodyPr>
          <a:lstStyle/>
          <a:p>
            <a:r>
              <a:rPr lang="en-US" dirty="0"/>
              <a:t>Let  </a:t>
            </a:r>
          </a:p>
          <a:p>
            <a:pPr>
              <a:buNone/>
            </a:pPr>
            <a:r>
              <a:rPr lang="en-US" dirty="0"/>
              <a:t>	A = </a:t>
            </a:r>
            <a:r>
              <a:rPr lang="en-US" dirty="0">
                <a:solidFill>
                  <a:srgbClr val="FF0000"/>
                </a:solidFill>
              </a:rPr>
              <a:t>{2, 4}</a:t>
            </a:r>
            <a:r>
              <a:rPr lang="en-US" dirty="0"/>
              <a:t>  and B = </a:t>
            </a:r>
            <a:r>
              <a:rPr lang="en-US" dirty="0">
                <a:solidFill>
                  <a:srgbClr val="FF0000"/>
                </a:solidFill>
              </a:rPr>
              <a:t>{6, 8, 10}</a:t>
            </a:r>
            <a:r>
              <a:rPr lang="en-US" dirty="0"/>
              <a:t> and </a:t>
            </a:r>
          </a:p>
          <a:p>
            <a:pPr>
              <a:buNone/>
            </a:pPr>
            <a:r>
              <a:rPr lang="en-US" dirty="0"/>
              <a:t>	define </a:t>
            </a:r>
            <a:r>
              <a:rPr lang="en-US" dirty="0">
                <a:solidFill>
                  <a:srgbClr val="FF0000"/>
                </a:solidFill>
              </a:rPr>
              <a:t>relations R</a:t>
            </a:r>
            <a:r>
              <a:rPr lang="en-US" dirty="0"/>
              <a:t> and </a:t>
            </a:r>
            <a:r>
              <a:rPr lang="en-US" dirty="0">
                <a:solidFill>
                  <a:srgbClr val="FF0000"/>
                </a:solidFill>
              </a:rPr>
              <a:t>S</a:t>
            </a:r>
            <a:r>
              <a:rPr lang="en-US" dirty="0"/>
              <a:t> from </a:t>
            </a:r>
            <a:r>
              <a:rPr lang="en-US" dirty="0">
                <a:solidFill>
                  <a:srgbClr val="FF0000"/>
                </a:solidFill>
              </a:rPr>
              <a:t>A </a:t>
            </a:r>
            <a:r>
              <a:rPr lang="en-US" dirty="0"/>
              <a:t>to</a:t>
            </a:r>
            <a:r>
              <a:rPr lang="en-US" dirty="0">
                <a:solidFill>
                  <a:srgbClr val="FF0000"/>
                </a:solidFill>
              </a:rPr>
              <a:t> B</a:t>
            </a:r>
            <a:r>
              <a:rPr lang="en-US" dirty="0"/>
              <a:t> as follows:</a:t>
            </a:r>
          </a:p>
          <a:p>
            <a:pPr>
              <a:buNone/>
            </a:pPr>
            <a:r>
              <a:rPr lang="en-US" dirty="0"/>
              <a:t>	</a:t>
            </a:r>
          </a:p>
          <a:p>
            <a:pPr>
              <a:buNone/>
            </a:pPr>
            <a:r>
              <a:rPr lang="en-US" dirty="0"/>
              <a:t>	</a:t>
            </a:r>
            <a:r>
              <a:rPr lang="es-ES" dirty="0" err="1"/>
              <a:t>for</a:t>
            </a:r>
            <a:r>
              <a:rPr lang="es-ES" dirty="0"/>
              <a:t> </a:t>
            </a:r>
            <a:r>
              <a:rPr lang="es-ES" dirty="0" err="1"/>
              <a:t>all</a:t>
            </a:r>
            <a:r>
              <a:rPr lang="es-ES" dirty="0"/>
              <a:t> </a:t>
            </a:r>
            <a:r>
              <a:rPr lang="es-ES" dirty="0">
                <a:solidFill>
                  <a:srgbClr val="FF0000"/>
                </a:solidFill>
              </a:rPr>
              <a:t>(x, y) </a:t>
            </a:r>
            <a:r>
              <a:rPr lang="en-US" dirty="0">
                <a:solidFill>
                  <a:srgbClr val="FF0000"/>
                </a:solidFill>
                <a:sym typeface="Symbol"/>
              </a:rPr>
              <a:t> </a:t>
            </a:r>
            <a:r>
              <a:rPr lang="es-ES" dirty="0">
                <a:solidFill>
                  <a:srgbClr val="FF0000"/>
                </a:solidFill>
              </a:rPr>
              <a:t>A </a:t>
            </a:r>
            <a:r>
              <a:rPr lang="en-US" dirty="0">
                <a:solidFill>
                  <a:srgbClr val="FF0000"/>
                </a:solidFill>
                <a:sym typeface="Symbol"/>
              </a:rPr>
              <a:t></a:t>
            </a:r>
            <a:r>
              <a:rPr lang="es-ES" dirty="0">
                <a:solidFill>
                  <a:srgbClr val="FF0000"/>
                </a:solidFill>
              </a:rPr>
              <a:t> B</a:t>
            </a:r>
            <a:r>
              <a:rPr lang="es-ES" dirty="0"/>
              <a:t>,	</a:t>
            </a:r>
            <a:r>
              <a:rPr lang="es-ES" dirty="0">
                <a:solidFill>
                  <a:srgbClr val="FF0000"/>
                </a:solidFill>
              </a:rPr>
              <a:t>x R y</a:t>
            </a:r>
            <a:r>
              <a:rPr lang="es-ES" dirty="0"/>
              <a:t> </a:t>
            </a:r>
            <a:r>
              <a:rPr lang="en-US" dirty="0">
                <a:sym typeface="Symbol"/>
              </a:rPr>
              <a:t></a:t>
            </a:r>
            <a:r>
              <a:rPr lang="es-ES" dirty="0"/>
              <a:t> </a:t>
            </a:r>
            <a:r>
              <a:rPr lang="es-ES" dirty="0">
                <a:solidFill>
                  <a:srgbClr val="FF0000"/>
                </a:solidFill>
              </a:rPr>
              <a:t>x | y</a:t>
            </a:r>
            <a:endParaRPr lang="en-US" dirty="0">
              <a:solidFill>
                <a:srgbClr val="FF0000"/>
              </a:solidFill>
            </a:endParaRPr>
          </a:p>
          <a:p>
            <a:pPr>
              <a:buNone/>
            </a:pPr>
            <a:r>
              <a:rPr lang="es-ES" dirty="0"/>
              <a:t>	</a:t>
            </a:r>
            <a:r>
              <a:rPr lang="en-US" dirty="0"/>
              <a:t>for all </a:t>
            </a:r>
            <a:r>
              <a:rPr lang="en-US" dirty="0">
                <a:solidFill>
                  <a:srgbClr val="FF0000"/>
                </a:solidFill>
              </a:rPr>
              <a:t>(x, y) </a:t>
            </a:r>
            <a:r>
              <a:rPr lang="en-US" dirty="0">
                <a:solidFill>
                  <a:srgbClr val="FF0000"/>
                </a:solidFill>
                <a:sym typeface="Symbol"/>
              </a:rPr>
              <a:t> </a:t>
            </a:r>
            <a:r>
              <a:rPr lang="en-US" dirty="0">
                <a:solidFill>
                  <a:srgbClr val="FF0000"/>
                </a:solidFill>
              </a:rPr>
              <a:t>A </a:t>
            </a:r>
            <a:r>
              <a:rPr lang="en-US" dirty="0">
                <a:solidFill>
                  <a:srgbClr val="FF0000"/>
                </a:solidFill>
                <a:sym typeface="Symbol"/>
              </a:rPr>
              <a:t></a:t>
            </a:r>
            <a:r>
              <a:rPr lang="en-US" dirty="0">
                <a:solidFill>
                  <a:srgbClr val="FF0000"/>
                </a:solidFill>
              </a:rPr>
              <a:t> B</a:t>
            </a:r>
            <a:r>
              <a:rPr lang="en-US" dirty="0"/>
              <a:t>,	</a:t>
            </a:r>
            <a:r>
              <a:rPr lang="en-US" dirty="0">
                <a:solidFill>
                  <a:srgbClr val="FF0000"/>
                </a:solidFill>
              </a:rPr>
              <a:t>x S y</a:t>
            </a:r>
            <a:r>
              <a:rPr lang="en-US" dirty="0"/>
              <a:t> </a:t>
            </a:r>
            <a:r>
              <a:rPr lang="en-US" dirty="0">
                <a:sym typeface="Symbol"/>
              </a:rPr>
              <a:t></a:t>
            </a:r>
            <a:r>
              <a:rPr lang="en-US" dirty="0"/>
              <a:t> </a:t>
            </a:r>
            <a:r>
              <a:rPr lang="en-US" dirty="0">
                <a:solidFill>
                  <a:srgbClr val="FF0000"/>
                </a:solidFill>
              </a:rPr>
              <a:t>y – 4 = x</a:t>
            </a:r>
          </a:p>
          <a:p>
            <a:pPr>
              <a:buNone/>
            </a:pPr>
            <a:r>
              <a:rPr lang="en-US" dirty="0"/>
              <a:t>	</a:t>
            </a:r>
          </a:p>
          <a:p>
            <a:pPr>
              <a:buNone/>
            </a:pPr>
            <a:r>
              <a:rPr lang="en-US" dirty="0"/>
              <a:t>	State explicitly which </a:t>
            </a:r>
            <a:r>
              <a:rPr lang="en-US" dirty="0">
                <a:solidFill>
                  <a:srgbClr val="FF0000"/>
                </a:solidFill>
              </a:rPr>
              <a:t>ordered pairs</a:t>
            </a:r>
            <a:r>
              <a:rPr lang="en-US" dirty="0"/>
              <a:t> are in </a:t>
            </a:r>
            <a:r>
              <a:rPr lang="en-US" dirty="0">
                <a:solidFill>
                  <a:srgbClr val="FF0000"/>
                </a:solidFill>
              </a:rPr>
              <a:t>A </a:t>
            </a:r>
            <a:r>
              <a:rPr lang="en-US" dirty="0">
                <a:solidFill>
                  <a:srgbClr val="FF0000"/>
                </a:solidFill>
                <a:sym typeface="Symbol"/>
              </a:rPr>
              <a:t></a:t>
            </a:r>
            <a:r>
              <a:rPr lang="en-US" dirty="0">
                <a:solidFill>
                  <a:srgbClr val="FF0000"/>
                </a:solidFill>
              </a:rPr>
              <a:t> B</a:t>
            </a:r>
            <a:r>
              <a:rPr lang="en-US" dirty="0"/>
              <a:t>, </a:t>
            </a:r>
            <a:r>
              <a:rPr lang="en-US" dirty="0">
                <a:solidFill>
                  <a:srgbClr val="FF0000"/>
                </a:solidFill>
              </a:rPr>
              <a:t>R</a:t>
            </a:r>
            <a:r>
              <a:rPr lang="en-US" dirty="0"/>
              <a:t>, </a:t>
            </a:r>
            <a:r>
              <a:rPr lang="en-US" dirty="0">
                <a:solidFill>
                  <a:srgbClr val="FF0000"/>
                </a:solidFill>
              </a:rPr>
              <a:t>S</a:t>
            </a:r>
            <a:r>
              <a:rPr lang="en-US" dirty="0"/>
              <a:t>, </a:t>
            </a:r>
          </a:p>
          <a:p>
            <a:pPr>
              <a:buNone/>
            </a:pPr>
            <a:r>
              <a:rPr lang="en-US" dirty="0"/>
              <a:t>	</a:t>
            </a:r>
            <a:r>
              <a:rPr lang="en-US" dirty="0">
                <a:solidFill>
                  <a:srgbClr val="FF0000"/>
                </a:solidFill>
              </a:rPr>
              <a:t>R </a:t>
            </a:r>
            <a:r>
              <a:rPr lang="en-US" dirty="0">
                <a:solidFill>
                  <a:srgbClr val="FF0000"/>
                </a:solidFill>
                <a:sym typeface="Symbol"/>
              </a:rPr>
              <a:t> </a:t>
            </a:r>
            <a:r>
              <a:rPr lang="en-US" dirty="0">
                <a:solidFill>
                  <a:srgbClr val="FF0000"/>
                </a:solidFill>
              </a:rPr>
              <a:t>S</a:t>
            </a:r>
            <a:r>
              <a:rPr lang="en-US" dirty="0"/>
              <a:t> and </a:t>
            </a:r>
            <a:r>
              <a:rPr lang="en-US" dirty="0">
                <a:solidFill>
                  <a:srgbClr val="FF0000"/>
                </a:solidFill>
              </a:rPr>
              <a:t>R </a:t>
            </a:r>
            <a:r>
              <a:rPr lang="en-US" dirty="0">
                <a:solidFill>
                  <a:srgbClr val="FF0000"/>
                </a:solidFill>
                <a:sym typeface="Symbol"/>
              </a:rPr>
              <a:t> </a:t>
            </a:r>
            <a:r>
              <a:rPr lang="en-US" dirty="0">
                <a:solidFill>
                  <a:srgbClr val="FF0000"/>
                </a:solidFill>
              </a:rPr>
              <a:t>S</a:t>
            </a:r>
            <a:r>
              <a:rPr lang="en-US" dirty="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fade">
                                      <p:cBhvr>
                                        <p:cTn id="37"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pt-BR" b="1" u="sng" dirty="0">
                <a:solidFill>
                  <a:srgbClr val="0070C0"/>
                </a:solidFill>
              </a:rPr>
              <a:t>SOLUTION</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34</a:t>
            </a:fld>
            <a:endParaRPr lang="en-US"/>
          </a:p>
        </p:txBody>
      </p:sp>
      <p:sp>
        <p:nvSpPr>
          <p:cNvPr id="4" name="Content Placeholder 3"/>
          <p:cNvSpPr>
            <a:spLocks noGrp="1"/>
          </p:cNvSpPr>
          <p:nvPr>
            <p:ph sz="quarter" idx="1"/>
          </p:nvPr>
        </p:nvSpPr>
        <p:spPr/>
        <p:txBody>
          <a:bodyPr>
            <a:normAutofit fontScale="92500" lnSpcReduction="20000"/>
          </a:bodyPr>
          <a:lstStyle/>
          <a:p>
            <a:pPr>
              <a:buNone/>
            </a:pPr>
            <a:r>
              <a:rPr lang="pt-BR" dirty="0"/>
              <a:t>	A </a:t>
            </a:r>
            <a:r>
              <a:rPr lang="en-US" dirty="0">
                <a:sym typeface="Symbol"/>
              </a:rPr>
              <a:t></a:t>
            </a:r>
            <a:r>
              <a:rPr lang="pt-BR" dirty="0"/>
              <a:t> B = </a:t>
            </a:r>
            <a:r>
              <a:rPr lang="pt-BR" dirty="0">
                <a:solidFill>
                  <a:srgbClr val="FF0000"/>
                </a:solidFill>
              </a:rPr>
              <a:t>{(2, 6), (2, 8), (2, 10), (4, 6), (4, 8), (4, 10)}</a:t>
            </a:r>
          </a:p>
          <a:p>
            <a:pPr>
              <a:buNone/>
            </a:pPr>
            <a:endParaRPr lang="en-US" dirty="0"/>
          </a:p>
          <a:p>
            <a:pPr>
              <a:buNone/>
            </a:pPr>
            <a:r>
              <a:rPr lang="pt-BR" dirty="0"/>
              <a:t> 	R = </a:t>
            </a:r>
            <a:r>
              <a:rPr lang="pt-BR" dirty="0">
                <a:solidFill>
                  <a:srgbClr val="FF0000"/>
                </a:solidFill>
              </a:rPr>
              <a:t>{(2, 6), (2, 8), (2, 10), (4, 8)}</a:t>
            </a:r>
          </a:p>
          <a:p>
            <a:pPr>
              <a:buNone/>
            </a:pPr>
            <a:endParaRPr lang="en-US" dirty="0"/>
          </a:p>
          <a:p>
            <a:pPr>
              <a:buNone/>
            </a:pPr>
            <a:r>
              <a:rPr lang="pt-BR" dirty="0"/>
              <a:t>	S = </a:t>
            </a:r>
            <a:r>
              <a:rPr lang="pt-BR" dirty="0">
                <a:solidFill>
                  <a:srgbClr val="FF0000"/>
                </a:solidFill>
              </a:rPr>
              <a:t>{(2, 6), (4, 8)}</a:t>
            </a:r>
          </a:p>
          <a:p>
            <a:pPr>
              <a:buNone/>
            </a:pPr>
            <a:endParaRPr lang="en-US" dirty="0"/>
          </a:p>
          <a:p>
            <a:pPr>
              <a:buNone/>
            </a:pPr>
            <a:r>
              <a:rPr lang="pt-BR" dirty="0"/>
              <a:t>	R </a:t>
            </a:r>
            <a:r>
              <a:rPr lang="en-US" dirty="0">
                <a:sym typeface="Symbol"/>
              </a:rPr>
              <a:t></a:t>
            </a:r>
            <a:r>
              <a:rPr lang="pt-BR" dirty="0"/>
              <a:t> S = </a:t>
            </a:r>
            <a:r>
              <a:rPr lang="pt-BR" dirty="0">
                <a:solidFill>
                  <a:srgbClr val="FF0000"/>
                </a:solidFill>
              </a:rPr>
              <a:t>{(2, 6), (2, 8), (2,10), (4, 8)}</a:t>
            </a:r>
            <a:r>
              <a:rPr lang="pt-BR" dirty="0"/>
              <a:t> = R</a:t>
            </a:r>
          </a:p>
          <a:p>
            <a:pPr>
              <a:buNone/>
            </a:pPr>
            <a:endParaRPr lang="en-US" dirty="0"/>
          </a:p>
          <a:p>
            <a:pPr>
              <a:buNone/>
            </a:pPr>
            <a:r>
              <a:rPr lang="en-US" dirty="0"/>
              <a:t>	R </a:t>
            </a:r>
            <a:r>
              <a:rPr lang="en-US" dirty="0">
                <a:sym typeface="Symbol"/>
              </a:rPr>
              <a:t></a:t>
            </a:r>
            <a:r>
              <a:rPr lang="en-US" dirty="0"/>
              <a:t> S = </a:t>
            </a:r>
            <a:r>
              <a:rPr lang="en-US" dirty="0">
                <a:solidFill>
                  <a:srgbClr val="FF0000"/>
                </a:solidFill>
              </a:rPr>
              <a:t>{(2, 6), (4, 8)} </a:t>
            </a:r>
            <a:r>
              <a:rPr lang="en-US" dirty="0"/>
              <a:t>= 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20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216325" y="2095500"/>
            <a:ext cx="10110158" cy="4030664"/>
          </a:xfrm>
        </p:spPr>
        <p:txBody>
          <a:bodyPr/>
          <a:lstStyle/>
          <a:p>
            <a:pPr>
              <a:buNone/>
            </a:pPr>
            <a:r>
              <a:rPr lang="en-US" dirty="0">
                <a:latin typeface="Cambria Math" pitchFamily="18" charset="0"/>
                <a:ea typeface="Cambria Math" pitchFamily="18" charset="0"/>
              </a:rPr>
              <a:t>Let A = {2, 3, 5, 6, 8}</a:t>
            </a:r>
          </a:p>
          <a:p>
            <a:pPr marL="0" indent="0">
              <a:buNone/>
            </a:pPr>
            <a:r>
              <a:rPr lang="en-US" dirty="0">
                <a:latin typeface="Cambria Math" pitchFamily="18" charset="0"/>
                <a:ea typeface="Cambria Math" pitchFamily="18" charset="0"/>
              </a:rPr>
              <a:t>The congruence modulo 3 relation T is defined on A as follows</a:t>
            </a:r>
            <a:r>
              <a:rPr lang="en-US" dirty="0">
                <a:solidFill>
                  <a:srgbClr val="FF0000"/>
                </a:solidFill>
                <a:latin typeface="Cambria Math" pitchFamily="18" charset="0"/>
                <a:ea typeface="Cambria Math" pitchFamily="18" charset="0"/>
              </a:rPr>
              <a:t>: for all integers m, n </a:t>
            </a:r>
            <a:r>
              <a:rPr lang="en-US" dirty="0">
                <a:solidFill>
                  <a:srgbClr val="FF0000"/>
                </a:solidFill>
                <a:sym typeface="Symbol" pitchFamily="18" charset="2"/>
              </a:rPr>
              <a:t> </a:t>
            </a:r>
            <a:r>
              <a:rPr lang="en-US" dirty="0">
                <a:solidFill>
                  <a:srgbClr val="FF0000"/>
                </a:solidFill>
                <a:latin typeface="Cambria Math" pitchFamily="18" charset="0"/>
                <a:ea typeface="Cambria Math" pitchFamily="18" charset="0"/>
              </a:rPr>
              <a:t>A, </a:t>
            </a:r>
            <a:r>
              <a:rPr lang="en-US" dirty="0" err="1">
                <a:solidFill>
                  <a:srgbClr val="FF0000"/>
                </a:solidFill>
                <a:latin typeface="Cambria Math" pitchFamily="18" charset="0"/>
                <a:ea typeface="Cambria Math" pitchFamily="18" charset="0"/>
              </a:rPr>
              <a:t>mTn</a:t>
            </a:r>
            <a:r>
              <a:rPr lang="en-US" dirty="0">
                <a:solidFill>
                  <a:srgbClr val="FF0000"/>
                </a:solidFill>
                <a:latin typeface="Cambria Math" pitchFamily="18" charset="0"/>
                <a:ea typeface="Cambria Math" pitchFamily="18" charset="0"/>
              </a:rPr>
              <a:t> </a:t>
            </a:r>
            <a:r>
              <a:rPr lang="en-US" dirty="0">
                <a:solidFill>
                  <a:srgbClr val="FF0000"/>
                </a:solidFill>
                <a:sym typeface="Symbol" pitchFamily="18" charset="2"/>
              </a:rPr>
              <a:t> </a:t>
            </a:r>
            <a:r>
              <a:rPr lang="en-US" dirty="0">
                <a:solidFill>
                  <a:srgbClr val="FF0000"/>
                </a:solidFill>
                <a:latin typeface="Cambria Math" pitchFamily="18" charset="0"/>
                <a:ea typeface="Cambria Math" pitchFamily="18" charset="0"/>
              </a:rPr>
              <a:t>3 | (m – n)</a:t>
            </a:r>
          </a:p>
          <a:p>
            <a:pPr marL="0" indent="0">
              <a:buNone/>
            </a:pPr>
            <a:r>
              <a:rPr lang="en-US" dirty="0">
                <a:solidFill>
                  <a:srgbClr val="FF0000"/>
                </a:solidFill>
                <a:latin typeface="Cambria Math" pitchFamily="18" charset="0"/>
                <a:ea typeface="Cambria Math" pitchFamily="18" charset="0"/>
              </a:rPr>
              <a:t>i.e. m-n is divisible by 3</a:t>
            </a:r>
          </a:p>
          <a:p>
            <a:pPr>
              <a:buFont typeface="Wingdings" pitchFamily="2" charset="2"/>
              <a:buChar char="ü"/>
            </a:pPr>
            <a:r>
              <a:rPr lang="en-US" dirty="0">
                <a:latin typeface="Cambria Math" pitchFamily="18" charset="0"/>
                <a:ea typeface="Cambria Math" pitchFamily="18" charset="0"/>
              </a:rPr>
              <a:t>Write T as a set of ordered pairs.</a:t>
            </a:r>
          </a:p>
          <a:p>
            <a:pPr>
              <a:buFont typeface="Wingdings" pitchFamily="2" charset="2"/>
              <a:buChar char="ü"/>
            </a:pPr>
            <a:r>
              <a:rPr lang="en-US" dirty="0">
                <a:latin typeface="Cambria Math" pitchFamily="18" charset="0"/>
                <a:ea typeface="Cambria Math" pitchFamily="18" charset="0"/>
              </a:rPr>
              <a:t>The directed graph representation.</a:t>
            </a:r>
          </a:p>
          <a:p>
            <a:pPr>
              <a:buFont typeface="Wingdings" pitchFamily="2" charset="2"/>
              <a:buChar char="ü"/>
            </a:pPr>
            <a:r>
              <a:rPr lang="en-US" dirty="0">
                <a:latin typeface="Cambria Math" pitchFamily="18" charset="0"/>
                <a:ea typeface="Cambria Math" pitchFamily="18" charset="0"/>
              </a:rPr>
              <a:t>The matrix representation.</a:t>
            </a:r>
          </a:p>
          <a:p>
            <a:endParaRPr lang="en-US" dirty="0"/>
          </a:p>
        </p:txBody>
      </p:sp>
      <p:sp>
        <p:nvSpPr>
          <p:cNvPr id="4" name="Title 1">
            <a:extLst>
              <a:ext uri="{FF2B5EF4-FFF2-40B4-BE49-F238E27FC236}">
                <a16:creationId xmlns:a16="http://schemas.microsoft.com/office/drawing/2014/main" id="{C9FE2AB9-5F16-462D-9468-5328EC81F32E}"/>
              </a:ext>
            </a:extLst>
          </p:cNvPr>
          <p:cNvSpPr txBox="1">
            <a:spLocks/>
          </p:cNvSpPr>
          <p:nvPr/>
        </p:nvSpPr>
        <p:spPr>
          <a:xfrm>
            <a:off x="539496" y="365125"/>
            <a:ext cx="10515600" cy="1325563"/>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b="1" u="sng" dirty="0">
                <a:solidFill>
                  <a:srgbClr val="0070C0"/>
                </a:solidFill>
              </a:rPr>
              <a:t>Practice Question ... </a:t>
            </a:r>
            <a:r>
              <a:rPr lang="pt-BR" b="1" u="sng" dirty="0">
                <a:solidFill>
                  <a:srgbClr val="00B050"/>
                </a:solidFill>
              </a:rPr>
              <a:t>Do it Yourself</a:t>
            </a:r>
            <a:endParaRPr lang="en-US" b="1" u="sng" dirty="0">
              <a:solidFill>
                <a:srgbClr val="00B050"/>
              </a:solidFill>
            </a:endParaRPr>
          </a:p>
        </p:txBody>
      </p:sp>
    </p:spTree>
    <p:extLst>
      <p:ext uri="{BB962C8B-B14F-4D97-AF65-F5344CB8AC3E}">
        <p14:creationId xmlns:p14="http://schemas.microsoft.com/office/powerpoint/2010/main" val="26686406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173192" y="1905000"/>
            <a:ext cx="9494808" cy="4221164"/>
          </a:xfrm>
        </p:spPr>
        <p:txBody>
          <a:bodyPr>
            <a:normAutofit/>
          </a:bodyPr>
          <a:lstStyle/>
          <a:p>
            <a:pPr marL="0" indent="0">
              <a:buNone/>
            </a:pPr>
            <a:r>
              <a:rPr lang="en-US" dirty="0">
                <a:latin typeface="Cambria Math" pitchFamily="18" charset="0"/>
                <a:ea typeface="Cambria Math" pitchFamily="18" charset="0"/>
              </a:rPr>
              <a:t>Define a binary relation S from R to R as follows:</a:t>
            </a:r>
          </a:p>
          <a:p>
            <a:pPr marL="0" indent="0">
              <a:buNone/>
            </a:pPr>
            <a:r>
              <a:rPr lang="en-US" dirty="0">
                <a:latin typeface="Cambria Math" pitchFamily="18" charset="0"/>
                <a:ea typeface="Cambria Math" pitchFamily="18" charset="0"/>
              </a:rPr>
              <a:t>for all (x, y) </a:t>
            </a:r>
            <a:r>
              <a:rPr lang="en-US" dirty="0">
                <a:sym typeface="Symbol" pitchFamily="18" charset="2"/>
              </a:rPr>
              <a:t> </a:t>
            </a:r>
            <a:r>
              <a:rPr lang="en-US" dirty="0">
                <a:latin typeface="Cambria Math" pitchFamily="18" charset="0"/>
                <a:ea typeface="Cambria Math" pitchFamily="18" charset="0"/>
              </a:rPr>
              <a:t>RXR, </a:t>
            </a:r>
            <a:r>
              <a:rPr lang="en-US" dirty="0" err="1">
                <a:latin typeface="Cambria Math" pitchFamily="18" charset="0"/>
                <a:ea typeface="Cambria Math" pitchFamily="18" charset="0"/>
              </a:rPr>
              <a:t>xSy</a:t>
            </a:r>
            <a:r>
              <a:rPr lang="en-US" dirty="0">
                <a:latin typeface="Cambria Math" pitchFamily="18" charset="0"/>
                <a:ea typeface="Cambria Math" pitchFamily="18" charset="0"/>
              </a:rPr>
              <a:t> </a:t>
            </a:r>
            <a:r>
              <a:rPr lang="en-US" dirty="0">
                <a:sym typeface="Symbol" pitchFamily="18" charset="2"/>
              </a:rPr>
              <a:t></a:t>
            </a:r>
            <a:r>
              <a:rPr lang="en-US" dirty="0">
                <a:latin typeface="Cambria Math" pitchFamily="18" charset="0"/>
                <a:ea typeface="Cambria Math" pitchFamily="18" charset="0"/>
              </a:rPr>
              <a:t> x </a:t>
            </a:r>
            <a:r>
              <a:rPr lang="en-US" dirty="0">
                <a:sym typeface="Symbol" pitchFamily="18" charset="2"/>
              </a:rPr>
              <a:t></a:t>
            </a:r>
            <a:r>
              <a:rPr lang="en-US" dirty="0">
                <a:latin typeface="Cambria Math" pitchFamily="18" charset="0"/>
                <a:ea typeface="Cambria Math" pitchFamily="18" charset="0"/>
              </a:rPr>
              <a:t> y.</a:t>
            </a:r>
          </a:p>
          <a:p>
            <a:pPr>
              <a:buClr>
                <a:srgbClr val="C00000"/>
              </a:buClr>
              <a:buFont typeface="Wingdings" pitchFamily="2" charset="2"/>
              <a:buChar char="ü"/>
            </a:pPr>
            <a:r>
              <a:rPr lang="en-US" dirty="0">
                <a:latin typeface="Cambria Math" pitchFamily="18" charset="0"/>
                <a:ea typeface="Cambria Math" pitchFamily="18" charset="0"/>
              </a:rPr>
              <a:t>Is (2,1) </a:t>
            </a:r>
            <a:r>
              <a:rPr lang="en-US" dirty="0">
                <a:sym typeface="Symbol" pitchFamily="18" charset="2"/>
              </a:rPr>
              <a:t></a:t>
            </a:r>
            <a:r>
              <a:rPr lang="en-US" dirty="0">
                <a:latin typeface="Cambria Math" pitchFamily="18" charset="0"/>
                <a:ea typeface="Cambria Math" pitchFamily="18" charset="0"/>
              </a:rPr>
              <a:t> S? </a:t>
            </a:r>
          </a:p>
          <a:p>
            <a:pPr>
              <a:buClr>
                <a:srgbClr val="C00000"/>
              </a:buClr>
              <a:buFont typeface="Wingdings" pitchFamily="2" charset="2"/>
              <a:buChar char="ü"/>
            </a:pPr>
            <a:r>
              <a:rPr lang="en-US" dirty="0">
                <a:latin typeface="Cambria Math" pitchFamily="18" charset="0"/>
                <a:ea typeface="Cambria Math" pitchFamily="18" charset="0"/>
              </a:rPr>
              <a:t>Is (2,2) </a:t>
            </a:r>
            <a:r>
              <a:rPr lang="en-US" dirty="0">
                <a:sym typeface="Symbol" pitchFamily="18" charset="2"/>
              </a:rPr>
              <a:t></a:t>
            </a:r>
            <a:r>
              <a:rPr lang="en-US" dirty="0">
                <a:latin typeface="Cambria Math" pitchFamily="18" charset="0"/>
                <a:ea typeface="Cambria Math" pitchFamily="18" charset="0"/>
              </a:rPr>
              <a:t> S? </a:t>
            </a:r>
          </a:p>
          <a:p>
            <a:pPr>
              <a:buClr>
                <a:srgbClr val="C00000"/>
              </a:buClr>
              <a:buFont typeface="Wingdings" pitchFamily="2" charset="2"/>
              <a:buChar char="ü"/>
            </a:pPr>
            <a:r>
              <a:rPr lang="en-US" dirty="0">
                <a:latin typeface="Cambria Math" pitchFamily="18" charset="0"/>
                <a:ea typeface="Cambria Math" pitchFamily="18" charset="0"/>
              </a:rPr>
              <a:t>Is 2S3? </a:t>
            </a:r>
          </a:p>
          <a:p>
            <a:pPr>
              <a:buClr>
                <a:srgbClr val="C00000"/>
              </a:buClr>
              <a:buFont typeface="Wingdings" pitchFamily="2" charset="2"/>
              <a:buChar char="ü"/>
            </a:pPr>
            <a:r>
              <a:rPr lang="en-US" dirty="0">
                <a:latin typeface="Cambria Math" pitchFamily="18" charset="0"/>
                <a:ea typeface="Cambria Math" pitchFamily="18" charset="0"/>
              </a:rPr>
              <a:t>Is (-1) S (-2)?</a:t>
            </a:r>
          </a:p>
          <a:p>
            <a:pPr>
              <a:buClr>
                <a:srgbClr val="C00000"/>
              </a:buClr>
              <a:buFont typeface="Wingdings" pitchFamily="2" charset="2"/>
              <a:buChar char="ü"/>
            </a:pPr>
            <a:r>
              <a:rPr lang="en-US" dirty="0">
                <a:latin typeface="Cambria Math" pitchFamily="18" charset="0"/>
                <a:ea typeface="Cambria Math" pitchFamily="18" charset="0"/>
              </a:rPr>
              <a:t>Draw the directed graph of S</a:t>
            </a:r>
            <a:endParaRPr lang="en-US" dirty="0"/>
          </a:p>
        </p:txBody>
      </p:sp>
      <p:sp>
        <p:nvSpPr>
          <p:cNvPr id="6" name="Title 1">
            <a:extLst>
              <a:ext uri="{FF2B5EF4-FFF2-40B4-BE49-F238E27FC236}">
                <a16:creationId xmlns:a16="http://schemas.microsoft.com/office/drawing/2014/main" id="{616BF95A-90BE-41B1-AF4B-B57583CD9091}"/>
              </a:ext>
            </a:extLst>
          </p:cNvPr>
          <p:cNvSpPr txBox="1">
            <a:spLocks/>
          </p:cNvSpPr>
          <p:nvPr/>
        </p:nvSpPr>
        <p:spPr>
          <a:xfrm>
            <a:off x="539496" y="365125"/>
            <a:ext cx="10515600" cy="1325563"/>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b="1" u="sng" dirty="0">
                <a:solidFill>
                  <a:srgbClr val="0070C0"/>
                </a:solidFill>
              </a:rPr>
              <a:t>Practice Question ... </a:t>
            </a:r>
            <a:r>
              <a:rPr lang="pt-BR" b="1" u="sng" dirty="0">
                <a:solidFill>
                  <a:srgbClr val="00B050"/>
                </a:solidFill>
              </a:rPr>
              <a:t>Do it Yourself</a:t>
            </a:r>
            <a:endParaRPr lang="en-US" b="1" u="sng" dirty="0">
              <a:solidFill>
                <a:srgbClr val="00B050"/>
              </a:solidFill>
            </a:endParaRPr>
          </a:p>
        </p:txBody>
      </p:sp>
    </p:spTree>
    <p:extLst>
      <p:ext uri="{BB962C8B-B14F-4D97-AF65-F5344CB8AC3E}">
        <p14:creationId xmlns:p14="http://schemas.microsoft.com/office/powerpoint/2010/main" val="25397843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PROPERTIES OF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37</a:t>
            </a:fld>
            <a:endParaRPr lang="en-US"/>
          </a:p>
        </p:txBody>
      </p:sp>
      <p:sp>
        <p:nvSpPr>
          <p:cNvPr id="4" name="Content Placeholder 3"/>
          <p:cNvSpPr>
            <a:spLocks noGrp="1"/>
          </p:cNvSpPr>
          <p:nvPr>
            <p:ph sz="quarter" idx="1"/>
          </p:nvPr>
        </p:nvSpPr>
        <p:spPr/>
        <p:txBody>
          <a:bodyPr/>
          <a:lstStyle/>
          <a:p>
            <a:r>
              <a:rPr lang="en-US" dirty="0"/>
              <a:t>There are several properties that are used to classify relation on a set. We will introduce the most important of these here.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REFLEXIVE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38</a:t>
            </a:fld>
            <a:endParaRPr lang="en-US"/>
          </a:p>
        </p:txBody>
      </p:sp>
      <p:sp>
        <p:nvSpPr>
          <p:cNvPr id="4" name="Content Placeholder 3"/>
          <p:cNvSpPr>
            <a:spLocks noGrp="1"/>
          </p:cNvSpPr>
          <p:nvPr>
            <p:ph sz="quarter" idx="1"/>
          </p:nvPr>
        </p:nvSpPr>
        <p:spPr/>
        <p:txBody>
          <a:bodyPr>
            <a:normAutofit lnSpcReduction="10000"/>
          </a:bodyPr>
          <a:lstStyle/>
          <a:p>
            <a:r>
              <a:rPr lang="en-US" dirty="0"/>
              <a:t>Let </a:t>
            </a:r>
            <a:r>
              <a:rPr lang="en-US" dirty="0">
                <a:solidFill>
                  <a:srgbClr val="FF0000"/>
                </a:solidFill>
              </a:rPr>
              <a:t>R</a:t>
            </a:r>
            <a:r>
              <a:rPr lang="en-US" dirty="0"/>
              <a:t> be a </a:t>
            </a:r>
            <a:r>
              <a:rPr lang="en-US" dirty="0">
                <a:solidFill>
                  <a:srgbClr val="FF0000"/>
                </a:solidFill>
              </a:rPr>
              <a:t>relation</a:t>
            </a:r>
            <a:r>
              <a:rPr lang="en-US" dirty="0"/>
              <a:t> on a </a:t>
            </a:r>
            <a:r>
              <a:rPr lang="en-US" dirty="0">
                <a:solidFill>
                  <a:srgbClr val="FF0000"/>
                </a:solidFill>
              </a:rPr>
              <a:t>set A</a:t>
            </a:r>
            <a:r>
              <a:rPr lang="en-US" dirty="0"/>
              <a:t>. </a:t>
            </a:r>
            <a:r>
              <a:rPr lang="en-US" dirty="0">
                <a:solidFill>
                  <a:srgbClr val="FF0000"/>
                </a:solidFill>
              </a:rPr>
              <a:t>R</a:t>
            </a:r>
            <a:r>
              <a:rPr lang="en-US" dirty="0"/>
              <a:t> is </a:t>
            </a:r>
            <a:r>
              <a:rPr lang="en-US" dirty="0">
                <a:solidFill>
                  <a:srgbClr val="FF0000"/>
                </a:solidFill>
              </a:rPr>
              <a:t>reflexive</a:t>
            </a:r>
            <a:r>
              <a:rPr lang="en-US" dirty="0"/>
              <a:t> if, and only if, for all </a:t>
            </a:r>
            <a:r>
              <a:rPr lang="en-US" dirty="0">
                <a:solidFill>
                  <a:srgbClr val="FF0000"/>
                </a:solidFill>
              </a:rPr>
              <a:t>a </a:t>
            </a:r>
            <a:r>
              <a:rPr lang="en-US" dirty="0">
                <a:solidFill>
                  <a:srgbClr val="FF0000"/>
                </a:solidFill>
                <a:sym typeface="Symbol"/>
              </a:rPr>
              <a:t></a:t>
            </a:r>
            <a:r>
              <a:rPr lang="en-US" dirty="0">
                <a:solidFill>
                  <a:srgbClr val="FF0000"/>
                </a:solidFill>
              </a:rPr>
              <a:t> A</a:t>
            </a:r>
            <a:r>
              <a:rPr lang="en-US" dirty="0"/>
              <a:t>, </a:t>
            </a:r>
            <a:r>
              <a:rPr lang="en-US" dirty="0">
                <a:solidFill>
                  <a:srgbClr val="FF0000"/>
                </a:solidFill>
              </a:rPr>
              <a:t>(a, a) </a:t>
            </a:r>
            <a:r>
              <a:rPr lang="en-US" dirty="0">
                <a:solidFill>
                  <a:srgbClr val="FF0000"/>
                </a:solidFill>
                <a:sym typeface="Symbol"/>
              </a:rPr>
              <a:t></a:t>
            </a:r>
            <a:r>
              <a:rPr lang="en-US" dirty="0">
                <a:solidFill>
                  <a:srgbClr val="FF0000"/>
                </a:solidFill>
              </a:rPr>
              <a:t>R</a:t>
            </a:r>
            <a:r>
              <a:rPr lang="en-US" dirty="0"/>
              <a:t>. Or equivalently </a:t>
            </a:r>
            <a:r>
              <a:rPr lang="en-US" dirty="0" err="1">
                <a:solidFill>
                  <a:srgbClr val="FF0000"/>
                </a:solidFill>
              </a:rPr>
              <a:t>aRa</a:t>
            </a:r>
            <a:r>
              <a:rPr lang="en-US" dirty="0"/>
              <a:t>. </a:t>
            </a:r>
          </a:p>
          <a:p>
            <a:pPr>
              <a:buNone/>
            </a:pPr>
            <a:r>
              <a:rPr lang="en-US" dirty="0"/>
              <a:t>	</a:t>
            </a:r>
          </a:p>
          <a:p>
            <a:pPr>
              <a:buNone/>
            </a:pPr>
            <a:r>
              <a:rPr lang="en-US" dirty="0"/>
              <a:t>	That is, each element of </a:t>
            </a:r>
            <a:r>
              <a:rPr lang="en-US" dirty="0">
                <a:solidFill>
                  <a:srgbClr val="FF0000"/>
                </a:solidFill>
              </a:rPr>
              <a:t>A</a:t>
            </a:r>
            <a:r>
              <a:rPr lang="en-US" dirty="0"/>
              <a:t> is related to itself.</a:t>
            </a:r>
          </a:p>
          <a:p>
            <a:pPr>
              <a:buNone/>
            </a:pPr>
            <a:endParaRPr lang="en-US" dirty="0"/>
          </a:p>
          <a:p>
            <a:pPr>
              <a:buNone/>
            </a:pPr>
            <a:r>
              <a:rPr lang="en-US" b="1" dirty="0"/>
              <a:t>	</a:t>
            </a:r>
            <a:r>
              <a:rPr lang="en-US" b="1" u="sng" dirty="0">
                <a:solidFill>
                  <a:srgbClr val="0070C0"/>
                </a:solidFill>
                <a:latin typeface="+mj-lt"/>
                <a:ea typeface="+mj-ea"/>
                <a:cs typeface="+mj-cs"/>
              </a:rPr>
              <a:t>REMARK</a:t>
            </a:r>
          </a:p>
          <a:p>
            <a:pPr>
              <a:buNone/>
            </a:pPr>
            <a:r>
              <a:rPr lang="en-US" b="1" dirty="0"/>
              <a:t>	</a:t>
            </a:r>
            <a:r>
              <a:rPr lang="en-US" dirty="0">
                <a:solidFill>
                  <a:srgbClr val="FF0000"/>
                </a:solidFill>
              </a:rPr>
              <a:t>R</a:t>
            </a:r>
            <a:r>
              <a:rPr lang="en-US" dirty="0"/>
              <a:t> is </a:t>
            </a:r>
            <a:r>
              <a:rPr lang="en-US" dirty="0">
                <a:solidFill>
                  <a:srgbClr val="FF0000"/>
                </a:solidFill>
              </a:rPr>
              <a:t>not reflexive</a:t>
            </a:r>
            <a:r>
              <a:rPr lang="en-US" dirty="0"/>
              <a:t> </a:t>
            </a:r>
            <a:r>
              <a:rPr lang="en-US" dirty="0" err="1"/>
              <a:t>iff</a:t>
            </a:r>
            <a:r>
              <a:rPr lang="en-US" dirty="0"/>
              <a:t> there is an element “</a:t>
            </a:r>
            <a:r>
              <a:rPr lang="en-US" dirty="0">
                <a:solidFill>
                  <a:srgbClr val="FF0000"/>
                </a:solidFill>
              </a:rPr>
              <a:t>a</a:t>
            </a:r>
            <a:r>
              <a:rPr lang="en-US" dirty="0"/>
              <a:t>” in </a:t>
            </a:r>
            <a:r>
              <a:rPr lang="en-US" dirty="0">
                <a:solidFill>
                  <a:srgbClr val="FF0000"/>
                </a:solidFill>
              </a:rPr>
              <a:t>A</a:t>
            </a:r>
            <a:r>
              <a:rPr lang="en-US" dirty="0"/>
              <a:t> such that </a:t>
            </a:r>
          </a:p>
          <a:p>
            <a:pPr>
              <a:buNone/>
            </a:pPr>
            <a:r>
              <a:rPr lang="en-US" dirty="0"/>
              <a:t>	</a:t>
            </a:r>
            <a:r>
              <a:rPr lang="en-US" dirty="0">
                <a:solidFill>
                  <a:srgbClr val="FF0000"/>
                </a:solidFill>
              </a:rPr>
              <a:t>(a, a) </a:t>
            </a:r>
            <a:r>
              <a:rPr lang="en-US" dirty="0">
                <a:solidFill>
                  <a:srgbClr val="FF0000"/>
                </a:solidFill>
                <a:sym typeface="Symbol"/>
              </a:rPr>
              <a:t></a:t>
            </a:r>
            <a:r>
              <a:rPr lang="en-US" dirty="0">
                <a:solidFill>
                  <a:srgbClr val="FF0000"/>
                </a:solidFill>
              </a:rPr>
              <a:t>R</a:t>
            </a:r>
            <a:r>
              <a:rPr lang="en-US" dirty="0"/>
              <a:t>. That is, some  element “</a:t>
            </a:r>
            <a:r>
              <a:rPr lang="en-US" dirty="0">
                <a:solidFill>
                  <a:srgbClr val="FF0000"/>
                </a:solidFill>
              </a:rPr>
              <a:t>a</a:t>
            </a:r>
            <a:r>
              <a:rPr lang="en-US" dirty="0"/>
              <a:t>” of </a:t>
            </a:r>
            <a:r>
              <a:rPr lang="en-US" dirty="0">
                <a:solidFill>
                  <a:srgbClr val="FF0000"/>
                </a:solidFill>
              </a:rPr>
              <a:t>A</a:t>
            </a:r>
            <a:r>
              <a:rPr lang="en-US" dirty="0"/>
              <a:t> is </a:t>
            </a:r>
            <a:r>
              <a:rPr lang="en-US" dirty="0">
                <a:solidFill>
                  <a:srgbClr val="FF0000"/>
                </a:solidFill>
              </a:rPr>
              <a:t>not related</a:t>
            </a:r>
            <a:r>
              <a:rPr lang="en-US" dirty="0"/>
              <a:t> to itself.</a:t>
            </a:r>
          </a:p>
          <a:p>
            <a:pPr>
              <a:buNone/>
            </a:pPr>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39</a:t>
            </a:fld>
            <a:endParaRPr lang="en-US"/>
          </a:p>
        </p:txBody>
      </p:sp>
      <p:sp>
        <p:nvSpPr>
          <p:cNvPr id="4" name="Content Placeholder 3"/>
          <p:cNvSpPr>
            <a:spLocks noGrp="1"/>
          </p:cNvSpPr>
          <p:nvPr>
            <p:ph sz="quarter" idx="1"/>
          </p:nvPr>
        </p:nvSpPr>
        <p:spPr/>
        <p:txBody>
          <a:bodyPr/>
          <a:lstStyle/>
          <a:p>
            <a:r>
              <a:rPr lang="en-US" dirty="0"/>
              <a:t>Let </a:t>
            </a:r>
            <a:r>
              <a:rPr lang="en-US" dirty="0">
                <a:solidFill>
                  <a:srgbClr val="FF0000"/>
                </a:solidFill>
              </a:rPr>
              <a:t>A = {1, 2, 3, 4}</a:t>
            </a:r>
            <a:r>
              <a:rPr lang="en-US" dirty="0"/>
              <a:t> and define relations </a:t>
            </a:r>
            <a:r>
              <a:rPr lang="en-US" dirty="0">
                <a:solidFill>
                  <a:srgbClr val="FF0000"/>
                </a:solidFill>
              </a:rPr>
              <a:t>R</a:t>
            </a:r>
            <a:r>
              <a:rPr lang="en-US" baseline="-25000" dirty="0">
                <a:solidFill>
                  <a:srgbClr val="FF0000"/>
                </a:solidFill>
              </a:rPr>
              <a:t>1</a:t>
            </a:r>
            <a:r>
              <a:rPr lang="en-US" dirty="0"/>
              <a:t>, </a:t>
            </a:r>
            <a:r>
              <a:rPr lang="en-US" dirty="0">
                <a:solidFill>
                  <a:srgbClr val="FF0000"/>
                </a:solidFill>
              </a:rPr>
              <a:t>R</a:t>
            </a:r>
            <a:r>
              <a:rPr lang="en-US" baseline="-25000" dirty="0">
                <a:solidFill>
                  <a:srgbClr val="FF0000"/>
                </a:solidFill>
              </a:rPr>
              <a:t>2</a:t>
            </a:r>
            <a:r>
              <a:rPr lang="en-US" dirty="0"/>
              <a:t>, </a:t>
            </a:r>
            <a:r>
              <a:rPr lang="en-US" dirty="0">
                <a:solidFill>
                  <a:srgbClr val="FF0000"/>
                </a:solidFill>
              </a:rPr>
              <a:t>R</a:t>
            </a:r>
            <a:r>
              <a:rPr lang="en-US" baseline="-25000" dirty="0">
                <a:solidFill>
                  <a:srgbClr val="FF0000"/>
                </a:solidFill>
              </a:rPr>
              <a:t>3</a:t>
            </a:r>
            <a:r>
              <a:rPr lang="en-US" dirty="0"/>
              <a:t>, </a:t>
            </a:r>
            <a:r>
              <a:rPr lang="en-US" dirty="0">
                <a:solidFill>
                  <a:srgbClr val="FF0000"/>
                </a:solidFill>
              </a:rPr>
              <a:t>R</a:t>
            </a:r>
            <a:r>
              <a:rPr lang="en-US" baseline="-25000" dirty="0">
                <a:solidFill>
                  <a:srgbClr val="FF0000"/>
                </a:solidFill>
              </a:rPr>
              <a:t>4</a:t>
            </a:r>
            <a:r>
              <a:rPr lang="en-US" dirty="0"/>
              <a:t> on  </a:t>
            </a:r>
          </a:p>
          <a:p>
            <a:pPr>
              <a:buNone/>
            </a:pPr>
            <a:r>
              <a:rPr lang="en-US" dirty="0"/>
              <a:t>	</a:t>
            </a:r>
            <a:r>
              <a:rPr lang="en-US" dirty="0">
                <a:solidFill>
                  <a:srgbClr val="FF0000"/>
                </a:solidFill>
              </a:rPr>
              <a:t>A</a:t>
            </a:r>
            <a:r>
              <a:rPr lang="en-US" dirty="0"/>
              <a:t> as follows:</a:t>
            </a:r>
          </a:p>
          <a:p>
            <a:pPr>
              <a:buNone/>
            </a:pPr>
            <a:endParaRPr lang="en-US" dirty="0"/>
          </a:p>
          <a:p>
            <a:pPr>
              <a:buNone/>
            </a:pPr>
            <a:r>
              <a:rPr lang="en-US" dirty="0"/>
              <a:t>		</a:t>
            </a:r>
            <a:r>
              <a:rPr lang="pt-BR" dirty="0"/>
              <a:t>R</a:t>
            </a:r>
            <a:r>
              <a:rPr lang="pt-BR" baseline="-25000" dirty="0"/>
              <a:t>1</a:t>
            </a:r>
            <a:r>
              <a:rPr lang="pt-BR" dirty="0"/>
              <a:t> = </a:t>
            </a:r>
            <a:r>
              <a:rPr lang="pt-BR" dirty="0">
                <a:solidFill>
                  <a:srgbClr val="FF0000"/>
                </a:solidFill>
              </a:rPr>
              <a:t>{(1, 1), (3, 3), (2, 2), (4, 4)}</a:t>
            </a:r>
            <a:endParaRPr lang="en-US" dirty="0">
              <a:solidFill>
                <a:srgbClr val="FF0000"/>
              </a:solidFill>
            </a:endParaRPr>
          </a:p>
          <a:p>
            <a:pPr>
              <a:buNone/>
            </a:pPr>
            <a:r>
              <a:rPr lang="pt-BR" dirty="0"/>
              <a:t>		R</a:t>
            </a:r>
            <a:r>
              <a:rPr lang="pt-BR" baseline="-25000" dirty="0"/>
              <a:t>2</a:t>
            </a:r>
            <a:r>
              <a:rPr lang="pt-BR" dirty="0"/>
              <a:t> = </a:t>
            </a:r>
            <a:r>
              <a:rPr lang="pt-BR" dirty="0">
                <a:solidFill>
                  <a:srgbClr val="FF0000"/>
                </a:solidFill>
              </a:rPr>
              <a:t>{(1, 1), (1, 4), (2, 2), (3, 3), (4, 3)}</a:t>
            </a:r>
            <a:endParaRPr lang="en-US" dirty="0">
              <a:solidFill>
                <a:srgbClr val="FF0000"/>
              </a:solidFill>
            </a:endParaRPr>
          </a:p>
          <a:p>
            <a:pPr>
              <a:buNone/>
            </a:pPr>
            <a:r>
              <a:rPr lang="pt-BR" dirty="0"/>
              <a:t>		R</a:t>
            </a:r>
            <a:r>
              <a:rPr lang="pt-BR" baseline="-25000" dirty="0"/>
              <a:t>3</a:t>
            </a:r>
            <a:r>
              <a:rPr lang="pt-BR" dirty="0"/>
              <a:t> = </a:t>
            </a:r>
            <a:r>
              <a:rPr lang="pt-BR" dirty="0">
                <a:solidFill>
                  <a:srgbClr val="FF0000"/>
                </a:solidFill>
              </a:rPr>
              <a:t>{(1, 1), (1, 2), (2, 1), (2, 2), (3, 3), (4, 4)}</a:t>
            </a:r>
            <a:endParaRPr lang="en-US" dirty="0">
              <a:solidFill>
                <a:srgbClr val="FF0000"/>
              </a:solidFill>
            </a:endParaRPr>
          </a:p>
          <a:p>
            <a:pPr>
              <a:buNone/>
            </a:pPr>
            <a:r>
              <a:rPr lang="pt-BR" dirty="0"/>
              <a:t>		R</a:t>
            </a:r>
            <a:r>
              <a:rPr lang="pt-BR" baseline="-25000" dirty="0"/>
              <a:t>4</a:t>
            </a:r>
            <a:r>
              <a:rPr lang="pt-BR" dirty="0"/>
              <a:t> = </a:t>
            </a:r>
            <a:r>
              <a:rPr lang="pt-BR" dirty="0">
                <a:solidFill>
                  <a:srgbClr val="FF0000"/>
                </a:solidFill>
              </a:rPr>
              <a:t>{(1, 3), (2, 2), (2, 4), (3, 1), (4, 4)}</a:t>
            </a:r>
            <a:endParaRPr lang="en-US" dirty="0">
              <a:solidFill>
                <a:srgbClr val="FF0000"/>
              </a:solidFill>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40</a:t>
            </a:fld>
            <a:endParaRPr lang="en-US"/>
          </a:p>
        </p:txBody>
      </p:sp>
      <p:sp>
        <p:nvSpPr>
          <p:cNvPr id="4" name="Content Placeholder 3"/>
          <p:cNvSpPr>
            <a:spLocks noGrp="1"/>
          </p:cNvSpPr>
          <p:nvPr>
            <p:ph sz="quarter" idx="1"/>
          </p:nvPr>
        </p:nvSpPr>
        <p:spPr/>
        <p:txBody>
          <a:bodyPr/>
          <a:lstStyle/>
          <a:p>
            <a:r>
              <a:rPr lang="pt-BR" dirty="0"/>
              <a:t>Then,</a:t>
            </a:r>
            <a:endParaRPr lang="en-US" dirty="0"/>
          </a:p>
          <a:p>
            <a:pPr>
              <a:buNone/>
            </a:pPr>
            <a:r>
              <a:rPr lang="pt-BR" dirty="0"/>
              <a:t>		</a:t>
            </a:r>
            <a:r>
              <a:rPr lang="pt-BR" dirty="0">
                <a:solidFill>
                  <a:srgbClr val="FF0000"/>
                </a:solidFill>
              </a:rPr>
              <a:t>R</a:t>
            </a:r>
            <a:r>
              <a:rPr lang="pt-BR" baseline="-25000" dirty="0">
                <a:solidFill>
                  <a:srgbClr val="FF0000"/>
                </a:solidFill>
              </a:rPr>
              <a:t>1</a:t>
            </a:r>
            <a:r>
              <a:rPr lang="pt-BR" dirty="0"/>
              <a:t> is </a:t>
            </a:r>
            <a:r>
              <a:rPr lang="pt-BR" dirty="0">
                <a:solidFill>
                  <a:srgbClr val="FF0000"/>
                </a:solidFill>
              </a:rPr>
              <a:t>reflexive</a:t>
            </a:r>
            <a:r>
              <a:rPr lang="pt-BR" dirty="0"/>
              <a:t>, since </a:t>
            </a:r>
            <a:r>
              <a:rPr lang="pt-BR" dirty="0">
                <a:solidFill>
                  <a:srgbClr val="FF0000"/>
                </a:solidFill>
              </a:rPr>
              <a:t>(a, a) </a:t>
            </a:r>
            <a:r>
              <a:rPr lang="en-US" dirty="0">
                <a:solidFill>
                  <a:srgbClr val="FF0000"/>
                </a:solidFill>
                <a:sym typeface="Symbol"/>
              </a:rPr>
              <a:t></a:t>
            </a:r>
            <a:r>
              <a:rPr lang="pt-BR" dirty="0">
                <a:solidFill>
                  <a:srgbClr val="FF0000"/>
                </a:solidFill>
              </a:rPr>
              <a:t> R</a:t>
            </a:r>
            <a:r>
              <a:rPr lang="pt-BR" baseline="-25000" dirty="0">
                <a:solidFill>
                  <a:srgbClr val="FF0000"/>
                </a:solidFill>
              </a:rPr>
              <a:t>1</a:t>
            </a:r>
            <a:r>
              <a:rPr lang="pt-BR" dirty="0"/>
              <a:t> for all </a:t>
            </a:r>
            <a:r>
              <a:rPr lang="pt-BR" dirty="0">
                <a:solidFill>
                  <a:srgbClr val="FF0000"/>
                </a:solidFill>
              </a:rPr>
              <a:t>a </a:t>
            </a:r>
            <a:r>
              <a:rPr lang="en-US" dirty="0">
                <a:solidFill>
                  <a:srgbClr val="FF0000"/>
                </a:solidFill>
                <a:sym typeface="Symbol"/>
              </a:rPr>
              <a:t></a:t>
            </a:r>
            <a:r>
              <a:rPr lang="pt-BR" dirty="0">
                <a:solidFill>
                  <a:srgbClr val="FF0000"/>
                </a:solidFill>
              </a:rPr>
              <a:t>A</a:t>
            </a:r>
            <a:r>
              <a:rPr lang="pt-BR" dirty="0"/>
              <a:t>.</a:t>
            </a:r>
            <a:endParaRPr lang="en-US" dirty="0"/>
          </a:p>
          <a:p>
            <a:pPr>
              <a:buNone/>
            </a:pPr>
            <a:r>
              <a:rPr lang="pt-BR" dirty="0"/>
              <a:t>		</a:t>
            </a:r>
            <a:r>
              <a:rPr lang="en-US" dirty="0">
                <a:solidFill>
                  <a:srgbClr val="FF0000"/>
                </a:solidFill>
              </a:rPr>
              <a:t>R</a:t>
            </a:r>
            <a:r>
              <a:rPr lang="en-US" baseline="-25000" dirty="0">
                <a:solidFill>
                  <a:srgbClr val="FF0000"/>
                </a:solidFill>
              </a:rPr>
              <a:t>2</a:t>
            </a:r>
            <a:r>
              <a:rPr lang="en-US" dirty="0"/>
              <a:t> is </a:t>
            </a:r>
            <a:r>
              <a:rPr lang="en-US" dirty="0">
                <a:solidFill>
                  <a:srgbClr val="FF0000"/>
                </a:solidFill>
              </a:rPr>
              <a:t>not reflexive</a:t>
            </a:r>
            <a:r>
              <a:rPr lang="en-US" dirty="0"/>
              <a:t>, because </a:t>
            </a:r>
            <a:r>
              <a:rPr lang="en-US" dirty="0">
                <a:solidFill>
                  <a:srgbClr val="FF0000"/>
                </a:solidFill>
              </a:rPr>
              <a:t>(4, 4) </a:t>
            </a:r>
            <a:r>
              <a:rPr lang="en-US" dirty="0">
                <a:solidFill>
                  <a:srgbClr val="FF0000"/>
                </a:solidFill>
                <a:sym typeface="Symbol"/>
              </a:rPr>
              <a:t></a:t>
            </a:r>
            <a:r>
              <a:rPr lang="en-US" dirty="0">
                <a:solidFill>
                  <a:srgbClr val="FF0000"/>
                </a:solidFill>
              </a:rPr>
              <a:t> R</a:t>
            </a:r>
            <a:r>
              <a:rPr lang="en-US" baseline="-25000" dirty="0">
                <a:solidFill>
                  <a:srgbClr val="FF0000"/>
                </a:solidFill>
              </a:rPr>
              <a:t>2</a:t>
            </a:r>
            <a:r>
              <a:rPr lang="en-US" dirty="0"/>
              <a:t>.</a:t>
            </a:r>
          </a:p>
          <a:p>
            <a:pPr>
              <a:buNone/>
            </a:pPr>
            <a:r>
              <a:rPr lang="en-US" dirty="0"/>
              <a:t>		</a:t>
            </a:r>
            <a:r>
              <a:rPr lang="en-US" dirty="0">
                <a:solidFill>
                  <a:srgbClr val="FF0000"/>
                </a:solidFill>
              </a:rPr>
              <a:t>R</a:t>
            </a:r>
            <a:r>
              <a:rPr lang="en-US" baseline="-25000" dirty="0">
                <a:solidFill>
                  <a:srgbClr val="FF0000"/>
                </a:solidFill>
              </a:rPr>
              <a:t>3</a:t>
            </a:r>
            <a:r>
              <a:rPr lang="en-US" dirty="0"/>
              <a:t> is </a:t>
            </a:r>
            <a:r>
              <a:rPr lang="en-US" dirty="0">
                <a:solidFill>
                  <a:srgbClr val="FF0000"/>
                </a:solidFill>
              </a:rPr>
              <a:t>reflexive</a:t>
            </a:r>
            <a:r>
              <a:rPr lang="en-US" dirty="0"/>
              <a:t>, since </a:t>
            </a:r>
            <a:r>
              <a:rPr lang="en-US" dirty="0">
                <a:solidFill>
                  <a:srgbClr val="FF0000"/>
                </a:solidFill>
              </a:rPr>
              <a:t>(a, a) </a:t>
            </a:r>
            <a:r>
              <a:rPr lang="en-US" dirty="0">
                <a:solidFill>
                  <a:srgbClr val="FF0000"/>
                </a:solidFill>
                <a:sym typeface="Symbol"/>
              </a:rPr>
              <a:t></a:t>
            </a:r>
            <a:r>
              <a:rPr lang="en-US" dirty="0">
                <a:solidFill>
                  <a:srgbClr val="FF0000"/>
                </a:solidFill>
              </a:rPr>
              <a:t> R</a:t>
            </a:r>
            <a:r>
              <a:rPr lang="en-US" baseline="-25000" dirty="0">
                <a:solidFill>
                  <a:srgbClr val="FF0000"/>
                </a:solidFill>
              </a:rPr>
              <a:t>3</a:t>
            </a:r>
            <a:r>
              <a:rPr lang="en-US" dirty="0"/>
              <a:t> for all </a:t>
            </a:r>
            <a:r>
              <a:rPr lang="en-US" dirty="0">
                <a:solidFill>
                  <a:srgbClr val="FF0000"/>
                </a:solidFill>
              </a:rPr>
              <a:t>a </a:t>
            </a:r>
            <a:r>
              <a:rPr lang="en-US" dirty="0">
                <a:solidFill>
                  <a:srgbClr val="FF0000"/>
                </a:solidFill>
                <a:sym typeface="Symbol"/>
              </a:rPr>
              <a:t></a:t>
            </a:r>
            <a:r>
              <a:rPr lang="en-US" dirty="0">
                <a:solidFill>
                  <a:srgbClr val="FF0000"/>
                </a:solidFill>
              </a:rPr>
              <a:t>A</a:t>
            </a:r>
            <a:r>
              <a:rPr lang="en-US" dirty="0"/>
              <a:t>.</a:t>
            </a:r>
          </a:p>
          <a:p>
            <a:pPr>
              <a:buNone/>
            </a:pPr>
            <a:r>
              <a:rPr lang="en-US" dirty="0"/>
              <a:t>		</a:t>
            </a:r>
            <a:r>
              <a:rPr lang="en-US" dirty="0">
                <a:solidFill>
                  <a:srgbClr val="FF0000"/>
                </a:solidFill>
              </a:rPr>
              <a:t>R</a:t>
            </a:r>
            <a:r>
              <a:rPr lang="en-US" baseline="-25000" dirty="0">
                <a:solidFill>
                  <a:srgbClr val="FF0000"/>
                </a:solidFill>
              </a:rPr>
              <a:t>4</a:t>
            </a:r>
            <a:r>
              <a:rPr lang="en-US" dirty="0"/>
              <a:t> is </a:t>
            </a:r>
            <a:r>
              <a:rPr lang="en-US" dirty="0">
                <a:solidFill>
                  <a:srgbClr val="FF0000"/>
                </a:solidFill>
              </a:rPr>
              <a:t>not reflexive</a:t>
            </a:r>
            <a:r>
              <a:rPr lang="en-US" dirty="0"/>
              <a:t>, because </a:t>
            </a:r>
            <a:r>
              <a:rPr lang="en-US" dirty="0">
                <a:solidFill>
                  <a:srgbClr val="FF0000"/>
                </a:solidFill>
              </a:rPr>
              <a:t>(1, 1) </a:t>
            </a:r>
            <a:r>
              <a:rPr lang="en-US" dirty="0">
                <a:solidFill>
                  <a:srgbClr val="FF0000"/>
                </a:solidFill>
                <a:sym typeface="Symbol"/>
              </a:rPr>
              <a:t></a:t>
            </a:r>
            <a:r>
              <a:rPr lang="en-US" dirty="0">
                <a:solidFill>
                  <a:srgbClr val="FF0000"/>
                </a:solidFill>
              </a:rPr>
              <a:t> R</a:t>
            </a:r>
            <a:r>
              <a:rPr lang="en-US" baseline="-25000" dirty="0">
                <a:solidFill>
                  <a:srgbClr val="FF0000"/>
                </a:solidFill>
              </a:rPr>
              <a:t>4</a:t>
            </a:r>
            <a:r>
              <a:rPr lang="en-US" dirty="0"/>
              <a:t>, </a:t>
            </a:r>
            <a:r>
              <a:rPr lang="en-US" dirty="0">
                <a:solidFill>
                  <a:srgbClr val="FF0000"/>
                </a:solidFill>
              </a:rPr>
              <a:t>(3, 3) </a:t>
            </a:r>
            <a:r>
              <a:rPr lang="en-US" dirty="0">
                <a:solidFill>
                  <a:srgbClr val="FF0000"/>
                </a:solidFill>
                <a:sym typeface="Symbol"/>
              </a:rPr>
              <a:t></a:t>
            </a:r>
            <a:r>
              <a:rPr lang="en-US" dirty="0">
                <a:solidFill>
                  <a:srgbClr val="FF0000"/>
                </a:solidFill>
              </a:rPr>
              <a:t> R</a:t>
            </a:r>
            <a:r>
              <a:rPr lang="en-US" baseline="-25000" dirty="0">
                <a:solidFill>
                  <a:srgbClr val="FF0000"/>
                </a:solidFill>
              </a:rPr>
              <a:t>4</a:t>
            </a:r>
            <a:endParaRPr 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a:solidFill>
                  <a:srgbClr val="0070C0"/>
                </a:solidFill>
              </a:rPr>
              <a:t>DIRECTED GRAPH OF A REFLEXIVE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41</a:t>
            </a:fld>
            <a:endParaRPr lang="en-US"/>
          </a:p>
        </p:txBody>
      </p:sp>
      <p:sp>
        <p:nvSpPr>
          <p:cNvPr id="4" name="Content Placeholder 3"/>
          <p:cNvSpPr>
            <a:spLocks noGrp="1"/>
          </p:cNvSpPr>
          <p:nvPr>
            <p:ph sz="quarter" idx="1"/>
          </p:nvPr>
        </p:nvSpPr>
        <p:spPr/>
        <p:txBody>
          <a:bodyPr/>
          <a:lstStyle/>
          <a:p>
            <a:r>
              <a:rPr lang="en-US" dirty="0"/>
              <a:t>The </a:t>
            </a:r>
            <a:r>
              <a:rPr lang="en-US" dirty="0">
                <a:solidFill>
                  <a:srgbClr val="FF0000"/>
                </a:solidFill>
              </a:rPr>
              <a:t>directed graph</a:t>
            </a:r>
            <a:r>
              <a:rPr lang="en-US" dirty="0"/>
              <a:t> of every </a:t>
            </a:r>
            <a:r>
              <a:rPr lang="en-US" dirty="0">
                <a:solidFill>
                  <a:srgbClr val="FF0000"/>
                </a:solidFill>
              </a:rPr>
              <a:t>reflexive relation</a:t>
            </a:r>
            <a:r>
              <a:rPr lang="en-US" dirty="0"/>
              <a:t> includes an arrow from every point to the point itself (i.e., a loop).</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42</a:t>
            </a:fld>
            <a:endParaRPr lang="en-US"/>
          </a:p>
        </p:txBody>
      </p:sp>
      <p:sp>
        <p:nvSpPr>
          <p:cNvPr id="4" name="Content Placeholder 3"/>
          <p:cNvSpPr>
            <a:spLocks noGrp="1"/>
          </p:cNvSpPr>
          <p:nvPr>
            <p:ph sz="quarter" idx="1"/>
          </p:nvPr>
        </p:nvSpPr>
        <p:spPr/>
        <p:txBody>
          <a:bodyPr>
            <a:normAutofit fontScale="92500" lnSpcReduction="10000"/>
          </a:bodyPr>
          <a:lstStyle/>
          <a:p>
            <a:r>
              <a:rPr lang="en-US" dirty="0"/>
              <a:t>Let </a:t>
            </a:r>
            <a:r>
              <a:rPr lang="en-US" dirty="0">
                <a:solidFill>
                  <a:srgbClr val="FF0000"/>
                </a:solidFill>
              </a:rPr>
              <a:t>A = {1, 2, 3, 4}</a:t>
            </a:r>
            <a:r>
              <a:rPr lang="en-US" dirty="0"/>
              <a:t> and define relations </a:t>
            </a:r>
            <a:r>
              <a:rPr lang="en-US" dirty="0">
                <a:solidFill>
                  <a:srgbClr val="FF0000"/>
                </a:solidFill>
              </a:rPr>
              <a:t>R</a:t>
            </a:r>
            <a:r>
              <a:rPr lang="en-US" baseline="-25000" dirty="0">
                <a:solidFill>
                  <a:srgbClr val="FF0000"/>
                </a:solidFill>
              </a:rPr>
              <a:t>1</a:t>
            </a:r>
            <a:r>
              <a:rPr lang="en-US" dirty="0"/>
              <a:t>, </a:t>
            </a:r>
            <a:r>
              <a:rPr lang="en-US" dirty="0">
                <a:solidFill>
                  <a:srgbClr val="FF0000"/>
                </a:solidFill>
              </a:rPr>
              <a:t>R</a:t>
            </a:r>
            <a:r>
              <a:rPr lang="en-US" baseline="-25000" dirty="0">
                <a:solidFill>
                  <a:srgbClr val="FF0000"/>
                </a:solidFill>
              </a:rPr>
              <a:t>2</a:t>
            </a:r>
            <a:r>
              <a:rPr lang="en-US" dirty="0"/>
              <a:t>, </a:t>
            </a:r>
            <a:r>
              <a:rPr lang="en-US" dirty="0">
                <a:solidFill>
                  <a:srgbClr val="FF0000"/>
                </a:solidFill>
              </a:rPr>
              <a:t>R</a:t>
            </a:r>
            <a:r>
              <a:rPr lang="en-US" baseline="-25000" dirty="0">
                <a:solidFill>
                  <a:srgbClr val="FF0000"/>
                </a:solidFill>
              </a:rPr>
              <a:t>3</a:t>
            </a:r>
            <a:r>
              <a:rPr lang="en-US" dirty="0"/>
              <a:t> and 	</a:t>
            </a:r>
            <a:r>
              <a:rPr lang="en-US" dirty="0">
                <a:solidFill>
                  <a:srgbClr val="FF0000"/>
                </a:solidFill>
              </a:rPr>
              <a:t>R</a:t>
            </a:r>
            <a:r>
              <a:rPr lang="en-US" baseline="-25000" dirty="0">
                <a:solidFill>
                  <a:srgbClr val="FF0000"/>
                </a:solidFill>
              </a:rPr>
              <a:t>4</a:t>
            </a:r>
            <a:r>
              <a:rPr lang="en-US" dirty="0"/>
              <a:t> on </a:t>
            </a:r>
            <a:r>
              <a:rPr lang="en-US" dirty="0">
                <a:solidFill>
                  <a:srgbClr val="FF0000"/>
                </a:solidFill>
              </a:rPr>
              <a:t>A</a:t>
            </a:r>
            <a:r>
              <a:rPr lang="en-US" dirty="0"/>
              <a:t> by 	</a:t>
            </a:r>
          </a:p>
          <a:p>
            <a:endParaRPr lang="en-US" dirty="0"/>
          </a:p>
          <a:p>
            <a:pPr>
              <a:buNone/>
            </a:pPr>
            <a:r>
              <a:rPr lang="en-US" dirty="0"/>
              <a:t>		R</a:t>
            </a:r>
            <a:r>
              <a:rPr lang="en-US" baseline="-25000" dirty="0"/>
              <a:t>1</a:t>
            </a:r>
            <a:r>
              <a:rPr lang="en-US" dirty="0"/>
              <a:t> = </a:t>
            </a:r>
            <a:r>
              <a:rPr lang="en-US" dirty="0">
                <a:solidFill>
                  <a:srgbClr val="FF0000"/>
                </a:solidFill>
              </a:rPr>
              <a:t>{(1, 1), (3, 3), (2, 2), (4, 4)}</a:t>
            </a:r>
          </a:p>
          <a:p>
            <a:pPr>
              <a:buNone/>
            </a:pPr>
            <a:r>
              <a:rPr lang="en-US" dirty="0"/>
              <a:t>		R</a:t>
            </a:r>
            <a:r>
              <a:rPr lang="en-US" baseline="-25000" dirty="0"/>
              <a:t>2</a:t>
            </a:r>
            <a:r>
              <a:rPr lang="en-US" dirty="0"/>
              <a:t> = </a:t>
            </a:r>
            <a:r>
              <a:rPr lang="en-US" dirty="0">
                <a:solidFill>
                  <a:srgbClr val="FF0000"/>
                </a:solidFill>
              </a:rPr>
              <a:t>{(1, 1), (1, 4), (2, 2), (3, 3), (4, 3)}</a:t>
            </a:r>
          </a:p>
          <a:p>
            <a:pPr>
              <a:buNone/>
            </a:pPr>
            <a:r>
              <a:rPr lang="en-US" dirty="0"/>
              <a:t>		R</a:t>
            </a:r>
            <a:r>
              <a:rPr lang="en-US" baseline="-25000" dirty="0"/>
              <a:t>3</a:t>
            </a:r>
            <a:r>
              <a:rPr lang="en-US" dirty="0"/>
              <a:t> = </a:t>
            </a:r>
            <a:r>
              <a:rPr lang="en-US" dirty="0">
                <a:solidFill>
                  <a:srgbClr val="FF0000"/>
                </a:solidFill>
              </a:rPr>
              <a:t>{(1, 1), (1, 2), (2, 1), (2, 2), (3, 3), (4, 4)}</a:t>
            </a:r>
          </a:p>
          <a:p>
            <a:pPr>
              <a:buNone/>
            </a:pPr>
            <a:r>
              <a:rPr lang="en-US" dirty="0"/>
              <a:t>		R</a:t>
            </a:r>
            <a:r>
              <a:rPr lang="en-US" baseline="-25000" dirty="0"/>
              <a:t>4</a:t>
            </a:r>
            <a:r>
              <a:rPr lang="en-US" dirty="0"/>
              <a:t> = </a:t>
            </a:r>
            <a:r>
              <a:rPr lang="en-US" dirty="0">
                <a:solidFill>
                  <a:srgbClr val="FF0000"/>
                </a:solidFill>
              </a:rPr>
              <a:t>{(1, 3), (2, 2), (2, 4), (3, 1), (4, 4)}</a:t>
            </a:r>
          </a:p>
          <a:p>
            <a:pPr>
              <a:buNone/>
            </a:pPr>
            <a:endParaRPr lang="en-US" dirty="0"/>
          </a:p>
          <a:p>
            <a:r>
              <a:rPr lang="en-US" dirty="0"/>
              <a:t> Then their </a:t>
            </a:r>
            <a:r>
              <a:rPr lang="en-US" dirty="0">
                <a:solidFill>
                  <a:srgbClr val="FF0000"/>
                </a:solidFill>
              </a:rPr>
              <a:t>directed graphs</a:t>
            </a:r>
            <a:r>
              <a:rPr lang="en-US" dirty="0"/>
              <a:t> are</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E19944-04AC-4CD8-BA69-63C2A678C21A}" type="slidenum">
              <a:rPr lang="en-US" smtClean="0"/>
              <a:pPr/>
              <a:t>43</a:t>
            </a:fld>
            <a:endParaRPr lang="en-US"/>
          </a:p>
        </p:txBody>
      </p:sp>
      <p:pic>
        <p:nvPicPr>
          <p:cNvPr id="5" name="Picture 4"/>
          <p:cNvPicPr/>
          <p:nvPr/>
        </p:nvPicPr>
        <p:blipFill>
          <a:blip r:embed="rId2"/>
          <a:srcRect/>
          <a:stretch>
            <a:fillRect/>
          </a:stretch>
        </p:blipFill>
        <p:spPr bwMode="auto">
          <a:xfrm>
            <a:off x="2286000" y="304800"/>
            <a:ext cx="7848600" cy="6019800"/>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a:solidFill>
                  <a:srgbClr val="0070C0"/>
                </a:solidFill>
              </a:rPr>
              <a:t>MATRIX REPRESENTATION OF A REFLEXIVE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44</a:t>
            </a:fld>
            <a:endParaRPr lang="en-US"/>
          </a:p>
        </p:txBody>
      </p:sp>
      <p:sp>
        <p:nvSpPr>
          <p:cNvPr id="4" name="Content Placeholder 3"/>
          <p:cNvSpPr>
            <a:spLocks noGrp="1"/>
          </p:cNvSpPr>
          <p:nvPr>
            <p:ph sz="quarter" idx="1"/>
          </p:nvPr>
        </p:nvSpPr>
        <p:spPr>
          <a:xfrm>
            <a:off x="1752600" y="2308412"/>
            <a:ext cx="8229600" cy="3110753"/>
          </a:xfrm>
        </p:spPr>
        <p:txBody>
          <a:bodyPr/>
          <a:lstStyle/>
          <a:p>
            <a:r>
              <a:rPr lang="en-US" dirty="0"/>
              <a:t>Let  </a:t>
            </a:r>
            <a:r>
              <a:rPr lang="en-US" dirty="0">
                <a:solidFill>
                  <a:srgbClr val="FF0000"/>
                </a:solidFill>
              </a:rPr>
              <a:t>A = {a</a:t>
            </a:r>
            <a:r>
              <a:rPr lang="en-US" baseline="-25000" dirty="0">
                <a:solidFill>
                  <a:srgbClr val="FF0000"/>
                </a:solidFill>
              </a:rPr>
              <a:t>1</a:t>
            </a:r>
            <a:r>
              <a:rPr lang="en-US" dirty="0">
                <a:solidFill>
                  <a:srgbClr val="FF0000"/>
                </a:solidFill>
              </a:rPr>
              <a:t>, a</a:t>
            </a:r>
            <a:r>
              <a:rPr lang="en-US" baseline="-25000" dirty="0">
                <a:solidFill>
                  <a:srgbClr val="FF0000"/>
                </a:solidFill>
              </a:rPr>
              <a:t>2</a:t>
            </a:r>
            <a:r>
              <a:rPr lang="en-US" dirty="0">
                <a:solidFill>
                  <a:srgbClr val="FF0000"/>
                </a:solidFill>
              </a:rPr>
              <a:t>, …, a</a:t>
            </a:r>
            <a:r>
              <a:rPr lang="en-US" baseline="-25000" dirty="0">
                <a:solidFill>
                  <a:srgbClr val="FF0000"/>
                </a:solidFill>
              </a:rPr>
              <a:t>n</a:t>
            </a:r>
            <a:r>
              <a:rPr lang="en-US" dirty="0">
                <a:solidFill>
                  <a:srgbClr val="FF0000"/>
                </a:solidFill>
              </a:rPr>
              <a:t>}</a:t>
            </a:r>
            <a:r>
              <a:rPr lang="en-US" dirty="0"/>
              <a:t>.  A Relation </a:t>
            </a:r>
            <a:r>
              <a:rPr lang="en-US" dirty="0">
                <a:solidFill>
                  <a:srgbClr val="FF0000"/>
                </a:solidFill>
              </a:rPr>
              <a:t>R</a:t>
            </a:r>
            <a:r>
              <a:rPr lang="en-US" dirty="0"/>
              <a:t> on </a:t>
            </a:r>
            <a:r>
              <a:rPr lang="en-US" dirty="0">
                <a:solidFill>
                  <a:srgbClr val="FF0000"/>
                </a:solidFill>
              </a:rPr>
              <a:t>A</a:t>
            </a:r>
            <a:r>
              <a:rPr lang="en-US" dirty="0"/>
              <a:t> is </a:t>
            </a:r>
            <a:r>
              <a:rPr lang="en-US" dirty="0">
                <a:solidFill>
                  <a:srgbClr val="FF0000"/>
                </a:solidFill>
              </a:rPr>
              <a:t>reflexive</a:t>
            </a:r>
            <a:r>
              <a:rPr lang="en-US" dirty="0"/>
              <a:t> if and only if </a:t>
            </a:r>
            <a:r>
              <a:rPr lang="en-US" dirty="0">
                <a:solidFill>
                  <a:srgbClr val="FF0000"/>
                </a:solidFill>
              </a:rPr>
              <a:t>(</a:t>
            </a:r>
            <a:r>
              <a:rPr lang="en-US" dirty="0" err="1">
                <a:solidFill>
                  <a:srgbClr val="FF0000"/>
                </a:solidFill>
              </a:rPr>
              <a:t>a</a:t>
            </a:r>
            <a:r>
              <a:rPr lang="en-US" baseline="-25000" dirty="0" err="1">
                <a:solidFill>
                  <a:srgbClr val="FF0000"/>
                </a:solidFill>
              </a:rPr>
              <a:t>i</a:t>
            </a:r>
            <a:r>
              <a:rPr lang="en-US" dirty="0">
                <a:solidFill>
                  <a:srgbClr val="FF0000"/>
                </a:solidFill>
              </a:rPr>
              <a:t>, </a:t>
            </a:r>
            <a:r>
              <a:rPr lang="en-US" dirty="0" err="1">
                <a:solidFill>
                  <a:srgbClr val="FF0000"/>
                </a:solidFill>
              </a:rPr>
              <a:t>a</a:t>
            </a:r>
            <a:r>
              <a:rPr lang="en-US" baseline="-25000" dirty="0" err="1">
                <a:solidFill>
                  <a:srgbClr val="FF0000"/>
                </a:solidFill>
              </a:rPr>
              <a:t>j</a:t>
            </a:r>
            <a:r>
              <a:rPr lang="en-US" dirty="0">
                <a:solidFill>
                  <a:srgbClr val="FF0000"/>
                </a:solidFill>
              </a:rPr>
              <a:t>) </a:t>
            </a:r>
            <a:r>
              <a:rPr lang="en-US" dirty="0">
                <a:solidFill>
                  <a:srgbClr val="FF0000"/>
                </a:solidFill>
                <a:sym typeface="Symbol"/>
              </a:rPr>
              <a:t> </a:t>
            </a:r>
            <a:r>
              <a:rPr lang="en-US" dirty="0">
                <a:solidFill>
                  <a:srgbClr val="FF0000"/>
                </a:solidFill>
              </a:rPr>
              <a:t>R</a:t>
            </a:r>
            <a:r>
              <a:rPr lang="en-US" dirty="0"/>
              <a:t> </a:t>
            </a:r>
            <a:r>
              <a:rPr lang="en-US" dirty="0">
                <a:sym typeface="Symbol"/>
              </a:rPr>
              <a:t></a:t>
            </a:r>
            <a:r>
              <a:rPr lang="en-US" dirty="0"/>
              <a:t> </a:t>
            </a:r>
            <a:r>
              <a:rPr lang="en-US" dirty="0" err="1"/>
              <a:t>i</a:t>
            </a:r>
            <a:r>
              <a:rPr lang="en-US" dirty="0"/>
              <a:t>=1,2, …,n.    </a:t>
            </a:r>
          </a:p>
          <a:p>
            <a:endParaRPr lang="en-US" dirty="0"/>
          </a:p>
          <a:p>
            <a:r>
              <a:rPr lang="en-US" dirty="0"/>
              <a:t>Accordingly, R is </a:t>
            </a:r>
            <a:r>
              <a:rPr lang="en-US" b="1" dirty="0">
                <a:solidFill>
                  <a:srgbClr val="FF0000"/>
                </a:solidFill>
              </a:rPr>
              <a:t>reflexive</a:t>
            </a:r>
            <a:r>
              <a:rPr lang="en-US" dirty="0"/>
              <a:t> if all the elements on the </a:t>
            </a:r>
            <a:r>
              <a:rPr lang="en-US" b="1" dirty="0">
                <a:solidFill>
                  <a:srgbClr val="FF0000"/>
                </a:solidFill>
              </a:rPr>
              <a:t>main diagonal</a:t>
            </a:r>
            <a:r>
              <a:rPr lang="en-US" dirty="0"/>
              <a:t> of the matrix </a:t>
            </a:r>
            <a:r>
              <a:rPr lang="en-US" b="1" dirty="0">
                <a:solidFill>
                  <a:srgbClr val="FF0000"/>
                </a:solidFill>
              </a:rPr>
              <a:t>M</a:t>
            </a:r>
            <a:r>
              <a:rPr lang="en-US" dirty="0"/>
              <a:t> representing </a:t>
            </a:r>
            <a:r>
              <a:rPr lang="en-US" b="1" dirty="0">
                <a:solidFill>
                  <a:srgbClr val="FF0000"/>
                </a:solidFill>
              </a:rPr>
              <a:t>R</a:t>
            </a:r>
            <a:r>
              <a:rPr lang="en-US" dirty="0"/>
              <a:t> are equal to </a:t>
            </a:r>
            <a:r>
              <a:rPr lang="en-US" b="1" dirty="0">
                <a:solidFill>
                  <a:srgbClr val="FF0000"/>
                </a:solidFill>
              </a:rPr>
              <a:t>1</a:t>
            </a:r>
            <a:r>
              <a:rPr lang="en-US" dirty="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45</a:t>
            </a:fld>
            <a:endParaRPr lang="en-US"/>
          </a:p>
        </p:txBody>
      </p:sp>
      <p:sp>
        <p:nvSpPr>
          <p:cNvPr id="4" name="Content Placeholder 3"/>
          <p:cNvSpPr>
            <a:spLocks noGrp="1"/>
          </p:cNvSpPr>
          <p:nvPr>
            <p:ph sz="quarter" idx="1"/>
          </p:nvPr>
        </p:nvSpPr>
        <p:spPr/>
        <p:txBody>
          <a:bodyPr/>
          <a:lstStyle/>
          <a:p>
            <a:r>
              <a:rPr lang="en-US" dirty="0"/>
              <a:t>The relation R = </a:t>
            </a:r>
            <a:r>
              <a:rPr lang="en-US" dirty="0">
                <a:solidFill>
                  <a:srgbClr val="FF0000"/>
                </a:solidFill>
              </a:rPr>
              <a:t>{(1,1), (1,3), (2,2), (3,2), (3,3)}</a:t>
            </a:r>
            <a:r>
              <a:rPr lang="en-US" dirty="0"/>
              <a:t> on</a:t>
            </a:r>
          </a:p>
          <a:p>
            <a:pPr>
              <a:buNone/>
            </a:pPr>
            <a:r>
              <a:rPr lang="en-US" dirty="0"/>
              <a:t>	 A = </a:t>
            </a:r>
            <a:r>
              <a:rPr lang="en-US" dirty="0">
                <a:solidFill>
                  <a:srgbClr val="FF0000"/>
                </a:solidFill>
              </a:rPr>
              <a:t>{1, 2, 3}</a:t>
            </a:r>
            <a:r>
              <a:rPr lang="en-US" dirty="0"/>
              <a:t> represented by the following </a:t>
            </a:r>
            <a:r>
              <a:rPr lang="en-US" dirty="0">
                <a:solidFill>
                  <a:srgbClr val="FF0000"/>
                </a:solidFill>
              </a:rPr>
              <a:t>matrix M</a:t>
            </a:r>
            <a:r>
              <a:rPr lang="en-US" dirty="0"/>
              <a:t>, is </a:t>
            </a:r>
            <a:r>
              <a:rPr lang="en-US" dirty="0">
                <a:solidFill>
                  <a:srgbClr val="FF0000"/>
                </a:solidFill>
              </a:rPr>
              <a:t>reflexive</a:t>
            </a:r>
            <a:r>
              <a:rPr lang="en-US" dirty="0"/>
              <a:t>.</a:t>
            </a:r>
          </a:p>
          <a:p>
            <a:endParaRPr lang="en-US" dirty="0"/>
          </a:p>
        </p:txBody>
      </p:sp>
      <p:graphicFrame>
        <p:nvGraphicFramePr>
          <p:cNvPr id="225282" name="Object 2"/>
          <p:cNvGraphicFramePr>
            <a:graphicFrameLocks noChangeAspect="1"/>
          </p:cNvGraphicFramePr>
          <p:nvPr>
            <p:extLst>
              <p:ext uri="{D42A27DB-BD31-4B8C-83A1-F6EECF244321}">
                <p14:modId xmlns:p14="http://schemas.microsoft.com/office/powerpoint/2010/main" val="119850008"/>
              </p:ext>
            </p:extLst>
          </p:nvPr>
        </p:nvGraphicFramePr>
        <p:xfrm>
          <a:off x="4504765" y="3789638"/>
          <a:ext cx="2302476" cy="1981200"/>
        </p:xfrm>
        <a:graphic>
          <a:graphicData uri="http://schemas.openxmlformats.org/presentationml/2006/ole">
            <mc:AlternateContent xmlns:mc="http://schemas.openxmlformats.org/markup-compatibility/2006">
              <mc:Choice xmlns:v="urn:schemas-microsoft-com:vml" Requires="v">
                <p:oleObj spid="_x0000_s22535" r:id="rId3" imgW="1091880" imgH="939600" progId="">
                  <p:embed/>
                </p:oleObj>
              </mc:Choice>
              <mc:Fallback>
                <p:oleObj r:id="rId3" imgW="1091880" imgH="939600" progId="">
                  <p:embed/>
                  <p:pic>
                    <p:nvPicPr>
                      <p:cNvPr id="22528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4765" y="3789638"/>
                        <a:ext cx="2302476" cy="198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25282"/>
                                        </p:tgtEl>
                                        <p:attrNameLst>
                                          <p:attrName>style.visibility</p:attrName>
                                        </p:attrNameLst>
                                      </p:cBhvr>
                                      <p:to>
                                        <p:strVal val="visible"/>
                                      </p:to>
                                    </p:set>
                                    <p:animEffect transition="in" filter="checkerboard(across)">
                                      <p:cBhvr>
                                        <p:cTn id="17" dur="500"/>
                                        <p:tgtEl>
                                          <p:spTgt spid="225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SYMMETRIC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46</a:t>
            </a:fld>
            <a:endParaRPr lang="en-US"/>
          </a:p>
        </p:txBody>
      </p:sp>
      <p:sp>
        <p:nvSpPr>
          <p:cNvPr id="4" name="Content Placeholder 3"/>
          <p:cNvSpPr>
            <a:spLocks noGrp="1"/>
          </p:cNvSpPr>
          <p:nvPr>
            <p:ph sz="quarter" idx="1"/>
          </p:nvPr>
        </p:nvSpPr>
        <p:spPr/>
        <p:txBody>
          <a:bodyPr/>
          <a:lstStyle/>
          <a:p>
            <a:r>
              <a:rPr lang="en-US" dirty="0"/>
              <a:t>Let </a:t>
            </a:r>
            <a:r>
              <a:rPr lang="en-US" dirty="0">
                <a:solidFill>
                  <a:srgbClr val="FF0000"/>
                </a:solidFill>
              </a:rPr>
              <a:t>R</a:t>
            </a:r>
            <a:r>
              <a:rPr lang="en-US" dirty="0"/>
              <a:t> be a </a:t>
            </a:r>
            <a:r>
              <a:rPr lang="en-US" dirty="0">
                <a:solidFill>
                  <a:srgbClr val="FF0000"/>
                </a:solidFill>
              </a:rPr>
              <a:t>relation</a:t>
            </a:r>
            <a:r>
              <a:rPr lang="en-US" dirty="0"/>
              <a:t> on a set </a:t>
            </a:r>
            <a:r>
              <a:rPr lang="en-US" dirty="0">
                <a:solidFill>
                  <a:srgbClr val="FF0000"/>
                </a:solidFill>
              </a:rPr>
              <a:t>A</a:t>
            </a:r>
            <a:r>
              <a:rPr lang="en-US" dirty="0"/>
              <a:t>. </a:t>
            </a:r>
            <a:r>
              <a:rPr lang="en-US" dirty="0">
                <a:solidFill>
                  <a:srgbClr val="FF0000"/>
                </a:solidFill>
              </a:rPr>
              <a:t>R</a:t>
            </a:r>
            <a:r>
              <a:rPr lang="en-US" dirty="0"/>
              <a:t> is </a:t>
            </a:r>
            <a:r>
              <a:rPr lang="en-US" dirty="0">
                <a:solidFill>
                  <a:srgbClr val="FF0000"/>
                </a:solidFill>
              </a:rPr>
              <a:t>symmetric</a:t>
            </a:r>
            <a:r>
              <a:rPr lang="en-US" dirty="0"/>
              <a:t> if, and only if, for all </a:t>
            </a:r>
            <a:r>
              <a:rPr lang="en-US" dirty="0">
                <a:solidFill>
                  <a:srgbClr val="FF0000"/>
                </a:solidFill>
              </a:rPr>
              <a:t>a, b </a:t>
            </a:r>
            <a:r>
              <a:rPr lang="en-US" dirty="0">
                <a:solidFill>
                  <a:srgbClr val="FF0000"/>
                </a:solidFill>
                <a:sym typeface="Symbol"/>
              </a:rPr>
              <a:t></a:t>
            </a:r>
            <a:r>
              <a:rPr lang="en-US" dirty="0">
                <a:solidFill>
                  <a:srgbClr val="FF0000"/>
                </a:solidFill>
              </a:rPr>
              <a:t> A</a:t>
            </a:r>
            <a:r>
              <a:rPr lang="en-US" dirty="0"/>
              <a:t>, if </a:t>
            </a:r>
            <a:r>
              <a:rPr lang="en-US" dirty="0">
                <a:solidFill>
                  <a:srgbClr val="FF0000"/>
                </a:solidFill>
              </a:rPr>
              <a:t>(a, b) </a:t>
            </a:r>
            <a:r>
              <a:rPr lang="en-US" dirty="0">
                <a:solidFill>
                  <a:srgbClr val="FF0000"/>
                </a:solidFill>
                <a:sym typeface="Symbol"/>
              </a:rPr>
              <a:t></a:t>
            </a:r>
            <a:r>
              <a:rPr lang="en-US" dirty="0">
                <a:solidFill>
                  <a:srgbClr val="FF0000"/>
                </a:solidFill>
              </a:rPr>
              <a:t>R</a:t>
            </a:r>
            <a:r>
              <a:rPr lang="en-US" dirty="0"/>
              <a:t> then </a:t>
            </a:r>
            <a:r>
              <a:rPr lang="en-US" dirty="0">
                <a:solidFill>
                  <a:srgbClr val="FF0000"/>
                </a:solidFill>
              </a:rPr>
              <a:t>(b, a) </a:t>
            </a:r>
            <a:r>
              <a:rPr lang="en-US" dirty="0">
                <a:solidFill>
                  <a:srgbClr val="FF0000"/>
                </a:solidFill>
                <a:sym typeface="Symbol"/>
              </a:rPr>
              <a:t></a:t>
            </a:r>
            <a:r>
              <a:rPr lang="en-US" dirty="0">
                <a:solidFill>
                  <a:srgbClr val="FF0000"/>
                </a:solidFill>
              </a:rPr>
              <a:t>R</a:t>
            </a:r>
            <a:r>
              <a:rPr lang="en-US" dirty="0"/>
              <a:t>.                      </a:t>
            </a:r>
          </a:p>
          <a:p>
            <a:endParaRPr lang="en-US" dirty="0"/>
          </a:p>
          <a:p>
            <a:r>
              <a:rPr lang="en-US" dirty="0"/>
              <a:t>That is, if </a:t>
            </a:r>
            <a:r>
              <a:rPr lang="en-US" dirty="0" err="1">
                <a:solidFill>
                  <a:srgbClr val="FF0000"/>
                </a:solidFill>
              </a:rPr>
              <a:t>aRb</a:t>
            </a:r>
            <a:r>
              <a:rPr lang="en-US" dirty="0"/>
              <a:t> then </a:t>
            </a:r>
            <a:r>
              <a:rPr lang="en-US" dirty="0" err="1">
                <a:solidFill>
                  <a:srgbClr val="FF0000"/>
                </a:solidFill>
              </a:rPr>
              <a:t>bRa</a:t>
            </a:r>
            <a:r>
              <a:rPr lang="en-US" dirty="0"/>
              <a:t>.</a:t>
            </a:r>
          </a:p>
          <a:p>
            <a:endParaRPr lang="en-US" dirty="0"/>
          </a:p>
          <a:p>
            <a:r>
              <a:rPr lang="en-US" b="1" u="sng" dirty="0">
                <a:solidFill>
                  <a:srgbClr val="0070C0"/>
                </a:solidFill>
                <a:latin typeface="+mj-lt"/>
                <a:ea typeface="+mj-ea"/>
                <a:cs typeface="+mj-cs"/>
              </a:rPr>
              <a:t>REMARK</a:t>
            </a:r>
          </a:p>
          <a:p>
            <a:pPr>
              <a:buNone/>
            </a:pPr>
            <a:r>
              <a:rPr lang="en-US" dirty="0"/>
              <a:t>	</a:t>
            </a:r>
            <a:r>
              <a:rPr lang="en-US" dirty="0">
                <a:solidFill>
                  <a:srgbClr val="FF0000"/>
                </a:solidFill>
              </a:rPr>
              <a:t>R</a:t>
            </a:r>
            <a:r>
              <a:rPr lang="en-US" dirty="0"/>
              <a:t> is </a:t>
            </a:r>
            <a:r>
              <a:rPr lang="en-US" dirty="0">
                <a:solidFill>
                  <a:srgbClr val="FF0000"/>
                </a:solidFill>
              </a:rPr>
              <a:t>not symmetric</a:t>
            </a:r>
            <a:r>
              <a:rPr lang="en-US" dirty="0"/>
              <a:t> </a:t>
            </a:r>
            <a:r>
              <a:rPr lang="en-US" dirty="0" err="1"/>
              <a:t>iff</a:t>
            </a:r>
            <a:r>
              <a:rPr lang="en-US" dirty="0"/>
              <a:t> there are elements </a:t>
            </a:r>
            <a:r>
              <a:rPr lang="en-US" i="1" dirty="0">
                <a:solidFill>
                  <a:srgbClr val="FF0000"/>
                </a:solidFill>
              </a:rPr>
              <a:t>a</a:t>
            </a:r>
            <a:r>
              <a:rPr lang="en-US" dirty="0"/>
              <a:t> and </a:t>
            </a:r>
            <a:r>
              <a:rPr lang="en-US" i="1" dirty="0">
                <a:solidFill>
                  <a:srgbClr val="FF0000"/>
                </a:solidFill>
              </a:rPr>
              <a:t>b</a:t>
            </a:r>
            <a:r>
              <a:rPr lang="en-US" i="1" dirty="0"/>
              <a:t> </a:t>
            </a:r>
            <a:r>
              <a:rPr lang="en-US" dirty="0"/>
              <a:t>in </a:t>
            </a:r>
            <a:r>
              <a:rPr lang="en-US" dirty="0">
                <a:solidFill>
                  <a:srgbClr val="FF0000"/>
                </a:solidFill>
              </a:rPr>
              <a:t>A</a:t>
            </a:r>
            <a:r>
              <a:rPr lang="en-US" dirty="0"/>
              <a:t> such that </a:t>
            </a:r>
            <a:r>
              <a:rPr lang="en-US" dirty="0">
                <a:solidFill>
                  <a:srgbClr val="FF0000"/>
                </a:solidFill>
              </a:rPr>
              <a:t>(a, b) </a:t>
            </a:r>
            <a:r>
              <a:rPr lang="en-US" dirty="0">
                <a:solidFill>
                  <a:srgbClr val="FF0000"/>
                </a:solidFill>
                <a:sym typeface="Symbol"/>
              </a:rPr>
              <a:t> </a:t>
            </a:r>
            <a:r>
              <a:rPr lang="en-US" dirty="0">
                <a:solidFill>
                  <a:srgbClr val="FF0000"/>
                </a:solidFill>
              </a:rPr>
              <a:t>R</a:t>
            </a:r>
            <a:r>
              <a:rPr lang="en-US" dirty="0"/>
              <a:t> but </a:t>
            </a:r>
            <a:r>
              <a:rPr lang="en-US" dirty="0">
                <a:solidFill>
                  <a:srgbClr val="FF0000"/>
                </a:solidFill>
              </a:rPr>
              <a:t>(b, a) </a:t>
            </a:r>
            <a:r>
              <a:rPr lang="en-US" dirty="0">
                <a:solidFill>
                  <a:srgbClr val="FF0000"/>
                </a:solidFill>
                <a:sym typeface="Symbol"/>
              </a:rPr>
              <a:t> </a:t>
            </a:r>
            <a:r>
              <a:rPr lang="en-US" dirty="0">
                <a:solidFill>
                  <a:srgbClr val="FF0000"/>
                </a:solidFill>
              </a:rPr>
              <a:t>R</a:t>
            </a:r>
            <a:r>
              <a:rPr lang="en-US" dirty="0"/>
              <a:t>. </a:t>
            </a:r>
          </a:p>
          <a:p>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47</a:t>
            </a:fld>
            <a:endParaRPr lang="en-US"/>
          </a:p>
        </p:txBody>
      </p:sp>
      <p:sp>
        <p:nvSpPr>
          <p:cNvPr id="4" name="Content Placeholder 3"/>
          <p:cNvSpPr>
            <a:spLocks noGrp="1"/>
          </p:cNvSpPr>
          <p:nvPr>
            <p:ph sz="quarter" idx="1"/>
          </p:nvPr>
        </p:nvSpPr>
        <p:spPr/>
        <p:txBody>
          <a:bodyPr/>
          <a:lstStyle/>
          <a:p>
            <a:r>
              <a:rPr lang="en-US" dirty="0"/>
              <a:t>Let A = </a:t>
            </a:r>
            <a:r>
              <a:rPr lang="en-US" dirty="0">
                <a:solidFill>
                  <a:srgbClr val="FF0000"/>
                </a:solidFill>
              </a:rPr>
              <a:t>{1, 2, 3, 4}</a:t>
            </a:r>
            <a:r>
              <a:rPr lang="en-US" dirty="0"/>
              <a:t> and define relations </a:t>
            </a:r>
            <a:r>
              <a:rPr lang="en-US" dirty="0">
                <a:solidFill>
                  <a:srgbClr val="FF0000"/>
                </a:solidFill>
              </a:rPr>
              <a:t>R</a:t>
            </a:r>
            <a:r>
              <a:rPr lang="en-US" baseline="-25000" dirty="0">
                <a:solidFill>
                  <a:srgbClr val="FF0000"/>
                </a:solidFill>
              </a:rPr>
              <a:t>1</a:t>
            </a:r>
            <a:r>
              <a:rPr lang="en-US" dirty="0"/>
              <a:t>, </a:t>
            </a:r>
            <a:r>
              <a:rPr lang="en-US" dirty="0">
                <a:solidFill>
                  <a:srgbClr val="FF0000"/>
                </a:solidFill>
              </a:rPr>
              <a:t>R</a:t>
            </a:r>
            <a:r>
              <a:rPr lang="en-US" baseline="-25000" dirty="0">
                <a:solidFill>
                  <a:srgbClr val="FF0000"/>
                </a:solidFill>
              </a:rPr>
              <a:t>2</a:t>
            </a:r>
            <a:r>
              <a:rPr lang="en-US" dirty="0"/>
              <a:t>, </a:t>
            </a:r>
            <a:r>
              <a:rPr lang="en-US" dirty="0">
                <a:solidFill>
                  <a:srgbClr val="FF0000"/>
                </a:solidFill>
              </a:rPr>
              <a:t>R</a:t>
            </a:r>
            <a:r>
              <a:rPr lang="en-US" baseline="-25000" dirty="0">
                <a:solidFill>
                  <a:srgbClr val="FF0000"/>
                </a:solidFill>
              </a:rPr>
              <a:t>3</a:t>
            </a:r>
            <a:r>
              <a:rPr lang="en-US" dirty="0"/>
              <a:t>, and </a:t>
            </a:r>
            <a:r>
              <a:rPr lang="en-US" dirty="0">
                <a:solidFill>
                  <a:srgbClr val="FF0000"/>
                </a:solidFill>
              </a:rPr>
              <a:t>R</a:t>
            </a:r>
            <a:r>
              <a:rPr lang="en-US" baseline="-25000" dirty="0">
                <a:solidFill>
                  <a:srgbClr val="FF0000"/>
                </a:solidFill>
              </a:rPr>
              <a:t>4</a:t>
            </a:r>
            <a:r>
              <a:rPr lang="en-US" baseline="-25000" dirty="0"/>
              <a:t> </a:t>
            </a:r>
            <a:r>
              <a:rPr lang="en-US" dirty="0"/>
              <a:t>on </a:t>
            </a:r>
            <a:r>
              <a:rPr lang="en-US" dirty="0">
                <a:solidFill>
                  <a:srgbClr val="FF0000"/>
                </a:solidFill>
              </a:rPr>
              <a:t>A</a:t>
            </a:r>
            <a:r>
              <a:rPr lang="en-US" dirty="0"/>
              <a:t> as follows:</a:t>
            </a:r>
          </a:p>
          <a:p>
            <a:pPr>
              <a:buNone/>
            </a:pPr>
            <a:endParaRPr lang="en-US" dirty="0"/>
          </a:p>
          <a:p>
            <a:pPr>
              <a:buNone/>
            </a:pPr>
            <a:r>
              <a:rPr lang="en-US" dirty="0"/>
              <a:t>		R</a:t>
            </a:r>
            <a:r>
              <a:rPr lang="en-US" baseline="-25000" dirty="0"/>
              <a:t>1</a:t>
            </a:r>
            <a:r>
              <a:rPr lang="en-US" dirty="0"/>
              <a:t> = </a:t>
            </a:r>
            <a:r>
              <a:rPr lang="en-US" dirty="0">
                <a:solidFill>
                  <a:srgbClr val="FF0000"/>
                </a:solidFill>
              </a:rPr>
              <a:t>{(1, 1), (1, 3), (2, 4), (3, 1), (4,2)}</a:t>
            </a:r>
          </a:p>
          <a:p>
            <a:pPr>
              <a:buNone/>
            </a:pPr>
            <a:r>
              <a:rPr lang="en-US" dirty="0"/>
              <a:t>		R</a:t>
            </a:r>
            <a:r>
              <a:rPr lang="en-US" baseline="-25000" dirty="0"/>
              <a:t>2</a:t>
            </a:r>
            <a:r>
              <a:rPr lang="en-US" dirty="0"/>
              <a:t> = </a:t>
            </a:r>
            <a:r>
              <a:rPr lang="en-US" dirty="0">
                <a:solidFill>
                  <a:srgbClr val="FF0000"/>
                </a:solidFill>
              </a:rPr>
              <a:t>{(1, 1), (2, 2), (3, 3), (4, 4)}</a:t>
            </a:r>
          </a:p>
          <a:p>
            <a:pPr>
              <a:buNone/>
            </a:pPr>
            <a:r>
              <a:rPr lang="en-US" dirty="0"/>
              <a:t>		R</a:t>
            </a:r>
            <a:r>
              <a:rPr lang="en-US" baseline="-25000" dirty="0"/>
              <a:t>3</a:t>
            </a:r>
            <a:r>
              <a:rPr lang="en-US" dirty="0"/>
              <a:t> = </a:t>
            </a:r>
            <a:r>
              <a:rPr lang="en-US" dirty="0">
                <a:solidFill>
                  <a:srgbClr val="FF0000"/>
                </a:solidFill>
              </a:rPr>
              <a:t>{(2, 2), (2, 3), (3, 4)}</a:t>
            </a:r>
          </a:p>
          <a:p>
            <a:pPr>
              <a:buNone/>
            </a:pPr>
            <a:r>
              <a:rPr lang="en-US" dirty="0"/>
              <a:t>		R</a:t>
            </a:r>
            <a:r>
              <a:rPr lang="en-US" baseline="-25000" dirty="0"/>
              <a:t>4</a:t>
            </a:r>
            <a:r>
              <a:rPr lang="en-US" dirty="0"/>
              <a:t> = </a:t>
            </a:r>
            <a:r>
              <a:rPr lang="en-US" dirty="0">
                <a:solidFill>
                  <a:srgbClr val="FF0000"/>
                </a:solidFill>
              </a:rPr>
              <a:t>{(1, 1), (2, 2), (3, 3), (4, 3), (4, 4)}</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E19944-04AC-4CD8-BA69-63C2A678C21A}" type="slidenum">
              <a:rPr lang="en-US" smtClean="0"/>
              <a:pPr/>
              <a:t>48</a:t>
            </a:fld>
            <a:endParaRPr lang="en-US"/>
          </a:p>
        </p:txBody>
      </p:sp>
      <p:sp>
        <p:nvSpPr>
          <p:cNvPr id="4" name="Content Placeholder 3"/>
          <p:cNvSpPr>
            <a:spLocks noGrp="1"/>
          </p:cNvSpPr>
          <p:nvPr>
            <p:ph sz="quarter" idx="1"/>
          </p:nvPr>
        </p:nvSpPr>
        <p:spPr/>
        <p:txBody>
          <a:bodyPr>
            <a:normAutofit fontScale="92500" lnSpcReduction="10000"/>
          </a:bodyPr>
          <a:lstStyle/>
          <a:p>
            <a:r>
              <a:rPr lang="en-US" dirty="0"/>
              <a:t>Then </a:t>
            </a:r>
            <a:r>
              <a:rPr lang="en-US" dirty="0">
                <a:solidFill>
                  <a:srgbClr val="FF0000"/>
                </a:solidFill>
              </a:rPr>
              <a:t>R</a:t>
            </a:r>
            <a:r>
              <a:rPr lang="en-US" baseline="-25000" dirty="0">
                <a:solidFill>
                  <a:srgbClr val="FF0000"/>
                </a:solidFill>
              </a:rPr>
              <a:t>1</a:t>
            </a:r>
            <a:r>
              <a:rPr lang="en-US" baseline="-25000" dirty="0"/>
              <a:t> </a:t>
            </a:r>
            <a:r>
              <a:rPr lang="en-US" dirty="0"/>
              <a:t>is </a:t>
            </a:r>
            <a:r>
              <a:rPr lang="en-US" dirty="0">
                <a:solidFill>
                  <a:srgbClr val="FF0000"/>
                </a:solidFill>
              </a:rPr>
              <a:t>symmetric</a:t>
            </a:r>
            <a:r>
              <a:rPr lang="en-US" dirty="0"/>
              <a:t> because for every </a:t>
            </a:r>
            <a:r>
              <a:rPr lang="en-US" dirty="0">
                <a:solidFill>
                  <a:srgbClr val="FF0000"/>
                </a:solidFill>
              </a:rPr>
              <a:t>order pair (a, b)</a:t>
            </a:r>
            <a:r>
              <a:rPr lang="en-US" dirty="0"/>
              <a:t> in </a:t>
            </a:r>
            <a:r>
              <a:rPr lang="en-US" dirty="0">
                <a:solidFill>
                  <a:srgbClr val="FF0000"/>
                </a:solidFill>
              </a:rPr>
              <a:t>R</a:t>
            </a:r>
            <a:r>
              <a:rPr lang="en-US" baseline="-25000" dirty="0">
                <a:solidFill>
                  <a:srgbClr val="FF0000"/>
                </a:solidFill>
              </a:rPr>
              <a:t>1</a:t>
            </a:r>
            <a:r>
              <a:rPr lang="en-US" dirty="0"/>
              <a:t> </a:t>
            </a:r>
          </a:p>
          <a:p>
            <a:pPr>
              <a:buNone/>
            </a:pPr>
            <a:endParaRPr lang="en-US" dirty="0"/>
          </a:p>
          <a:p>
            <a:r>
              <a:rPr lang="en-US" dirty="0"/>
              <a:t>We have </a:t>
            </a:r>
            <a:r>
              <a:rPr lang="en-US" dirty="0">
                <a:solidFill>
                  <a:srgbClr val="FF0000"/>
                </a:solidFill>
              </a:rPr>
              <a:t>(b, a)</a:t>
            </a:r>
            <a:r>
              <a:rPr lang="en-US" dirty="0"/>
              <a:t> in </a:t>
            </a:r>
            <a:r>
              <a:rPr lang="en-US" dirty="0">
                <a:solidFill>
                  <a:srgbClr val="FF0000"/>
                </a:solidFill>
              </a:rPr>
              <a:t>R</a:t>
            </a:r>
            <a:r>
              <a:rPr lang="en-US" baseline="-25000" dirty="0">
                <a:solidFill>
                  <a:srgbClr val="FF0000"/>
                </a:solidFill>
              </a:rPr>
              <a:t>1</a:t>
            </a:r>
            <a:r>
              <a:rPr lang="en-US" baseline="-25000" dirty="0"/>
              <a:t> </a:t>
            </a:r>
            <a:r>
              <a:rPr lang="en-US" dirty="0"/>
              <a:t>for example we have </a:t>
            </a:r>
            <a:r>
              <a:rPr lang="en-US" dirty="0">
                <a:solidFill>
                  <a:srgbClr val="FF0000"/>
                </a:solidFill>
              </a:rPr>
              <a:t>(1, 3)</a:t>
            </a:r>
            <a:r>
              <a:rPr lang="en-US" dirty="0"/>
              <a:t> in </a:t>
            </a:r>
            <a:r>
              <a:rPr lang="en-US" dirty="0">
                <a:solidFill>
                  <a:srgbClr val="FF0000"/>
                </a:solidFill>
              </a:rPr>
              <a:t>R</a:t>
            </a:r>
            <a:r>
              <a:rPr lang="en-US" baseline="-25000" dirty="0">
                <a:solidFill>
                  <a:srgbClr val="FF0000"/>
                </a:solidFill>
              </a:rPr>
              <a:t>1</a:t>
            </a:r>
          </a:p>
          <a:p>
            <a:pPr>
              <a:buNone/>
            </a:pPr>
            <a:r>
              <a:rPr lang="en-US" dirty="0"/>
              <a:t>	we also have </a:t>
            </a:r>
            <a:r>
              <a:rPr lang="en-US" dirty="0">
                <a:solidFill>
                  <a:srgbClr val="FF0000"/>
                </a:solidFill>
              </a:rPr>
              <a:t>(3,1)</a:t>
            </a:r>
            <a:r>
              <a:rPr lang="en-US" dirty="0"/>
              <a:t> in </a:t>
            </a:r>
            <a:r>
              <a:rPr lang="en-US" dirty="0">
                <a:solidFill>
                  <a:srgbClr val="FF0000"/>
                </a:solidFill>
              </a:rPr>
              <a:t>R</a:t>
            </a:r>
            <a:r>
              <a:rPr lang="en-US" baseline="-25000" dirty="0">
                <a:solidFill>
                  <a:srgbClr val="FF0000"/>
                </a:solidFill>
              </a:rPr>
              <a:t>1</a:t>
            </a:r>
            <a:r>
              <a:rPr lang="en-US" dirty="0"/>
              <a:t> similarly all other ordered pairs can be checked.</a:t>
            </a:r>
          </a:p>
          <a:p>
            <a:endParaRPr lang="en-US" dirty="0"/>
          </a:p>
          <a:p>
            <a:r>
              <a:rPr lang="en-US" dirty="0">
                <a:solidFill>
                  <a:srgbClr val="FF0000"/>
                </a:solidFill>
              </a:rPr>
              <a:t>R</a:t>
            </a:r>
            <a:r>
              <a:rPr lang="en-US" baseline="-25000" dirty="0">
                <a:solidFill>
                  <a:srgbClr val="FF0000"/>
                </a:solidFill>
              </a:rPr>
              <a:t>2</a:t>
            </a:r>
            <a:r>
              <a:rPr lang="en-US" dirty="0"/>
              <a:t> is also </a:t>
            </a:r>
            <a:r>
              <a:rPr lang="en-US" dirty="0">
                <a:solidFill>
                  <a:srgbClr val="FF0000"/>
                </a:solidFill>
              </a:rPr>
              <a:t>symmetric</a:t>
            </a:r>
            <a:r>
              <a:rPr lang="en-US" dirty="0"/>
              <a:t> we say it is vacuously true.</a:t>
            </a:r>
          </a:p>
          <a:p>
            <a:r>
              <a:rPr lang="en-US" dirty="0">
                <a:solidFill>
                  <a:srgbClr val="FF0000"/>
                </a:solidFill>
              </a:rPr>
              <a:t>R</a:t>
            </a:r>
            <a:r>
              <a:rPr lang="en-US" baseline="-25000" dirty="0">
                <a:solidFill>
                  <a:srgbClr val="FF0000"/>
                </a:solidFill>
              </a:rPr>
              <a:t>3</a:t>
            </a:r>
            <a:r>
              <a:rPr lang="en-US" dirty="0"/>
              <a:t> is </a:t>
            </a:r>
            <a:r>
              <a:rPr lang="en-US" dirty="0">
                <a:solidFill>
                  <a:srgbClr val="FF0000"/>
                </a:solidFill>
              </a:rPr>
              <a:t>not symmetric,</a:t>
            </a:r>
            <a:r>
              <a:rPr lang="en-US" dirty="0"/>
              <a:t> because </a:t>
            </a:r>
            <a:r>
              <a:rPr lang="en-US" dirty="0">
                <a:solidFill>
                  <a:srgbClr val="FF0000"/>
                </a:solidFill>
              </a:rPr>
              <a:t>(2, 3) </a:t>
            </a:r>
            <a:r>
              <a:rPr lang="en-US" dirty="0">
                <a:solidFill>
                  <a:srgbClr val="FF0000"/>
                </a:solidFill>
                <a:sym typeface="Symbol"/>
              </a:rPr>
              <a:t></a:t>
            </a:r>
            <a:r>
              <a:rPr lang="en-US" dirty="0">
                <a:solidFill>
                  <a:srgbClr val="FF0000"/>
                </a:solidFill>
              </a:rPr>
              <a:t> R</a:t>
            </a:r>
            <a:r>
              <a:rPr lang="en-US" baseline="-25000" dirty="0">
                <a:solidFill>
                  <a:srgbClr val="FF0000"/>
                </a:solidFill>
              </a:rPr>
              <a:t>3</a:t>
            </a:r>
            <a:r>
              <a:rPr lang="en-US" dirty="0"/>
              <a:t> but </a:t>
            </a:r>
            <a:r>
              <a:rPr lang="en-US" dirty="0">
                <a:solidFill>
                  <a:srgbClr val="FF0000"/>
                </a:solidFill>
              </a:rPr>
              <a:t>(3, 2) </a:t>
            </a:r>
            <a:r>
              <a:rPr lang="en-US" dirty="0">
                <a:solidFill>
                  <a:srgbClr val="FF0000"/>
                </a:solidFill>
                <a:sym typeface="Symbol"/>
              </a:rPr>
              <a:t></a:t>
            </a:r>
            <a:r>
              <a:rPr lang="en-US" dirty="0">
                <a:solidFill>
                  <a:srgbClr val="FF0000"/>
                </a:solidFill>
              </a:rPr>
              <a:t> R</a:t>
            </a:r>
            <a:r>
              <a:rPr lang="en-US" baseline="-25000" dirty="0">
                <a:solidFill>
                  <a:srgbClr val="FF0000"/>
                </a:solidFill>
              </a:rPr>
              <a:t>3</a:t>
            </a:r>
            <a:r>
              <a:rPr lang="en-US" dirty="0">
                <a:solidFill>
                  <a:srgbClr val="FF0000"/>
                </a:solidFill>
              </a:rPr>
              <a:t>.</a:t>
            </a:r>
            <a:r>
              <a:rPr lang="en-US" dirty="0"/>
              <a:t> </a:t>
            </a:r>
          </a:p>
          <a:p>
            <a:r>
              <a:rPr lang="en-US" dirty="0">
                <a:solidFill>
                  <a:srgbClr val="FF0000"/>
                </a:solidFill>
              </a:rPr>
              <a:t>R</a:t>
            </a:r>
            <a:r>
              <a:rPr lang="en-US" baseline="-25000" dirty="0">
                <a:solidFill>
                  <a:srgbClr val="FF0000"/>
                </a:solidFill>
              </a:rPr>
              <a:t>4</a:t>
            </a:r>
            <a:r>
              <a:rPr lang="en-US" dirty="0"/>
              <a:t> is </a:t>
            </a:r>
            <a:r>
              <a:rPr lang="en-US" dirty="0">
                <a:solidFill>
                  <a:srgbClr val="FF0000"/>
                </a:solidFill>
              </a:rPr>
              <a:t>not symmetric</a:t>
            </a:r>
            <a:r>
              <a:rPr lang="en-US" dirty="0"/>
              <a:t> because </a:t>
            </a:r>
            <a:r>
              <a:rPr lang="en-US" dirty="0">
                <a:solidFill>
                  <a:srgbClr val="FF0000"/>
                </a:solidFill>
              </a:rPr>
              <a:t>(4, 3) </a:t>
            </a:r>
            <a:r>
              <a:rPr lang="en-US" dirty="0">
                <a:solidFill>
                  <a:srgbClr val="FF0000"/>
                </a:solidFill>
                <a:sym typeface="Symbol"/>
              </a:rPr>
              <a:t></a:t>
            </a:r>
            <a:r>
              <a:rPr lang="en-US" dirty="0">
                <a:solidFill>
                  <a:srgbClr val="FF0000"/>
                </a:solidFill>
              </a:rPr>
              <a:t> R</a:t>
            </a:r>
            <a:r>
              <a:rPr lang="en-US" baseline="-25000" dirty="0">
                <a:solidFill>
                  <a:srgbClr val="FF0000"/>
                </a:solidFill>
              </a:rPr>
              <a:t>4</a:t>
            </a:r>
            <a:r>
              <a:rPr lang="en-US" dirty="0"/>
              <a:t> but </a:t>
            </a:r>
            <a:r>
              <a:rPr lang="en-US" dirty="0">
                <a:solidFill>
                  <a:srgbClr val="FF0000"/>
                </a:solidFill>
              </a:rPr>
              <a:t>(3, 4) </a:t>
            </a:r>
            <a:r>
              <a:rPr lang="en-US" dirty="0">
                <a:solidFill>
                  <a:srgbClr val="FF0000"/>
                </a:solidFill>
                <a:sym typeface="Symbol"/>
              </a:rPr>
              <a:t></a:t>
            </a:r>
            <a:r>
              <a:rPr lang="en-US" dirty="0">
                <a:solidFill>
                  <a:srgbClr val="FF0000"/>
                </a:solidFill>
              </a:rPr>
              <a:t> R</a:t>
            </a:r>
            <a:r>
              <a:rPr lang="en-US" baseline="-25000" dirty="0">
                <a:solidFill>
                  <a:srgbClr val="FF0000"/>
                </a:solidFill>
              </a:rPr>
              <a:t>4</a:t>
            </a:r>
            <a:r>
              <a:rPr lang="en-US" dirty="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20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a:solidFill>
                  <a:srgbClr val="0070C0"/>
                </a:solidFill>
              </a:rPr>
              <a:t>DIRECTED GRAPH OF A SYMMETRIC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49</a:t>
            </a:fld>
            <a:endParaRPr lang="en-US"/>
          </a:p>
        </p:txBody>
      </p:sp>
      <p:sp>
        <p:nvSpPr>
          <p:cNvPr id="4" name="Content Placeholder 3"/>
          <p:cNvSpPr>
            <a:spLocks noGrp="1"/>
          </p:cNvSpPr>
          <p:nvPr>
            <p:ph sz="quarter" idx="1"/>
          </p:nvPr>
        </p:nvSpPr>
        <p:spPr/>
        <p:txBody>
          <a:bodyPr/>
          <a:lstStyle/>
          <a:p>
            <a:r>
              <a:rPr lang="en-US" dirty="0"/>
              <a:t>For a </a:t>
            </a:r>
            <a:r>
              <a:rPr lang="en-US" dirty="0">
                <a:solidFill>
                  <a:srgbClr val="FF0000"/>
                </a:solidFill>
              </a:rPr>
              <a:t>symmetric directed graph</a:t>
            </a:r>
            <a:r>
              <a:rPr lang="en-US" dirty="0"/>
              <a:t> whenever there is an arrow going from one point of the graph to a second, there is an 	arrow going from the second point back to the first.</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50</a:t>
            </a:fld>
            <a:endParaRPr lang="en-US"/>
          </a:p>
        </p:txBody>
      </p:sp>
      <p:sp>
        <p:nvSpPr>
          <p:cNvPr id="4" name="Content Placeholder 3"/>
          <p:cNvSpPr>
            <a:spLocks noGrp="1"/>
          </p:cNvSpPr>
          <p:nvPr>
            <p:ph sz="quarter" idx="1"/>
          </p:nvPr>
        </p:nvSpPr>
        <p:spPr/>
        <p:txBody>
          <a:bodyPr/>
          <a:lstStyle/>
          <a:p>
            <a:r>
              <a:rPr lang="en-US" dirty="0"/>
              <a:t>Let A = </a:t>
            </a:r>
            <a:r>
              <a:rPr lang="en-US" dirty="0">
                <a:solidFill>
                  <a:srgbClr val="FF0000"/>
                </a:solidFill>
              </a:rPr>
              <a:t>{1, 2, 3, 4}</a:t>
            </a:r>
            <a:r>
              <a:rPr lang="en-US" dirty="0"/>
              <a:t> and define relations </a:t>
            </a:r>
            <a:r>
              <a:rPr lang="en-US" dirty="0">
                <a:solidFill>
                  <a:srgbClr val="FF0000"/>
                </a:solidFill>
              </a:rPr>
              <a:t>R</a:t>
            </a:r>
            <a:r>
              <a:rPr lang="en-US" baseline="-25000" dirty="0">
                <a:solidFill>
                  <a:srgbClr val="FF0000"/>
                </a:solidFill>
              </a:rPr>
              <a:t>1</a:t>
            </a:r>
            <a:r>
              <a:rPr lang="en-US" dirty="0"/>
              <a:t>, </a:t>
            </a:r>
            <a:r>
              <a:rPr lang="en-US" dirty="0">
                <a:solidFill>
                  <a:srgbClr val="FF0000"/>
                </a:solidFill>
              </a:rPr>
              <a:t>R</a:t>
            </a:r>
            <a:r>
              <a:rPr lang="en-US" baseline="-25000" dirty="0">
                <a:solidFill>
                  <a:srgbClr val="FF0000"/>
                </a:solidFill>
              </a:rPr>
              <a:t>2</a:t>
            </a:r>
            <a:r>
              <a:rPr lang="en-US" dirty="0"/>
              <a:t>, </a:t>
            </a:r>
            <a:r>
              <a:rPr lang="en-US" dirty="0">
                <a:solidFill>
                  <a:srgbClr val="FF0000"/>
                </a:solidFill>
              </a:rPr>
              <a:t>R</a:t>
            </a:r>
            <a:r>
              <a:rPr lang="en-US" baseline="-25000" dirty="0">
                <a:solidFill>
                  <a:srgbClr val="FF0000"/>
                </a:solidFill>
              </a:rPr>
              <a:t>3</a:t>
            </a:r>
            <a:r>
              <a:rPr lang="en-US" dirty="0"/>
              <a:t>, and </a:t>
            </a:r>
            <a:r>
              <a:rPr lang="en-US" dirty="0">
                <a:solidFill>
                  <a:srgbClr val="FF0000"/>
                </a:solidFill>
              </a:rPr>
              <a:t>R</a:t>
            </a:r>
            <a:r>
              <a:rPr lang="en-US" baseline="-25000" dirty="0">
                <a:solidFill>
                  <a:srgbClr val="FF0000"/>
                </a:solidFill>
              </a:rPr>
              <a:t>4</a:t>
            </a:r>
            <a:r>
              <a:rPr lang="en-US" dirty="0"/>
              <a:t> on </a:t>
            </a:r>
            <a:r>
              <a:rPr lang="en-US" dirty="0">
                <a:solidFill>
                  <a:srgbClr val="FF0000"/>
                </a:solidFill>
              </a:rPr>
              <a:t>A</a:t>
            </a:r>
            <a:r>
              <a:rPr lang="en-US" dirty="0"/>
              <a:t> by the </a:t>
            </a:r>
            <a:r>
              <a:rPr lang="en-US" dirty="0">
                <a:solidFill>
                  <a:srgbClr val="FF0000"/>
                </a:solidFill>
              </a:rPr>
              <a:t>directed graphs</a:t>
            </a:r>
            <a:r>
              <a:rPr lang="en-US" dirty="0"/>
              <a:t>:</a:t>
            </a:r>
          </a:p>
          <a:p>
            <a:endParaRPr lang="en-US" dirty="0"/>
          </a:p>
          <a:p>
            <a:pPr>
              <a:buNone/>
            </a:pPr>
            <a:r>
              <a:rPr lang="en-US" dirty="0"/>
              <a:t>		R</a:t>
            </a:r>
            <a:r>
              <a:rPr lang="en-US" baseline="-25000" dirty="0"/>
              <a:t>1</a:t>
            </a:r>
            <a:r>
              <a:rPr lang="en-US" dirty="0"/>
              <a:t> = </a:t>
            </a:r>
            <a:r>
              <a:rPr lang="en-US" dirty="0">
                <a:solidFill>
                  <a:srgbClr val="FF0000"/>
                </a:solidFill>
              </a:rPr>
              <a:t>{(1, 1), (1, 3), (2, 4), (3, 1), (4, 2)}</a:t>
            </a:r>
          </a:p>
          <a:p>
            <a:pPr>
              <a:buNone/>
            </a:pPr>
            <a:r>
              <a:rPr lang="en-US" dirty="0"/>
              <a:t>		R</a:t>
            </a:r>
            <a:r>
              <a:rPr lang="en-US" baseline="-25000" dirty="0"/>
              <a:t>2</a:t>
            </a:r>
            <a:r>
              <a:rPr lang="en-US" dirty="0"/>
              <a:t> = </a:t>
            </a:r>
            <a:r>
              <a:rPr lang="en-US" dirty="0">
                <a:solidFill>
                  <a:srgbClr val="FF0000"/>
                </a:solidFill>
              </a:rPr>
              <a:t>{(1, 1), (2, 2), (3, 3), (4, 4)}</a:t>
            </a:r>
          </a:p>
          <a:p>
            <a:pPr>
              <a:buNone/>
            </a:pPr>
            <a:r>
              <a:rPr lang="en-US" dirty="0"/>
              <a:t>		R</a:t>
            </a:r>
            <a:r>
              <a:rPr lang="en-US" baseline="-25000" dirty="0"/>
              <a:t>3</a:t>
            </a:r>
            <a:r>
              <a:rPr lang="en-US" dirty="0"/>
              <a:t> = </a:t>
            </a:r>
            <a:r>
              <a:rPr lang="en-US" dirty="0">
                <a:solidFill>
                  <a:srgbClr val="FF0000"/>
                </a:solidFill>
              </a:rPr>
              <a:t>{(2, 2), (2, 3), (3, 4)}</a:t>
            </a:r>
          </a:p>
          <a:p>
            <a:pPr>
              <a:buNone/>
            </a:pPr>
            <a:r>
              <a:rPr lang="en-US" dirty="0"/>
              <a:t>		R</a:t>
            </a:r>
            <a:r>
              <a:rPr lang="en-US" baseline="-25000" dirty="0"/>
              <a:t>4</a:t>
            </a:r>
            <a:r>
              <a:rPr lang="en-US" dirty="0"/>
              <a:t>= </a:t>
            </a:r>
            <a:r>
              <a:rPr lang="en-US" dirty="0">
                <a:solidFill>
                  <a:srgbClr val="FF0000"/>
                </a:solidFill>
              </a:rPr>
              <a:t>{(1, 1), (2, 2), (3, 3), (4, 3), (4, 4)}</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E19944-04AC-4CD8-BA69-63C2A678C21A}" type="slidenum">
              <a:rPr lang="en-US" smtClean="0"/>
              <a:pPr/>
              <a:t>51</a:t>
            </a:fld>
            <a:endParaRPr lang="en-US"/>
          </a:p>
        </p:txBody>
      </p:sp>
      <p:pic>
        <p:nvPicPr>
          <p:cNvPr id="5" name="Picture 4"/>
          <p:cNvPicPr/>
          <p:nvPr/>
        </p:nvPicPr>
        <p:blipFill>
          <a:blip r:embed="rId2"/>
          <a:srcRect/>
          <a:stretch>
            <a:fillRect/>
          </a:stretch>
        </p:blipFill>
        <p:spPr bwMode="auto">
          <a:xfrm>
            <a:off x="1981200" y="152400"/>
            <a:ext cx="8229600" cy="2667000"/>
          </a:xfrm>
          <a:prstGeom prst="rect">
            <a:avLst/>
          </a:prstGeom>
          <a:noFill/>
          <a:ln w="9525">
            <a:noFill/>
            <a:miter lim="800000"/>
            <a:headEnd/>
            <a:tailEnd/>
          </a:ln>
        </p:spPr>
      </p:pic>
      <p:pic>
        <p:nvPicPr>
          <p:cNvPr id="6" name="Picture 5"/>
          <p:cNvPicPr/>
          <p:nvPr/>
        </p:nvPicPr>
        <p:blipFill>
          <a:blip r:embed="rId3"/>
          <a:srcRect/>
          <a:stretch>
            <a:fillRect/>
          </a:stretch>
        </p:blipFill>
        <p:spPr bwMode="auto">
          <a:xfrm>
            <a:off x="2133600" y="2895600"/>
            <a:ext cx="8229600" cy="3352800"/>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a:solidFill>
                  <a:srgbClr val="0070C0"/>
                </a:solidFill>
              </a:rPr>
              <a:t>MATRIX REPRESENTATION OF A SYMMETRIC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52</a:t>
            </a:fld>
            <a:endParaRPr lang="en-US"/>
          </a:p>
        </p:txBody>
      </p:sp>
      <p:sp>
        <p:nvSpPr>
          <p:cNvPr id="4" name="Content Placeholder 3"/>
          <p:cNvSpPr>
            <a:spLocks noGrp="1"/>
          </p:cNvSpPr>
          <p:nvPr>
            <p:ph sz="quarter" idx="1"/>
          </p:nvPr>
        </p:nvSpPr>
        <p:spPr>
          <a:xfrm>
            <a:off x="1136904" y="1690688"/>
            <a:ext cx="10174224" cy="4581779"/>
          </a:xfrm>
        </p:spPr>
        <p:txBody>
          <a:bodyPr>
            <a:noAutofit/>
          </a:bodyPr>
          <a:lstStyle/>
          <a:p>
            <a:pPr>
              <a:lnSpc>
                <a:spcPct val="110000"/>
              </a:lnSpc>
            </a:pPr>
            <a:r>
              <a:rPr lang="en-US" sz="2400" dirty="0"/>
              <a:t>Let</a:t>
            </a:r>
          </a:p>
          <a:p>
            <a:pPr>
              <a:lnSpc>
                <a:spcPct val="110000"/>
              </a:lnSpc>
              <a:buNone/>
            </a:pPr>
            <a:r>
              <a:rPr lang="en-US" sz="2400" dirty="0"/>
              <a:t>		</a:t>
            </a:r>
            <a:r>
              <a:rPr lang="en-US" sz="2400" dirty="0">
                <a:solidFill>
                  <a:srgbClr val="FF0000"/>
                </a:solidFill>
              </a:rPr>
              <a:t> A = {a</a:t>
            </a:r>
            <a:r>
              <a:rPr lang="en-US" sz="2400" baseline="-25000" dirty="0">
                <a:solidFill>
                  <a:srgbClr val="FF0000"/>
                </a:solidFill>
              </a:rPr>
              <a:t>1</a:t>
            </a:r>
            <a:r>
              <a:rPr lang="en-US" sz="2400" dirty="0">
                <a:solidFill>
                  <a:srgbClr val="FF0000"/>
                </a:solidFill>
              </a:rPr>
              <a:t>, a</a:t>
            </a:r>
            <a:r>
              <a:rPr lang="en-US" sz="2400" baseline="-25000" dirty="0">
                <a:solidFill>
                  <a:srgbClr val="FF0000"/>
                </a:solidFill>
              </a:rPr>
              <a:t>2</a:t>
            </a:r>
            <a:r>
              <a:rPr lang="en-US" sz="2400" dirty="0">
                <a:solidFill>
                  <a:srgbClr val="FF0000"/>
                </a:solidFill>
              </a:rPr>
              <a:t>, …, a</a:t>
            </a:r>
            <a:r>
              <a:rPr lang="en-US" sz="2400" baseline="-25000" dirty="0">
                <a:solidFill>
                  <a:srgbClr val="FF0000"/>
                </a:solidFill>
              </a:rPr>
              <a:t>n</a:t>
            </a:r>
            <a:r>
              <a:rPr lang="en-US" sz="2400" dirty="0">
                <a:solidFill>
                  <a:srgbClr val="FF0000"/>
                </a:solidFill>
              </a:rPr>
              <a:t>}</a:t>
            </a:r>
            <a:r>
              <a:rPr lang="en-US" sz="2400" dirty="0"/>
              <a:t>. </a:t>
            </a:r>
          </a:p>
          <a:p>
            <a:pPr>
              <a:lnSpc>
                <a:spcPct val="110000"/>
              </a:lnSpc>
              <a:buNone/>
            </a:pPr>
            <a:r>
              <a:rPr lang="en-US" sz="2400" dirty="0"/>
              <a:t>	A </a:t>
            </a:r>
            <a:r>
              <a:rPr lang="en-US" sz="2400" dirty="0">
                <a:solidFill>
                  <a:srgbClr val="FF0000"/>
                </a:solidFill>
              </a:rPr>
              <a:t>relation R</a:t>
            </a:r>
            <a:r>
              <a:rPr lang="en-US" sz="2400" dirty="0"/>
              <a:t> on </a:t>
            </a:r>
            <a:r>
              <a:rPr lang="en-US" sz="2400" dirty="0">
                <a:solidFill>
                  <a:srgbClr val="FF0000"/>
                </a:solidFill>
              </a:rPr>
              <a:t>A</a:t>
            </a:r>
            <a:r>
              <a:rPr lang="en-US" sz="2400" dirty="0"/>
              <a:t> is </a:t>
            </a:r>
            <a:r>
              <a:rPr lang="en-US" sz="2400" dirty="0">
                <a:solidFill>
                  <a:srgbClr val="FF0000"/>
                </a:solidFill>
              </a:rPr>
              <a:t>symmetric</a:t>
            </a:r>
            <a:r>
              <a:rPr lang="en-US" sz="2400" dirty="0"/>
              <a:t> if  and only if for all </a:t>
            </a:r>
          </a:p>
          <a:p>
            <a:pPr>
              <a:lnSpc>
                <a:spcPct val="110000"/>
              </a:lnSpc>
              <a:buNone/>
            </a:pPr>
            <a:r>
              <a:rPr lang="en-US" sz="2400" dirty="0"/>
              <a:t>	</a:t>
            </a:r>
            <a:r>
              <a:rPr lang="en-US" sz="2400" dirty="0" err="1"/>
              <a:t>a</a:t>
            </a:r>
            <a:r>
              <a:rPr lang="en-US" sz="2400" baseline="-25000" dirty="0" err="1"/>
              <a:t>i</a:t>
            </a:r>
            <a:r>
              <a:rPr lang="en-US" sz="2400" dirty="0"/>
              <a:t>, </a:t>
            </a:r>
            <a:r>
              <a:rPr lang="en-US" sz="2400" dirty="0" err="1"/>
              <a:t>a</a:t>
            </a:r>
            <a:r>
              <a:rPr lang="en-US" sz="2400" baseline="-25000" dirty="0" err="1"/>
              <a:t>j</a:t>
            </a:r>
            <a:r>
              <a:rPr lang="en-US" sz="2400" dirty="0"/>
              <a:t> </a:t>
            </a:r>
            <a:r>
              <a:rPr lang="en-US" sz="2400" dirty="0">
                <a:sym typeface="Symbol"/>
              </a:rPr>
              <a:t></a:t>
            </a:r>
            <a:r>
              <a:rPr lang="en-US" sz="2400" dirty="0"/>
              <a:t> A, if </a:t>
            </a:r>
            <a:r>
              <a:rPr lang="en-US" sz="2400" dirty="0">
                <a:solidFill>
                  <a:srgbClr val="FF0000"/>
                </a:solidFill>
              </a:rPr>
              <a:t>(</a:t>
            </a:r>
            <a:r>
              <a:rPr lang="en-US" sz="2400" dirty="0" err="1">
                <a:solidFill>
                  <a:srgbClr val="FF0000"/>
                </a:solidFill>
              </a:rPr>
              <a:t>a</a:t>
            </a:r>
            <a:r>
              <a:rPr lang="en-US" sz="2400" baseline="-25000" dirty="0" err="1">
                <a:solidFill>
                  <a:srgbClr val="FF0000"/>
                </a:solidFill>
              </a:rPr>
              <a:t>i</a:t>
            </a:r>
            <a:r>
              <a:rPr lang="en-US" sz="2400" dirty="0">
                <a:solidFill>
                  <a:srgbClr val="FF0000"/>
                </a:solidFill>
              </a:rPr>
              <a:t>, </a:t>
            </a:r>
            <a:r>
              <a:rPr lang="en-US" sz="2400" dirty="0" err="1">
                <a:solidFill>
                  <a:srgbClr val="FF0000"/>
                </a:solidFill>
              </a:rPr>
              <a:t>a</a:t>
            </a:r>
            <a:r>
              <a:rPr lang="en-US" sz="2400" baseline="-25000" dirty="0" err="1">
                <a:solidFill>
                  <a:srgbClr val="FF0000"/>
                </a:solidFill>
              </a:rPr>
              <a:t>j</a:t>
            </a:r>
            <a:r>
              <a:rPr lang="en-US" sz="2400" dirty="0">
                <a:solidFill>
                  <a:srgbClr val="FF0000"/>
                </a:solidFill>
              </a:rPr>
              <a:t>) </a:t>
            </a:r>
            <a:r>
              <a:rPr lang="en-US" sz="2400" dirty="0">
                <a:solidFill>
                  <a:srgbClr val="FF0000"/>
                </a:solidFill>
                <a:sym typeface="Symbol"/>
              </a:rPr>
              <a:t></a:t>
            </a:r>
            <a:r>
              <a:rPr lang="en-US" sz="2400" dirty="0">
                <a:solidFill>
                  <a:srgbClr val="FF0000"/>
                </a:solidFill>
              </a:rPr>
              <a:t>R</a:t>
            </a:r>
            <a:r>
              <a:rPr lang="en-US" sz="2400" dirty="0"/>
              <a:t> then (</a:t>
            </a:r>
            <a:r>
              <a:rPr lang="en-US" sz="2400" dirty="0" err="1"/>
              <a:t>a</a:t>
            </a:r>
            <a:r>
              <a:rPr lang="en-US" sz="2400" baseline="-25000" dirty="0" err="1"/>
              <a:t>j</a:t>
            </a:r>
            <a:r>
              <a:rPr lang="en-US" sz="2400" dirty="0"/>
              <a:t>, </a:t>
            </a:r>
            <a:r>
              <a:rPr lang="en-US" sz="2400" dirty="0" err="1"/>
              <a:t>a</a:t>
            </a:r>
            <a:r>
              <a:rPr lang="en-US" sz="2400" baseline="-25000" dirty="0" err="1"/>
              <a:t>i</a:t>
            </a:r>
            <a:r>
              <a:rPr lang="en-US" sz="2400" dirty="0"/>
              <a:t>)</a:t>
            </a:r>
            <a:r>
              <a:rPr lang="en-US" sz="2400" dirty="0">
                <a:sym typeface="Symbol"/>
              </a:rPr>
              <a:t></a:t>
            </a:r>
            <a:r>
              <a:rPr lang="en-US" sz="2400" dirty="0"/>
              <a:t>R. </a:t>
            </a:r>
          </a:p>
          <a:p>
            <a:pPr>
              <a:lnSpc>
                <a:spcPct val="110000"/>
              </a:lnSpc>
            </a:pPr>
            <a:endParaRPr lang="en-US" sz="2400" dirty="0"/>
          </a:p>
          <a:p>
            <a:pPr>
              <a:lnSpc>
                <a:spcPct val="110000"/>
              </a:lnSpc>
            </a:pPr>
            <a:r>
              <a:rPr lang="en-US" sz="2400" dirty="0"/>
              <a:t>Accordingly, </a:t>
            </a:r>
            <a:r>
              <a:rPr lang="en-US" sz="2400" dirty="0">
                <a:solidFill>
                  <a:srgbClr val="FF0000"/>
                </a:solidFill>
              </a:rPr>
              <a:t>R</a:t>
            </a:r>
            <a:r>
              <a:rPr lang="en-US" sz="2400" dirty="0"/>
              <a:t> is </a:t>
            </a:r>
            <a:r>
              <a:rPr lang="en-US" sz="2400" dirty="0">
                <a:solidFill>
                  <a:srgbClr val="FF0000"/>
                </a:solidFill>
              </a:rPr>
              <a:t>symmetric</a:t>
            </a:r>
            <a:r>
              <a:rPr lang="en-US" sz="2400" dirty="0"/>
              <a:t> if the elements in the </a:t>
            </a:r>
            <a:r>
              <a:rPr lang="en-US" sz="2400" dirty="0" err="1">
                <a:solidFill>
                  <a:srgbClr val="FF0000"/>
                </a:solidFill>
              </a:rPr>
              <a:t>i</a:t>
            </a:r>
            <a:r>
              <a:rPr lang="en-US" sz="2400" baseline="30000" dirty="0" err="1">
                <a:solidFill>
                  <a:srgbClr val="FF0000"/>
                </a:solidFill>
              </a:rPr>
              <a:t>th</a:t>
            </a:r>
            <a:r>
              <a:rPr lang="en-US" sz="2400" dirty="0">
                <a:solidFill>
                  <a:srgbClr val="FF0000"/>
                </a:solidFill>
              </a:rPr>
              <a:t> row</a:t>
            </a:r>
            <a:r>
              <a:rPr lang="en-US" sz="2400" dirty="0"/>
              <a:t> are the </a:t>
            </a:r>
            <a:r>
              <a:rPr lang="en-US" sz="2400" dirty="0">
                <a:solidFill>
                  <a:srgbClr val="FF0000"/>
                </a:solidFill>
              </a:rPr>
              <a:t>same</a:t>
            </a:r>
            <a:r>
              <a:rPr lang="en-US" sz="2400" dirty="0"/>
              <a:t> as the elements in the </a:t>
            </a:r>
            <a:r>
              <a:rPr lang="en-US" sz="2400" dirty="0" err="1">
                <a:solidFill>
                  <a:srgbClr val="FF0000"/>
                </a:solidFill>
              </a:rPr>
              <a:t>i</a:t>
            </a:r>
            <a:r>
              <a:rPr lang="en-US" sz="2400" baseline="30000" dirty="0" err="1">
                <a:solidFill>
                  <a:srgbClr val="FF0000"/>
                </a:solidFill>
              </a:rPr>
              <a:t>th</a:t>
            </a:r>
            <a:r>
              <a:rPr lang="en-US" sz="2400" dirty="0">
                <a:solidFill>
                  <a:srgbClr val="FF0000"/>
                </a:solidFill>
              </a:rPr>
              <a:t> column</a:t>
            </a:r>
            <a:r>
              <a:rPr lang="en-US" sz="2400" dirty="0"/>
              <a:t> of the matrix </a:t>
            </a:r>
            <a:r>
              <a:rPr lang="en-US" sz="2400" dirty="0">
                <a:solidFill>
                  <a:srgbClr val="FF0000"/>
                </a:solidFill>
              </a:rPr>
              <a:t>M</a:t>
            </a:r>
            <a:r>
              <a:rPr lang="en-US" sz="2400" dirty="0"/>
              <a:t> representing R. </a:t>
            </a:r>
          </a:p>
          <a:p>
            <a:pPr>
              <a:lnSpc>
                <a:spcPct val="110000"/>
              </a:lnSpc>
            </a:pPr>
            <a:endParaRPr lang="en-US" sz="2400" dirty="0"/>
          </a:p>
          <a:p>
            <a:pPr>
              <a:lnSpc>
                <a:spcPct val="110000"/>
              </a:lnSpc>
            </a:pPr>
            <a:r>
              <a:rPr lang="en-US" sz="2400" dirty="0"/>
              <a:t>More precisely, </a:t>
            </a:r>
            <a:r>
              <a:rPr lang="en-US" sz="2400" dirty="0">
                <a:solidFill>
                  <a:srgbClr val="FF0000"/>
                </a:solidFill>
              </a:rPr>
              <a:t>M</a:t>
            </a:r>
            <a:r>
              <a:rPr lang="en-US" sz="2400" dirty="0"/>
              <a:t> is a </a:t>
            </a:r>
            <a:r>
              <a:rPr lang="en-US" sz="2400" dirty="0">
                <a:solidFill>
                  <a:srgbClr val="FF0000"/>
                </a:solidFill>
              </a:rPr>
              <a:t>symmetric matrix</a:t>
            </a:r>
            <a:r>
              <a:rPr lang="en-US" sz="2400" dirty="0"/>
              <a:t>. i.e. </a:t>
            </a:r>
            <a:r>
              <a:rPr lang="en-US" sz="2400" dirty="0">
                <a:solidFill>
                  <a:srgbClr val="FF0000"/>
                </a:solidFill>
              </a:rPr>
              <a:t>M</a:t>
            </a:r>
            <a:r>
              <a:rPr lang="en-US" sz="2400" dirty="0"/>
              <a:t> = </a:t>
            </a:r>
            <a:r>
              <a:rPr lang="en-US" sz="2400" dirty="0">
                <a:solidFill>
                  <a:srgbClr val="FF0000"/>
                </a:solidFill>
              </a:rPr>
              <a:t>M</a:t>
            </a:r>
            <a:r>
              <a:rPr lang="en-US" sz="2400" baseline="30000" dirty="0">
                <a:solidFill>
                  <a:srgbClr val="FF0000"/>
                </a:solidFill>
              </a:rPr>
              <a:t>t</a:t>
            </a:r>
            <a:endParaRPr lang="en-US" sz="2400" dirty="0">
              <a:solidFill>
                <a:srgbClr val="FF0000"/>
              </a:solidFill>
            </a:endParaRPr>
          </a:p>
          <a:p>
            <a:pPr>
              <a:lnSpc>
                <a:spcPct val="110000"/>
              </a:lnSpc>
            </a:pP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53</a:t>
            </a:fld>
            <a:endParaRPr lang="en-US"/>
          </a:p>
        </p:txBody>
      </p:sp>
      <p:sp>
        <p:nvSpPr>
          <p:cNvPr id="4" name="Content Placeholder 3"/>
          <p:cNvSpPr>
            <a:spLocks noGrp="1"/>
          </p:cNvSpPr>
          <p:nvPr>
            <p:ph sz="quarter" idx="1"/>
          </p:nvPr>
        </p:nvSpPr>
        <p:spPr/>
        <p:txBody>
          <a:bodyPr/>
          <a:lstStyle/>
          <a:p>
            <a:r>
              <a:rPr lang="en-US" dirty="0"/>
              <a:t>The relation R = </a:t>
            </a:r>
            <a:r>
              <a:rPr lang="en-US" dirty="0">
                <a:solidFill>
                  <a:srgbClr val="FF0000"/>
                </a:solidFill>
              </a:rPr>
              <a:t>{(1, 3), (2, 2), (3,1), (3, 3)}</a:t>
            </a:r>
            <a:r>
              <a:rPr lang="en-US" dirty="0"/>
              <a:t> on A = </a:t>
            </a:r>
            <a:r>
              <a:rPr lang="en-US" dirty="0">
                <a:solidFill>
                  <a:srgbClr val="FF0000"/>
                </a:solidFill>
              </a:rPr>
              <a:t>{1, 2, 3}</a:t>
            </a:r>
            <a:r>
              <a:rPr lang="en-US" dirty="0"/>
              <a:t> represented by the following </a:t>
            </a:r>
            <a:r>
              <a:rPr lang="en-US" dirty="0">
                <a:solidFill>
                  <a:srgbClr val="FF0000"/>
                </a:solidFill>
              </a:rPr>
              <a:t>matrix M</a:t>
            </a:r>
            <a:r>
              <a:rPr lang="en-US" dirty="0"/>
              <a:t> is </a:t>
            </a:r>
            <a:r>
              <a:rPr lang="en-US" dirty="0">
                <a:solidFill>
                  <a:srgbClr val="FF0000"/>
                </a:solidFill>
              </a:rPr>
              <a:t>symmetric</a:t>
            </a:r>
            <a:r>
              <a:rPr lang="en-US" dirty="0"/>
              <a:t>.</a:t>
            </a:r>
          </a:p>
          <a:p>
            <a:endParaRPr lang="en-US" dirty="0"/>
          </a:p>
        </p:txBody>
      </p:sp>
      <p:graphicFrame>
        <p:nvGraphicFramePr>
          <p:cNvPr id="226306" name="Object 2"/>
          <p:cNvGraphicFramePr>
            <a:graphicFrameLocks noChangeAspect="1"/>
          </p:cNvGraphicFramePr>
          <p:nvPr>
            <p:extLst>
              <p:ext uri="{D42A27DB-BD31-4B8C-83A1-F6EECF244321}">
                <p14:modId xmlns:p14="http://schemas.microsoft.com/office/powerpoint/2010/main" val="3625140258"/>
              </p:ext>
            </p:extLst>
          </p:nvPr>
        </p:nvGraphicFramePr>
        <p:xfrm>
          <a:off x="4498462" y="3237753"/>
          <a:ext cx="2597668" cy="2235201"/>
        </p:xfrm>
        <a:graphic>
          <a:graphicData uri="http://schemas.openxmlformats.org/presentationml/2006/ole">
            <mc:AlternateContent xmlns:mc="http://schemas.openxmlformats.org/markup-compatibility/2006">
              <mc:Choice xmlns:v="urn:schemas-microsoft-com:vml" Requires="v">
                <p:oleObj spid="_x0000_s23559" r:id="rId3" imgW="1091880" imgH="939600" progId="">
                  <p:embed/>
                </p:oleObj>
              </mc:Choice>
              <mc:Fallback>
                <p:oleObj r:id="rId3" imgW="1091880" imgH="939600" progId="">
                  <p:embed/>
                  <p:pic>
                    <p:nvPicPr>
                      <p:cNvPr id="22630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8462" y="3237753"/>
                        <a:ext cx="2597668" cy="22352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26306"/>
                                        </p:tgtEl>
                                        <p:attrNameLst>
                                          <p:attrName>style.visibility</p:attrName>
                                        </p:attrNameLst>
                                      </p:cBhvr>
                                      <p:to>
                                        <p:strVal val="visible"/>
                                      </p:to>
                                    </p:set>
                                    <p:animEffect transition="in" filter="checkerboard(across)">
                                      <p:cBhvr>
                                        <p:cTn id="12" dur="500"/>
                                        <p:tgtEl>
                                          <p:spTgt spid="226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TRANSITIVE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54</a:t>
            </a:fld>
            <a:endParaRPr lang="en-US"/>
          </a:p>
        </p:txBody>
      </p:sp>
      <p:sp>
        <p:nvSpPr>
          <p:cNvPr id="4" name="Content Placeholder 3"/>
          <p:cNvSpPr>
            <a:spLocks noGrp="1"/>
          </p:cNvSpPr>
          <p:nvPr>
            <p:ph sz="quarter" idx="1"/>
          </p:nvPr>
        </p:nvSpPr>
        <p:spPr>
          <a:xfrm>
            <a:off x="1069669" y="1919288"/>
            <a:ext cx="9829800" cy="4802187"/>
          </a:xfrm>
        </p:spPr>
        <p:txBody>
          <a:bodyPr>
            <a:normAutofit fontScale="77500" lnSpcReduction="20000"/>
          </a:bodyPr>
          <a:lstStyle/>
          <a:p>
            <a:pPr>
              <a:lnSpc>
                <a:spcPct val="120000"/>
              </a:lnSpc>
            </a:pPr>
            <a:r>
              <a:rPr lang="en-US" dirty="0"/>
              <a:t>Let </a:t>
            </a:r>
            <a:r>
              <a:rPr lang="en-US" dirty="0">
                <a:solidFill>
                  <a:srgbClr val="FF0000"/>
                </a:solidFill>
              </a:rPr>
              <a:t>R</a:t>
            </a:r>
            <a:r>
              <a:rPr lang="en-US" dirty="0"/>
              <a:t> be a </a:t>
            </a:r>
            <a:r>
              <a:rPr lang="en-US" dirty="0">
                <a:solidFill>
                  <a:srgbClr val="FF0000"/>
                </a:solidFill>
              </a:rPr>
              <a:t>relation</a:t>
            </a:r>
            <a:r>
              <a:rPr lang="en-US" dirty="0"/>
              <a:t> on a set </a:t>
            </a:r>
            <a:r>
              <a:rPr lang="en-US" dirty="0">
                <a:solidFill>
                  <a:srgbClr val="FF0000"/>
                </a:solidFill>
              </a:rPr>
              <a:t>A</a:t>
            </a:r>
            <a:r>
              <a:rPr lang="en-US" dirty="0"/>
              <a:t>. </a:t>
            </a:r>
            <a:r>
              <a:rPr lang="en-US" dirty="0">
                <a:solidFill>
                  <a:srgbClr val="FF0000"/>
                </a:solidFill>
              </a:rPr>
              <a:t>R</a:t>
            </a:r>
            <a:r>
              <a:rPr lang="en-US" dirty="0"/>
              <a:t> is </a:t>
            </a:r>
            <a:r>
              <a:rPr lang="en-US" dirty="0">
                <a:solidFill>
                  <a:srgbClr val="FF0000"/>
                </a:solidFill>
              </a:rPr>
              <a:t>transitive</a:t>
            </a:r>
            <a:r>
              <a:rPr lang="en-US" dirty="0"/>
              <a:t> if and only if for all </a:t>
            </a:r>
            <a:r>
              <a:rPr lang="en-US" dirty="0">
                <a:solidFill>
                  <a:srgbClr val="FF0000"/>
                </a:solidFill>
              </a:rPr>
              <a:t>a, b, c </a:t>
            </a:r>
            <a:r>
              <a:rPr lang="en-US" dirty="0">
                <a:solidFill>
                  <a:srgbClr val="FF0000"/>
                </a:solidFill>
                <a:sym typeface="Symbol"/>
              </a:rPr>
              <a:t> </a:t>
            </a:r>
            <a:r>
              <a:rPr lang="en-US" dirty="0">
                <a:solidFill>
                  <a:srgbClr val="FF0000"/>
                </a:solidFill>
              </a:rPr>
              <a:t>A</a:t>
            </a:r>
            <a:r>
              <a:rPr lang="en-US" dirty="0"/>
              <a:t>, if </a:t>
            </a:r>
            <a:r>
              <a:rPr lang="en-US" dirty="0">
                <a:solidFill>
                  <a:srgbClr val="FF0000"/>
                </a:solidFill>
              </a:rPr>
              <a:t>(a, b) </a:t>
            </a:r>
            <a:r>
              <a:rPr lang="en-US" dirty="0">
                <a:solidFill>
                  <a:srgbClr val="FF0000"/>
                </a:solidFill>
                <a:sym typeface="Symbol"/>
              </a:rPr>
              <a:t> R</a:t>
            </a:r>
            <a:r>
              <a:rPr lang="en-US" dirty="0"/>
              <a:t> and </a:t>
            </a:r>
            <a:r>
              <a:rPr lang="en-US" dirty="0">
                <a:solidFill>
                  <a:srgbClr val="FF0000"/>
                </a:solidFill>
              </a:rPr>
              <a:t>(b, c) </a:t>
            </a:r>
            <a:r>
              <a:rPr lang="en-US" dirty="0">
                <a:solidFill>
                  <a:srgbClr val="FF0000"/>
                </a:solidFill>
                <a:sym typeface="Symbol"/>
              </a:rPr>
              <a:t> </a:t>
            </a:r>
            <a:r>
              <a:rPr lang="en-US" dirty="0">
                <a:solidFill>
                  <a:srgbClr val="FF0000"/>
                </a:solidFill>
              </a:rPr>
              <a:t>R</a:t>
            </a:r>
            <a:r>
              <a:rPr lang="en-US" dirty="0"/>
              <a:t> </a:t>
            </a:r>
          </a:p>
          <a:p>
            <a:pPr>
              <a:lnSpc>
                <a:spcPct val="120000"/>
              </a:lnSpc>
              <a:buNone/>
            </a:pPr>
            <a:r>
              <a:rPr lang="en-US" dirty="0"/>
              <a:t>	then </a:t>
            </a:r>
            <a:r>
              <a:rPr lang="en-US" dirty="0">
                <a:solidFill>
                  <a:srgbClr val="FF0000"/>
                </a:solidFill>
              </a:rPr>
              <a:t>(a, c) </a:t>
            </a:r>
            <a:r>
              <a:rPr lang="en-US" dirty="0">
                <a:solidFill>
                  <a:srgbClr val="FF0000"/>
                </a:solidFill>
                <a:sym typeface="Symbol"/>
              </a:rPr>
              <a:t> </a:t>
            </a:r>
            <a:r>
              <a:rPr lang="en-US" dirty="0">
                <a:solidFill>
                  <a:srgbClr val="FF0000"/>
                </a:solidFill>
              </a:rPr>
              <a:t>R</a:t>
            </a:r>
            <a:r>
              <a:rPr lang="en-US" dirty="0"/>
              <a:t>. </a:t>
            </a:r>
          </a:p>
          <a:p>
            <a:pPr>
              <a:lnSpc>
                <a:spcPct val="120000"/>
              </a:lnSpc>
            </a:pPr>
            <a:endParaRPr lang="en-US" dirty="0"/>
          </a:p>
          <a:p>
            <a:pPr>
              <a:lnSpc>
                <a:spcPct val="120000"/>
              </a:lnSpc>
            </a:pPr>
            <a:r>
              <a:rPr lang="en-US" dirty="0"/>
              <a:t>That is, if </a:t>
            </a:r>
            <a:r>
              <a:rPr lang="en-US" dirty="0" err="1">
                <a:solidFill>
                  <a:srgbClr val="FF0000"/>
                </a:solidFill>
              </a:rPr>
              <a:t>aRb</a:t>
            </a:r>
            <a:r>
              <a:rPr lang="en-US" dirty="0"/>
              <a:t> and </a:t>
            </a:r>
            <a:r>
              <a:rPr lang="en-US" dirty="0" err="1">
                <a:solidFill>
                  <a:srgbClr val="FF0000"/>
                </a:solidFill>
              </a:rPr>
              <a:t>bRc</a:t>
            </a:r>
            <a:r>
              <a:rPr lang="en-US" dirty="0"/>
              <a:t> then </a:t>
            </a:r>
            <a:r>
              <a:rPr lang="en-US" dirty="0" err="1">
                <a:solidFill>
                  <a:srgbClr val="FF0000"/>
                </a:solidFill>
              </a:rPr>
              <a:t>aRc</a:t>
            </a:r>
            <a:r>
              <a:rPr lang="en-US" dirty="0"/>
              <a:t>.</a:t>
            </a:r>
          </a:p>
          <a:p>
            <a:pPr>
              <a:lnSpc>
                <a:spcPct val="120000"/>
              </a:lnSpc>
            </a:pPr>
            <a:endParaRPr lang="en-US" dirty="0"/>
          </a:p>
          <a:p>
            <a:pPr>
              <a:lnSpc>
                <a:spcPct val="120000"/>
              </a:lnSpc>
            </a:pPr>
            <a:r>
              <a:rPr lang="en-US" dirty="0"/>
              <a:t>In words, if any one element is related to a second and that second element is related to a third, then the first is related to the third.</a:t>
            </a:r>
          </a:p>
          <a:p>
            <a:pPr>
              <a:lnSpc>
                <a:spcPct val="120000"/>
              </a:lnSpc>
              <a:buNone/>
            </a:pPr>
            <a:r>
              <a:rPr lang="en-US" dirty="0"/>
              <a:t>	</a:t>
            </a:r>
          </a:p>
          <a:p>
            <a:pPr>
              <a:lnSpc>
                <a:spcPct val="120000"/>
              </a:lnSpc>
            </a:pPr>
            <a:r>
              <a:rPr lang="en-US" dirty="0"/>
              <a:t>Note that the “</a:t>
            </a:r>
            <a:r>
              <a:rPr lang="en-US" dirty="0">
                <a:solidFill>
                  <a:srgbClr val="FF0000"/>
                </a:solidFill>
              </a:rPr>
              <a:t>first</a:t>
            </a:r>
            <a:r>
              <a:rPr lang="en-US" dirty="0"/>
              <a:t>”, “</a:t>
            </a:r>
            <a:r>
              <a:rPr lang="en-US" dirty="0">
                <a:solidFill>
                  <a:srgbClr val="FF0000"/>
                </a:solidFill>
              </a:rPr>
              <a:t>second</a:t>
            </a:r>
            <a:r>
              <a:rPr lang="en-US" dirty="0"/>
              <a:t>” and “</a:t>
            </a:r>
            <a:r>
              <a:rPr lang="en-US" dirty="0">
                <a:solidFill>
                  <a:srgbClr val="FF0000"/>
                </a:solidFill>
              </a:rPr>
              <a:t>third</a:t>
            </a:r>
            <a:r>
              <a:rPr lang="en-US" dirty="0"/>
              <a:t>” elements need not to be distinct.</a:t>
            </a:r>
          </a:p>
          <a:p>
            <a:pPr>
              <a:lnSpc>
                <a:spcPct val="120000"/>
              </a:lnSpc>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20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fade">
                                      <p:cBhvr>
                                        <p:cTn id="17" dur="2000"/>
                                        <p:tgtEl>
                                          <p:spTgt spid="4">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7" end="7"/>
                                            </p:txEl>
                                          </p:spTgt>
                                        </p:tgtEl>
                                        <p:attrNameLst>
                                          <p:attrName>style.visibility</p:attrName>
                                        </p:attrNameLst>
                                      </p:cBhvr>
                                      <p:to>
                                        <p:strVal val="visible"/>
                                      </p:to>
                                    </p:set>
                                    <p:animEffect transition="in" filter="fade">
                                      <p:cBhvr>
                                        <p:cTn id="22"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REMARK</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55</a:t>
            </a:fld>
            <a:endParaRPr lang="en-US"/>
          </a:p>
        </p:txBody>
      </p:sp>
      <p:sp>
        <p:nvSpPr>
          <p:cNvPr id="4" name="Content Placeholder 3"/>
          <p:cNvSpPr>
            <a:spLocks noGrp="1"/>
          </p:cNvSpPr>
          <p:nvPr>
            <p:ph sz="quarter" idx="1"/>
          </p:nvPr>
        </p:nvSpPr>
        <p:spPr/>
        <p:txBody>
          <a:bodyPr/>
          <a:lstStyle/>
          <a:p>
            <a:r>
              <a:rPr lang="en-US" dirty="0">
                <a:solidFill>
                  <a:srgbClr val="FF0000"/>
                </a:solidFill>
              </a:rPr>
              <a:t>R</a:t>
            </a:r>
            <a:r>
              <a:rPr lang="en-US" dirty="0"/>
              <a:t> is </a:t>
            </a:r>
            <a:r>
              <a:rPr lang="en-US" dirty="0">
                <a:solidFill>
                  <a:srgbClr val="FF0000"/>
                </a:solidFill>
              </a:rPr>
              <a:t>not transitive</a:t>
            </a:r>
            <a:r>
              <a:rPr lang="en-US" dirty="0"/>
              <a:t> </a:t>
            </a:r>
            <a:r>
              <a:rPr lang="en-US" dirty="0" err="1"/>
              <a:t>iff</a:t>
            </a:r>
            <a:r>
              <a:rPr lang="en-US" dirty="0"/>
              <a:t> there are elements </a:t>
            </a:r>
            <a:r>
              <a:rPr lang="en-US" dirty="0">
                <a:solidFill>
                  <a:srgbClr val="FF0000"/>
                </a:solidFill>
              </a:rPr>
              <a:t>a, b, c</a:t>
            </a:r>
            <a:r>
              <a:rPr lang="en-US" dirty="0"/>
              <a:t> in </a:t>
            </a:r>
            <a:r>
              <a:rPr lang="en-US" dirty="0">
                <a:solidFill>
                  <a:srgbClr val="FF0000"/>
                </a:solidFill>
              </a:rPr>
              <a:t>A</a:t>
            </a:r>
            <a:r>
              <a:rPr lang="en-US" dirty="0"/>
              <a:t> such that If </a:t>
            </a:r>
            <a:r>
              <a:rPr lang="en-US" dirty="0">
                <a:solidFill>
                  <a:srgbClr val="FF0000"/>
                </a:solidFill>
              </a:rPr>
              <a:t>(a, b) </a:t>
            </a:r>
            <a:r>
              <a:rPr lang="en-US" dirty="0">
                <a:solidFill>
                  <a:srgbClr val="FF0000"/>
                </a:solidFill>
                <a:sym typeface="Symbol"/>
              </a:rPr>
              <a:t> </a:t>
            </a:r>
            <a:r>
              <a:rPr lang="en-US" dirty="0">
                <a:solidFill>
                  <a:srgbClr val="FF0000"/>
                </a:solidFill>
              </a:rPr>
              <a:t>R</a:t>
            </a:r>
            <a:r>
              <a:rPr lang="en-US" dirty="0"/>
              <a:t> and </a:t>
            </a:r>
            <a:r>
              <a:rPr lang="en-US" dirty="0">
                <a:solidFill>
                  <a:srgbClr val="FF0000"/>
                </a:solidFill>
              </a:rPr>
              <a:t>(b, c) </a:t>
            </a:r>
            <a:r>
              <a:rPr lang="en-US" dirty="0">
                <a:solidFill>
                  <a:srgbClr val="FF0000"/>
                </a:solidFill>
                <a:sym typeface="Symbol"/>
              </a:rPr>
              <a:t> </a:t>
            </a:r>
            <a:r>
              <a:rPr lang="en-US" dirty="0">
                <a:solidFill>
                  <a:srgbClr val="FF0000"/>
                </a:solidFill>
              </a:rPr>
              <a:t>R</a:t>
            </a:r>
            <a:r>
              <a:rPr lang="en-US" dirty="0"/>
              <a:t> but </a:t>
            </a:r>
            <a:r>
              <a:rPr lang="en-US" dirty="0">
                <a:solidFill>
                  <a:srgbClr val="FF0000"/>
                </a:solidFill>
              </a:rPr>
              <a:t>(a, c) </a:t>
            </a:r>
            <a:r>
              <a:rPr lang="en-US" dirty="0">
                <a:solidFill>
                  <a:srgbClr val="FF0000"/>
                </a:solidFill>
                <a:sym typeface="Symbol"/>
              </a:rPr>
              <a:t> </a:t>
            </a:r>
            <a:r>
              <a:rPr lang="en-US" dirty="0">
                <a:solidFill>
                  <a:srgbClr val="FF0000"/>
                </a:solidFill>
              </a:rPr>
              <a:t>R</a:t>
            </a:r>
            <a:r>
              <a:rPr lang="en-US" dirty="0"/>
              <a:t>.</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56</a:t>
            </a:fld>
            <a:endParaRPr lang="en-US"/>
          </a:p>
        </p:txBody>
      </p:sp>
      <p:sp>
        <p:nvSpPr>
          <p:cNvPr id="4" name="Content Placeholder 3"/>
          <p:cNvSpPr>
            <a:spLocks noGrp="1"/>
          </p:cNvSpPr>
          <p:nvPr>
            <p:ph sz="quarter" idx="1"/>
          </p:nvPr>
        </p:nvSpPr>
        <p:spPr>
          <a:xfrm>
            <a:off x="1111623" y="1616075"/>
            <a:ext cx="11080377" cy="5105400"/>
          </a:xfrm>
        </p:spPr>
        <p:txBody>
          <a:bodyPr>
            <a:normAutofit/>
          </a:bodyPr>
          <a:lstStyle/>
          <a:p>
            <a:r>
              <a:rPr lang="en-US" sz="2400" dirty="0"/>
              <a:t>Let A = </a:t>
            </a:r>
            <a:r>
              <a:rPr lang="en-US" sz="2400" dirty="0">
                <a:solidFill>
                  <a:srgbClr val="FF0000"/>
                </a:solidFill>
              </a:rPr>
              <a:t>{1, 2, 3, 4}</a:t>
            </a:r>
            <a:r>
              <a:rPr lang="en-US" sz="2400" dirty="0"/>
              <a:t> and define relations </a:t>
            </a:r>
            <a:r>
              <a:rPr lang="en-US" sz="2400" dirty="0">
                <a:solidFill>
                  <a:srgbClr val="FF0000"/>
                </a:solidFill>
              </a:rPr>
              <a:t>R</a:t>
            </a:r>
            <a:r>
              <a:rPr lang="en-US" sz="2400" baseline="-25000" dirty="0">
                <a:solidFill>
                  <a:srgbClr val="FF0000"/>
                </a:solidFill>
              </a:rPr>
              <a:t>1</a:t>
            </a:r>
            <a:r>
              <a:rPr lang="en-US" sz="2400" dirty="0"/>
              <a:t>, </a:t>
            </a:r>
            <a:r>
              <a:rPr lang="en-US" sz="2400" dirty="0">
                <a:solidFill>
                  <a:srgbClr val="FF0000"/>
                </a:solidFill>
              </a:rPr>
              <a:t>R</a:t>
            </a:r>
            <a:r>
              <a:rPr lang="en-US" sz="2400" baseline="-25000" dirty="0">
                <a:solidFill>
                  <a:srgbClr val="FF0000"/>
                </a:solidFill>
              </a:rPr>
              <a:t>2</a:t>
            </a:r>
            <a:r>
              <a:rPr lang="en-US" sz="2400" dirty="0"/>
              <a:t> and </a:t>
            </a:r>
            <a:r>
              <a:rPr lang="en-US" sz="2400" dirty="0">
                <a:solidFill>
                  <a:srgbClr val="FF0000"/>
                </a:solidFill>
              </a:rPr>
              <a:t>R</a:t>
            </a:r>
            <a:r>
              <a:rPr lang="en-US" sz="2400" baseline="-25000" dirty="0">
                <a:solidFill>
                  <a:srgbClr val="FF0000"/>
                </a:solidFill>
              </a:rPr>
              <a:t>3</a:t>
            </a:r>
            <a:r>
              <a:rPr lang="en-US" sz="2400" dirty="0"/>
              <a:t> on </a:t>
            </a:r>
            <a:r>
              <a:rPr lang="en-US" sz="2400" dirty="0">
                <a:solidFill>
                  <a:srgbClr val="FF0000"/>
                </a:solidFill>
              </a:rPr>
              <a:t>A</a:t>
            </a:r>
            <a:r>
              <a:rPr lang="en-US" sz="2400" dirty="0"/>
              <a:t> as follows:</a:t>
            </a:r>
          </a:p>
          <a:p>
            <a:pPr>
              <a:buNone/>
            </a:pPr>
            <a:r>
              <a:rPr lang="en-US" sz="2400" dirty="0"/>
              <a:t>			R</a:t>
            </a:r>
            <a:r>
              <a:rPr lang="en-US" sz="2400" baseline="-25000" dirty="0"/>
              <a:t>1</a:t>
            </a:r>
            <a:r>
              <a:rPr lang="en-US" sz="2400" dirty="0"/>
              <a:t> = </a:t>
            </a:r>
            <a:r>
              <a:rPr lang="en-US" sz="2400" dirty="0">
                <a:solidFill>
                  <a:srgbClr val="FF0000"/>
                </a:solidFill>
              </a:rPr>
              <a:t>{(1, 1), (1, 2), (1, 3), (2, 3)}</a:t>
            </a:r>
          </a:p>
          <a:p>
            <a:pPr>
              <a:buNone/>
            </a:pPr>
            <a:r>
              <a:rPr lang="en-US" sz="2400" dirty="0"/>
              <a:t>			R</a:t>
            </a:r>
            <a:r>
              <a:rPr lang="en-US" sz="2400" baseline="-25000" dirty="0"/>
              <a:t>2</a:t>
            </a:r>
            <a:r>
              <a:rPr lang="en-US" sz="2400" dirty="0"/>
              <a:t> = </a:t>
            </a:r>
            <a:r>
              <a:rPr lang="en-US" sz="2400" dirty="0">
                <a:solidFill>
                  <a:srgbClr val="FF0000"/>
                </a:solidFill>
              </a:rPr>
              <a:t>{(1, 2), (1, 4), (2, 3), (3, 4)}</a:t>
            </a:r>
          </a:p>
          <a:p>
            <a:pPr>
              <a:buNone/>
            </a:pPr>
            <a:r>
              <a:rPr lang="en-US" sz="2400" dirty="0"/>
              <a:t>			R</a:t>
            </a:r>
            <a:r>
              <a:rPr lang="en-US" sz="2400" baseline="-25000" dirty="0"/>
              <a:t>3</a:t>
            </a:r>
            <a:r>
              <a:rPr lang="en-US" sz="2400" dirty="0"/>
              <a:t> = </a:t>
            </a:r>
            <a:r>
              <a:rPr lang="en-US" sz="2400" dirty="0">
                <a:solidFill>
                  <a:srgbClr val="FF0000"/>
                </a:solidFill>
              </a:rPr>
              <a:t>{(2, 1), (2, 4), (2, 3), (3,4)}</a:t>
            </a:r>
          </a:p>
          <a:p>
            <a:pPr>
              <a:buNone/>
            </a:pPr>
            <a:endParaRPr lang="en-US" sz="2400" dirty="0"/>
          </a:p>
          <a:p>
            <a:r>
              <a:rPr lang="en-US" sz="2400" dirty="0"/>
              <a:t>Then </a:t>
            </a:r>
            <a:r>
              <a:rPr lang="en-US" sz="2400" dirty="0">
                <a:solidFill>
                  <a:srgbClr val="FF0000"/>
                </a:solidFill>
              </a:rPr>
              <a:t>R</a:t>
            </a:r>
            <a:r>
              <a:rPr lang="en-US" sz="2400" baseline="-25000" dirty="0">
                <a:solidFill>
                  <a:srgbClr val="FF0000"/>
                </a:solidFill>
              </a:rPr>
              <a:t>1</a:t>
            </a:r>
            <a:r>
              <a:rPr lang="en-US" sz="2400" dirty="0"/>
              <a:t> is </a:t>
            </a:r>
            <a:r>
              <a:rPr lang="en-US" sz="2400" dirty="0">
                <a:solidFill>
                  <a:srgbClr val="FF0000"/>
                </a:solidFill>
              </a:rPr>
              <a:t>transitive</a:t>
            </a:r>
            <a:r>
              <a:rPr lang="en-US" sz="2400" dirty="0"/>
              <a:t> because </a:t>
            </a:r>
            <a:r>
              <a:rPr lang="en-US" sz="2400" dirty="0">
                <a:solidFill>
                  <a:srgbClr val="FF0000"/>
                </a:solidFill>
              </a:rPr>
              <a:t>(1, 1), (1, 2)</a:t>
            </a:r>
            <a:r>
              <a:rPr lang="en-US" sz="2400" dirty="0"/>
              <a:t> are in </a:t>
            </a:r>
            <a:r>
              <a:rPr lang="en-US" sz="2400" dirty="0">
                <a:solidFill>
                  <a:srgbClr val="FF0000"/>
                </a:solidFill>
              </a:rPr>
              <a:t>R</a:t>
            </a:r>
            <a:r>
              <a:rPr lang="en-US" sz="2400" dirty="0"/>
              <a:t> then to be </a:t>
            </a:r>
            <a:r>
              <a:rPr lang="en-US" sz="2400" dirty="0">
                <a:solidFill>
                  <a:srgbClr val="FF0000"/>
                </a:solidFill>
              </a:rPr>
              <a:t>transitive relation (1,2)</a:t>
            </a:r>
            <a:r>
              <a:rPr lang="en-US" sz="2400" dirty="0"/>
              <a:t> must be there and it belongs to </a:t>
            </a:r>
            <a:r>
              <a:rPr lang="en-US" sz="2400" dirty="0">
                <a:solidFill>
                  <a:srgbClr val="FF0000"/>
                </a:solidFill>
              </a:rPr>
              <a:t>R</a:t>
            </a:r>
            <a:r>
              <a:rPr lang="en-US" sz="2400" dirty="0"/>
              <a:t> Similarly for other order pairs. </a:t>
            </a:r>
          </a:p>
          <a:p>
            <a:r>
              <a:rPr lang="en-US" sz="2400" dirty="0">
                <a:solidFill>
                  <a:srgbClr val="FF0000"/>
                </a:solidFill>
              </a:rPr>
              <a:t>R</a:t>
            </a:r>
            <a:r>
              <a:rPr lang="en-US" sz="2400" baseline="-25000" dirty="0">
                <a:solidFill>
                  <a:srgbClr val="FF0000"/>
                </a:solidFill>
              </a:rPr>
              <a:t>2</a:t>
            </a:r>
            <a:r>
              <a:rPr lang="en-US" sz="2400" dirty="0"/>
              <a:t> is </a:t>
            </a:r>
            <a:r>
              <a:rPr lang="en-US" sz="2400" dirty="0">
                <a:solidFill>
                  <a:srgbClr val="FF0000"/>
                </a:solidFill>
              </a:rPr>
              <a:t>not transitive</a:t>
            </a:r>
            <a:r>
              <a:rPr lang="en-US" sz="2400" dirty="0"/>
              <a:t> since </a:t>
            </a:r>
            <a:r>
              <a:rPr lang="en-US" sz="2400" dirty="0">
                <a:solidFill>
                  <a:srgbClr val="FF0000"/>
                </a:solidFill>
              </a:rPr>
              <a:t>(1, 2)</a:t>
            </a:r>
            <a:r>
              <a:rPr lang="en-US" sz="2400" dirty="0"/>
              <a:t> and </a:t>
            </a:r>
            <a:r>
              <a:rPr lang="en-US" sz="2400" dirty="0">
                <a:solidFill>
                  <a:srgbClr val="FF0000"/>
                </a:solidFill>
              </a:rPr>
              <a:t>(2, 3)</a:t>
            </a:r>
            <a:r>
              <a:rPr lang="en-US" sz="2400" dirty="0"/>
              <a:t> </a:t>
            </a:r>
            <a:r>
              <a:rPr lang="en-US" sz="2400" dirty="0">
                <a:sym typeface="Symbol"/>
              </a:rPr>
              <a:t></a:t>
            </a:r>
            <a:r>
              <a:rPr lang="en-US" sz="2400" dirty="0">
                <a:solidFill>
                  <a:srgbClr val="FF0000"/>
                </a:solidFill>
              </a:rPr>
              <a:t> R</a:t>
            </a:r>
            <a:r>
              <a:rPr lang="en-US" sz="2400" baseline="-25000" dirty="0">
                <a:solidFill>
                  <a:srgbClr val="FF0000"/>
                </a:solidFill>
              </a:rPr>
              <a:t>2</a:t>
            </a:r>
            <a:r>
              <a:rPr lang="en-US" sz="2400" dirty="0"/>
              <a:t> but </a:t>
            </a:r>
            <a:r>
              <a:rPr lang="en-US" sz="2400" dirty="0">
                <a:solidFill>
                  <a:srgbClr val="FF0000"/>
                </a:solidFill>
              </a:rPr>
              <a:t>(1,3) </a:t>
            </a:r>
            <a:r>
              <a:rPr lang="en-US" sz="2400" dirty="0">
                <a:solidFill>
                  <a:srgbClr val="FF0000"/>
                </a:solidFill>
                <a:sym typeface="Symbol"/>
              </a:rPr>
              <a:t></a:t>
            </a:r>
            <a:r>
              <a:rPr lang="en-US" sz="2400" dirty="0">
                <a:solidFill>
                  <a:srgbClr val="FF0000"/>
                </a:solidFill>
              </a:rPr>
              <a:t> R</a:t>
            </a:r>
            <a:r>
              <a:rPr lang="en-US" sz="2400" baseline="-25000" dirty="0">
                <a:solidFill>
                  <a:srgbClr val="FF0000"/>
                </a:solidFill>
              </a:rPr>
              <a:t>2</a:t>
            </a:r>
            <a:r>
              <a:rPr lang="en-US" sz="2400" dirty="0"/>
              <a:t>.</a:t>
            </a:r>
          </a:p>
          <a:p>
            <a:r>
              <a:rPr lang="en-US" sz="2400" dirty="0">
                <a:solidFill>
                  <a:srgbClr val="FF0000"/>
                </a:solidFill>
              </a:rPr>
              <a:t>R</a:t>
            </a:r>
            <a:r>
              <a:rPr lang="en-US" sz="2400" baseline="-25000" dirty="0">
                <a:solidFill>
                  <a:srgbClr val="FF0000"/>
                </a:solidFill>
              </a:rPr>
              <a:t>3</a:t>
            </a:r>
            <a:r>
              <a:rPr lang="en-US" sz="2400" dirty="0"/>
              <a:t> is </a:t>
            </a:r>
            <a:r>
              <a:rPr lang="en-US" sz="2400" dirty="0">
                <a:solidFill>
                  <a:srgbClr val="FF0000"/>
                </a:solidFill>
              </a:rPr>
              <a:t>transitive</a:t>
            </a:r>
            <a:r>
              <a:rPr lang="en-US" sz="2400" dirty="0"/>
              <a:t>.</a:t>
            </a:r>
          </a:p>
          <a:p>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a:solidFill>
                  <a:srgbClr val="0070C0"/>
                </a:solidFill>
              </a:rPr>
              <a:t>DIRECTED GRAPH OF A TRANSITIVE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57</a:t>
            </a:fld>
            <a:endParaRPr lang="en-US"/>
          </a:p>
        </p:txBody>
      </p:sp>
      <p:sp>
        <p:nvSpPr>
          <p:cNvPr id="4" name="Content Placeholder 3"/>
          <p:cNvSpPr>
            <a:spLocks noGrp="1"/>
          </p:cNvSpPr>
          <p:nvPr>
            <p:ph sz="quarter" idx="1"/>
          </p:nvPr>
        </p:nvSpPr>
        <p:spPr/>
        <p:txBody>
          <a:bodyPr/>
          <a:lstStyle/>
          <a:p>
            <a:r>
              <a:rPr lang="en-US" dirty="0"/>
              <a:t>For a </a:t>
            </a:r>
            <a:r>
              <a:rPr lang="en-US" dirty="0">
                <a:solidFill>
                  <a:srgbClr val="FF0000"/>
                </a:solidFill>
              </a:rPr>
              <a:t>transitive directed graph</a:t>
            </a:r>
            <a:r>
              <a:rPr lang="en-US" dirty="0"/>
              <a:t>, whenever there is an arrow going from one point to the second, and from the second to the third, there is an arrow going directly from the first to the third.</a:t>
            </a: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58</a:t>
            </a:fld>
            <a:endParaRPr lang="en-US"/>
          </a:p>
        </p:txBody>
      </p:sp>
      <p:sp>
        <p:nvSpPr>
          <p:cNvPr id="4" name="Content Placeholder 3"/>
          <p:cNvSpPr>
            <a:spLocks noGrp="1"/>
          </p:cNvSpPr>
          <p:nvPr>
            <p:ph sz="quarter" idx="1"/>
          </p:nvPr>
        </p:nvSpPr>
        <p:spPr/>
        <p:txBody>
          <a:bodyPr/>
          <a:lstStyle/>
          <a:p>
            <a:r>
              <a:rPr lang="en-US" dirty="0"/>
              <a:t>Let A = </a:t>
            </a:r>
            <a:r>
              <a:rPr lang="en-US" dirty="0">
                <a:solidFill>
                  <a:srgbClr val="FF0000"/>
                </a:solidFill>
              </a:rPr>
              <a:t>{1, 2, 3, 4}</a:t>
            </a:r>
            <a:r>
              <a:rPr lang="en-US" dirty="0"/>
              <a:t> and define relations </a:t>
            </a:r>
            <a:r>
              <a:rPr lang="en-US" dirty="0">
                <a:solidFill>
                  <a:srgbClr val="FF0000"/>
                </a:solidFill>
              </a:rPr>
              <a:t>R</a:t>
            </a:r>
            <a:r>
              <a:rPr lang="en-US" baseline="-25000" dirty="0">
                <a:solidFill>
                  <a:srgbClr val="FF0000"/>
                </a:solidFill>
              </a:rPr>
              <a:t>1</a:t>
            </a:r>
            <a:r>
              <a:rPr lang="en-US" dirty="0"/>
              <a:t>, </a:t>
            </a:r>
            <a:r>
              <a:rPr lang="en-US" dirty="0">
                <a:solidFill>
                  <a:srgbClr val="FF0000"/>
                </a:solidFill>
              </a:rPr>
              <a:t>R</a:t>
            </a:r>
            <a:r>
              <a:rPr lang="en-US" baseline="-25000" dirty="0">
                <a:solidFill>
                  <a:srgbClr val="FF0000"/>
                </a:solidFill>
              </a:rPr>
              <a:t>2</a:t>
            </a:r>
            <a:r>
              <a:rPr lang="en-US" dirty="0"/>
              <a:t> and </a:t>
            </a:r>
            <a:r>
              <a:rPr lang="en-US" dirty="0">
                <a:solidFill>
                  <a:srgbClr val="FF0000"/>
                </a:solidFill>
              </a:rPr>
              <a:t>R</a:t>
            </a:r>
            <a:r>
              <a:rPr lang="en-US" baseline="-25000" dirty="0">
                <a:solidFill>
                  <a:srgbClr val="FF0000"/>
                </a:solidFill>
              </a:rPr>
              <a:t>3</a:t>
            </a:r>
            <a:r>
              <a:rPr lang="en-US" baseline="-25000" dirty="0"/>
              <a:t> </a:t>
            </a:r>
            <a:r>
              <a:rPr lang="en-US" dirty="0"/>
              <a:t>on </a:t>
            </a:r>
            <a:r>
              <a:rPr lang="en-US" dirty="0">
                <a:solidFill>
                  <a:srgbClr val="FF0000"/>
                </a:solidFill>
              </a:rPr>
              <a:t>A</a:t>
            </a:r>
            <a:r>
              <a:rPr lang="en-US" dirty="0"/>
              <a:t> by the </a:t>
            </a:r>
            <a:r>
              <a:rPr lang="en-US" dirty="0">
                <a:solidFill>
                  <a:srgbClr val="FF0000"/>
                </a:solidFill>
              </a:rPr>
              <a:t>directed graphs</a:t>
            </a:r>
            <a:r>
              <a:rPr lang="en-US" dirty="0"/>
              <a:t>:</a:t>
            </a:r>
          </a:p>
          <a:p>
            <a:pPr>
              <a:buNone/>
            </a:pPr>
            <a:r>
              <a:rPr lang="en-US" dirty="0"/>
              <a:t>			</a:t>
            </a:r>
          </a:p>
          <a:p>
            <a:pPr>
              <a:buNone/>
            </a:pPr>
            <a:r>
              <a:rPr lang="en-US" dirty="0"/>
              <a:t>			R</a:t>
            </a:r>
            <a:r>
              <a:rPr lang="en-US" baseline="-25000" dirty="0"/>
              <a:t>1</a:t>
            </a:r>
            <a:r>
              <a:rPr lang="en-US" dirty="0"/>
              <a:t> = </a:t>
            </a:r>
            <a:r>
              <a:rPr lang="en-US" dirty="0">
                <a:solidFill>
                  <a:srgbClr val="FF0000"/>
                </a:solidFill>
              </a:rPr>
              <a:t>{(1, 1), (1, 2), (1, 3), (2, 3)}</a:t>
            </a:r>
          </a:p>
          <a:p>
            <a:pPr>
              <a:buNone/>
            </a:pPr>
            <a:r>
              <a:rPr lang="en-US" dirty="0"/>
              <a:t>			R</a:t>
            </a:r>
            <a:r>
              <a:rPr lang="en-US" baseline="-25000" dirty="0"/>
              <a:t>2</a:t>
            </a:r>
            <a:r>
              <a:rPr lang="en-US" dirty="0"/>
              <a:t> = </a:t>
            </a:r>
            <a:r>
              <a:rPr lang="en-US" dirty="0">
                <a:solidFill>
                  <a:srgbClr val="FF0000"/>
                </a:solidFill>
              </a:rPr>
              <a:t>{(1, 2), (1, 4), (2, 3), (3, 4)}</a:t>
            </a:r>
          </a:p>
          <a:p>
            <a:pPr>
              <a:buNone/>
            </a:pPr>
            <a:r>
              <a:rPr lang="en-US" dirty="0"/>
              <a:t>			R</a:t>
            </a:r>
            <a:r>
              <a:rPr lang="en-US" baseline="-25000" dirty="0"/>
              <a:t>3</a:t>
            </a:r>
            <a:r>
              <a:rPr lang="en-US" dirty="0"/>
              <a:t> = </a:t>
            </a:r>
            <a:r>
              <a:rPr lang="en-US" dirty="0">
                <a:solidFill>
                  <a:srgbClr val="FF0000"/>
                </a:solidFill>
              </a:rPr>
              <a:t>{(2, 1), (2, 4), (2, 3), (3, 4)}</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E19944-04AC-4CD8-BA69-63C2A678C21A}" type="slidenum">
              <a:rPr lang="en-US" smtClean="0"/>
              <a:pPr/>
              <a:t>59</a:t>
            </a:fld>
            <a:endParaRPr lang="en-US"/>
          </a:p>
        </p:txBody>
      </p:sp>
      <p:pic>
        <p:nvPicPr>
          <p:cNvPr id="5" name="Picture 4"/>
          <p:cNvPicPr/>
          <p:nvPr/>
        </p:nvPicPr>
        <p:blipFill>
          <a:blip r:embed="rId2"/>
          <a:srcRect/>
          <a:stretch>
            <a:fillRect/>
          </a:stretch>
        </p:blipFill>
        <p:spPr bwMode="auto">
          <a:xfrm>
            <a:off x="2209800" y="228600"/>
            <a:ext cx="8001000" cy="6019800"/>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60</a:t>
            </a:fld>
            <a:endParaRPr lang="en-US"/>
          </a:p>
        </p:txBody>
      </p:sp>
      <p:sp>
        <p:nvSpPr>
          <p:cNvPr id="4" name="Content Placeholder 3"/>
          <p:cNvSpPr>
            <a:spLocks noGrp="1"/>
          </p:cNvSpPr>
          <p:nvPr>
            <p:ph sz="quarter" idx="1"/>
          </p:nvPr>
        </p:nvSpPr>
        <p:spPr/>
        <p:txBody>
          <a:bodyPr/>
          <a:lstStyle/>
          <a:p>
            <a:r>
              <a:rPr lang="en-US" dirty="0"/>
              <a:t>Let A = </a:t>
            </a:r>
            <a:r>
              <a:rPr lang="en-US" dirty="0">
                <a:solidFill>
                  <a:srgbClr val="FF0000"/>
                </a:solidFill>
              </a:rPr>
              <a:t>{1, 2, 3, 4}</a:t>
            </a:r>
            <a:r>
              <a:rPr lang="en-US" dirty="0"/>
              <a:t> and define the </a:t>
            </a:r>
            <a:r>
              <a:rPr lang="en-US" dirty="0">
                <a:solidFill>
                  <a:srgbClr val="FF0000"/>
                </a:solidFill>
              </a:rPr>
              <a:t>null relation </a:t>
            </a:r>
            <a:r>
              <a:rPr lang="en-US" dirty="0">
                <a:solidFill>
                  <a:srgbClr val="FF0000"/>
                </a:solidFill>
                <a:sym typeface="Symbol"/>
              </a:rPr>
              <a:t></a:t>
            </a:r>
            <a:r>
              <a:rPr lang="en-US" dirty="0"/>
              <a:t> and universal relation  </a:t>
            </a:r>
            <a:r>
              <a:rPr lang="en-US" dirty="0">
                <a:solidFill>
                  <a:srgbClr val="FF0000"/>
                </a:solidFill>
              </a:rPr>
              <a:t>A </a:t>
            </a:r>
            <a:r>
              <a:rPr lang="en-US" dirty="0">
                <a:solidFill>
                  <a:srgbClr val="FF0000"/>
                </a:solidFill>
                <a:sym typeface="Symbol"/>
              </a:rPr>
              <a:t> </a:t>
            </a:r>
            <a:r>
              <a:rPr lang="en-US" dirty="0">
                <a:solidFill>
                  <a:srgbClr val="FF0000"/>
                </a:solidFill>
              </a:rPr>
              <a:t>A </a:t>
            </a:r>
            <a:r>
              <a:rPr lang="en-US" dirty="0"/>
              <a:t>on </a:t>
            </a:r>
            <a:r>
              <a:rPr lang="en-US" dirty="0">
                <a:solidFill>
                  <a:srgbClr val="FF0000"/>
                </a:solidFill>
              </a:rPr>
              <a:t>A</a:t>
            </a:r>
            <a:r>
              <a:rPr lang="en-US" dirty="0"/>
              <a:t>. Test these relations for </a:t>
            </a:r>
            <a:r>
              <a:rPr lang="en-US" dirty="0">
                <a:solidFill>
                  <a:srgbClr val="FF0000"/>
                </a:solidFill>
              </a:rPr>
              <a:t>reflexive</a:t>
            </a:r>
            <a:r>
              <a:rPr lang="en-US" dirty="0"/>
              <a:t>, </a:t>
            </a:r>
            <a:r>
              <a:rPr lang="en-US" dirty="0">
                <a:solidFill>
                  <a:srgbClr val="FF0000"/>
                </a:solidFill>
              </a:rPr>
              <a:t>symmetric</a:t>
            </a:r>
            <a:r>
              <a:rPr lang="en-US" dirty="0"/>
              <a:t> and </a:t>
            </a:r>
            <a:r>
              <a:rPr lang="en-US" dirty="0">
                <a:solidFill>
                  <a:srgbClr val="FF0000"/>
                </a:solidFill>
              </a:rPr>
              <a:t>transitive</a:t>
            </a:r>
            <a:r>
              <a:rPr lang="en-US" dirty="0"/>
              <a:t> properties.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SOLUTION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61</a:t>
            </a:fld>
            <a:endParaRPr lang="en-US"/>
          </a:p>
        </p:txBody>
      </p:sp>
      <p:sp>
        <p:nvSpPr>
          <p:cNvPr id="4" name="Content Placeholder 3"/>
          <p:cNvSpPr>
            <a:spLocks noGrp="1"/>
          </p:cNvSpPr>
          <p:nvPr>
            <p:ph sz="quarter" idx="1"/>
          </p:nvPr>
        </p:nvSpPr>
        <p:spPr/>
        <p:txBody>
          <a:bodyPr>
            <a:normAutofit/>
          </a:bodyPr>
          <a:lstStyle/>
          <a:p>
            <a:r>
              <a:rPr lang="en-US" b="1" dirty="0">
                <a:solidFill>
                  <a:srgbClr val="FF0000"/>
                </a:solidFill>
              </a:rPr>
              <a:t>Reflexive:</a:t>
            </a:r>
            <a:endParaRPr lang="en-US" dirty="0">
              <a:solidFill>
                <a:srgbClr val="FF0000"/>
              </a:solidFill>
            </a:endParaRPr>
          </a:p>
          <a:p>
            <a:pPr lvl="1"/>
            <a:r>
              <a:rPr lang="en-US" sz="2600" dirty="0">
                <a:solidFill>
                  <a:srgbClr val="002060"/>
                </a:solidFill>
                <a:sym typeface="Symbol"/>
              </a:rPr>
              <a:t></a:t>
            </a:r>
            <a:r>
              <a:rPr lang="en-US" sz="2600" dirty="0">
                <a:solidFill>
                  <a:srgbClr val="002060"/>
                </a:solidFill>
              </a:rPr>
              <a:t> is not reflexive since (1,1), (2,2), (3,3), (4,4) </a:t>
            </a:r>
            <a:r>
              <a:rPr lang="en-US" sz="2600" dirty="0">
                <a:solidFill>
                  <a:srgbClr val="002060"/>
                </a:solidFill>
                <a:sym typeface="Symbol"/>
              </a:rPr>
              <a:t></a:t>
            </a:r>
            <a:r>
              <a:rPr lang="en-US" sz="2600" dirty="0">
                <a:solidFill>
                  <a:srgbClr val="002060"/>
                </a:solidFill>
              </a:rPr>
              <a:t> </a:t>
            </a:r>
            <a:r>
              <a:rPr lang="en-US" sz="2600" dirty="0">
                <a:solidFill>
                  <a:srgbClr val="002060"/>
                </a:solidFill>
                <a:sym typeface="Symbol"/>
              </a:rPr>
              <a:t></a:t>
            </a:r>
            <a:r>
              <a:rPr lang="en-US" sz="2600" dirty="0">
                <a:solidFill>
                  <a:srgbClr val="002060"/>
                </a:solidFill>
              </a:rPr>
              <a:t>.</a:t>
            </a:r>
          </a:p>
          <a:p>
            <a:pPr lvl="1"/>
            <a:r>
              <a:rPr lang="en-US" sz="2600" dirty="0">
                <a:solidFill>
                  <a:srgbClr val="002060"/>
                </a:solidFill>
              </a:rPr>
              <a:t>A </a:t>
            </a:r>
            <a:r>
              <a:rPr lang="en-US" sz="2600" dirty="0">
                <a:solidFill>
                  <a:srgbClr val="002060"/>
                </a:solidFill>
                <a:sym typeface="Symbol"/>
              </a:rPr>
              <a:t></a:t>
            </a:r>
            <a:r>
              <a:rPr lang="en-US" sz="2600" dirty="0">
                <a:solidFill>
                  <a:srgbClr val="002060"/>
                </a:solidFill>
              </a:rPr>
              <a:t> A is reflexive since (a, a) </a:t>
            </a:r>
            <a:r>
              <a:rPr lang="en-US" sz="2600" dirty="0">
                <a:solidFill>
                  <a:srgbClr val="002060"/>
                </a:solidFill>
                <a:sym typeface="Symbol"/>
              </a:rPr>
              <a:t></a:t>
            </a:r>
            <a:r>
              <a:rPr lang="en-US" sz="2600" dirty="0">
                <a:solidFill>
                  <a:srgbClr val="002060"/>
                </a:solidFill>
              </a:rPr>
              <a:t> A </a:t>
            </a:r>
            <a:r>
              <a:rPr lang="en-US" sz="2600" dirty="0">
                <a:solidFill>
                  <a:srgbClr val="002060"/>
                </a:solidFill>
                <a:sym typeface="Symbol"/>
              </a:rPr>
              <a:t></a:t>
            </a:r>
            <a:r>
              <a:rPr lang="en-US" sz="2600" dirty="0">
                <a:solidFill>
                  <a:srgbClr val="002060"/>
                </a:solidFill>
              </a:rPr>
              <a:t> A for all a </a:t>
            </a:r>
            <a:r>
              <a:rPr lang="en-US" sz="2600" dirty="0">
                <a:solidFill>
                  <a:srgbClr val="002060"/>
                </a:solidFill>
                <a:sym typeface="Symbol"/>
              </a:rPr>
              <a:t></a:t>
            </a:r>
            <a:r>
              <a:rPr lang="en-US" sz="2600" dirty="0">
                <a:solidFill>
                  <a:srgbClr val="002060"/>
                </a:solidFill>
              </a:rPr>
              <a:t> A.</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E19944-04AC-4CD8-BA69-63C2A678C21A}" type="slidenum">
              <a:rPr lang="en-US" smtClean="0"/>
              <a:pPr/>
              <a:t>62</a:t>
            </a:fld>
            <a:endParaRPr lang="en-US"/>
          </a:p>
        </p:txBody>
      </p:sp>
      <p:sp>
        <p:nvSpPr>
          <p:cNvPr id="4" name="Content Placeholder 3"/>
          <p:cNvSpPr>
            <a:spLocks noGrp="1"/>
          </p:cNvSpPr>
          <p:nvPr>
            <p:ph sz="quarter" idx="1"/>
          </p:nvPr>
        </p:nvSpPr>
        <p:spPr>
          <a:xfrm>
            <a:off x="1981200" y="1219200"/>
            <a:ext cx="8229600" cy="5105400"/>
          </a:xfrm>
        </p:spPr>
        <p:txBody>
          <a:bodyPr>
            <a:normAutofit/>
          </a:bodyPr>
          <a:lstStyle/>
          <a:p>
            <a:r>
              <a:rPr lang="en-US" b="1" dirty="0">
                <a:solidFill>
                  <a:srgbClr val="FF0000"/>
                </a:solidFill>
              </a:rPr>
              <a:t>Symmetric</a:t>
            </a:r>
            <a:endParaRPr lang="en-US" dirty="0">
              <a:solidFill>
                <a:srgbClr val="FF0000"/>
              </a:solidFill>
            </a:endParaRPr>
          </a:p>
          <a:p>
            <a:pPr lvl="1"/>
            <a:r>
              <a:rPr lang="en-US" sz="2600" dirty="0">
                <a:solidFill>
                  <a:srgbClr val="002060"/>
                </a:solidFill>
              </a:rPr>
              <a:t>For the null relation </a:t>
            </a:r>
            <a:r>
              <a:rPr lang="en-US" sz="2600" dirty="0">
                <a:solidFill>
                  <a:srgbClr val="002060"/>
                </a:solidFill>
                <a:sym typeface="Symbol"/>
              </a:rPr>
              <a:t></a:t>
            </a:r>
            <a:r>
              <a:rPr lang="en-US" sz="2600" dirty="0">
                <a:solidFill>
                  <a:srgbClr val="002060"/>
                </a:solidFill>
              </a:rPr>
              <a:t> on A to be symmetric, it must 	satisfy the implication:</a:t>
            </a:r>
          </a:p>
          <a:p>
            <a:pPr lvl="1">
              <a:buNone/>
            </a:pPr>
            <a:r>
              <a:rPr lang="en-US" sz="2600" dirty="0">
                <a:solidFill>
                  <a:srgbClr val="002060"/>
                </a:solidFill>
              </a:rPr>
              <a:t>			if (a, b) </a:t>
            </a:r>
            <a:r>
              <a:rPr lang="en-US" sz="2600" dirty="0">
                <a:solidFill>
                  <a:srgbClr val="002060"/>
                </a:solidFill>
                <a:sym typeface="Symbol"/>
              </a:rPr>
              <a:t></a:t>
            </a:r>
            <a:r>
              <a:rPr lang="en-US" sz="2600" dirty="0">
                <a:solidFill>
                  <a:srgbClr val="002060"/>
                </a:solidFill>
              </a:rPr>
              <a:t> </a:t>
            </a:r>
            <a:r>
              <a:rPr lang="en-US" sz="2600" dirty="0">
                <a:solidFill>
                  <a:srgbClr val="002060"/>
                </a:solidFill>
                <a:sym typeface="Symbol"/>
              </a:rPr>
              <a:t></a:t>
            </a:r>
            <a:r>
              <a:rPr lang="en-US" sz="2600" dirty="0">
                <a:solidFill>
                  <a:srgbClr val="002060"/>
                </a:solidFill>
              </a:rPr>
              <a:t> then (b, a) </a:t>
            </a:r>
            <a:r>
              <a:rPr lang="en-US" sz="2600" dirty="0">
                <a:solidFill>
                  <a:srgbClr val="002060"/>
                </a:solidFill>
                <a:sym typeface="Symbol"/>
              </a:rPr>
              <a:t></a:t>
            </a:r>
            <a:r>
              <a:rPr lang="en-US" sz="2600" dirty="0">
                <a:solidFill>
                  <a:srgbClr val="002060"/>
                </a:solidFill>
              </a:rPr>
              <a:t> </a:t>
            </a:r>
            <a:r>
              <a:rPr lang="en-US" sz="2600" dirty="0">
                <a:solidFill>
                  <a:srgbClr val="002060"/>
                </a:solidFill>
                <a:sym typeface="Symbol"/>
              </a:rPr>
              <a:t></a:t>
            </a:r>
            <a:r>
              <a:rPr lang="en-US" sz="2600" dirty="0">
                <a:solidFill>
                  <a:srgbClr val="002060"/>
                </a:solidFill>
              </a:rPr>
              <a:t>.</a:t>
            </a:r>
          </a:p>
          <a:p>
            <a:pPr lvl="1">
              <a:buNone/>
            </a:pPr>
            <a:r>
              <a:rPr lang="en-US" sz="2600" dirty="0">
                <a:solidFill>
                  <a:srgbClr val="002060"/>
                </a:solidFill>
              </a:rPr>
              <a:t>	Since (a, b) </a:t>
            </a:r>
            <a:r>
              <a:rPr lang="en-US" sz="2600" dirty="0">
                <a:solidFill>
                  <a:srgbClr val="002060"/>
                </a:solidFill>
                <a:sym typeface="Symbol"/>
              </a:rPr>
              <a:t></a:t>
            </a:r>
            <a:r>
              <a:rPr lang="en-US" sz="2600" dirty="0">
                <a:solidFill>
                  <a:srgbClr val="002060"/>
                </a:solidFill>
              </a:rPr>
              <a:t> </a:t>
            </a:r>
            <a:r>
              <a:rPr lang="en-US" sz="2600" dirty="0">
                <a:solidFill>
                  <a:srgbClr val="002060"/>
                </a:solidFill>
                <a:sym typeface="Symbol"/>
              </a:rPr>
              <a:t></a:t>
            </a:r>
            <a:r>
              <a:rPr lang="en-US" sz="2600" dirty="0">
                <a:solidFill>
                  <a:srgbClr val="002060"/>
                </a:solidFill>
              </a:rPr>
              <a:t> is never true, the implication is vacuously true or true by default. </a:t>
            </a:r>
          </a:p>
          <a:p>
            <a:pPr lvl="1">
              <a:buNone/>
            </a:pPr>
            <a:r>
              <a:rPr lang="en-US" sz="2600" dirty="0">
                <a:solidFill>
                  <a:srgbClr val="002060"/>
                </a:solidFill>
              </a:rPr>
              <a:t>	Hence </a:t>
            </a:r>
            <a:r>
              <a:rPr lang="en-US" sz="2600" dirty="0">
                <a:solidFill>
                  <a:srgbClr val="002060"/>
                </a:solidFill>
                <a:sym typeface="Symbol"/>
              </a:rPr>
              <a:t></a:t>
            </a:r>
            <a:r>
              <a:rPr lang="en-US" sz="2600" dirty="0">
                <a:solidFill>
                  <a:srgbClr val="002060"/>
                </a:solidFill>
              </a:rPr>
              <a:t> is symmetric.</a:t>
            </a:r>
          </a:p>
          <a:p>
            <a:pPr>
              <a:buNone/>
            </a:pPr>
            <a:endParaRPr lang="en-US" dirty="0">
              <a:solidFill>
                <a:srgbClr val="002060"/>
              </a:solidFill>
            </a:endParaRPr>
          </a:p>
          <a:p>
            <a:pPr lvl="1"/>
            <a:r>
              <a:rPr lang="en-US" sz="2600" dirty="0">
                <a:solidFill>
                  <a:srgbClr val="002060"/>
                </a:solidFill>
              </a:rPr>
              <a:t>The universal relation A </a:t>
            </a:r>
            <a:r>
              <a:rPr lang="en-US" sz="2600" dirty="0">
                <a:solidFill>
                  <a:srgbClr val="002060"/>
                </a:solidFill>
                <a:sym typeface="Symbol"/>
              </a:rPr>
              <a:t></a:t>
            </a:r>
            <a:r>
              <a:rPr lang="en-US" sz="2600" dirty="0">
                <a:solidFill>
                  <a:srgbClr val="002060"/>
                </a:solidFill>
              </a:rPr>
              <a:t> A is symmetric, for it contains all ordered pairs of elements of A. Thus, </a:t>
            </a:r>
          </a:p>
          <a:p>
            <a:pPr lvl="1">
              <a:buNone/>
            </a:pPr>
            <a:r>
              <a:rPr lang="en-US" sz="2600" dirty="0">
                <a:solidFill>
                  <a:srgbClr val="002060"/>
                </a:solidFill>
              </a:rPr>
              <a:t>		if (a, b) </a:t>
            </a:r>
            <a:r>
              <a:rPr lang="en-US" sz="2600" dirty="0">
                <a:solidFill>
                  <a:srgbClr val="002060"/>
                </a:solidFill>
                <a:sym typeface="Symbol"/>
              </a:rPr>
              <a:t></a:t>
            </a:r>
            <a:r>
              <a:rPr lang="en-US" sz="2600" dirty="0">
                <a:solidFill>
                  <a:srgbClr val="002060"/>
                </a:solidFill>
              </a:rPr>
              <a:t> A </a:t>
            </a:r>
            <a:r>
              <a:rPr lang="en-US" sz="2600" dirty="0">
                <a:solidFill>
                  <a:srgbClr val="002060"/>
                </a:solidFill>
                <a:sym typeface="Symbol"/>
              </a:rPr>
              <a:t></a:t>
            </a:r>
            <a:r>
              <a:rPr lang="en-US" sz="2600" dirty="0">
                <a:solidFill>
                  <a:srgbClr val="002060"/>
                </a:solidFill>
              </a:rPr>
              <a:t> A then  (b, a) </a:t>
            </a:r>
            <a:r>
              <a:rPr lang="en-US" sz="2600" dirty="0">
                <a:solidFill>
                  <a:srgbClr val="002060"/>
                </a:solidFill>
                <a:sym typeface="Symbol"/>
              </a:rPr>
              <a:t></a:t>
            </a:r>
            <a:r>
              <a:rPr lang="en-US" sz="2600" dirty="0">
                <a:solidFill>
                  <a:srgbClr val="002060"/>
                </a:solidFill>
              </a:rPr>
              <a:t> A </a:t>
            </a:r>
            <a:r>
              <a:rPr lang="en-US" sz="2600" dirty="0">
                <a:solidFill>
                  <a:srgbClr val="002060"/>
                </a:solidFill>
                <a:sym typeface="Symbol"/>
              </a:rPr>
              <a:t></a:t>
            </a:r>
            <a:r>
              <a:rPr lang="en-US" sz="2600" dirty="0">
                <a:solidFill>
                  <a:srgbClr val="002060"/>
                </a:solidFill>
              </a:rPr>
              <a:t> A for all a, b in A.</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E19944-04AC-4CD8-BA69-63C2A678C21A}" type="slidenum">
              <a:rPr lang="en-US" smtClean="0"/>
              <a:pPr/>
              <a:t>63</a:t>
            </a:fld>
            <a:endParaRPr lang="en-US"/>
          </a:p>
        </p:txBody>
      </p:sp>
      <p:sp>
        <p:nvSpPr>
          <p:cNvPr id="4" name="Content Placeholder 3"/>
          <p:cNvSpPr>
            <a:spLocks noGrp="1"/>
          </p:cNvSpPr>
          <p:nvPr>
            <p:ph sz="quarter" idx="1"/>
          </p:nvPr>
        </p:nvSpPr>
        <p:spPr/>
        <p:txBody>
          <a:bodyPr>
            <a:normAutofit lnSpcReduction="10000"/>
          </a:bodyPr>
          <a:lstStyle/>
          <a:p>
            <a:r>
              <a:rPr lang="en-US" b="1" dirty="0">
                <a:solidFill>
                  <a:srgbClr val="FF0000"/>
                </a:solidFill>
              </a:rPr>
              <a:t>Transitive</a:t>
            </a:r>
          </a:p>
          <a:p>
            <a:pPr lvl="1"/>
            <a:r>
              <a:rPr lang="en-US" sz="2600" dirty="0">
                <a:solidFill>
                  <a:srgbClr val="002060"/>
                </a:solidFill>
              </a:rPr>
              <a:t>The null relation </a:t>
            </a:r>
            <a:r>
              <a:rPr lang="en-US" sz="2600" dirty="0">
                <a:solidFill>
                  <a:srgbClr val="002060"/>
                </a:solidFill>
                <a:sym typeface="Symbol"/>
              </a:rPr>
              <a:t></a:t>
            </a:r>
            <a:r>
              <a:rPr lang="en-US" sz="2600" dirty="0">
                <a:solidFill>
                  <a:srgbClr val="002060"/>
                </a:solidFill>
              </a:rPr>
              <a:t> on A is transitive, because the implication.</a:t>
            </a:r>
          </a:p>
          <a:p>
            <a:pPr lvl="1">
              <a:buNone/>
            </a:pPr>
            <a:r>
              <a:rPr lang="en-US" sz="2600" dirty="0">
                <a:solidFill>
                  <a:srgbClr val="002060"/>
                </a:solidFill>
              </a:rPr>
              <a:t>		if (a, b) </a:t>
            </a:r>
            <a:r>
              <a:rPr lang="en-US" sz="2600" dirty="0">
                <a:solidFill>
                  <a:srgbClr val="002060"/>
                </a:solidFill>
                <a:sym typeface="Symbol"/>
              </a:rPr>
              <a:t></a:t>
            </a:r>
            <a:r>
              <a:rPr lang="en-US" sz="2600" dirty="0">
                <a:solidFill>
                  <a:srgbClr val="002060"/>
                </a:solidFill>
              </a:rPr>
              <a:t> </a:t>
            </a:r>
            <a:r>
              <a:rPr lang="en-US" sz="2600" dirty="0">
                <a:solidFill>
                  <a:srgbClr val="002060"/>
                </a:solidFill>
                <a:sym typeface="Symbol"/>
              </a:rPr>
              <a:t></a:t>
            </a:r>
            <a:r>
              <a:rPr lang="en-US" sz="2600" dirty="0">
                <a:solidFill>
                  <a:srgbClr val="002060"/>
                </a:solidFill>
              </a:rPr>
              <a:t> and (b, c) </a:t>
            </a:r>
            <a:r>
              <a:rPr lang="en-US" sz="2600" dirty="0">
                <a:solidFill>
                  <a:srgbClr val="002060"/>
                </a:solidFill>
                <a:sym typeface="Symbol"/>
              </a:rPr>
              <a:t></a:t>
            </a:r>
            <a:r>
              <a:rPr lang="en-US" sz="2600" dirty="0">
                <a:solidFill>
                  <a:srgbClr val="002060"/>
                </a:solidFill>
              </a:rPr>
              <a:t> </a:t>
            </a:r>
            <a:r>
              <a:rPr lang="en-US" sz="2600" dirty="0">
                <a:solidFill>
                  <a:srgbClr val="002060"/>
                </a:solidFill>
                <a:sym typeface="Symbol"/>
              </a:rPr>
              <a:t></a:t>
            </a:r>
            <a:r>
              <a:rPr lang="en-US" sz="2600" dirty="0">
                <a:solidFill>
                  <a:srgbClr val="002060"/>
                </a:solidFill>
              </a:rPr>
              <a:t> then (a, c) </a:t>
            </a:r>
            <a:r>
              <a:rPr lang="en-US" sz="2600" dirty="0">
                <a:solidFill>
                  <a:srgbClr val="002060"/>
                </a:solidFill>
                <a:sym typeface="Symbol"/>
              </a:rPr>
              <a:t></a:t>
            </a:r>
            <a:r>
              <a:rPr lang="en-US" sz="2600" dirty="0">
                <a:solidFill>
                  <a:srgbClr val="002060"/>
                </a:solidFill>
              </a:rPr>
              <a:t> </a:t>
            </a:r>
            <a:r>
              <a:rPr lang="en-US" sz="2600" dirty="0">
                <a:solidFill>
                  <a:srgbClr val="002060"/>
                </a:solidFill>
                <a:sym typeface="Symbol"/>
              </a:rPr>
              <a:t></a:t>
            </a:r>
            <a:r>
              <a:rPr lang="en-US" sz="2600" dirty="0">
                <a:solidFill>
                  <a:srgbClr val="002060"/>
                </a:solidFill>
              </a:rPr>
              <a:t> is true by default, </a:t>
            </a:r>
          </a:p>
          <a:p>
            <a:pPr lvl="1">
              <a:buNone/>
            </a:pPr>
            <a:r>
              <a:rPr lang="en-US" sz="2600" dirty="0">
                <a:solidFill>
                  <a:srgbClr val="002060"/>
                </a:solidFill>
              </a:rPr>
              <a:t>	Since the condition (a, b) </a:t>
            </a:r>
            <a:r>
              <a:rPr lang="en-US" sz="2600" dirty="0">
                <a:solidFill>
                  <a:srgbClr val="002060"/>
                </a:solidFill>
                <a:sym typeface="Symbol"/>
              </a:rPr>
              <a:t></a:t>
            </a:r>
            <a:r>
              <a:rPr lang="en-US" sz="2600" dirty="0">
                <a:solidFill>
                  <a:srgbClr val="002060"/>
                </a:solidFill>
              </a:rPr>
              <a:t> </a:t>
            </a:r>
            <a:r>
              <a:rPr lang="en-US" sz="2600" dirty="0">
                <a:solidFill>
                  <a:srgbClr val="002060"/>
                </a:solidFill>
                <a:sym typeface="Symbol"/>
              </a:rPr>
              <a:t></a:t>
            </a:r>
            <a:r>
              <a:rPr lang="en-US" sz="2600" dirty="0">
                <a:solidFill>
                  <a:srgbClr val="002060"/>
                </a:solidFill>
              </a:rPr>
              <a:t> is always false.</a:t>
            </a:r>
          </a:p>
          <a:p>
            <a:pPr lvl="1">
              <a:buNone/>
            </a:pPr>
            <a:endParaRPr lang="en-US" sz="2600" dirty="0">
              <a:solidFill>
                <a:srgbClr val="002060"/>
              </a:solidFill>
            </a:endParaRPr>
          </a:p>
          <a:p>
            <a:pPr lvl="1"/>
            <a:r>
              <a:rPr lang="en-US" sz="2600" dirty="0">
                <a:solidFill>
                  <a:srgbClr val="002060"/>
                </a:solidFill>
              </a:rPr>
              <a:t>The universal relation A </a:t>
            </a:r>
            <a:r>
              <a:rPr lang="en-US" sz="2600" dirty="0">
                <a:solidFill>
                  <a:srgbClr val="002060"/>
                </a:solidFill>
                <a:sym typeface="Symbol"/>
              </a:rPr>
              <a:t></a:t>
            </a:r>
            <a:r>
              <a:rPr lang="en-US" sz="2600" dirty="0">
                <a:solidFill>
                  <a:srgbClr val="002060"/>
                </a:solidFill>
              </a:rPr>
              <a:t> A is transitive for it contains all ordered pairs of elements of A.</a:t>
            </a:r>
          </a:p>
          <a:p>
            <a:pPr lvl="1">
              <a:buNone/>
            </a:pPr>
            <a:r>
              <a:rPr lang="en-US" sz="2600" dirty="0">
                <a:solidFill>
                  <a:srgbClr val="002060"/>
                </a:solidFill>
              </a:rPr>
              <a:t>	</a:t>
            </a:r>
          </a:p>
          <a:p>
            <a:pPr lvl="1">
              <a:buNone/>
            </a:pPr>
            <a:r>
              <a:rPr lang="en-US" sz="2600" dirty="0">
                <a:solidFill>
                  <a:srgbClr val="002060"/>
                </a:solidFill>
              </a:rPr>
              <a:t>	Accordingly, if (a, b) </a:t>
            </a:r>
            <a:r>
              <a:rPr lang="en-US" sz="2600" dirty="0">
                <a:solidFill>
                  <a:srgbClr val="002060"/>
                </a:solidFill>
                <a:sym typeface="Symbol"/>
              </a:rPr>
              <a:t></a:t>
            </a:r>
            <a:r>
              <a:rPr lang="en-US" sz="2600" dirty="0">
                <a:solidFill>
                  <a:srgbClr val="002060"/>
                </a:solidFill>
              </a:rPr>
              <a:t> A </a:t>
            </a:r>
            <a:r>
              <a:rPr lang="en-US" sz="2600" dirty="0">
                <a:solidFill>
                  <a:srgbClr val="002060"/>
                </a:solidFill>
                <a:sym typeface="Symbol"/>
              </a:rPr>
              <a:t></a:t>
            </a:r>
            <a:r>
              <a:rPr lang="en-US" sz="2600" dirty="0">
                <a:solidFill>
                  <a:srgbClr val="002060"/>
                </a:solidFill>
              </a:rPr>
              <a:t> A  and (b, c) </a:t>
            </a:r>
            <a:r>
              <a:rPr lang="en-US" sz="2600" dirty="0">
                <a:solidFill>
                  <a:srgbClr val="002060"/>
                </a:solidFill>
                <a:sym typeface="Symbol"/>
              </a:rPr>
              <a:t></a:t>
            </a:r>
            <a:r>
              <a:rPr lang="en-US" sz="2600" dirty="0">
                <a:solidFill>
                  <a:srgbClr val="002060"/>
                </a:solidFill>
              </a:rPr>
              <a:t> A </a:t>
            </a:r>
            <a:r>
              <a:rPr lang="en-US" sz="2600" dirty="0">
                <a:solidFill>
                  <a:srgbClr val="002060"/>
                </a:solidFill>
                <a:sym typeface="Symbol"/>
              </a:rPr>
              <a:t></a:t>
            </a:r>
            <a:r>
              <a:rPr lang="en-US" sz="2600" dirty="0">
                <a:solidFill>
                  <a:srgbClr val="002060"/>
                </a:solidFill>
              </a:rPr>
              <a:t> A  </a:t>
            </a:r>
          </a:p>
          <a:p>
            <a:pPr lvl="1">
              <a:buNone/>
            </a:pPr>
            <a:r>
              <a:rPr lang="en-US" sz="2600" dirty="0">
                <a:solidFill>
                  <a:srgbClr val="002060"/>
                </a:solidFill>
              </a:rPr>
              <a:t>	then (a, c) </a:t>
            </a:r>
            <a:r>
              <a:rPr lang="en-US" sz="2600" dirty="0">
                <a:solidFill>
                  <a:srgbClr val="002060"/>
                </a:solidFill>
                <a:sym typeface="Symbol"/>
              </a:rPr>
              <a:t></a:t>
            </a:r>
            <a:r>
              <a:rPr lang="en-US" sz="2600" dirty="0">
                <a:solidFill>
                  <a:srgbClr val="002060"/>
                </a:solidFill>
              </a:rPr>
              <a:t> A </a:t>
            </a:r>
            <a:r>
              <a:rPr lang="en-US" sz="2600" dirty="0">
                <a:solidFill>
                  <a:srgbClr val="002060"/>
                </a:solidFill>
                <a:sym typeface="Symbol"/>
              </a:rPr>
              <a:t></a:t>
            </a:r>
            <a:r>
              <a:rPr lang="en-US" sz="2600" dirty="0">
                <a:solidFill>
                  <a:srgbClr val="002060"/>
                </a:solidFill>
              </a:rPr>
              <a:t> A as well.</a:t>
            </a:r>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64</a:t>
            </a:fld>
            <a:endParaRPr lang="en-US"/>
          </a:p>
        </p:txBody>
      </p:sp>
      <p:sp>
        <p:nvSpPr>
          <p:cNvPr id="4" name="Content Placeholder 3"/>
          <p:cNvSpPr>
            <a:spLocks noGrp="1"/>
          </p:cNvSpPr>
          <p:nvPr>
            <p:ph sz="quarter" idx="1"/>
          </p:nvPr>
        </p:nvSpPr>
        <p:spPr/>
        <p:txBody>
          <a:bodyPr/>
          <a:lstStyle/>
          <a:p>
            <a:r>
              <a:rPr lang="en-US" dirty="0"/>
              <a:t>Let 	A = </a:t>
            </a:r>
            <a:r>
              <a:rPr lang="en-US" dirty="0">
                <a:solidFill>
                  <a:srgbClr val="FF0000"/>
                </a:solidFill>
              </a:rPr>
              <a:t>{0, 1, 2}</a:t>
            </a:r>
            <a:r>
              <a:rPr lang="en-US" dirty="0"/>
              <a:t> and </a:t>
            </a:r>
          </a:p>
          <a:p>
            <a:pPr>
              <a:buNone/>
            </a:pPr>
            <a:r>
              <a:rPr lang="en-US" dirty="0"/>
              <a:t>		R = </a:t>
            </a:r>
            <a:r>
              <a:rPr lang="en-US" dirty="0">
                <a:solidFill>
                  <a:srgbClr val="FF0000"/>
                </a:solidFill>
              </a:rPr>
              <a:t>{(0, 2), (1,1), (2, 0)}</a:t>
            </a:r>
            <a:r>
              <a:rPr lang="en-US" dirty="0"/>
              <a:t> be a </a:t>
            </a:r>
            <a:r>
              <a:rPr lang="en-US" dirty="0">
                <a:solidFill>
                  <a:srgbClr val="FF0000"/>
                </a:solidFill>
              </a:rPr>
              <a:t>relation</a:t>
            </a:r>
            <a:r>
              <a:rPr lang="en-US" dirty="0"/>
              <a:t> on </a:t>
            </a:r>
            <a:r>
              <a:rPr lang="en-US" dirty="0">
                <a:solidFill>
                  <a:srgbClr val="FF0000"/>
                </a:solidFill>
              </a:rPr>
              <a:t>A</a:t>
            </a:r>
            <a:r>
              <a:rPr lang="en-US" dirty="0"/>
              <a:t>.</a:t>
            </a:r>
          </a:p>
          <a:p>
            <a:pPr>
              <a:buNone/>
            </a:pPr>
            <a:endParaRPr lang="en-US" dirty="0"/>
          </a:p>
          <a:p>
            <a:pPr lvl="1"/>
            <a:r>
              <a:rPr lang="en-US" sz="2600" dirty="0">
                <a:solidFill>
                  <a:srgbClr val="002060"/>
                </a:solidFill>
              </a:rPr>
              <a:t>Is R reflexive? Symmetric? Transitive?</a:t>
            </a:r>
          </a:p>
          <a:p>
            <a:pPr lvl="1"/>
            <a:r>
              <a:rPr lang="en-US" sz="2600" dirty="0">
                <a:solidFill>
                  <a:srgbClr val="002060"/>
                </a:solidFill>
              </a:rPr>
              <a:t>Which ordered pairs are needed in R to make it a reflexive and transitive relation.</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SOLUTION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65</a:t>
            </a:fld>
            <a:endParaRPr lang="en-US"/>
          </a:p>
        </p:txBody>
      </p:sp>
      <p:sp>
        <p:nvSpPr>
          <p:cNvPr id="4" name="Content Placeholder 3"/>
          <p:cNvSpPr>
            <a:spLocks noGrp="1"/>
          </p:cNvSpPr>
          <p:nvPr>
            <p:ph sz="quarter" idx="1"/>
          </p:nvPr>
        </p:nvSpPr>
        <p:spPr/>
        <p:txBody>
          <a:bodyPr/>
          <a:lstStyle/>
          <a:p>
            <a:pPr marL="274320" lvl="2" indent="-274320">
              <a:spcBef>
                <a:spcPts val="600"/>
              </a:spcBef>
              <a:buClr>
                <a:schemeClr val="accent1"/>
              </a:buClr>
            </a:pPr>
            <a:r>
              <a:rPr lang="en-US" sz="2600" dirty="0">
                <a:solidFill>
                  <a:srgbClr val="FF0000"/>
                </a:solidFill>
              </a:rPr>
              <a:t>R</a:t>
            </a:r>
            <a:r>
              <a:rPr lang="en-US" sz="2600" dirty="0"/>
              <a:t> is </a:t>
            </a:r>
            <a:r>
              <a:rPr lang="en-US" sz="2600" dirty="0">
                <a:solidFill>
                  <a:srgbClr val="FF0000"/>
                </a:solidFill>
              </a:rPr>
              <a:t>not reflexive</a:t>
            </a:r>
            <a:r>
              <a:rPr lang="en-US" sz="2600" dirty="0"/>
              <a:t>, since </a:t>
            </a:r>
            <a:r>
              <a:rPr lang="en-US" sz="2600" dirty="0">
                <a:solidFill>
                  <a:srgbClr val="FF0000"/>
                </a:solidFill>
              </a:rPr>
              <a:t>0 </a:t>
            </a:r>
            <a:r>
              <a:rPr lang="en-US" sz="2600" dirty="0">
                <a:solidFill>
                  <a:srgbClr val="FF0000"/>
                </a:solidFill>
                <a:sym typeface="Symbol"/>
              </a:rPr>
              <a:t></a:t>
            </a:r>
            <a:r>
              <a:rPr lang="en-US" sz="2600" dirty="0">
                <a:solidFill>
                  <a:srgbClr val="FF0000"/>
                </a:solidFill>
              </a:rPr>
              <a:t> A</a:t>
            </a:r>
            <a:r>
              <a:rPr lang="en-US" sz="2600" dirty="0"/>
              <a:t> but </a:t>
            </a:r>
            <a:r>
              <a:rPr lang="en-US" sz="2600" dirty="0">
                <a:solidFill>
                  <a:srgbClr val="FF0000"/>
                </a:solidFill>
              </a:rPr>
              <a:t>(0, 0) </a:t>
            </a:r>
            <a:r>
              <a:rPr lang="en-US" sz="2600" dirty="0">
                <a:solidFill>
                  <a:srgbClr val="FF0000"/>
                </a:solidFill>
                <a:sym typeface="Symbol"/>
              </a:rPr>
              <a:t></a:t>
            </a:r>
            <a:r>
              <a:rPr lang="en-US" sz="2600" dirty="0">
                <a:solidFill>
                  <a:srgbClr val="FF0000"/>
                </a:solidFill>
              </a:rPr>
              <a:t>R</a:t>
            </a:r>
            <a:r>
              <a:rPr lang="en-US" sz="2600" dirty="0"/>
              <a:t> and also</a:t>
            </a:r>
          </a:p>
          <a:p>
            <a:pPr marL="274320" lvl="2" indent="-274320">
              <a:spcBef>
                <a:spcPts val="600"/>
              </a:spcBef>
              <a:buClr>
                <a:schemeClr val="accent1"/>
              </a:buClr>
              <a:buNone/>
            </a:pPr>
            <a:r>
              <a:rPr lang="en-US" sz="2600" dirty="0"/>
              <a:t>	 </a:t>
            </a:r>
            <a:r>
              <a:rPr lang="en-US" sz="2600" dirty="0">
                <a:solidFill>
                  <a:srgbClr val="FF0000"/>
                </a:solidFill>
              </a:rPr>
              <a:t>2 </a:t>
            </a:r>
            <a:r>
              <a:rPr lang="en-US" sz="2600" dirty="0">
                <a:solidFill>
                  <a:srgbClr val="FF0000"/>
                </a:solidFill>
                <a:sym typeface="Symbol"/>
              </a:rPr>
              <a:t></a:t>
            </a:r>
            <a:r>
              <a:rPr lang="en-US" sz="2600" dirty="0">
                <a:solidFill>
                  <a:srgbClr val="FF0000"/>
                </a:solidFill>
              </a:rPr>
              <a:t> A</a:t>
            </a:r>
            <a:r>
              <a:rPr lang="en-US" sz="2600" dirty="0"/>
              <a:t> but </a:t>
            </a:r>
            <a:r>
              <a:rPr lang="en-US" sz="2600" dirty="0">
                <a:solidFill>
                  <a:srgbClr val="FF0000"/>
                </a:solidFill>
              </a:rPr>
              <a:t>(2, 2) </a:t>
            </a:r>
            <a:r>
              <a:rPr lang="en-US" sz="2600" dirty="0">
                <a:solidFill>
                  <a:srgbClr val="FF0000"/>
                </a:solidFill>
                <a:sym typeface="Symbol"/>
              </a:rPr>
              <a:t> </a:t>
            </a:r>
            <a:r>
              <a:rPr lang="en-US" sz="2600" dirty="0">
                <a:solidFill>
                  <a:srgbClr val="FF0000"/>
                </a:solidFill>
              </a:rPr>
              <a:t>R</a:t>
            </a:r>
            <a:r>
              <a:rPr lang="en-US" sz="2600" dirty="0"/>
              <a:t>.</a:t>
            </a:r>
          </a:p>
          <a:p>
            <a:endParaRPr lang="en-US" dirty="0"/>
          </a:p>
          <a:p>
            <a:r>
              <a:rPr lang="en-US" dirty="0">
                <a:solidFill>
                  <a:srgbClr val="FF0000"/>
                </a:solidFill>
              </a:rPr>
              <a:t>R</a:t>
            </a:r>
            <a:r>
              <a:rPr lang="en-US" dirty="0"/>
              <a:t> is clearly </a:t>
            </a:r>
            <a:r>
              <a:rPr lang="en-US" dirty="0">
                <a:solidFill>
                  <a:srgbClr val="FF0000"/>
                </a:solidFill>
              </a:rPr>
              <a:t>symmetric</a:t>
            </a:r>
            <a:r>
              <a:rPr lang="en-US" dirty="0"/>
              <a:t>.</a:t>
            </a:r>
          </a:p>
          <a:p>
            <a:pPr>
              <a:buNone/>
            </a:pPr>
            <a:endParaRPr lang="en-US" dirty="0"/>
          </a:p>
          <a:p>
            <a:r>
              <a:rPr lang="en-US" dirty="0">
                <a:solidFill>
                  <a:srgbClr val="FF0000"/>
                </a:solidFill>
              </a:rPr>
              <a:t>R</a:t>
            </a:r>
            <a:r>
              <a:rPr lang="en-US" dirty="0"/>
              <a:t> is </a:t>
            </a:r>
            <a:r>
              <a:rPr lang="en-US" dirty="0">
                <a:solidFill>
                  <a:srgbClr val="FF0000"/>
                </a:solidFill>
              </a:rPr>
              <a:t>not transitive</a:t>
            </a:r>
            <a:r>
              <a:rPr lang="en-US" dirty="0"/>
              <a:t>, since </a:t>
            </a:r>
            <a:r>
              <a:rPr lang="en-US" dirty="0">
                <a:solidFill>
                  <a:srgbClr val="FF0000"/>
                </a:solidFill>
              </a:rPr>
              <a:t>(0, 2) &amp; (2, 0) </a:t>
            </a:r>
            <a:r>
              <a:rPr lang="en-US" dirty="0">
                <a:solidFill>
                  <a:srgbClr val="FF0000"/>
                </a:solidFill>
                <a:sym typeface="Symbol"/>
              </a:rPr>
              <a:t></a:t>
            </a:r>
            <a:r>
              <a:rPr lang="en-US" dirty="0">
                <a:solidFill>
                  <a:srgbClr val="FF0000"/>
                </a:solidFill>
              </a:rPr>
              <a:t> R</a:t>
            </a:r>
            <a:r>
              <a:rPr lang="en-US" dirty="0"/>
              <a:t> but </a:t>
            </a:r>
            <a:r>
              <a:rPr lang="en-US" dirty="0">
                <a:solidFill>
                  <a:srgbClr val="FF0000"/>
                </a:solidFill>
              </a:rPr>
              <a:t>(0, 0) </a:t>
            </a:r>
            <a:r>
              <a:rPr lang="en-US" dirty="0">
                <a:solidFill>
                  <a:srgbClr val="FF0000"/>
                </a:solidFill>
                <a:sym typeface="Symbol"/>
              </a:rPr>
              <a:t></a:t>
            </a:r>
            <a:r>
              <a:rPr lang="en-US" dirty="0">
                <a:solidFill>
                  <a:srgbClr val="FF0000"/>
                </a:solidFill>
              </a:rPr>
              <a:t>R</a:t>
            </a:r>
            <a:r>
              <a:rPr lang="en-US" dirty="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2000"/>
                                        <p:tgtEl>
                                          <p:spTgt spid="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xEl>
                                              <p:pRg st="5" end="5"/>
                                            </p:txEl>
                                          </p:spTgt>
                                        </p:tgtEl>
                                        <p:attrNameLst>
                                          <p:attrName>style.visibility</p:attrName>
                                        </p:attrNameLst>
                                      </p:cBhvr>
                                      <p:to>
                                        <p:strVal val="visible"/>
                                      </p:to>
                                    </p:set>
                                    <p:animEffect transition="in" filter="fade">
                                      <p:cBhvr>
                                        <p:cTn id="20"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E19944-04AC-4CD8-BA69-63C2A678C21A}" type="slidenum">
              <a:rPr lang="en-US" smtClean="0"/>
              <a:pPr/>
              <a:t>66</a:t>
            </a:fld>
            <a:endParaRPr lang="en-US"/>
          </a:p>
        </p:txBody>
      </p:sp>
      <p:sp>
        <p:nvSpPr>
          <p:cNvPr id="4" name="Content Placeholder 3"/>
          <p:cNvSpPr>
            <a:spLocks noGrp="1"/>
          </p:cNvSpPr>
          <p:nvPr>
            <p:ph sz="quarter" idx="1"/>
          </p:nvPr>
        </p:nvSpPr>
        <p:spPr>
          <a:xfrm>
            <a:off x="1181100" y="1359767"/>
            <a:ext cx="9829800" cy="3859742"/>
          </a:xfrm>
        </p:spPr>
        <p:txBody>
          <a:bodyPr>
            <a:normAutofit fontScale="92500"/>
          </a:bodyPr>
          <a:lstStyle/>
          <a:p>
            <a:r>
              <a:rPr lang="en-US" dirty="0"/>
              <a:t>For </a:t>
            </a:r>
            <a:r>
              <a:rPr lang="en-US" dirty="0">
                <a:solidFill>
                  <a:srgbClr val="FF0000"/>
                </a:solidFill>
              </a:rPr>
              <a:t>R</a:t>
            </a:r>
            <a:r>
              <a:rPr lang="en-US" dirty="0"/>
              <a:t> to be </a:t>
            </a:r>
            <a:r>
              <a:rPr lang="en-US" dirty="0">
                <a:solidFill>
                  <a:srgbClr val="FF0000"/>
                </a:solidFill>
              </a:rPr>
              <a:t>reflexive</a:t>
            </a:r>
            <a:r>
              <a:rPr lang="en-US" dirty="0"/>
              <a:t>, it must contain ordered pairs </a:t>
            </a:r>
            <a:r>
              <a:rPr lang="en-US" dirty="0">
                <a:solidFill>
                  <a:srgbClr val="FF0000"/>
                </a:solidFill>
              </a:rPr>
              <a:t>(0,0)</a:t>
            </a:r>
            <a:r>
              <a:rPr lang="en-US" dirty="0"/>
              <a:t> and </a:t>
            </a:r>
            <a:r>
              <a:rPr lang="en-US" dirty="0">
                <a:solidFill>
                  <a:srgbClr val="FF0000"/>
                </a:solidFill>
              </a:rPr>
              <a:t>(2,2)</a:t>
            </a:r>
            <a:r>
              <a:rPr lang="en-US" dirty="0"/>
              <a:t>.</a:t>
            </a:r>
          </a:p>
          <a:p>
            <a:endParaRPr lang="en-US" dirty="0"/>
          </a:p>
          <a:p>
            <a:r>
              <a:rPr lang="en-US" dirty="0"/>
              <a:t>For </a:t>
            </a:r>
            <a:r>
              <a:rPr lang="en-US" dirty="0">
                <a:solidFill>
                  <a:srgbClr val="FF0000"/>
                </a:solidFill>
              </a:rPr>
              <a:t>R</a:t>
            </a:r>
            <a:r>
              <a:rPr lang="en-US" dirty="0"/>
              <a:t> to be </a:t>
            </a:r>
            <a:r>
              <a:rPr lang="en-US" dirty="0">
                <a:solidFill>
                  <a:srgbClr val="FF0000"/>
                </a:solidFill>
              </a:rPr>
              <a:t>transitive</a:t>
            </a:r>
            <a:r>
              <a:rPr lang="en-US" dirty="0"/>
              <a:t>, </a:t>
            </a:r>
          </a:p>
          <a:p>
            <a:pPr>
              <a:buNone/>
            </a:pPr>
            <a:r>
              <a:rPr lang="en-US" dirty="0"/>
              <a:t>		we note </a:t>
            </a:r>
            <a:r>
              <a:rPr lang="en-US" dirty="0">
                <a:solidFill>
                  <a:srgbClr val="FF0000"/>
                </a:solidFill>
              </a:rPr>
              <a:t>(0, 2)</a:t>
            </a:r>
            <a:r>
              <a:rPr lang="en-US" dirty="0"/>
              <a:t> and </a:t>
            </a:r>
            <a:r>
              <a:rPr lang="en-US" dirty="0">
                <a:solidFill>
                  <a:srgbClr val="FF0000"/>
                </a:solidFill>
              </a:rPr>
              <a:t>(2, 0)</a:t>
            </a:r>
            <a:r>
              <a:rPr lang="en-US" dirty="0"/>
              <a:t> </a:t>
            </a:r>
            <a:r>
              <a:rPr lang="en-US" dirty="0">
                <a:solidFill>
                  <a:srgbClr val="FF0000"/>
                </a:solidFill>
                <a:sym typeface="Symbol"/>
              </a:rPr>
              <a:t></a:t>
            </a:r>
            <a:r>
              <a:rPr lang="en-US" dirty="0">
                <a:sym typeface="Symbol"/>
              </a:rPr>
              <a:t> </a:t>
            </a:r>
            <a:r>
              <a:rPr lang="en-US" dirty="0">
                <a:solidFill>
                  <a:srgbClr val="FF0000"/>
                </a:solidFill>
                <a:sym typeface="Symbol"/>
              </a:rPr>
              <a:t>R</a:t>
            </a:r>
            <a:r>
              <a:rPr lang="en-US" dirty="0"/>
              <a:t> but </a:t>
            </a:r>
            <a:r>
              <a:rPr lang="en-US" dirty="0">
                <a:solidFill>
                  <a:srgbClr val="FF0000"/>
                </a:solidFill>
              </a:rPr>
              <a:t>(0, 0) </a:t>
            </a:r>
            <a:r>
              <a:rPr lang="en-US" dirty="0">
                <a:solidFill>
                  <a:srgbClr val="FF0000"/>
                </a:solidFill>
                <a:sym typeface="Symbol"/>
              </a:rPr>
              <a:t> </a:t>
            </a:r>
            <a:r>
              <a:rPr lang="en-US" dirty="0">
                <a:solidFill>
                  <a:srgbClr val="FF0000"/>
                </a:solidFill>
              </a:rPr>
              <a:t>R</a:t>
            </a:r>
            <a:r>
              <a:rPr lang="en-US" dirty="0"/>
              <a:t>. </a:t>
            </a:r>
          </a:p>
          <a:p>
            <a:pPr>
              <a:buNone/>
            </a:pPr>
            <a:r>
              <a:rPr lang="en-US" dirty="0"/>
              <a:t>		Also </a:t>
            </a:r>
            <a:r>
              <a:rPr lang="en-US" dirty="0">
                <a:solidFill>
                  <a:srgbClr val="FF0000"/>
                </a:solidFill>
              </a:rPr>
              <a:t>(2, 0)</a:t>
            </a:r>
            <a:r>
              <a:rPr lang="en-US" dirty="0"/>
              <a:t> and </a:t>
            </a:r>
            <a:r>
              <a:rPr lang="en-US" dirty="0">
                <a:solidFill>
                  <a:srgbClr val="FF0000"/>
                </a:solidFill>
              </a:rPr>
              <a:t>(0, 2) </a:t>
            </a:r>
            <a:r>
              <a:rPr lang="en-US" dirty="0">
                <a:solidFill>
                  <a:srgbClr val="FF0000"/>
                </a:solidFill>
                <a:sym typeface="Symbol"/>
              </a:rPr>
              <a:t> </a:t>
            </a:r>
            <a:r>
              <a:rPr lang="en-US" dirty="0">
                <a:solidFill>
                  <a:srgbClr val="FF0000"/>
                </a:solidFill>
              </a:rPr>
              <a:t>R</a:t>
            </a:r>
            <a:r>
              <a:rPr lang="en-US" dirty="0"/>
              <a:t> but </a:t>
            </a:r>
            <a:r>
              <a:rPr lang="en-US" dirty="0">
                <a:solidFill>
                  <a:srgbClr val="FF0000"/>
                </a:solidFill>
              </a:rPr>
              <a:t>(2, 2)</a:t>
            </a:r>
            <a:r>
              <a:rPr lang="en-US" dirty="0">
                <a:solidFill>
                  <a:srgbClr val="FF0000"/>
                </a:solidFill>
                <a:sym typeface="Symbol"/>
              </a:rPr>
              <a:t> </a:t>
            </a:r>
            <a:r>
              <a:rPr lang="en-US" dirty="0">
                <a:solidFill>
                  <a:srgbClr val="FF0000"/>
                </a:solidFill>
              </a:rPr>
              <a:t>R</a:t>
            </a:r>
            <a:r>
              <a:rPr lang="en-US" dirty="0"/>
              <a:t>.</a:t>
            </a:r>
          </a:p>
          <a:p>
            <a:endParaRPr lang="en-US" dirty="0"/>
          </a:p>
          <a:p>
            <a:r>
              <a:rPr lang="en-US" dirty="0"/>
              <a:t>Hence </a:t>
            </a:r>
            <a:r>
              <a:rPr lang="en-US" dirty="0">
                <a:solidFill>
                  <a:srgbClr val="FF0000"/>
                </a:solidFill>
              </a:rPr>
              <a:t>(0, 0)</a:t>
            </a:r>
            <a:r>
              <a:rPr lang="en-US" dirty="0"/>
              <a:t> and </a:t>
            </a:r>
            <a:r>
              <a:rPr lang="en-US" dirty="0">
                <a:solidFill>
                  <a:srgbClr val="FF0000"/>
                </a:solidFill>
              </a:rPr>
              <a:t>(2, 2)</a:t>
            </a:r>
            <a:r>
              <a:rPr lang="en-US" dirty="0"/>
              <a:t>.  Are needed in </a:t>
            </a:r>
            <a:r>
              <a:rPr lang="en-US" dirty="0">
                <a:solidFill>
                  <a:srgbClr val="FF0000"/>
                </a:solidFill>
              </a:rPr>
              <a:t>R</a:t>
            </a:r>
            <a:r>
              <a:rPr lang="en-US" dirty="0"/>
              <a:t> to make it a </a:t>
            </a:r>
            <a:r>
              <a:rPr lang="en-US" dirty="0">
                <a:solidFill>
                  <a:srgbClr val="FF0000"/>
                </a:solidFill>
              </a:rPr>
              <a:t>transitive relation</a:t>
            </a:r>
            <a:r>
              <a:rPr lang="en-US" dirty="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109932" y="2055813"/>
            <a:ext cx="9972136" cy="3479322"/>
          </a:xfrm>
        </p:spPr>
        <p:txBody>
          <a:bodyPr>
            <a:normAutofit/>
          </a:bodyPr>
          <a:lstStyle/>
          <a:p>
            <a:pPr marL="0" indent="0" algn="just">
              <a:spcBef>
                <a:spcPct val="50000"/>
              </a:spcBef>
              <a:buNone/>
            </a:pPr>
            <a:r>
              <a:rPr lang="en-US" dirty="0">
                <a:solidFill>
                  <a:srgbClr val="C00000"/>
                </a:solidFill>
                <a:latin typeface="Cambria Math" pitchFamily="18" charset="0"/>
                <a:ea typeface="Cambria Math" pitchFamily="18" charset="0"/>
              </a:rPr>
              <a:t>Define a relation L on the set of real numbers R be defined as follows:</a:t>
            </a:r>
          </a:p>
          <a:p>
            <a:pPr marL="0" indent="0" algn="just">
              <a:spcBef>
                <a:spcPct val="50000"/>
              </a:spcBef>
              <a:buNone/>
            </a:pPr>
            <a:r>
              <a:rPr lang="en-US" dirty="0">
                <a:solidFill>
                  <a:srgbClr val="C00000"/>
                </a:solidFill>
                <a:latin typeface="Cambria Math" pitchFamily="18" charset="0"/>
                <a:ea typeface="Cambria Math" pitchFamily="18" charset="0"/>
              </a:rPr>
              <a:t>	for all x, y </a:t>
            </a:r>
            <a:r>
              <a:rPr lang="en-US" dirty="0">
                <a:latin typeface="Cambria Math" pitchFamily="18" charset="0"/>
                <a:ea typeface="Cambria Math" pitchFamily="18" charset="0"/>
                <a:sym typeface="Symbol" pitchFamily="18" charset="2"/>
              </a:rPr>
              <a:t> </a:t>
            </a:r>
            <a:r>
              <a:rPr lang="en-US" dirty="0">
                <a:solidFill>
                  <a:srgbClr val="C00000"/>
                </a:solidFill>
                <a:latin typeface="Cambria Math" pitchFamily="18" charset="0"/>
                <a:ea typeface="Cambria Math" pitchFamily="18" charset="0"/>
              </a:rPr>
              <a:t>R,	x L y </a:t>
            </a:r>
            <a:r>
              <a:rPr lang="en-US" dirty="0">
                <a:latin typeface="Cambria Math" pitchFamily="18" charset="0"/>
                <a:ea typeface="Cambria Math" pitchFamily="18" charset="0"/>
                <a:sym typeface="Symbol" pitchFamily="18" charset="2"/>
              </a:rPr>
              <a:t></a:t>
            </a:r>
            <a:r>
              <a:rPr lang="en-US" dirty="0">
                <a:solidFill>
                  <a:srgbClr val="C00000"/>
                </a:solidFill>
                <a:latin typeface="Cambria Math" pitchFamily="18" charset="0"/>
                <a:ea typeface="Cambria Math" pitchFamily="18" charset="0"/>
              </a:rPr>
              <a:t> x &lt; y.</a:t>
            </a:r>
          </a:p>
          <a:p>
            <a:pPr marL="514350" indent="-514350" algn="just">
              <a:spcBef>
                <a:spcPct val="50000"/>
              </a:spcBef>
              <a:buFont typeface="+mj-lt"/>
              <a:buAutoNum type="arabicPeriod"/>
            </a:pPr>
            <a:r>
              <a:rPr lang="en-US" dirty="0">
                <a:solidFill>
                  <a:schemeClr val="tx1"/>
                </a:solidFill>
                <a:latin typeface="Cambria Math" pitchFamily="18" charset="0"/>
                <a:ea typeface="Cambria Math" pitchFamily="18" charset="0"/>
              </a:rPr>
              <a:t>Is L reflexive?</a:t>
            </a:r>
          </a:p>
          <a:p>
            <a:pPr marL="514350" indent="-514350" algn="just">
              <a:spcBef>
                <a:spcPct val="50000"/>
              </a:spcBef>
              <a:buFont typeface="+mj-lt"/>
              <a:buAutoNum type="arabicPeriod"/>
            </a:pPr>
            <a:r>
              <a:rPr lang="en-US" dirty="0">
                <a:solidFill>
                  <a:schemeClr val="tx1"/>
                </a:solidFill>
                <a:latin typeface="Cambria Math" pitchFamily="18" charset="0"/>
                <a:ea typeface="Cambria Math" pitchFamily="18" charset="0"/>
              </a:rPr>
              <a:t>Is L symmetric?</a:t>
            </a:r>
          </a:p>
          <a:p>
            <a:pPr marL="514350" indent="-514350" algn="just">
              <a:spcBef>
                <a:spcPct val="50000"/>
              </a:spcBef>
              <a:buFont typeface="+mj-lt"/>
              <a:buAutoNum type="arabicPeriod"/>
            </a:pPr>
            <a:r>
              <a:rPr lang="en-US" dirty="0">
                <a:solidFill>
                  <a:schemeClr val="tx1"/>
                </a:solidFill>
                <a:latin typeface="Cambria Math" pitchFamily="18" charset="0"/>
                <a:ea typeface="Cambria Math" pitchFamily="18" charset="0"/>
              </a:rPr>
              <a:t>Is L transitive?</a:t>
            </a:r>
          </a:p>
        </p:txBody>
      </p:sp>
      <p:sp>
        <p:nvSpPr>
          <p:cNvPr id="4" name="Title 1">
            <a:extLst>
              <a:ext uri="{FF2B5EF4-FFF2-40B4-BE49-F238E27FC236}">
                <a16:creationId xmlns:a16="http://schemas.microsoft.com/office/drawing/2014/main" id="{FEE9C69F-A16B-4AC8-80F9-34B6B15586DC}"/>
              </a:ext>
            </a:extLst>
          </p:cNvPr>
          <p:cNvSpPr txBox="1">
            <a:spLocks/>
          </p:cNvSpPr>
          <p:nvPr/>
        </p:nvSpPr>
        <p:spPr>
          <a:xfrm>
            <a:off x="566468" y="0"/>
            <a:ext cx="10515600" cy="1325563"/>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b="1" u="sng" dirty="0">
                <a:solidFill>
                  <a:srgbClr val="0070C0"/>
                </a:solidFill>
              </a:rPr>
              <a:t>Practice Question ... </a:t>
            </a:r>
            <a:r>
              <a:rPr lang="pt-BR" b="1" u="sng" dirty="0">
                <a:solidFill>
                  <a:srgbClr val="00B050"/>
                </a:solidFill>
              </a:rPr>
              <a:t>Do it Yourself</a:t>
            </a:r>
            <a:endParaRPr lang="en-US" b="1" u="sng" dirty="0">
              <a:solidFill>
                <a:srgbClr val="00B050"/>
              </a:solidFill>
            </a:endParaRPr>
          </a:p>
        </p:txBody>
      </p:sp>
    </p:spTree>
    <p:extLst>
      <p:ext uri="{BB962C8B-B14F-4D97-AF65-F5344CB8AC3E}">
        <p14:creationId xmlns:p14="http://schemas.microsoft.com/office/powerpoint/2010/main" val="2473151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930560" y="1771651"/>
            <a:ext cx="10515600" cy="4721224"/>
          </a:xfrm>
        </p:spPr>
        <p:txBody>
          <a:bodyPr>
            <a:normAutofit/>
          </a:bodyPr>
          <a:lstStyle/>
          <a:p>
            <a:pPr marL="0" indent="0" algn="just">
              <a:spcBef>
                <a:spcPct val="50000"/>
              </a:spcBef>
              <a:buNone/>
            </a:pPr>
            <a:r>
              <a:rPr lang="en-US" dirty="0">
                <a:solidFill>
                  <a:srgbClr val="C00000"/>
                </a:solidFill>
                <a:latin typeface="Cambria Math" pitchFamily="18" charset="0"/>
                <a:ea typeface="Cambria Math" pitchFamily="18" charset="0"/>
              </a:rPr>
              <a:t>Define a relation R on the set of positive integers Z+ as follows:</a:t>
            </a:r>
          </a:p>
          <a:p>
            <a:pPr marL="0" indent="0" algn="just">
              <a:spcBef>
                <a:spcPct val="50000"/>
              </a:spcBef>
              <a:buNone/>
            </a:pPr>
            <a:r>
              <a:rPr lang="en-US" dirty="0">
                <a:solidFill>
                  <a:srgbClr val="C00000"/>
                </a:solidFill>
                <a:latin typeface="Cambria Math" pitchFamily="18" charset="0"/>
                <a:ea typeface="Cambria Math" pitchFamily="18" charset="0"/>
              </a:rPr>
              <a:t>		for all a, b </a:t>
            </a:r>
            <a:r>
              <a:rPr lang="en-US" dirty="0">
                <a:sym typeface="Symbol" pitchFamily="18" charset="2"/>
              </a:rPr>
              <a:t> </a:t>
            </a:r>
            <a:r>
              <a:rPr lang="en-US" dirty="0">
                <a:solidFill>
                  <a:srgbClr val="C00000"/>
                </a:solidFill>
                <a:latin typeface="Cambria Math" pitchFamily="18" charset="0"/>
                <a:ea typeface="Cambria Math" pitchFamily="18" charset="0"/>
              </a:rPr>
              <a:t>Z</a:t>
            </a:r>
            <a:r>
              <a:rPr lang="en-US" baseline="30000" dirty="0">
                <a:solidFill>
                  <a:srgbClr val="C00000"/>
                </a:solidFill>
                <a:latin typeface="Cambria Math" pitchFamily="18" charset="0"/>
                <a:ea typeface="Cambria Math" pitchFamily="18" charset="0"/>
              </a:rPr>
              <a:t>+</a:t>
            </a:r>
            <a:r>
              <a:rPr lang="en-US" dirty="0">
                <a:solidFill>
                  <a:srgbClr val="C00000"/>
                </a:solidFill>
                <a:latin typeface="Cambria Math" pitchFamily="18" charset="0"/>
                <a:ea typeface="Cambria Math" pitchFamily="18" charset="0"/>
              </a:rPr>
              <a:t>, a R b </a:t>
            </a:r>
            <a:r>
              <a:rPr lang="en-US" dirty="0" err="1">
                <a:solidFill>
                  <a:srgbClr val="C00000"/>
                </a:solidFill>
                <a:latin typeface="Cambria Math" pitchFamily="18" charset="0"/>
                <a:ea typeface="Cambria Math" pitchFamily="18" charset="0"/>
              </a:rPr>
              <a:t>iff</a:t>
            </a:r>
            <a:r>
              <a:rPr lang="en-US" dirty="0">
                <a:solidFill>
                  <a:srgbClr val="C00000"/>
                </a:solidFill>
                <a:latin typeface="Cambria Math" pitchFamily="18" charset="0"/>
                <a:ea typeface="Cambria Math" pitchFamily="18" charset="0"/>
              </a:rPr>
              <a:t> a x b is odd.</a:t>
            </a:r>
          </a:p>
          <a:p>
            <a:pPr marL="0" indent="0" algn="just">
              <a:spcBef>
                <a:spcPct val="50000"/>
              </a:spcBef>
              <a:buNone/>
            </a:pPr>
            <a:r>
              <a:rPr lang="en-US" dirty="0">
                <a:solidFill>
                  <a:srgbClr val="C00000"/>
                </a:solidFill>
                <a:latin typeface="Cambria Math" pitchFamily="18" charset="0"/>
                <a:ea typeface="Cambria Math" pitchFamily="18" charset="0"/>
              </a:rPr>
              <a:t>Determine whether the relation is</a:t>
            </a:r>
          </a:p>
          <a:p>
            <a:pPr marL="514350" indent="-514350" algn="just">
              <a:spcBef>
                <a:spcPct val="50000"/>
              </a:spcBef>
              <a:buFont typeface="+mj-lt"/>
              <a:buAutoNum type="alphaLcPeriod"/>
            </a:pPr>
            <a:r>
              <a:rPr lang="en-US" dirty="0">
                <a:solidFill>
                  <a:schemeClr val="tx1"/>
                </a:solidFill>
                <a:latin typeface="Cambria Math" pitchFamily="18" charset="0"/>
                <a:ea typeface="Cambria Math" pitchFamily="18" charset="0"/>
              </a:rPr>
              <a:t>Reflexive</a:t>
            </a:r>
          </a:p>
          <a:p>
            <a:pPr marL="514350" indent="-514350" algn="just">
              <a:spcBef>
                <a:spcPct val="50000"/>
              </a:spcBef>
              <a:buFont typeface="+mj-lt"/>
              <a:buAutoNum type="alphaLcPeriod"/>
            </a:pPr>
            <a:r>
              <a:rPr lang="en-US" dirty="0">
                <a:solidFill>
                  <a:schemeClr val="tx1"/>
                </a:solidFill>
                <a:latin typeface="Cambria Math" pitchFamily="18" charset="0"/>
                <a:ea typeface="Cambria Math" pitchFamily="18" charset="0"/>
              </a:rPr>
              <a:t>Symmetric	</a:t>
            </a:r>
          </a:p>
          <a:p>
            <a:pPr marL="514350" indent="-514350" algn="just">
              <a:spcBef>
                <a:spcPct val="50000"/>
              </a:spcBef>
              <a:buFont typeface="+mj-lt"/>
              <a:buAutoNum type="alphaLcPeriod"/>
            </a:pPr>
            <a:r>
              <a:rPr lang="en-US" dirty="0">
                <a:latin typeface="Cambria Math" pitchFamily="18" charset="0"/>
                <a:ea typeface="Cambria Math" pitchFamily="18" charset="0"/>
              </a:rPr>
              <a:t>T</a:t>
            </a:r>
            <a:r>
              <a:rPr lang="en-US" dirty="0">
                <a:solidFill>
                  <a:schemeClr val="tx1"/>
                </a:solidFill>
                <a:latin typeface="Cambria Math" pitchFamily="18" charset="0"/>
                <a:ea typeface="Cambria Math" pitchFamily="18" charset="0"/>
              </a:rPr>
              <a:t>ransitive</a:t>
            </a:r>
          </a:p>
          <a:p>
            <a:pPr marL="0" indent="0" algn="just">
              <a:spcBef>
                <a:spcPct val="50000"/>
              </a:spcBef>
              <a:buNone/>
            </a:pPr>
            <a:r>
              <a:rPr lang="en-US" dirty="0">
                <a:solidFill>
                  <a:srgbClr val="C00000"/>
                </a:solidFill>
                <a:latin typeface="Cambria Math" pitchFamily="18" charset="0"/>
                <a:ea typeface="Cambria Math" pitchFamily="18" charset="0"/>
              </a:rPr>
              <a:t>Justify your answer.</a:t>
            </a:r>
          </a:p>
        </p:txBody>
      </p:sp>
      <p:sp>
        <p:nvSpPr>
          <p:cNvPr id="4" name="Title 1">
            <a:extLst>
              <a:ext uri="{FF2B5EF4-FFF2-40B4-BE49-F238E27FC236}">
                <a16:creationId xmlns:a16="http://schemas.microsoft.com/office/drawing/2014/main" id="{EDFAAF09-FCC2-4363-8B94-68ADEA524109}"/>
              </a:ext>
            </a:extLst>
          </p:cNvPr>
          <p:cNvSpPr txBox="1">
            <a:spLocks/>
          </p:cNvSpPr>
          <p:nvPr/>
        </p:nvSpPr>
        <p:spPr>
          <a:xfrm>
            <a:off x="539496" y="0"/>
            <a:ext cx="10515600" cy="1325563"/>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b="1" u="sng" dirty="0">
                <a:solidFill>
                  <a:srgbClr val="0070C0"/>
                </a:solidFill>
              </a:rPr>
              <a:t>Practice Question ... </a:t>
            </a:r>
            <a:r>
              <a:rPr lang="pt-BR" b="1" u="sng" dirty="0">
                <a:solidFill>
                  <a:srgbClr val="00B050"/>
                </a:solidFill>
              </a:rPr>
              <a:t>Do it Yourself</a:t>
            </a:r>
            <a:endParaRPr lang="en-US" b="1" u="sng" dirty="0">
              <a:solidFill>
                <a:srgbClr val="00B050"/>
              </a:solidFill>
            </a:endParaRPr>
          </a:p>
        </p:txBody>
      </p:sp>
    </p:spTree>
    <p:extLst>
      <p:ext uri="{BB962C8B-B14F-4D97-AF65-F5344CB8AC3E}">
        <p14:creationId xmlns:p14="http://schemas.microsoft.com/office/powerpoint/2010/main" val="42917333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93178" y="1690688"/>
            <a:ext cx="10515599" cy="4862512"/>
          </a:xfrm>
        </p:spPr>
        <p:txBody>
          <a:bodyPr>
            <a:noAutofit/>
          </a:bodyPr>
          <a:lstStyle/>
          <a:p>
            <a:pPr marL="0" indent="0" algn="just">
              <a:spcBef>
                <a:spcPct val="50000"/>
              </a:spcBef>
              <a:buNone/>
            </a:pPr>
            <a:r>
              <a:rPr lang="en-US" dirty="0">
                <a:solidFill>
                  <a:srgbClr val="C00000"/>
                </a:solidFill>
                <a:latin typeface="Cambria Math" pitchFamily="18" charset="0"/>
                <a:ea typeface="Cambria Math" pitchFamily="18" charset="0"/>
              </a:rPr>
              <a:t>Let “D” be the “divides” relation on Z</a:t>
            </a:r>
            <a:r>
              <a:rPr lang="en-US" baseline="30000" dirty="0">
                <a:solidFill>
                  <a:srgbClr val="C00000"/>
                </a:solidFill>
                <a:latin typeface="Cambria Math" pitchFamily="18" charset="0"/>
                <a:ea typeface="Cambria Math" pitchFamily="18" charset="0"/>
              </a:rPr>
              <a:t>+</a:t>
            </a:r>
            <a:r>
              <a:rPr lang="en-US" dirty="0">
                <a:solidFill>
                  <a:srgbClr val="C00000"/>
                </a:solidFill>
                <a:latin typeface="Cambria Math" pitchFamily="18" charset="0"/>
                <a:ea typeface="Cambria Math" pitchFamily="18" charset="0"/>
              </a:rPr>
              <a:t> defined as: for all m, n </a:t>
            </a:r>
            <a:r>
              <a:rPr lang="en-US" dirty="0">
                <a:sym typeface="Symbol" pitchFamily="18" charset="2"/>
              </a:rPr>
              <a:t> </a:t>
            </a:r>
            <a:r>
              <a:rPr lang="en-US" dirty="0">
                <a:solidFill>
                  <a:srgbClr val="C00000"/>
                </a:solidFill>
                <a:latin typeface="Cambria Math" pitchFamily="18" charset="0"/>
                <a:ea typeface="Cambria Math" pitchFamily="18" charset="0"/>
              </a:rPr>
              <a:t>Z, </a:t>
            </a:r>
            <a:r>
              <a:rPr lang="en-US" dirty="0" err="1">
                <a:solidFill>
                  <a:srgbClr val="C00000"/>
                </a:solidFill>
                <a:latin typeface="Cambria Math" pitchFamily="18" charset="0"/>
                <a:ea typeface="Cambria Math" pitchFamily="18" charset="0"/>
              </a:rPr>
              <a:t>mDn</a:t>
            </a:r>
            <a:r>
              <a:rPr lang="en-US" dirty="0">
                <a:sym typeface="Symbol" pitchFamily="18" charset="2"/>
              </a:rPr>
              <a:t> </a:t>
            </a:r>
            <a:r>
              <a:rPr lang="en-US" dirty="0">
                <a:solidFill>
                  <a:srgbClr val="C00000"/>
                </a:solidFill>
                <a:latin typeface="Cambria Math" pitchFamily="18" charset="0"/>
                <a:ea typeface="Cambria Math" pitchFamily="18" charset="0"/>
              </a:rPr>
              <a:t> </a:t>
            </a:r>
            <a:r>
              <a:rPr lang="en-US" dirty="0" err="1">
                <a:solidFill>
                  <a:srgbClr val="C00000"/>
                </a:solidFill>
                <a:latin typeface="Cambria Math" pitchFamily="18" charset="0"/>
                <a:ea typeface="Cambria Math" pitchFamily="18" charset="0"/>
              </a:rPr>
              <a:t>m|n</a:t>
            </a:r>
            <a:r>
              <a:rPr lang="en-US" dirty="0">
                <a:solidFill>
                  <a:srgbClr val="C00000"/>
                </a:solidFill>
                <a:latin typeface="Cambria Math" pitchFamily="18" charset="0"/>
                <a:ea typeface="Cambria Math" pitchFamily="18" charset="0"/>
              </a:rPr>
              <a:t>.</a:t>
            </a:r>
          </a:p>
          <a:p>
            <a:pPr marL="0" indent="0" algn="just">
              <a:spcBef>
                <a:spcPct val="50000"/>
              </a:spcBef>
              <a:buNone/>
            </a:pPr>
            <a:r>
              <a:rPr lang="en-US" dirty="0">
                <a:solidFill>
                  <a:srgbClr val="C00000"/>
                </a:solidFill>
                <a:latin typeface="Cambria Math" pitchFamily="18" charset="0"/>
                <a:ea typeface="Cambria Math" pitchFamily="18" charset="0"/>
              </a:rPr>
              <a:t>Determine whether the relation is</a:t>
            </a:r>
          </a:p>
          <a:p>
            <a:pPr marL="514350" indent="-514350" algn="just">
              <a:spcBef>
                <a:spcPct val="50000"/>
              </a:spcBef>
              <a:buFont typeface="+mj-lt"/>
              <a:buAutoNum type="alphaLcPeriod"/>
            </a:pPr>
            <a:r>
              <a:rPr lang="en-US" dirty="0">
                <a:latin typeface="Cambria Math" pitchFamily="18" charset="0"/>
                <a:ea typeface="Cambria Math" pitchFamily="18" charset="0"/>
              </a:rPr>
              <a:t>Reflexive</a:t>
            </a:r>
          </a:p>
          <a:p>
            <a:pPr marL="514350" indent="-514350" algn="just">
              <a:spcBef>
                <a:spcPct val="50000"/>
              </a:spcBef>
              <a:buFont typeface="+mj-lt"/>
              <a:buAutoNum type="alphaLcPeriod"/>
            </a:pPr>
            <a:r>
              <a:rPr lang="en-US" dirty="0">
                <a:latin typeface="Cambria Math" pitchFamily="18" charset="0"/>
                <a:ea typeface="Cambria Math" pitchFamily="18" charset="0"/>
              </a:rPr>
              <a:t>symmetric	</a:t>
            </a:r>
          </a:p>
          <a:p>
            <a:pPr marL="514350" indent="-514350" algn="just">
              <a:spcBef>
                <a:spcPct val="50000"/>
              </a:spcBef>
              <a:buFont typeface="+mj-lt"/>
              <a:buAutoNum type="alphaLcPeriod"/>
            </a:pPr>
            <a:r>
              <a:rPr lang="en-US" dirty="0">
                <a:latin typeface="Cambria Math" pitchFamily="18" charset="0"/>
                <a:ea typeface="Cambria Math" pitchFamily="18" charset="0"/>
              </a:rPr>
              <a:t>transitive</a:t>
            </a:r>
          </a:p>
          <a:p>
            <a:pPr marL="0" indent="0" algn="just">
              <a:spcBef>
                <a:spcPct val="50000"/>
              </a:spcBef>
              <a:buNone/>
            </a:pPr>
            <a:r>
              <a:rPr lang="en-US" dirty="0">
                <a:solidFill>
                  <a:srgbClr val="C00000"/>
                </a:solidFill>
                <a:latin typeface="Cambria Math" pitchFamily="18" charset="0"/>
                <a:ea typeface="Cambria Math" pitchFamily="18" charset="0"/>
              </a:rPr>
              <a:t>Justify your answer.</a:t>
            </a:r>
          </a:p>
        </p:txBody>
      </p:sp>
      <p:sp>
        <p:nvSpPr>
          <p:cNvPr id="4" name="Title 1">
            <a:extLst>
              <a:ext uri="{FF2B5EF4-FFF2-40B4-BE49-F238E27FC236}">
                <a16:creationId xmlns:a16="http://schemas.microsoft.com/office/drawing/2014/main" id="{8C612757-2494-47F4-AF79-0EE17766A854}"/>
              </a:ext>
            </a:extLst>
          </p:cNvPr>
          <p:cNvSpPr txBox="1">
            <a:spLocks/>
          </p:cNvSpPr>
          <p:nvPr/>
        </p:nvSpPr>
        <p:spPr>
          <a:xfrm>
            <a:off x="539496" y="0"/>
            <a:ext cx="10515600" cy="1325563"/>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b="1" u="sng" dirty="0">
                <a:solidFill>
                  <a:srgbClr val="0070C0"/>
                </a:solidFill>
              </a:rPr>
              <a:t>Practice Question ... </a:t>
            </a:r>
            <a:r>
              <a:rPr lang="pt-BR" b="1" u="sng" dirty="0">
                <a:solidFill>
                  <a:srgbClr val="00B050"/>
                </a:solidFill>
              </a:rPr>
              <a:t>Do it Yourself</a:t>
            </a:r>
            <a:endParaRPr lang="en-US" b="1" u="sng" dirty="0">
              <a:solidFill>
                <a:srgbClr val="00B050"/>
              </a:solidFill>
            </a:endParaRPr>
          </a:p>
        </p:txBody>
      </p:sp>
    </p:spTree>
    <p:extLst>
      <p:ext uri="{BB962C8B-B14F-4D97-AF65-F5344CB8AC3E}">
        <p14:creationId xmlns:p14="http://schemas.microsoft.com/office/powerpoint/2010/main" val="10612997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EQUIVALENCE RELATION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70</a:t>
            </a:fld>
            <a:endParaRPr lang="en-US"/>
          </a:p>
        </p:txBody>
      </p:sp>
      <p:sp>
        <p:nvSpPr>
          <p:cNvPr id="4" name="Content Placeholder 3"/>
          <p:cNvSpPr>
            <a:spLocks noGrp="1"/>
          </p:cNvSpPr>
          <p:nvPr>
            <p:ph sz="quarter" idx="1"/>
          </p:nvPr>
        </p:nvSpPr>
        <p:spPr/>
        <p:txBody>
          <a:bodyPr/>
          <a:lstStyle/>
          <a:p>
            <a:r>
              <a:rPr lang="en-US" dirty="0"/>
              <a:t>Let </a:t>
            </a:r>
            <a:r>
              <a:rPr lang="en-US" dirty="0">
                <a:solidFill>
                  <a:srgbClr val="FF0000"/>
                </a:solidFill>
              </a:rPr>
              <a:t>A</a:t>
            </a:r>
            <a:r>
              <a:rPr lang="en-US" dirty="0"/>
              <a:t> be a </a:t>
            </a:r>
            <a:r>
              <a:rPr lang="en-US" dirty="0">
                <a:solidFill>
                  <a:srgbClr val="FF0000"/>
                </a:solidFill>
              </a:rPr>
              <a:t>non-empty set</a:t>
            </a:r>
            <a:r>
              <a:rPr lang="en-US" dirty="0"/>
              <a:t> and </a:t>
            </a:r>
            <a:r>
              <a:rPr lang="en-US" dirty="0">
                <a:solidFill>
                  <a:srgbClr val="FF0000"/>
                </a:solidFill>
              </a:rPr>
              <a:t>R</a:t>
            </a:r>
            <a:r>
              <a:rPr lang="en-US" dirty="0"/>
              <a:t> a </a:t>
            </a:r>
            <a:r>
              <a:rPr lang="en-US" dirty="0">
                <a:solidFill>
                  <a:srgbClr val="FF0000"/>
                </a:solidFill>
              </a:rPr>
              <a:t>binary relation</a:t>
            </a:r>
            <a:r>
              <a:rPr lang="en-US" dirty="0"/>
              <a:t> on </a:t>
            </a:r>
            <a:r>
              <a:rPr lang="en-US" dirty="0">
                <a:solidFill>
                  <a:srgbClr val="FF0000"/>
                </a:solidFill>
              </a:rPr>
              <a:t>A</a:t>
            </a:r>
            <a:r>
              <a:rPr lang="en-US" dirty="0"/>
              <a:t>. </a:t>
            </a:r>
          </a:p>
          <a:p>
            <a:pPr>
              <a:buNone/>
            </a:pPr>
            <a:r>
              <a:rPr lang="en-US" dirty="0"/>
              <a:t>	</a:t>
            </a:r>
            <a:r>
              <a:rPr lang="en-US" dirty="0">
                <a:solidFill>
                  <a:srgbClr val="FF0000"/>
                </a:solidFill>
              </a:rPr>
              <a:t>R</a:t>
            </a:r>
            <a:r>
              <a:rPr lang="en-US" dirty="0"/>
              <a:t> is an </a:t>
            </a:r>
            <a:r>
              <a:rPr lang="en-US" dirty="0">
                <a:solidFill>
                  <a:srgbClr val="FF0000"/>
                </a:solidFill>
              </a:rPr>
              <a:t>equivalence relation</a:t>
            </a:r>
            <a:r>
              <a:rPr lang="en-US" dirty="0"/>
              <a:t> if, and only if, </a:t>
            </a:r>
            <a:r>
              <a:rPr lang="en-US" dirty="0">
                <a:solidFill>
                  <a:srgbClr val="FF0000"/>
                </a:solidFill>
              </a:rPr>
              <a:t>R</a:t>
            </a:r>
            <a:r>
              <a:rPr lang="en-US" dirty="0"/>
              <a:t> is </a:t>
            </a:r>
            <a:r>
              <a:rPr lang="en-US" dirty="0">
                <a:solidFill>
                  <a:srgbClr val="FF0000"/>
                </a:solidFill>
              </a:rPr>
              <a:t>reflexive</a:t>
            </a:r>
            <a:r>
              <a:rPr lang="en-US" dirty="0"/>
              <a:t>, </a:t>
            </a:r>
            <a:r>
              <a:rPr lang="en-US" dirty="0">
                <a:solidFill>
                  <a:srgbClr val="FF0000"/>
                </a:solidFill>
              </a:rPr>
              <a:t>symmetric</a:t>
            </a:r>
            <a:r>
              <a:rPr lang="en-US" dirty="0"/>
              <a:t>, and </a:t>
            </a:r>
            <a:r>
              <a:rPr lang="en-US" dirty="0">
                <a:solidFill>
                  <a:srgbClr val="FF0000"/>
                </a:solidFill>
              </a:rPr>
              <a:t>transitive</a:t>
            </a:r>
            <a:r>
              <a:rPr lang="en-US" dirty="0"/>
              <a: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71</a:t>
            </a:fld>
            <a:endParaRPr lang="en-US"/>
          </a:p>
        </p:txBody>
      </p:sp>
      <p:sp>
        <p:nvSpPr>
          <p:cNvPr id="4" name="Content Placeholder 3"/>
          <p:cNvSpPr>
            <a:spLocks noGrp="1"/>
          </p:cNvSpPr>
          <p:nvPr>
            <p:ph sz="quarter" idx="1"/>
          </p:nvPr>
        </p:nvSpPr>
        <p:spPr/>
        <p:txBody>
          <a:bodyPr/>
          <a:lstStyle/>
          <a:p>
            <a:r>
              <a:rPr lang="en-US" dirty="0"/>
              <a:t>Let  A = </a:t>
            </a:r>
            <a:r>
              <a:rPr lang="en-US" dirty="0">
                <a:solidFill>
                  <a:srgbClr val="FF0000"/>
                </a:solidFill>
              </a:rPr>
              <a:t>{1, 2, 3, 4}</a:t>
            </a:r>
            <a:r>
              <a:rPr lang="en-US" dirty="0"/>
              <a:t> and</a:t>
            </a:r>
          </a:p>
          <a:p>
            <a:pPr>
              <a:buNone/>
            </a:pPr>
            <a:r>
              <a:rPr lang="en-US" dirty="0"/>
              <a:t>	R = </a:t>
            </a:r>
            <a:r>
              <a:rPr lang="en-US" dirty="0">
                <a:solidFill>
                  <a:srgbClr val="FF0000"/>
                </a:solidFill>
              </a:rPr>
              <a:t>{(1,1), (2, 2), (2, 4), (3, 3), (4, 2), (4, 4)}</a:t>
            </a:r>
          </a:p>
          <a:p>
            <a:pPr>
              <a:buNone/>
            </a:pPr>
            <a:r>
              <a:rPr lang="en-US" dirty="0"/>
              <a:t>	be a </a:t>
            </a:r>
            <a:r>
              <a:rPr lang="en-US" dirty="0">
                <a:solidFill>
                  <a:srgbClr val="FF0000"/>
                </a:solidFill>
              </a:rPr>
              <a:t>binary relation</a:t>
            </a:r>
            <a:r>
              <a:rPr lang="en-US" dirty="0"/>
              <a:t> on </a:t>
            </a:r>
            <a:r>
              <a:rPr lang="en-US" dirty="0">
                <a:solidFill>
                  <a:srgbClr val="FF0000"/>
                </a:solidFill>
              </a:rPr>
              <a:t>A</a:t>
            </a:r>
            <a:r>
              <a:rPr lang="en-US" dirty="0"/>
              <a:t>.</a:t>
            </a:r>
          </a:p>
          <a:p>
            <a:endParaRPr lang="en-US" dirty="0"/>
          </a:p>
          <a:p>
            <a:r>
              <a:rPr lang="en-US" dirty="0"/>
              <a:t>Note that </a:t>
            </a:r>
            <a:r>
              <a:rPr lang="en-US" dirty="0">
                <a:solidFill>
                  <a:srgbClr val="FF0000"/>
                </a:solidFill>
              </a:rPr>
              <a:t>R</a:t>
            </a:r>
            <a:r>
              <a:rPr lang="en-US" dirty="0"/>
              <a:t> is </a:t>
            </a:r>
            <a:r>
              <a:rPr lang="en-US" dirty="0">
                <a:solidFill>
                  <a:srgbClr val="FF0000"/>
                </a:solidFill>
              </a:rPr>
              <a:t>reflexive</a:t>
            </a:r>
            <a:r>
              <a:rPr lang="en-US" dirty="0"/>
              <a:t>, </a:t>
            </a:r>
            <a:r>
              <a:rPr lang="en-US" dirty="0">
                <a:solidFill>
                  <a:srgbClr val="FF0000"/>
                </a:solidFill>
              </a:rPr>
              <a:t>symmetric</a:t>
            </a:r>
            <a:r>
              <a:rPr lang="en-US" dirty="0"/>
              <a:t> and </a:t>
            </a:r>
            <a:r>
              <a:rPr lang="en-US" dirty="0">
                <a:solidFill>
                  <a:srgbClr val="FF0000"/>
                </a:solidFill>
              </a:rPr>
              <a:t>transitive</a:t>
            </a:r>
            <a:r>
              <a:rPr lang="en-US" dirty="0"/>
              <a:t>, hence an </a:t>
            </a:r>
            <a:r>
              <a:rPr lang="en-US" dirty="0">
                <a:solidFill>
                  <a:srgbClr val="FF0000"/>
                </a:solidFill>
              </a:rPr>
              <a:t>equivalence relation</a:t>
            </a:r>
            <a:r>
              <a:rPr lang="en-US" dirty="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095554" y="2019869"/>
            <a:ext cx="9959541" cy="3856495"/>
          </a:xfrm>
        </p:spPr>
        <p:txBody>
          <a:bodyPr>
            <a:normAutofit fontScale="92500"/>
          </a:bodyPr>
          <a:lstStyle/>
          <a:p>
            <a:pPr marL="0" indent="0">
              <a:lnSpc>
                <a:spcPct val="150000"/>
              </a:lnSpc>
              <a:buNone/>
            </a:pPr>
            <a:r>
              <a:rPr lang="en-US" dirty="0">
                <a:latin typeface="Cambria Math" pitchFamily="18" charset="0"/>
                <a:ea typeface="Cambria Math" pitchFamily="18" charset="0"/>
              </a:rPr>
              <a:t>Let R be a binary relation on a set A. R is </a:t>
            </a:r>
            <a:r>
              <a:rPr lang="en-US" dirty="0" err="1">
                <a:solidFill>
                  <a:srgbClr val="FF0000"/>
                </a:solidFill>
                <a:latin typeface="Cambria Math" pitchFamily="18" charset="0"/>
                <a:ea typeface="Cambria Math" pitchFamily="18" charset="0"/>
              </a:rPr>
              <a:t>irreflexive</a:t>
            </a:r>
            <a:r>
              <a:rPr lang="en-US" dirty="0">
                <a:latin typeface="Cambria Math" pitchFamily="18" charset="0"/>
                <a:ea typeface="Cambria Math" pitchFamily="18" charset="0"/>
              </a:rPr>
              <a:t> </a:t>
            </a:r>
            <a:r>
              <a:rPr lang="en-US" dirty="0" err="1">
                <a:latin typeface="Cambria Math" pitchFamily="18" charset="0"/>
                <a:ea typeface="Cambria Math" pitchFamily="18" charset="0"/>
              </a:rPr>
              <a:t>iff</a:t>
            </a:r>
            <a:r>
              <a:rPr lang="en-US" dirty="0">
                <a:latin typeface="Cambria Math" pitchFamily="18" charset="0"/>
                <a:ea typeface="Cambria Math" pitchFamily="18" charset="0"/>
              </a:rPr>
              <a:t>  </a:t>
            </a:r>
            <a:r>
              <a:rPr lang="en-US" dirty="0">
                <a:solidFill>
                  <a:srgbClr val="FF0000"/>
                </a:solidFill>
                <a:latin typeface="Cambria Math" pitchFamily="18" charset="0"/>
                <a:ea typeface="Cambria Math" pitchFamily="18" charset="0"/>
              </a:rPr>
              <a:t>for all a</a:t>
            </a:r>
            <a:r>
              <a:rPr lang="en-US" dirty="0">
                <a:solidFill>
                  <a:srgbClr val="FF0000"/>
                </a:solidFill>
                <a:sym typeface="Symbol" pitchFamily="18" charset="2"/>
              </a:rPr>
              <a:t>  </a:t>
            </a:r>
            <a:r>
              <a:rPr lang="en-US" dirty="0">
                <a:solidFill>
                  <a:srgbClr val="FF0000"/>
                </a:solidFill>
                <a:latin typeface="Cambria Math" pitchFamily="18" charset="0"/>
                <a:ea typeface="Cambria Math" pitchFamily="18" charset="0"/>
              </a:rPr>
              <a:t>A, (a, a) </a:t>
            </a:r>
            <a:r>
              <a:rPr lang="en-US" dirty="0">
                <a:solidFill>
                  <a:srgbClr val="FF0000"/>
                </a:solidFill>
                <a:sym typeface="Symbol" pitchFamily="18" charset="2"/>
              </a:rPr>
              <a:t> </a:t>
            </a:r>
            <a:r>
              <a:rPr lang="en-US" dirty="0">
                <a:solidFill>
                  <a:srgbClr val="FF0000"/>
                </a:solidFill>
                <a:latin typeface="Cambria Math" pitchFamily="18" charset="0"/>
                <a:ea typeface="Cambria Math" pitchFamily="18" charset="0"/>
              </a:rPr>
              <a:t>R</a:t>
            </a:r>
            <a:r>
              <a:rPr lang="en-US" dirty="0">
                <a:latin typeface="Cambria Math" pitchFamily="18" charset="0"/>
                <a:ea typeface="Cambria Math" pitchFamily="18" charset="0"/>
              </a:rPr>
              <a:t>. That is, R is </a:t>
            </a:r>
            <a:r>
              <a:rPr lang="en-US" dirty="0" err="1">
                <a:latin typeface="Cambria Math" pitchFamily="18" charset="0"/>
                <a:ea typeface="Cambria Math" pitchFamily="18" charset="0"/>
              </a:rPr>
              <a:t>irreflexive</a:t>
            </a:r>
            <a:r>
              <a:rPr lang="en-US" dirty="0">
                <a:latin typeface="Cambria Math" pitchFamily="18" charset="0"/>
                <a:ea typeface="Cambria Math" pitchFamily="18" charset="0"/>
              </a:rPr>
              <a:t> if no element in A is related to itself by R.</a:t>
            </a:r>
          </a:p>
          <a:p>
            <a:pPr marL="0" indent="0">
              <a:lnSpc>
                <a:spcPct val="150000"/>
              </a:lnSpc>
              <a:buNone/>
            </a:pPr>
            <a:r>
              <a:rPr lang="en-US" dirty="0">
                <a:solidFill>
                  <a:srgbClr val="C00000"/>
                </a:solidFill>
                <a:latin typeface="Cambria Math" pitchFamily="18" charset="0"/>
                <a:ea typeface="Cambria Math" pitchFamily="18" charset="0"/>
              </a:rPr>
              <a:t>REMARK:</a:t>
            </a:r>
          </a:p>
          <a:p>
            <a:pPr marL="0" indent="0">
              <a:lnSpc>
                <a:spcPct val="150000"/>
              </a:lnSpc>
              <a:buNone/>
            </a:pPr>
            <a:r>
              <a:rPr lang="en-US" dirty="0">
                <a:latin typeface="Cambria Math" pitchFamily="18" charset="0"/>
                <a:ea typeface="Cambria Math" pitchFamily="18" charset="0"/>
              </a:rPr>
              <a:t>R is not irreflexive </a:t>
            </a:r>
            <a:r>
              <a:rPr lang="en-US" dirty="0" err="1">
                <a:latin typeface="Cambria Math" pitchFamily="18" charset="0"/>
                <a:ea typeface="Cambria Math" pitchFamily="18" charset="0"/>
              </a:rPr>
              <a:t>iff</a:t>
            </a:r>
            <a:r>
              <a:rPr lang="en-US" dirty="0">
                <a:latin typeface="Cambria Math" pitchFamily="18" charset="0"/>
                <a:ea typeface="Cambria Math" pitchFamily="18" charset="0"/>
              </a:rPr>
              <a:t> there is an element a</a:t>
            </a:r>
            <a:r>
              <a:rPr lang="en-US" dirty="0">
                <a:sym typeface="Symbol" pitchFamily="18" charset="2"/>
              </a:rPr>
              <a:t>  </a:t>
            </a:r>
            <a:r>
              <a:rPr lang="en-US" dirty="0">
                <a:latin typeface="Cambria Math" pitchFamily="18" charset="0"/>
                <a:ea typeface="Cambria Math" pitchFamily="18" charset="0"/>
              </a:rPr>
              <a:t>A such that (a, a) </a:t>
            </a:r>
            <a:r>
              <a:rPr lang="en-US" dirty="0">
                <a:sym typeface="Symbol" pitchFamily="18" charset="2"/>
              </a:rPr>
              <a:t> </a:t>
            </a:r>
            <a:r>
              <a:rPr lang="en-US" dirty="0">
                <a:latin typeface="Cambria Math" pitchFamily="18" charset="0"/>
                <a:ea typeface="Cambria Math" pitchFamily="18" charset="0"/>
              </a:rPr>
              <a:t>R.</a:t>
            </a:r>
          </a:p>
        </p:txBody>
      </p:sp>
      <p:sp>
        <p:nvSpPr>
          <p:cNvPr id="4" name="Title 1">
            <a:extLst>
              <a:ext uri="{FF2B5EF4-FFF2-40B4-BE49-F238E27FC236}">
                <a16:creationId xmlns:a16="http://schemas.microsoft.com/office/drawing/2014/main" id="{2ACBF392-A9C8-4C0F-B9A9-A5B3CCC9AECE}"/>
              </a:ext>
            </a:extLst>
          </p:cNvPr>
          <p:cNvSpPr txBox="1">
            <a:spLocks/>
          </p:cNvSpPr>
          <p:nvPr/>
        </p:nvSpPr>
        <p:spPr>
          <a:xfrm>
            <a:off x="539496" y="365125"/>
            <a:ext cx="10515600" cy="1325563"/>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dirty="0">
                <a:solidFill>
                  <a:srgbClr val="0070C0"/>
                </a:solidFill>
              </a:rPr>
              <a:t>Irreflexive Relation</a:t>
            </a:r>
          </a:p>
        </p:txBody>
      </p:sp>
    </p:spTree>
    <p:extLst>
      <p:ext uri="{BB962C8B-B14F-4D97-AF65-F5344CB8AC3E}">
        <p14:creationId xmlns:p14="http://schemas.microsoft.com/office/powerpoint/2010/main" val="87497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138687" y="1331259"/>
            <a:ext cx="9300713" cy="3357282"/>
          </a:xfrm>
        </p:spPr>
        <p:txBody>
          <a:bodyPr>
            <a:normAutofit/>
          </a:bodyPr>
          <a:lstStyle/>
          <a:p>
            <a:pPr marL="0" indent="0">
              <a:buNone/>
            </a:pPr>
            <a:r>
              <a:rPr lang="en-US" sz="2400" dirty="0">
                <a:latin typeface="Cambria Math" pitchFamily="18" charset="0"/>
                <a:ea typeface="Cambria Math" pitchFamily="18" charset="0"/>
              </a:rPr>
              <a:t>Let A = {1,2,3,4} and define the following relations on A:</a:t>
            </a:r>
          </a:p>
          <a:p>
            <a:pPr marL="0" indent="0">
              <a:buNone/>
            </a:pPr>
            <a:r>
              <a:rPr lang="en-US" sz="2400" dirty="0">
                <a:latin typeface="Cambria Math" pitchFamily="18" charset="0"/>
                <a:ea typeface="Cambria Math" pitchFamily="18" charset="0"/>
              </a:rPr>
              <a:t>R</a:t>
            </a:r>
            <a:r>
              <a:rPr lang="en-US" sz="2400" baseline="-25000" dirty="0">
                <a:latin typeface="Cambria Math" pitchFamily="18" charset="0"/>
                <a:ea typeface="Cambria Math" pitchFamily="18" charset="0"/>
              </a:rPr>
              <a:t>1</a:t>
            </a:r>
            <a:r>
              <a:rPr lang="en-US" sz="2400" dirty="0">
                <a:latin typeface="Cambria Math" pitchFamily="18" charset="0"/>
                <a:ea typeface="Cambria Math" pitchFamily="18" charset="0"/>
              </a:rPr>
              <a:t> = {(1,3), (1,4), (2,3), (2,4), (3,1), (3,4)}</a:t>
            </a:r>
          </a:p>
          <a:p>
            <a:pPr marL="0" indent="0">
              <a:buNone/>
            </a:pPr>
            <a:r>
              <a:rPr lang="en-US" sz="2400" dirty="0">
                <a:latin typeface="Cambria Math" pitchFamily="18" charset="0"/>
                <a:ea typeface="Cambria Math" pitchFamily="18" charset="0"/>
              </a:rPr>
              <a:t>R</a:t>
            </a:r>
            <a:r>
              <a:rPr lang="en-US" sz="2400" baseline="-25000" dirty="0">
                <a:latin typeface="Cambria Math" pitchFamily="18" charset="0"/>
                <a:ea typeface="Cambria Math" pitchFamily="18" charset="0"/>
              </a:rPr>
              <a:t>2</a:t>
            </a:r>
            <a:r>
              <a:rPr lang="en-US" sz="2400" dirty="0">
                <a:latin typeface="Cambria Math" pitchFamily="18" charset="0"/>
                <a:ea typeface="Cambria Math" pitchFamily="18" charset="0"/>
              </a:rPr>
              <a:t> = {(1,1), (1,2), (2,1), (2,2), (3,3), (4,4)}</a:t>
            </a:r>
          </a:p>
          <a:p>
            <a:pPr marL="0" indent="0">
              <a:buNone/>
            </a:pPr>
            <a:r>
              <a:rPr lang="en-US" sz="2400" dirty="0">
                <a:latin typeface="Cambria Math" pitchFamily="18" charset="0"/>
                <a:ea typeface="Cambria Math" pitchFamily="18" charset="0"/>
              </a:rPr>
              <a:t>R</a:t>
            </a:r>
            <a:r>
              <a:rPr lang="en-US" sz="2400" baseline="-25000" dirty="0">
                <a:latin typeface="Cambria Math" pitchFamily="18" charset="0"/>
                <a:ea typeface="Cambria Math" pitchFamily="18" charset="0"/>
              </a:rPr>
              <a:t>3</a:t>
            </a:r>
            <a:r>
              <a:rPr lang="en-US" sz="2400" dirty="0">
                <a:latin typeface="Cambria Math" pitchFamily="18" charset="0"/>
                <a:ea typeface="Cambria Math" pitchFamily="18" charset="0"/>
              </a:rPr>
              <a:t> = {(1,2), (2,3), (3,3), (3,4)}</a:t>
            </a:r>
          </a:p>
          <a:p>
            <a:pPr marL="0" indent="0">
              <a:buNone/>
            </a:pPr>
            <a:endParaRPr lang="en-US" sz="2400" dirty="0">
              <a:latin typeface="Cambria Math" pitchFamily="18" charset="0"/>
              <a:ea typeface="Cambria Math" pitchFamily="18" charset="0"/>
            </a:endParaRPr>
          </a:p>
          <a:p>
            <a:pPr marL="0" indent="0">
              <a:buNone/>
            </a:pPr>
            <a:r>
              <a:rPr lang="en-US" sz="2400" b="1" dirty="0">
                <a:solidFill>
                  <a:srgbClr val="0070C0"/>
                </a:solidFill>
                <a:latin typeface="Cambria Math" pitchFamily="18" charset="0"/>
                <a:ea typeface="Cambria Math" pitchFamily="18" charset="0"/>
              </a:rPr>
              <a:t>Solution:</a:t>
            </a:r>
          </a:p>
        </p:txBody>
      </p:sp>
      <p:sp>
        <p:nvSpPr>
          <p:cNvPr id="4" name="Text Placeholder 1"/>
          <p:cNvSpPr txBox="1">
            <a:spLocks/>
          </p:cNvSpPr>
          <p:nvPr/>
        </p:nvSpPr>
        <p:spPr>
          <a:xfrm>
            <a:off x="1138687" y="4168588"/>
            <a:ext cx="8458200" cy="2110003"/>
          </a:xfrm>
          <a:prstGeom prst="rect">
            <a:avLst/>
          </a:prstGeom>
        </p:spPr>
        <p:txBody>
          <a:bodyPr>
            <a:normAutofit/>
          </a:bodyPr>
          <a:lstStyle/>
          <a:p>
            <a:pPr marL="514350" indent="-514350">
              <a:buFont typeface="+mj-lt"/>
              <a:buAutoNum type="arabicPeriod"/>
              <a:defRPr/>
            </a:pPr>
            <a:r>
              <a:rPr lang="en-US" sz="2400" kern="0" dirty="0">
                <a:latin typeface="Cambria Math" pitchFamily="18" charset="0"/>
                <a:ea typeface="Cambria Math" pitchFamily="18" charset="0"/>
              </a:rPr>
              <a:t>Relation R</a:t>
            </a:r>
            <a:r>
              <a:rPr lang="en-US" sz="2400" baseline="-25000" dirty="0">
                <a:latin typeface="Cambria Math" pitchFamily="18" charset="0"/>
                <a:ea typeface="Cambria Math" pitchFamily="18" charset="0"/>
              </a:rPr>
              <a:t>1</a:t>
            </a:r>
            <a:r>
              <a:rPr lang="en-US" sz="2400" kern="0" dirty="0">
                <a:latin typeface="Cambria Math" pitchFamily="18" charset="0"/>
                <a:ea typeface="Cambria Math" pitchFamily="18" charset="0"/>
              </a:rPr>
              <a:t> is </a:t>
            </a:r>
            <a:r>
              <a:rPr lang="en-US" sz="2400" kern="0" dirty="0" err="1">
                <a:latin typeface="Cambria Math" pitchFamily="18" charset="0"/>
                <a:ea typeface="Cambria Math" pitchFamily="18" charset="0"/>
              </a:rPr>
              <a:t>irreflexive</a:t>
            </a:r>
            <a:r>
              <a:rPr lang="en-US" sz="2400" kern="0" dirty="0">
                <a:latin typeface="Cambria Math" pitchFamily="18" charset="0"/>
                <a:ea typeface="Cambria Math" pitchFamily="18" charset="0"/>
              </a:rPr>
              <a:t> relation</a:t>
            </a:r>
          </a:p>
          <a:p>
            <a:pPr marL="514350" indent="-514350">
              <a:buFont typeface="+mj-lt"/>
              <a:buAutoNum type="arabicPeriod"/>
              <a:defRPr/>
            </a:pPr>
            <a:r>
              <a:rPr lang="en-US" sz="2400" kern="0" dirty="0">
                <a:latin typeface="Cambria Math" pitchFamily="18" charset="0"/>
                <a:ea typeface="Cambria Math" pitchFamily="18" charset="0"/>
              </a:rPr>
              <a:t>Relation R</a:t>
            </a:r>
            <a:r>
              <a:rPr lang="en-US" sz="2400" baseline="-25000" dirty="0">
                <a:latin typeface="Cambria Math" pitchFamily="18" charset="0"/>
                <a:ea typeface="Cambria Math" pitchFamily="18" charset="0"/>
              </a:rPr>
              <a:t>2</a:t>
            </a:r>
            <a:r>
              <a:rPr lang="en-US" sz="2400" kern="0" dirty="0">
                <a:latin typeface="Cambria Math" pitchFamily="18" charset="0"/>
                <a:ea typeface="Cambria Math" pitchFamily="18" charset="0"/>
              </a:rPr>
              <a:t> is reflexive</a:t>
            </a:r>
          </a:p>
          <a:p>
            <a:pPr marL="514350" indent="-514350">
              <a:buFont typeface="+mj-lt"/>
              <a:buAutoNum type="arabicPeriod"/>
              <a:defRPr/>
            </a:pPr>
            <a:r>
              <a:rPr lang="en-US" sz="2400" kern="0" dirty="0">
                <a:latin typeface="Cambria Math" pitchFamily="18" charset="0"/>
                <a:ea typeface="Cambria Math" pitchFamily="18" charset="0"/>
              </a:rPr>
              <a:t>Relation R</a:t>
            </a:r>
            <a:r>
              <a:rPr lang="en-US" sz="2400" baseline="-25000" dirty="0">
                <a:latin typeface="Cambria Math" pitchFamily="18" charset="0"/>
                <a:ea typeface="Cambria Math" pitchFamily="18" charset="0"/>
              </a:rPr>
              <a:t>3</a:t>
            </a:r>
            <a:r>
              <a:rPr lang="en-US" sz="2400" kern="0" dirty="0">
                <a:latin typeface="Cambria Math" pitchFamily="18" charset="0"/>
                <a:ea typeface="Cambria Math" pitchFamily="18" charset="0"/>
              </a:rPr>
              <a:t> is neither </a:t>
            </a:r>
            <a:r>
              <a:rPr lang="en-US" sz="2400" kern="0" dirty="0" err="1">
                <a:latin typeface="Cambria Math" pitchFamily="18" charset="0"/>
                <a:ea typeface="Cambria Math" pitchFamily="18" charset="0"/>
              </a:rPr>
              <a:t>irreflexive</a:t>
            </a:r>
            <a:r>
              <a:rPr lang="en-US" sz="2400" kern="0" dirty="0">
                <a:latin typeface="Cambria Math" pitchFamily="18" charset="0"/>
                <a:ea typeface="Cambria Math" pitchFamily="18" charset="0"/>
              </a:rPr>
              <a:t> nor is reflexive</a:t>
            </a:r>
          </a:p>
        </p:txBody>
      </p:sp>
      <p:sp>
        <p:nvSpPr>
          <p:cNvPr id="5" name="Title 1">
            <a:extLst>
              <a:ext uri="{FF2B5EF4-FFF2-40B4-BE49-F238E27FC236}">
                <a16:creationId xmlns:a16="http://schemas.microsoft.com/office/drawing/2014/main" id="{02CE2242-677C-4DC7-9B69-82FECEDDF691}"/>
              </a:ext>
            </a:extLst>
          </p:cNvPr>
          <p:cNvSpPr txBox="1">
            <a:spLocks/>
          </p:cNvSpPr>
          <p:nvPr/>
        </p:nvSpPr>
        <p:spPr>
          <a:xfrm>
            <a:off x="539496" y="365126"/>
            <a:ext cx="10515600" cy="818216"/>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dirty="0">
                <a:solidFill>
                  <a:srgbClr val="0070C0"/>
                </a:solidFill>
              </a:rPr>
              <a:t>Example</a:t>
            </a:r>
          </a:p>
        </p:txBody>
      </p:sp>
    </p:spTree>
    <p:extLst>
      <p:ext uri="{BB962C8B-B14F-4D97-AF65-F5344CB8AC3E}">
        <p14:creationId xmlns:p14="http://schemas.microsoft.com/office/powerpoint/2010/main" val="2292656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026544" y="1770635"/>
            <a:ext cx="10138913" cy="1676400"/>
          </a:xfrm>
        </p:spPr>
        <p:txBody>
          <a:bodyPr>
            <a:normAutofit/>
          </a:bodyPr>
          <a:lstStyle/>
          <a:p>
            <a:pPr marL="0" indent="0" algn="just">
              <a:buNone/>
            </a:pPr>
            <a:r>
              <a:rPr lang="en-US" sz="2400" dirty="0">
                <a:latin typeface="Cambria Math" pitchFamily="18" charset="0"/>
                <a:ea typeface="Cambria Math" pitchFamily="18" charset="0"/>
              </a:rPr>
              <a:t>A relation is </a:t>
            </a:r>
            <a:r>
              <a:rPr lang="en-US" sz="2400" dirty="0" err="1">
                <a:latin typeface="Cambria Math" pitchFamily="18" charset="0"/>
                <a:ea typeface="Cambria Math" pitchFamily="18" charset="0"/>
              </a:rPr>
              <a:t>irreflexive</a:t>
            </a:r>
            <a:r>
              <a:rPr lang="en-US" sz="2400" dirty="0">
                <a:latin typeface="Cambria Math" pitchFamily="18" charset="0"/>
                <a:ea typeface="Cambria Math" pitchFamily="18" charset="0"/>
              </a:rPr>
              <a:t> if in its matrix representation the diagonal elements are all zero, if one of them is not zero the we will say that the relation is not </a:t>
            </a:r>
            <a:r>
              <a:rPr lang="en-US" sz="2400" dirty="0" err="1">
                <a:latin typeface="Cambria Math" pitchFamily="18" charset="0"/>
                <a:ea typeface="Cambria Math" pitchFamily="18" charset="0"/>
              </a:rPr>
              <a:t>irreflexive</a:t>
            </a:r>
            <a:r>
              <a:rPr lang="en-US" sz="2400" dirty="0">
                <a:latin typeface="Cambria Math" pitchFamily="18" charset="0"/>
                <a:ea typeface="Cambria Math" pitchFamily="18" charset="0"/>
              </a:rPr>
              <a:t>.</a:t>
            </a:r>
          </a:p>
          <a:p>
            <a:pPr marL="0" indent="0" algn="just">
              <a:buNone/>
            </a:pPr>
            <a:endParaRPr lang="en-US" sz="2400" dirty="0">
              <a:latin typeface="Cambria Math" pitchFamily="18" charset="0"/>
              <a:ea typeface="Cambria Math" pitchFamily="18" charset="0"/>
            </a:endParaRPr>
          </a:p>
        </p:txBody>
      </p:sp>
      <p:sp>
        <p:nvSpPr>
          <p:cNvPr id="4" name="Text Placeholder 1"/>
          <p:cNvSpPr txBox="1">
            <a:spLocks/>
          </p:cNvSpPr>
          <p:nvPr/>
        </p:nvSpPr>
        <p:spPr>
          <a:xfrm>
            <a:off x="1026543" y="3276448"/>
            <a:ext cx="7611374" cy="2362200"/>
          </a:xfrm>
          <a:prstGeom prst="rect">
            <a:avLst/>
          </a:prstGeom>
        </p:spPr>
        <p:txBody>
          <a:bodyPr>
            <a:normAutofit/>
          </a:bodyPr>
          <a:lstStyle/>
          <a:p>
            <a:pPr marL="514350" indent="-514350">
              <a:defRPr/>
            </a:pPr>
            <a:r>
              <a:rPr lang="en-US" sz="2400" kern="0" dirty="0">
                <a:latin typeface="Cambria Math" pitchFamily="18" charset="0"/>
                <a:ea typeface="Cambria Math" pitchFamily="18" charset="0"/>
              </a:rPr>
              <a:t>EXAMPLE : </a:t>
            </a:r>
          </a:p>
          <a:p>
            <a:pPr lvl="0">
              <a:defRPr/>
            </a:pPr>
            <a:r>
              <a:rPr lang="en-US" sz="2400" kern="0" dirty="0">
                <a:latin typeface="Cambria Math" pitchFamily="18" charset="0"/>
                <a:ea typeface="Cambria Math" pitchFamily="18" charset="0"/>
              </a:rPr>
              <a:t>Let A = {1,2,3} and R = {(1,3), (2,1), (2,3), (3,2)} be represented by the matrix</a:t>
            </a:r>
          </a:p>
        </p:txBody>
      </p:sp>
      <p:graphicFrame>
        <p:nvGraphicFramePr>
          <p:cNvPr id="54274" name="Object 2"/>
          <p:cNvGraphicFramePr>
            <a:graphicFrameLocks noChangeAspect="1"/>
          </p:cNvGraphicFramePr>
          <p:nvPr/>
        </p:nvGraphicFramePr>
        <p:xfrm>
          <a:off x="8166340" y="3364853"/>
          <a:ext cx="2895600" cy="2489867"/>
        </p:xfrm>
        <a:graphic>
          <a:graphicData uri="http://schemas.openxmlformats.org/presentationml/2006/ole">
            <mc:AlternateContent xmlns:mc="http://schemas.openxmlformats.org/markup-compatibility/2006">
              <mc:Choice xmlns:v="urn:schemas-microsoft-com:vml" Requires="v">
                <p:oleObj spid="_x0000_s24581" name="Microsoft Equation 3.0" r:id="rId3" imgW="1091880" imgH="939600" progId="Equation.3">
                  <p:embed/>
                </p:oleObj>
              </mc:Choice>
              <mc:Fallback>
                <p:oleObj name="Microsoft Equation 3.0" r:id="rId3" imgW="1091880" imgH="939600" progId="Equation.3">
                  <p:embed/>
                  <p:pic>
                    <p:nvPicPr>
                      <p:cNvPr id="5427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6340" y="3364853"/>
                        <a:ext cx="2895600" cy="24898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5"/>
          <p:cNvSpPr txBox="1">
            <a:spLocks noChangeArrowheads="1"/>
          </p:cNvSpPr>
          <p:nvPr/>
        </p:nvSpPr>
        <p:spPr bwMode="auto">
          <a:xfrm>
            <a:off x="1446362" y="6006862"/>
            <a:ext cx="9144000" cy="461665"/>
          </a:xfrm>
          <a:prstGeom prst="rect">
            <a:avLst/>
          </a:prstGeom>
          <a:noFill/>
          <a:ln w="9525">
            <a:noFill/>
            <a:miter lim="800000"/>
            <a:headEnd/>
            <a:tailEnd/>
          </a:ln>
          <a:effectLst/>
        </p:spPr>
        <p:txBody>
          <a:bodyPr wrap="square">
            <a:spAutoFit/>
          </a:bodyPr>
          <a:lstStyle/>
          <a:p>
            <a:pPr>
              <a:spcBef>
                <a:spcPct val="50000"/>
              </a:spcBef>
            </a:pPr>
            <a:r>
              <a:rPr lang="en-US" sz="2400" dirty="0">
                <a:solidFill>
                  <a:srgbClr val="C00000"/>
                </a:solidFill>
                <a:latin typeface="Cambria Math" pitchFamily="18" charset="0"/>
                <a:ea typeface="Cambria Math" pitchFamily="18" charset="0"/>
              </a:rPr>
              <a:t>R is </a:t>
            </a:r>
            <a:r>
              <a:rPr lang="en-US" sz="2400" dirty="0" err="1">
                <a:solidFill>
                  <a:srgbClr val="C00000"/>
                </a:solidFill>
                <a:latin typeface="Cambria Math" pitchFamily="18" charset="0"/>
                <a:ea typeface="Cambria Math" pitchFamily="18" charset="0"/>
              </a:rPr>
              <a:t>irreflexive</a:t>
            </a:r>
            <a:r>
              <a:rPr lang="en-US" sz="2400" dirty="0">
                <a:solidFill>
                  <a:srgbClr val="C00000"/>
                </a:solidFill>
                <a:latin typeface="Cambria Math" pitchFamily="18" charset="0"/>
                <a:ea typeface="Cambria Math" pitchFamily="18" charset="0"/>
              </a:rPr>
              <a:t>, since all elements in the main diagonal are 0’s.</a:t>
            </a:r>
          </a:p>
        </p:txBody>
      </p:sp>
      <p:sp>
        <p:nvSpPr>
          <p:cNvPr id="7" name="Title 1">
            <a:extLst>
              <a:ext uri="{FF2B5EF4-FFF2-40B4-BE49-F238E27FC236}">
                <a16:creationId xmlns:a16="http://schemas.microsoft.com/office/drawing/2014/main" id="{C7159106-5F8F-4261-94F4-A3FEE61CEDB5}"/>
              </a:ext>
            </a:extLst>
          </p:cNvPr>
          <p:cNvSpPr txBox="1">
            <a:spLocks/>
          </p:cNvSpPr>
          <p:nvPr/>
        </p:nvSpPr>
        <p:spPr>
          <a:xfrm>
            <a:off x="539496" y="365126"/>
            <a:ext cx="11172892" cy="1189438"/>
          </a:xfrm>
          <a:prstGeom prst="rect">
            <a:avLst/>
          </a:prstGeom>
        </p:spPr>
        <p:txBody>
          <a:bodyPr vert="horz" lIns="91440" tIns="45720" rIns="91440" bIns="45720" rtlCol="0" anchor="b" anchorCtr="0">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dirty="0">
                <a:solidFill>
                  <a:srgbClr val="0070C0"/>
                </a:solidFill>
              </a:rPr>
              <a:t>Matrix Representation of Irreflexive Relation</a:t>
            </a:r>
          </a:p>
        </p:txBody>
      </p:sp>
    </p:spTree>
    <p:extLst>
      <p:ext uri="{BB962C8B-B14F-4D97-AF65-F5344CB8AC3E}">
        <p14:creationId xmlns:p14="http://schemas.microsoft.com/office/powerpoint/2010/main" val="15940125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85644" y="1976718"/>
            <a:ext cx="10389081" cy="2155674"/>
          </a:xfrm>
        </p:spPr>
        <p:txBody>
          <a:bodyPr>
            <a:normAutofit/>
          </a:bodyPr>
          <a:lstStyle/>
          <a:p>
            <a:pPr marL="0" indent="0">
              <a:buNone/>
            </a:pPr>
            <a:r>
              <a:rPr lang="en-US" dirty="0">
                <a:latin typeface="Cambria Math" pitchFamily="18" charset="0"/>
                <a:ea typeface="Cambria Math" pitchFamily="18" charset="0"/>
              </a:rPr>
              <a:t>Let R be the relation on the set of integers Z defined as: </a:t>
            </a:r>
          </a:p>
          <a:p>
            <a:pPr marL="0" indent="0">
              <a:buNone/>
            </a:pPr>
            <a:r>
              <a:rPr lang="en-US" dirty="0">
                <a:latin typeface="Cambria Math" pitchFamily="18" charset="0"/>
                <a:ea typeface="Cambria Math" pitchFamily="18" charset="0"/>
              </a:rPr>
              <a:t>for all </a:t>
            </a:r>
            <a:r>
              <a:rPr lang="en-US" dirty="0" err="1">
                <a:latin typeface="Cambria Math" pitchFamily="18" charset="0"/>
                <a:ea typeface="Cambria Math" pitchFamily="18" charset="0"/>
              </a:rPr>
              <a:t>a,b</a:t>
            </a:r>
            <a:r>
              <a:rPr lang="en-US" dirty="0">
                <a:latin typeface="Cambria Math" pitchFamily="18" charset="0"/>
                <a:ea typeface="Cambria Math" pitchFamily="18" charset="0"/>
              </a:rPr>
              <a:t> </a:t>
            </a:r>
            <a:r>
              <a:rPr lang="en-US" dirty="0">
                <a:sym typeface="Symbol" pitchFamily="18" charset="2"/>
              </a:rPr>
              <a:t> </a:t>
            </a:r>
            <a:r>
              <a:rPr lang="en-US" dirty="0">
                <a:latin typeface="Cambria Math" pitchFamily="18" charset="0"/>
                <a:ea typeface="Cambria Math" pitchFamily="18" charset="0"/>
              </a:rPr>
              <a:t>Z, (</a:t>
            </a:r>
            <a:r>
              <a:rPr lang="en-US" dirty="0" err="1">
                <a:latin typeface="Cambria Math" pitchFamily="18" charset="0"/>
                <a:ea typeface="Cambria Math" pitchFamily="18" charset="0"/>
              </a:rPr>
              <a:t>a,b</a:t>
            </a:r>
            <a:r>
              <a:rPr lang="en-US" dirty="0">
                <a:latin typeface="Cambria Math" pitchFamily="18" charset="0"/>
                <a:ea typeface="Cambria Math" pitchFamily="18" charset="0"/>
              </a:rPr>
              <a:t>) </a:t>
            </a:r>
            <a:r>
              <a:rPr lang="en-US" dirty="0">
                <a:sym typeface="Symbol" pitchFamily="18" charset="2"/>
              </a:rPr>
              <a:t> </a:t>
            </a:r>
            <a:r>
              <a:rPr lang="en-US" dirty="0">
                <a:latin typeface="Cambria Math" pitchFamily="18" charset="0"/>
                <a:ea typeface="Cambria Math" pitchFamily="18" charset="0"/>
              </a:rPr>
              <a:t>R </a:t>
            </a:r>
            <a:r>
              <a:rPr lang="en-US" dirty="0">
                <a:sym typeface="Symbol" pitchFamily="18" charset="2"/>
              </a:rPr>
              <a:t></a:t>
            </a:r>
            <a:r>
              <a:rPr lang="en-US" dirty="0">
                <a:latin typeface="Cambria Math" pitchFamily="18" charset="0"/>
                <a:ea typeface="Cambria Math" pitchFamily="18" charset="0"/>
              </a:rPr>
              <a:t> a &gt; b.</a:t>
            </a:r>
          </a:p>
          <a:p>
            <a:pPr marL="0" indent="0">
              <a:buNone/>
            </a:pPr>
            <a:r>
              <a:rPr lang="en-US" dirty="0">
                <a:solidFill>
                  <a:srgbClr val="C00000"/>
                </a:solidFill>
                <a:latin typeface="Cambria Math" pitchFamily="18" charset="0"/>
                <a:ea typeface="Cambria Math" pitchFamily="18" charset="0"/>
              </a:rPr>
              <a:t>Is R </a:t>
            </a:r>
            <a:r>
              <a:rPr lang="en-US" dirty="0" err="1">
                <a:solidFill>
                  <a:srgbClr val="C00000"/>
                </a:solidFill>
                <a:latin typeface="Cambria Math" pitchFamily="18" charset="0"/>
                <a:ea typeface="Cambria Math" pitchFamily="18" charset="0"/>
              </a:rPr>
              <a:t>irreflexive</a:t>
            </a:r>
            <a:r>
              <a:rPr lang="en-US" dirty="0">
                <a:solidFill>
                  <a:srgbClr val="C00000"/>
                </a:solidFill>
                <a:latin typeface="Cambria Math" pitchFamily="18" charset="0"/>
                <a:ea typeface="Cambria Math" pitchFamily="18" charset="0"/>
              </a:rPr>
              <a:t>?</a:t>
            </a:r>
          </a:p>
        </p:txBody>
      </p:sp>
      <p:sp>
        <p:nvSpPr>
          <p:cNvPr id="6" name="Title 1">
            <a:extLst>
              <a:ext uri="{FF2B5EF4-FFF2-40B4-BE49-F238E27FC236}">
                <a16:creationId xmlns:a16="http://schemas.microsoft.com/office/drawing/2014/main" id="{E93D9D33-CAFB-488B-9222-8EB35A19C066}"/>
              </a:ext>
            </a:extLst>
          </p:cNvPr>
          <p:cNvSpPr txBox="1">
            <a:spLocks/>
          </p:cNvSpPr>
          <p:nvPr/>
        </p:nvSpPr>
        <p:spPr>
          <a:xfrm>
            <a:off x="539496" y="365126"/>
            <a:ext cx="10515600" cy="818216"/>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dirty="0">
                <a:solidFill>
                  <a:srgbClr val="0070C0"/>
                </a:solidFill>
              </a:rPr>
              <a:t>Example</a:t>
            </a:r>
          </a:p>
        </p:txBody>
      </p:sp>
    </p:spTree>
    <p:extLst>
      <p:ext uri="{BB962C8B-B14F-4D97-AF65-F5344CB8AC3E}">
        <p14:creationId xmlns:p14="http://schemas.microsoft.com/office/powerpoint/2010/main" val="22773887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265546" y="1317812"/>
            <a:ext cx="9989643" cy="4944035"/>
          </a:xfrm>
        </p:spPr>
        <p:txBody>
          <a:bodyPr>
            <a:normAutofit/>
          </a:bodyPr>
          <a:lstStyle/>
          <a:p>
            <a:pPr marL="0" indent="0">
              <a:buNone/>
            </a:pPr>
            <a:r>
              <a:rPr lang="en-US" sz="2400" dirty="0">
                <a:latin typeface="Cambria Math" pitchFamily="18" charset="0"/>
                <a:ea typeface="Cambria Math" pitchFamily="18" charset="0"/>
              </a:rPr>
              <a:t>Let R be a binary relation on a set A.</a:t>
            </a:r>
          </a:p>
          <a:p>
            <a:pPr marL="0" indent="0">
              <a:buNone/>
            </a:pPr>
            <a:r>
              <a:rPr lang="en-US" sz="2400" dirty="0">
                <a:latin typeface="Cambria Math" pitchFamily="18" charset="0"/>
                <a:ea typeface="Cambria Math" pitchFamily="18" charset="0"/>
              </a:rPr>
              <a:t>R is anti-symmetric </a:t>
            </a:r>
            <a:r>
              <a:rPr lang="en-US" sz="2400" dirty="0" err="1">
                <a:latin typeface="Cambria Math" pitchFamily="18" charset="0"/>
                <a:ea typeface="Cambria Math" pitchFamily="18" charset="0"/>
              </a:rPr>
              <a:t>iff</a:t>
            </a:r>
            <a:r>
              <a:rPr lang="en-US" sz="2400" dirty="0">
                <a:latin typeface="Cambria Math" pitchFamily="18" charset="0"/>
                <a:ea typeface="Cambria Math" pitchFamily="18" charset="0"/>
              </a:rPr>
              <a:t>                                                                        </a:t>
            </a:r>
          </a:p>
          <a:p>
            <a:pPr marL="0" indent="0">
              <a:buNone/>
            </a:pPr>
            <a:r>
              <a:rPr lang="en-US" sz="2400" dirty="0">
                <a:latin typeface="Cambria Math" pitchFamily="18" charset="0"/>
                <a:ea typeface="Cambria Math" pitchFamily="18" charset="0"/>
              </a:rPr>
              <a:t>	</a:t>
            </a:r>
            <a:r>
              <a:rPr lang="en-US" sz="2400" dirty="0">
                <a:solidFill>
                  <a:srgbClr val="C00000"/>
                </a:solidFill>
                <a:sym typeface="Symbol" pitchFamily="18" charset="2"/>
              </a:rPr>
              <a:t> </a:t>
            </a:r>
            <a:r>
              <a:rPr lang="en-US" sz="2400" dirty="0">
                <a:solidFill>
                  <a:srgbClr val="C00000"/>
                </a:solidFill>
                <a:latin typeface="Cambria Math" pitchFamily="18" charset="0"/>
                <a:ea typeface="Cambria Math" pitchFamily="18" charset="0"/>
              </a:rPr>
              <a:t>a, b </a:t>
            </a:r>
            <a:r>
              <a:rPr lang="en-US" sz="2400" dirty="0">
                <a:solidFill>
                  <a:srgbClr val="C00000"/>
                </a:solidFill>
                <a:sym typeface="Symbol" pitchFamily="18" charset="2"/>
              </a:rPr>
              <a:t> </a:t>
            </a:r>
            <a:r>
              <a:rPr lang="en-US" sz="2400" dirty="0">
                <a:solidFill>
                  <a:srgbClr val="C00000"/>
                </a:solidFill>
                <a:latin typeface="Cambria Math" pitchFamily="18" charset="0"/>
                <a:ea typeface="Cambria Math" pitchFamily="18" charset="0"/>
              </a:rPr>
              <a:t>A if (</a:t>
            </a:r>
            <a:r>
              <a:rPr lang="en-US" sz="2400" dirty="0" err="1">
                <a:solidFill>
                  <a:srgbClr val="C00000"/>
                </a:solidFill>
                <a:latin typeface="Cambria Math" pitchFamily="18" charset="0"/>
                <a:ea typeface="Cambria Math" pitchFamily="18" charset="0"/>
              </a:rPr>
              <a:t>a,b</a:t>
            </a:r>
            <a:r>
              <a:rPr lang="en-US" sz="2400" dirty="0">
                <a:solidFill>
                  <a:srgbClr val="C00000"/>
                </a:solidFill>
                <a:latin typeface="Cambria Math" pitchFamily="18" charset="0"/>
                <a:ea typeface="Cambria Math" pitchFamily="18" charset="0"/>
              </a:rPr>
              <a:t>) </a:t>
            </a:r>
            <a:r>
              <a:rPr lang="en-US" sz="2400" dirty="0">
                <a:solidFill>
                  <a:srgbClr val="C00000"/>
                </a:solidFill>
                <a:sym typeface="Symbol" pitchFamily="18" charset="2"/>
              </a:rPr>
              <a:t> </a:t>
            </a:r>
            <a:r>
              <a:rPr lang="en-US" sz="2400" dirty="0">
                <a:solidFill>
                  <a:srgbClr val="C00000"/>
                </a:solidFill>
                <a:latin typeface="Cambria Math" pitchFamily="18" charset="0"/>
                <a:ea typeface="Cambria Math" pitchFamily="18" charset="0"/>
              </a:rPr>
              <a:t>R and (</a:t>
            </a:r>
            <a:r>
              <a:rPr lang="en-US" sz="2400" dirty="0" err="1">
                <a:solidFill>
                  <a:srgbClr val="C00000"/>
                </a:solidFill>
                <a:latin typeface="Cambria Math" pitchFamily="18" charset="0"/>
                <a:ea typeface="Cambria Math" pitchFamily="18" charset="0"/>
              </a:rPr>
              <a:t>b,a</a:t>
            </a:r>
            <a:r>
              <a:rPr lang="en-US" sz="2400" dirty="0">
                <a:solidFill>
                  <a:srgbClr val="C00000"/>
                </a:solidFill>
                <a:latin typeface="Cambria Math" pitchFamily="18" charset="0"/>
                <a:ea typeface="Cambria Math" pitchFamily="18" charset="0"/>
              </a:rPr>
              <a:t>) </a:t>
            </a:r>
            <a:r>
              <a:rPr lang="en-US" sz="2400" dirty="0">
                <a:solidFill>
                  <a:srgbClr val="C00000"/>
                </a:solidFill>
                <a:sym typeface="Symbol" pitchFamily="18" charset="2"/>
              </a:rPr>
              <a:t> </a:t>
            </a:r>
            <a:r>
              <a:rPr lang="en-US" sz="2400" dirty="0">
                <a:solidFill>
                  <a:srgbClr val="C00000"/>
                </a:solidFill>
                <a:latin typeface="Cambria Math" pitchFamily="18" charset="0"/>
                <a:ea typeface="Cambria Math" pitchFamily="18" charset="0"/>
              </a:rPr>
              <a:t>R then a = b</a:t>
            </a:r>
          </a:p>
          <a:p>
            <a:pPr marL="0" indent="0">
              <a:buNone/>
            </a:pPr>
            <a:endParaRPr lang="en-US" sz="2400" dirty="0">
              <a:solidFill>
                <a:srgbClr val="C00000"/>
              </a:solidFill>
              <a:latin typeface="Cambria Math" pitchFamily="18" charset="0"/>
              <a:ea typeface="Cambria Math" pitchFamily="18" charset="0"/>
            </a:endParaRPr>
          </a:p>
          <a:p>
            <a:pPr marL="0" indent="0">
              <a:buNone/>
            </a:pPr>
            <a:r>
              <a:rPr lang="en-US" sz="2400" dirty="0">
                <a:solidFill>
                  <a:srgbClr val="C00000"/>
                </a:solidFill>
                <a:latin typeface="Cambria Math" pitchFamily="18" charset="0"/>
                <a:ea typeface="Cambria Math" pitchFamily="18" charset="0"/>
              </a:rPr>
              <a:t>Remarks:</a:t>
            </a:r>
          </a:p>
          <a:p>
            <a:pPr marL="514350" indent="-514350">
              <a:buFont typeface="+mj-lt"/>
              <a:buAutoNum type="arabicPeriod"/>
            </a:pPr>
            <a:r>
              <a:rPr lang="en-US" sz="2400" dirty="0">
                <a:solidFill>
                  <a:schemeClr val="tx1"/>
                </a:solidFill>
                <a:latin typeface="Cambria Math" pitchFamily="18" charset="0"/>
                <a:ea typeface="Cambria Math" pitchFamily="18" charset="0"/>
              </a:rPr>
              <a:t>R is not anti-symmetric </a:t>
            </a:r>
            <a:r>
              <a:rPr lang="en-US" sz="2400" dirty="0" err="1">
                <a:solidFill>
                  <a:schemeClr val="tx1"/>
                </a:solidFill>
                <a:latin typeface="Cambria Math" pitchFamily="18" charset="0"/>
                <a:ea typeface="Cambria Math" pitchFamily="18" charset="0"/>
              </a:rPr>
              <a:t>iff</a:t>
            </a:r>
            <a:r>
              <a:rPr lang="en-US" sz="2400" dirty="0">
                <a:solidFill>
                  <a:schemeClr val="tx1"/>
                </a:solidFill>
                <a:latin typeface="Cambria Math" pitchFamily="18" charset="0"/>
                <a:ea typeface="Cambria Math" pitchFamily="18" charset="0"/>
              </a:rPr>
              <a:t> there are elements a and b in A such that (</a:t>
            </a:r>
            <a:r>
              <a:rPr lang="en-US" sz="2400" dirty="0" err="1">
                <a:solidFill>
                  <a:schemeClr val="tx1"/>
                </a:solidFill>
                <a:latin typeface="Cambria Math" pitchFamily="18" charset="0"/>
                <a:ea typeface="Cambria Math" pitchFamily="18" charset="0"/>
              </a:rPr>
              <a:t>a,b</a:t>
            </a:r>
            <a:r>
              <a:rPr lang="en-US" sz="2400" dirty="0">
                <a:solidFill>
                  <a:schemeClr val="tx1"/>
                </a:solidFill>
                <a:latin typeface="Cambria Math" pitchFamily="18" charset="0"/>
                <a:ea typeface="Cambria Math" pitchFamily="18" charset="0"/>
              </a:rPr>
              <a:t>) </a:t>
            </a:r>
            <a:r>
              <a:rPr lang="en-US" sz="2400" dirty="0">
                <a:sym typeface="Symbol" pitchFamily="18" charset="2"/>
              </a:rPr>
              <a:t> </a:t>
            </a:r>
            <a:r>
              <a:rPr lang="en-US" sz="2400" dirty="0">
                <a:solidFill>
                  <a:schemeClr val="tx1"/>
                </a:solidFill>
                <a:latin typeface="Cambria Math" pitchFamily="18" charset="0"/>
                <a:ea typeface="Cambria Math" pitchFamily="18" charset="0"/>
              </a:rPr>
              <a:t>R and (b, a) </a:t>
            </a:r>
            <a:r>
              <a:rPr lang="en-US" sz="2400" dirty="0">
                <a:sym typeface="Symbol" pitchFamily="18" charset="2"/>
              </a:rPr>
              <a:t> </a:t>
            </a:r>
            <a:r>
              <a:rPr lang="en-US" sz="2400" dirty="0">
                <a:solidFill>
                  <a:schemeClr val="tx1"/>
                </a:solidFill>
                <a:latin typeface="Cambria Math" pitchFamily="18" charset="0"/>
                <a:ea typeface="Cambria Math" pitchFamily="18" charset="0"/>
              </a:rPr>
              <a:t>R but a </a:t>
            </a:r>
            <a:r>
              <a:rPr lang="en-US" sz="2400" dirty="0">
                <a:sym typeface="Symbol" pitchFamily="18" charset="2"/>
              </a:rPr>
              <a:t></a:t>
            </a:r>
            <a:r>
              <a:rPr lang="en-US" sz="2400" dirty="0">
                <a:solidFill>
                  <a:schemeClr val="tx1"/>
                </a:solidFill>
                <a:latin typeface="Cambria Math" pitchFamily="18" charset="0"/>
                <a:ea typeface="Cambria Math" pitchFamily="18" charset="0"/>
              </a:rPr>
              <a:t> b</a:t>
            </a:r>
          </a:p>
          <a:p>
            <a:pPr marL="514350" indent="-514350">
              <a:buFont typeface="+mj-lt"/>
              <a:buAutoNum type="arabicPeriod"/>
            </a:pPr>
            <a:r>
              <a:rPr lang="en-US" sz="2400" dirty="0">
                <a:solidFill>
                  <a:schemeClr val="tx1"/>
                </a:solidFill>
                <a:latin typeface="Cambria Math" pitchFamily="18" charset="0"/>
                <a:ea typeface="Cambria Math" pitchFamily="18" charset="0"/>
              </a:rPr>
              <a:t>The properties of being symmetric and being anti-symmetric are not negative of each other</a:t>
            </a:r>
          </a:p>
          <a:p>
            <a:pPr marL="0" indent="0">
              <a:buNone/>
            </a:pPr>
            <a:endParaRPr lang="en-US" sz="2400" dirty="0">
              <a:solidFill>
                <a:srgbClr val="C00000"/>
              </a:solidFill>
              <a:latin typeface="Cambria Math" pitchFamily="18" charset="0"/>
              <a:ea typeface="Cambria Math" pitchFamily="18" charset="0"/>
            </a:endParaRPr>
          </a:p>
        </p:txBody>
      </p:sp>
      <p:sp>
        <p:nvSpPr>
          <p:cNvPr id="4" name="Title 1">
            <a:extLst>
              <a:ext uri="{FF2B5EF4-FFF2-40B4-BE49-F238E27FC236}">
                <a16:creationId xmlns:a16="http://schemas.microsoft.com/office/drawing/2014/main" id="{B7E78D61-FF00-4DB3-B1A4-E102B07D127B}"/>
              </a:ext>
            </a:extLst>
          </p:cNvPr>
          <p:cNvSpPr txBox="1">
            <a:spLocks/>
          </p:cNvSpPr>
          <p:nvPr/>
        </p:nvSpPr>
        <p:spPr>
          <a:xfrm>
            <a:off x="539496" y="340659"/>
            <a:ext cx="10515600" cy="818216"/>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dirty="0">
                <a:solidFill>
                  <a:srgbClr val="0070C0"/>
                </a:solidFill>
              </a:rPr>
              <a:t>Anti-Symmetric Relation</a:t>
            </a:r>
          </a:p>
        </p:txBody>
      </p:sp>
    </p:spTree>
    <p:extLst>
      <p:ext uri="{BB962C8B-B14F-4D97-AF65-F5344CB8AC3E}">
        <p14:creationId xmlns:p14="http://schemas.microsoft.com/office/powerpoint/2010/main" val="19291992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132936" y="1398494"/>
            <a:ext cx="8686800" cy="4144570"/>
          </a:xfrm>
        </p:spPr>
        <p:txBody>
          <a:bodyPr>
            <a:normAutofit/>
          </a:bodyPr>
          <a:lstStyle/>
          <a:p>
            <a:pPr marL="0" indent="0">
              <a:buNone/>
            </a:pPr>
            <a:r>
              <a:rPr lang="en-US" sz="2400" dirty="0">
                <a:latin typeface="Cambria Math" pitchFamily="18" charset="0"/>
                <a:ea typeface="Cambria Math" pitchFamily="18" charset="0"/>
              </a:rPr>
              <a:t>Let A = {1,2,3,4} and define the following relations on A.</a:t>
            </a:r>
          </a:p>
          <a:p>
            <a:pPr marL="0" indent="0">
              <a:buNone/>
            </a:pPr>
            <a:r>
              <a:rPr lang="en-US" sz="2400" dirty="0">
                <a:solidFill>
                  <a:srgbClr val="C00000"/>
                </a:solidFill>
                <a:latin typeface="Cambria Math" pitchFamily="18" charset="0"/>
                <a:ea typeface="Cambria Math" pitchFamily="18" charset="0"/>
              </a:rPr>
              <a:t>R</a:t>
            </a:r>
            <a:r>
              <a:rPr lang="en-US" sz="2400" baseline="-25000" dirty="0">
                <a:latin typeface="Cambria Math" pitchFamily="18" charset="0"/>
                <a:ea typeface="Cambria Math" pitchFamily="18" charset="0"/>
              </a:rPr>
              <a:t>1</a:t>
            </a:r>
            <a:r>
              <a:rPr lang="en-US" sz="2400" dirty="0">
                <a:solidFill>
                  <a:srgbClr val="C00000"/>
                </a:solidFill>
                <a:latin typeface="Cambria Math" pitchFamily="18" charset="0"/>
                <a:ea typeface="Cambria Math" pitchFamily="18" charset="0"/>
              </a:rPr>
              <a:t> = {(1,1),(2,2),(3,3)}	            </a:t>
            </a:r>
          </a:p>
          <a:p>
            <a:pPr marL="0" indent="0">
              <a:buNone/>
            </a:pPr>
            <a:r>
              <a:rPr lang="en-US" sz="2400" dirty="0">
                <a:solidFill>
                  <a:srgbClr val="C00000"/>
                </a:solidFill>
                <a:latin typeface="Cambria Math" pitchFamily="18" charset="0"/>
                <a:ea typeface="Cambria Math" pitchFamily="18" charset="0"/>
              </a:rPr>
              <a:t>R</a:t>
            </a:r>
            <a:r>
              <a:rPr lang="en-US" sz="2400" baseline="-25000" dirty="0">
                <a:latin typeface="Cambria Math" pitchFamily="18" charset="0"/>
                <a:ea typeface="Cambria Math" pitchFamily="18" charset="0"/>
              </a:rPr>
              <a:t>2</a:t>
            </a:r>
            <a:r>
              <a:rPr lang="en-US" sz="2400" dirty="0">
                <a:solidFill>
                  <a:srgbClr val="C00000"/>
                </a:solidFill>
                <a:latin typeface="Cambria Math" pitchFamily="18" charset="0"/>
                <a:ea typeface="Cambria Math" pitchFamily="18" charset="0"/>
              </a:rPr>
              <a:t> = {(1,2),(2,2), (2,3), (3,4), (4,1)}</a:t>
            </a:r>
          </a:p>
          <a:p>
            <a:pPr marL="0" indent="0">
              <a:buNone/>
            </a:pPr>
            <a:r>
              <a:rPr lang="en-US" sz="2400" dirty="0">
                <a:solidFill>
                  <a:srgbClr val="C00000"/>
                </a:solidFill>
                <a:latin typeface="Cambria Math" pitchFamily="18" charset="0"/>
                <a:ea typeface="Cambria Math" pitchFamily="18" charset="0"/>
              </a:rPr>
              <a:t>R</a:t>
            </a:r>
            <a:r>
              <a:rPr lang="en-US" sz="2400" baseline="-25000" dirty="0">
                <a:latin typeface="Cambria Math" pitchFamily="18" charset="0"/>
                <a:ea typeface="Cambria Math" pitchFamily="18" charset="0"/>
              </a:rPr>
              <a:t>3</a:t>
            </a:r>
            <a:r>
              <a:rPr lang="en-US" sz="2400" dirty="0">
                <a:solidFill>
                  <a:srgbClr val="C00000"/>
                </a:solidFill>
                <a:latin typeface="Cambria Math" pitchFamily="18" charset="0"/>
                <a:ea typeface="Cambria Math" pitchFamily="18" charset="0"/>
              </a:rPr>
              <a:t>={(1,3),(2,2), (2,4), (3,1), (4,2)}     </a:t>
            </a:r>
          </a:p>
          <a:p>
            <a:pPr marL="0" indent="0">
              <a:buNone/>
            </a:pPr>
            <a:r>
              <a:rPr lang="en-US" sz="2400" dirty="0">
                <a:solidFill>
                  <a:srgbClr val="C00000"/>
                </a:solidFill>
                <a:latin typeface="Cambria Math" pitchFamily="18" charset="0"/>
                <a:ea typeface="Cambria Math" pitchFamily="18" charset="0"/>
              </a:rPr>
              <a:t>R</a:t>
            </a:r>
            <a:r>
              <a:rPr lang="en-US" sz="2400" baseline="-25000" dirty="0">
                <a:latin typeface="Cambria Math" pitchFamily="18" charset="0"/>
                <a:ea typeface="Cambria Math" pitchFamily="18" charset="0"/>
              </a:rPr>
              <a:t>4</a:t>
            </a:r>
            <a:r>
              <a:rPr lang="en-US" sz="2400" dirty="0">
                <a:solidFill>
                  <a:srgbClr val="C00000"/>
                </a:solidFill>
                <a:latin typeface="Cambria Math" pitchFamily="18" charset="0"/>
                <a:ea typeface="Cambria Math" pitchFamily="18" charset="0"/>
              </a:rPr>
              <a:t>={(1,3),(2,4), (3,1), (4,3)}</a:t>
            </a:r>
          </a:p>
          <a:p>
            <a:pPr marL="0" indent="0">
              <a:buNone/>
            </a:pPr>
            <a:endParaRPr lang="en-US" sz="2400" dirty="0">
              <a:solidFill>
                <a:srgbClr val="C00000"/>
              </a:solidFill>
              <a:latin typeface="Cambria Math" pitchFamily="18" charset="0"/>
              <a:ea typeface="Cambria Math" pitchFamily="18" charset="0"/>
            </a:endParaRPr>
          </a:p>
          <a:p>
            <a:pPr marL="0" indent="0">
              <a:buNone/>
            </a:pPr>
            <a:r>
              <a:rPr lang="en-US" sz="2400" dirty="0">
                <a:solidFill>
                  <a:schemeClr val="tx1"/>
                </a:solidFill>
                <a:latin typeface="Cambria Math" pitchFamily="18" charset="0"/>
                <a:ea typeface="Cambria Math" pitchFamily="18" charset="0"/>
              </a:rPr>
              <a:t>Which of above relations are Anti-Symmetric?</a:t>
            </a:r>
          </a:p>
        </p:txBody>
      </p:sp>
      <p:sp>
        <p:nvSpPr>
          <p:cNvPr id="4" name="Title 1">
            <a:extLst>
              <a:ext uri="{FF2B5EF4-FFF2-40B4-BE49-F238E27FC236}">
                <a16:creationId xmlns:a16="http://schemas.microsoft.com/office/drawing/2014/main" id="{5F5F6E8E-DFA0-44E5-9047-B584CE052AB8}"/>
              </a:ext>
            </a:extLst>
          </p:cNvPr>
          <p:cNvSpPr txBox="1">
            <a:spLocks/>
          </p:cNvSpPr>
          <p:nvPr/>
        </p:nvSpPr>
        <p:spPr>
          <a:xfrm>
            <a:off x="539496" y="365126"/>
            <a:ext cx="10515600" cy="818216"/>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dirty="0">
                <a:solidFill>
                  <a:srgbClr val="0070C0"/>
                </a:solidFill>
              </a:rPr>
              <a:t>Example</a:t>
            </a:r>
          </a:p>
        </p:txBody>
      </p:sp>
    </p:spTree>
    <p:extLst>
      <p:ext uri="{BB962C8B-B14F-4D97-AF65-F5344CB8AC3E}">
        <p14:creationId xmlns:p14="http://schemas.microsoft.com/office/powerpoint/2010/main" val="10504452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052423" y="1399687"/>
            <a:ext cx="10350683" cy="2181714"/>
          </a:xfrm>
        </p:spPr>
        <p:txBody>
          <a:bodyPr>
            <a:noAutofit/>
          </a:bodyPr>
          <a:lstStyle/>
          <a:p>
            <a:pPr marL="0" indent="0">
              <a:buNone/>
            </a:pPr>
            <a:r>
              <a:rPr lang="en-US" sz="2400" dirty="0">
                <a:latin typeface="Cambria Math" pitchFamily="18" charset="0"/>
                <a:ea typeface="Cambria Math" pitchFamily="18" charset="0"/>
              </a:rPr>
              <a:t>Let R be an anti-symmetric relation on a set A = {a</a:t>
            </a:r>
            <a:r>
              <a:rPr lang="en-US" sz="2400" baseline="-25000" dirty="0">
                <a:latin typeface="Cambria Math" pitchFamily="18" charset="0"/>
                <a:ea typeface="Cambria Math" pitchFamily="18" charset="0"/>
              </a:rPr>
              <a:t>1</a:t>
            </a:r>
            <a:r>
              <a:rPr lang="en-US" sz="2400" dirty="0">
                <a:latin typeface="Cambria Math" pitchFamily="18" charset="0"/>
                <a:ea typeface="Cambria Math" pitchFamily="18" charset="0"/>
              </a:rPr>
              <a:t>, a</a:t>
            </a:r>
            <a:r>
              <a:rPr lang="en-US" sz="2400" baseline="-25000" dirty="0">
                <a:latin typeface="Cambria Math" pitchFamily="18" charset="0"/>
                <a:ea typeface="Cambria Math" pitchFamily="18" charset="0"/>
              </a:rPr>
              <a:t>2</a:t>
            </a:r>
            <a:r>
              <a:rPr lang="en-US" sz="2400" dirty="0">
                <a:latin typeface="Cambria Math" pitchFamily="18" charset="0"/>
                <a:ea typeface="Cambria Math" pitchFamily="18" charset="0"/>
              </a:rPr>
              <a:t>, …, a</a:t>
            </a:r>
            <a:r>
              <a:rPr lang="en-US" sz="2400" baseline="-25000" dirty="0">
                <a:latin typeface="Cambria Math" pitchFamily="18" charset="0"/>
                <a:ea typeface="Cambria Math" pitchFamily="18" charset="0"/>
              </a:rPr>
              <a:t>n</a:t>
            </a:r>
            <a:r>
              <a:rPr lang="en-US" sz="2400" dirty="0">
                <a:latin typeface="Cambria Math" pitchFamily="18" charset="0"/>
                <a:ea typeface="Cambria Math" pitchFamily="18" charset="0"/>
              </a:rPr>
              <a:t>}. Then  if (</a:t>
            </a:r>
            <a:r>
              <a:rPr lang="en-US" sz="2400" dirty="0" err="1">
                <a:latin typeface="Cambria Math" pitchFamily="18" charset="0"/>
                <a:ea typeface="Cambria Math" pitchFamily="18" charset="0"/>
              </a:rPr>
              <a:t>a</a:t>
            </a:r>
            <a:r>
              <a:rPr lang="en-US" sz="2400" baseline="-25000" dirty="0" err="1">
                <a:latin typeface="Cambria Math" pitchFamily="18" charset="0"/>
                <a:ea typeface="Cambria Math" pitchFamily="18" charset="0"/>
              </a:rPr>
              <a:t>i</a:t>
            </a:r>
            <a:r>
              <a:rPr lang="en-US" sz="2400" dirty="0">
                <a:latin typeface="Cambria Math" pitchFamily="18" charset="0"/>
                <a:ea typeface="Cambria Math" pitchFamily="18" charset="0"/>
              </a:rPr>
              <a:t>, </a:t>
            </a:r>
            <a:r>
              <a:rPr lang="en-US" sz="2400" dirty="0" err="1">
                <a:latin typeface="Cambria Math" pitchFamily="18" charset="0"/>
                <a:ea typeface="Cambria Math" pitchFamily="18" charset="0"/>
              </a:rPr>
              <a:t>a</a:t>
            </a:r>
            <a:r>
              <a:rPr lang="en-US" sz="2400" baseline="-25000" dirty="0" err="1">
                <a:latin typeface="Cambria Math" pitchFamily="18" charset="0"/>
                <a:ea typeface="Cambria Math" pitchFamily="18" charset="0"/>
              </a:rPr>
              <a:t>j</a:t>
            </a:r>
            <a:r>
              <a:rPr lang="en-US" sz="2400" dirty="0">
                <a:latin typeface="Cambria Math" pitchFamily="18" charset="0"/>
                <a:ea typeface="Cambria Math" pitchFamily="18" charset="0"/>
              </a:rPr>
              <a:t>) </a:t>
            </a:r>
            <a:r>
              <a:rPr lang="en-US" sz="2400" dirty="0">
                <a:latin typeface="Cambria Math" pitchFamily="18" charset="0"/>
                <a:ea typeface="Cambria Math" pitchFamily="18" charset="0"/>
                <a:sym typeface="Symbol" pitchFamily="18" charset="2"/>
              </a:rPr>
              <a:t> </a:t>
            </a:r>
            <a:r>
              <a:rPr lang="en-US" sz="2400" dirty="0">
                <a:latin typeface="Cambria Math" pitchFamily="18" charset="0"/>
                <a:ea typeface="Cambria Math" pitchFamily="18" charset="0"/>
              </a:rPr>
              <a:t>R for </a:t>
            </a:r>
            <a:r>
              <a:rPr lang="en-US" sz="2400" dirty="0" err="1">
                <a:latin typeface="Cambria Math" pitchFamily="18" charset="0"/>
                <a:ea typeface="Cambria Math" pitchFamily="18" charset="0"/>
              </a:rPr>
              <a:t>i</a:t>
            </a:r>
            <a:r>
              <a:rPr lang="en-US" sz="2400" dirty="0">
                <a:latin typeface="Cambria Math" pitchFamily="18" charset="0"/>
                <a:ea typeface="Cambria Math" pitchFamily="18" charset="0"/>
              </a:rPr>
              <a:t> </a:t>
            </a:r>
            <a:r>
              <a:rPr lang="en-US" sz="2400" dirty="0">
                <a:latin typeface="Cambria Math" pitchFamily="18" charset="0"/>
                <a:ea typeface="Cambria Math" pitchFamily="18" charset="0"/>
                <a:sym typeface="Symbol" pitchFamily="18" charset="2"/>
              </a:rPr>
              <a:t></a:t>
            </a:r>
            <a:r>
              <a:rPr lang="en-US" sz="2400" dirty="0">
                <a:latin typeface="Cambria Math" pitchFamily="18" charset="0"/>
                <a:ea typeface="Cambria Math" pitchFamily="18" charset="0"/>
              </a:rPr>
              <a:t> j then (</a:t>
            </a:r>
            <a:r>
              <a:rPr lang="en-US" sz="2400" dirty="0" err="1">
                <a:latin typeface="Cambria Math" pitchFamily="18" charset="0"/>
                <a:ea typeface="Cambria Math" pitchFamily="18" charset="0"/>
              </a:rPr>
              <a:t>a</a:t>
            </a:r>
            <a:r>
              <a:rPr lang="en-US" sz="2400" baseline="-25000" dirty="0" err="1">
                <a:latin typeface="Cambria Math" pitchFamily="18" charset="0"/>
                <a:ea typeface="Cambria Math" pitchFamily="18" charset="0"/>
              </a:rPr>
              <a:t>j</a:t>
            </a:r>
            <a:r>
              <a:rPr lang="en-US" sz="2400" dirty="0">
                <a:latin typeface="Cambria Math" pitchFamily="18" charset="0"/>
                <a:ea typeface="Cambria Math" pitchFamily="18" charset="0"/>
              </a:rPr>
              <a:t>, </a:t>
            </a:r>
            <a:r>
              <a:rPr lang="en-US" sz="2400" dirty="0" err="1">
                <a:latin typeface="Cambria Math" pitchFamily="18" charset="0"/>
                <a:ea typeface="Cambria Math" pitchFamily="18" charset="0"/>
              </a:rPr>
              <a:t>a</a:t>
            </a:r>
            <a:r>
              <a:rPr lang="en-US" sz="2400" baseline="-25000" dirty="0" err="1">
                <a:latin typeface="Cambria Math" pitchFamily="18" charset="0"/>
                <a:ea typeface="Cambria Math" pitchFamily="18" charset="0"/>
              </a:rPr>
              <a:t>i</a:t>
            </a:r>
            <a:r>
              <a:rPr lang="en-US" sz="2400" dirty="0">
                <a:latin typeface="Cambria Math" pitchFamily="18" charset="0"/>
                <a:ea typeface="Cambria Math" pitchFamily="18" charset="0"/>
              </a:rPr>
              <a:t>) </a:t>
            </a:r>
            <a:r>
              <a:rPr lang="en-US" sz="2400" dirty="0">
                <a:latin typeface="Cambria Math" pitchFamily="18" charset="0"/>
                <a:ea typeface="Cambria Math" pitchFamily="18" charset="0"/>
                <a:sym typeface="Symbol" pitchFamily="18" charset="2"/>
              </a:rPr>
              <a:t> </a:t>
            </a:r>
            <a:r>
              <a:rPr lang="en-US" sz="2400" dirty="0">
                <a:latin typeface="Cambria Math" pitchFamily="18" charset="0"/>
                <a:ea typeface="Cambria Math" pitchFamily="18" charset="0"/>
              </a:rPr>
              <a:t>R</a:t>
            </a:r>
          </a:p>
          <a:p>
            <a:pPr marL="0" indent="0">
              <a:buNone/>
            </a:pPr>
            <a:r>
              <a:rPr lang="en-US" sz="2400" dirty="0">
                <a:latin typeface="Cambria Math" pitchFamily="18" charset="0"/>
                <a:ea typeface="Cambria Math" pitchFamily="18" charset="0"/>
              </a:rPr>
              <a:t>Thus in the matrix representation of R there is a 1 in the </a:t>
            </a:r>
            <a:r>
              <a:rPr lang="en-US" sz="2400" dirty="0" err="1">
                <a:latin typeface="Cambria Math" pitchFamily="18" charset="0"/>
                <a:ea typeface="Cambria Math" pitchFamily="18" charset="0"/>
              </a:rPr>
              <a:t>ith</a:t>
            </a:r>
            <a:r>
              <a:rPr lang="en-US" sz="2400" dirty="0">
                <a:latin typeface="Cambria Math" pitchFamily="18" charset="0"/>
                <a:ea typeface="Cambria Math" pitchFamily="18" charset="0"/>
              </a:rPr>
              <a:t> row and </a:t>
            </a:r>
            <a:r>
              <a:rPr lang="en-US" sz="2400" dirty="0" err="1">
                <a:latin typeface="Cambria Math" pitchFamily="18" charset="0"/>
                <a:ea typeface="Cambria Math" pitchFamily="18" charset="0"/>
              </a:rPr>
              <a:t>jth</a:t>
            </a:r>
            <a:r>
              <a:rPr lang="en-US" sz="2400" dirty="0">
                <a:latin typeface="Cambria Math" pitchFamily="18" charset="0"/>
                <a:ea typeface="Cambria Math" pitchFamily="18" charset="0"/>
              </a:rPr>
              <a:t> column </a:t>
            </a:r>
            <a:r>
              <a:rPr lang="en-US" sz="2400" dirty="0" err="1">
                <a:latin typeface="Cambria Math" pitchFamily="18" charset="0"/>
                <a:ea typeface="Cambria Math" pitchFamily="18" charset="0"/>
              </a:rPr>
              <a:t>iff</a:t>
            </a:r>
            <a:r>
              <a:rPr lang="en-US" sz="2400" dirty="0">
                <a:latin typeface="Cambria Math" pitchFamily="18" charset="0"/>
                <a:ea typeface="Cambria Math" pitchFamily="18" charset="0"/>
              </a:rPr>
              <a:t> the </a:t>
            </a:r>
            <a:r>
              <a:rPr lang="en-US" sz="2400" dirty="0" err="1">
                <a:latin typeface="Cambria Math" pitchFamily="18" charset="0"/>
                <a:ea typeface="Cambria Math" pitchFamily="18" charset="0"/>
              </a:rPr>
              <a:t>jth</a:t>
            </a:r>
            <a:r>
              <a:rPr lang="en-US" sz="2400" dirty="0">
                <a:latin typeface="Cambria Math" pitchFamily="18" charset="0"/>
                <a:ea typeface="Cambria Math" pitchFamily="18" charset="0"/>
              </a:rPr>
              <a:t> row and </a:t>
            </a:r>
            <a:r>
              <a:rPr lang="en-US" sz="2400" dirty="0" err="1">
                <a:latin typeface="Cambria Math" pitchFamily="18" charset="0"/>
                <a:ea typeface="Cambria Math" pitchFamily="18" charset="0"/>
              </a:rPr>
              <a:t>ith</a:t>
            </a:r>
            <a:r>
              <a:rPr lang="en-US" sz="2400" dirty="0">
                <a:latin typeface="Cambria Math" pitchFamily="18" charset="0"/>
                <a:ea typeface="Cambria Math" pitchFamily="18" charset="0"/>
              </a:rPr>
              <a:t> column contains 0 vice versa</a:t>
            </a:r>
          </a:p>
        </p:txBody>
      </p:sp>
      <p:sp>
        <p:nvSpPr>
          <p:cNvPr id="4" name="Text Placeholder 1"/>
          <p:cNvSpPr txBox="1">
            <a:spLocks/>
          </p:cNvSpPr>
          <p:nvPr/>
        </p:nvSpPr>
        <p:spPr>
          <a:xfrm>
            <a:off x="1052422" y="3429000"/>
            <a:ext cx="6141753" cy="2863970"/>
          </a:xfrm>
          <a:prstGeom prst="rect">
            <a:avLst/>
          </a:prstGeom>
        </p:spPr>
        <p:txBody>
          <a:bodyPr>
            <a:normAutofit/>
          </a:bodyPr>
          <a:lstStyle/>
          <a:p>
            <a:pPr marL="514350" indent="-514350">
              <a:defRPr/>
            </a:pPr>
            <a:r>
              <a:rPr lang="en-US" sz="2800" b="1" kern="0" dirty="0">
                <a:latin typeface="Cambria Math" pitchFamily="18" charset="0"/>
                <a:ea typeface="Cambria Math" pitchFamily="18" charset="0"/>
              </a:rPr>
              <a:t>EXAMPLE</a:t>
            </a:r>
            <a:r>
              <a:rPr lang="en-US" sz="2800" kern="0" dirty="0">
                <a:latin typeface="Cambria Math" pitchFamily="18" charset="0"/>
                <a:ea typeface="Cambria Math" pitchFamily="18" charset="0"/>
              </a:rPr>
              <a:t> : </a:t>
            </a:r>
          </a:p>
          <a:p>
            <a:pPr lvl="0">
              <a:defRPr/>
            </a:pPr>
            <a:r>
              <a:rPr lang="en-US" sz="2800" kern="0" dirty="0">
                <a:solidFill>
                  <a:srgbClr val="C00000"/>
                </a:solidFill>
                <a:latin typeface="Cambria Math" pitchFamily="18" charset="0"/>
                <a:ea typeface="Cambria Math" pitchFamily="18" charset="0"/>
              </a:rPr>
              <a:t>Let A = {1,2,3} and a relation R = {(1,1), (1,2), (2,3), (3,1)} on A be represented by the matrix.</a:t>
            </a:r>
          </a:p>
        </p:txBody>
      </p:sp>
      <p:graphicFrame>
        <p:nvGraphicFramePr>
          <p:cNvPr id="57347" name="Object 3"/>
          <p:cNvGraphicFramePr>
            <a:graphicFrameLocks noChangeAspect="1"/>
          </p:cNvGraphicFramePr>
          <p:nvPr>
            <p:extLst>
              <p:ext uri="{D42A27DB-BD31-4B8C-83A1-F6EECF244321}">
                <p14:modId xmlns:p14="http://schemas.microsoft.com/office/powerpoint/2010/main" val="3068256834"/>
              </p:ext>
            </p:extLst>
          </p:nvPr>
        </p:nvGraphicFramePr>
        <p:xfrm>
          <a:off x="8229600" y="3581401"/>
          <a:ext cx="2971800" cy="2558229"/>
        </p:xfrm>
        <a:graphic>
          <a:graphicData uri="http://schemas.openxmlformats.org/presentationml/2006/ole">
            <mc:AlternateContent xmlns:mc="http://schemas.openxmlformats.org/markup-compatibility/2006">
              <mc:Choice xmlns:v="urn:schemas-microsoft-com:vml" Requires="v">
                <p:oleObj spid="_x0000_s25605" name="Equation" r:id="rId3" imgW="1091880" imgH="939600" progId="Equation.3">
                  <p:embed/>
                </p:oleObj>
              </mc:Choice>
              <mc:Fallback>
                <p:oleObj name="Equation" r:id="rId3" imgW="1091880" imgH="939600" progId="Equation.3">
                  <p:embed/>
                  <p:pic>
                    <p:nvPicPr>
                      <p:cNvPr id="5734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600" y="3581401"/>
                        <a:ext cx="2971800" cy="25582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itle 1">
            <a:extLst>
              <a:ext uri="{FF2B5EF4-FFF2-40B4-BE49-F238E27FC236}">
                <a16:creationId xmlns:a16="http://schemas.microsoft.com/office/drawing/2014/main" id="{ACD879C7-1735-4E5A-BF27-BAAF0900F9E4}"/>
              </a:ext>
            </a:extLst>
          </p:cNvPr>
          <p:cNvSpPr txBox="1">
            <a:spLocks/>
          </p:cNvSpPr>
          <p:nvPr/>
        </p:nvSpPr>
        <p:spPr>
          <a:xfrm>
            <a:off x="328018" y="365126"/>
            <a:ext cx="11535963" cy="729759"/>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u="sng" dirty="0">
                <a:solidFill>
                  <a:srgbClr val="0070C0"/>
                </a:solidFill>
              </a:rPr>
              <a:t>Matrix Representation of Anti-Symmetric Relation</a:t>
            </a:r>
          </a:p>
        </p:txBody>
      </p:sp>
    </p:spTree>
    <p:extLst>
      <p:ext uri="{BB962C8B-B14F-4D97-AF65-F5344CB8AC3E}">
        <p14:creationId xmlns:p14="http://schemas.microsoft.com/office/powerpoint/2010/main" val="22587857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38200" y="1976718"/>
            <a:ext cx="10515600" cy="4016188"/>
          </a:xfrm>
        </p:spPr>
        <p:txBody>
          <a:bodyPr>
            <a:normAutofit/>
          </a:bodyPr>
          <a:lstStyle/>
          <a:p>
            <a:pPr marL="365760" indent="-365760">
              <a:buFont typeface="Wingdings" pitchFamily="2" charset="2"/>
              <a:buChar char="ü"/>
            </a:pPr>
            <a:r>
              <a:rPr lang="en-US" dirty="0">
                <a:latin typeface="Cambria Math" pitchFamily="18" charset="0"/>
                <a:ea typeface="Cambria Math" pitchFamily="18" charset="0"/>
              </a:rPr>
              <a:t>Let R be a binary relation defined on a set A. R is a partial order relation,  </a:t>
            </a:r>
            <a:r>
              <a:rPr lang="en-US" dirty="0" err="1">
                <a:solidFill>
                  <a:srgbClr val="FF0000"/>
                </a:solidFill>
                <a:latin typeface="Cambria Math" pitchFamily="18" charset="0"/>
                <a:ea typeface="Cambria Math" pitchFamily="18" charset="0"/>
              </a:rPr>
              <a:t>iff</a:t>
            </a:r>
            <a:r>
              <a:rPr lang="en-US" dirty="0">
                <a:solidFill>
                  <a:srgbClr val="FF0000"/>
                </a:solidFill>
                <a:latin typeface="Cambria Math" pitchFamily="18" charset="0"/>
                <a:ea typeface="Cambria Math" pitchFamily="18" charset="0"/>
              </a:rPr>
              <a:t> R is reflexive, anti-symmetric, and transitive</a:t>
            </a:r>
          </a:p>
          <a:p>
            <a:pPr marL="365760" indent="-365760">
              <a:buFont typeface="Wingdings" pitchFamily="2" charset="2"/>
              <a:buChar char="ü"/>
            </a:pPr>
            <a:r>
              <a:rPr lang="en-US" dirty="0">
                <a:latin typeface="Cambria Math" pitchFamily="18" charset="0"/>
                <a:ea typeface="Cambria Math" pitchFamily="18" charset="0"/>
              </a:rPr>
              <a:t>The set A together with a partial ordering R is called a partially ordered set.</a:t>
            </a:r>
          </a:p>
          <a:p>
            <a:pPr marL="0" indent="0">
              <a:buNone/>
            </a:pPr>
            <a:endParaRPr lang="en-US" dirty="0">
              <a:solidFill>
                <a:srgbClr val="C00000"/>
              </a:solidFill>
              <a:latin typeface="Cambria Math" pitchFamily="18" charset="0"/>
              <a:ea typeface="Cambria Math" pitchFamily="18" charset="0"/>
            </a:endParaRPr>
          </a:p>
        </p:txBody>
      </p:sp>
      <p:sp>
        <p:nvSpPr>
          <p:cNvPr id="6" name="Title 1">
            <a:extLst>
              <a:ext uri="{FF2B5EF4-FFF2-40B4-BE49-F238E27FC236}">
                <a16:creationId xmlns:a16="http://schemas.microsoft.com/office/drawing/2014/main" id="{E8DAD158-8E95-4118-860E-36E4AF72990C}"/>
              </a:ext>
            </a:extLst>
          </p:cNvPr>
          <p:cNvSpPr txBox="1">
            <a:spLocks/>
          </p:cNvSpPr>
          <p:nvPr/>
        </p:nvSpPr>
        <p:spPr>
          <a:xfrm>
            <a:off x="539496" y="365126"/>
            <a:ext cx="10515600" cy="818216"/>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dirty="0">
                <a:solidFill>
                  <a:srgbClr val="0070C0"/>
                </a:solidFill>
              </a:rPr>
              <a:t>Partial Order Relation</a:t>
            </a:r>
          </a:p>
        </p:txBody>
      </p:sp>
    </p:spTree>
    <p:extLst>
      <p:ext uri="{BB962C8B-B14F-4D97-AF65-F5344CB8AC3E}">
        <p14:creationId xmlns:p14="http://schemas.microsoft.com/office/powerpoint/2010/main" val="265497680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147311" y="1147226"/>
            <a:ext cx="10852031" cy="2586574"/>
          </a:xfrm>
        </p:spPr>
        <p:txBody>
          <a:bodyPr>
            <a:normAutofit/>
          </a:bodyPr>
          <a:lstStyle/>
          <a:p>
            <a:pPr marL="0" indent="0">
              <a:buNone/>
            </a:pPr>
            <a:r>
              <a:rPr lang="pt-BR" sz="2400" dirty="0">
                <a:solidFill>
                  <a:srgbClr val="C00000"/>
                </a:solidFill>
                <a:latin typeface="Cambria Math" pitchFamily="18" charset="0"/>
                <a:ea typeface="Cambria Math" pitchFamily="18" charset="0"/>
              </a:rPr>
              <a:t>A = {1,2,3,4} and	</a:t>
            </a:r>
          </a:p>
          <a:p>
            <a:pPr marL="0" indent="0">
              <a:buNone/>
            </a:pPr>
            <a:r>
              <a:rPr lang="pt-BR" sz="2400" dirty="0">
                <a:solidFill>
                  <a:srgbClr val="C00000"/>
                </a:solidFill>
                <a:latin typeface="Cambria Math" pitchFamily="18" charset="0"/>
                <a:ea typeface="Cambria Math" pitchFamily="18" charset="0"/>
              </a:rPr>
              <a:t>R</a:t>
            </a:r>
            <a:r>
              <a:rPr lang="pt-BR" sz="2400" baseline="-25000" dirty="0">
                <a:latin typeface="Cambria Math" pitchFamily="18" charset="0"/>
                <a:ea typeface="Cambria Math" pitchFamily="18" charset="0"/>
              </a:rPr>
              <a:t>1</a:t>
            </a:r>
            <a:r>
              <a:rPr lang="pt-BR" sz="2400" dirty="0">
                <a:solidFill>
                  <a:srgbClr val="C00000"/>
                </a:solidFill>
                <a:latin typeface="Cambria Math" pitchFamily="18" charset="0"/>
                <a:ea typeface="Cambria Math" pitchFamily="18" charset="0"/>
              </a:rPr>
              <a:t> = {(1,1),(2,2),(3,3),(4,4)}</a:t>
            </a:r>
          </a:p>
          <a:p>
            <a:pPr marL="0" indent="0">
              <a:buNone/>
            </a:pPr>
            <a:r>
              <a:rPr lang="pt-BR" sz="2400" dirty="0">
                <a:solidFill>
                  <a:srgbClr val="C00000"/>
                </a:solidFill>
                <a:latin typeface="Cambria Math" pitchFamily="18" charset="0"/>
                <a:ea typeface="Cambria Math" pitchFamily="18" charset="0"/>
              </a:rPr>
              <a:t>R</a:t>
            </a:r>
            <a:r>
              <a:rPr lang="pt-BR" sz="2400" baseline="-25000" dirty="0">
                <a:latin typeface="Cambria Math" pitchFamily="18" charset="0"/>
                <a:ea typeface="Cambria Math" pitchFamily="18" charset="0"/>
              </a:rPr>
              <a:t>2</a:t>
            </a:r>
            <a:r>
              <a:rPr lang="pt-BR" sz="2400" dirty="0">
                <a:solidFill>
                  <a:srgbClr val="C00000"/>
                </a:solidFill>
                <a:latin typeface="Cambria Math" pitchFamily="18" charset="0"/>
                <a:ea typeface="Cambria Math" pitchFamily="18" charset="0"/>
              </a:rPr>
              <a:t> = {(1,1),(1,2), (2,1), (2,2), (3,3),(4,4)}</a:t>
            </a:r>
          </a:p>
          <a:p>
            <a:pPr marL="0" indent="0">
              <a:buNone/>
            </a:pPr>
            <a:r>
              <a:rPr lang="pt-BR" sz="2400" dirty="0">
                <a:solidFill>
                  <a:srgbClr val="C00000"/>
                </a:solidFill>
                <a:latin typeface="Cambria Math" pitchFamily="18" charset="0"/>
                <a:ea typeface="Cambria Math" pitchFamily="18" charset="0"/>
              </a:rPr>
              <a:t>R</a:t>
            </a:r>
            <a:r>
              <a:rPr lang="pt-BR" sz="2400" baseline="-25000" dirty="0">
                <a:latin typeface="Cambria Math" pitchFamily="18" charset="0"/>
                <a:ea typeface="Cambria Math" pitchFamily="18" charset="0"/>
              </a:rPr>
              <a:t>3</a:t>
            </a:r>
            <a:r>
              <a:rPr lang="pt-BR" sz="2400" dirty="0">
                <a:solidFill>
                  <a:srgbClr val="C00000"/>
                </a:solidFill>
                <a:latin typeface="Cambria Math" pitchFamily="18" charset="0"/>
                <a:ea typeface="Cambria Math" pitchFamily="18" charset="0"/>
              </a:rPr>
              <a:t>={(1,1),(1,2), (1,3), (1,4), (2,2), (2,3),(2,4), (3,3),(3,4), (4,4)}</a:t>
            </a:r>
          </a:p>
          <a:p>
            <a:pPr marL="0" indent="0">
              <a:buNone/>
            </a:pPr>
            <a:endParaRPr lang="en-US" sz="2400" dirty="0">
              <a:solidFill>
                <a:srgbClr val="C00000"/>
              </a:solidFill>
              <a:latin typeface="Cambria Math" pitchFamily="18" charset="0"/>
              <a:ea typeface="Cambria Math" pitchFamily="18" charset="0"/>
            </a:endParaRPr>
          </a:p>
        </p:txBody>
      </p:sp>
      <p:sp>
        <p:nvSpPr>
          <p:cNvPr id="4" name="Text Box 8"/>
          <p:cNvSpPr txBox="1">
            <a:spLocks noChangeArrowheads="1"/>
          </p:cNvSpPr>
          <p:nvPr/>
        </p:nvSpPr>
        <p:spPr bwMode="auto">
          <a:xfrm>
            <a:off x="1147311" y="3320609"/>
            <a:ext cx="10213678" cy="769441"/>
          </a:xfrm>
          <a:prstGeom prst="rect">
            <a:avLst/>
          </a:prstGeom>
          <a:noFill/>
          <a:ln w="9525">
            <a:noFill/>
            <a:miter lim="800000"/>
            <a:headEnd/>
            <a:tailEnd/>
          </a:ln>
          <a:effectLst/>
        </p:spPr>
        <p:txBody>
          <a:bodyPr wrap="square">
            <a:spAutoFit/>
          </a:bodyPr>
          <a:lstStyle/>
          <a:p>
            <a:pPr>
              <a:spcBef>
                <a:spcPct val="50000"/>
              </a:spcBef>
            </a:pPr>
            <a:r>
              <a:rPr lang="en-US" sz="2200" dirty="0">
                <a:solidFill>
                  <a:srgbClr val="006C31"/>
                </a:solidFill>
                <a:latin typeface="Cambria Math" pitchFamily="18" charset="0"/>
                <a:ea typeface="Cambria Math" pitchFamily="18" charset="0"/>
              </a:rPr>
              <a:t>R</a:t>
            </a:r>
            <a:r>
              <a:rPr lang="en-US" sz="2400" baseline="-25000" dirty="0">
                <a:latin typeface="Cambria Math" pitchFamily="18" charset="0"/>
                <a:ea typeface="Cambria Math" pitchFamily="18" charset="0"/>
              </a:rPr>
              <a:t>1</a:t>
            </a:r>
            <a:r>
              <a:rPr lang="en-US" sz="2200" dirty="0">
                <a:solidFill>
                  <a:srgbClr val="006C31"/>
                </a:solidFill>
                <a:latin typeface="Cambria Math" pitchFamily="18" charset="0"/>
                <a:ea typeface="Cambria Math" pitchFamily="18" charset="0"/>
              </a:rPr>
              <a:t> is a partial order relation because you can see easily that the relation is reflexive, anti-symmetric and reflexive</a:t>
            </a:r>
          </a:p>
        </p:txBody>
      </p:sp>
      <p:sp>
        <p:nvSpPr>
          <p:cNvPr id="5" name="Text Box 8"/>
          <p:cNvSpPr txBox="1">
            <a:spLocks noChangeArrowheads="1"/>
          </p:cNvSpPr>
          <p:nvPr/>
        </p:nvSpPr>
        <p:spPr bwMode="auto">
          <a:xfrm>
            <a:off x="1147311" y="4288737"/>
            <a:ext cx="10092908" cy="800219"/>
          </a:xfrm>
          <a:prstGeom prst="rect">
            <a:avLst/>
          </a:prstGeom>
          <a:noFill/>
          <a:ln w="9525">
            <a:noFill/>
            <a:miter lim="800000"/>
            <a:headEnd/>
            <a:tailEnd/>
          </a:ln>
          <a:effectLst/>
        </p:spPr>
        <p:txBody>
          <a:bodyPr wrap="square">
            <a:spAutoFit/>
          </a:bodyPr>
          <a:lstStyle/>
          <a:p>
            <a:pPr>
              <a:spcBef>
                <a:spcPct val="50000"/>
              </a:spcBef>
            </a:pPr>
            <a:r>
              <a:rPr lang="en-US" sz="2200" dirty="0">
                <a:solidFill>
                  <a:srgbClr val="7030A0"/>
                </a:solidFill>
                <a:latin typeface="Cambria Math" pitchFamily="18" charset="0"/>
                <a:ea typeface="Cambria Math" pitchFamily="18" charset="0"/>
              </a:rPr>
              <a:t>R</a:t>
            </a:r>
            <a:r>
              <a:rPr lang="en-US" sz="2400" baseline="-25000" dirty="0">
                <a:latin typeface="Cambria Math" pitchFamily="18" charset="0"/>
                <a:ea typeface="Cambria Math" pitchFamily="18" charset="0"/>
              </a:rPr>
              <a:t>2</a:t>
            </a:r>
            <a:r>
              <a:rPr lang="en-US" sz="2200" dirty="0">
                <a:solidFill>
                  <a:srgbClr val="7030A0"/>
                </a:solidFill>
                <a:latin typeface="Cambria Math" pitchFamily="18" charset="0"/>
                <a:ea typeface="Cambria Math" pitchFamily="18" charset="0"/>
              </a:rPr>
              <a:t> is not anti-symmetric. Note that R2 is reflexive and transitive but not anti-symmetric as (1,2) &amp; (2,1) </a:t>
            </a:r>
            <a:r>
              <a:rPr lang="en-US" sz="2400" dirty="0">
                <a:solidFill>
                  <a:srgbClr val="7030A0"/>
                </a:solidFill>
                <a:sym typeface="Symbol" pitchFamily="18" charset="2"/>
              </a:rPr>
              <a:t> </a:t>
            </a:r>
            <a:r>
              <a:rPr lang="en-US" sz="2200" dirty="0">
                <a:solidFill>
                  <a:srgbClr val="7030A0"/>
                </a:solidFill>
                <a:latin typeface="Cambria Math" pitchFamily="18" charset="0"/>
                <a:ea typeface="Cambria Math" pitchFamily="18" charset="0"/>
              </a:rPr>
              <a:t>R2 but 1</a:t>
            </a:r>
            <a:r>
              <a:rPr lang="en-US" sz="2400" dirty="0">
                <a:solidFill>
                  <a:srgbClr val="7030A0"/>
                </a:solidFill>
                <a:sym typeface="Symbol" pitchFamily="18" charset="2"/>
              </a:rPr>
              <a:t>  </a:t>
            </a:r>
            <a:r>
              <a:rPr lang="en-US" sz="2200" dirty="0">
                <a:solidFill>
                  <a:srgbClr val="7030A0"/>
                </a:solidFill>
                <a:latin typeface="Cambria Math" pitchFamily="18" charset="0"/>
                <a:ea typeface="Cambria Math" pitchFamily="18" charset="0"/>
              </a:rPr>
              <a:t>2; Hence not a partial order relation.</a:t>
            </a:r>
          </a:p>
        </p:txBody>
      </p:sp>
      <p:sp>
        <p:nvSpPr>
          <p:cNvPr id="6" name="Text Box 8"/>
          <p:cNvSpPr txBox="1">
            <a:spLocks noChangeArrowheads="1"/>
          </p:cNvSpPr>
          <p:nvPr/>
        </p:nvSpPr>
        <p:spPr bwMode="auto">
          <a:xfrm>
            <a:off x="1147311" y="5326053"/>
            <a:ext cx="10006644" cy="769441"/>
          </a:xfrm>
          <a:prstGeom prst="rect">
            <a:avLst/>
          </a:prstGeom>
          <a:noFill/>
          <a:ln w="9525">
            <a:noFill/>
            <a:miter lim="800000"/>
            <a:headEnd/>
            <a:tailEnd/>
          </a:ln>
          <a:effectLst/>
        </p:spPr>
        <p:txBody>
          <a:bodyPr wrap="square">
            <a:spAutoFit/>
          </a:bodyPr>
          <a:lstStyle/>
          <a:p>
            <a:pPr>
              <a:spcBef>
                <a:spcPct val="50000"/>
              </a:spcBef>
            </a:pPr>
            <a:r>
              <a:rPr lang="en-US" sz="2200" dirty="0">
                <a:solidFill>
                  <a:srgbClr val="C00000"/>
                </a:solidFill>
                <a:latin typeface="Cambria Math" pitchFamily="18" charset="0"/>
                <a:ea typeface="Cambria Math" pitchFamily="18" charset="0"/>
              </a:rPr>
              <a:t>R</a:t>
            </a:r>
            <a:r>
              <a:rPr lang="en-US" sz="2400" baseline="-25000" dirty="0">
                <a:latin typeface="Cambria Math" pitchFamily="18" charset="0"/>
                <a:ea typeface="Cambria Math" pitchFamily="18" charset="0"/>
              </a:rPr>
              <a:t>3</a:t>
            </a:r>
            <a:r>
              <a:rPr lang="en-US" sz="2200" dirty="0">
                <a:solidFill>
                  <a:srgbClr val="C00000"/>
                </a:solidFill>
                <a:latin typeface="Cambria Math" pitchFamily="18" charset="0"/>
                <a:ea typeface="Cambria Math" pitchFamily="18" charset="0"/>
              </a:rPr>
              <a:t> is a partial order relation you can easily see that it is reflexive anti-symmetric and transitive</a:t>
            </a:r>
          </a:p>
        </p:txBody>
      </p:sp>
      <p:sp>
        <p:nvSpPr>
          <p:cNvPr id="7" name="Title 1">
            <a:extLst>
              <a:ext uri="{FF2B5EF4-FFF2-40B4-BE49-F238E27FC236}">
                <a16:creationId xmlns:a16="http://schemas.microsoft.com/office/drawing/2014/main" id="{EDB22F31-77D7-4C5D-A29C-EB1E47ACE8D8}"/>
              </a:ext>
            </a:extLst>
          </p:cNvPr>
          <p:cNvSpPr txBox="1">
            <a:spLocks/>
          </p:cNvSpPr>
          <p:nvPr/>
        </p:nvSpPr>
        <p:spPr>
          <a:xfrm>
            <a:off x="539496" y="365126"/>
            <a:ext cx="10515600" cy="818216"/>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dirty="0">
                <a:solidFill>
                  <a:srgbClr val="0070C0"/>
                </a:solidFill>
              </a:rPr>
              <a:t>Example</a:t>
            </a:r>
          </a:p>
        </p:txBody>
      </p:sp>
    </p:spTree>
    <p:extLst>
      <p:ext uri="{BB962C8B-B14F-4D97-AF65-F5344CB8AC3E}">
        <p14:creationId xmlns:p14="http://schemas.microsoft.com/office/powerpoint/2010/main" val="1997869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157376" y="1909483"/>
            <a:ext cx="9573377" cy="3489215"/>
          </a:xfrm>
        </p:spPr>
        <p:txBody>
          <a:bodyPr>
            <a:normAutofit/>
          </a:bodyPr>
          <a:lstStyle/>
          <a:p>
            <a:pPr marL="0" indent="0">
              <a:buNone/>
            </a:pPr>
            <a:r>
              <a:rPr lang="en-US" sz="2400" dirty="0">
                <a:solidFill>
                  <a:schemeClr val="tx1"/>
                </a:solidFill>
                <a:latin typeface="Cambria Math" pitchFamily="18" charset="0"/>
                <a:ea typeface="Cambria Math" pitchFamily="18" charset="0"/>
              </a:rPr>
              <a:t>Let R be the set of real numbers and define the “less than or equal to” , on R as follows:</a:t>
            </a:r>
          </a:p>
          <a:p>
            <a:pPr marL="0" indent="0">
              <a:buNone/>
            </a:pPr>
            <a:r>
              <a:rPr lang="en-US" sz="2400" dirty="0">
                <a:solidFill>
                  <a:schemeClr val="tx1"/>
                </a:solidFill>
                <a:latin typeface="Cambria Math" pitchFamily="18" charset="0"/>
                <a:ea typeface="Cambria Math" pitchFamily="18" charset="0"/>
              </a:rPr>
              <a:t>for all real numbers x and y in R.</a:t>
            </a:r>
          </a:p>
          <a:p>
            <a:pPr marL="0" indent="0">
              <a:buNone/>
            </a:pPr>
            <a:r>
              <a:rPr lang="en-US" sz="2400" dirty="0">
                <a:solidFill>
                  <a:schemeClr val="tx1"/>
                </a:solidFill>
                <a:latin typeface="Cambria Math" pitchFamily="18" charset="0"/>
                <a:ea typeface="Cambria Math" pitchFamily="18" charset="0"/>
              </a:rPr>
              <a:t> x </a:t>
            </a:r>
            <a:r>
              <a:rPr lang="en-US" sz="2400" dirty="0">
                <a:solidFill>
                  <a:schemeClr val="tx1"/>
                </a:solidFill>
                <a:sym typeface="Symbol" pitchFamily="18" charset="2"/>
              </a:rPr>
              <a:t> </a:t>
            </a:r>
            <a:r>
              <a:rPr lang="en-US" sz="2400" dirty="0">
                <a:solidFill>
                  <a:schemeClr val="tx1"/>
                </a:solidFill>
                <a:latin typeface="Cambria Math" pitchFamily="18" charset="0"/>
                <a:ea typeface="Cambria Math" pitchFamily="18" charset="0"/>
              </a:rPr>
              <a:t>y </a:t>
            </a:r>
            <a:r>
              <a:rPr lang="en-US" sz="2400" dirty="0">
                <a:solidFill>
                  <a:schemeClr val="tx1"/>
                </a:solidFill>
                <a:sym typeface="Symbol" pitchFamily="18" charset="2"/>
              </a:rPr>
              <a:t></a:t>
            </a:r>
            <a:r>
              <a:rPr lang="en-US" sz="2400" dirty="0">
                <a:solidFill>
                  <a:schemeClr val="tx1"/>
                </a:solidFill>
                <a:latin typeface="Cambria Math" pitchFamily="18" charset="0"/>
                <a:ea typeface="Cambria Math" pitchFamily="18" charset="0"/>
              </a:rPr>
              <a:t> x &lt; y or x = y</a:t>
            </a:r>
          </a:p>
          <a:p>
            <a:pPr marL="0" indent="0">
              <a:buNone/>
            </a:pPr>
            <a:r>
              <a:rPr lang="en-US" sz="2400" dirty="0">
                <a:solidFill>
                  <a:srgbClr val="FF0000"/>
                </a:solidFill>
                <a:latin typeface="Cambria Math" pitchFamily="18" charset="0"/>
                <a:ea typeface="Cambria Math" pitchFamily="18" charset="0"/>
              </a:rPr>
              <a:t>Show that </a:t>
            </a:r>
            <a:r>
              <a:rPr lang="en-US" sz="2400" dirty="0">
                <a:solidFill>
                  <a:srgbClr val="FF0000"/>
                </a:solidFill>
                <a:sym typeface="Symbol" pitchFamily="18" charset="2"/>
              </a:rPr>
              <a:t></a:t>
            </a:r>
            <a:r>
              <a:rPr lang="en-US" sz="2400" dirty="0">
                <a:solidFill>
                  <a:srgbClr val="FF0000"/>
                </a:solidFill>
                <a:latin typeface="Cambria Math" pitchFamily="18" charset="0"/>
                <a:ea typeface="Cambria Math" pitchFamily="18" charset="0"/>
              </a:rPr>
              <a:t> is a partial order relation</a:t>
            </a:r>
          </a:p>
        </p:txBody>
      </p:sp>
      <p:sp>
        <p:nvSpPr>
          <p:cNvPr id="7" name="Title 1">
            <a:extLst>
              <a:ext uri="{FF2B5EF4-FFF2-40B4-BE49-F238E27FC236}">
                <a16:creationId xmlns:a16="http://schemas.microsoft.com/office/drawing/2014/main" id="{B584465A-CCD8-46B2-9DC5-8BBB8C56270B}"/>
              </a:ext>
            </a:extLst>
          </p:cNvPr>
          <p:cNvSpPr txBox="1">
            <a:spLocks/>
          </p:cNvSpPr>
          <p:nvPr/>
        </p:nvSpPr>
        <p:spPr>
          <a:xfrm>
            <a:off x="566468" y="0"/>
            <a:ext cx="10515600" cy="1325563"/>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b="1" u="sng" dirty="0">
                <a:solidFill>
                  <a:srgbClr val="0070C0"/>
                </a:solidFill>
              </a:rPr>
              <a:t>Practice Question ... </a:t>
            </a:r>
            <a:r>
              <a:rPr lang="pt-BR" b="1" u="sng" dirty="0">
                <a:solidFill>
                  <a:srgbClr val="00B050"/>
                </a:solidFill>
              </a:rPr>
              <a:t>Do it Yourself</a:t>
            </a:r>
            <a:endParaRPr lang="en-US" b="1" u="sng" dirty="0">
              <a:solidFill>
                <a:srgbClr val="00B050"/>
              </a:solidFill>
            </a:endParaRPr>
          </a:p>
        </p:txBody>
      </p:sp>
    </p:spTree>
    <p:extLst>
      <p:ext uri="{BB962C8B-B14F-4D97-AF65-F5344CB8AC3E}">
        <p14:creationId xmlns:p14="http://schemas.microsoft.com/office/powerpoint/2010/main" val="389423987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015042" y="1801906"/>
            <a:ext cx="9888747" cy="2808194"/>
          </a:xfrm>
        </p:spPr>
        <p:txBody>
          <a:bodyPr>
            <a:normAutofit/>
          </a:bodyPr>
          <a:lstStyle/>
          <a:p>
            <a:pPr marL="0" indent="0">
              <a:buNone/>
            </a:pPr>
            <a:r>
              <a:rPr lang="en-US" sz="2400" dirty="0">
                <a:solidFill>
                  <a:schemeClr val="tx1"/>
                </a:solidFill>
                <a:latin typeface="Cambria Math" pitchFamily="18" charset="0"/>
                <a:ea typeface="Cambria Math" pitchFamily="18" charset="0"/>
              </a:rPr>
              <a:t>Let A be a non-empty set and P(A) the power set of A. Define the “subset” relation, </a:t>
            </a:r>
            <a:r>
              <a:rPr lang="en-US" sz="2400" dirty="0">
                <a:sym typeface="Symbol" pitchFamily="18" charset="2"/>
              </a:rPr>
              <a:t></a:t>
            </a:r>
            <a:r>
              <a:rPr lang="en-US" sz="2400" dirty="0">
                <a:solidFill>
                  <a:schemeClr val="tx1"/>
                </a:solidFill>
                <a:latin typeface="Cambria Math" pitchFamily="18" charset="0"/>
                <a:ea typeface="Cambria Math" pitchFamily="18" charset="0"/>
              </a:rPr>
              <a:t>,  as follows:</a:t>
            </a:r>
          </a:p>
          <a:p>
            <a:pPr marL="0" indent="0">
              <a:buNone/>
            </a:pPr>
            <a:r>
              <a:rPr lang="en-US" sz="2400" dirty="0">
                <a:solidFill>
                  <a:srgbClr val="C00000"/>
                </a:solidFill>
                <a:latin typeface="Cambria Math" pitchFamily="18" charset="0"/>
                <a:ea typeface="Cambria Math" pitchFamily="18" charset="0"/>
              </a:rPr>
              <a:t>for all X,Y </a:t>
            </a:r>
            <a:r>
              <a:rPr lang="en-US" sz="2400" dirty="0">
                <a:sym typeface="Symbol" pitchFamily="18" charset="2"/>
              </a:rPr>
              <a:t></a:t>
            </a:r>
            <a:r>
              <a:rPr lang="en-US" sz="2400" dirty="0">
                <a:solidFill>
                  <a:srgbClr val="C00000"/>
                </a:solidFill>
                <a:latin typeface="Cambria Math" pitchFamily="18" charset="0"/>
                <a:ea typeface="Cambria Math" pitchFamily="18" charset="0"/>
              </a:rPr>
              <a:t> P(A), X </a:t>
            </a:r>
            <a:r>
              <a:rPr lang="en-US" sz="2400" dirty="0">
                <a:sym typeface="Symbol" pitchFamily="18" charset="2"/>
              </a:rPr>
              <a:t></a:t>
            </a:r>
            <a:r>
              <a:rPr lang="en-US" sz="2400" dirty="0">
                <a:solidFill>
                  <a:srgbClr val="C00000"/>
                </a:solidFill>
                <a:latin typeface="Cambria Math" pitchFamily="18" charset="0"/>
                <a:ea typeface="Cambria Math" pitchFamily="18" charset="0"/>
              </a:rPr>
              <a:t> Y </a:t>
            </a:r>
            <a:r>
              <a:rPr lang="en-US" sz="2400" dirty="0">
                <a:sym typeface="Symbol" pitchFamily="18" charset="2"/>
              </a:rPr>
              <a:t> </a:t>
            </a:r>
            <a:r>
              <a:rPr lang="en-US" sz="2400" dirty="0">
                <a:solidFill>
                  <a:srgbClr val="C00000"/>
                </a:solidFill>
                <a:latin typeface="Cambria Math" pitchFamily="18" charset="0"/>
                <a:ea typeface="Cambria Math" pitchFamily="18" charset="0"/>
              </a:rPr>
              <a:t> x, </a:t>
            </a:r>
            <a:r>
              <a:rPr lang="en-US" sz="2400" dirty="0" err="1">
                <a:solidFill>
                  <a:srgbClr val="C00000"/>
                </a:solidFill>
                <a:latin typeface="Cambria Math" pitchFamily="18" charset="0"/>
                <a:ea typeface="Cambria Math" pitchFamily="18" charset="0"/>
              </a:rPr>
              <a:t>iff</a:t>
            </a:r>
            <a:r>
              <a:rPr lang="en-US" sz="2400" dirty="0">
                <a:solidFill>
                  <a:srgbClr val="C00000"/>
                </a:solidFill>
                <a:latin typeface="Cambria Math" pitchFamily="18" charset="0"/>
                <a:ea typeface="Cambria Math" pitchFamily="18" charset="0"/>
              </a:rPr>
              <a:t> x </a:t>
            </a:r>
            <a:r>
              <a:rPr lang="en-US" sz="2400" dirty="0">
                <a:sym typeface="Symbol" pitchFamily="18" charset="2"/>
              </a:rPr>
              <a:t> </a:t>
            </a:r>
            <a:r>
              <a:rPr lang="en-US" sz="2400" dirty="0">
                <a:solidFill>
                  <a:srgbClr val="C00000"/>
                </a:solidFill>
                <a:latin typeface="Cambria Math" pitchFamily="18" charset="0"/>
                <a:ea typeface="Cambria Math" pitchFamily="18" charset="0"/>
              </a:rPr>
              <a:t>X then x </a:t>
            </a:r>
            <a:r>
              <a:rPr lang="en-US" sz="2400" dirty="0">
                <a:sym typeface="Symbol" pitchFamily="18" charset="2"/>
              </a:rPr>
              <a:t> </a:t>
            </a:r>
            <a:r>
              <a:rPr lang="en-US" sz="2400" dirty="0">
                <a:solidFill>
                  <a:srgbClr val="C00000"/>
                </a:solidFill>
                <a:latin typeface="Cambria Math" pitchFamily="18" charset="0"/>
                <a:ea typeface="Cambria Math" pitchFamily="18" charset="0"/>
              </a:rPr>
              <a:t>Y.</a:t>
            </a:r>
          </a:p>
          <a:p>
            <a:pPr marL="0" indent="0">
              <a:buNone/>
            </a:pPr>
            <a:r>
              <a:rPr lang="en-US" sz="2400" dirty="0">
                <a:solidFill>
                  <a:schemeClr val="tx1"/>
                </a:solidFill>
                <a:latin typeface="Cambria Math" pitchFamily="18" charset="0"/>
                <a:ea typeface="Cambria Math" pitchFamily="18" charset="0"/>
              </a:rPr>
              <a:t>Show that </a:t>
            </a:r>
            <a:r>
              <a:rPr lang="en-US" sz="2400" dirty="0">
                <a:sym typeface="Symbol" pitchFamily="18" charset="2"/>
              </a:rPr>
              <a:t></a:t>
            </a:r>
            <a:r>
              <a:rPr lang="en-US" sz="2400" dirty="0">
                <a:solidFill>
                  <a:schemeClr val="tx1"/>
                </a:solidFill>
                <a:latin typeface="Cambria Math" pitchFamily="18" charset="0"/>
                <a:ea typeface="Cambria Math" pitchFamily="18" charset="0"/>
              </a:rPr>
              <a:t> is a partial order relation</a:t>
            </a:r>
          </a:p>
        </p:txBody>
      </p:sp>
      <p:sp>
        <p:nvSpPr>
          <p:cNvPr id="7" name="Title 1">
            <a:extLst>
              <a:ext uri="{FF2B5EF4-FFF2-40B4-BE49-F238E27FC236}">
                <a16:creationId xmlns:a16="http://schemas.microsoft.com/office/drawing/2014/main" id="{21124242-7755-4EB3-9D02-18699ABC999F}"/>
              </a:ext>
            </a:extLst>
          </p:cNvPr>
          <p:cNvSpPr txBox="1">
            <a:spLocks/>
          </p:cNvSpPr>
          <p:nvPr/>
        </p:nvSpPr>
        <p:spPr>
          <a:xfrm>
            <a:off x="566468" y="0"/>
            <a:ext cx="10515600" cy="1325563"/>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b="1" u="sng" dirty="0">
                <a:solidFill>
                  <a:srgbClr val="0070C0"/>
                </a:solidFill>
              </a:rPr>
              <a:t>Practice Question ... </a:t>
            </a:r>
            <a:r>
              <a:rPr lang="pt-BR" b="1" u="sng" dirty="0">
                <a:solidFill>
                  <a:srgbClr val="00B050"/>
                </a:solidFill>
              </a:rPr>
              <a:t>Do it Yourself</a:t>
            </a:r>
            <a:endParaRPr lang="en-US" b="1" u="sng" dirty="0">
              <a:solidFill>
                <a:srgbClr val="00B050"/>
              </a:solidFill>
            </a:endParaRPr>
          </a:p>
        </p:txBody>
      </p:sp>
    </p:spTree>
    <p:extLst>
      <p:ext uri="{BB962C8B-B14F-4D97-AF65-F5344CB8AC3E}">
        <p14:creationId xmlns:p14="http://schemas.microsoft.com/office/powerpoint/2010/main" val="374485446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073989" y="2017059"/>
            <a:ext cx="10044022" cy="2362200"/>
          </a:xfrm>
        </p:spPr>
        <p:txBody>
          <a:bodyPr>
            <a:normAutofit/>
          </a:bodyPr>
          <a:lstStyle/>
          <a:p>
            <a:pPr marL="0" indent="0">
              <a:buNone/>
            </a:pPr>
            <a:r>
              <a:rPr lang="en-US" sz="2400" dirty="0">
                <a:solidFill>
                  <a:schemeClr val="tx1"/>
                </a:solidFill>
                <a:latin typeface="Cambria Math" pitchFamily="18" charset="0"/>
                <a:ea typeface="Cambria Math" pitchFamily="18" charset="0"/>
              </a:rPr>
              <a:t>Let “|” be the “divides” relation on a set A of positive integers. That is, for all a, b </a:t>
            </a:r>
            <a:r>
              <a:rPr lang="en-US" sz="2400" dirty="0">
                <a:sym typeface="Symbol" pitchFamily="18" charset="2"/>
              </a:rPr>
              <a:t> </a:t>
            </a:r>
            <a:r>
              <a:rPr lang="en-US" sz="2400" dirty="0">
                <a:solidFill>
                  <a:schemeClr val="tx1"/>
                </a:solidFill>
                <a:latin typeface="Cambria Math" pitchFamily="18" charset="0"/>
                <a:ea typeface="Cambria Math" pitchFamily="18" charset="0"/>
              </a:rPr>
              <a:t>A, </a:t>
            </a:r>
          </a:p>
          <a:p>
            <a:pPr marL="0" indent="0">
              <a:buNone/>
            </a:pPr>
            <a:r>
              <a:rPr lang="en-US" sz="2400" dirty="0" err="1">
                <a:solidFill>
                  <a:schemeClr val="tx1"/>
                </a:solidFill>
                <a:latin typeface="Cambria Math" pitchFamily="18" charset="0"/>
                <a:ea typeface="Cambria Math" pitchFamily="18" charset="0"/>
              </a:rPr>
              <a:t>a|b</a:t>
            </a:r>
            <a:r>
              <a:rPr lang="en-US" sz="2400" dirty="0">
                <a:solidFill>
                  <a:schemeClr val="tx1"/>
                </a:solidFill>
                <a:latin typeface="Cambria Math" pitchFamily="18" charset="0"/>
                <a:ea typeface="Cambria Math" pitchFamily="18" charset="0"/>
              </a:rPr>
              <a:t> </a:t>
            </a:r>
            <a:r>
              <a:rPr lang="en-US" sz="2400" dirty="0">
                <a:sym typeface="Symbol" pitchFamily="18" charset="2"/>
              </a:rPr>
              <a:t></a:t>
            </a:r>
            <a:r>
              <a:rPr lang="en-US" sz="2400" dirty="0">
                <a:solidFill>
                  <a:schemeClr val="tx1"/>
                </a:solidFill>
                <a:latin typeface="Cambria Math" pitchFamily="18" charset="0"/>
                <a:ea typeface="Cambria Math" pitchFamily="18" charset="0"/>
              </a:rPr>
              <a:t> b = ka for some integer k.</a:t>
            </a:r>
          </a:p>
          <a:p>
            <a:pPr marL="0" indent="0">
              <a:buNone/>
            </a:pPr>
            <a:r>
              <a:rPr lang="en-US" sz="2400" dirty="0">
                <a:solidFill>
                  <a:schemeClr val="tx1"/>
                </a:solidFill>
                <a:latin typeface="Cambria Math" pitchFamily="18" charset="0"/>
                <a:ea typeface="Cambria Math" pitchFamily="18" charset="0"/>
              </a:rPr>
              <a:t>Prove that | is a partial order relation on A.</a:t>
            </a:r>
          </a:p>
        </p:txBody>
      </p:sp>
      <p:sp>
        <p:nvSpPr>
          <p:cNvPr id="4" name="Title 1">
            <a:extLst>
              <a:ext uri="{FF2B5EF4-FFF2-40B4-BE49-F238E27FC236}">
                <a16:creationId xmlns:a16="http://schemas.microsoft.com/office/drawing/2014/main" id="{E4DB8573-027F-41B7-9692-29A37C8E00A5}"/>
              </a:ext>
            </a:extLst>
          </p:cNvPr>
          <p:cNvSpPr txBox="1">
            <a:spLocks/>
          </p:cNvSpPr>
          <p:nvPr/>
        </p:nvSpPr>
        <p:spPr>
          <a:xfrm>
            <a:off x="566468" y="0"/>
            <a:ext cx="10515600" cy="1325563"/>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b="1" u="sng" dirty="0">
                <a:solidFill>
                  <a:srgbClr val="0070C0"/>
                </a:solidFill>
              </a:rPr>
              <a:t>Practice Question ... </a:t>
            </a:r>
            <a:r>
              <a:rPr lang="pt-BR" b="1" u="sng" dirty="0">
                <a:solidFill>
                  <a:srgbClr val="00B050"/>
                </a:solidFill>
              </a:rPr>
              <a:t>Do it Yourself</a:t>
            </a:r>
            <a:endParaRPr lang="en-US" b="1" u="sng" dirty="0">
              <a:solidFill>
                <a:srgbClr val="00B050"/>
              </a:solidFill>
            </a:endParaRPr>
          </a:p>
        </p:txBody>
      </p:sp>
    </p:spTree>
    <p:extLst>
      <p:ext uri="{BB962C8B-B14F-4D97-AF65-F5344CB8AC3E}">
        <p14:creationId xmlns:p14="http://schemas.microsoft.com/office/powerpoint/2010/main" val="19445341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31857" y="2058416"/>
            <a:ext cx="10777268" cy="2362200"/>
          </a:xfrm>
        </p:spPr>
        <p:txBody>
          <a:bodyPr>
            <a:normAutofit/>
          </a:bodyPr>
          <a:lstStyle/>
          <a:p>
            <a:pPr marL="0" indent="0">
              <a:buNone/>
            </a:pPr>
            <a:r>
              <a:rPr lang="en-US" sz="2400" dirty="0">
                <a:solidFill>
                  <a:schemeClr val="tx1"/>
                </a:solidFill>
                <a:latin typeface="Cambria Math" pitchFamily="18" charset="0"/>
                <a:ea typeface="Cambria Math" pitchFamily="18" charset="0"/>
              </a:rPr>
              <a:t>Let “R” be the relation defined on the set of integers Z as follows:</a:t>
            </a:r>
          </a:p>
          <a:p>
            <a:pPr marL="0" indent="0">
              <a:buNone/>
            </a:pPr>
            <a:r>
              <a:rPr lang="en-US" sz="2400" dirty="0">
                <a:solidFill>
                  <a:schemeClr val="tx1"/>
                </a:solidFill>
                <a:latin typeface="Cambria Math" pitchFamily="18" charset="0"/>
                <a:ea typeface="Cambria Math" pitchFamily="18" charset="0"/>
              </a:rPr>
              <a:t>for all a, b </a:t>
            </a:r>
            <a:r>
              <a:rPr lang="en-US" sz="2400" dirty="0">
                <a:sym typeface="Symbol" pitchFamily="18" charset="2"/>
              </a:rPr>
              <a:t> </a:t>
            </a:r>
            <a:r>
              <a:rPr lang="en-US" sz="2400" dirty="0">
                <a:solidFill>
                  <a:schemeClr val="tx1"/>
                </a:solidFill>
                <a:latin typeface="Cambria Math" pitchFamily="18" charset="0"/>
                <a:ea typeface="Cambria Math" pitchFamily="18" charset="0"/>
              </a:rPr>
              <a:t>Z, </a:t>
            </a:r>
            <a:r>
              <a:rPr lang="en-US" sz="2400" dirty="0" err="1">
                <a:solidFill>
                  <a:schemeClr val="tx1"/>
                </a:solidFill>
                <a:latin typeface="Cambria Math" pitchFamily="18" charset="0"/>
                <a:ea typeface="Cambria Math" pitchFamily="18" charset="0"/>
              </a:rPr>
              <a:t>aRb</a:t>
            </a:r>
            <a:r>
              <a:rPr lang="en-US" sz="2400" dirty="0">
                <a:solidFill>
                  <a:schemeClr val="tx1"/>
                </a:solidFill>
                <a:latin typeface="Cambria Math" pitchFamily="18" charset="0"/>
                <a:ea typeface="Cambria Math" pitchFamily="18" charset="0"/>
              </a:rPr>
              <a:t> </a:t>
            </a:r>
            <a:r>
              <a:rPr lang="en-US" sz="2400" dirty="0">
                <a:sym typeface="Symbol" pitchFamily="18" charset="2"/>
              </a:rPr>
              <a:t></a:t>
            </a:r>
            <a:r>
              <a:rPr lang="en-US" sz="2400" dirty="0">
                <a:solidFill>
                  <a:schemeClr val="tx1"/>
                </a:solidFill>
                <a:latin typeface="Cambria Math" pitchFamily="18" charset="0"/>
                <a:ea typeface="Cambria Math" pitchFamily="18" charset="0"/>
              </a:rPr>
              <a:t> </a:t>
            </a:r>
            <a:r>
              <a:rPr lang="en-US" sz="2400" dirty="0">
                <a:latin typeface="Cambria Math" pitchFamily="18" charset="0"/>
                <a:ea typeface="Cambria Math" pitchFamily="18" charset="0"/>
              </a:rPr>
              <a:t>b=</a:t>
            </a:r>
            <a:r>
              <a:rPr lang="en-US" sz="2400" dirty="0" err="1">
                <a:sym typeface="Symbol" pitchFamily="18" charset="2"/>
              </a:rPr>
              <a:t>a</a:t>
            </a:r>
            <a:r>
              <a:rPr lang="en-US" sz="2400" baseline="30000" dirty="0" err="1">
                <a:sym typeface="Symbol" pitchFamily="18" charset="2"/>
              </a:rPr>
              <a:t>r</a:t>
            </a:r>
            <a:r>
              <a:rPr lang="en-US" sz="2400" dirty="0">
                <a:sym typeface="Symbol" pitchFamily="18" charset="2"/>
              </a:rPr>
              <a:t> </a:t>
            </a:r>
            <a:r>
              <a:rPr lang="en-US" sz="2400" dirty="0">
                <a:solidFill>
                  <a:schemeClr val="tx1"/>
                </a:solidFill>
                <a:latin typeface="Cambria Math" pitchFamily="18" charset="0"/>
                <a:ea typeface="Cambria Math" pitchFamily="18" charset="0"/>
              </a:rPr>
              <a:t> for some positive integer r.</a:t>
            </a:r>
          </a:p>
          <a:p>
            <a:pPr marL="0" indent="0">
              <a:buNone/>
            </a:pPr>
            <a:r>
              <a:rPr lang="en-US" sz="2400" dirty="0">
                <a:solidFill>
                  <a:schemeClr val="tx1"/>
                </a:solidFill>
                <a:latin typeface="Cambria Math" pitchFamily="18" charset="0"/>
                <a:ea typeface="Cambria Math" pitchFamily="18" charset="0"/>
              </a:rPr>
              <a:t>Show that R is a partial order on Z.</a:t>
            </a:r>
          </a:p>
        </p:txBody>
      </p:sp>
      <p:sp>
        <p:nvSpPr>
          <p:cNvPr id="4" name="Title 1">
            <a:extLst>
              <a:ext uri="{FF2B5EF4-FFF2-40B4-BE49-F238E27FC236}">
                <a16:creationId xmlns:a16="http://schemas.microsoft.com/office/drawing/2014/main" id="{38FB472F-B3D8-418B-8BB1-A9E6BE423CE1}"/>
              </a:ext>
            </a:extLst>
          </p:cNvPr>
          <p:cNvSpPr txBox="1">
            <a:spLocks/>
          </p:cNvSpPr>
          <p:nvPr/>
        </p:nvSpPr>
        <p:spPr>
          <a:xfrm>
            <a:off x="566468" y="0"/>
            <a:ext cx="10515600" cy="1325563"/>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b="1" u="sng" dirty="0">
                <a:solidFill>
                  <a:srgbClr val="0070C0"/>
                </a:solidFill>
              </a:rPr>
              <a:t>Practice Question ... </a:t>
            </a:r>
            <a:r>
              <a:rPr lang="pt-BR" b="1" u="sng" dirty="0">
                <a:solidFill>
                  <a:srgbClr val="00B050"/>
                </a:solidFill>
              </a:rPr>
              <a:t>Do it Yourself</a:t>
            </a:r>
            <a:endParaRPr lang="en-US" b="1" u="sng" dirty="0">
              <a:solidFill>
                <a:srgbClr val="00B050"/>
              </a:solidFill>
            </a:endParaRPr>
          </a:p>
        </p:txBody>
      </p:sp>
    </p:spTree>
    <p:extLst>
      <p:ext uri="{BB962C8B-B14F-4D97-AF65-F5344CB8AC3E}">
        <p14:creationId xmlns:p14="http://schemas.microsoft.com/office/powerpoint/2010/main" val="20010999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Graphic 8" descr="Books">
            <a:extLst>
              <a:ext uri="{FF2B5EF4-FFF2-40B4-BE49-F238E27FC236}">
                <a16:creationId xmlns:a16="http://schemas.microsoft.com/office/drawing/2014/main" id="{15422CC9-DE1C-CDFA-10C5-EC1FEBB1DA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27" name="Freeform: Shape 26">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1" name="Freeform: Shape 30">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Freeform: Shape 32">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itle 3">
            <a:extLst>
              <a:ext uri="{FF2B5EF4-FFF2-40B4-BE49-F238E27FC236}">
                <a16:creationId xmlns:a16="http://schemas.microsoft.com/office/drawing/2014/main" id="{32344EE1-CFFD-57AA-4D75-9BBE96554682}"/>
              </a:ext>
            </a:extLst>
          </p:cNvPr>
          <p:cNvSpPr txBox="1">
            <a:spLocks/>
          </p:cNvSpPr>
          <p:nvPr/>
        </p:nvSpPr>
        <p:spPr>
          <a:xfrm>
            <a:off x="841248" y="365760"/>
            <a:ext cx="5120640" cy="132588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sz="4800" dirty="0">
                <a:solidFill>
                  <a:schemeClr val="tx1"/>
                </a:solidFill>
              </a:rPr>
              <a:t>Summary</a:t>
            </a:r>
          </a:p>
        </p:txBody>
      </p:sp>
      <p:sp>
        <p:nvSpPr>
          <p:cNvPr id="15" name="Content Placeholder 2">
            <a:extLst>
              <a:ext uri="{FF2B5EF4-FFF2-40B4-BE49-F238E27FC236}">
                <a16:creationId xmlns:a16="http://schemas.microsoft.com/office/drawing/2014/main" id="{423425AC-ED1E-40F1-8FF4-F3357609CC0E}"/>
              </a:ext>
            </a:extLst>
          </p:cNvPr>
          <p:cNvSpPr txBox="1">
            <a:spLocks/>
          </p:cNvSpPr>
          <p:nvPr/>
        </p:nvSpPr>
        <p:spPr>
          <a:xfrm>
            <a:off x="684934" y="1691640"/>
            <a:ext cx="6393662" cy="4601584"/>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2286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457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The topics we covered:</a:t>
            </a:r>
          </a:p>
          <a:p>
            <a:pPr marL="457200" indent="-457200">
              <a:buFont typeface="Arial" panose="020B0604020202020204" pitchFamily="34" charset="0"/>
              <a:buChar char="•"/>
            </a:pPr>
            <a:r>
              <a:rPr lang="en-US" sz="2400" dirty="0"/>
              <a:t>Ordered Pairs</a:t>
            </a:r>
          </a:p>
          <a:p>
            <a:pPr marL="457200" indent="-457200">
              <a:buFont typeface="Arial" panose="020B0604020202020204" pitchFamily="34" charset="0"/>
              <a:buChar char="•"/>
            </a:pPr>
            <a:r>
              <a:rPr lang="en-US" sz="2400" dirty="0"/>
              <a:t>Cartesian Product</a:t>
            </a:r>
          </a:p>
          <a:p>
            <a:pPr marL="457200" indent="-457200">
              <a:buFont typeface="Arial" panose="020B0604020202020204" pitchFamily="34" charset="0"/>
              <a:buChar char="•"/>
            </a:pPr>
            <a:r>
              <a:rPr lang="en-US" sz="2400" dirty="0"/>
              <a:t>Relations</a:t>
            </a:r>
          </a:p>
          <a:p>
            <a:pPr marL="457200" indent="-457200">
              <a:buFont typeface="Arial" panose="020B0604020202020204" pitchFamily="34" charset="0"/>
              <a:buChar char="•"/>
            </a:pPr>
            <a:r>
              <a:rPr lang="en-US" sz="2400" dirty="0"/>
              <a:t>Directed Graphs</a:t>
            </a:r>
          </a:p>
          <a:p>
            <a:pPr marL="457200" indent="-457200">
              <a:buFont typeface="Arial" panose="020B0604020202020204" pitchFamily="34" charset="0"/>
              <a:buChar char="•"/>
            </a:pPr>
            <a:r>
              <a:rPr lang="en-US" sz="2400" dirty="0"/>
              <a:t>Matrix Representation of Relations</a:t>
            </a:r>
          </a:p>
          <a:p>
            <a:pPr marL="457200" indent="-457200">
              <a:buFont typeface="Arial" panose="020B0604020202020204" pitchFamily="34" charset="0"/>
              <a:buChar char="•"/>
            </a:pPr>
            <a:r>
              <a:rPr lang="en-US" sz="2400" dirty="0"/>
              <a:t>Properties of Relations</a:t>
            </a:r>
          </a:p>
          <a:p>
            <a:pPr marL="457200" indent="-457200">
              <a:buFont typeface="Arial" panose="020B0604020202020204" pitchFamily="34" charset="0"/>
              <a:buChar char="•"/>
            </a:pPr>
            <a:r>
              <a:rPr lang="en-US" sz="2400" dirty="0"/>
              <a:t>Partial Order Relations</a:t>
            </a:r>
          </a:p>
          <a:p>
            <a:pPr marL="457200" indent="-457200">
              <a:buFont typeface="Arial" panose="020B0604020202020204" pitchFamily="34" charset="0"/>
              <a:buChar char="•"/>
            </a:pPr>
            <a:r>
              <a:rPr lang="en-US" sz="2400" dirty="0"/>
              <a:t>Practice Questions</a:t>
            </a:r>
            <a:endParaRPr lang="en-PK" sz="2400" dirty="0"/>
          </a:p>
        </p:txBody>
      </p:sp>
    </p:spTree>
    <p:extLst>
      <p:ext uri="{BB962C8B-B14F-4D97-AF65-F5344CB8AC3E}">
        <p14:creationId xmlns:p14="http://schemas.microsoft.com/office/powerpoint/2010/main" val="20628280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ShapesVTI">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8413533D-8C39-401E-8B75-B1AEEEC56B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A449C04-64B3-4403-94B7-8D2284C38D1B}">
  <ds:schemaRefs>
    <ds:schemaRef ds:uri="http://schemas.microsoft.com/sharepoint/v3/contenttype/forms"/>
  </ds:schemaRefs>
</ds:datastoreItem>
</file>

<file path=customXml/itemProps3.xml><?xml version="1.0" encoding="utf-8"?>
<ds:datastoreItem xmlns:ds="http://schemas.openxmlformats.org/officeDocument/2006/customXml" ds:itemID="{FBDEF148-1770-458F-8F5B-C3D0A278AA97}">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19928</TotalTime>
  <Words>6347</Words>
  <Application>Microsoft Office PowerPoint</Application>
  <PresentationFormat>Widescreen</PresentationFormat>
  <Paragraphs>594</Paragraphs>
  <Slides>85</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85</vt:i4>
      </vt:variant>
    </vt:vector>
  </HeadingPairs>
  <TitlesOfParts>
    <vt:vector size="96" baseType="lpstr">
      <vt:lpstr>Arial</vt:lpstr>
      <vt:lpstr>Calibri</vt:lpstr>
      <vt:lpstr>Cambria</vt:lpstr>
      <vt:lpstr>Cambria Math</vt:lpstr>
      <vt:lpstr>Century Gothic</vt:lpstr>
      <vt:lpstr>Comic Sans MS</vt:lpstr>
      <vt:lpstr>Courier New</vt:lpstr>
      <vt:lpstr>Wingdings</vt:lpstr>
      <vt:lpstr>ShapesVTI</vt:lpstr>
      <vt:lpstr>Microsoft Equation 3.0</vt:lpstr>
      <vt:lpstr>Equation</vt:lpstr>
      <vt:lpstr>PowerPoint Presentation</vt:lpstr>
      <vt:lpstr>Chapter No. 9   Relations</vt:lpstr>
      <vt:lpstr>ORDERED PAIR</vt:lpstr>
      <vt:lpstr>EXERCISE</vt:lpstr>
      <vt:lpstr>PowerPoint Presentation</vt:lpstr>
      <vt:lpstr>ORDERED n-TUPLE</vt:lpstr>
      <vt:lpstr>CARTESIAN PRODUCT OF TWO SETS</vt:lpstr>
      <vt:lpstr>PowerPoint Presentation</vt:lpstr>
      <vt:lpstr>EXAMPLE</vt:lpstr>
      <vt:lpstr>EXAMPLE</vt:lpstr>
      <vt:lpstr>REMARK</vt:lpstr>
      <vt:lpstr>CARTESIAN PRODUCT OF MORE THAN TWO SETS</vt:lpstr>
      <vt:lpstr>BINARY RELATION</vt:lpstr>
      <vt:lpstr>EXERCISE</vt:lpstr>
      <vt:lpstr>DOMAIN OF RELATION</vt:lpstr>
      <vt:lpstr>RANGE OF RELATION</vt:lpstr>
      <vt:lpstr>EXERCISE</vt:lpstr>
      <vt:lpstr>SOLUTION</vt:lpstr>
      <vt:lpstr>EXERCISE</vt:lpstr>
      <vt:lpstr>EXERCISE</vt:lpstr>
      <vt:lpstr>REMARK</vt:lpstr>
      <vt:lpstr>EXERCISE</vt:lpstr>
      <vt:lpstr>SOLUTION</vt:lpstr>
      <vt:lpstr>RELATION ON A SET</vt:lpstr>
      <vt:lpstr>EXERCISE</vt:lpstr>
      <vt:lpstr>REMARK</vt:lpstr>
      <vt:lpstr>ARROW DIAGRAM OF A RELATION</vt:lpstr>
      <vt:lpstr>DIRECTED GRAPH OF A RELATION</vt:lpstr>
      <vt:lpstr>MATRIX REPRESENTATION OF A RELATION</vt:lpstr>
      <vt:lpstr>EXAMPLE</vt:lpstr>
      <vt:lpstr>EXAMPLE</vt:lpstr>
      <vt:lpstr>SOLUTION</vt:lpstr>
      <vt:lpstr>EXERCISE</vt:lpstr>
      <vt:lpstr>SOLUTION</vt:lpstr>
      <vt:lpstr>PowerPoint Presentation</vt:lpstr>
      <vt:lpstr>PowerPoint Presentation</vt:lpstr>
      <vt:lpstr>PROPERTIES OF RELATION</vt:lpstr>
      <vt:lpstr>REFLEXIVE RELATION</vt:lpstr>
      <vt:lpstr>EXAMPLE</vt:lpstr>
      <vt:lpstr>PowerPoint Presentation</vt:lpstr>
      <vt:lpstr>DIRECTED GRAPH OF A REFLEXIVE RELATION</vt:lpstr>
      <vt:lpstr>EXAMPLE</vt:lpstr>
      <vt:lpstr>PowerPoint Presentation</vt:lpstr>
      <vt:lpstr>MATRIX REPRESENTATION OF A REFLEXIVE RELATION</vt:lpstr>
      <vt:lpstr>EXAMPLE</vt:lpstr>
      <vt:lpstr>SYMMETRIC RELATION</vt:lpstr>
      <vt:lpstr>EXAMPLE</vt:lpstr>
      <vt:lpstr>PowerPoint Presentation</vt:lpstr>
      <vt:lpstr>DIRECTED GRAPH OF A SYMMETRIC RELATION</vt:lpstr>
      <vt:lpstr>EXAMPLE</vt:lpstr>
      <vt:lpstr>PowerPoint Presentation</vt:lpstr>
      <vt:lpstr>MATRIX REPRESENTATION OF A SYMMETRIC RELATION</vt:lpstr>
      <vt:lpstr>EXAMPLE</vt:lpstr>
      <vt:lpstr>TRANSITIVE RELATION</vt:lpstr>
      <vt:lpstr>REMARK</vt:lpstr>
      <vt:lpstr>EXAMPLE</vt:lpstr>
      <vt:lpstr>DIRECTED GRAPH OF A TRANSITIVE RELATION</vt:lpstr>
      <vt:lpstr>EXAMPLE</vt:lpstr>
      <vt:lpstr>PowerPoint Presentation</vt:lpstr>
      <vt:lpstr>EXERCISE</vt:lpstr>
      <vt:lpstr>SOLUTION</vt:lpstr>
      <vt:lpstr>PowerPoint Presentation</vt:lpstr>
      <vt:lpstr>PowerPoint Presentation</vt:lpstr>
      <vt:lpstr>EXERCISE</vt:lpstr>
      <vt:lpstr>SOLUTION</vt:lpstr>
      <vt:lpstr>PowerPoint Presentation</vt:lpstr>
      <vt:lpstr>PowerPoint Presentation</vt:lpstr>
      <vt:lpstr>PowerPoint Presentation</vt:lpstr>
      <vt:lpstr>PowerPoint Presentation</vt:lpstr>
      <vt:lpstr>EQUIVALENCE RELATION</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CC2031  Digital Logic Design Section – V11</dc:title>
  <dc:creator>IQRA JAVED</dc:creator>
  <cp:lastModifiedBy>IQRA JAVED</cp:lastModifiedBy>
  <cp:revision>118</cp:revision>
  <cp:lastPrinted>2024-03-28T06:21:38Z</cp:lastPrinted>
  <dcterms:created xsi:type="dcterms:W3CDTF">2023-10-03T05:27:31Z</dcterms:created>
  <dcterms:modified xsi:type="dcterms:W3CDTF">2025-05-05T04:57:50Z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